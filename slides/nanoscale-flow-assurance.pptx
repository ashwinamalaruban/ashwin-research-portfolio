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70" r:id="rId7"/>
    <p:sldId id="271" r:id="rId8"/>
    <p:sldId id="263" r:id="rId9"/>
    <p:sldId id="267" r:id="rId10"/>
    <p:sldId id="279" r:id="rId11"/>
    <p:sldId id="273" r:id="rId12"/>
    <p:sldId id="276" r:id="rId13"/>
    <p:sldId id="275" r:id="rId14"/>
    <p:sldId id="281" r:id="rId15"/>
    <p:sldId id="278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 autoAdjust="0"/>
    <p:restoredTop sz="94658" autoAdjust="0"/>
  </p:normalViewPr>
  <p:slideViewPr>
    <p:cSldViewPr>
      <p:cViewPr varScale="1">
        <p:scale>
          <a:sx n="87" d="100"/>
          <a:sy n="87" d="100"/>
        </p:scale>
        <p:origin x="107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4097" y="38100"/>
            <a:ext cx="1625600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DFF4E6-A15C-8502-98A9-F6DB4BBB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374" y="1193684"/>
            <a:ext cx="14497728" cy="7569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0C85F4-04BA-6E6E-D0A4-7BEDC3C92F70}"/>
              </a:ext>
            </a:extLst>
          </p:cNvPr>
          <p:cNvSpPr txBox="1"/>
          <p:nvPr/>
        </p:nvSpPr>
        <p:spPr>
          <a:xfrm>
            <a:off x="2794000" y="381000"/>
            <a:ext cx="1188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Why asphaltene in crude oil can be problematic?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6B114-AFCD-9394-257F-46CAFB7A1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800" y="3505200"/>
            <a:ext cx="248920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5EBABA-A8AF-F3AC-F7BE-E04A23F9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700" b="16251"/>
          <a:stretch>
            <a:fillRect/>
          </a:stretch>
        </p:blipFill>
        <p:spPr>
          <a:xfrm>
            <a:off x="731051" y="4381815"/>
            <a:ext cx="1676400" cy="19820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1A4EB0-42EA-B620-07EE-68B4CBBB82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35" b="17229"/>
          <a:stretch>
            <a:fillRect/>
          </a:stretch>
        </p:blipFill>
        <p:spPr>
          <a:xfrm>
            <a:off x="600920" y="6555565"/>
            <a:ext cx="1756908" cy="198206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B4943A-A761-B520-9C3D-2A289AC6712B}"/>
              </a:ext>
            </a:extLst>
          </p:cNvPr>
          <p:cNvCxnSpPr/>
          <p:nvPr/>
        </p:nvCxnSpPr>
        <p:spPr>
          <a:xfrm flipH="1" flipV="1">
            <a:off x="2184400" y="5562600"/>
            <a:ext cx="2362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DFF237-2072-0D6F-21B0-7CE82323912A}"/>
              </a:ext>
            </a:extLst>
          </p:cNvPr>
          <p:cNvCxnSpPr>
            <a:cxnSpLocks/>
          </p:cNvCxnSpPr>
          <p:nvPr/>
        </p:nvCxnSpPr>
        <p:spPr>
          <a:xfrm flipH="1">
            <a:off x="2357828" y="6324600"/>
            <a:ext cx="2341172" cy="129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336F6C2-8F2C-ABE3-039B-B1BA5BEAC924}"/>
              </a:ext>
            </a:extLst>
          </p:cNvPr>
          <p:cNvSpPr txBox="1"/>
          <p:nvPr/>
        </p:nvSpPr>
        <p:spPr>
          <a:xfrm>
            <a:off x="2407451" y="4402015"/>
            <a:ext cx="1496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Different molecular structures exist for asphaltene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5AAC7B-0710-F571-E8BE-F17B4E1F00CA}"/>
              </a:ext>
            </a:extLst>
          </p:cNvPr>
          <p:cNvSpPr txBox="1"/>
          <p:nvPr/>
        </p:nvSpPr>
        <p:spPr>
          <a:xfrm>
            <a:off x="5232400" y="533400"/>
            <a:ext cx="152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Architecture of asphaltene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90736E-1583-4927-BBEC-CDA322A8F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28800"/>
            <a:ext cx="6853306" cy="5562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364F6E-E639-DFB2-C539-33A936FE3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0" y="1828800"/>
            <a:ext cx="6853306" cy="56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6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91489E-7A05-808E-55A6-B3088EC02F5D}"/>
              </a:ext>
            </a:extLst>
          </p:cNvPr>
          <p:cNvSpPr txBox="1"/>
          <p:nvPr/>
        </p:nvSpPr>
        <p:spPr>
          <a:xfrm>
            <a:off x="1860654" y="332607"/>
            <a:ext cx="152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Theoretical Models to understand molecular assemblies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4AF9A-7555-72FE-A4FB-7E27E1A077E9}"/>
              </a:ext>
            </a:extLst>
          </p:cNvPr>
          <p:cNvSpPr txBox="1"/>
          <p:nvPr/>
        </p:nvSpPr>
        <p:spPr>
          <a:xfrm>
            <a:off x="1022454" y="1459724"/>
            <a:ext cx="10229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Yen-Mullins model (2011): Proposes a </a:t>
            </a:r>
            <a:r>
              <a:rPr lang="en-US" sz="3200" dirty="0" err="1"/>
              <a:t>hierarchial</a:t>
            </a:r>
            <a:r>
              <a:rPr lang="en-US" sz="3200" dirty="0"/>
              <a:t>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F92D00-022A-72CE-10BE-831E7BA60957}"/>
                  </a:ext>
                </a:extLst>
              </p:cNvPr>
              <p:cNvSpPr txBox="1"/>
              <p:nvPr/>
            </p:nvSpPr>
            <p:spPr>
              <a:xfrm>
                <a:off x="9971021" y="2419760"/>
                <a:ext cx="58674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3200" b="0" u="sng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b="0" u="sng" dirty="0"/>
                  <a:t>STAGE-I: Asphaltene to Nanoaggregate</a:t>
                </a:r>
                <a:r>
                  <a:rPr lang="en-US" sz="3200" b="0" dirty="0"/>
                  <a:t> </a:t>
                </a:r>
              </a:p>
              <a:p>
                <a:r>
                  <a:rPr lang="en-US" sz="3200" b="0" dirty="0"/>
                  <a:t>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/>
                  <a:t> stacking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u="sng" dirty="0"/>
                  <a:t>STAGE-II: Nanoaggregates to clusters</a:t>
                </a:r>
                <a:r>
                  <a:rPr lang="en-US" sz="3200" dirty="0"/>
                  <a:t> </a:t>
                </a:r>
              </a:p>
              <a:p>
                <a:r>
                  <a:rPr lang="en-US" sz="3200" dirty="0"/>
                  <a:t>	Mostly weak </a:t>
                </a:r>
                <a:r>
                  <a:rPr lang="en-US" sz="3200" dirty="0" err="1"/>
                  <a:t>vdW</a:t>
                </a:r>
                <a:r>
                  <a:rPr lang="en-US" sz="3200" dirty="0"/>
                  <a:t> interactions between alkyl chains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u="sng" dirty="0"/>
                  <a:t>STAGE-III: Clusters to flocs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u="sng" dirty="0"/>
                  <a:t>STAGE-IV: Deposition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F92D00-022A-72CE-10BE-831E7BA60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021" y="2419760"/>
                <a:ext cx="5867400" cy="5016758"/>
              </a:xfrm>
              <a:prstGeom prst="rect">
                <a:avLst/>
              </a:prstGeom>
              <a:blipFill>
                <a:blip r:embed="rId2"/>
                <a:stretch>
                  <a:fillRect l="-2592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BFBDE06-C3F1-F708-8029-432E504E2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2"/>
          <a:stretch>
            <a:fillRect/>
          </a:stretch>
        </p:blipFill>
        <p:spPr>
          <a:xfrm>
            <a:off x="431800" y="2667000"/>
            <a:ext cx="9201879" cy="55322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4D524B-0EF6-2BB9-EDA8-E76B51E77EE7}"/>
              </a:ext>
            </a:extLst>
          </p:cNvPr>
          <p:cNvSpPr txBox="1"/>
          <p:nvPr/>
        </p:nvSpPr>
        <p:spPr>
          <a:xfrm>
            <a:off x="394677" y="241976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MW: 500 to 1000 g/mol</a:t>
            </a:r>
          </a:p>
          <a:p>
            <a:pPr algn="ctr"/>
            <a:r>
              <a:rPr lang="en-US" dirty="0"/>
              <a:t>&gt;5 aromatic rings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EF95B-AA91-A283-FE3A-E2BAAA1EF31E}"/>
              </a:ext>
            </a:extLst>
          </p:cNvPr>
          <p:cNvSpPr txBox="1"/>
          <p:nvPr/>
        </p:nvSpPr>
        <p:spPr>
          <a:xfrm>
            <a:off x="33311" y="8763000"/>
            <a:ext cx="487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Mullins et al., 2011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CE79E6-C82E-7B38-08B4-2900E5A2A959}"/>
                  </a:ext>
                </a:extLst>
              </p:cNvPr>
              <p:cNvSpPr txBox="1"/>
              <p:nvPr/>
            </p:nvSpPr>
            <p:spPr>
              <a:xfrm>
                <a:off x="889000" y="1367252"/>
                <a:ext cx="10820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2. Supramolecular assembly model ( Grey at al., 2011):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Proposes nano-aggregation is not only due to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/>
                  <a:t> stacking.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Considers other interactions as well.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CE79E6-C82E-7B38-08B4-2900E5A2A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367252"/>
                <a:ext cx="10820400" cy="1569660"/>
              </a:xfrm>
              <a:prstGeom prst="rect">
                <a:avLst/>
              </a:prstGeom>
              <a:blipFill>
                <a:blip r:embed="rId2"/>
                <a:stretch>
                  <a:fillRect l="-1407" t="-4800" r="-469" b="-1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A9DF30-3C86-79DE-F4D2-6CA96DF48C5F}"/>
              </a:ext>
            </a:extLst>
          </p:cNvPr>
          <p:cNvSpPr txBox="1"/>
          <p:nvPr/>
        </p:nvSpPr>
        <p:spPr>
          <a:xfrm>
            <a:off x="1860654" y="332607"/>
            <a:ext cx="152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Theoretical Models to understand molecular assemblies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65F3C0-3A4F-61CE-5D83-DA3287ECB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7141"/>
          <a:stretch>
            <a:fillRect/>
          </a:stretch>
        </p:blipFill>
        <p:spPr>
          <a:xfrm>
            <a:off x="889000" y="3954991"/>
            <a:ext cx="6227788" cy="33101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C1ACD8-B8AF-B04A-CC44-F4AC414BD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066" y="3252428"/>
            <a:ext cx="7772400" cy="47153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D052A-C866-3BA2-8CD4-0C1342383029}"/>
              </a:ext>
            </a:extLst>
          </p:cNvPr>
          <p:cNvSpPr txBox="1"/>
          <p:nvPr/>
        </p:nvSpPr>
        <p:spPr>
          <a:xfrm>
            <a:off x="33311" y="8763000"/>
            <a:ext cx="487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Wang et al., </a:t>
            </a:r>
            <a:r>
              <a:rPr lang="en-US" i="1" dirty="0"/>
              <a:t>Fuel</a:t>
            </a:r>
            <a:r>
              <a:rPr lang="en-US" dirty="0"/>
              <a:t>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3A38-6786-2D61-DB26-F25599C4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E79B8-9C33-F48C-40AD-3699C9965A08}"/>
              </a:ext>
            </a:extLst>
          </p:cNvPr>
          <p:cNvSpPr txBox="1"/>
          <p:nvPr/>
        </p:nvSpPr>
        <p:spPr>
          <a:xfrm>
            <a:off x="4775200" y="381000"/>
            <a:ext cx="152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What simulations have been performed?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1DE67-C4CF-345F-7EBE-C0F41F3D436A}"/>
              </a:ext>
            </a:extLst>
          </p:cNvPr>
          <p:cNvSpPr txBox="1"/>
          <p:nvPr/>
        </p:nvSpPr>
        <p:spPr>
          <a:xfrm>
            <a:off x="6908800" y="1810061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ATOMISTIC MD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24D09-673A-9C24-9972-F8D050E8BFA6}"/>
              </a:ext>
            </a:extLst>
          </p:cNvPr>
          <p:cNvSpPr txBox="1"/>
          <p:nvPr/>
        </p:nvSpPr>
        <p:spPr>
          <a:xfrm>
            <a:off x="682666" y="2345591"/>
            <a:ext cx="105156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Headen et al., 2017: How asp molecules aggregate in good solvent vs bad solvent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27 asp molecules at 7 </a:t>
            </a:r>
            <a:r>
              <a:rPr lang="en-US" sz="2400" dirty="0" err="1"/>
              <a:t>wt</a:t>
            </a:r>
            <a:r>
              <a:rPr lang="en-US" sz="2400" dirty="0"/>
              <a:t>% per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Standard runs: 80 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Longest asphaltene simulation at the time: 500 ns (single run)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Average cluster size was still increasing at this point: Not yet in equilibrium.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Suggests atomistic MD cannot access timescale for complete aggregation.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Force field: OPLS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AE07D-EA82-5156-7BC7-9CCBBA01CF06}"/>
              </a:ext>
            </a:extLst>
          </p:cNvPr>
          <p:cNvSpPr txBox="1"/>
          <p:nvPr/>
        </p:nvSpPr>
        <p:spPr>
          <a:xfrm>
            <a:off x="682666" y="6125085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2. Wang et al., 2024: Established the driving force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22 asp molecules per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Standard runs: 100 ns as aggregation in heptane takes 20-50s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Force field: OPLS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D2184-0B62-622C-16A6-458BB5845E10}"/>
              </a:ext>
            </a:extLst>
          </p:cNvPr>
          <p:cNvSpPr txBox="1"/>
          <p:nvPr/>
        </p:nvSpPr>
        <p:spPr>
          <a:xfrm>
            <a:off x="10795000" y="2827622"/>
            <a:ext cx="5181600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Key results and simulations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size distribution was 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Asp-A and Asp-C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role of resins in aggregate density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73A8C-76FC-AFAA-EDF6-223B3AE82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980" y="5638800"/>
            <a:ext cx="4193639" cy="25441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968FEF9-E524-D7AB-985F-4AD81EEAE167}"/>
              </a:ext>
            </a:extLst>
          </p:cNvPr>
          <p:cNvSpPr txBox="1"/>
          <p:nvPr/>
        </p:nvSpPr>
        <p:spPr>
          <a:xfrm>
            <a:off x="965200" y="748370"/>
            <a:ext cx="14859000" cy="833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Solvents commonly used: Toluene( </a:t>
            </a:r>
            <a:r>
              <a:rPr lang="en-US" sz="2800" dirty="0" err="1"/>
              <a:t>asph</a:t>
            </a:r>
            <a:r>
              <a:rPr lang="en-US" sz="2800" dirty="0"/>
              <a:t> soluble) and n-heptane or n-pentane (</a:t>
            </a:r>
            <a:r>
              <a:rPr lang="en-US" sz="2800" dirty="0" err="1"/>
              <a:t>asph</a:t>
            </a:r>
            <a:r>
              <a:rPr lang="en-US" sz="2800" dirty="0"/>
              <a:t> less soluble).</a:t>
            </a:r>
          </a:p>
        </p:txBody>
      </p:sp>
    </p:spTree>
    <p:extLst>
      <p:ext uri="{BB962C8B-B14F-4D97-AF65-F5344CB8AC3E}">
        <p14:creationId xmlns:p14="http://schemas.microsoft.com/office/powerpoint/2010/main" val="56109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0536-C169-7750-80B9-A27C8F0A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40F5C-3D5C-F5DF-775E-54F0C4F889AB}"/>
              </a:ext>
            </a:extLst>
          </p:cNvPr>
          <p:cNvSpPr txBox="1"/>
          <p:nvPr/>
        </p:nvSpPr>
        <p:spPr>
          <a:xfrm>
            <a:off x="4775200" y="381000"/>
            <a:ext cx="152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What simulations have been performed?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34296-0BEB-697E-8915-018FDECB748B}"/>
              </a:ext>
            </a:extLst>
          </p:cNvPr>
          <p:cNvSpPr txBox="1"/>
          <p:nvPr/>
        </p:nvSpPr>
        <p:spPr>
          <a:xfrm>
            <a:off x="7213600" y="1237810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ATOMISTIC MD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DB177-B22A-A4F1-46E5-E940480E50FF}"/>
              </a:ext>
            </a:extLst>
          </p:cNvPr>
          <p:cNvSpPr txBox="1"/>
          <p:nvPr/>
        </p:nvSpPr>
        <p:spPr>
          <a:xfrm>
            <a:off x="1193800" y="2141243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3. Xiang et al., 2026: Heterogenous co-aggregation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7 asp per system: 2 of Asp-A and 5 of Asp-C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Standard runs: 500 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result: Asp-A act as nucleation centers with Asp-C assembling around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Force field: GAFF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86B51-AA85-D2D4-128C-27BA12572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0535" y="2205775"/>
            <a:ext cx="3965010" cy="1933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523BB5-4F07-1567-33D7-3EE566A89B6A}"/>
              </a:ext>
            </a:extLst>
          </p:cNvPr>
          <p:cNvSpPr txBox="1"/>
          <p:nvPr/>
        </p:nvSpPr>
        <p:spPr>
          <a:xfrm>
            <a:off x="6756400" y="4229616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Mesoscale simulations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881E21-E642-11F7-B312-C0B8C5E3B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495" y="5255702"/>
            <a:ext cx="2617050" cy="2501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A61FFC-E838-982B-0F5C-5AD6F9AFFE9B}"/>
              </a:ext>
            </a:extLst>
          </p:cNvPr>
          <p:cNvSpPr txBox="1"/>
          <p:nvPr/>
        </p:nvSpPr>
        <p:spPr>
          <a:xfrm>
            <a:off x="965200" y="4940655"/>
            <a:ext cx="12573000" cy="450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Wang &amp; Ferguson (2016)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First paper to show multiple stages and suggested a kinetic model(binding and fragmentation rate for Stage-I).</a:t>
            </a:r>
          </a:p>
          <a:p>
            <a:r>
              <a:rPr lang="en-US" sz="3200" dirty="0"/>
              <a:t>Wang &amp; Ferguson (2018)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Shows contradicting results from 2016 paper.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Discovered protein folding like conformational landscapes using snapshots of trajectories. 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E87A32-3C77-B1F1-9DF3-6785B1450DD5}"/>
              </a:ext>
            </a:extLst>
          </p:cNvPr>
          <p:cNvSpPr txBox="1"/>
          <p:nvPr/>
        </p:nvSpPr>
        <p:spPr>
          <a:xfrm>
            <a:off x="13385800" y="7924800"/>
            <a:ext cx="231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Wang et al., 2016</a:t>
            </a:r>
          </a:p>
        </p:txBody>
      </p:sp>
    </p:spTree>
    <p:extLst>
      <p:ext uri="{BB962C8B-B14F-4D97-AF65-F5344CB8AC3E}">
        <p14:creationId xmlns:p14="http://schemas.microsoft.com/office/powerpoint/2010/main" val="40989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15546"/>
          <a:stretch>
            <a:fillRect/>
          </a:stretch>
        </p:blipFill>
        <p:spPr>
          <a:xfrm>
            <a:off x="0" y="1447800"/>
            <a:ext cx="16256000" cy="765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8F81D6-1972-B7E7-7F67-25F8B6EF2404}"/>
              </a:ext>
            </a:extLst>
          </p:cNvPr>
          <p:cNvSpPr txBox="1"/>
          <p:nvPr/>
        </p:nvSpPr>
        <p:spPr>
          <a:xfrm>
            <a:off x="2260600" y="533400"/>
            <a:ext cx="1196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Intercepting nano-aggregate formation with nano-particles</a:t>
            </a:r>
          </a:p>
        </p:txBody>
      </p:sp>
    </p:spTree>
    <p:extLst>
      <p:ext uri="{BB962C8B-B14F-4D97-AF65-F5344CB8AC3E}">
        <p14:creationId xmlns:p14="http://schemas.microsoft.com/office/powerpoint/2010/main" val="40653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3281" t="23950" r="5469" b="13025"/>
          <a:stretch>
            <a:fillRect/>
          </a:stretch>
        </p:blipFill>
        <p:spPr>
          <a:xfrm>
            <a:off x="864829" y="2057400"/>
            <a:ext cx="67056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DF5135-9E70-0B5B-1F8A-1AF9412B86FB}"/>
              </a:ext>
            </a:extLst>
          </p:cNvPr>
          <p:cNvSpPr txBox="1"/>
          <p:nvPr/>
        </p:nvSpPr>
        <p:spPr>
          <a:xfrm>
            <a:off x="1536700" y="496669"/>
            <a:ext cx="1409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Nano-particle inhibitors reduces the Asphaltene Precipitation Envelope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8ADDB-1190-3D6C-482D-79D4BC941CB0}"/>
              </a:ext>
            </a:extLst>
          </p:cNvPr>
          <p:cNvSpPr txBox="1"/>
          <p:nvPr/>
        </p:nvSpPr>
        <p:spPr>
          <a:xfrm>
            <a:off x="7670800" y="2050027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reservoir condition (somewhere outside the envelope)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A83DFF-4EF0-8E52-6EC8-342AB570BADA}"/>
              </a:ext>
            </a:extLst>
          </p:cNvPr>
          <p:cNvSpPr/>
          <p:nvPr/>
        </p:nvSpPr>
        <p:spPr>
          <a:xfrm>
            <a:off x="7442200" y="2057400"/>
            <a:ext cx="2286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8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C7D0-1F72-C18B-AA72-8BDF7FD7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23443-2CE5-A583-3159-0AC301CDCFDC}"/>
              </a:ext>
            </a:extLst>
          </p:cNvPr>
          <p:cNvSpPr txBox="1"/>
          <p:nvPr/>
        </p:nvSpPr>
        <p:spPr>
          <a:xfrm>
            <a:off x="573263" y="610102"/>
            <a:ext cx="15403337" cy="1523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dirty="0">
                <a:latin typeface="+mj-lt"/>
                <a:ea typeface="+mj-ea"/>
                <a:cs typeface="+mj-cs"/>
              </a:rPr>
              <a:t>Asphaltene Rheology in water-oil emulsions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dirty="0">
                <a:latin typeface="+mj-lt"/>
                <a:ea typeface="+mj-ea"/>
                <a:cs typeface="+mj-cs"/>
              </a:rPr>
              <a:t>Where is water introduced into the crude oil?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98FBA-E81B-94BE-6E1C-59A6060E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75" y="2743200"/>
            <a:ext cx="7156450" cy="53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5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1936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6A4A2-5065-62B0-49D9-3041D733912D}"/>
              </a:ext>
            </a:extLst>
          </p:cNvPr>
          <p:cNvSpPr txBox="1"/>
          <p:nvPr/>
        </p:nvSpPr>
        <p:spPr>
          <a:xfrm>
            <a:off x="573263" y="610102"/>
            <a:ext cx="14546187" cy="1824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b="1" dirty="0">
                <a:latin typeface="+mj-lt"/>
                <a:ea typeface="+mj-ea"/>
                <a:cs typeface="+mj-cs"/>
              </a:rPr>
              <a:t>Role of asphaltene in W/O emulsions and water-oil </a:t>
            </a:r>
            <a:r>
              <a:rPr lang="en-US" sz="6200" b="1" dirty="0" err="1">
                <a:latin typeface="+mj-lt"/>
                <a:ea typeface="+mj-ea"/>
                <a:cs typeface="+mj-cs"/>
              </a:rPr>
              <a:t>seperation</a:t>
            </a:r>
            <a:endParaRPr lang="en-US" sz="6200" b="1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3440" y="2467577"/>
            <a:ext cx="4389120" cy="24384"/>
          </a:xfrm>
          <a:custGeom>
            <a:avLst/>
            <a:gdLst>
              <a:gd name="csX0" fmla="*/ 0 w 4389120"/>
              <a:gd name="csY0" fmla="*/ 0 h 24384"/>
              <a:gd name="csX1" fmla="*/ 714800 w 4389120"/>
              <a:gd name="csY1" fmla="*/ 0 h 24384"/>
              <a:gd name="csX2" fmla="*/ 1254034 w 4389120"/>
              <a:gd name="csY2" fmla="*/ 0 h 24384"/>
              <a:gd name="csX3" fmla="*/ 1924943 w 4389120"/>
              <a:gd name="csY3" fmla="*/ 0 h 24384"/>
              <a:gd name="csX4" fmla="*/ 2508069 w 4389120"/>
              <a:gd name="csY4" fmla="*/ 0 h 24384"/>
              <a:gd name="csX5" fmla="*/ 3222868 w 4389120"/>
              <a:gd name="csY5" fmla="*/ 0 h 24384"/>
              <a:gd name="csX6" fmla="*/ 3762103 w 4389120"/>
              <a:gd name="csY6" fmla="*/ 0 h 24384"/>
              <a:gd name="csX7" fmla="*/ 4389120 w 4389120"/>
              <a:gd name="csY7" fmla="*/ 0 h 24384"/>
              <a:gd name="csX8" fmla="*/ 4389120 w 4389120"/>
              <a:gd name="csY8" fmla="*/ 24384 h 24384"/>
              <a:gd name="csX9" fmla="*/ 3762103 w 4389120"/>
              <a:gd name="csY9" fmla="*/ 24384 h 24384"/>
              <a:gd name="csX10" fmla="*/ 3135086 w 4389120"/>
              <a:gd name="csY10" fmla="*/ 24384 h 24384"/>
              <a:gd name="csX11" fmla="*/ 2551960 w 4389120"/>
              <a:gd name="csY11" fmla="*/ 24384 h 24384"/>
              <a:gd name="csX12" fmla="*/ 2056616 w 4389120"/>
              <a:gd name="csY12" fmla="*/ 24384 h 24384"/>
              <a:gd name="csX13" fmla="*/ 1517381 w 4389120"/>
              <a:gd name="csY13" fmla="*/ 24384 h 24384"/>
              <a:gd name="csX14" fmla="*/ 890364 w 4389120"/>
              <a:gd name="csY14" fmla="*/ 24384 h 24384"/>
              <a:gd name="csX15" fmla="*/ 0 w 4389120"/>
              <a:gd name="csY15" fmla="*/ 24384 h 24384"/>
              <a:gd name="csX16" fmla="*/ 0 w 4389120"/>
              <a:gd name="csY16" fmla="*/ 0 h 24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89120" h="24384" fill="none" extrusionOk="0">
                <a:moveTo>
                  <a:pt x="0" y="0"/>
                </a:moveTo>
                <a:cubicBezTo>
                  <a:pt x="275824" y="-23083"/>
                  <a:pt x="570265" y="-7338"/>
                  <a:pt x="714800" y="0"/>
                </a:cubicBezTo>
                <a:cubicBezTo>
                  <a:pt x="859335" y="7338"/>
                  <a:pt x="1120388" y="-6397"/>
                  <a:pt x="1254034" y="0"/>
                </a:cubicBezTo>
                <a:cubicBezTo>
                  <a:pt x="1387680" y="6397"/>
                  <a:pt x="1615998" y="8092"/>
                  <a:pt x="1924943" y="0"/>
                </a:cubicBezTo>
                <a:cubicBezTo>
                  <a:pt x="2233888" y="-8092"/>
                  <a:pt x="2341822" y="11090"/>
                  <a:pt x="2508069" y="0"/>
                </a:cubicBezTo>
                <a:cubicBezTo>
                  <a:pt x="2674316" y="-11090"/>
                  <a:pt x="2881033" y="-11418"/>
                  <a:pt x="3222868" y="0"/>
                </a:cubicBezTo>
                <a:cubicBezTo>
                  <a:pt x="3564703" y="11418"/>
                  <a:pt x="3539051" y="-9627"/>
                  <a:pt x="3762103" y="0"/>
                </a:cubicBezTo>
                <a:cubicBezTo>
                  <a:pt x="3985155" y="9627"/>
                  <a:pt x="4192768" y="28543"/>
                  <a:pt x="4389120" y="0"/>
                </a:cubicBezTo>
                <a:cubicBezTo>
                  <a:pt x="4389284" y="5636"/>
                  <a:pt x="4388515" y="16160"/>
                  <a:pt x="4389120" y="24384"/>
                </a:cubicBezTo>
                <a:cubicBezTo>
                  <a:pt x="4171519" y="-4420"/>
                  <a:pt x="3991607" y="6869"/>
                  <a:pt x="3762103" y="24384"/>
                </a:cubicBezTo>
                <a:cubicBezTo>
                  <a:pt x="3532599" y="41899"/>
                  <a:pt x="3285452" y="37742"/>
                  <a:pt x="3135086" y="24384"/>
                </a:cubicBezTo>
                <a:cubicBezTo>
                  <a:pt x="2984720" y="11026"/>
                  <a:pt x="2698772" y="19798"/>
                  <a:pt x="2551960" y="24384"/>
                </a:cubicBezTo>
                <a:cubicBezTo>
                  <a:pt x="2405148" y="28970"/>
                  <a:pt x="2170373" y="2874"/>
                  <a:pt x="2056616" y="24384"/>
                </a:cubicBezTo>
                <a:cubicBezTo>
                  <a:pt x="1942859" y="45894"/>
                  <a:pt x="1691696" y="48116"/>
                  <a:pt x="1517381" y="24384"/>
                </a:cubicBezTo>
                <a:cubicBezTo>
                  <a:pt x="1343067" y="652"/>
                  <a:pt x="1041362" y="17219"/>
                  <a:pt x="890364" y="24384"/>
                </a:cubicBezTo>
                <a:cubicBezTo>
                  <a:pt x="739366" y="31549"/>
                  <a:pt x="361264" y="18340"/>
                  <a:pt x="0" y="24384"/>
                </a:cubicBezTo>
                <a:cubicBezTo>
                  <a:pt x="768" y="19037"/>
                  <a:pt x="-727" y="8693"/>
                  <a:pt x="0" y="0"/>
                </a:cubicBezTo>
                <a:close/>
              </a:path>
              <a:path w="4389120" h="24384" stroke="0" extrusionOk="0">
                <a:moveTo>
                  <a:pt x="0" y="0"/>
                </a:moveTo>
                <a:cubicBezTo>
                  <a:pt x="247053" y="-11081"/>
                  <a:pt x="381664" y="22747"/>
                  <a:pt x="539235" y="0"/>
                </a:cubicBezTo>
                <a:cubicBezTo>
                  <a:pt x="696806" y="-22747"/>
                  <a:pt x="902209" y="-28212"/>
                  <a:pt x="1254034" y="0"/>
                </a:cubicBezTo>
                <a:cubicBezTo>
                  <a:pt x="1605859" y="28212"/>
                  <a:pt x="1535899" y="-6579"/>
                  <a:pt x="1749378" y="0"/>
                </a:cubicBezTo>
                <a:cubicBezTo>
                  <a:pt x="1962857" y="6579"/>
                  <a:pt x="2090300" y="-4983"/>
                  <a:pt x="2244721" y="0"/>
                </a:cubicBezTo>
                <a:cubicBezTo>
                  <a:pt x="2399142" y="4983"/>
                  <a:pt x="2605291" y="21843"/>
                  <a:pt x="2871739" y="0"/>
                </a:cubicBezTo>
                <a:cubicBezTo>
                  <a:pt x="3138187" y="-21843"/>
                  <a:pt x="3175135" y="1804"/>
                  <a:pt x="3454864" y="0"/>
                </a:cubicBezTo>
                <a:cubicBezTo>
                  <a:pt x="3734594" y="-1804"/>
                  <a:pt x="4164691" y="-36318"/>
                  <a:pt x="4389120" y="0"/>
                </a:cubicBezTo>
                <a:cubicBezTo>
                  <a:pt x="4388891" y="10399"/>
                  <a:pt x="4388294" y="19308"/>
                  <a:pt x="4389120" y="24384"/>
                </a:cubicBezTo>
                <a:cubicBezTo>
                  <a:pt x="4188234" y="16058"/>
                  <a:pt x="4031301" y="26007"/>
                  <a:pt x="3674320" y="24384"/>
                </a:cubicBezTo>
                <a:cubicBezTo>
                  <a:pt x="3317339" y="22761"/>
                  <a:pt x="3212614" y="45878"/>
                  <a:pt x="2959521" y="24384"/>
                </a:cubicBezTo>
                <a:cubicBezTo>
                  <a:pt x="2706428" y="2890"/>
                  <a:pt x="2568556" y="3301"/>
                  <a:pt x="2376395" y="24384"/>
                </a:cubicBezTo>
                <a:cubicBezTo>
                  <a:pt x="2184234" y="45467"/>
                  <a:pt x="2061348" y="29350"/>
                  <a:pt x="1793269" y="24384"/>
                </a:cubicBezTo>
                <a:cubicBezTo>
                  <a:pt x="1525190" y="19418"/>
                  <a:pt x="1520328" y="-1000"/>
                  <a:pt x="1254034" y="24384"/>
                </a:cubicBezTo>
                <a:cubicBezTo>
                  <a:pt x="987740" y="49768"/>
                  <a:pt x="865046" y="30166"/>
                  <a:pt x="670908" y="24384"/>
                </a:cubicBezTo>
                <a:cubicBezTo>
                  <a:pt x="476770" y="18602"/>
                  <a:pt x="181789" y="43736"/>
                  <a:pt x="0" y="24384"/>
                </a:cubicBezTo>
                <a:cubicBezTo>
                  <a:pt x="143" y="12744"/>
                  <a:pt x="76" y="538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68C45-8AFB-BB1C-75BF-DDAF05539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74" y="3042564"/>
            <a:ext cx="7312110" cy="4807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44FF6-C385-FAFE-8334-388F43F27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424"/>
          <a:stretch>
            <a:fillRect/>
          </a:stretch>
        </p:blipFill>
        <p:spPr>
          <a:xfrm>
            <a:off x="9575800" y="3833655"/>
            <a:ext cx="6400800" cy="413385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0C8586AA-D7BD-E753-D151-60A43D533274}"/>
              </a:ext>
            </a:extLst>
          </p:cNvPr>
          <p:cNvSpPr/>
          <p:nvPr/>
        </p:nvSpPr>
        <p:spPr>
          <a:xfrm>
            <a:off x="8282228" y="5436734"/>
            <a:ext cx="1397974" cy="6484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5E857-7015-A8A3-A75B-8968A86B82C7}"/>
              </a:ext>
            </a:extLst>
          </p:cNvPr>
          <p:cNvSpPr txBox="1"/>
          <p:nvPr/>
        </p:nvSpPr>
        <p:spPr>
          <a:xfrm>
            <a:off x="888215" y="8046936"/>
            <a:ext cx="6783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Stable W/O emulsions can raise apparent crude viscosity</a:t>
            </a:r>
            <a:r>
              <a:rPr lang="en-US" sz="2000" dirty="0"/>
              <a:t>.</a:t>
            </a:r>
          </a:p>
          <a:p>
            <a:pPr algn="ctr"/>
            <a:r>
              <a:rPr lang="en-US" sz="2000" dirty="0"/>
              <a:t>Varies with %water cut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013BC7-F9DD-1840-73B9-03DBF8EAF706}"/>
              </a:ext>
            </a:extLst>
          </p:cNvPr>
          <p:cNvSpPr txBox="1"/>
          <p:nvPr/>
        </p:nvSpPr>
        <p:spPr>
          <a:xfrm>
            <a:off x="9192972" y="8133788"/>
            <a:ext cx="6783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Ostwald ripening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Flocculation of droplets </a:t>
            </a:r>
            <a:r>
              <a:rPr lang="en-US" sz="2000" dirty="0">
                <a:sym typeface="Wingdings" pitchFamily="2" charset="2"/>
              </a:rPr>
              <a:t> Coalescence  Phase separation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E3625-F3F9-7601-3841-8F7C3E5A5C06}"/>
              </a:ext>
            </a:extLst>
          </p:cNvPr>
          <p:cNvSpPr txBox="1"/>
          <p:nvPr/>
        </p:nvSpPr>
        <p:spPr>
          <a:xfrm>
            <a:off x="3479800" y="4547419"/>
            <a:ext cx="1219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adsorption</a:t>
            </a:r>
          </a:p>
        </p:txBody>
      </p:sp>
    </p:spTree>
    <p:extLst>
      <p:ext uri="{BB962C8B-B14F-4D97-AF65-F5344CB8AC3E}">
        <p14:creationId xmlns:p14="http://schemas.microsoft.com/office/powerpoint/2010/main" val="3620954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0A2C-1BD6-B4BF-6A58-69D4448B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2ABA9-5BE7-D8F0-B181-553CB1EC63DB}"/>
              </a:ext>
            </a:extLst>
          </p:cNvPr>
          <p:cNvSpPr txBox="1"/>
          <p:nvPr/>
        </p:nvSpPr>
        <p:spPr>
          <a:xfrm>
            <a:off x="406400" y="552271"/>
            <a:ext cx="154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What happens to asphaltene-laden interfaces of water-oil emulsion</a:t>
            </a:r>
          </a:p>
          <a:p>
            <a:pPr algn="ctr"/>
            <a:r>
              <a:rPr lang="en-US" sz="3200" dirty="0"/>
              <a:t>Demulsification mechanism by </a:t>
            </a:r>
            <a:r>
              <a:rPr lang="en-US" sz="3200" dirty="0" err="1"/>
              <a:t>demulsifiers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1484D-1798-324D-9F6A-63341A2AEEAA}"/>
              </a:ext>
            </a:extLst>
          </p:cNvPr>
          <p:cNvSpPr txBox="1"/>
          <p:nvPr/>
        </p:nvSpPr>
        <p:spPr>
          <a:xfrm>
            <a:off x="203200" y="8611394"/>
            <a:ext cx="474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 et al., </a:t>
            </a:r>
            <a:r>
              <a:rPr lang="en-US" i="1" dirty="0"/>
              <a:t>Processes</a:t>
            </a:r>
            <a:r>
              <a:rPr lang="en-US" dirty="0"/>
              <a:t>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8873E-085D-4B4F-593B-07E78959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286000"/>
            <a:ext cx="1365160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97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0CD2A6-4813-C07C-469F-351E8F968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981200"/>
            <a:ext cx="7772400" cy="5891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0B9B0B-31E3-25A1-D256-AFB3421B5837}"/>
              </a:ext>
            </a:extLst>
          </p:cNvPr>
          <p:cNvSpPr txBox="1"/>
          <p:nvPr/>
        </p:nvSpPr>
        <p:spPr>
          <a:xfrm>
            <a:off x="406400" y="552271"/>
            <a:ext cx="154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Without </a:t>
            </a:r>
            <a:r>
              <a:rPr lang="en-US" sz="3200" b="1" dirty="0" err="1"/>
              <a:t>demulsfiers</a:t>
            </a:r>
            <a:r>
              <a:rPr lang="en-US" sz="3200" b="1" dirty="0"/>
              <a:t> vs With </a:t>
            </a:r>
            <a:r>
              <a:rPr lang="en-US" sz="3200" b="1" dirty="0" err="1"/>
              <a:t>demulsifiers</a:t>
            </a:r>
            <a:r>
              <a:rPr lang="en-US" sz="3200" b="1" dirty="0"/>
              <a:t> (P1# and P2#)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11D28-7A61-C127-633E-B9A675AAF691}"/>
              </a:ext>
            </a:extLst>
          </p:cNvPr>
          <p:cNvSpPr txBox="1"/>
          <p:nvPr/>
        </p:nvSpPr>
        <p:spPr>
          <a:xfrm>
            <a:off x="2336800" y="7751193"/>
            <a:ext cx="635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Temporal evolution of the microstructure of the emulsions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C19B9-ECC6-CBEB-0A68-5818E67DFF48}"/>
              </a:ext>
            </a:extLst>
          </p:cNvPr>
          <p:cNvSpPr txBox="1"/>
          <p:nvPr/>
        </p:nvSpPr>
        <p:spPr>
          <a:xfrm>
            <a:off x="203200" y="8611394"/>
            <a:ext cx="474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 et al., </a:t>
            </a:r>
            <a:r>
              <a:rPr lang="en-US" i="1" dirty="0"/>
              <a:t>Processes</a:t>
            </a:r>
            <a:r>
              <a:rPr lang="en-US" dirty="0"/>
              <a:t>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7CAB5-10AE-E850-55A6-1DA093E57302}"/>
              </a:ext>
            </a:extLst>
          </p:cNvPr>
          <p:cNvSpPr txBox="1"/>
          <p:nvPr/>
        </p:nvSpPr>
        <p:spPr>
          <a:xfrm>
            <a:off x="9271000" y="2438400"/>
            <a:ext cx="642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Chemical demulsification</a:t>
            </a:r>
          </a:p>
          <a:p>
            <a:r>
              <a:rPr lang="en-US" sz="2400" dirty="0"/>
              <a:t>Competitive adsorption between asphaltene and </a:t>
            </a:r>
            <a:r>
              <a:rPr lang="en-US" sz="2400" dirty="0" err="1"/>
              <a:t>demulsifiers</a:t>
            </a:r>
            <a:r>
              <a:rPr lang="en-US" sz="2400" dirty="0"/>
              <a:t> to ensure droplets coalesce.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CD201-2CE4-B56F-9AC7-119129E3A3D6}"/>
              </a:ext>
            </a:extLst>
          </p:cNvPr>
          <p:cNvSpPr txBox="1"/>
          <p:nvPr/>
        </p:nvSpPr>
        <p:spPr>
          <a:xfrm>
            <a:off x="9042400" y="4572000"/>
            <a:ext cx="69858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Factors involved in demulsification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Asphaltene concentration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Concentration of </a:t>
            </a:r>
            <a:r>
              <a:rPr lang="en-US" sz="2400" dirty="0" err="1"/>
              <a:t>demulsifiers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Temperature &amp; Pressure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Mixing conditions before Phase separation(Shear during flow)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Interfacial film aging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Oil composition</a:t>
            </a:r>
          </a:p>
        </p:txBody>
      </p:sp>
    </p:spTree>
    <p:extLst>
      <p:ext uri="{BB962C8B-B14F-4D97-AF65-F5344CB8AC3E}">
        <p14:creationId xmlns:p14="http://schemas.microsoft.com/office/powerpoint/2010/main" val="3525831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A07F-0E71-FC49-1199-36F998C2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D29CF24-B21A-C56A-195B-5A18635ACE98}"/>
              </a:ext>
            </a:extLst>
          </p:cNvPr>
          <p:cNvSpPr txBox="1"/>
          <p:nvPr/>
        </p:nvSpPr>
        <p:spPr>
          <a:xfrm>
            <a:off x="4470400" y="533400"/>
            <a:ext cx="906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Role of interfacial tension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EB7B7-D42A-CCA2-C881-9F934E77D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1828800"/>
            <a:ext cx="7080250" cy="63038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CCBA18-84C1-5FDC-84E5-410D2C6F0FA9}"/>
              </a:ext>
            </a:extLst>
          </p:cNvPr>
          <p:cNvSpPr txBox="1"/>
          <p:nvPr/>
        </p:nvSpPr>
        <p:spPr>
          <a:xfrm>
            <a:off x="4503994" y="1118175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IFT with asphaltene laden film scales with square root of time.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68788-FF93-66FD-7016-4E76AFB54A9E}"/>
              </a:ext>
            </a:extLst>
          </p:cNvPr>
          <p:cNvSpPr txBox="1"/>
          <p:nvPr/>
        </p:nvSpPr>
        <p:spPr>
          <a:xfrm>
            <a:off x="971550" y="2438400"/>
            <a:ext cx="6324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IFT keeps on decreasing even in Regime 3 due to restructuring of the asphaltene structure on the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IFT decreases further when demulsifies are introduced.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DDDCD-CDC7-31A6-4EA2-CD3EB9FE6E8F}"/>
              </a:ext>
            </a:extLst>
          </p:cNvPr>
          <p:cNvSpPr txBox="1"/>
          <p:nvPr/>
        </p:nvSpPr>
        <p:spPr>
          <a:xfrm>
            <a:off x="203200" y="8611394"/>
            <a:ext cx="474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Martinez et al., </a:t>
            </a:r>
            <a:r>
              <a:rPr lang="en-US" i="1" dirty="0"/>
              <a:t>Materials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74304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3AFE0-EFA2-83FD-301E-F5E2CA07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A23465-F1BC-7F88-0CF6-05AF4B02120D}"/>
              </a:ext>
            </a:extLst>
          </p:cNvPr>
          <p:cNvSpPr txBox="1"/>
          <p:nvPr/>
        </p:nvSpPr>
        <p:spPr>
          <a:xfrm>
            <a:off x="742042" y="857956"/>
            <a:ext cx="14947900" cy="993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about W/O emulsions and the role of asphaltene?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570F83-0C39-0C23-E9E8-E84598BCF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2438400"/>
            <a:ext cx="9133765" cy="4774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7AD960-6A74-5ACA-AF82-8B1064181962}"/>
              </a:ext>
            </a:extLst>
          </p:cNvPr>
          <p:cNvSpPr txBox="1"/>
          <p:nvPr/>
        </p:nvSpPr>
        <p:spPr>
          <a:xfrm>
            <a:off x="4165600" y="565568"/>
            <a:ext cx="1013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Interface is heterogeneous and rigidity keeps on increasing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A3AD3B-04E1-EB5A-C437-5E396C54B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2423652"/>
            <a:ext cx="58166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3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19226</TotalTime>
  <Words>615</Words>
  <Application>Microsoft Macintosh PowerPoint</Application>
  <PresentationFormat>Custom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Ashwin Amalaruban M</cp:lastModifiedBy>
  <cp:revision>18</cp:revision>
  <dcterms:created xsi:type="dcterms:W3CDTF">2006-08-16T00:00:00Z</dcterms:created>
  <dcterms:modified xsi:type="dcterms:W3CDTF">2026-04-28T19:35:31Z</dcterms:modified>
</cp:coreProperties>
</file>