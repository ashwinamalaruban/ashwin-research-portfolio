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62" r:id="rId3"/>
    <p:sldId id="268" r:id="rId4"/>
    <p:sldId id="270" r:id="rId5"/>
    <p:sldId id="260" r:id="rId6"/>
    <p:sldId id="273" r:id="rId7"/>
    <p:sldId id="271" r:id="rId8"/>
    <p:sldId id="257" r:id="rId9"/>
    <p:sldId id="272" r:id="rId10"/>
    <p:sldId id="274" r:id="rId11"/>
    <p:sldId id="25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7712" autoAdjust="0"/>
    <p:restoredTop sz="86370" autoAdjust="0"/>
  </p:normalViewPr>
  <p:slideViewPr>
    <p:cSldViewPr snapToGrid="0">
      <p:cViewPr varScale="1">
        <p:scale>
          <a:sx n="104" d="100"/>
          <a:sy n="104" d="100"/>
        </p:scale>
        <p:origin x="576" y="208"/>
      </p:cViewPr>
      <p:guideLst/>
    </p:cSldViewPr>
  </p:slideViewPr>
  <p:notesTextViewPr>
    <p:cViewPr>
      <p:scale>
        <a:sx n="1" d="1"/>
        <a:sy n="1" d="1"/>
      </p:scale>
      <p:origin x="0" y="0"/>
    </p:cViewPr>
  </p:notesTextViewPr>
  <p:sorterViewPr>
    <p:cViewPr>
      <p:scale>
        <a:sx n="100" d="100"/>
        <a:sy n="100" d="100"/>
      </p:scale>
      <p:origin x="0" y="-123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7A5F35-4242-44B8-8727-68EC06095251}" type="datetimeFigureOut">
              <a:rPr lang="en-IN" smtClean="0"/>
              <a:t>28/04/26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0FA65A-E023-4D6B-BBA9-63DACD08D059}" type="slidenum">
              <a:rPr lang="en-IN" smtClean="0"/>
              <a:t>‹#›</a:t>
            </a:fld>
            <a:endParaRPr lang="en-IN"/>
          </a:p>
        </p:txBody>
      </p:sp>
    </p:spTree>
    <p:extLst>
      <p:ext uri="{BB962C8B-B14F-4D97-AF65-F5344CB8AC3E}">
        <p14:creationId xmlns:p14="http://schemas.microsoft.com/office/powerpoint/2010/main" val="4293615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cancer.gov/Common/PopUps/popDefinition.aspx?id=CDR0000046568&amp;version=Patient&amp;language=en" TargetMode="External"/><Relationship Id="rId2" Type="http://schemas.openxmlformats.org/officeDocument/2006/relationships/slide" Target="../slides/slide3.xml"/><Relationship Id="rId1" Type="http://schemas.openxmlformats.org/officeDocument/2006/relationships/notesMaster" Target="../notesMasters/notesMaster1.xml"/><Relationship Id="rId4" Type="http://schemas.openxmlformats.org/officeDocument/2006/relationships/hyperlink" Target="https://www.cancer.gov/Common/PopUps/popDefinition.aspx?id=CDR0000046081&amp;version=Patient&amp;language=en"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717679"/>
                </a:solidFill>
                <a:effectLst/>
                <a:latin typeface="Helvetica Neue"/>
              </a:rPr>
              <a:t>(CRISPR) is an adaptive immune system in bacteria. </a:t>
            </a:r>
            <a:r>
              <a:rPr lang="en-US" b="0" i="0">
                <a:solidFill>
                  <a:srgbClr val="1B1B1B"/>
                </a:solidFill>
                <a:effectLst/>
                <a:latin typeface="Open Sans" panose="020B0606030504020204" pitchFamily="34" charset="0"/>
              </a:rPr>
              <a:t>To protect themselves against invaders like viruses, these microbes capture snippets of the intruder’s DNA and store them away as segments called CRISPRs, or clustered regularly interspersed short palindromic repeats. If the same germ tries to attack again, those DNA segments (turned into short pieces of </a:t>
            </a:r>
            <a:r>
              <a:rPr lang="en-US" b="0" i="0" u="none" strike="noStrike">
                <a:solidFill>
                  <a:srgbClr val="1B1B1B"/>
                </a:solidFill>
                <a:effectLst/>
                <a:latin typeface="Open Sans" panose="020B0606030504020204" pitchFamily="34" charset="0"/>
                <a:hlinkClick r:id="rId3"/>
              </a:rPr>
              <a:t>RNA</a:t>
            </a:r>
            <a:r>
              <a:rPr lang="en-US" b="0" i="0">
                <a:solidFill>
                  <a:srgbClr val="1B1B1B"/>
                </a:solidFill>
                <a:effectLst/>
                <a:latin typeface="Open Sans" panose="020B0606030504020204" pitchFamily="34" charset="0"/>
              </a:rPr>
              <a:t>) help an </a:t>
            </a:r>
            <a:r>
              <a:rPr lang="en-US" b="0" i="0" u="none" strike="noStrike">
                <a:solidFill>
                  <a:srgbClr val="1B1B1B"/>
                </a:solidFill>
                <a:effectLst/>
                <a:latin typeface="Open Sans" panose="020B0606030504020204" pitchFamily="34" charset="0"/>
                <a:hlinkClick r:id="rId4"/>
              </a:rPr>
              <a:t>enzyme</a:t>
            </a:r>
            <a:r>
              <a:rPr lang="en-US" b="0" i="0">
                <a:solidFill>
                  <a:srgbClr val="1B1B1B"/>
                </a:solidFill>
                <a:effectLst/>
                <a:latin typeface="Open Sans" panose="020B0606030504020204" pitchFamily="34" charset="0"/>
              </a:rPr>
              <a:t> called Cas find and slice up the invader’s DNA.  </a:t>
            </a:r>
            <a:r>
              <a:rPr lang="en-US" b="0" i="0">
                <a:solidFill>
                  <a:srgbClr val="717679"/>
                </a:solidFill>
                <a:effectLst/>
                <a:latin typeface="Helvetica Neue"/>
              </a:rPr>
              <a:t>From base editing, to prime editing, to RNA editing, there's a lot of ways that CRISPR can be used. </a:t>
            </a:r>
          </a:p>
          <a:p>
            <a:endParaRPr lang="en-US" b="0" i="0">
              <a:solidFill>
                <a:srgbClr val="717679"/>
              </a:solidFill>
              <a:effectLst/>
              <a:latin typeface="Helvetica Neue"/>
            </a:endParaRPr>
          </a:p>
          <a:p>
            <a:r>
              <a:rPr lang="en-US" b="0" i="0">
                <a:solidFill>
                  <a:srgbClr val="1B1B1B"/>
                </a:solidFill>
                <a:effectLst/>
                <a:latin typeface="Open Sans" panose="020B0606030504020204" pitchFamily="34" charset="0"/>
              </a:rPr>
              <a:t>CRISPR tool consists of two main actors: a guide RNA and a DNA-cutting enzyme, most commonly one called Cas9.</a:t>
            </a:r>
            <a:r>
              <a:rPr lang="en-US" b="0" i="0">
                <a:solidFill>
                  <a:srgbClr val="717679"/>
                </a:solidFill>
                <a:effectLst/>
                <a:latin typeface="Helvetica Neue"/>
              </a:rPr>
              <a:t> </a:t>
            </a:r>
            <a:r>
              <a:rPr lang="en-US" b="0" i="0">
                <a:solidFill>
                  <a:srgbClr val="1B1B1B"/>
                </a:solidFill>
                <a:effectLst/>
                <a:latin typeface="Open Sans" panose="020B0606030504020204" pitchFamily="34" charset="0"/>
              </a:rPr>
              <a:t>Scientists design the guide RNA to mirror the DNA of the gene to be edited (called the target).</a:t>
            </a:r>
          </a:p>
          <a:p>
            <a:endParaRPr lang="en-US" b="0" i="0">
              <a:solidFill>
                <a:srgbClr val="1B1B1B"/>
              </a:solidFill>
              <a:effectLst/>
              <a:latin typeface="Open Sans" panose="020B0606030504020204" pitchFamily="34" charset="0"/>
            </a:endParaRPr>
          </a:p>
          <a:p>
            <a:pPr>
              <a:buFont typeface="Arial" panose="020B0604020202020204" pitchFamily="34" charset="0"/>
              <a:buChar char="•"/>
            </a:pPr>
            <a:r>
              <a:rPr lang="en-US"/>
              <a:t>Each Cas protein recognizes a unique PAM sequence, which serves as a signal for the Cas protein to bind to the DNA.</a:t>
            </a:r>
            <a:r>
              <a:rPr lang="en-US" b="0" i="0">
                <a:solidFill>
                  <a:srgbClr val="1F1F1F"/>
                </a:solidFill>
                <a:effectLst/>
                <a:latin typeface="ElsevierGulliver"/>
              </a:rPr>
              <a:t>  This PAM site, comprising a short sequence of typically 2–3 nucleotides. </a:t>
            </a:r>
            <a:r>
              <a:rPr lang="en-US"/>
              <a:t>Cleavage occurs only if the gRNA perfectly (or almost perfectly) matches the target DNA sequence. </a:t>
            </a:r>
            <a:endParaRPr lang="en-IN"/>
          </a:p>
        </p:txBody>
      </p:sp>
      <p:sp>
        <p:nvSpPr>
          <p:cNvPr id="4" name="Slide Number Placeholder 3"/>
          <p:cNvSpPr>
            <a:spLocks noGrp="1"/>
          </p:cNvSpPr>
          <p:nvPr>
            <p:ph type="sldNum" sz="quarter" idx="5"/>
          </p:nvPr>
        </p:nvSpPr>
        <p:spPr/>
        <p:txBody>
          <a:bodyPr/>
          <a:lstStyle/>
          <a:p>
            <a:fld id="{6B0FA65A-E023-4D6B-BBA9-63DACD08D059}" type="slidenum">
              <a:rPr lang="en-IN" smtClean="0"/>
              <a:t>3</a:t>
            </a:fld>
            <a:endParaRPr lang="en-IN"/>
          </a:p>
        </p:txBody>
      </p:sp>
    </p:spTree>
    <p:extLst>
      <p:ext uri="{BB962C8B-B14F-4D97-AF65-F5344CB8AC3E}">
        <p14:creationId xmlns:p14="http://schemas.microsoft.com/office/powerpoint/2010/main" val="3253602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solidFill>
                  <a:srgbClr val="000000"/>
                </a:solidFill>
                <a:latin typeface="Aptos" panose="020B0004020202020204" pitchFamily="34" charset="0"/>
                <a:sym typeface="Wingdings" panose="05000000000000000000" pitchFamily="2" charset="2"/>
              </a:rPr>
              <a:t>Cas9 complex also binds to other unintedended regions, off-targets.</a:t>
            </a:r>
            <a:r>
              <a:rPr lang="en-US" b="0" i="0">
                <a:solidFill>
                  <a:srgbClr val="333333"/>
                </a:solidFill>
                <a:effectLst/>
                <a:latin typeface="Open Sans" panose="020B0606030504020204" pitchFamily="34" charset="0"/>
              </a:rPr>
              <a:t> This might occur if researchers don't customize the guide RNA sequence for a unique DNA target but instead target a common sequence found in a family of genes. Such off-target effects could have negative outcomes on health. For example, if the guide RNA matches a gene that suppresses tumor growth, there is a risk that disabling it could turn the cell cancerous. </a:t>
            </a:r>
            <a:r>
              <a:rPr lang="en-US" b="1"/>
              <a:t>Strategies to Minimize Off-Targeting</a:t>
            </a:r>
          </a:p>
          <a:p>
            <a:pPr marL="742950" lvl="1" indent="-285750">
              <a:buFont typeface="Arial" panose="020B0604020202020204" pitchFamily="34" charset="0"/>
              <a:buChar char="•"/>
            </a:pPr>
            <a:r>
              <a:rPr lang="en-US"/>
              <a:t>Designing </a:t>
            </a:r>
            <a:r>
              <a:rPr lang="en-US" b="1"/>
              <a:t>gRNAs with higher specificity. </a:t>
            </a:r>
            <a:r>
              <a:rPr lang="en-US" b="0" i="0">
                <a:solidFill>
                  <a:srgbClr val="222222"/>
                </a:solidFill>
                <a:effectLst/>
                <a:latin typeface="Harding"/>
              </a:rPr>
              <a:t>Cleavage specificity, measured as the ratio of on- to off-target cleavage</a:t>
            </a:r>
            <a:endParaRPr lang="en-US" b="1"/>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a:solidFill>
                  <a:srgbClr val="333333"/>
                </a:solidFill>
                <a:effectLst/>
                <a:latin typeface="Open Sans" panose="020B0606030504020204" pitchFamily="34" charset="0"/>
              </a:rPr>
              <a:t>“Off-target effects are just a drop in the ocean.” </a:t>
            </a:r>
            <a:r>
              <a:rPr lang="en-US" sz="1200">
                <a:solidFill>
                  <a:srgbClr val="333333"/>
                </a:solidFill>
                <a:latin typeface="Open Sans" panose="020B0606030504020204" pitchFamily="34" charset="0"/>
              </a:rPr>
              <a:t>–</a:t>
            </a:r>
            <a:r>
              <a:rPr lang="en-US" sz="1200" b="0" i="0">
                <a:solidFill>
                  <a:srgbClr val="333333"/>
                </a:solidFill>
                <a:effectLst/>
                <a:latin typeface="Open Sans" panose="020B0606030504020204" pitchFamily="34" charset="0"/>
              </a:rPr>
              <a:t>Alison Van Eenennaam</a:t>
            </a:r>
            <a:endParaRPr lang="en-IN" sz="1200"/>
          </a:p>
          <a:p>
            <a:pPr marL="742950" lvl="1" indent="-285750">
              <a:buFont typeface="Arial" panose="020B0604020202020204" pitchFamily="34" charset="0"/>
              <a:buChar char="•"/>
            </a:pPr>
            <a:endParaRPr lang="en-US" sz="1200">
              <a:solidFill>
                <a:srgbClr val="000000"/>
              </a:solidFill>
              <a:latin typeface="Aptos" panose="020B0004020202020204" pitchFamily="34" charset="0"/>
              <a:sym typeface="Wingdings" panose="05000000000000000000" pitchFamily="2" charset="2"/>
            </a:endParaRPr>
          </a:p>
          <a:p>
            <a:endParaRPr lang="en-IN"/>
          </a:p>
        </p:txBody>
      </p:sp>
      <p:sp>
        <p:nvSpPr>
          <p:cNvPr id="4" name="Slide Number Placeholder 3"/>
          <p:cNvSpPr>
            <a:spLocks noGrp="1"/>
          </p:cNvSpPr>
          <p:nvPr>
            <p:ph type="sldNum" sz="quarter" idx="5"/>
          </p:nvPr>
        </p:nvSpPr>
        <p:spPr/>
        <p:txBody>
          <a:bodyPr/>
          <a:lstStyle/>
          <a:p>
            <a:fld id="{6B0FA65A-E023-4D6B-BBA9-63DACD08D059}" type="slidenum">
              <a:rPr lang="en-IN" smtClean="0"/>
              <a:t>4</a:t>
            </a:fld>
            <a:endParaRPr lang="en-IN"/>
          </a:p>
        </p:txBody>
      </p:sp>
    </p:spTree>
    <p:extLst>
      <p:ext uri="{BB962C8B-B14F-4D97-AF65-F5344CB8AC3E}">
        <p14:creationId xmlns:p14="http://schemas.microsoft.com/office/powerpoint/2010/main" val="4196103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sz="1800" b="0" i="0" u="none" strike="noStrike" baseline="0">
                <a:latin typeface="MgwfqbWarnockPro-Regular"/>
              </a:rPr>
              <a:t>The PAM sequence in the target DNA region is assumed to be responsible for the initial Cas9 recognition but the stability of the Cas9–gRNA–DNA</a:t>
            </a:r>
          </a:p>
          <a:p>
            <a:pPr algn="l"/>
            <a:r>
              <a:rPr lang="en-US" sz="1800" b="0" i="0" u="none" strike="noStrike" baseline="0">
                <a:latin typeface="MgwfqbWarnockPro-Regular"/>
              </a:rPr>
              <a:t>complex is maintained through the RNA–DNA binding.</a:t>
            </a:r>
          </a:p>
          <a:p>
            <a:pPr algn="l"/>
            <a:r>
              <a:rPr lang="en-US" sz="1800" b="0" i="0" u="none" strike="noStrike" baseline="0">
                <a:latin typeface="MgwfqbWarnockPro-Regular"/>
              </a:rPr>
              <a:t>Therefore, we decided to introduce the effect of PAM sequence to the overall binding stability with a parameter</a:t>
            </a:r>
          </a:p>
          <a:p>
            <a:pPr algn="l"/>
            <a:r>
              <a:rPr lang="en-US" sz="1800" b="0" i="1" u="none" strike="noStrike" baseline="0">
                <a:latin typeface="BddrfpRMTMI"/>
              </a:rPr>
              <a:t>δ</a:t>
            </a:r>
            <a:r>
              <a:rPr lang="en-US" sz="1800" b="0" i="1" u="none" strike="noStrike" baseline="0">
                <a:latin typeface="DmyjblWarnockPro-It"/>
              </a:rPr>
              <a:t>PAM </a:t>
            </a:r>
            <a:r>
              <a:rPr lang="en-US" sz="1800" b="0" i="0" u="none" strike="noStrike" baseline="0">
                <a:latin typeface="MgwfqbWarnockPro-Regular"/>
              </a:rPr>
              <a:t>that influence the computed overall binding free energy. Values for </a:t>
            </a:r>
            <a:r>
              <a:rPr lang="en-US" sz="1800" b="0" i="1" u="none" strike="noStrike" baseline="0">
                <a:latin typeface="BddrfpRMTMI"/>
              </a:rPr>
              <a:t>δ</a:t>
            </a:r>
            <a:r>
              <a:rPr lang="en-US" sz="1800" b="0" i="1" u="none" strike="noStrike" baseline="0">
                <a:latin typeface="DmyjblWarnockPro-It"/>
              </a:rPr>
              <a:t>PAM </a:t>
            </a:r>
            <a:r>
              <a:rPr lang="en-US" sz="1800" b="0" i="0" u="none" strike="noStrike" baseline="0">
                <a:latin typeface="MgwfqbWarnockPro-Regular"/>
              </a:rPr>
              <a:t>have been selected arbitrarily for</a:t>
            </a:r>
          </a:p>
          <a:p>
            <a:pPr algn="l"/>
            <a:r>
              <a:rPr lang="en-US" sz="1800" b="0" i="0" u="none" strike="noStrike" baseline="0">
                <a:latin typeface="MgwfqbWarnockPro-Regular"/>
              </a:rPr>
              <a:t>Cas9, as 1.0, 0.9, and 0.8 for the PAM sequences of NGG,</a:t>
            </a:r>
          </a:p>
          <a:p>
            <a:pPr algn="l"/>
            <a:r>
              <a:rPr lang="en-US" sz="1800" b="0" i="0" u="none" strike="noStrike" baseline="0">
                <a:latin typeface="MgwfqbWarnockPro-Regular"/>
              </a:rPr>
              <a:t>NAG, and NGA, respectively. These values solely reflect</a:t>
            </a:r>
          </a:p>
          <a:p>
            <a:pPr algn="l"/>
            <a:r>
              <a:rPr lang="en-US" sz="1800" b="0" i="0" u="none" strike="noStrike" baseline="0">
                <a:latin typeface="MgwfqbWarnockPro-Regular"/>
              </a:rPr>
              <a:t>our observations in the literature for experimentally validated</a:t>
            </a:r>
          </a:p>
          <a:p>
            <a:pPr algn="l"/>
            <a:r>
              <a:rPr lang="en-IN" sz="1800" b="0" i="0" u="none" strike="noStrike" baseline="0">
                <a:latin typeface="MgwfqbWarnockPro-Regular"/>
              </a:rPr>
              <a:t>off-targets of Cas9.</a:t>
            </a:r>
            <a:endParaRPr lang="en-IN"/>
          </a:p>
        </p:txBody>
      </p:sp>
      <p:sp>
        <p:nvSpPr>
          <p:cNvPr id="4" name="Slide Number Placeholder 3"/>
          <p:cNvSpPr>
            <a:spLocks noGrp="1"/>
          </p:cNvSpPr>
          <p:nvPr>
            <p:ph type="sldNum" sz="quarter" idx="5"/>
          </p:nvPr>
        </p:nvSpPr>
        <p:spPr/>
        <p:txBody>
          <a:bodyPr/>
          <a:lstStyle/>
          <a:p>
            <a:fld id="{6B0FA65A-E023-4D6B-BBA9-63DACD08D059}" type="slidenum">
              <a:rPr lang="en-IN" smtClean="0"/>
              <a:t>5</a:t>
            </a:fld>
            <a:endParaRPr lang="en-IN"/>
          </a:p>
        </p:txBody>
      </p:sp>
    </p:spTree>
    <p:extLst>
      <p:ext uri="{BB962C8B-B14F-4D97-AF65-F5344CB8AC3E}">
        <p14:creationId xmlns:p14="http://schemas.microsoft.com/office/powerpoint/2010/main" val="140913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a:t>Nuclease Domains</a:t>
            </a:r>
            <a:r>
              <a:rPr lang="en-US"/>
              <a:t>:Cas12a (Cpf1) has a single RuvC domain responsible for cleaving both DNA strands.</a:t>
            </a:r>
          </a:p>
          <a:p>
            <a:pPr>
              <a:buFont typeface="Arial" panose="020B0604020202020204" pitchFamily="34" charset="0"/>
              <a:buChar char="•"/>
            </a:pPr>
            <a:r>
              <a:rPr lang="en-US" b="1"/>
              <a:t>Cleavage Process</a:t>
            </a:r>
            <a:r>
              <a:rPr lang="en-US"/>
              <a:t>:Cas12 first nicks the </a:t>
            </a:r>
            <a:r>
              <a:rPr lang="en-US" b="1"/>
              <a:t>non-target strand</a:t>
            </a:r>
            <a:r>
              <a:rPr lang="en-US"/>
              <a:t>.</a:t>
            </a:r>
          </a:p>
          <a:p>
            <a:pPr>
              <a:buFont typeface="Arial" panose="020B0604020202020204" pitchFamily="34" charset="0"/>
              <a:buChar char="•"/>
            </a:pPr>
            <a:r>
              <a:rPr lang="en-US"/>
              <a:t>The protein repositions and cleaves the </a:t>
            </a:r>
            <a:r>
              <a:rPr lang="en-US" b="1"/>
              <a:t>target strand</a:t>
            </a:r>
            <a:r>
              <a:rPr lang="en-US"/>
              <a:t>, resulting in </a:t>
            </a:r>
            <a:r>
              <a:rPr lang="en-US" b="1"/>
              <a:t>staggered ends</a:t>
            </a:r>
            <a:r>
              <a:rPr lang="en-US"/>
              <a:t> (sticky overhangs).</a:t>
            </a:r>
          </a:p>
          <a:p>
            <a:r>
              <a:rPr lang="en-US"/>
              <a:t> Cas13a platform is more versatile, including the potential easily to deliver multiple guides, knockdown nuclear RNAs, and further engineer and optimize the protein.</a:t>
            </a:r>
            <a:endParaRPr lang="en-IN"/>
          </a:p>
        </p:txBody>
      </p:sp>
      <p:sp>
        <p:nvSpPr>
          <p:cNvPr id="4" name="Slide Number Placeholder 3"/>
          <p:cNvSpPr>
            <a:spLocks noGrp="1"/>
          </p:cNvSpPr>
          <p:nvPr>
            <p:ph type="sldNum" sz="quarter" idx="5"/>
          </p:nvPr>
        </p:nvSpPr>
        <p:spPr/>
        <p:txBody>
          <a:bodyPr/>
          <a:lstStyle/>
          <a:p>
            <a:fld id="{6B0FA65A-E023-4D6B-BBA9-63DACD08D059}" type="slidenum">
              <a:rPr lang="en-IN" smtClean="0"/>
              <a:t>6</a:t>
            </a:fld>
            <a:endParaRPr lang="en-IN"/>
          </a:p>
        </p:txBody>
      </p:sp>
    </p:spTree>
    <p:extLst>
      <p:ext uri="{BB962C8B-B14F-4D97-AF65-F5344CB8AC3E}">
        <p14:creationId xmlns:p14="http://schemas.microsoft.com/office/powerpoint/2010/main" val="455473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11118-B2EF-113D-516E-4A4BCF2C2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E8599-AE00-6FC6-2E8B-2E91C214D4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5648E4-FC1D-D7B3-5FBB-78E0340CC8F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t>Base pair stability at different positions impacted by Cas protein conformation.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The </a:t>
            </a:r>
            <a:r>
              <a:rPr lang="en-US" b="1"/>
              <a:t>association rate</a:t>
            </a:r>
            <a:r>
              <a:rPr lang="en-US"/>
              <a:t> (axa_xax​) of each off-target site δx\delta_xδx​, which reflects how strongly each off-target site interacts with the gRNA.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cap="none" normalizeH="0" baseline="0">
                <a:ln>
                  <a:noFill/>
                </a:ln>
                <a:solidFill>
                  <a:schemeClr val="tx1"/>
                </a:solidFill>
                <a:effectLst/>
                <a:latin typeface="Arial" panose="020B0604020202020204" pitchFamily="34" charset="0"/>
              </a:rPr>
              <a:t>Logarithmic scaling compresses large differences in WiW_iWi​ values, making the range of normalized weights easier to interpret. For instance, if one position has a much higher WiW_iWi​ than others, the logarithmic transformation reduces its dominance while still reflecting its relative importance. Normalization makes the scores more </a:t>
            </a:r>
            <a:r>
              <a:rPr kumimoji="0" lang="en-US" altLang="en-US" sz="1200" b="1" i="0" u="none" strike="noStrike" cap="none" normalizeH="0" baseline="0">
                <a:ln>
                  <a:noFill/>
                </a:ln>
                <a:solidFill>
                  <a:schemeClr val="tx1"/>
                </a:solidFill>
                <a:effectLst/>
                <a:latin typeface="Arial" panose="020B0604020202020204" pitchFamily="34" charset="0"/>
              </a:rPr>
              <a:t>interpretable</a:t>
            </a:r>
            <a:r>
              <a:rPr kumimoji="0" lang="en-US" altLang="en-US" sz="1200" b="0" i="0" u="none" strike="noStrike" cap="none" normalizeH="0" baseline="0">
                <a:ln>
                  <a:noFill/>
                </a:ln>
                <a:solidFill>
                  <a:schemeClr val="tx1"/>
                </a:solidFill>
                <a:effectLst/>
                <a:latin typeface="Arial" panose="020B0604020202020204" pitchFamily="34" charset="0"/>
              </a:rPr>
              <a:t> by setting the lowest WiW_iWi​ as a baseline and scaling other positions relative to it.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1200" b="0" i="0" u="none" strike="noStrike" cap="none" normalizeH="0" baseline="0">
              <a:ln>
                <a:noFill/>
              </a:ln>
              <a:solidFill>
                <a:schemeClr val="tx1"/>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a:p>
          <a:p>
            <a:pPr algn="l"/>
            <a:endParaRPr lang="en-IN"/>
          </a:p>
        </p:txBody>
      </p:sp>
      <p:sp>
        <p:nvSpPr>
          <p:cNvPr id="4" name="Slide Number Placeholder 3">
            <a:extLst>
              <a:ext uri="{FF2B5EF4-FFF2-40B4-BE49-F238E27FC236}">
                <a16:creationId xmlns:a16="http://schemas.microsoft.com/office/drawing/2014/main" id="{94F0E20B-B953-2EDC-288C-9FB37D20A5D9}"/>
              </a:ext>
            </a:extLst>
          </p:cNvPr>
          <p:cNvSpPr>
            <a:spLocks noGrp="1"/>
          </p:cNvSpPr>
          <p:nvPr>
            <p:ph type="sldNum" sz="quarter" idx="5"/>
          </p:nvPr>
        </p:nvSpPr>
        <p:spPr/>
        <p:txBody>
          <a:bodyPr/>
          <a:lstStyle/>
          <a:p>
            <a:fld id="{6B0FA65A-E023-4D6B-BBA9-63DACD08D059}" type="slidenum">
              <a:rPr lang="en-IN" smtClean="0"/>
              <a:t>7</a:t>
            </a:fld>
            <a:endParaRPr lang="en-IN"/>
          </a:p>
        </p:txBody>
      </p:sp>
    </p:spTree>
    <p:extLst>
      <p:ext uri="{BB962C8B-B14F-4D97-AF65-F5344CB8AC3E}">
        <p14:creationId xmlns:p14="http://schemas.microsoft.com/office/powerpoint/2010/main" val="3434802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a:t>CRISPRoff assigns a </a:t>
            </a:r>
            <a:r>
              <a:rPr lang="en-US" b="1"/>
              <a:t>confidence score</a:t>
            </a:r>
            <a:r>
              <a:rPr lang="en-US"/>
              <a:t> to each predicted off-target site of a given gRNA. The score is based on the </a:t>
            </a:r>
            <a:r>
              <a:rPr lang="en-US" b="1"/>
              <a:t>free energy differences</a:t>
            </a:r>
            <a:r>
              <a:rPr lang="en-US"/>
              <a:t> that describe the binding stability between the gRNA and the DNA target. </a:t>
            </a:r>
            <a:r>
              <a:rPr lang="en-US" b="1"/>
              <a:t>ROC Curves</a:t>
            </a:r>
            <a:r>
              <a:rPr lang="en-US"/>
              <a:t> (Receiver Operating Characteristic curves) measure the performance of off-target prediction models by plotting: </a:t>
            </a:r>
            <a:r>
              <a:rPr lang="en-US" b="0" i="0">
                <a:solidFill>
                  <a:srgbClr val="FFFFFF"/>
                </a:solidFill>
                <a:effectLst/>
                <a:latin typeface="Google Sans"/>
              </a:rPr>
              <a:t>curves closer to the top-left corner indicate a better performance</a:t>
            </a:r>
            <a:r>
              <a:rPr lang="en-US" b="0" i="0">
                <a:solidFill>
                  <a:srgbClr val="BFBFBF"/>
                </a:solidFill>
                <a:effectLst/>
                <a:latin typeface="Google Sans"/>
              </a:rPr>
              <a:t>. </a:t>
            </a:r>
            <a:r>
              <a:rPr lang="en-US" b="1"/>
              <a:t>True Positive Rate (TPR)</a:t>
            </a:r>
            <a:r>
              <a:rPr lang="en-US"/>
              <a:t>: How well the model identifies true off-targets.</a:t>
            </a:r>
          </a:p>
          <a:p>
            <a:pPr>
              <a:buFont typeface="Arial" panose="020B0604020202020204" pitchFamily="34" charset="0"/>
              <a:buChar char="•"/>
            </a:pPr>
            <a:r>
              <a:rPr lang="en-US" b="1"/>
              <a:t>False Positive Rate (FPR)</a:t>
            </a:r>
            <a:r>
              <a:rPr lang="en-US"/>
              <a:t>: How often the model incorrectly predicts off-targets.</a:t>
            </a:r>
          </a:p>
          <a:p>
            <a:endParaRPr lang="en-IN"/>
          </a:p>
        </p:txBody>
      </p:sp>
      <p:sp>
        <p:nvSpPr>
          <p:cNvPr id="4" name="Slide Number Placeholder 3"/>
          <p:cNvSpPr>
            <a:spLocks noGrp="1"/>
          </p:cNvSpPr>
          <p:nvPr>
            <p:ph type="sldNum" sz="quarter" idx="5"/>
          </p:nvPr>
        </p:nvSpPr>
        <p:spPr/>
        <p:txBody>
          <a:bodyPr/>
          <a:lstStyle/>
          <a:p>
            <a:fld id="{6B0FA65A-E023-4D6B-BBA9-63DACD08D059}" type="slidenum">
              <a:rPr lang="en-IN" smtClean="0"/>
              <a:t>8</a:t>
            </a:fld>
            <a:endParaRPr lang="en-IN"/>
          </a:p>
        </p:txBody>
      </p:sp>
    </p:spTree>
    <p:extLst>
      <p:ext uri="{BB962C8B-B14F-4D97-AF65-F5344CB8AC3E}">
        <p14:creationId xmlns:p14="http://schemas.microsoft.com/office/powerpoint/2010/main" val="2295365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t>calculate the </a:t>
            </a:r>
            <a:r>
              <a:rPr lang="en-US" b="1"/>
              <a:t>specificity score</a:t>
            </a:r>
            <a:r>
              <a:rPr lang="en-US"/>
              <a:t> of a guide RNA (gRNA) by considering the relative probabilities of binding to on-target and off-target DNA sequences. </a:t>
            </a:r>
            <a:r>
              <a:rPr lang="en-IN" sz="1800" b="0" i="0" u="none" strike="noStrike" baseline="0">
                <a:latin typeface="MgwfqbWarnockPro-Regular"/>
              </a:rPr>
              <a:t>It is</a:t>
            </a:r>
          </a:p>
          <a:p>
            <a:pPr algn="l"/>
            <a:r>
              <a:rPr lang="en-US" sz="1800" b="0" i="0" u="none" strike="noStrike" baseline="0">
                <a:latin typeface="MgwfqbWarnockPro-Regular"/>
              </a:rPr>
              <a:t>expected that gRNAs with higher specificity have a lower</a:t>
            </a:r>
          </a:p>
          <a:p>
            <a:pPr algn="l"/>
            <a:r>
              <a:rPr lang="en-US" sz="1800" b="0" i="0" u="none" strike="noStrike" baseline="0">
                <a:latin typeface="MgwfqbWarnockPro-Regular"/>
              </a:rPr>
              <a:t>fraction of off-target read counts. </a:t>
            </a:r>
            <a:endParaRPr lang="en-IN"/>
          </a:p>
        </p:txBody>
      </p:sp>
      <p:sp>
        <p:nvSpPr>
          <p:cNvPr id="4" name="Slide Number Placeholder 3"/>
          <p:cNvSpPr>
            <a:spLocks noGrp="1"/>
          </p:cNvSpPr>
          <p:nvPr>
            <p:ph type="sldNum" sz="quarter" idx="5"/>
          </p:nvPr>
        </p:nvSpPr>
        <p:spPr/>
        <p:txBody>
          <a:bodyPr/>
          <a:lstStyle/>
          <a:p>
            <a:fld id="{6B0FA65A-E023-4D6B-BBA9-63DACD08D059}" type="slidenum">
              <a:rPr lang="en-IN" smtClean="0"/>
              <a:t>9</a:t>
            </a:fld>
            <a:endParaRPr lang="en-IN"/>
          </a:p>
        </p:txBody>
      </p:sp>
    </p:spTree>
    <p:extLst>
      <p:ext uri="{BB962C8B-B14F-4D97-AF65-F5344CB8AC3E}">
        <p14:creationId xmlns:p14="http://schemas.microsoft.com/office/powerpoint/2010/main" val="3017817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47B7C-F95A-4106-DC25-7B16348FBB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4C07C-90E2-A404-33AB-5E1AD864C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48B86C-E84E-0E9A-DC60-C7B1D97D3A78}"/>
              </a:ext>
            </a:extLst>
          </p:cNvPr>
          <p:cNvSpPr>
            <a:spLocks noGrp="1"/>
          </p:cNvSpPr>
          <p:nvPr>
            <p:ph type="body" idx="1"/>
          </p:nvPr>
        </p:nvSpPr>
        <p:spPr/>
        <p:txBody>
          <a:bodyPr/>
          <a:lstStyle/>
          <a:p>
            <a:pPr algn="l"/>
            <a:endParaRPr lang="en-IN"/>
          </a:p>
        </p:txBody>
      </p:sp>
      <p:sp>
        <p:nvSpPr>
          <p:cNvPr id="4" name="Slide Number Placeholder 3">
            <a:extLst>
              <a:ext uri="{FF2B5EF4-FFF2-40B4-BE49-F238E27FC236}">
                <a16:creationId xmlns:a16="http://schemas.microsoft.com/office/drawing/2014/main" id="{F20F0F87-60E4-1DE5-61BB-250672BD42EA}"/>
              </a:ext>
            </a:extLst>
          </p:cNvPr>
          <p:cNvSpPr>
            <a:spLocks noGrp="1"/>
          </p:cNvSpPr>
          <p:nvPr>
            <p:ph type="sldNum" sz="quarter" idx="5"/>
          </p:nvPr>
        </p:nvSpPr>
        <p:spPr/>
        <p:txBody>
          <a:bodyPr/>
          <a:lstStyle/>
          <a:p>
            <a:fld id="{6B0FA65A-E023-4D6B-BBA9-63DACD08D059}" type="slidenum">
              <a:rPr lang="en-IN" smtClean="0"/>
              <a:t>10</a:t>
            </a:fld>
            <a:endParaRPr lang="en-IN"/>
          </a:p>
        </p:txBody>
      </p:sp>
    </p:spTree>
    <p:extLst>
      <p:ext uri="{BB962C8B-B14F-4D97-AF65-F5344CB8AC3E}">
        <p14:creationId xmlns:p14="http://schemas.microsoft.com/office/powerpoint/2010/main" val="37081551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62F10-2F81-CB52-D73A-99577ECACB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307986C-2C2D-6D37-51FC-4C66F901AF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10BD6A2-8BD8-A382-BD74-A7F36FDBD43E}"/>
              </a:ext>
            </a:extLst>
          </p:cNvPr>
          <p:cNvSpPr>
            <a:spLocks noGrp="1"/>
          </p:cNvSpPr>
          <p:nvPr>
            <p:ph type="dt" sz="half" idx="10"/>
          </p:nvPr>
        </p:nvSpPr>
        <p:spPr/>
        <p:txBody>
          <a:bodyPr/>
          <a:lstStyle/>
          <a:p>
            <a:fld id="{890F13EB-EA4C-4836-BED6-C687119FF429}" type="datetime1">
              <a:rPr lang="en-IN" smtClean="0"/>
              <a:t>28/04/26</a:t>
            </a:fld>
            <a:endParaRPr lang="en-IN"/>
          </a:p>
        </p:txBody>
      </p:sp>
      <p:sp>
        <p:nvSpPr>
          <p:cNvPr id="5" name="Footer Placeholder 4">
            <a:extLst>
              <a:ext uri="{FF2B5EF4-FFF2-40B4-BE49-F238E27FC236}">
                <a16:creationId xmlns:a16="http://schemas.microsoft.com/office/drawing/2014/main" id="{C918552C-CF12-8763-F0CB-1FA3BDA490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0A8ED4-2E45-E8CE-A224-21142F2E35CA}"/>
              </a:ext>
            </a:extLst>
          </p:cNvPr>
          <p:cNvSpPr>
            <a:spLocks noGrp="1"/>
          </p:cNvSpPr>
          <p:nvPr>
            <p:ph type="sldNum" sz="quarter" idx="12"/>
          </p:nvPr>
        </p:nvSpPr>
        <p:spPr/>
        <p:txBody>
          <a:bodyPr/>
          <a:lstStyle/>
          <a:p>
            <a:fld id="{5726A261-CBDC-45C6-994B-4400E8D6835A}" type="slidenum">
              <a:rPr lang="en-IN" smtClean="0"/>
              <a:t>‹#›</a:t>
            </a:fld>
            <a:endParaRPr lang="en-IN"/>
          </a:p>
        </p:txBody>
      </p:sp>
    </p:spTree>
    <p:extLst>
      <p:ext uri="{BB962C8B-B14F-4D97-AF65-F5344CB8AC3E}">
        <p14:creationId xmlns:p14="http://schemas.microsoft.com/office/powerpoint/2010/main" val="1558593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A11C9-2220-354D-FC6A-5853FE8779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914353-7329-04BE-788E-E021A9AB09C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14414A-8C97-97E1-040B-FCF96671508A}"/>
              </a:ext>
            </a:extLst>
          </p:cNvPr>
          <p:cNvSpPr>
            <a:spLocks noGrp="1"/>
          </p:cNvSpPr>
          <p:nvPr>
            <p:ph type="dt" sz="half" idx="10"/>
          </p:nvPr>
        </p:nvSpPr>
        <p:spPr/>
        <p:txBody>
          <a:bodyPr/>
          <a:lstStyle/>
          <a:p>
            <a:fld id="{E10D32B8-D3AE-4A16-93C0-F5191A40DA63}" type="datetime1">
              <a:rPr lang="en-IN" smtClean="0"/>
              <a:t>28/04/26</a:t>
            </a:fld>
            <a:endParaRPr lang="en-IN"/>
          </a:p>
        </p:txBody>
      </p:sp>
      <p:sp>
        <p:nvSpPr>
          <p:cNvPr id="5" name="Footer Placeholder 4">
            <a:extLst>
              <a:ext uri="{FF2B5EF4-FFF2-40B4-BE49-F238E27FC236}">
                <a16:creationId xmlns:a16="http://schemas.microsoft.com/office/drawing/2014/main" id="{BF7073B3-C07B-68A4-80BA-3995006429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9E7AEF-C280-0D52-C234-93108EFA63D8}"/>
              </a:ext>
            </a:extLst>
          </p:cNvPr>
          <p:cNvSpPr>
            <a:spLocks noGrp="1"/>
          </p:cNvSpPr>
          <p:nvPr>
            <p:ph type="sldNum" sz="quarter" idx="12"/>
          </p:nvPr>
        </p:nvSpPr>
        <p:spPr/>
        <p:txBody>
          <a:bodyPr/>
          <a:lstStyle/>
          <a:p>
            <a:fld id="{5726A261-CBDC-45C6-994B-4400E8D6835A}" type="slidenum">
              <a:rPr lang="en-IN" smtClean="0"/>
              <a:t>‹#›</a:t>
            </a:fld>
            <a:endParaRPr lang="en-IN"/>
          </a:p>
        </p:txBody>
      </p:sp>
    </p:spTree>
    <p:extLst>
      <p:ext uri="{BB962C8B-B14F-4D97-AF65-F5344CB8AC3E}">
        <p14:creationId xmlns:p14="http://schemas.microsoft.com/office/powerpoint/2010/main" val="3456953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700B2-6EA9-7713-8F55-1D1C1B7A461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CB4D279-DA11-491F-F001-098B99782C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5854E7-AF64-985F-09A6-BE1CCDDA6950}"/>
              </a:ext>
            </a:extLst>
          </p:cNvPr>
          <p:cNvSpPr>
            <a:spLocks noGrp="1"/>
          </p:cNvSpPr>
          <p:nvPr>
            <p:ph type="dt" sz="half" idx="10"/>
          </p:nvPr>
        </p:nvSpPr>
        <p:spPr/>
        <p:txBody>
          <a:bodyPr/>
          <a:lstStyle/>
          <a:p>
            <a:fld id="{7FC7A4A7-C4B9-4CDC-BC44-D0974C2B7410}" type="datetime1">
              <a:rPr lang="en-IN" smtClean="0"/>
              <a:t>28/04/26</a:t>
            </a:fld>
            <a:endParaRPr lang="en-IN"/>
          </a:p>
        </p:txBody>
      </p:sp>
      <p:sp>
        <p:nvSpPr>
          <p:cNvPr id="5" name="Footer Placeholder 4">
            <a:extLst>
              <a:ext uri="{FF2B5EF4-FFF2-40B4-BE49-F238E27FC236}">
                <a16:creationId xmlns:a16="http://schemas.microsoft.com/office/drawing/2014/main" id="{5D9F7367-FDB0-2F6E-E1B6-CE10FF2005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3633CF-5F4F-C755-3532-F914FCF42DEC}"/>
              </a:ext>
            </a:extLst>
          </p:cNvPr>
          <p:cNvSpPr>
            <a:spLocks noGrp="1"/>
          </p:cNvSpPr>
          <p:nvPr>
            <p:ph type="sldNum" sz="quarter" idx="12"/>
          </p:nvPr>
        </p:nvSpPr>
        <p:spPr/>
        <p:txBody>
          <a:bodyPr/>
          <a:lstStyle/>
          <a:p>
            <a:fld id="{5726A261-CBDC-45C6-994B-4400E8D6835A}" type="slidenum">
              <a:rPr lang="en-IN" smtClean="0"/>
              <a:t>‹#›</a:t>
            </a:fld>
            <a:endParaRPr lang="en-IN"/>
          </a:p>
        </p:txBody>
      </p:sp>
    </p:spTree>
    <p:extLst>
      <p:ext uri="{BB962C8B-B14F-4D97-AF65-F5344CB8AC3E}">
        <p14:creationId xmlns:p14="http://schemas.microsoft.com/office/powerpoint/2010/main" val="4056099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5A659-068F-947C-F57C-16AC144F7C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8125DD8-1F06-DB66-C1B6-974B68DEE7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DF315C9-DF03-76A8-1B47-58B433DB717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4F89EEC-A4A3-8C8A-BD02-5984C4161727}"/>
              </a:ext>
            </a:extLst>
          </p:cNvPr>
          <p:cNvSpPr>
            <a:spLocks noGrp="1"/>
          </p:cNvSpPr>
          <p:nvPr>
            <p:ph type="dt" sz="half" idx="10"/>
          </p:nvPr>
        </p:nvSpPr>
        <p:spPr/>
        <p:txBody>
          <a:bodyPr/>
          <a:lstStyle/>
          <a:p>
            <a:fld id="{694AD685-5DD3-4B9F-ABAE-12E257D9C0BB}" type="datetime1">
              <a:rPr lang="en-IN" smtClean="0"/>
              <a:t>28/04/26</a:t>
            </a:fld>
            <a:endParaRPr lang="en-IN"/>
          </a:p>
        </p:txBody>
      </p:sp>
      <p:sp>
        <p:nvSpPr>
          <p:cNvPr id="6" name="Footer Placeholder 5">
            <a:extLst>
              <a:ext uri="{FF2B5EF4-FFF2-40B4-BE49-F238E27FC236}">
                <a16:creationId xmlns:a16="http://schemas.microsoft.com/office/drawing/2014/main" id="{318487D8-04B3-9087-CE12-8C2F02B9C2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EC6053-E1F8-62A4-99DF-4185F80EA9D6}"/>
              </a:ext>
            </a:extLst>
          </p:cNvPr>
          <p:cNvSpPr>
            <a:spLocks noGrp="1"/>
          </p:cNvSpPr>
          <p:nvPr>
            <p:ph type="sldNum" sz="quarter" idx="12"/>
          </p:nvPr>
        </p:nvSpPr>
        <p:spPr/>
        <p:txBody>
          <a:bodyPr/>
          <a:lstStyle/>
          <a:p>
            <a:fld id="{5726A261-CBDC-45C6-994B-4400E8D6835A}" type="slidenum">
              <a:rPr lang="en-IN" smtClean="0"/>
              <a:t>‹#›</a:t>
            </a:fld>
            <a:endParaRPr lang="en-IN"/>
          </a:p>
        </p:txBody>
      </p:sp>
    </p:spTree>
    <p:extLst>
      <p:ext uri="{BB962C8B-B14F-4D97-AF65-F5344CB8AC3E}">
        <p14:creationId xmlns:p14="http://schemas.microsoft.com/office/powerpoint/2010/main" val="849621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391C7-9259-9CEA-C8C8-0ABDEF01E6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24C0B1-13EE-C54A-79C9-65D1DA8D27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FC7EE0-4785-DF5E-EA3F-4A7709909F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A0D704-2660-452F-85A6-EF948EA790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8C922E-4683-8F52-D3B1-C1553A3CF3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0480816-D8CF-8A2B-2C34-76F6D576CAFC}"/>
              </a:ext>
            </a:extLst>
          </p:cNvPr>
          <p:cNvSpPr>
            <a:spLocks noGrp="1"/>
          </p:cNvSpPr>
          <p:nvPr>
            <p:ph type="dt" sz="half" idx="10"/>
          </p:nvPr>
        </p:nvSpPr>
        <p:spPr/>
        <p:txBody>
          <a:bodyPr/>
          <a:lstStyle/>
          <a:p>
            <a:fld id="{D154238B-FC95-4082-8BCB-763B36FF589C}" type="datetime1">
              <a:rPr lang="en-IN" smtClean="0"/>
              <a:t>28/04/26</a:t>
            </a:fld>
            <a:endParaRPr lang="en-IN"/>
          </a:p>
        </p:txBody>
      </p:sp>
      <p:sp>
        <p:nvSpPr>
          <p:cNvPr id="8" name="Footer Placeholder 7">
            <a:extLst>
              <a:ext uri="{FF2B5EF4-FFF2-40B4-BE49-F238E27FC236}">
                <a16:creationId xmlns:a16="http://schemas.microsoft.com/office/drawing/2014/main" id="{CA53C4DC-C462-1E08-763F-24F14C69E0A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0ABD06-3E4D-E3A1-68B3-52AEFBF477E2}"/>
              </a:ext>
            </a:extLst>
          </p:cNvPr>
          <p:cNvSpPr>
            <a:spLocks noGrp="1"/>
          </p:cNvSpPr>
          <p:nvPr>
            <p:ph type="sldNum" sz="quarter" idx="12"/>
          </p:nvPr>
        </p:nvSpPr>
        <p:spPr/>
        <p:txBody>
          <a:bodyPr/>
          <a:lstStyle/>
          <a:p>
            <a:fld id="{5726A261-CBDC-45C6-994B-4400E8D6835A}" type="slidenum">
              <a:rPr lang="en-IN" smtClean="0"/>
              <a:t>‹#›</a:t>
            </a:fld>
            <a:endParaRPr lang="en-IN"/>
          </a:p>
        </p:txBody>
      </p:sp>
    </p:spTree>
    <p:extLst>
      <p:ext uri="{BB962C8B-B14F-4D97-AF65-F5344CB8AC3E}">
        <p14:creationId xmlns:p14="http://schemas.microsoft.com/office/powerpoint/2010/main" val="941898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F3A0E-3C97-EBA9-403B-7F2B279C15A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8746472-248E-7645-0E6F-ED0F8486688F}"/>
              </a:ext>
            </a:extLst>
          </p:cNvPr>
          <p:cNvSpPr>
            <a:spLocks noGrp="1"/>
          </p:cNvSpPr>
          <p:nvPr>
            <p:ph type="dt" sz="half" idx="10"/>
          </p:nvPr>
        </p:nvSpPr>
        <p:spPr/>
        <p:txBody>
          <a:bodyPr/>
          <a:lstStyle/>
          <a:p>
            <a:fld id="{BB6D672E-8677-496C-9550-2C01E1AD2D9B}" type="datetime1">
              <a:rPr lang="en-IN" smtClean="0"/>
              <a:t>28/04/26</a:t>
            </a:fld>
            <a:endParaRPr lang="en-IN"/>
          </a:p>
        </p:txBody>
      </p:sp>
      <p:sp>
        <p:nvSpPr>
          <p:cNvPr id="4" name="Footer Placeholder 3">
            <a:extLst>
              <a:ext uri="{FF2B5EF4-FFF2-40B4-BE49-F238E27FC236}">
                <a16:creationId xmlns:a16="http://schemas.microsoft.com/office/drawing/2014/main" id="{9322594C-7355-A6B6-A17D-23A16195AFB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1B5205A-AC25-EA15-D3F3-CE8DE3D43EB3}"/>
              </a:ext>
            </a:extLst>
          </p:cNvPr>
          <p:cNvSpPr>
            <a:spLocks noGrp="1"/>
          </p:cNvSpPr>
          <p:nvPr>
            <p:ph type="sldNum" sz="quarter" idx="12"/>
          </p:nvPr>
        </p:nvSpPr>
        <p:spPr/>
        <p:txBody>
          <a:bodyPr/>
          <a:lstStyle/>
          <a:p>
            <a:fld id="{5726A261-CBDC-45C6-994B-4400E8D6835A}" type="slidenum">
              <a:rPr lang="en-IN" smtClean="0"/>
              <a:t>‹#›</a:t>
            </a:fld>
            <a:endParaRPr lang="en-IN"/>
          </a:p>
        </p:txBody>
      </p:sp>
    </p:spTree>
    <p:extLst>
      <p:ext uri="{BB962C8B-B14F-4D97-AF65-F5344CB8AC3E}">
        <p14:creationId xmlns:p14="http://schemas.microsoft.com/office/powerpoint/2010/main" val="2455645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E6FFF6-5E13-1A61-D624-FF92172DA2D6}"/>
              </a:ext>
            </a:extLst>
          </p:cNvPr>
          <p:cNvSpPr>
            <a:spLocks noGrp="1"/>
          </p:cNvSpPr>
          <p:nvPr>
            <p:ph type="dt" sz="half" idx="10"/>
          </p:nvPr>
        </p:nvSpPr>
        <p:spPr/>
        <p:txBody>
          <a:bodyPr/>
          <a:lstStyle/>
          <a:p>
            <a:fld id="{F23BD4DB-C2BB-448C-9653-D752F93AF799}" type="datetime1">
              <a:rPr lang="en-IN" smtClean="0"/>
              <a:t>28/04/26</a:t>
            </a:fld>
            <a:endParaRPr lang="en-IN"/>
          </a:p>
        </p:txBody>
      </p:sp>
      <p:sp>
        <p:nvSpPr>
          <p:cNvPr id="3" name="Footer Placeholder 2">
            <a:extLst>
              <a:ext uri="{FF2B5EF4-FFF2-40B4-BE49-F238E27FC236}">
                <a16:creationId xmlns:a16="http://schemas.microsoft.com/office/drawing/2014/main" id="{9A501CBA-C1D3-F7EB-B82F-31B5DA939EE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E41E201-BAE3-3C25-C7E6-4DC13B9E3D9E}"/>
              </a:ext>
            </a:extLst>
          </p:cNvPr>
          <p:cNvSpPr>
            <a:spLocks noGrp="1"/>
          </p:cNvSpPr>
          <p:nvPr>
            <p:ph type="sldNum" sz="quarter" idx="12"/>
          </p:nvPr>
        </p:nvSpPr>
        <p:spPr/>
        <p:txBody>
          <a:bodyPr/>
          <a:lstStyle/>
          <a:p>
            <a:fld id="{5726A261-CBDC-45C6-994B-4400E8D6835A}" type="slidenum">
              <a:rPr lang="en-IN" smtClean="0"/>
              <a:t>‹#›</a:t>
            </a:fld>
            <a:endParaRPr lang="en-IN"/>
          </a:p>
        </p:txBody>
      </p:sp>
    </p:spTree>
    <p:extLst>
      <p:ext uri="{BB962C8B-B14F-4D97-AF65-F5344CB8AC3E}">
        <p14:creationId xmlns:p14="http://schemas.microsoft.com/office/powerpoint/2010/main" val="3466554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DA9F8-A92F-5C63-DC33-C4B4001A7F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1B7D3EC-E617-3B5C-85E1-B22BF4FFFC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50AC874-4185-9FAD-D709-46172CA3C8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1C0CF7-EAB1-FE9F-2D40-24717CE3D27A}"/>
              </a:ext>
            </a:extLst>
          </p:cNvPr>
          <p:cNvSpPr>
            <a:spLocks noGrp="1"/>
          </p:cNvSpPr>
          <p:nvPr>
            <p:ph type="dt" sz="half" idx="10"/>
          </p:nvPr>
        </p:nvSpPr>
        <p:spPr/>
        <p:txBody>
          <a:bodyPr/>
          <a:lstStyle/>
          <a:p>
            <a:fld id="{0F6AAD8D-752C-4776-918D-5B7FF79BEB85}" type="datetime1">
              <a:rPr lang="en-IN" smtClean="0"/>
              <a:t>28/04/26</a:t>
            </a:fld>
            <a:endParaRPr lang="en-IN"/>
          </a:p>
        </p:txBody>
      </p:sp>
      <p:sp>
        <p:nvSpPr>
          <p:cNvPr id="6" name="Footer Placeholder 5">
            <a:extLst>
              <a:ext uri="{FF2B5EF4-FFF2-40B4-BE49-F238E27FC236}">
                <a16:creationId xmlns:a16="http://schemas.microsoft.com/office/drawing/2014/main" id="{BA7FDE3F-3DB2-F852-53E1-0E59DC97F6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E9358F-C200-49DD-F4C4-CDFFEAAACF4A}"/>
              </a:ext>
            </a:extLst>
          </p:cNvPr>
          <p:cNvSpPr>
            <a:spLocks noGrp="1"/>
          </p:cNvSpPr>
          <p:nvPr>
            <p:ph type="sldNum" sz="quarter" idx="12"/>
          </p:nvPr>
        </p:nvSpPr>
        <p:spPr/>
        <p:txBody>
          <a:bodyPr/>
          <a:lstStyle/>
          <a:p>
            <a:fld id="{5726A261-CBDC-45C6-994B-4400E8D6835A}" type="slidenum">
              <a:rPr lang="en-IN" smtClean="0"/>
              <a:t>‹#›</a:t>
            </a:fld>
            <a:endParaRPr lang="en-IN"/>
          </a:p>
        </p:txBody>
      </p:sp>
    </p:spTree>
    <p:extLst>
      <p:ext uri="{BB962C8B-B14F-4D97-AF65-F5344CB8AC3E}">
        <p14:creationId xmlns:p14="http://schemas.microsoft.com/office/powerpoint/2010/main" val="2652734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19868-6BC7-0EE7-1AAB-CD3E0572F2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52FE9C0-C36C-E318-1917-CA91200D98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A526AB9-D877-AA52-6DBD-C23692E16E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938436-1E62-D6D0-A004-D5D54B361A01}"/>
              </a:ext>
            </a:extLst>
          </p:cNvPr>
          <p:cNvSpPr>
            <a:spLocks noGrp="1"/>
          </p:cNvSpPr>
          <p:nvPr>
            <p:ph type="dt" sz="half" idx="10"/>
          </p:nvPr>
        </p:nvSpPr>
        <p:spPr/>
        <p:txBody>
          <a:bodyPr/>
          <a:lstStyle/>
          <a:p>
            <a:fld id="{513BD674-3483-4A61-B520-89474856C2F3}" type="datetime1">
              <a:rPr lang="en-IN" smtClean="0"/>
              <a:t>28/04/26</a:t>
            </a:fld>
            <a:endParaRPr lang="en-IN"/>
          </a:p>
        </p:txBody>
      </p:sp>
      <p:sp>
        <p:nvSpPr>
          <p:cNvPr id="6" name="Footer Placeholder 5">
            <a:extLst>
              <a:ext uri="{FF2B5EF4-FFF2-40B4-BE49-F238E27FC236}">
                <a16:creationId xmlns:a16="http://schemas.microsoft.com/office/drawing/2014/main" id="{40FE7B69-A480-B379-F509-B33738A94E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7914AE-7B8B-12E7-CEA8-C124DD62FC44}"/>
              </a:ext>
            </a:extLst>
          </p:cNvPr>
          <p:cNvSpPr>
            <a:spLocks noGrp="1"/>
          </p:cNvSpPr>
          <p:nvPr>
            <p:ph type="sldNum" sz="quarter" idx="12"/>
          </p:nvPr>
        </p:nvSpPr>
        <p:spPr/>
        <p:txBody>
          <a:bodyPr/>
          <a:lstStyle/>
          <a:p>
            <a:fld id="{5726A261-CBDC-45C6-994B-4400E8D6835A}" type="slidenum">
              <a:rPr lang="en-IN" smtClean="0"/>
              <a:t>‹#›</a:t>
            </a:fld>
            <a:endParaRPr lang="en-IN"/>
          </a:p>
        </p:txBody>
      </p:sp>
    </p:spTree>
    <p:extLst>
      <p:ext uri="{BB962C8B-B14F-4D97-AF65-F5344CB8AC3E}">
        <p14:creationId xmlns:p14="http://schemas.microsoft.com/office/powerpoint/2010/main" val="1542562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7E921-7E12-4E57-1FE6-0B807C1657F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1866DF-B3D4-515D-E2E1-4206FBC9A8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A60474-4C5C-803B-089A-8DAD15394150}"/>
              </a:ext>
            </a:extLst>
          </p:cNvPr>
          <p:cNvSpPr>
            <a:spLocks noGrp="1"/>
          </p:cNvSpPr>
          <p:nvPr>
            <p:ph type="dt" sz="half" idx="10"/>
          </p:nvPr>
        </p:nvSpPr>
        <p:spPr/>
        <p:txBody>
          <a:bodyPr/>
          <a:lstStyle/>
          <a:p>
            <a:fld id="{BA67B91A-4E20-4E00-B072-225EFE705D08}" type="datetime1">
              <a:rPr lang="en-IN" smtClean="0"/>
              <a:t>28/04/26</a:t>
            </a:fld>
            <a:endParaRPr lang="en-IN"/>
          </a:p>
        </p:txBody>
      </p:sp>
      <p:sp>
        <p:nvSpPr>
          <p:cNvPr id="5" name="Footer Placeholder 4">
            <a:extLst>
              <a:ext uri="{FF2B5EF4-FFF2-40B4-BE49-F238E27FC236}">
                <a16:creationId xmlns:a16="http://schemas.microsoft.com/office/drawing/2014/main" id="{50899BB3-F96C-1BAA-E6F0-7F3C70F23F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F75F51-2B2C-B421-CBC4-DFDA15AA3E71}"/>
              </a:ext>
            </a:extLst>
          </p:cNvPr>
          <p:cNvSpPr>
            <a:spLocks noGrp="1"/>
          </p:cNvSpPr>
          <p:nvPr>
            <p:ph type="sldNum" sz="quarter" idx="12"/>
          </p:nvPr>
        </p:nvSpPr>
        <p:spPr/>
        <p:txBody>
          <a:bodyPr/>
          <a:lstStyle/>
          <a:p>
            <a:fld id="{5726A261-CBDC-45C6-994B-4400E8D6835A}" type="slidenum">
              <a:rPr lang="en-IN" smtClean="0"/>
              <a:t>‹#›</a:t>
            </a:fld>
            <a:endParaRPr lang="en-IN"/>
          </a:p>
        </p:txBody>
      </p:sp>
    </p:spTree>
    <p:extLst>
      <p:ext uri="{BB962C8B-B14F-4D97-AF65-F5344CB8AC3E}">
        <p14:creationId xmlns:p14="http://schemas.microsoft.com/office/powerpoint/2010/main" val="3286516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70F448-2821-9F1A-AD45-8BA818D711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1439926-9771-B0BE-F6C0-D9BF61C3A0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6DD7DEF-C7F7-2FAA-D1F1-4510BC88D9B6}"/>
              </a:ext>
            </a:extLst>
          </p:cNvPr>
          <p:cNvSpPr>
            <a:spLocks noGrp="1"/>
          </p:cNvSpPr>
          <p:nvPr>
            <p:ph type="dt" sz="half" idx="10"/>
          </p:nvPr>
        </p:nvSpPr>
        <p:spPr/>
        <p:txBody>
          <a:bodyPr/>
          <a:lstStyle/>
          <a:p>
            <a:fld id="{FBA2FABD-9D89-474E-905E-9EA261D38B93}" type="datetime1">
              <a:rPr lang="en-IN" smtClean="0"/>
              <a:t>28/04/26</a:t>
            </a:fld>
            <a:endParaRPr lang="en-IN"/>
          </a:p>
        </p:txBody>
      </p:sp>
      <p:sp>
        <p:nvSpPr>
          <p:cNvPr id="5" name="Footer Placeholder 4">
            <a:extLst>
              <a:ext uri="{FF2B5EF4-FFF2-40B4-BE49-F238E27FC236}">
                <a16:creationId xmlns:a16="http://schemas.microsoft.com/office/drawing/2014/main" id="{51C9495E-45DF-571C-44A8-09468E7609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5D640B-C7D4-D167-A0A7-22C2DEA94EE6}"/>
              </a:ext>
            </a:extLst>
          </p:cNvPr>
          <p:cNvSpPr>
            <a:spLocks noGrp="1"/>
          </p:cNvSpPr>
          <p:nvPr>
            <p:ph type="sldNum" sz="quarter" idx="12"/>
          </p:nvPr>
        </p:nvSpPr>
        <p:spPr/>
        <p:txBody>
          <a:bodyPr/>
          <a:lstStyle/>
          <a:p>
            <a:fld id="{5726A261-CBDC-45C6-994B-4400E8D6835A}" type="slidenum">
              <a:rPr lang="en-IN" smtClean="0"/>
              <a:t>‹#›</a:t>
            </a:fld>
            <a:endParaRPr lang="en-IN"/>
          </a:p>
        </p:txBody>
      </p:sp>
    </p:spTree>
    <p:extLst>
      <p:ext uri="{BB962C8B-B14F-4D97-AF65-F5344CB8AC3E}">
        <p14:creationId xmlns:p14="http://schemas.microsoft.com/office/powerpoint/2010/main" val="20675570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838DED-AA3D-647C-92A2-741AACB6A9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CC3DB83-18AC-A2DB-6C0B-A1D28240D3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719523-66C6-782C-9C59-5E9936E32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FB3212-64DF-4506-9E57-611830574AD7}" type="datetime1">
              <a:rPr lang="en-IN" smtClean="0"/>
              <a:t>28/04/26</a:t>
            </a:fld>
            <a:endParaRPr lang="en-IN"/>
          </a:p>
        </p:txBody>
      </p:sp>
      <p:sp>
        <p:nvSpPr>
          <p:cNvPr id="5" name="Footer Placeholder 4">
            <a:extLst>
              <a:ext uri="{FF2B5EF4-FFF2-40B4-BE49-F238E27FC236}">
                <a16:creationId xmlns:a16="http://schemas.microsoft.com/office/drawing/2014/main" id="{1397C5C2-9532-5EF8-CC1F-F55BEFA04D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49EDB55-1AF1-7B39-2075-7CA82D2B2A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26A261-CBDC-45C6-994B-4400E8D6835A}" type="slidenum">
              <a:rPr lang="en-IN" smtClean="0"/>
              <a:t>‹#›</a:t>
            </a:fld>
            <a:endParaRPr lang="en-IN"/>
          </a:p>
        </p:txBody>
      </p:sp>
    </p:spTree>
    <p:extLst>
      <p:ext uri="{BB962C8B-B14F-4D97-AF65-F5344CB8AC3E}">
        <p14:creationId xmlns:p14="http://schemas.microsoft.com/office/powerpoint/2010/main" val="2899086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Wrench and socket on a graphic of DNA">
            <a:extLst>
              <a:ext uri="{FF2B5EF4-FFF2-40B4-BE49-F238E27FC236}">
                <a16:creationId xmlns:a16="http://schemas.microsoft.com/office/drawing/2014/main" id="{C0B00202-1397-304C-8198-A5DDC23D96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884" r="-1" b="-1"/>
          <a:stretch/>
        </p:blipFill>
        <p:spPr bwMode="auto">
          <a:xfrm>
            <a:off x="0" y="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3" name="Rectangle 1032">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9F3A613-8AA4-317F-F3AB-57F2B6D92C0D}"/>
              </a:ext>
            </a:extLst>
          </p:cNvPr>
          <p:cNvSpPr>
            <a:spLocks noGrp="1"/>
          </p:cNvSpPr>
          <p:nvPr>
            <p:ph type="ctrTitle"/>
          </p:nvPr>
        </p:nvSpPr>
        <p:spPr>
          <a:xfrm>
            <a:off x="7935402" y="743446"/>
            <a:ext cx="3879609" cy="3885777"/>
          </a:xfrm>
          <a:noFill/>
        </p:spPr>
        <p:txBody>
          <a:bodyPr>
            <a:noAutofit/>
          </a:bodyPr>
          <a:lstStyle/>
          <a:p>
            <a:pPr algn="l"/>
            <a:br>
              <a:rPr lang="en-IN" sz="4400" b="1" u="none" strike="noStrike" baseline="0">
                <a:solidFill>
                  <a:srgbClr val="C00000"/>
                </a:solidFill>
              </a:rPr>
            </a:br>
            <a:r>
              <a:rPr lang="en-IN" sz="4400" b="1" u="none" strike="noStrike" baseline="0">
                <a:solidFill>
                  <a:srgbClr val="C00000"/>
                </a:solidFill>
              </a:rPr>
              <a:t>CRISPR-Cas9: Predictions with free energy model</a:t>
            </a:r>
            <a:endParaRPr lang="en-IN" sz="4400" b="1">
              <a:solidFill>
                <a:srgbClr val="C00000"/>
              </a:solidFill>
            </a:endParaRPr>
          </a:p>
        </p:txBody>
      </p:sp>
      <p:sp>
        <p:nvSpPr>
          <p:cNvPr id="3" name="Subtitle 2">
            <a:extLst>
              <a:ext uri="{FF2B5EF4-FFF2-40B4-BE49-F238E27FC236}">
                <a16:creationId xmlns:a16="http://schemas.microsoft.com/office/drawing/2014/main" id="{5B752A73-72F3-4BAC-541E-3B12FEE6A7BE}"/>
              </a:ext>
            </a:extLst>
          </p:cNvPr>
          <p:cNvSpPr>
            <a:spLocks noGrp="1"/>
          </p:cNvSpPr>
          <p:nvPr>
            <p:ph type="subTitle" idx="1"/>
          </p:nvPr>
        </p:nvSpPr>
        <p:spPr>
          <a:xfrm>
            <a:off x="7935403" y="4629234"/>
            <a:ext cx="3879608" cy="1485320"/>
          </a:xfrm>
          <a:noFill/>
        </p:spPr>
        <p:txBody>
          <a:bodyPr>
            <a:noAutofit/>
          </a:bodyPr>
          <a:lstStyle/>
          <a:p>
            <a:pPr algn="l"/>
            <a:r>
              <a:rPr lang="en-US" b="1"/>
              <a:t>Ashwin Amalaruban</a:t>
            </a:r>
          </a:p>
          <a:p>
            <a:pPr algn="l"/>
            <a:r>
              <a:rPr lang="en-US"/>
              <a:t>BIM254 Presentation #1</a:t>
            </a:r>
          </a:p>
          <a:p>
            <a:pPr algn="l"/>
            <a:r>
              <a:rPr lang="en-US"/>
              <a:t>Instructor: Dr.Sharon Aviran</a:t>
            </a:r>
            <a:endParaRPr lang="en-IN"/>
          </a:p>
        </p:txBody>
      </p:sp>
      <p:sp>
        <p:nvSpPr>
          <p:cNvPr id="10" name="Slide Number Placeholder 9">
            <a:extLst>
              <a:ext uri="{FF2B5EF4-FFF2-40B4-BE49-F238E27FC236}">
                <a16:creationId xmlns:a16="http://schemas.microsoft.com/office/drawing/2014/main" id="{BC7984DB-CE0D-C4E5-5BFC-AA630E0AE137}"/>
              </a:ext>
            </a:extLst>
          </p:cNvPr>
          <p:cNvSpPr>
            <a:spLocks noGrp="1"/>
          </p:cNvSpPr>
          <p:nvPr>
            <p:ph type="sldNum" sz="quarter" idx="12"/>
          </p:nvPr>
        </p:nvSpPr>
        <p:spPr/>
        <p:txBody>
          <a:bodyPr/>
          <a:lstStyle/>
          <a:p>
            <a:fld id="{5726A261-CBDC-45C6-994B-4400E8D6835A}" type="slidenum">
              <a:rPr lang="en-IN" smtClean="0"/>
              <a:t>1</a:t>
            </a:fld>
            <a:endParaRPr lang="en-IN"/>
          </a:p>
        </p:txBody>
      </p:sp>
    </p:spTree>
    <p:extLst>
      <p:ext uri="{BB962C8B-B14F-4D97-AF65-F5344CB8AC3E}">
        <p14:creationId xmlns:p14="http://schemas.microsoft.com/office/powerpoint/2010/main" val="1841792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A10EFD-A9BE-1951-2E83-484421002F1B}"/>
              </a:ext>
            </a:extLst>
          </p:cNvPr>
          <p:cNvSpPr txBox="1"/>
          <p:nvPr/>
        </p:nvSpPr>
        <p:spPr>
          <a:xfrm>
            <a:off x="1564341" y="160438"/>
            <a:ext cx="9063318" cy="769441"/>
          </a:xfrm>
          <a:prstGeom prst="rect">
            <a:avLst/>
          </a:prstGeom>
          <a:noFill/>
        </p:spPr>
        <p:txBody>
          <a:bodyPr wrap="square" rtlCol="0">
            <a:spAutoFit/>
          </a:bodyPr>
          <a:lstStyle/>
          <a:p>
            <a:pPr algn="ctr"/>
            <a:r>
              <a:rPr lang="en-US" sz="4400" b="1">
                <a:solidFill>
                  <a:srgbClr val="C00000"/>
                </a:solidFill>
              </a:rPr>
              <a:t>Outline of the presentation</a:t>
            </a:r>
            <a:endParaRPr lang="en-IN" sz="4400" b="1">
              <a:solidFill>
                <a:srgbClr val="C00000"/>
              </a:solidFill>
            </a:endParaRPr>
          </a:p>
        </p:txBody>
      </p:sp>
      <p:graphicFrame>
        <p:nvGraphicFramePr>
          <p:cNvPr id="3" name="Table 2">
            <a:extLst>
              <a:ext uri="{FF2B5EF4-FFF2-40B4-BE49-F238E27FC236}">
                <a16:creationId xmlns:a16="http://schemas.microsoft.com/office/drawing/2014/main" id="{00605539-D5B7-7E9D-216D-3AA7160FCAC6}"/>
              </a:ext>
            </a:extLst>
          </p:cNvPr>
          <p:cNvGraphicFramePr>
            <a:graphicFrameLocks noGrp="1"/>
          </p:cNvGraphicFramePr>
          <p:nvPr>
            <p:extLst>
              <p:ext uri="{D42A27DB-BD31-4B8C-83A1-F6EECF244321}">
                <p14:modId xmlns:p14="http://schemas.microsoft.com/office/powerpoint/2010/main" val="3018022906"/>
              </p:ext>
            </p:extLst>
          </p:nvPr>
        </p:nvGraphicFramePr>
        <p:xfrm>
          <a:off x="1564341" y="929879"/>
          <a:ext cx="8542283" cy="5327732"/>
        </p:xfrm>
        <a:graphic>
          <a:graphicData uri="http://schemas.openxmlformats.org/drawingml/2006/table">
            <a:tbl>
              <a:tblPr firstRow="1" bandRow="1">
                <a:tableStyleId>{073A0DAA-6AF3-43AB-8588-CEC1D06C72B9}</a:tableStyleId>
              </a:tblPr>
              <a:tblGrid>
                <a:gridCol w="1258614">
                  <a:extLst>
                    <a:ext uri="{9D8B030D-6E8A-4147-A177-3AD203B41FA5}">
                      <a16:colId xmlns:a16="http://schemas.microsoft.com/office/drawing/2014/main" val="3073029130"/>
                    </a:ext>
                  </a:extLst>
                </a:gridCol>
                <a:gridCol w="4291077">
                  <a:extLst>
                    <a:ext uri="{9D8B030D-6E8A-4147-A177-3AD203B41FA5}">
                      <a16:colId xmlns:a16="http://schemas.microsoft.com/office/drawing/2014/main" val="3490033249"/>
                    </a:ext>
                  </a:extLst>
                </a:gridCol>
                <a:gridCol w="969264">
                  <a:extLst>
                    <a:ext uri="{9D8B030D-6E8A-4147-A177-3AD203B41FA5}">
                      <a16:colId xmlns:a16="http://schemas.microsoft.com/office/drawing/2014/main" val="1117176517"/>
                    </a:ext>
                  </a:extLst>
                </a:gridCol>
                <a:gridCol w="2023328">
                  <a:extLst>
                    <a:ext uri="{9D8B030D-6E8A-4147-A177-3AD203B41FA5}">
                      <a16:colId xmlns:a16="http://schemas.microsoft.com/office/drawing/2014/main" val="2632607238"/>
                    </a:ext>
                  </a:extLst>
                </a:gridCol>
              </a:tblGrid>
              <a:tr h="1205668">
                <a:tc>
                  <a:txBody>
                    <a:bodyPr/>
                    <a:lstStyle/>
                    <a:p>
                      <a:pPr algn="ctr">
                        <a:lnSpc>
                          <a:spcPct val="100000"/>
                        </a:lnSpc>
                      </a:pPr>
                      <a:r>
                        <a:rPr lang="en-US" sz="2000"/>
                        <a:t>Section</a:t>
                      </a:r>
                      <a:endParaRPr lang="en-IN" sz="2000"/>
                    </a:p>
                  </a:txBody>
                  <a:tcPr/>
                </a:tc>
                <a:tc>
                  <a:txBody>
                    <a:bodyPr/>
                    <a:lstStyle/>
                    <a:p>
                      <a:pPr algn="ctr">
                        <a:lnSpc>
                          <a:spcPct val="100000"/>
                        </a:lnSpc>
                      </a:pPr>
                      <a:r>
                        <a:rPr lang="en-US" sz="2000"/>
                        <a:t>Topic</a:t>
                      </a:r>
                      <a:endParaRPr lang="en-IN" sz="2000"/>
                    </a:p>
                  </a:txBody>
                  <a:tcPr/>
                </a:tc>
                <a:tc>
                  <a:txBody>
                    <a:bodyPr/>
                    <a:lstStyle/>
                    <a:p>
                      <a:pPr algn="ctr">
                        <a:lnSpc>
                          <a:spcPct val="100000"/>
                        </a:lnSpc>
                      </a:pPr>
                      <a:r>
                        <a:rPr lang="en-US" sz="2000"/>
                        <a:t>Slides</a:t>
                      </a:r>
                      <a:endParaRPr lang="en-IN" sz="2000"/>
                    </a:p>
                  </a:txBody>
                  <a:tcPr/>
                </a:tc>
                <a:tc>
                  <a:txBody>
                    <a:bodyPr/>
                    <a:lstStyle/>
                    <a:p>
                      <a:pPr algn="ctr">
                        <a:lnSpc>
                          <a:spcPct val="100000"/>
                        </a:lnSpc>
                      </a:pPr>
                      <a:r>
                        <a:rPr lang="en-US" sz="2000"/>
                        <a:t>Estimated Time(mm:ss)</a:t>
                      </a:r>
                      <a:endParaRPr lang="en-IN" sz="2000"/>
                    </a:p>
                  </a:txBody>
                  <a:tcPr/>
                </a:tc>
                <a:extLst>
                  <a:ext uri="{0D108BD9-81ED-4DB2-BD59-A6C34878D82A}">
                    <a16:rowId xmlns:a16="http://schemas.microsoft.com/office/drawing/2014/main" val="146145234"/>
                  </a:ext>
                </a:extLst>
              </a:tr>
              <a:tr h="984347">
                <a:tc>
                  <a:txBody>
                    <a:bodyPr/>
                    <a:lstStyle/>
                    <a:p>
                      <a:pPr algn="ctr">
                        <a:lnSpc>
                          <a:spcPct val="100000"/>
                        </a:lnSpc>
                      </a:pPr>
                      <a:r>
                        <a:rPr lang="en-US" sz="2000"/>
                        <a:t>A</a:t>
                      </a:r>
                      <a:endParaRPr lang="en-IN" sz="2000"/>
                    </a:p>
                  </a:txBody>
                  <a:tcPr/>
                </a:tc>
                <a:tc>
                  <a:txBody>
                    <a:bodyPr/>
                    <a:lstStyle/>
                    <a:p>
                      <a:pPr algn="l">
                        <a:lnSpc>
                          <a:spcPct val="100000"/>
                        </a:lnSpc>
                      </a:pPr>
                      <a:r>
                        <a:rPr lang="en-US" sz="2000"/>
                        <a:t>CRISPR-Cas9</a:t>
                      </a:r>
                    </a:p>
                    <a:p>
                      <a:pPr algn="l">
                        <a:lnSpc>
                          <a:spcPct val="100000"/>
                        </a:lnSpc>
                      </a:pPr>
                      <a:r>
                        <a:rPr lang="en-US" sz="2000"/>
                        <a:t>-Mechanism </a:t>
                      </a:r>
                    </a:p>
                    <a:p>
                      <a:pPr algn="l">
                        <a:lnSpc>
                          <a:spcPct val="100000"/>
                        </a:lnSpc>
                      </a:pPr>
                      <a:r>
                        <a:rPr lang="en-US" sz="2000"/>
                        <a:t>-What could go wrong? </a:t>
                      </a:r>
                      <a:endParaRPr lang="en-IN" sz="2000"/>
                    </a:p>
                  </a:txBody>
                  <a:tcPr/>
                </a:tc>
                <a:tc>
                  <a:txBody>
                    <a:bodyPr/>
                    <a:lstStyle/>
                    <a:p>
                      <a:pPr algn="ctr">
                        <a:lnSpc>
                          <a:spcPct val="100000"/>
                        </a:lnSpc>
                      </a:pPr>
                      <a:r>
                        <a:rPr lang="en-US" sz="2000"/>
                        <a:t>3-4</a:t>
                      </a:r>
                      <a:endParaRPr lang="en-IN" sz="2000"/>
                    </a:p>
                  </a:txBody>
                  <a:tcPr/>
                </a:tc>
                <a:tc>
                  <a:txBody>
                    <a:bodyPr/>
                    <a:lstStyle/>
                    <a:p>
                      <a:pPr algn="ctr">
                        <a:lnSpc>
                          <a:spcPct val="100000"/>
                        </a:lnSpc>
                      </a:pPr>
                      <a:r>
                        <a:rPr lang="en-US" sz="2000"/>
                        <a:t>3:00</a:t>
                      </a:r>
                      <a:endParaRPr lang="en-IN" sz="2000"/>
                    </a:p>
                  </a:txBody>
                  <a:tcPr/>
                </a:tc>
                <a:extLst>
                  <a:ext uri="{0D108BD9-81ED-4DB2-BD59-A6C34878D82A}">
                    <a16:rowId xmlns:a16="http://schemas.microsoft.com/office/drawing/2014/main" val="2465044202"/>
                  </a:ext>
                </a:extLst>
              </a:tr>
              <a:tr h="599916">
                <a:tc>
                  <a:txBody>
                    <a:bodyPr/>
                    <a:lstStyle/>
                    <a:p>
                      <a:pPr algn="ctr">
                        <a:lnSpc>
                          <a:spcPct val="100000"/>
                        </a:lnSpc>
                      </a:pPr>
                      <a:r>
                        <a:rPr lang="en-US" sz="2000"/>
                        <a:t>B</a:t>
                      </a:r>
                      <a:endParaRPr lang="en-IN" sz="2000"/>
                    </a:p>
                  </a:txBody>
                  <a:tcPr/>
                </a:tc>
                <a:tc>
                  <a:txBody>
                    <a:bodyPr/>
                    <a:lstStyle/>
                    <a:p>
                      <a:pPr algn="l">
                        <a:lnSpc>
                          <a:spcPct val="100000"/>
                        </a:lnSpc>
                      </a:pPr>
                      <a:r>
                        <a:rPr lang="en-US" sz="2000"/>
                        <a:t>Binding energy model</a:t>
                      </a:r>
                    </a:p>
                    <a:p>
                      <a:pPr algn="l">
                        <a:lnSpc>
                          <a:spcPct val="100000"/>
                        </a:lnSpc>
                      </a:pPr>
                      <a:r>
                        <a:rPr lang="en-US" sz="2000"/>
                        <a:t>-Cas9</a:t>
                      </a:r>
                    </a:p>
                    <a:p>
                      <a:pPr algn="l">
                        <a:lnSpc>
                          <a:spcPct val="100000"/>
                        </a:lnSpc>
                      </a:pPr>
                      <a:r>
                        <a:rPr lang="en-US" sz="2000"/>
                        <a:t>-Other Cas systems</a:t>
                      </a:r>
                    </a:p>
                    <a:p>
                      <a:pPr algn="l">
                        <a:lnSpc>
                          <a:spcPct val="100000"/>
                        </a:lnSpc>
                      </a:pPr>
                      <a:r>
                        <a:rPr lang="en-US" sz="2000"/>
                        <a:t>-</a:t>
                      </a:r>
                      <a:r>
                        <a:rPr lang="en-US" sz="2000" b="1"/>
                        <a:t>Binding stability</a:t>
                      </a:r>
                      <a:endParaRPr lang="en-IN" sz="2000" b="1"/>
                    </a:p>
                  </a:txBody>
                  <a:tcPr/>
                </a:tc>
                <a:tc>
                  <a:txBody>
                    <a:bodyPr/>
                    <a:lstStyle/>
                    <a:p>
                      <a:pPr algn="ctr">
                        <a:lnSpc>
                          <a:spcPct val="100000"/>
                        </a:lnSpc>
                      </a:pPr>
                      <a:r>
                        <a:rPr lang="en-US" sz="2000"/>
                        <a:t>5-7</a:t>
                      </a:r>
                      <a:endParaRPr lang="en-IN" sz="2000"/>
                    </a:p>
                  </a:txBody>
                  <a:tcPr/>
                </a:tc>
                <a:tc>
                  <a:txBody>
                    <a:bodyPr/>
                    <a:lstStyle/>
                    <a:p>
                      <a:pPr algn="ctr">
                        <a:lnSpc>
                          <a:spcPct val="100000"/>
                        </a:lnSpc>
                      </a:pPr>
                      <a:r>
                        <a:rPr lang="en-US" sz="2000"/>
                        <a:t>4:00</a:t>
                      </a:r>
                      <a:endParaRPr lang="en-IN" sz="2000"/>
                    </a:p>
                  </a:txBody>
                  <a:tcPr/>
                </a:tc>
                <a:extLst>
                  <a:ext uri="{0D108BD9-81ED-4DB2-BD59-A6C34878D82A}">
                    <a16:rowId xmlns:a16="http://schemas.microsoft.com/office/drawing/2014/main" val="3368421982"/>
                  </a:ext>
                </a:extLst>
              </a:tr>
              <a:tr h="1205668">
                <a:tc>
                  <a:txBody>
                    <a:bodyPr/>
                    <a:lstStyle/>
                    <a:p>
                      <a:pPr algn="ctr">
                        <a:lnSpc>
                          <a:spcPct val="100000"/>
                        </a:lnSpc>
                      </a:pPr>
                      <a:r>
                        <a:rPr lang="en-US" sz="2000"/>
                        <a:t>C</a:t>
                      </a:r>
                      <a:endParaRPr lang="en-IN" sz="2000"/>
                    </a:p>
                  </a:txBody>
                  <a:tcPr/>
                </a:tc>
                <a:tc>
                  <a:txBody>
                    <a:bodyPr/>
                    <a:lstStyle/>
                    <a:p>
                      <a:pPr algn="l">
                        <a:lnSpc>
                          <a:spcPct val="100000"/>
                        </a:lnSpc>
                      </a:pPr>
                      <a:r>
                        <a:rPr lang="en-US" sz="2000"/>
                        <a:t>The paper</a:t>
                      </a:r>
                    </a:p>
                    <a:p>
                      <a:pPr algn="l">
                        <a:lnSpc>
                          <a:spcPct val="100000"/>
                        </a:lnSpc>
                      </a:pPr>
                      <a:r>
                        <a:rPr lang="en-US" sz="2000"/>
                        <a:t>-CRISPRoff </a:t>
                      </a:r>
                    </a:p>
                    <a:p>
                      <a:pPr algn="l">
                        <a:lnSpc>
                          <a:spcPct val="100000"/>
                        </a:lnSpc>
                      </a:pPr>
                      <a:r>
                        <a:rPr lang="en-US" sz="2000"/>
                        <a:t>-CRISPRspec</a:t>
                      </a:r>
                      <a:endParaRPr lang="en-IN" sz="2000"/>
                    </a:p>
                  </a:txBody>
                  <a:tcPr/>
                </a:tc>
                <a:tc>
                  <a:txBody>
                    <a:bodyPr/>
                    <a:lstStyle/>
                    <a:p>
                      <a:pPr algn="ctr">
                        <a:lnSpc>
                          <a:spcPct val="100000"/>
                        </a:lnSpc>
                      </a:pPr>
                      <a:r>
                        <a:rPr lang="en-US" sz="2000"/>
                        <a:t>8-9</a:t>
                      </a:r>
                      <a:endParaRPr lang="en-IN" sz="2000"/>
                    </a:p>
                  </a:txBody>
                  <a:tcPr/>
                </a:tc>
                <a:tc>
                  <a:txBody>
                    <a:bodyPr/>
                    <a:lstStyle/>
                    <a:p>
                      <a:pPr algn="ctr">
                        <a:lnSpc>
                          <a:spcPct val="100000"/>
                        </a:lnSpc>
                      </a:pPr>
                      <a:r>
                        <a:rPr lang="en-US" sz="2000"/>
                        <a:t>3:00</a:t>
                      </a:r>
                      <a:endParaRPr lang="en-IN" sz="2000"/>
                    </a:p>
                  </a:txBody>
                  <a:tcPr/>
                </a:tc>
                <a:extLst>
                  <a:ext uri="{0D108BD9-81ED-4DB2-BD59-A6C34878D82A}">
                    <a16:rowId xmlns:a16="http://schemas.microsoft.com/office/drawing/2014/main" val="2819004612"/>
                  </a:ext>
                </a:extLst>
              </a:tr>
              <a:tr h="599916">
                <a:tc>
                  <a:txBody>
                    <a:bodyPr/>
                    <a:lstStyle/>
                    <a:p>
                      <a:pPr algn="ctr">
                        <a:lnSpc>
                          <a:spcPct val="100000"/>
                        </a:lnSpc>
                      </a:pPr>
                      <a:r>
                        <a:rPr lang="en-US" sz="2000"/>
                        <a:t>D</a:t>
                      </a:r>
                      <a:endParaRPr lang="en-IN" sz="2000"/>
                    </a:p>
                  </a:txBody>
                  <a:tcPr/>
                </a:tc>
                <a:tc>
                  <a:txBody>
                    <a:bodyPr/>
                    <a:lstStyle/>
                    <a:p>
                      <a:pPr algn="l">
                        <a:lnSpc>
                          <a:spcPct val="100000"/>
                        </a:lnSpc>
                      </a:pPr>
                      <a:r>
                        <a:rPr lang="en-US" sz="2000"/>
                        <a:t>Expected outcome</a:t>
                      </a:r>
                      <a:endParaRPr lang="en-IN" sz="2000"/>
                    </a:p>
                  </a:txBody>
                  <a:tcPr/>
                </a:tc>
                <a:tc>
                  <a:txBody>
                    <a:bodyPr/>
                    <a:lstStyle/>
                    <a:p>
                      <a:pPr algn="ctr">
                        <a:lnSpc>
                          <a:spcPct val="100000"/>
                        </a:lnSpc>
                      </a:pPr>
                      <a:r>
                        <a:rPr lang="en-US" sz="2000"/>
                        <a:t>10</a:t>
                      </a:r>
                      <a:endParaRPr lang="en-IN" sz="2000"/>
                    </a:p>
                  </a:txBody>
                  <a:tcPr/>
                </a:tc>
                <a:tc>
                  <a:txBody>
                    <a:bodyPr/>
                    <a:lstStyle/>
                    <a:p>
                      <a:pPr algn="ctr">
                        <a:lnSpc>
                          <a:spcPct val="100000"/>
                        </a:lnSpc>
                      </a:pPr>
                      <a:r>
                        <a:rPr lang="en-US" sz="2000"/>
                        <a:t>1:30</a:t>
                      </a:r>
                      <a:endParaRPr lang="en-IN" sz="2000"/>
                    </a:p>
                  </a:txBody>
                  <a:tcPr/>
                </a:tc>
                <a:extLst>
                  <a:ext uri="{0D108BD9-81ED-4DB2-BD59-A6C34878D82A}">
                    <a16:rowId xmlns:a16="http://schemas.microsoft.com/office/drawing/2014/main" val="454237324"/>
                  </a:ext>
                </a:extLst>
              </a:tr>
            </a:tbl>
          </a:graphicData>
        </a:graphic>
      </p:graphicFrame>
      <p:sp>
        <p:nvSpPr>
          <p:cNvPr id="4" name="Rectangle 3">
            <a:extLst>
              <a:ext uri="{FF2B5EF4-FFF2-40B4-BE49-F238E27FC236}">
                <a16:creationId xmlns:a16="http://schemas.microsoft.com/office/drawing/2014/main" id="{66D0E80B-B949-1AED-ED23-FE82BFE5D204}"/>
              </a:ext>
            </a:extLst>
          </p:cNvPr>
          <p:cNvSpPr/>
          <p:nvPr/>
        </p:nvSpPr>
        <p:spPr>
          <a:xfrm>
            <a:off x="237744" y="160438"/>
            <a:ext cx="11795760" cy="653712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Slide Number Placeholder 4">
            <a:extLst>
              <a:ext uri="{FF2B5EF4-FFF2-40B4-BE49-F238E27FC236}">
                <a16:creationId xmlns:a16="http://schemas.microsoft.com/office/drawing/2014/main" id="{C0F5C2DA-D97F-0B4F-1E44-00DE6869F20A}"/>
              </a:ext>
            </a:extLst>
          </p:cNvPr>
          <p:cNvSpPr>
            <a:spLocks noGrp="1"/>
          </p:cNvSpPr>
          <p:nvPr>
            <p:ph type="sldNum" sz="quarter" idx="12"/>
          </p:nvPr>
        </p:nvSpPr>
        <p:spPr/>
        <p:txBody>
          <a:bodyPr/>
          <a:lstStyle/>
          <a:p>
            <a:fld id="{5726A261-CBDC-45C6-994B-4400E8D6835A}" type="slidenum">
              <a:rPr lang="en-IN" smtClean="0"/>
              <a:t>2</a:t>
            </a:fld>
            <a:endParaRPr lang="en-IN"/>
          </a:p>
        </p:txBody>
      </p:sp>
    </p:spTree>
    <p:extLst>
      <p:ext uri="{BB962C8B-B14F-4D97-AF65-F5344CB8AC3E}">
        <p14:creationId xmlns:p14="http://schemas.microsoft.com/office/powerpoint/2010/main" val="4223271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3C10C3F-16AE-F6B4-BF1F-DB69162646D4}"/>
              </a:ext>
            </a:extLst>
          </p:cNvPr>
          <p:cNvPicPr>
            <a:picLocks noChangeAspect="1"/>
          </p:cNvPicPr>
          <p:nvPr/>
        </p:nvPicPr>
        <p:blipFill>
          <a:blip r:embed="rId3"/>
          <a:stretch>
            <a:fillRect/>
          </a:stretch>
        </p:blipFill>
        <p:spPr>
          <a:xfrm>
            <a:off x="5349040" y="1791441"/>
            <a:ext cx="6258798" cy="4667901"/>
          </a:xfrm>
          <a:prstGeom prst="rect">
            <a:avLst/>
          </a:prstGeom>
        </p:spPr>
      </p:pic>
      <p:sp>
        <p:nvSpPr>
          <p:cNvPr id="6" name="TextBox 5">
            <a:extLst>
              <a:ext uri="{FF2B5EF4-FFF2-40B4-BE49-F238E27FC236}">
                <a16:creationId xmlns:a16="http://schemas.microsoft.com/office/drawing/2014/main" id="{074001C3-29DF-81D3-D03F-278487883279}"/>
              </a:ext>
            </a:extLst>
          </p:cNvPr>
          <p:cNvSpPr txBox="1"/>
          <p:nvPr/>
        </p:nvSpPr>
        <p:spPr>
          <a:xfrm>
            <a:off x="1564341" y="113142"/>
            <a:ext cx="9063318" cy="769441"/>
          </a:xfrm>
          <a:prstGeom prst="rect">
            <a:avLst/>
          </a:prstGeom>
          <a:noFill/>
        </p:spPr>
        <p:txBody>
          <a:bodyPr wrap="square" rtlCol="0">
            <a:spAutoFit/>
          </a:bodyPr>
          <a:lstStyle/>
          <a:p>
            <a:pPr algn="ctr"/>
            <a:r>
              <a:rPr lang="en-US" sz="4400" b="1" i="0" u="none" strike="noStrike" baseline="0">
                <a:solidFill>
                  <a:srgbClr val="C00000"/>
                </a:solidFill>
                <a:latin typeface="Aptos" panose="020B0004020202020204" pitchFamily="34" charset="0"/>
              </a:rPr>
              <a:t>How does CRISPR-Cas9 work?</a:t>
            </a:r>
          </a:p>
        </p:txBody>
      </p:sp>
      <p:sp>
        <p:nvSpPr>
          <p:cNvPr id="7" name="TextBox 6">
            <a:extLst>
              <a:ext uri="{FF2B5EF4-FFF2-40B4-BE49-F238E27FC236}">
                <a16:creationId xmlns:a16="http://schemas.microsoft.com/office/drawing/2014/main" id="{392B4D61-6CE2-BF08-AF81-7AAB755B780F}"/>
              </a:ext>
            </a:extLst>
          </p:cNvPr>
          <p:cNvSpPr txBox="1"/>
          <p:nvPr/>
        </p:nvSpPr>
        <p:spPr>
          <a:xfrm>
            <a:off x="58282" y="2609772"/>
            <a:ext cx="5081026" cy="3279616"/>
          </a:xfrm>
          <a:prstGeom prst="rect">
            <a:avLst/>
          </a:prstGeom>
          <a:noFill/>
        </p:spPr>
        <p:txBody>
          <a:bodyPr wrap="square">
            <a:spAutoFit/>
          </a:bodyPr>
          <a:lstStyle/>
          <a:p>
            <a:pPr lvl="1">
              <a:lnSpc>
                <a:spcPct val="150000"/>
              </a:lnSpc>
            </a:pPr>
            <a:r>
              <a:rPr lang="en-US" sz="2000" b="1">
                <a:solidFill>
                  <a:srgbClr val="131313"/>
                </a:solidFill>
              </a:rPr>
              <a:t>Cas9-dsDNA mechanism</a:t>
            </a:r>
          </a:p>
          <a:p>
            <a:pPr marL="914400" lvl="1" indent="-457200" algn="just">
              <a:lnSpc>
                <a:spcPct val="150000"/>
              </a:lnSpc>
              <a:buFont typeface="+mj-lt"/>
              <a:buAutoNum type="arabicParenR"/>
            </a:pPr>
            <a:r>
              <a:rPr lang="en-US" sz="2000">
                <a:solidFill>
                  <a:srgbClr val="131313"/>
                </a:solidFill>
              </a:rPr>
              <a:t>Guide RNA (gRNA)  and Cas9 protein </a:t>
            </a:r>
            <a:r>
              <a:rPr lang="en-US" sz="2000">
                <a:solidFill>
                  <a:srgbClr val="131313"/>
                </a:solidFill>
                <a:sym typeface="Wingdings" panose="05000000000000000000" pitchFamily="2" charset="2"/>
              </a:rPr>
              <a:t> CRISPR complex.</a:t>
            </a:r>
            <a:endParaRPr lang="en-US" sz="2000" b="0" i="0">
              <a:solidFill>
                <a:srgbClr val="131313"/>
              </a:solidFill>
              <a:effectLst/>
            </a:endParaRPr>
          </a:p>
          <a:p>
            <a:pPr marL="914400" lvl="1" indent="-457200" algn="just">
              <a:lnSpc>
                <a:spcPct val="150000"/>
              </a:lnSpc>
              <a:buFont typeface="+mj-lt"/>
              <a:buAutoNum type="arabicParenR"/>
            </a:pPr>
            <a:r>
              <a:rPr lang="en-US" sz="2000" b="0" i="0">
                <a:solidFill>
                  <a:srgbClr val="131313"/>
                </a:solidFill>
                <a:effectLst/>
              </a:rPr>
              <a:t>Protospacer adjacent motif(PAM) on target DNA recognized. </a:t>
            </a:r>
            <a:r>
              <a:rPr lang="en-US" sz="2000">
                <a:solidFill>
                  <a:srgbClr val="131313"/>
                </a:solidFill>
              </a:rPr>
              <a:t>RNA-DNA interaction duplex forms.</a:t>
            </a:r>
          </a:p>
          <a:p>
            <a:pPr marL="914400" lvl="1" indent="-457200">
              <a:lnSpc>
                <a:spcPct val="150000"/>
              </a:lnSpc>
              <a:buFont typeface="+mj-lt"/>
              <a:buAutoNum type="arabicParenR"/>
            </a:pPr>
            <a:r>
              <a:rPr lang="en-US" sz="2000" b="0" i="0">
                <a:solidFill>
                  <a:srgbClr val="131313"/>
                </a:solidFill>
                <a:effectLst/>
              </a:rPr>
              <a:t>Cas9 cleaves the DNA.</a:t>
            </a:r>
          </a:p>
        </p:txBody>
      </p:sp>
      <p:sp>
        <p:nvSpPr>
          <p:cNvPr id="9" name="TextBox 8">
            <a:extLst>
              <a:ext uri="{FF2B5EF4-FFF2-40B4-BE49-F238E27FC236}">
                <a16:creationId xmlns:a16="http://schemas.microsoft.com/office/drawing/2014/main" id="{356AC5D2-D714-E040-764B-2993B7371374}"/>
              </a:ext>
            </a:extLst>
          </p:cNvPr>
          <p:cNvSpPr txBox="1"/>
          <p:nvPr/>
        </p:nvSpPr>
        <p:spPr>
          <a:xfrm>
            <a:off x="1564340" y="839490"/>
            <a:ext cx="9644943" cy="1200329"/>
          </a:xfrm>
          <a:prstGeom prst="rect">
            <a:avLst/>
          </a:prstGeom>
          <a:noFill/>
        </p:spPr>
        <p:txBody>
          <a:bodyPr wrap="square">
            <a:spAutoFit/>
          </a:bodyPr>
          <a:lstStyle/>
          <a:p>
            <a:pPr lvl="1"/>
            <a:r>
              <a:rPr lang="en-US" sz="2400" b="1" i="0">
                <a:effectLst/>
              </a:rPr>
              <a:t>C</a:t>
            </a:r>
            <a:r>
              <a:rPr lang="en-US" sz="2400" b="0" i="0">
                <a:effectLst/>
              </a:rPr>
              <a:t>lustered </a:t>
            </a:r>
            <a:r>
              <a:rPr lang="en-US" sz="2400" b="1" i="0">
                <a:effectLst/>
              </a:rPr>
              <a:t>R</a:t>
            </a:r>
            <a:r>
              <a:rPr lang="en-US" sz="2400" b="0" i="0">
                <a:effectLst/>
              </a:rPr>
              <a:t>egularly </a:t>
            </a:r>
            <a:r>
              <a:rPr lang="en-US" sz="2400" b="1" i="0">
                <a:effectLst/>
              </a:rPr>
              <a:t>I</a:t>
            </a:r>
            <a:r>
              <a:rPr lang="en-US" sz="2400" b="0" i="0">
                <a:effectLst/>
              </a:rPr>
              <a:t>nterspaced </a:t>
            </a:r>
            <a:r>
              <a:rPr lang="en-US" sz="2400" b="1" i="0">
                <a:effectLst/>
              </a:rPr>
              <a:t>S</a:t>
            </a:r>
            <a:r>
              <a:rPr lang="en-US" sz="2400" b="0" i="0">
                <a:effectLst/>
              </a:rPr>
              <a:t>hort </a:t>
            </a:r>
            <a:r>
              <a:rPr lang="en-US" sz="2400" b="1" i="0">
                <a:effectLst/>
              </a:rPr>
              <a:t>P</a:t>
            </a:r>
            <a:r>
              <a:rPr lang="en-US" sz="2400" b="0" i="0">
                <a:effectLst/>
              </a:rPr>
              <a:t>alindromic </a:t>
            </a:r>
            <a:r>
              <a:rPr lang="en-US" sz="2400" b="1" i="0">
                <a:effectLst/>
              </a:rPr>
              <a:t>R</a:t>
            </a:r>
            <a:r>
              <a:rPr lang="en-US" sz="2400" b="0" i="0">
                <a:effectLst/>
              </a:rPr>
              <a:t>epeats</a:t>
            </a:r>
          </a:p>
          <a:p>
            <a:pPr lvl="1"/>
            <a:r>
              <a:rPr lang="en-US" sz="2400" u="none" strike="noStrike" baseline="0"/>
              <a:t>Cas9 </a:t>
            </a:r>
            <a:r>
              <a:rPr lang="en-US" sz="2400"/>
              <a:t>– </a:t>
            </a:r>
            <a:r>
              <a:rPr lang="en-US" sz="2400" b="1"/>
              <a:t>C</a:t>
            </a:r>
            <a:r>
              <a:rPr lang="en-US" sz="2400"/>
              <a:t>RISPER-</a:t>
            </a:r>
            <a:r>
              <a:rPr lang="en-US" sz="2400" b="1"/>
              <a:t>as</a:t>
            </a:r>
            <a:r>
              <a:rPr lang="en-US" sz="2400"/>
              <a:t>sociated protein 9</a:t>
            </a:r>
            <a:endParaRPr lang="en-US" sz="2400" b="0" i="0" u="none" strike="noStrike" baseline="0"/>
          </a:p>
          <a:p>
            <a:pPr lvl="1"/>
            <a:endParaRPr lang="en-US" sz="2400" b="0" i="0">
              <a:solidFill>
                <a:srgbClr val="002060"/>
              </a:solidFill>
              <a:effectLst/>
            </a:endParaRPr>
          </a:p>
        </p:txBody>
      </p:sp>
      <p:sp>
        <p:nvSpPr>
          <p:cNvPr id="10" name="TextBox 9">
            <a:extLst>
              <a:ext uri="{FF2B5EF4-FFF2-40B4-BE49-F238E27FC236}">
                <a16:creationId xmlns:a16="http://schemas.microsoft.com/office/drawing/2014/main" id="{AB576D8A-12B6-09E3-8D90-0836AA766559}"/>
              </a:ext>
            </a:extLst>
          </p:cNvPr>
          <p:cNvSpPr txBox="1"/>
          <p:nvPr/>
        </p:nvSpPr>
        <p:spPr>
          <a:xfrm>
            <a:off x="416152" y="6352749"/>
            <a:ext cx="5638800" cy="307777"/>
          </a:xfrm>
          <a:prstGeom prst="rect">
            <a:avLst/>
          </a:prstGeom>
          <a:noFill/>
        </p:spPr>
        <p:txBody>
          <a:bodyPr wrap="square" rtlCol="0">
            <a:spAutoFit/>
          </a:bodyPr>
          <a:lstStyle/>
          <a:p>
            <a:r>
              <a:rPr lang="en-US" sz="1400"/>
              <a:t>Costa et al.,2017</a:t>
            </a:r>
            <a:endParaRPr lang="en-IN" sz="1400"/>
          </a:p>
        </p:txBody>
      </p:sp>
      <p:sp>
        <p:nvSpPr>
          <p:cNvPr id="21" name="TextBox 20">
            <a:extLst>
              <a:ext uri="{FF2B5EF4-FFF2-40B4-BE49-F238E27FC236}">
                <a16:creationId xmlns:a16="http://schemas.microsoft.com/office/drawing/2014/main" id="{E25F1418-41ED-7CF8-6178-92898A00C568}"/>
              </a:ext>
            </a:extLst>
          </p:cNvPr>
          <p:cNvSpPr txBox="1"/>
          <p:nvPr/>
        </p:nvSpPr>
        <p:spPr>
          <a:xfrm>
            <a:off x="605883" y="1748697"/>
            <a:ext cx="3985824" cy="707886"/>
          </a:xfrm>
          <a:prstGeom prst="rect">
            <a:avLst/>
          </a:prstGeom>
          <a:solidFill>
            <a:schemeClr val="tx2">
              <a:lumMod val="25000"/>
              <a:lumOff val="75000"/>
            </a:schemeClr>
          </a:solidFill>
          <a:ln>
            <a:solidFill>
              <a:schemeClr val="tx2">
                <a:lumMod val="75000"/>
                <a:lumOff val="25000"/>
              </a:schemeClr>
            </a:solidFill>
            <a:prstDash val="dash"/>
          </a:ln>
        </p:spPr>
        <p:txBody>
          <a:bodyPr wrap="square">
            <a:spAutoFit/>
          </a:bodyPr>
          <a:lstStyle/>
          <a:p>
            <a:r>
              <a:rPr lang="en-US" sz="2000">
                <a:solidFill>
                  <a:srgbClr val="131313"/>
                </a:solidFill>
              </a:rPr>
              <a:t>Adapted from defence mechanism against virus.</a:t>
            </a:r>
          </a:p>
        </p:txBody>
      </p:sp>
      <p:sp>
        <p:nvSpPr>
          <p:cNvPr id="23" name="Slide Number Placeholder 22">
            <a:extLst>
              <a:ext uri="{FF2B5EF4-FFF2-40B4-BE49-F238E27FC236}">
                <a16:creationId xmlns:a16="http://schemas.microsoft.com/office/drawing/2014/main" id="{9A884E50-6741-53A9-E51D-E837009EF1CA}"/>
              </a:ext>
            </a:extLst>
          </p:cNvPr>
          <p:cNvSpPr>
            <a:spLocks noGrp="1"/>
          </p:cNvSpPr>
          <p:nvPr>
            <p:ph type="sldNum" sz="quarter" idx="12"/>
          </p:nvPr>
        </p:nvSpPr>
        <p:spPr/>
        <p:txBody>
          <a:bodyPr/>
          <a:lstStyle/>
          <a:p>
            <a:fld id="{5726A261-CBDC-45C6-994B-4400E8D6835A}" type="slidenum">
              <a:rPr lang="en-IN" smtClean="0"/>
              <a:t>3</a:t>
            </a:fld>
            <a:endParaRPr lang="en-IN"/>
          </a:p>
        </p:txBody>
      </p:sp>
      <p:sp>
        <p:nvSpPr>
          <p:cNvPr id="24" name="Rectangle 23">
            <a:extLst>
              <a:ext uri="{FF2B5EF4-FFF2-40B4-BE49-F238E27FC236}">
                <a16:creationId xmlns:a16="http://schemas.microsoft.com/office/drawing/2014/main" id="{F984383E-42C1-BA1E-2C70-80FAA092A06A}"/>
              </a:ext>
            </a:extLst>
          </p:cNvPr>
          <p:cNvSpPr/>
          <p:nvPr/>
        </p:nvSpPr>
        <p:spPr>
          <a:xfrm>
            <a:off x="237744" y="160438"/>
            <a:ext cx="11795760" cy="653712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38184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627C83-3077-FAEF-9D31-D1FBCE25535C}"/>
              </a:ext>
            </a:extLst>
          </p:cNvPr>
          <p:cNvSpPr txBox="1"/>
          <p:nvPr/>
        </p:nvSpPr>
        <p:spPr>
          <a:xfrm>
            <a:off x="1005515" y="236483"/>
            <a:ext cx="10180970" cy="1138773"/>
          </a:xfrm>
          <a:prstGeom prst="rect">
            <a:avLst/>
          </a:prstGeom>
          <a:noFill/>
        </p:spPr>
        <p:txBody>
          <a:bodyPr wrap="square" rtlCol="0">
            <a:spAutoFit/>
          </a:bodyPr>
          <a:lstStyle/>
          <a:p>
            <a:pPr algn="ctr"/>
            <a:r>
              <a:rPr lang="en-US" sz="4400" b="1" i="0" u="none" strike="noStrike" baseline="0">
                <a:solidFill>
                  <a:srgbClr val="C00000"/>
                </a:solidFill>
                <a:latin typeface="Aptos" panose="020B0004020202020204" pitchFamily="34" charset="0"/>
              </a:rPr>
              <a:t>CRISPR-Cas9: Off-targeting</a:t>
            </a:r>
          </a:p>
          <a:p>
            <a:pPr algn="ctr"/>
            <a:r>
              <a:rPr lang="en-US" sz="2400" b="0" i="0">
                <a:solidFill>
                  <a:srgbClr val="1B1B1B"/>
                </a:solidFill>
                <a:effectLst/>
                <a:latin typeface="Open Sans" panose="020B0606030504020204" pitchFamily="34" charset="0"/>
              </a:rPr>
              <a:t>CRISPR sometimes cuts DNA outside of the target gene</a:t>
            </a:r>
            <a:endParaRPr lang="en-US" sz="2400">
              <a:solidFill>
                <a:srgbClr val="000000"/>
              </a:solidFill>
              <a:latin typeface="Aptos" panose="020B0004020202020204" pitchFamily="34" charset="0"/>
              <a:sym typeface="Wingdings" panose="05000000000000000000" pitchFamily="2" charset="2"/>
            </a:endParaRPr>
          </a:p>
        </p:txBody>
      </p:sp>
      <p:sp>
        <p:nvSpPr>
          <p:cNvPr id="4" name="TextBox 3">
            <a:extLst>
              <a:ext uri="{FF2B5EF4-FFF2-40B4-BE49-F238E27FC236}">
                <a16:creationId xmlns:a16="http://schemas.microsoft.com/office/drawing/2014/main" id="{FF5EA71F-E628-75E6-CEB6-753091E9261C}"/>
              </a:ext>
            </a:extLst>
          </p:cNvPr>
          <p:cNvSpPr txBox="1"/>
          <p:nvPr/>
        </p:nvSpPr>
        <p:spPr>
          <a:xfrm>
            <a:off x="367215" y="2033491"/>
            <a:ext cx="10180969" cy="971292"/>
          </a:xfrm>
          <a:prstGeom prst="rect">
            <a:avLst/>
          </a:prstGeom>
          <a:noFill/>
        </p:spPr>
        <p:txBody>
          <a:bodyPr wrap="square">
            <a:spAutoFit/>
          </a:bodyPr>
          <a:lstStyle/>
          <a:p>
            <a:pPr marL="800100" lvl="1" indent="-342900">
              <a:lnSpc>
                <a:spcPct val="150000"/>
              </a:lnSpc>
              <a:buFont typeface="Arial" panose="020B0604020202020204" pitchFamily="34" charset="0"/>
              <a:buChar char="•"/>
            </a:pPr>
            <a:r>
              <a:rPr lang="en-US" sz="2000" b="0" i="0" u="none" strike="noStrike" baseline="0">
                <a:solidFill>
                  <a:srgbClr val="000000"/>
                </a:solidFill>
              </a:rPr>
              <a:t>Off-target binding and cleavage highly dependent on selected guide RNA (gRNA).</a:t>
            </a:r>
          </a:p>
          <a:p>
            <a:pPr marL="800100" lvl="1" indent="-342900">
              <a:lnSpc>
                <a:spcPct val="150000"/>
              </a:lnSpc>
              <a:buFont typeface="Arial" panose="020B0604020202020204" pitchFamily="34" charset="0"/>
              <a:buChar char="•"/>
            </a:pPr>
            <a:endParaRPr lang="en-US" sz="2000" b="0" i="0" u="none" strike="noStrike" baseline="0">
              <a:solidFill>
                <a:srgbClr val="000000"/>
              </a:solidFill>
            </a:endParaRPr>
          </a:p>
        </p:txBody>
      </p:sp>
      <p:pic>
        <p:nvPicPr>
          <p:cNvPr id="6" name="Picture 5">
            <a:extLst>
              <a:ext uri="{FF2B5EF4-FFF2-40B4-BE49-F238E27FC236}">
                <a16:creationId xmlns:a16="http://schemas.microsoft.com/office/drawing/2014/main" id="{C881AACF-8EC5-0EF2-7168-7C8B6D47AA23}"/>
              </a:ext>
            </a:extLst>
          </p:cNvPr>
          <p:cNvPicPr>
            <a:picLocks noChangeAspect="1"/>
          </p:cNvPicPr>
          <p:nvPr/>
        </p:nvPicPr>
        <p:blipFill>
          <a:blip r:embed="rId3"/>
          <a:stretch>
            <a:fillRect/>
          </a:stretch>
        </p:blipFill>
        <p:spPr>
          <a:xfrm>
            <a:off x="748133" y="2608154"/>
            <a:ext cx="3084034" cy="1809878"/>
          </a:xfrm>
          <a:prstGeom prst="rect">
            <a:avLst/>
          </a:prstGeom>
        </p:spPr>
      </p:pic>
      <p:sp>
        <p:nvSpPr>
          <p:cNvPr id="8" name="TextBox 7">
            <a:extLst>
              <a:ext uri="{FF2B5EF4-FFF2-40B4-BE49-F238E27FC236}">
                <a16:creationId xmlns:a16="http://schemas.microsoft.com/office/drawing/2014/main" id="{D909B274-D306-AA7C-77E8-2AEB3637FD9E}"/>
              </a:ext>
            </a:extLst>
          </p:cNvPr>
          <p:cNvSpPr txBox="1"/>
          <p:nvPr/>
        </p:nvSpPr>
        <p:spPr>
          <a:xfrm>
            <a:off x="237744" y="6374769"/>
            <a:ext cx="6093228" cy="307777"/>
          </a:xfrm>
          <a:prstGeom prst="rect">
            <a:avLst/>
          </a:prstGeom>
          <a:noFill/>
        </p:spPr>
        <p:txBody>
          <a:bodyPr wrap="square">
            <a:spAutoFit/>
          </a:bodyPr>
          <a:lstStyle/>
          <a:p>
            <a:r>
              <a:rPr lang="en-IN" sz="1400" b="0" i="0">
                <a:solidFill>
                  <a:srgbClr val="404041"/>
                </a:solidFill>
                <a:effectLst/>
              </a:rPr>
              <a:t>Fu, Y. </a:t>
            </a:r>
            <a:r>
              <a:rPr lang="en-IN" sz="1400" b="0" i="1">
                <a:solidFill>
                  <a:srgbClr val="404041"/>
                </a:solidFill>
                <a:effectLst/>
              </a:rPr>
              <a:t>et al, 2013</a:t>
            </a:r>
            <a:endParaRPr lang="en-IN" sz="1400"/>
          </a:p>
        </p:txBody>
      </p:sp>
      <p:sp>
        <p:nvSpPr>
          <p:cNvPr id="13" name="TextBox 12">
            <a:extLst>
              <a:ext uri="{FF2B5EF4-FFF2-40B4-BE49-F238E27FC236}">
                <a16:creationId xmlns:a16="http://schemas.microsoft.com/office/drawing/2014/main" id="{27FC597E-8EBF-5C3A-423B-5A2CF1BBB1A7}"/>
              </a:ext>
            </a:extLst>
          </p:cNvPr>
          <p:cNvSpPr txBox="1"/>
          <p:nvPr/>
        </p:nvSpPr>
        <p:spPr>
          <a:xfrm>
            <a:off x="4106255" y="2665469"/>
            <a:ext cx="7080229" cy="1432956"/>
          </a:xfrm>
          <a:prstGeom prst="rect">
            <a:avLst/>
          </a:prstGeom>
          <a:solidFill>
            <a:schemeClr val="accent1">
              <a:lumMod val="20000"/>
              <a:lumOff val="80000"/>
            </a:schemeClr>
          </a:solidFill>
          <a:ln w="28575">
            <a:solidFill>
              <a:schemeClr val="tx1"/>
            </a:solidFill>
            <a:prstDash val="dash"/>
          </a:ln>
        </p:spPr>
        <p:txBody>
          <a:bodyPr wrap="square" rtlCol="0">
            <a:spAutoFit/>
          </a:bodyPr>
          <a:lstStyle/>
          <a:p>
            <a:pPr marL="342900" indent="-342900">
              <a:lnSpc>
                <a:spcPct val="150000"/>
              </a:lnSpc>
              <a:buFont typeface="Arial" panose="020B0604020202020204" pitchFamily="34" charset="0"/>
              <a:buChar char="•"/>
            </a:pPr>
            <a:r>
              <a:rPr lang="en-US" sz="2000"/>
              <a:t>Off-targets with fewer mismatches have more prominent binding and cleavage.</a:t>
            </a:r>
            <a:endParaRPr lang="en-IN" sz="2000"/>
          </a:p>
          <a:p>
            <a:pPr marL="342900" indent="-342900">
              <a:lnSpc>
                <a:spcPct val="150000"/>
              </a:lnSpc>
              <a:buFont typeface="Arial" panose="020B0604020202020204" pitchFamily="34" charset="0"/>
              <a:buChar char="•"/>
            </a:pPr>
            <a:r>
              <a:rPr lang="en-US" sz="2000"/>
              <a:t>Off-target regions have up to six mismatches.</a:t>
            </a:r>
          </a:p>
        </p:txBody>
      </p:sp>
      <p:sp>
        <p:nvSpPr>
          <p:cNvPr id="23" name="TextBox 22">
            <a:extLst>
              <a:ext uri="{FF2B5EF4-FFF2-40B4-BE49-F238E27FC236}">
                <a16:creationId xmlns:a16="http://schemas.microsoft.com/office/drawing/2014/main" id="{1D7D2CD4-5F66-EA67-A0CD-7CF4C93C75B3}"/>
              </a:ext>
            </a:extLst>
          </p:cNvPr>
          <p:cNvSpPr txBox="1"/>
          <p:nvPr/>
        </p:nvSpPr>
        <p:spPr>
          <a:xfrm>
            <a:off x="1506822" y="1405049"/>
            <a:ext cx="9530586" cy="509627"/>
          </a:xfrm>
          <a:prstGeom prst="rect">
            <a:avLst/>
          </a:prstGeom>
          <a:noFill/>
        </p:spPr>
        <p:txBody>
          <a:bodyPr wrap="square">
            <a:spAutoFit/>
          </a:bodyPr>
          <a:lstStyle/>
          <a:p>
            <a:pPr lvl="1">
              <a:lnSpc>
                <a:spcPct val="150000"/>
              </a:lnSpc>
            </a:pPr>
            <a:r>
              <a:rPr lang="en-US" sz="2000" b="1"/>
              <a:t>Potential Consequences of Off-Target Effects: Unintended mutations</a:t>
            </a:r>
          </a:p>
        </p:txBody>
      </p:sp>
      <p:sp>
        <p:nvSpPr>
          <p:cNvPr id="25" name="TextBox 24">
            <a:extLst>
              <a:ext uri="{FF2B5EF4-FFF2-40B4-BE49-F238E27FC236}">
                <a16:creationId xmlns:a16="http://schemas.microsoft.com/office/drawing/2014/main" id="{E3023100-AD6C-7631-BF1D-BBD7B102665A}"/>
              </a:ext>
            </a:extLst>
          </p:cNvPr>
          <p:cNvSpPr txBox="1"/>
          <p:nvPr/>
        </p:nvSpPr>
        <p:spPr>
          <a:xfrm>
            <a:off x="340382" y="4492069"/>
            <a:ext cx="11076652" cy="971292"/>
          </a:xfrm>
          <a:prstGeom prst="rect">
            <a:avLst/>
          </a:prstGeom>
          <a:noFill/>
        </p:spPr>
        <p:txBody>
          <a:bodyPr wrap="square">
            <a:spAutoFit/>
          </a:bodyPr>
          <a:lstStyle/>
          <a:p>
            <a:pPr lvl="1">
              <a:lnSpc>
                <a:spcPct val="150000"/>
              </a:lnSpc>
            </a:pPr>
            <a:r>
              <a:rPr lang="en-US" sz="2000" b="1"/>
              <a:t>PAM Sequence Dependence: </a:t>
            </a:r>
            <a:r>
              <a:rPr lang="en-US" sz="2000"/>
              <a:t>compatible PAM sequence (e.g., NGG for SpCas9), </a:t>
            </a:r>
            <a:r>
              <a:rPr lang="en-US" sz="2000" b="1"/>
              <a:t>limits </a:t>
            </a:r>
            <a:r>
              <a:rPr lang="en-US" sz="2000"/>
              <a:t>off-targets but </a:t>
            </a:r>
            <a:r>
              <a:rPr lang="en-US" sz="2000" b="1"/>
              <a:t>does not </a:t>
            </a:r>
            <a:r>
              <a:rPr lang="en-US" sz="2000"/>
              <a:t>eliminate them.</a:t>
            </a:r>
          </a:p>
        </p:txBody>
      </p:sp>
      <p:sp>
        <p:nvSpPr>
          <p:cNvPr id="26" name="Slide Number Placeholder 25">
            <a:extLst>
              <a:ext uri="{FF2B5EF4-FFF2-40B4-BE49-F238E27FC236}">
                <a16:creationId xmlns:a16="http://schemas.microsoft.com/office/drawing/2014/main" id="{21E3258B-C9F2-39A6-F1E9-0531BFD54848}"/>
              </a:ext>
            </a:extLst>
          </p:cNvPr>
          <p:cNvSpPr>
            <a:spLocks noGrp="1"/>
          </p:cNvSpPr>
          <p:nvPr>
            <p:ph type="sldNum" sz="quarter" idx="12"/>
          </p:nvPr>
        </p:nvSpPr>
        <p:spPr/>
        <p:txBody>
          <a:bodyPr/>
          <a:lstStyle/>
          <a:p>
            <a:fld id="{5726A261-CBDC-45C6-994B-4400E8D6835A}" type="slidenum">
              <a:rPr lang="en-IN" smtClean="0"/>
              <a:t>4</a:t>
            </a:fld>
            <a:endParaRPr lang="en-IN"/>
          </a:p>
        </p:txBody>
      </p:sp>
      <p:sp>
        <p:nvSpPr>
          <p:cNvPr id="27" name="Rectangle 26">
            <a:extLst>
              <a:ext uri="{FF2B5EF4-FFF2-40B4-BE49-F238E27FC236}">
                <a16:creationId xmlns:a16="http://schemas.microsoft.com/office/drawing/2014/main" id="{5A7788FA-EBBC-B5A2-A951-0C7F477772B5}"/>
              </a:ext>
            </a:extLst>
          </p:cNvPr>
          <p:cNvSpPr/>
          <p:nvPr/>
        </p:nvSpPr>
        <p:spPr>
          <a:xfrm>
            <a:off x="237744" y="160438"/>
            <a:ext cx="11795760" cy="653712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TextBox 29">
            <a:extLst>
              <a:ext uri="{FF2B5EF4-FFF2-40B4-BE49-F238E27FC236}">
                <a16:creationId xmlns:a16="http://schemas.microsoft.com/office/drawing/2014/main" id="{7078C8C8-3929-A2F4-44EA-33AFADC6E743}"/>
              </a:ext>
            </a:extLst>
          </p:cNvPr>
          <p:cNvSpPr txBox="1"/>
          <p:nvPr/>
        </p:nvSpPr>
        <p:spPr>
          <a:xfrm>
            <a:off x="367215" y="5611969"/>
            <a:ext cx="11448288" cy="509627"/>
          </a:xfrm>
          <a:prstGeom prst="rect">
            <a:avLst/>
          </a:prstGeom>
          <a:noFill/>
          <a:ln w="28575">
            <a:solidFill>
              <a:schemeClr val="tx1"/>
            </a:solidFill>
            <a:prstDash val="dash"/>
          </a:ln>
        </p:spPr>
        <p:txBody>
          <a:bodyPr wrap="square">
            <a:spAutoFit/>
          </a:bodyPr>
          <a:lstStyle/>
          <a:p>
            <a:pPr>
              <a:lnSpc>
                <a:spcPct val="150000"/>
              </a:lnSpc>
            </a:pPr>
            <a:r>
              <a:rPr lang="en-US" sz="2000"/>
              <a:t>OFF-TARGET AND SPECIFICITY SCORING: BIOPHYSICAL MODELS USING FREE ENERGY PARAMETERS</a:t>
            </a:r>
          </a:p>
        </p:txBody>
      </p:sp>
    </p:spTree>
    <p:extLst>
      <p:ext uri="{BB962C8B-B14F-4D97-AF65-F5344CB8AC3E}">
        <p14:creationId xmlns:p14="http://schemas.microsoft.com/office/powerpoint/2010/main" val="30777321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1241BC-A8D4-59BE-5E44-E9388D03B635}"/>
              </a:ext>
            </a:extLst>
          </p:cNvPr>
          <p:cNvPicPr>
            <a:picLocks noChangeAspect="1"/>
          </p:cNvPicPr>
          <p:nvPr/>
        </p:nvPicPr>
        <p:blipFill>
          <a:blip r:embed="rId3"/>
          <a:stretch>
            <a:fillRect/>
          </a:stretch>
        </p:blipFill>
        <p:spPr>
          <a:xfrm>
            <a:off x="5076282" y="1452441"/>
            <a:ext cx="3859920" cy="2544814"/>
          </a:xfrm>
          <a:prstGeom prst="rect">
            <a:avLst/>
          </a:prstGeom>
        </p:spPr>
      </p:pic>
      <p:sp>
        <p:nvSpPr>
          <p:cNvPr id="11" name="TextBox 10">
            <a:extLst>
              <a:ext uri="{FF2B5EF4-FFF2-40B4-BE49-F238E27FC236}">
                <a16:creationId xmlns:a16="http://schemas.microsoft.com/office/drawing/2014/main" id="{817152AD-B1E9-94D1-42D1-379AE16BDF98}"/>
              </a:ext>
            </a:extLst>
          </p:cNvPr>
          <p:cNvSpPr txBox="1"/>
          <p:nvPr/>
        </p:nvSpPr>
        <p:spPr>
          <a:xfrm>
            <a:off x="0" y="199265"/>
            <a:ext cx="12066076" cy="1569660"/>
          </a:xfrm>
          <a:prstGeom prst="rect">
            <a:avLst/>
          </a:prstGeom>
          <a:noFill/>
        </p:spPr>
        <p:txBody>
          <a:bodyPr wrap="square" rtlCol="0">
            <a:spAutoFit/>
          </a:bodyPr>
          <a:lstStyle/>
          <a:p>
            <a:pPr algn="ctr"/>
            <a:r>
              <a:rPr lang="en-US" sz="4000" b="1">
                <a:solidFill>
                  <a:srgbClr val="C00000"/>
                </a:solidFill>
              </a:rPr>
              <a:t>Binding energy model: </a:t>
            </a:r>
            <a:r>
              <a:rPr lang="en-US" sz="4000" b="1" i="0" u="none" strike="noStrike" baseline="0">
                <a:solidFill>
                  <a:srgbClr val="C00000"/>
                </a:solidFill>
                <a:latin typeface="Aptos" panose="020B0004020202020204" pitchFamily="34" charset="0"/>
              </a:rPr>
              <a:t>Cas9-gRNA-DNA complex</a:t>
            </a:r>
            <a:endParaRPr lang="en-US" sz="4000" b="1">
              <a:solidFill>
                <a:srgbClr val="C00000"/>
              </a:solidFill>
            </a:endParaRPr>
          </a:p>
          <a:p>
            <a:pPr algn="ctr"/>
            <a:r>
              <a:rPr lang="en-US" sz="2400" b="0" i="0" u="none" strike="noStrike" baseline="0">
                <a:solidFill>
                  <a:srgbClr val="000000"/>
                </a:solidFill>
                <a:latin typeface="Aptos" panose="020B0004020202020204" pitchFamily="34" charset="0"/>
              </a:rPr>
              <a:t>Using Energy parameters for </a:t>
            </a:r>
            <a:r>
              <a:rPr lang="en-US" sz="2400" b="0" i="0" u="none" strike="noStrike" baseline="0">
                <a:solidFill>
                  <a:srgbClr val="C00000"/>
                </a:solidFill>
                <a:latin typeface="Aptos" panose="020B0004020202020204" pitchFamily="34" charset="0"/>
              </a:rPr>
              <a:t>RNA-DNA</a:t>
            </a:r>
            <a:r>
              <a:rPr lang="en-US" sz="2400" b="0" i="0" u="none" strike="noStrike" baseline="0">
                <a:solidFill>
                  <a:srgbClr val="000000"/>
                </a:solidFill>
                <a:latin typeface="Aptos" panose="020B0004020202020204" pitchFamily="34" charset="0"/>
              </a:rPr>
              <a:t>, </a:t>
            </a:r>
            <a:r>
              <a:rPr lang="en-US" sz="2400" b="0" i="0" u="none" strike="noStrike" baseline="0">
                <a:solidFill>
                  <a:srgbClr val="002060"/>
                </a:solidFill>
                <a:latin typeface="Aptos" panose="020B0004020202020204" pitchFamily="34" charset="0"/>
              </a:rPr>
              <a:t>RNA-RNA</a:t>
            </a:r>
            <a:r>
              <a:rPr lang="en-US" sz="2400">
                <a:solidFill>
                  <a:srgbClr val="000000"/>
                </a:solidFill>
                <a:latin typeface="Aptos" panose="020B0004020202020204" pitchFamily="34" charset="0"/>
              </a:rPr>
              <a:t> </a:t>
            </a:r>
            <a:r>
              <a:rPr lang="en-US" sz="2400" b="0" i="0" u="none" strike="noStrike" baseline="0">
                <a:solidFill>
                  <a:srgbClr val="000000"/>
                </a:solidFill>
                <a:latin typeface="Aptos" panose="020B0004020202020204" pitchFamily="34" charset="0"/>
              </a:rPr>
              <a:t>and</a:t>
            </a:r>
            <a:r>
              <a:rPr lang="en-US" sz="2400" b="0" i="0" u="none" strike="noStrike" baseline="0">
                <a:solidFill>
                  <a:schemeClr val="accent3"/>
                </a:solidFill>
                <a:latin typeface="Aptos" panose="020B0004020202020204" pitchFamily="34" charset="0"/>
              </a:rPr>
              <a:t> DNA-DNA</a:t>
            </a:r>
            <a:r>
              <a:rPr lang="en-US" sz="2400" b="0" i="0" u="none" strike="noStrike" baseline="0">
                <a:solidFill>
                  <a:srgbClr val="000000"/>
                </a:solidFill>
                <a:latin typeface="Aptos" panose="020B0004020202020204" pitchFamily="34" charset="0"/>
              </a:rPr>
              <a:t> duplexes.</a:t>
            </a:r>
          </a:p>
          <a:p>
            <a:pPr algn="ctr"/>
            <a:endParaRPr lang="en-IN" sz="3200" b="1">
              <a:solidFill>
                <a:srgbClr val="C00000"/>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C59256B-0452-1C19-B79A-4EF595A85C72}"/>
                  </a:ext>
                </a:extLst>
              </p:cNvPr>
              <p:cNvSpPr txBox="1"/>
              <p:nvPr/>
            </p:nvSpPr>
            <p:spPr>
              <a:xfrm>
                <a:off x="9602003" y="4352192"/>
                <a:ext cx="2249721" cy="1431417"/>
              </a:xfrm>
              <a:prstGeom prst="rect">
                <a:avLst/>
              </a:prstGeom>
              <a:noFill/>
              <a:ln>
                <a:solidFill>
                  <a:schemeClr val="tx1"/>
                </a:solidFill>
                <a:prstDash val="dash"/>
              </a:ln>
            </p:spPr>
            <p:txBody>
              <a:bodyPr wrap="square" rtlCol="0">
                <a:spAutoFit/>
              </a:bodyPr>
              <a:lstStyle/>
              <a:p>
                <a:pPr>
                  <a:lnSpc>
                    <a:spcPct val="150000"/>
                  </a:lnSpc>
                </a:pPr>
                <a:r>
                  <a:rPr lang="en-IN" sz="2000">
                    <a:solidFill>
                      <a:schemeClr val="tx1"/>
                    </a:solidFill>
                  </a:rPr>
                  <a:t>Final energy correction, </a:t>
                </a:r>
                <a14:m>
                  <m:oMath xmlns:m="http://schemas.openxmlformats.org/officeDocument/2006/math">
                    <m:sSub>
                      <m:sSubPr>
                        <m:ctrlPr>
                          <a:rPr lang="en-US" sz="2000" b="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𝛿</m:t>
                        </m:r>
                      </m:e>
                      <m:sub>
                        <m:r>
                          <a:rPr lang="en-US" sz="2000" b="0" i="1" smtClean="0">
                            <a:solidFill>
                              <a:schemeClr val="tx1"/>
                            </a:solidFill>
                            <a:latin typeface="Cambria Math" panose="02040503050406030204" pitchFamily="18" charset="0"/>
                          </a:rPr>
                          <m:t>𝑃𝐴𝑀</m:t>
                        </m:r>
                      </m:sub>
                    </m:sSub>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𝑡</m:t>
                    </m:r>
                    <m:r>
                      <a:rPr lang="en-US" sz="2000" b="0" i="1" smtClean="0">
                        <a:solidFill>
                          <a:schemeClr val="tx1"/>
                        </a:solidFill>
                        <a:latin typeface="Cambria Math" panose="02040503050406030204" pitchFamily="18" charset="0"/>
                      </a:rPr>
                      <m:t>]</m:t>
                    </m:r>
                  </m:oMath>
                </a14:m>
                <a:endParaRPr lang="en-IN" sz="2000">
                  <a:solidFill>
                    <a:schemeClr val="tx1"/>
                  </a:solidFill>
                </a:endParaRPr>
              </a:p>
            </p:txBody>
          </p:sp>
        </mc:Choice>
        <mc:Fallback xmlns="">
          <p:sp>
            <p:nvSpPr>
              <p:cNvPr id="12" name="TextBox 11">
                <a:extLst>
                  <a:ext uri="{FF2B5EF4-FFF2-40B4-BE49-F238E27FC236}">
                    <a16:creationId xmlns:a16="http://schemas.microsoft.com/office/drawing/2014/main" id="{0C59256B-0452-1C19-B79A-4EF595A85C72}"/>
                  </a:ext>
                </a:extLst>
              </p:cNvPr>
              <p:cNvSpPr txBox="1">
                <a:spLocks noRot="1" noChangeAspect="1" noMove="1" noResize="1" noEditPoints="1" noAdjustHandles="1" noChangeArrowheads="1" noChangeShapeType="1" noTextEdit="1"/>
              </p:cNvSpPr>
              <p:nvPr/>
            </p:nvSpPr>
            <p:spPr>
              <a:xfrm>
                <a:off x="9602003" y="4352192"/>
                <a:ext cx="2249721" cy="1431417"/>
              </a:xfrm>
              <a:prstGeom prst="rect">
                <a:avLst/>
              </a:prstGeom>
              <a:blipFill>
                <a:blip r:embed="rId4"/>
                <a:stretch>
                  <a:fillRect l="-2426" b="-2532"/>
                </a:stretch>
              </a:blipFill>
              <a:ln>
                <a:solidFill>
                  <a:schemeClr val="tx1"/>
                </a:solidFill>
                <a:prstDash val="dash"/>
              </a:ln>
            </p:spPr>
            <p:txBody>
              <a:bodyPr/>
              <a:lstStyle/>
              <a:p>
                <a:r>
                  <a:rPr lang="en-IN">
                    <a:noFill/>
                  </a:rPr>
                  <a:t> </a:t>
                </a:r>
              </a:p>
            </p:txBody>
          </p:sp>
        </mc:Fallback>
      </mc:AlternateContent>
      <mc:AlternateContent xmlns:mc="http://schemas.openxmlformats.org/markup-compatibility/2006" xmlns:a14="http://schemas.microsoft.com/office/drawing/2010/main">
        <mc:Choice Requires="a14">
          <p:graphicFrame>
            <p:nvGraphicFramePr>
              <p:cNvPr id="22" name="Table 21">
                <a:extLst>
                  <a:ext uri="{FF2B5EF4-FFF2-40B4-BE49-F238E27FC236}">
                    <a16:creationId xmlns:a16="http://schemas.microsoft.com/office/drawing/2014/main" id="{25E96434-D856-30DD-0A23-B08E4787918A}"/>
                  </a:ext>
                </a:extLst>
              </p:cNvPr>
              <p:cNvGraphicFramePr>
                <a:graphicFrameLocks noGrp="1"/>
              </p:cNvGraphicFramePr>
              <p:nvPr>
                <p:extLst>
                  <p:ext uri="{D42A27DB-BD31-4B8C-83A1-F6EECF244321}">
                    <p14:modId xmlns:p14="http://schemas.microsoft.com/office/powerpoint/2010/main" val="205136444"/>
                  </p:ext>
                </p:extLst>
              </p:nvPr>
            </p:nvGraphicFramePr>
            <p:xfrm>
              <a:off x="9546301" y="2227236"/>
              <a:ext cx="2361126" cy="1797764"/>
            </p:xfrm>
            <a:graphic>
              <a:graphicData uri="http://schemas.openxmlformats.org/drawingml/2006/table">
                <a:tbl>
                  <a:tblPr firstRow="1" bandRow="1">
                    <a:tableStyleId>{D7AC3CCA-C797-4891-BE02-D94E43425B78}</a:tableStyleId>
                  </a:tblPr>
                  <a:tblGrid>
                    <a:gridCol w="1180563">
                      <a:extLst>
                        <a:ext uri="{9D8B030D-6E8A-4147-A177-3AD203B41FA5}">
                          <a16:colId xmlns:a16="http://schemas.microsoft.com/office/drawing/2014/main" val="2329088804"/>
                        </a:ext>
                      </a:extLst>
                    </a:gridCol>
                    <a:gridCol w="1180563">
                      <a:extLst>
                        <a:ext uri="{9D8B030D-6E8A-4147-A177-3AD203B41FA5}">
                          <a16:colId xmlns:a16="http://schemas.microsoft.com/office/drawing/2014/main" val="3439227221"/>
                        </a:ext>
                      </a:extLst>
                    </a:gridCol>
                  </a:tblGrid>
                  <a:tr h="713252">
                    <a:tc>
                      <a:txBody>
                        <a:bodyPr/>
                        <a:lstStyle/>
                        <a:p>
                          <a:r>
                            <a:rPr lang="en-US" sz="1400"/>
                            <a:t>PAM sequence</a:t>
                          </a:r>
                          <a:endParaRPr lang="en-IN" sz="140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sz="1400" b="1" i="1" smtClean="0">
                                        <a:latin typeface="Cambria Math" panose="02040503050406030204" pitchFamily="18" charset="0"/>
                                      </a:rPr>
                                    </m:ctrlPr>
                                  </m:sSubPr>
                                  <m:e>
                                    <m:r>
                                      <a:rPr lang="en-US" sz="1400" b="1" smtClean="0">
                                        <a:latin typeface="Cambria Math" panose="02040503050406030204" pitchFamily="18" charset="0"/>
                                      </a:rPr>
                                      <m:t>𝜹</m:t>
                                    </m:r>
                                  </m:e>
                                  <m:sub>
                                    <m:r>
                                      <a:rPr lang="en-US" sz="1400" b="1" smtClean="0">
                                        <a:latin typeface="Cambria Math" panose="02040503050406030204" pitchFamily="18" charset="0"/>
                                      </a:rPr>
                                      <m:t>𝑷𝑨𝑴</m:t>
                                    </m:r>
                                  </m:sub>
                                </m:sSub>
                              </m:oMath>
                            </m:oMathPara>
                          </a14:m>
                          <a:endParaRPr lang="en-IN" sz="1400"/>
                        </a:p>
                      </a:txBody>
                      <a:tcPr/>
                    </a:tc>
                    <a:extLst>
                      <a:ext uri="{0D108BD9-81ED-4DB2-BD59-A6C34878D82A}">
                        <a16:rowId xmlns:a16="http://schemas.microsoft.com/office/drawing/2014/main" val="1388161113"/>
                      </a:ext>
                    </a:extLst>
                  </a:tr>
                  <a:tr h="361504">
                    <a:tc>
                      <a:txBody>
                        <a:bodyPr/>
                        <a:lstStyle/>
                        <a:p>
                          <a:r>
                            <a:rPr lang="en-US" sz="1400" u="sng">
                              <a:solidFill>
                                <a:schemeClr val="tx1"/>
                              </a:solidFill>
                            </a:rPr>
                            <a:t>NGG</a:t>
                          </a:r>
                          <a:endParaRPr lang="en-IN" sz="1400" u="sng">
                            <a:solidFill>
                              <a:schemeClr val="tx1"/>
                            </a:solidFill>
                          </a:endParaRPr>
                        </a:p>
                      </a:txBody>
                      <a:tcPr/>
                    </a:tc>
                    <a:tc>
                      <a:txBody>
                        <a:bodyPr/>
                        <a:lstStyle/>
                        <a:p>
                          <a:r>
                            <a:rPr lang="en-US" sz="1400" u="sng">
                              <a:solidFill>
                                <a:schemeClr val="tx1"/>
                              </a:solidFill>
                            </a:rPr>
                            <a:t>1.0</a:t>
                          </a:r>
                          <a:endParaRPr lang="en-IN" sz="1400" u="sng">
                            <a:solidFill>
                              <a:schemeClr val="tx1"/>
                            </a:solidFill>
                          </a:endParaRPr>
                        </a:p>
                      </a:txBody>
                      <a:tcPr/>
                    </a:tc>
                    <a:extLst>
                      <a:ext uri="{0D108BD9-81ED-4DB2-BD59-A6C34878D82A}">
                        <a16:rowId xmlns:a16="http://schemas.microsoft.com/office/drawing/2014/main" val="3158731093"/>
                      </a:ext>
                    </a:extLst>
                  </a:tr>
                  <a:tr h="361504">
                    <a:tc>
                      <a:txBody>
                        <a:bodyPr/>
                        <a:lstStyle/>
                        <a:p>
                          <a:r>
                            <a:rPr lang="en-US" sz="1400"/>
                            <a:t>NAG</a:t>
                          </a:r>
                          <a:endParaRPr lang="en-IN" sz="1400"/>
                        </a:p>
                      </a:txBody>
                      <a:tcPr/>
                    </a:tc>
                    <a:tc>
                      <a:txBody>
                        <a:bodyPr/>
                        <a:lstStyle/>
                        <a:p>
                          <a:r>
                            <a:rPr lang="en-US" sz="1400"/>
                            <a:t>0.9</a:t>
                          </a:r>
                          <a:endParaRPr lang="en-IN" sz="1400"/>
                        </a:p>
                      </a:txBody>
                      <a:tcPr/>
                    </a:tc>
                    <a:extLst>
                      <a:ext uri="{0D108BD9-81ED-4DB2-BD59-A6C34878D82A}">
                        <a16:rowId xmlns:a16="http://schemas.microsoft.com/office/drawing/2014/main" val="4167569405"/>
                      </a:ext>
                    </a:extLst>
                  </a:tr>
                  <a:tr h="361504">
                    <a:tc>
                      <a:txBody>
                        <a:bodyPr/>
                        <a:lstStyle/>
                        <a:p>
                          <a:r>
                            <a:rPr lang="en-US" sz="1400"/>
                            <a:t>NGA</a:t>
                          </a:r>
                          <a:endParaRPr lang="en-IN" sz="1400"/>
                        </a:p>
                      </a:txBody>
                      <a:tcPr/>
                    </a:tc>
                    <a:tc>
                      <a:txBody>
                        <a:bodyPr/>
                        <a:lstStyle/>
                        <a:p>
                          <a:r>
                            <a:rPr lang="en-US" sz="1400"/>
                            <a:t>0.8</a:t>
                          </a:r>
                          <a:endParaRPr lang="en-IN" sz="1400"/>
                        </a:p>
                      </a:txBody>
                      <a:tcPr/>
                    </a:tc>
                    <a:extLst>
                      <a:ext uri="{0D108BD9-81ED-4DB2-BD59-A6C34878D82A}">
                        <a16:rowId xmlns:a16="http://schemas.microsoft.com/office/drawing/2014/main" val="3117911015"/>
                      </a:ext>
                    </a:extLst>
                  </a:tr>
                </a:tbl>
              </a:graphicData>
            </a:graphic>
          </p:graphicFrame>
        </mc:Choice>
        <mc:Fallback xmlns="">
          <p:graphicFrame>
            <p:nvGraphicFramePr>
              <p:cNvPr id="22" name="Table 21">
                <a:extLst>
                  <a:ext uri="{FF2B5EF4-FFF2-40B4-BE49-F238E27FC236}">
                    <a16:creationId xmlns:a16="http://schemas.microsoft.com/office/drawing/2014/main" id="{25E96434-D856-30DD-0A23-B08E4787918A}"/>
                  </a:ext>
                </a:extLst>
              </p:cNvPr>
              <p:cNvGraphicFramePr>
                <a:graphicFrameLocks noGrp="1"/>
              </p:cNvGraphicFramePr>
              <p:nvPr>
                <p:extLst>
                  <p:ext uri="{D42A27DB-BD31-4B8C-83A1-F6EECF244321}">
                    <p14:modId xmlns:p14="http://schemas.microsoft.com/office/powerpoint/2010/main" val="205136444"/>
                  </p:ext>
                </p:extLst>
              </p:nvPr>
            </p:nvGraphicFramePr>
            <p:xfrm>
              <a:off x="9546301" y="2227236"/>
              <a:ext cx="2361126" cy="1797764"/>
            </p:xfrm>
            <a:graphic>
              <a:graphicData uri="http://schemas.openxmlformats.org/drawingml/2006/table">
                <a:tbl>
                  <a:tblPr firstRow="1" bandRow="1">
                    <a:tableStyleId>{D7AC3CCA-C797-4891-BE02-D94E43425B78}</a:tableStyleId>
                  </a:tblPr>
                  <a:tblGrid>
                    <a:gridCol w="1180563">
                      <a:extLst>
                        <a:ext uri="{9D8B030D-6E8A-4147-A177-3AD203B41FA5}">
                          <a16:colId xmlns:a16="http://schemas.microsoft.com/office/drawing/2014/main" val="2329088804"/>
                        </a:ext>
                      </a:extLst>
                    </a:gridCol>
                    <a:gridCol w="1180563">
                      <a:extLst>
                        <a:ext uri="{9D8B030D-6E8A-4147-A177-3AD203B41FA5}">
                          <a16:colId xmlns:a16="http://schemas.microsoft.com/office/drawing/2014/main" val="3439227221"/>
                        </a:ext>
                      </a:extLst>
                    </a:gridCol>
                  </a:tblGrid>
                  <a:tr h="713252">
                    <a:tc>
                      <a:txBody>
                        <a:bodyPr/>
                        <a:lstStyle/>
                        <a:p>
                          <a:r>
                            <a:rPr lang="en-US" sz="1400"/>
                            <a:t>PAM sequence</a:t>
                          </a:r>
                          <a:endParaRPr lang="en-IN" sz="1400"/>
                        </a:p>
                      </a:txBody>
                      <a:tcPr/>
                    </a:tc>
                    <a:tc>
                      <a:txBody>
                        <a:bodyPr/>
                        <a:lstStyle/>
                        <a:p>
                          <a:endParaRPr lang="en-US"/>
                        </a:p>
                      </a:txBody>
                      <a:tcPr>
                        <a:blipFill>
                          <a:blip r:embed="rId5"/>
                          <a:stretch>
                            <a:fillRect l="-101031" t="-855" r="-1031" b="-154701"/>
                          </a:stretch>
                        </a:blipFill>
                      </a:tcPr>
                    </a:tc>
                    <a:extLst>
                      <a:ext uri="{0D108BD9-81ED-4DB2-BD59-A6C34878D82A}">
                        <a16:rowId xmlns:a16="http://schemas.microsoft.com/office/drawing/2014/main" val="1388161113"/>
                      </a:ext>
                    </a:extLst>
                  </a:tr>
                  <a:tr h="361504">
                    <a:tc>
                      <a:txBody>
                        <a:bodyPr/>
                        <a:lstStyle/>
                        <a:p>
                          <a:r>
                            <a:rPr lang="en-US" sz="1400" u="sng">
                              <a:solidFill>
                                <a:schemeClr val="tx1"/>
                              </a:solidFill>
                            </a:rPr>
                            <a:t>NGG</a:t>
                          </a:r>
                          <a:endParaRPr lang="en-IN" sz="1400" u="sng">
                            <a:solidFill>
                              <a:schemeClr val="tx1"/>
                            </a:solidFill>
                          </a:endParaRPr>
                        </a:p>
                      </a:txBody>
                      <a:tcPr/>
                    </a:tc>
                    <a:tc>
                      <a:txBody>
                        <a:bodyPr/>
                        <a:lstStyle/>
                        <a:p>
                          <a:r>
                            <a:rPr lang="en-US" sz="1400" u="sng">
                              <a:solidFill>
                                <a:schemeClr val="tx1"/>
                              </a:solidFill>
                            </a:rPr>
                            <a:t>1.0</a:t>
                          </a:r>
                          <a:endParaRPr lang="en-IN" sz="1400" u="sng">
                            <a:solidFill>
                              <a:schemeClr val="tx1"/>
                            </a:solidFill>
                          </a:endParaRPr>
                        </a:p>
                      </a:txBody>
                      <a:tcPr/>
                    </a:tc>
                    <a:extLst>
                      <a:ext uri="{0D108BD9-81ED-4DB2-BD59-A6C34878D82A}">
                        <a16:rowId xmlns:a16="http://schemas.microsoft.com/office/drawing/2014/main" val="3158731093"/>
                      </a:ext>
                    </a:extLst>
                  </a:tr>
                  <a:tr h="361504">
                    <a:tc>
                      <a:txBody>
                        <a:bodyPr/>
                        <a:lstStyle/>
                        <a:p>
                          <a:r>
                            <a:rPr lang="en-US" sz="1400"/>
                            <a:t>NAG</a:t>
                          </a:r>
                          <a:endParaRPr lang="en-IN" sz="1400"/>
                        </a:p>
                      </a:txBody>
                      <a:tcPr/>
                    </a:tc>
                    <a:tc>
                      <a:txBody>
                        <a:bodyPr/>
                        <a:lstStyle/>
                        <a:p>
                          <a:r>
                            <a:rPr lang="en-US" sz="1400"/>
                            <a:t>0.9</a:t>
                          </a:r>
                          <a:endParaRPr lang="en-IN" sz="1400"/>
                        </a:p>
                      </a:txBody>
                      <a:tcPr/>
                    </a:tc>
                    <a:extLst>
                      <a:ext uri="{0D108BD9-81ED-4DB2-BD59-A6C34878D82A}">
                        <a16:rowId xmlns:a16="http://schemas.microsoft.com/office/drawing/2014/main" val="4167569405"/>
                      </a:ext>
                    </a:extLst>
                  </a:tr>
                  <a:tr h="361504">
                    <a:tc>
                      <a:txBody>
                        <a:bodyPr/>
                        <a:lstStyle/>
                        <a:p>
                          <a:r>
                            <a:rPr lang="en-US" sz="1400"/>
                            <a:t>NGA</a:t>
                          </a:r>
                          <a:endParaRPr lang="en-IN" sz="1400"/>
                        </a:p>
                      </a:txBody>
                      <a:tcPr/>
                    </a:tc>
                    <a:tc>
                      <a:txBody>
                        <a:bodyPr/>
                        <a:lstStyle/>
                        <a:p>
                          <a:r>
                            <a:rPr lang="en-US" sz="1400"/>
                            <a:t>0.8</a:t>
                          </a:r>
                          <a:endParaRPr lang="en-IN" sz="1400"/>
                        </a:p>
                      </a:txBody>
                      <a:tcPr/>
                    </a:tc>
                    <a:extLst>
                      <a:ext uri="{0D108BD9-81ED-4DB2-BD59-A6C34878D82A}">
                        <a16:rowId xmlns:a16="http://schemas.microsoft.com/office/drawing/2014/main" val="3117911015"/>
                      </a:ext>
                    </a:extLst>
                  </a:tr>
                </a:tbl>
              </a:graphicData>
            </a:graphic>
          </p:graphicFrame>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BBAFA52C-8F89-430E-2A75-2A9A27633F09}"/>
                  </a:ext>
                </a:extLst>
              </p:cNvPr>
              <p:cNvSpPr txBox="1"/>
              <p:nvPr/>
            </p:nvSpPr>
            <p:spPr>
              <a:xfrm>
                <a:off x="317955" y="4363356"/>
                <a:ext cx="3610516" cy="2181623"/>
              </a:xfrm>
              <a:prstGeom prst="rect">
                <a:avLst/>
              </a:prstGeom>
              <a:noFill/>
              <a:ln>
                <a:solidFill>
                  <a:srgbClr val="C00000"/>
                </a:solidFill>
                <a:prstDash val="dash"/>
              </a:ln>
            </p:spPr>
            <p:txBody>
              <a:bodyPr wrap="square">
                <a:spAutoFit/>
              </a:bodyPr>
              <a:lstStyle/>
              <a:p>
                <a:pPr>
                  <a:lnSpc>
                    <a:spcPct val="150000"/>
                  </a:lnSpc>
                </a:pPr>
                <a:r>
                  <a:rPr lang="en-US" sz="2000"/>
                  <a:t>Binding energy between gRNA and (off-)target DNA,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𝐺</m:t>
                        </m:r>
                      </m:e>
                      <m:sub>
                        <m:r>
                          <a:rPr lang="en-US" sz="2000" b="0" i="1" smtClean="0">
                            <a:latin typeface="Cambria Math" panose="02040503050406030204" pitchFamily="18" charset="0"/>
                            <a:ea typeface="Cambria Math" panose="02040503050406030204" pitchFamily="18" charset="0"/>
                          </a:rPr>
                          <m:t>𝐻</m:t>
                        </m:r>
                      </m:sub>
                    </m:sSub>
                  </m:oMath>
                </a14:m>
                <a:endParaRPr lang="en-US" sz="2000" b="0">
                  <a:ea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𝐺</m:t>
                          </m:r>
                        </m:e>
                        <m:sub>
                          <m:r>
                            <a:rPr lang="en-US" sz="2000" b="0" i="1" smtClean="0">
                              <a:latin typeface="Cambria Math" panose="02040503050406030204" pitchFamily="18" charset="0"/>
                              <a:ea typeface="Cambria Math" panose="02040503050406030204" pitchFamily="18" charset="0"/>
                            </a:rPr>
                            <m:t>𝐻</m:t>
                          </m:r>
                        </m:sub>
                      </m:sSub>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𝑔</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e>
                      </m:d>
                      <m:r>
                        <a:rPr lang="en-US" sz="2000" b="0" i="1" smtClean="0">
                          <a:latin typeface="Cambria Math" panose="02040503050406030204" pitchFamily="18" charset="0"/>
                          <a:ea typeface="Cambria Math" panose="02040503050406030204" pitchFamily="18" charset="0"/>
                        </a:rPr>
                        <m:t>=</m:t>
                      </m:r>
                      <m:nary>
                        <m:naryPr>
                          <m:chr m:val="∑"/>
                          <m:ctrlPr>
                            <a:rPr lang="en-US" sz="2000" b="0" i="1" smtClean="0">
                              <a:latin typeface="Cambria Math" panose="02040503050406030204" pitchFamily="18" charset="0"/>
                              <a:ea typeface="Cambria Math" panose="02040503050406030204" pitchFamily="18" charset="0"/>
                            </a:rPr>
                          </m:ctrlPr>
                        </m:naryPr>
                        <m:sub>
                          <m:r>
                            <m:rPr>
                              <m:brk m:alnAt="23"/>
                            </m:rP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m:t>
                          </m:r>
                        </m:sub>
                        <m:sup>
                          <m:r>
                            <a:rPr lang="en-US" sz="2000" b="0" i="1" smtClean="0">
                              <a:latin typeface="Cambria Math" panose="02040503050406030204" pitchFamily="18" charset="0"/>
                              <a:ea typeface="Cambria Math" panose="02040503050406030204" pitchFamily="18" charset="0"/>
                            </a:rPr>
                            <m:t>19</m:t>
                          </m:r>
                        </m:sup>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𝛤</m:t>
                              </m:r>
                            </m:e>
                            <m:sub>
                              <m:r>
                                <a:rPr lang="en-US" sz="2000" b="0" i="1" smtClean="0">
                                  <a:latin typeface="Cambria Math" panose="02040503050406030204" pitchFamily="18" charset="0"/>
                                  <a:ea typeface="Cambria Math" panose="02040503050406030204" pitchFamily="18" charset="0"/>
                                </a:rPr>
                                <m:t>𝐶𝑎𝑠</m:t>
                              </m:r>
                              <m:r>
                                <a:rPr lang="en-US" sz="2000" b="0" i="1" smtClean="0">
                                  <a:latin typeface="Cambria Math" panose="02040503050406030204" pitchFamily="18" charset="0"/>
                                  <a:ea typeface="Cambria Math" panose="02040503050406030204" pitchFamily="18" charset="0"/>
                                </a:rPr>
                                <m:t>9</m:t>
                              </m:r>
                            </m:sub>
                          </m:sSub>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𝑖</m:t>
                              </m:r>
                            </m:e>
                          </m:d>
                          <m:r>
                            <a:rPr lang="en-US" sz="2000" b="0" i="1" smtClean="0">
                              <a:latin typeface="Cambria Math" panose="02040503050406030204" pitchFamily="18" charset="0"/>
                              <a:ea typeface="Cambria Math" panose="02040503050406030204" pitchFamily="18" charset="0"/>
                            </a:rPr>
                            <m:t>×∆</m:t>
                          </m:r>
                          <m:sSubSup>
                            <m:sSubSupPr>
                              <m:ctrlPr>
                                <a:rPr lang="en-US" sz="2000" b="0" i="1" smtClean="0">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𝐺</m:t>
                              </m:r>
                            </m:e>
                            <m:sub>
                              <m:r>
                                <a:rPr lang="en-US" sz="2000" b="0" i="1" smtClean="0">
                                  <a:latin typeface="Cambria Math" panose="02040503050406030204" pitchFamily="18" charset="0"/>
                                  <a:ea typeface="Cambria Math" panose="02040503050406030204" pitchFamily="18" charset="0"/>
                                </a:rPr>
                                <m:t>𝑔</m:t>
                              </m:r>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m:t>
                                  </m:r>
                                </m:e>
                              </m:d>
                            </m:sub>
                            <m:sup>
                              <m:r>
                                <a:rPr lang="en-US" sz="2000" b="0" i="1" smtClean="0">
                                  <a:latin typeface="Cambria Math" panose="02040503050406030204" pitchFamily="18" charset="0"/>
                                  <a:ea typeface="Cambria Math" panose="02040503050406030204" pitchFamily="18" charset="0"/>
                                </a:rPr>
                                <m:t>𝑅𝑁𝐴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𝐷𝑁𝐴</m:t>
                              </m:r>
                            </m:sup>
                          </m:sSubSup>
                        </m:e>
                      </m:nary>
                    </m:oMath>
                  </m:oMathPara>
                </a14:m>
                <a:endParaRPr lang="en-US" sz="2000" b="0">
                  <a:ea typeface="Cambria Math" panose="02040503050406030204" pitchFamily="18" charset="0"/>
                </a:endParaRPr>
              </a:p>
            </p:txBody>
          </p:sp>
        </mc:Choice>
        <mc:Fallback xmlns="">
          <p:sp>
            <p:nvSpPr>
              <p:cNvPr id="29" name="TextBox 28">
                <a:extLst>
                  <a:ext uri="{FF2B5EF4-FFF2-40B4-BE49-F238E27FC236}">
                    <a16:creationId xmlns:a16="http://schemas.microsoft.com/office/drawing/2014/main" id="{BBAFA52C-8F89-430E-2A75-2A9A27633F09}"/>
                  </a:ext>
                </a:extLst>
              </p:cNvPr>
              <p:cNvSpPr txBox="1">
                <a:spLocks noRot="1" noChangeAspect="1" noMove="1" noResize="1" noEditPoints="1" noAdjustHandles="1" noChangeArrowheads="1" noChangeShapeType="1" noTextEdit="1"/>
              </p:cNvSpPr>
              <p:nvPr/>
            </p:nvSpPr>
            <p:spPr>
              <a:xfrm>
                <a:off x="317955" y="4363356"/>
                <a:ext cx="3610516" cy="2181623"/>
              </a:xfrm>
              <a:prstGeom prst="rect">
                <a:avLst/>
              </a:prstGeom>
              <a:blipFill>
                <a:blip r:embed="rId6"/>
                <a:stretch>
                  <a:fillRect l="-1515"/>
                </a:stretch>
              </a:blipFill>
              <a:ln>
                <a:solidFill>
                  <a:srgbClr val="C00000"/>
                </a:solidFill>
                <a:prstDash val="dash"/>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C30DB18C-A594-DB44-9B61-CF3408614DB9}"/>
                  </a:ext>
                </a:extLst>
              </p:cNvPr>
              <p:cNvSpPr txBox="1"/>
              <p:nvPr/>
            </p:nvSpPr>
            <p:spPr>
              <a:xfrm>
                <a:off x="4060227" y="4363356"/>
                <a:ext cx="2027886" cy="1431417"/>
              </a:xfrm>
              <a:prstGeom prst="rect">
                <a:avLst/>
              </a:prstGeom>
              <a:noFill/>
              <a:ln>
                <a:solidFill>
                  <a:srgbClr val="002060"/>
                </a:solidFill>
                <a:prstDash val="dash"/>
              </a:ln>
            </p:spPr>
            <p:txBody>
              <a:bodyPr wrap="square">
                <a:spAutoFit/>
              </a:bodyPr>
              <a:lstStyle/>
              <a:p>
                <a:pPr>
                  <a:lnSpc>
                    <a:spcPct val="150000"/>
                  </a:lnSpc>
                </a:pPr>
                <a:r>
                  <a:rPr lang="en-IN" sz="2000"/>
                  <a:t>Energy penalty for unfolding the gRNA , </a:t>
                </a:r>
                <a14:m>
                  <m:oMath xmlns:m="http://schemas.openxmlformats.org/officeDocument/2006/math">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𝐺</m:t>
                        </m:r>
                      </m:e>
                      <m:sub>
                        <m:r>
                          <a:rPr lang="en-US" sz="2000" b="0" i="1" smtClean="0">
                            <a:latin typeface="Cambria Math" panose="02040503050406030204" pitchFamily="18" charset="0"/>
                            <a:ea typeface="Cambria Math" panose="02040503050406030204" pitchFamily="18" charset="0"/>
                          </a:rPr>
                          <m:t>𝑈</m:t>
                        </m:r>
                      </m:sub>
                    </m:sSub>
                  </m:oMath>
                </a14:m>
                <a:r>
                  <a:rPr lang="en-IN" sz="2000"/>
                  <a:t> </a:t>
                </a:r>
              </a:p>
            </p:txBody>
          </p:sp>
        </mc:Choice>
        <mc:Fallback xmlns="">
          <p:sp>
            <p:nvSpPr>
              <p:cNvPr id="33" name="TextBox 32">
                <a:extLst>
                  <a:ext uri="{FF2B5EF4-FFF2-40B4-BE49-F238E27FC236}">
                    <a16:creationId xmlns:a16="http://schemas.microsoft.com/office/drawing/2014/main" id="{C30DB18C-A594-DB44-9B61-CF3408614DB9}"/>
                  </a:ext>
                </a:extLst>
              </p:cNvPr>
              <p:cNvSpPr txBox="1">
                <a:spLocks noRot="1" noChangeAspect="1" noMove="1" noResize="1" noEditPoints="1" noAdjustHandles="1" noChangeArrowheads="1" noChangeShapeType="1" noTextEdit="1"/>
              </p:cNvSpPr>
              <p:nvPr/>
            </p:nvSpPr>
            <p:spPr>
              <a:xfrm>
                <a:off x="4060227" y="4363356"/>
                <a:ext cx="2027886" cy="1431417"/>
              </a:xfrm>
              <a:prstGeom prst="rect">
                <a:avLst/>
              </a:prstGeom>
              <a:blipFill>
                <a:blip r:embed="rId7"/>
                <a:stretch>
                  <a:fillRect l="-2687" r="-2687" b="-6329"/>
                </a:stretch>
              </a:blipFill>
              <a:ln>
                <a:solidFill>
                  <a:srgbClr val="002060"/>
                </a:solidFill>
                <a:prstDash val="dash"/>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B16B63E-9874-2F40-9281-B189D541DC4E}"/>
                  </a:ext>
                </a:extLst>
              </p:cNvPr>
              <p:cNvSpPr txBox="1"/>
              <p:nvPr/>
            </p:nvSpPr>
            <p:spPr>
              <a:xfrm>
                <a:off x="6297430" y="4352192"/>
                <a:ext cx="3248871" cy="1985544"/>
              </a:xfrm>
              <a:prstGeom prst="rect">
                <a:avLst/>
              </a:prstGeom>
              <a:noFill/>
              <a:ln>
                <a:solidFill>
                  <a:schemeClr val="accent3"/>
                </a:solidFill>
                <a:prstDash val="dash"/>
              </a:ln>
            </p:spPr>
            <p:txBody>
              <a:bodyPr wrap="square">
                <a:spAutoFit/>
              </a:bodyPr>
              <a:lstStyle/>
              <a:p>
                <a:pPr>
                  <a:lnSpc>
                    <a:spcPct val="150000"/>
                  </a:lnSpc>
                </a:pPr>
                <a:r>
                  <a:rPr lang="en-IN" sz="2000"/>
                  <a:t>Penalty for opening the double stranded DNA, </a:t>
                </a:r>
                <a14:m>
                  <m:oMath xmlns:m="http://schemas.openxmlformats.org/officeDocument/2006/math">
                    <m:r>
                      <a:rPr lang="en-US" sz="2000" b="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𝐺</m:t>
                        </m:r>
                      </m:e>
                      <m:sub>
                        <m:r>
                          <a:rPr lang="en-US" sz="2000" b="0" i="1" smtClean="0">
                            <a:latin typeface="Cambria Math" panose="02040503050406030204" pitchFamily="18" charset="0"/>
                            <a:ea typeface="Cambria Math" panose="02040503050406030204" pitchFamily="18" charset="0"/>
                          </a:rPr>
                          <m:t>𝑂</m:t>
                        </m:r>
                      </m:sub>
                    </m:sSub>
                  </m:oMath>
                </a14:m>
                <a:endParaRPr lang="en-IN" sz="2000"/>
              </a:p>
              <a:p>
                <a:pPr>
                  <a:lnSpc>
                    <a:spcPct val="150000"/>
                  </a:lnSpc>
                </a:pPr>
                <a:r>
                  <a:rPr lang="en-IN" sz="2000">
                    <a:ea typeface="Cambria Math" panose="02040503050406030204" pitchFamily="18" charset="0"/>
                  </a:rPr>
                  <a:t>	</a:t>
                </a:r>
                <a14:m>
                  <m:oMath xmlns:m="http://schemas.openxmlformats.org/officeDocument/2006/math">
                    <m:r>
                      <a:rPr lang="en-IN" sz="2000" i="1" smtClean="0">
                        <a:latin typeface="Cambria Math" panose="02040503050406030204" pitchFamily="18" charset="0"/>
                        <a:ea typeface="Cambria Math" panose="02040503050406030204" pitchFamily="18" charset="0"/>
                      </a:rPr>
                      <m:t>∆</m:t>
                    </m:r>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𝐺</m:t>
                        </m:r>
                      </m:e>
                      <m:sub>
                        <m:r>
                          <a:rPr lang="en-US" sz="2000" b="0" i="1" smtClean="0">
                            <a:latin typeface="Cambria Math" panose="02040503050406030204" pitchFamily="18" charset="0"/>
                            <a:ea typeface="Cambria Math" panose="02040503050406030204" pitchFamily="18" charset="0"/>
                          </a:rPr>
                          <m:t>𝑂</m:t>
                        </m:r>
                      </m:sub>
                    </m:sSub>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𝑡</m:t>
                        </m:r>
                      </m:e>
                    </m:d>
                    <m:r>
                      <a:rPr lang="en-US" sz="2000" b="0" i="1" smtClean="0">
                        <a:latin typeface="Cambria Math" panose="02040503050406030204" pitchFamily="18" charset="0"/>
                        <a:ea typeface="Cambria Math" panose="02040503050406030204" pitchFamily="18" charset="0"/>
                      </a:rPr>
                      <m:t>=</m:t>
                    </m:r>
                  </m:oMath>
                </a14:m>
                <a:r>
                  <a:rPr lang="en-US" sz="2000" b="0">
                    <a:ea typeface="Cambria Math" panose="02040503050406030204" pitchFamily="18" charset="0"/>
                  </a:rPr>
                  <a:t> </a:t>
                </a:r>
                <a14:m>
                  <m:oMath xmlns:m="http://schemas.openxmlformats.org/officeDocument/2006/math">
                    <m:nary>
                      <m:naryPr>
                        <m:chr m:val="∑"/>
                        <m:ctrlPr>
                          <a:rPr lang="en-US" sz="2000" b="0" i="1" smtClean="0">
                            <a:latin typeface="Cambria Math" panose="02040503050406030204" pitchFamily="18" charset="0"/>
                            <a:ea typeface="Cambria Math" panose="02040503050406030204" pitchFamily="18" charset="0"/>
                          </a:rPr>
                        </m:ctrlPr>
                      </m:naryPr>
                      <m:sub>
                        <m:r>
                          <m:rPr>
                            <m:brk m:alnAt="23"/>
                          </m:rP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m:t>
                        </m:r>
                      </m:sub>
                      <m:sup>
                        <m:r>
                          <a:rPr lang="en-US" sz="2000" b="0" i="1" smtClean="0">
                            <a:latin typeface="Cambria Math" panose="02040503050406030204" pitchFamily="18" charset="0"/>
                            <a:ea typeface="Cambria Math" panose="02040503050406030204" pitchFamily="18" charset="0"/>
                          </a:rPr>
                          <m:t>19</m:t>
                        </m:r>
                      </m:sup>
                      <m:e>
                        <m:r>
                          <a:rPr lang="en-US" sz="2000" b="0" i="1" smtClean="0">
                            <a:latin typeface="Cambria Math" panose="02040503050406030204" pitchFamily="18" charset="0"/>
                            <a:ea typeface="Cambria Math" panose="02040503050406030204" pitchFamily="18" charset="0"/>
                          </a:rPr>
                          <m:t>∆</m:t>
                        </m:r>
                        <m:sSubSup>
                          <m:sSubSupPr>
                            <m:ctrlPr>
                              <a:rPr lang="en-US" sz="2000" b="0" i="1" smtClean="0">
                                <a:latin typeface="Cambria Math" panose="02040503050406030204" pitchFamily="18" charset="0"/>
                                <a:ea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𝐺</m:t>
                            </m:r>
                          </m:e>
                          <m:sub>
                            <m:r>
                              <a:rPr lang="en-US" sz="2000" b="0" i="1" smtClean="0">
                                <a:latin typeface="Cambria Math" panose="02040503050406030204" pitchFamily="18" charset="0"/>
                                <a:ea typeface="Cambria Math" panose="02040503050406030204" pitchFamily="18" charset="0"/>
                              </a:rPr>
                              <m:t>𝑡</m:t>
                            </m:r>
                            <m:r>
                              <a:rPr lang="en-US" sz="2000" b="0" i="1" smtClean="0">
                                <a:latin typeface="Cambria Math" panose="02040503050406030204" pitchFamily="18" charset="0"/>
                                <a:ea typeface="Cambria Math" panose="02040503050406030204" pitchFamily="18" charset="0"/>
                              </a:rPr>
                              <m:t>′</m:t>
                            </m:r>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𝑡</m:t>
                            </m:r>
                            <m:d>
                              <m:dPr>
                                <m:begChr m:val="["/>
                                <m:endChr m:val="]"/>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m:t>
                                </m:r>
                              </m:e>
                            </m:d>
                          </m:sub>
                          <m:sup>
                            <m:r>
                              <a:rPr lang="en-US" sz="2000" b="0" i="1" smtClean="0">
                                <a:latin typeface="Cambria Math" panose="02040503050406030204" pitchFamily="18" charset="0"/>
                                <a:ea typeface="Cambria Math" panose="02040503050406030204" pitchFamily="18" charset="0"/>
                              </a:rPr>
                              <m:t>𝐷𝑁𝐴</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𝐷𝑁𝐴</m:t>
                            </m:r>
                          </m:sup>
                        </m:sSubSup>
                      </m:e>
                    </m:nary>
                  </m:oMath>
                </a14:m>
                <a:endParaRPr lang="en-IN" sz="2000"/>
              </a:p>
            </p:txBody>
          </p:sp>
        </mc:Choice>
        <mc:Fallback xmlns="">
          <p:sp>
            <p:nvSpPr>
              <p:cNvPr id="35" name="TextBox 34">
                <a:extLst>
                  <a:ext uri="{FF2B5EF4-FFF2-40B4-BE49-F238E27FC236}">
                    <a16:creationId xmlns:a16="http://schemas.microsoft.com/office/drawing/2014/main" id="{EB16B63E-9874-2F40-9281-B189D541DC4E}"/>
                  </a:ext>
                </a:extLst>
              </p:cNvPr>
              <p:cNvSpPr txBox="1">
                <a:spLocks noRot="1" noChangeAspect="1" noMove="1" noResize="1" noEditPoints="1" noAdjustHandles="1" noChangeArrowheads="1" noChangeShapeType="1" noTextEdit="1"/>
              </p:cNvSpPr>
              <p:nvPr/>
            </p:nvSpPr>
            <p:spPr>
              <a:xfrm>
                <a:off x="6297430" y="4352192"/>
                <a:ext cx="3248871" cy="1985544"/>
              </a:xfrm>
              <a:prstGeom prst="rect">
                <a:avLst/>
              </a:prstGeom>
              <a:blipFill>
                <a:blip r:embed="rId8"/>
                <a:stretch>
                  <a:fillRect l="-11215" b="-33841"/>
                </a:stretch>
              </a:blipFill>
              <a:ln>
                <a:solidFill>
                  <a:schemeClr val="accent3"/>
                </a:solidFill>
                <a:prstDash val="dash"/>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6612188-8627-8E02-307A-A32506631E5C}"/>
                  </a:ext>
                </a:extLst>
              </p:cNvPr>
              <p:cNvSpPr txBox="1"/>
              <p:nvPr/>
            </p:nvSpPr>
            <p:spPr>
              <a:xfrm>
                <a:off x="4438157" y="3731987"/>
                <a:ext cx="3406900" cy="369332"/>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𝐺</m:t>
                          </m:r>
                        </m:e>
                        <m:sub>
                          <m:r>
                            <a:rPr lang="en-US" b="0" i="1" smtClean="0">
                              <a:latin typeface="Cambria Math" panose="02040503050406030204" pitchFamily="18" charset="0"/>
                              <a:ea typeface="Cambria Math" panose="02040503050406030204" pitchFamily="18" charset="0"/>
                            </a:rPr>
                            <m:t>𝐵</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𝑃𝐴𝑀</m:t>
                          </m:r>
                        </m:sub>
                      </m:sSub>
                      <m:r>
                        <a:rPr lang="en-US" b="0" i="1" smtClean="0">
                          <a:latin typeface="Cambria Math" panose="02040503050406030204" pitchFamily="18" charset="0"/>
                          <a:ea typeface="Cambria Math" panose="02040503050406030204" pitchFamily="18" charset="0"/>
                        </a:rPr>
                        <m:t>(</m:t>
                      </m:r>
                      <m:r>
                        <a:rPr lang="en-US" b="0" i="1" smtClean="0">
                          <a:solidFill>
                            <a:srgbClr val="C00000"/>
                          </a:solidFill>
                          <a:latin typeface="Cambria Math" panose="02040503050406030204" pitchFamily="18" charset="0"/>
                          <a:ea typeface="Cambria Math" panose="02040503050406030204" pitchFamily="18" charset="0"/>
                        </a:rPr>
                        <m:t>∆</m:t>
                      </m:r>
                      <m:sSub>
                        <m:sSubPr>
                          <m:ctrlPr>
                            <a:rPr lang="en-US" b="0" i="1" smtClean="0">
                              <a:solidFill>
                                <a:srgbClr val="C00000"/>
                              </a:solidFill>
                              <a:latin typeface="Cambria Math" panose="02040503050406030204" pitchFamily="18" charset="0"/>
                              <a:ea typeface="Cambria Math" panose="02040503050406030204" pitchFamily="18" charset="0"/>
                            </a:rPr>
                          </m:ctrlPr>
                        </m:sSubPr>
                        <m:e>
                          <m:r>
                            <a:rPr lang="en-US" b="0" i="1" smtClean="0">
                              <a:solidFill>
                                <a:srgbClr val="C00000"/>
                              </a:solidFill>
                              <a:latin typeface="Cambria Math" panose="02040503050406030204" pitchFamily="18" charset="0"/>
                              <a:ea typeface="Cambria Math" panose="02040503050406030204" pitchFamily="18" charset="0"/>
                            </a:rPr>
                            <m:t>𝐺</m:t>
                          </m:r>
                        </m:e>
                        <m:sub>
                          <m:r>
                            <a:rPr lang="en-US" b="0" i="1" smtClean="0">
                              <a:solidFill>
                                <a:srgbClr val="C00000"/>
                              </a:solidFill>
                              <a:latin typeface="Cambria Math" panose="02040503050406030204" pitchFamily="18" charset="0"/>
                              <a:ea typeface="Cambria Math" panose="02040503050406030204" pitchFamily="18" charset="0"/>
                            </a:rPr>
                            <m:t>𝐻</m:t>
                          </m:r>
                        </m:sub>
                      </m:sSub>
                      <m:r>
                        <a:rPr lang="en-US" b="0" i="1" smtClean="0">
                          <a:solidFill>
                            <a:srgbClr val="002060"/>
                          </a:solidFill>
                          <a:latin typeface="Cambria Math" panose="02040503050406030204" pitchFamily="18" charset="0"/>
                          <a:ea typeface="Cambria Math" panose="02040503050406030204" pitchFamily="18" charset="0"/>
                        </a:rPr>
                        <m:t>−∆</m:t>
                      </m:r>
                      <m:sSub>
                        <m:sSubPr>
                          <m:ctrlPr>
                            <a:rPr lang="en-US" b="0" i="1" smtClean="0">
                              <a:solidFill>
                                <a:srgbClr val="002060"/>
                              </a:solidFill>
                              <a:latin typeface="Cambria Math" panose="02040503050406030204" pitchFamily="18" charset="0"/>
                              <a:ea typeface="Cambria Math" panose="02040503050406030204" pitchFamily="18" charset="0"/>
                            </a:rPr>
                          </m:ctrlPr>
                        </m:sSubPr>
                        <m:e>
                          <m:r>
                            <a:rPr lang="en-US" b="0" i="1" smtClean="0">
                              <a:solidFill>
                                <a:srgbClr val="002060"/>
                              </a:solidFill>
                              <a:latin typeface="Cambria Math" panose="02040503050406030204" pitchFamily="18" charset="0"/>
                              <a:ea typeface="Cambria Math" panose="02040503050406030204" pitchFamily="18" charset="0"/>
                            </a:rPr>
                            <m:t>𝐺</m:t>
                          </m:r>
                        </m:e>
                        <m:sub>
                          <m:r>
                            <a:rPr lang="en-US" b="0" i="1" smtClean="0">
                              <a:solidFill>
                                <a:srgbClr val="002060"/>
                              </a:solidFill>
                              <a:latin typeface="Cambria Math" panose="02040503050406030204" pitchFamily="18" charset="0"/>
                              <a:ea typeface="Cambria Math" panose="02040503050406030204" pitchFamily="18" charset="0"/>
                            </a:rPr>
                            <m:t>𝑈</m:t>
                          </m:r>
                        </m:sub>
                      </m:sSub>
                      <m:r>
                        <a:rPr lang="en-US" b="0" i="1" smtClean="0">
                          <a:solidFill>
                            <a:schemeClr val="accent3"/>
                          </a:solidFill>
                          <a:latin typeface="Cambria Math" panose="02040503050406030204" pitchFamily="18" charset="0"/>
                          <a:ea typeface="Cambria Math" panose="02040503050406030204" pitchFamily="18" charset="0"/>
                        </a:rPr>
                        <m:t>−∆</m:t>
                      </m:r>
                      <m:sSub>
                        <m:sSubPr>
                          <m:ctrlPr>
                            <a:rPr lang="en-US" b="0" i="1" smtClean="0">
                              <a:solidFill>
                                <a:schemeClr val="accent3"/>
                              </a:solidFill>
                              <a:latin typeface="Cambria Math" panose="02040503050406030204" pitchFamily="18" charset="0"/>
                              <a:ea typeface="Cambria Math" panose="02040503050406030204" pitchFamily="18" charset="0"/>
                            </a:rPr>
                          </m:ctrlPr>
                        </m:sSubPr>
                        <m:e>
                          <m:r>
                            <a:rPr lang="en-US" b="0" i="1" smtClean="0">
                              <a:solidFill>
                                <a:schemeClr val="accent3"/>
                              </a:solidFill>
                              <a:latin typeface="Cambria Math" panose="02040503050406030204" pitchFamily="18" charset="0"/>
                              <a:ea typeface="Cambria Math" panose="02040503050406030204" pitchFamily="18" charset="0"/>
                            </a:rPr>
                            <m:t>𝐺</m:t>
                          </m:r>
                        </m:e>
                        <m:sub>
                          <m:r>
                            <a:rPr lang="en-US" b="0" i="1" smtClean="0">
                              <a:solidFill>
                                <a:schemeClr val="accent3"/>
                              </a:solidFill>
                              <a:latin typeface="Cambria Math" panose="02040503050406030204" pitchFamily="18" charset="0"/>
                              <a:ea typeface="Cambria Math" panose="02040503050406030204" pitchFamily="18" charset="0"/>
                            </a:rPr>
                            <m:t>𝑂</m:t>
                          </m:r>
                        </m:sub>
                      </m:sSub>
                      <m:r>
                        <a:rPr lang="en-US" b="0" i="1" smtClean="0">
                          <a:latin typeface="Cambria Math" panose="02040503050406030204" pitchFamily="18" charset="0"/>
                          <a:ea typeface="Cambria Math" panose="02040503050406030204" pitchFamily="18" charset="0"/>
                        </a:rPr>
                        <m:t>)</m:t>
                      </m:r>
                    </m:oMath>
                  </m:oMathPara>
                </a14:m>
                <a:endParaRPr lang="en-IN"/>
              </a:p>
            </p:txBody>
          </p:sp>
        </mc:Choice>
        <mc:Fallback xmlns="">
          <p:sp>
            <p:nvSpPr>
              <p:cNvPr id="42" name="TextBox 41">
                <a:extLst>
                  <a:ext uri="{FF2B5EF4-FFF2-40B4-BE49-F238E27FC236}">
                    <a16:creationId xmlns:a16="http://schemas.microsoft.com/office/drawing/2014/main" id="{46612188-8627-8E02-307A-A32506631E5C}"/>
                  </a:ext>
                </a:extLst>
              </p:cNvPr>
              <p:cNvSpPr txBox="1">
                <a:spLocks noRot="1" noChangeAspect="1" noMove="1" noResize="1" noEditPoints="1" noAdjustHandles="1" noChangeArrowheads="1" noChangeShapeType="1" noTextEdit="1"/>
              </p:cNvSpPr>
              <p:nvPr/>
            </p:nvSpPr>
            <p:spPr>
              <a:xfrm>
                <a:off x="4438157" y="3731987"/>
                <a:ext cx="3406900" cy="369332"/>
              </a:xfrm>
              <a:prstGeom prst="rect">
                <a:avLst/>
              </a:prstGeom>
              <a:blipFill>
                <a:blip r:embed="rId9"/>
                <a:stretch>
                  <a:fillRect b="-13115"/>
                </a:stretch>
              </a:blipFill>
            </p:spPr>
            <p:txBody>
              <a:bodyPr/>
              <a:lstStyle/>
              <a:p>
                <a:r>
                  <a:rPr lang="en-IN">
                    <a:noFill/>
                  </a:rPr>
                  <a:t> </a:t>
                </a:r>
              </a:p>
            </p:txBody>
          </p:sp>
        </mc:Fallback>
      </mc:AlternateContent>
      <p:sp>
        <p:nvSpPr>
          <p:cNvPr id="43" name="Slide Number Placeholder 42">
            <a:extLst>
              <a:ext uri="{FF2B5EF4-FFF2-40B4-BE49-F238E27FC236}">
                <a16:creationId xmlns:a16="http://schemas.microsoft.com/office/drawing/2014/main" id="{7C0A116E-F2E9-1434-D351-6734A9D2BF17}"/>
              </a:ext>
            </a:extLst>
          </p:cNvPr>
          <p:cNvSpPr>
            <a:spLocks noGrp="1"/>
          </p:cNvSpPr>
          <p:nvPr>
            <p:ph type="sldNum" sz="quarter" idx="12"/>
          </p:nvPr>
        </p:nvSpPr>
        <p:spPr/>
        <p:txBody>
          <a:bodyPr/>
          <a:lstStyle/>
          <a:p>
            <a:fld id="{5726A261-CBDC-45C6-994B-4400E8D6835A}" type="slidenum">
              <a:rPr lang="en-IN" smtClean="0"/>
              <a:t>5</a:t>
            </a:fld>
            <a:endParaRPr lang="en-IN"/>
          </a:p>
        </p:txBody>
      </p:sp>
      <p:sp>
        <p:nvSpPr>
          <p:cNvPr id="44" name="Rectangle 43">
            <a:extLst>
              <a:ext uri="{FF2B5EF4-FFF2-40B4-BE49-F238E27FC236}">
                <a16:creationId xmlns:a16="http://schemas.microsoft.com/office/drawing/2014/main" id="{FD5D77FE-3320-2DC8-1A4B-22EA439591A3}"/>
              </a:ext>
            </a:extLst>
          </p:cNvPr>
          <p:cNvSpPr/>
          <p:nvPr/>
        </p:nvSpPr>
        <p:spPr>
          <a:xfrm>
            <a:off x="237744" y="160438"/>
            <a:ext cx="11795760" cy="653712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9" name="Picture 48">
            <a:extLst>
              <a:ext uri="{FF2B5EF4-FFF2-40B4-BE49-F238E27FC236}">
                <a16:creationId xmlns:a16="http://schemas.microsoft.com/office/drawing/2014/main" id="{D7EA1A6D-ADD6-AE6A-CD5F-4D0141A61567}"/>
              </a:ext>
            </a:extLst>
          </p:cNvPr>
          <p:cNvPicPr>
            <a:picLocks noChangeAspect="1"/>
          </p:cNvPicPr>
          <p:nvPr/>
        </p:nvPicPr>
        <p:blipFill>
          <a:blip r:embed="rId10"/>
          <a:stretch>
            <a:fillRect/>
          </a:stretch>
        </p:blipFill>
        <p:spPr>
          <a:xfrm>
            <a:off x="412710" y="2400128"/>
            <a:ext cx="4544700" cy="965923"/>
          </a:xfrm>
          <a:prstGeom prst="rect">
            <a:avLst/>
          </a:prstGeom>
        </p:spPr>
      </p:pic>
    </p:spTree>
    <p:extLst>
      <p:ext uri="{BB962C8B-B14F-4D97-AF65-F5344CB8AC3E}">
        <p14:creationId xmlns:p14="http://schemas.microsoft.com/office/powerpoint/2010/main" val="2614817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he text, &quot;CRISPR Wars&quot; in space.">
            <a:extLst>
              <a:ext uri="{FF2B5EF4-FFF2-40B4-BE49-F238E27FC236}">
                <a16:creationId xmlns:a16="http://schemas.microsoft.com/office/drawing/2014/main" id="{2840CCD0-1447-FCBA-B326-458B61ACFF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11424" y="527732"/>
            <a:ext cx="2012316" cy="93934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375AD8B-6A8A-3F6A-90FE-5A2CA78079A2}"/>
              </a:ext>
            </a:extLst>
          </p:cNvPr>
          <p:cNvSpPr txBox="1"/>
          <p:nvPr/>
        </p:nvSpPr>
        <p:spPr>
          <a:xfrm>
            <a:off x="1121902" y="328927"/>
            <a:ext cx="9063318" cy="1138773"/>
          </a:xfrm>
          <a:prstGeom prst="rect">
            <a:avLst/>
          </a:prstGeom>
          <a:noFill/>
        </p:spPr>
        <p:txBody>
          <a:bodyPr wrap="square" rtlCol="0">
            <a:spAutoFit/>
          </a:bodyPr>
          <a:lstStyle/>
          <a:p>
            <a:pPr algn="ctr"/>
            <a:r>
              <a:rPr lang="en-US" sz="4400" b="1" i="0" u="none" strike="noStrike" baseline="0">
                <a:solidFill>
                  <a:srgbClr val="C00000"/>
                </a:solidFill>
                <a:latin typeface="Aptos" panose="020B0004020202020204" pitchFamily="34" charset="0"/>
              </a:rPr>
              <a:t>What about other Cas proteins?</a:t>
            </a:r>
          </a:p>
          <a:p>
            <a:pPr algn="ctr"/>
            <a:r>
              <a:rPr lang="en-US" sz="2400">
                <a:latin typeface="Aptos" panose="020B0004020202020204" pitchFamily="34" charset="0"/>
              </a:rPr>
              <a:t>Cas12 and Cas13 has genome editing potential</a:t>
            </a:r>
            <a:endParaRPr lang="en-US" sz="2400" i="0" u="none" strike="noStrike" baseline="0">
              <a:latin typeface="Aptos" panose="020B0004020202020204" pitchFamily="34" charset="0"/>
            </a:endParaRPr>
          </a:p>
        </p:txBody>
      </p:sp>
      <p:sp>
        <p:nvSpPr>
          <p:cNvPr id="23" name="TextBox 22">
            <a:extLst>
              <a:ext uri="{FF2B5EF4-FFF2-40B4-BE49-F238E27FC236}">
                <a16:creationId xmlns:a16="http://schemas.microsoft.com/office/drawing/2014/main" id="{F17A2246-5920-1ADA-E75E-80DB9708F91D}"/>
              </a:ext>
            </a:extLst>
          </p:cNvPr>
          <p:cNvSpPr txBox="1"/>
          <p:nvPr/>
        </p:nvSpPr>
        <p:spPr>
          <a:xfrm>
            <a:off x="694389" y="1559389"/>
            <a:ext cx="2463288" cy="1323439"/>
          </a:xfrm>
          <a:prstGeom prst="rect">
            <a:avLst/>
          </a:prstGeom>
          <a:noFill/>
        </p:spPr>
        <p:txBody>
          <a:bodyPr wrap="square" rtlCol="0">
            <a:spAutoFit/>
          </a:bodyPr>
          <a:lstStyle/>
          <a:p>
            <a:r>
              <a:rPr lang="en-US" sz="2000" b="1"/>
              <a:t>Cas9 </a:t>
            </a:r>
          </a:p>
          <a:p>
            <a:r>
              <a:rPr lang="en-US" sz="2000"/>
              <a:t>PAM: NGG and others</a:t>
            </a:r>
          </a:p>
          <a:p>
            <a:endParaRPr lang="en-IN" sz="2000"/>
          </a:p>
        </p:txBody>
      </p:sp>
      <p:pic>
        <p:nvPicPr>
          <p:cNvPr id="27" name="Picture 26">
            <a:extLst>
              <a:ext uri="{FF2B5EF4-FFF2-40B4-BE49-F238E27FC236}">
                <a16:creationId xmlns:a16="http://schemas.microsoft.com/office/drawing/2014/main" id="{DDC50FCF-B61E-9F17-8DB5-0ED7D6FDAC75}"/>
              </a:ext>
            </a:extLst>
          </p:cNvPr>
          <p:cNvPicPr>
            <a:picLocks noChangeAspect="1"/>
          </p:cNvPicPr>
          <p:nvPr/>
        </p:nvPicPr>
        <p:blipFill>
          <a:blip r:embed="rId4"/>
          <a:stretch>
            <a:fillRect/>
          </a:stretch>
        </p:blipFill>
        <p:spPr>
          <a:xfrm>
            <a:off x="3005594" y="2993439"/>
            <a:ext cx="3899703" cy="1027502"/>
          </a:xfrm>
          <a:prstGeom prst="rect">
            <a:avLst/>
          </a:prstGeom>
        </p:spPr>
      </p:pic>
      <p:pic>
        <p:nvPicPr>
          <p:cNvPr id="29" name="Picture 28">
            <a:extLst>
              <a:ext uri="{FF2B5EF4-FFF2-40B4-BE49-F238E27FC236}">
                <a16:creationId xmlns:a16="http://schemas.microsoft.com/office/drawing/2014/main" id="{AC0CFCD0-4077-5C11-9436-42DB422BCFE0}"/>
              </a:ext>
            </a:extLst>
          </p:cNvPr>
          <p:cNvPicPr>
            <a:picLocks noChangeAspect="1"/>
          </p:cNvPicPr>
          <p:nvPr/>
        </p:nvPicPr>
        <p:blipFill>
          <a:blip r:embed="rId5"/>
          <a:stretch>
            <a:fillRect/>
          </a:stretch>
        </p:blipFill>
        <p:spPr>
          <a:xfrm>
            <a:off x="3306159" y="1535943"/>
            <a:ext cx="4039473" cy="1051698"/>
          </a:xfrm>
          <a:prstGeom prst="rect">
            <a:avLst/>
          </a:prstGeom>
        </p:spPr>
      </p:pic>
      <p:sp>
        <p:nvSpPr>
          <p:cNvPr id="32" name="TextBox 31">
            <a:extLst>
              <a:ext uri="{FF2B5EF4-FFF2-40B4-BE49-F238E27FC236}">
                <a16:creationId xmlns:a16="http://schemas.microsoft.com/office/drawing/2014/main" id="{48C74374-0D40-342A-3997-130882736F1A}"/>
              </a:ext>
            </a:extLst>
          </p:cNvPr>
          <p:cNvSpPr txBox="1"/>
          <p:nvPr/>
        </p:nvSpPr>
        <p:spPr>
          <a:xfrm>
            <a:off x="690299" y="3007577"/>
            <a:ext cx="3722914" cy="1015663"/>
          </a:xfrm>
          <a:prstGeom prst="rect">
            <a:avLst/>
          </a:prstGeom>
          <a:noFill/>
        </p:spPr>
        <p:txBody>
          <a:bodyPr wrap="square" rtlCol="0">
            <a:spAutoFit/>
          </a:bodyPr>
          <a:lstStyle/>
          <a:p>
            <a:r>
              <a:rPr lang="en-US" sz="2000" b="1"/>
              <a:t>Cas12</a:t>
            </a:r>
          </a:p>
          <a:p>
            <a:r>
              <a:rPr lang="en-US" sz="2000"/>
              <a:t>PAM: TTN or TTTN</a:t>
            </a:r>
          </a:p>
          <a:p>
            <a:endParaRPr lang="en-IN" sz="2000"/>
          </a:p>
        </p:txBody>
      </p:sp>
      <p:sp>
        <p:nvSpPr>
          <p:cNvPr id="33" name="TextBox 32">
            <a:extLst>
              <a:ext uri="{FF2B5EF4-FFF2-40B4-BE49-F238E27FC236}">
                <a16:creationId xmlns:a16="http://schemas.microsoft.com/office/drawing/2014/main" id="{26A1E6EC-D018-79B3-52EC-63DAC6EBBC21}"/>
              </a:ext>
            </a:extLst>
          </p:cNvPr>
          <p:cNvSpPr txBox="1"/>
          <p:nvPr/>
        </p:nvSpPr>
        <p:spPr>
          <a:xfrm>
            <a:off x="727462" y="4809708"/>
            <a:ext cx="3722914" cy="1015663"/>
          </a:xfrm>
          <a:prstGeom prst="rect">
            <a:avLst/>
          </a:prstGeom>
          <a:noFill/>
        </p:spPr>
        <p:txBody>
          <a:bodyPr wrap="square" rtlCol="0">
            <a:spAutoFit/>
          </a:bodyPr>
          <a:lstStyle/>
          <a:p>
            <a:r>
              <a:rPr lang="en-US" sz="2000" b="1"/>
              <a:t>Cas13</a:t>
            </a:r>
          </a:p>
          <a:p>
            <a:r>
              <a:rPr lang="en-US" sz="2000"/>
              <a:t>PFS: A,U or C</a:t>
            </a:r>
          </a:p>
          <a:p>
            <a:endParaRPr lang="en-IN" sz="2000"/>
          </a:p>
        </p:txBody>
      </p:sp>
      <p:pic>
        <p:nvPicPr>
          <p:cNvPr id="35" name="Picture 34">
            <a:extLst>
              <a:ext uri="{FF2B5EF4-FFF2-40B4-BE49-F238E27FC236}">
                <a16:creationId xmlns:a16="http://schemas.microsoft.com/office/drawing/2014/main" id="{31F1C883-8631-73C2-94F0-C9D354B15F69}"/>
              </a:ext>
            </a:extLst>
          </p:cNvPr>
          <p:cNvPicPr>
            <a:picLocks noChangeAspect="1"/>
          </p:cNvPicPr>
          <p:nvPr/>
        </p:nvPicPr>
        <p:blipFill>
          <a:blip r:embed="rId6"/>
          <a:stretch>
            <a:fillRect/>
          </a:stretch>
        </p:blipFill>
        <p:spPr>
          <a:xfrm>
            <a:off x="3306159" y="4809708"/>
            <a:ext cx="3722914" cy="952628"/>
          </a:xfrm>
          <a:prstGeom prst="rect">
            <a:avLst/>
          </a:prstGeom>
        </p:spPr>
      </p:pic>
      <p:sp>
        <p:nvSpPr>
          <p:cNvPr id="37" name="TextBox 36">
            <a:extLst>
              <a:ext uri="{FF2B5EF4-FFF2-40B4-BE49-F238E27FC236}">
                <a16:creationId xmlns:a16="http://schemas.microsoft.com/office/drawing/2014/main" id="{6B48E098-24FE-BB9A-018F-D675D4E2068F}"/>
              </a:ext>
            </a:extLst>
          </p:cNvPr>
          <p:cNvSpPr txBox="1"/>
          <p:nvPr/>
        </p:nvSpPr>
        <p:spPr>
          <a:xfrm>
            <a:off x="4579531" y="4715452"/>
            <a:ext cx="6093372" cy="369332"/>
          </a:xfrm>
          <a:prstGeom prst="rect">
            <a:avLst/>
          </a:prstGeom>
          <a:noFill/>
        </p:spPr>
        <p:txBody>
          <a:bodyPr wrap="square">
            <a:spAutoFit/>
          </a:bodyPr>
          <a:lstStyle/>
          <a:p>
            <a:r>
              <a:rPr lang="en-US" sz="1800" b="1">
                <a:solidFill>
                  <a:srgbClr val="C00000"/>
                </a:solidFill>
              </a:rPr>
              <a:t>Target:RNA</a:t>
            </a:r>
          </a:p>
        </p:txBody>
      </p:sp>
      <p:sp>
        <p:nvSpPr>
          <p:cNvPr id="39" name="TextBox 38">
            <a:extLst>
              <a:ext uri="{FF2B5EF4-FFF2-40B4-BE49-F238E27FC236}">
                <a16:creationId xmlns:a16="http://schemas.microsoft.com/office/drawing/2014/main" id="{52962692-E474-CD71-7CB0-C80DDD8B64BE}"/>
              </a:ext>
            </a:extLst>
          </p:cNvPr>
          <p:cNvSpPr txBox="1"/>
          <p:nvPr/>
        </p:nvSpPr>
        <p:spPr>
          <a:xfrm>
            <a:off x="4379028" y="2794628"/>
            <a:ext cx="6093372" cy="369332"/>
          </a:xfrm>
          <a:prstGeom prst="rect">
            <a:avLst/>
          </a:prstGeom>
          <a:noFill/>
        </p:spPr>
        <p:txBody>
          <a:bodyPr wrap="square">
            <a:spAutoFit/>
          </a:bodyPr>
          <a:lstStyle/>
          <a:p>
            <a:r>
              <a:rPr lang="en-US" sz="1800" b="1">
                <a:solidFill>
                  <a:srgbClr val="C00000"/>
                </a:solidFill>
              </a:rPr>
              <a:t>Target:DNA</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4B21049-2B0E-0909-CF2D-5336DAB199C3}"/>
                  </a:ext>
                </a:extLst>
              </p:cNvPr>
              <p:cNvSpPr txBox="1"/>
              <p:nvPr/>
            </p:nvSpPr>
            <p:spPr>
              <a:xfrm>
                <a:off x="7812973" y="2675986"/>
                <a:ext cx="4336434" cy="422936"/>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𝐺</m:t>
                          </m:r>
                        </m:e>
                        <m:sub>
                          <m:r>
                            <a:rPr lang="en-US" b="0" i="1" smtClean="0">
                              <a:latin typeface="Cambria Math" panose="02040503050406030204" pitchFamily="18" charset="0"/>
                              <a:ea typeface="Cambria Math" panose="02040503050406030204" pitchFamily="18" charset="0"/>
                            </a:rPr>
                            <m:t>𝐵</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𝑃𝐴𝑀</m:t>
                          </m:r>
                        </m:sub>
                      </m:sSub>
                      <m:r>
                        <a:rPr lang="en-US" b="0" i="1" smtClean="0">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m:t>
                      </m:r>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𝐺</m:t>
                          </m:r>
                        </m:e>
                        <m:sub>
                          <m:r>
                            <a:rPr lang="en-US" b="0" i="1" smtClean="0">
                              <a:solidFill>
                                <a:schemeClr val="tx1"/>
                              </a:solidFill>
                              <a:latin typeface="Cambria Math" panose="02040503050406030204" pitchFamily="18" charset="0"/>
                              <a:ea typeface="Cambria Math" panose="02040503050406030204" pitchFamily="18" charset="0"/>
                            </a:rPr>
                            <m:t>𝐻</m:t>
                          </m:r>
                        </m:sub>
                      </m:sSub>
                      <m:r>
                        <a:rPr lang="en-US" b="0" i="1" smtClean="0">
                          <a:solidFill>
                            <a:schemeClr val="tx1"/>
                          </a:solidFill>
                          <a:latin typeface="Cambria Math" panose="02040503050406030204" pitchFamily="18" charset="0"/>
                          <a:ea typeface="Cambria Math" panose="02040503050406030204" pitchFamily="18" charset="0"/>
                        </a:rPr>
                        <m:t>−∆</m:t>
                      </m:r>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𝐺</m:t>
                          </m:r>
                        </m:e>
                        <m:sub>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𝑈</m:t>
                              </m:r>
                            </m:e>
                            <m:sub>
                              <m:r>
                                <a:rPr lang="en-US" b="0" i="1" smtClean="0">
                                  <a:solidFill>
                                    <a:schemeClr val="tx1"/>
                                  </a:solidFill>
                                  <a:latin typeface="Cambria Math" panose="02040503050406030204" pitchFamily="18" charset="0"/>
                                  <a:ea typeface="Cambria Math" panose="02040503050406030204" pitchFamily="18" charset="0"/>
                                </a:rPr>
                                <m:t>𝑔𝑅𝑁𝐴</m:t>
                              </m:r>
                            </m:sub>
                          </m:sSub>
                        </m:sub>
                      </m:sSub>
                      <m:r>
                        <a:rPr lang="en-US" b="0" i="1" smtClean="0">
                          <a:solidFill>
                            <a:schemeClr val="tx1"/>
                          </a:solidFill>
                          <a:latin typeface="Cambria Math" panose="02040503050406030204" pitchFamily="18" charset="0"/>
                          <a:ea typeface="Cambria Math" panose="02040503050406030204" pitchFamily="18" charset="0"/>
                        </a:rPr>
                        <m:t>−∆</m:t>
                      </m:r>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𝐺</m:t>
                          </m:r>
                        </m:e>
                        <m:sub>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𝑂</m:t>
                              </m:r>
                            </m:e>
                            <m:sub>
                              <m:r>
                                <a:rPr lang="en-US" b="0" i="1" smtClean="0">
                                  <a:solidFill>
                                    <a:schemeClr val="tx1"/>
                                  </a:solidFill>
                                  <a:latin typeface="Cambria Math" panose="02040503050406030204" pitchFamily="18" charset="0"/>
                                  <a:ea typeface="Cambria Math" panose="02040503050406030204" pitchFamily="18" charset="0"/>
                                </a:rPr>
                                <m:t>𝑡𝐷𝑁𝐴</m:t>
                              </m:r>
                            </m:sub>
                          </m:sSub>
                        </m:sub>
                      </m:sSub>
                      <m:r>
                        <a:rPr lang="en-US" b="0" i="1" smtClean="0">
                          <a:latin typeface="Cambria Math" panose="02040503050406030204" pitchFamily="18" charset="0"/>
                          <a:ea typeface="Cambria Math" panose="02040503050406030204" pitchFamily="18" charset="0"/>
                        </a:rPr>
                        <m:t>)</m:t>
                      </m:r>
                    </m:oMath>
                  </m:oMathPara>
                </a14:m>
                <a:endParaRPr lang="en-IN"/>
              </a:p>
            </p:txBody>
          </p:sp>
        </mc:Choice>
        <mc:Fallback xmlns="">
          <p:sp>
            <p:nvSpPr>
              <p:cNvPr id="40" name="TextBox 39">
                <a:extLst>
                  <a:ext uri="{FF2B5EF4-FFF2-40B4-BE49-F238E27FC236}">
                    <a16:creationId xmlns:a16="http://schemas.microsoft.com/office/drawing/2014/main" id="{94B21049-2B0E-0909-CF2D-5336DAB199C3}"/>
                  </a:ext>
                </a:extLst>
              </p:cNvPr>
              <p:cNvSpPr txBox="1">
                <a:spLocks noRot="1" noChangeAspect="1" noMove="1" noResize="1" noEditPoints="1" noAdjustHandles="1" noChangeArrowheads="1" noChangeShapeType="1" noTextEdit="1"/>
              </p:cNvSpPr>
              <p:nvPr/>
            </p:nvSpPr>
            <p:spPr>
              <a:xfrm>
                <a:off x="7812973" y="2675986"/>
                <a:ext cx="4336434" cy="422936"/>
              </a:xfrm>
              <a:prstGeom prst="rect">
                <a:avLst/>
              </a:prstGeom>
              <a:blipFill>
                <a:blip r:embed="rId7"/>
                <a:stretch>
                  <a:fillRect b="-5797"/>
                </a:stretch>
              </a:blipFill>
            </p:spPr>
            <p:txBody>
              <a:bodyPr/>
              <a:lstStyle/>
              <a:p>
                <a:r>
                  <a:rPr lang="en-IN">
                    <a:noFill/>
                  </a:rPr>
                  <a:t> </a:t>
                </a:r>
              </a:p>
            </p:txBody>
          </p:sp>
        </mc:Fallback>
      </mc:AlternateContent>
      <p:sp>
        <p:nvSpPr>
          <p:cNvPr id="42" name="TextBox 41">
            <a:extLst>
              <a:ext uri="{FF2B5EF4-FFF2-40B4-BE49-F238E27FC236}">
                <a16:creationId xmlns:a16="http://schemas.microsoft.com/office/drawing/2014/main" id="{DD8A936B-CE52-30A9-89BA-03F21BEF9DFF}"/>
              </a:ext>
            </a:extLst>
          </p:cNvPr>
          <p:cNvSpPr txBox="1"/>
          <p:nvPr/>
        </p:nvSpPr>
        <p:spPr>
          <a:xfrm>
            <a:off x="8699256" y="1535943"/>
            <a:ext cx="6093372" cy="369332"/>
          </a:xfrm>
          <a:prstGeom prst="rect">
            <a:avLst/>
          </a:prstGeom>
          <a:noFill/>
        </p:spPr>
        <p:txBody>
          <a:bodyPr wrap="square">
            <a:spAutoFit/>
          </a:bodyPr>
          <a:lstStyle/>
          <a:p>
            <a:r>
              <a:rPr lang="en-US" sz="1800" b="1"/>
              <a:t>Binding energy model</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91F2275-D1A0-38F6-B639-63AF2E2D3E15}"/>
                  </a:ext>
                </a:extLst>
              </p:cNvPr>
              <p:cNvSpPr txBox="1"/>
              <p:nvPr/>
            </p:nvSpPr>
            <p:spPr>
              <a:xfrm>
                <a:off x="8479930" y="3347428"/>
                <a:ext cx="3038871" cy="698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en-US" sz="1400" b="0" i="1" smtClean="0">
                              <a:latin typeface="Cambria Math" panose="02040503050406030204" pitchFamily="18" charset="0"/>
                              <a:ea typeface="Cambria Math" panose="02040503050406030204" pitchFamily="18" charset="0"/>
                            </a:rPr>
                          </m:ctrlPr>
                        </m:naryPr>
                        <m:sub>
                          <m:r>
                            <m:rPr>
                              <m:brk m:alnAt="23"/>
                            </m:rPr>
                            <a:rPr lang="en-US" sz="1400" b="0" i="1" smtClean="0">
                              <a:latin typeface="Cambria Math" panose="02040503050406030204" pitchFamily="18" charset="0"/>
                              <a:ea typeface="Cambria Math" panose="02040503050406030204" pitchFamily="18" charset="0"/>
                            </a:rPr>
                            <m:t>𝑖</m:t>
                          </m:r>
                          <m:r>
                            <a:rPr lang="en-US" sz="1400" b="0" i="1" smtClean="0">
                              <a:latin typeface="Cambria Math" panose="02040503050406030204" pitchFamily="18" charset="0"/>
                              <a:ea typeface="Cambria Math" panose="02040503050406030204" pitchFamily="18" charset="0"/>
                            </a:rPr>
                            <m:t>=1</m:t>
                          </m:r>
                        </m:sub>
                        <m:sup>
                          <m:r>
                            <a:rPr lang="en-US" sz="1400" b="0" i="1" smtClean="0">
                              <a:latin typeface="Cambria Math" panose="02040503050406030204" pitchFamily="18" charset="0"/>
                              <a:ea typeface="Cambria Math" panose="02040503050406030204" pitchFamily="18" charset="0"/>
                            </a:rPr>
                            <m:t>19</m:t>
                          </m:r>
                        </m:sup>
                        <m:e>
                          <m:sSub>
                            <m:sSubPr>
                              <m:ctrlPr>
                                <a:rPr lang="en-US" sz="1400" b="0" i="1" smtClean="0">
                                  <a:solidFill>
                                    <a:srgbClr val="C00000"/>
                                  </a:solidFill>
                                  <a:latin typeface="Cambria Math" panose="02040503050406030204" pitchFamily="18" charset="0"/>
                                  <a:ea typeface="Cambria Math" panose="02040503050406030204" pitchFamily="18" charset="0"/>
                                </a:rPr>
                              </m:ctrlPr>
                            </m:sSubPr>
                            <m:e>
                              <m:r>
                                <a:rPr lang="en-US" sz="1400" b="0" i="1" smtClean="0">
                                  <a:solidFill>
                                    <a:srgbClr val="C00000"/>
                                  </a:solidFill>
                                  <a:latin typeface="Cambria Math" panose="02040503050406030204" pitchFamily="18" charset="0"/>
                                  <a:ea typeface="Cambria Math" panose="02040503050406030204" pitchFamily="18" charset="0"/>
                                </a:rPr>
                                <m:t>𝛤</m:t>
                              </m:r>
                            </m:e>
                            <m:sub>
                              <m:r>
                                <a:rPr lang="en-US" sz="1400" b="0" i="1" smtClean="0">
                                  <a:solidFill>
                                    <a:srgbClr val="C00000"/>
                                  </a:solidFill>
                                  <a:latin typeface="Cambria Math" panose="02040503050406030204" pitchFamily="18" charset="0"/>
                                  <a:ea typeface="Cambria Math" panose="02040503050406030204" pitchFamily="18" charset="0"/>
                                </a:rPr>
                                <m:t>𝐶𝑎𝑠</m:t>
                              </m:r>
                            </m:sub>
                          </m:sSub>
                          <m:d>
                            <m:dPr>
                              <m:begChr m:val="["/>
                              <m:endChr m:val="]"/>
                              <m:ctrlPr>
                                <a:rPr lang="en-US" sz="1400" b="0" i="1" smtClean="0">
                                  <a:solidFill>
                                    <a:srgbClr val="C00000"/>
                                  </a:solidFill>
                                  <a:latin typeface="Cambria Math" panose="02040503050406030204" pitchFamily="18" charset="0"/>
                                  <a:ea typeface="Cambria Math" panose="02040503050406030204" pitchFamily="18" charset="0"/>
                                </a:rPr>
                              </m:ctrlPr>
                            </m:dPr>
                            <m:e>
                              <m:r>
                                <a:rPr lang="en-US" sz="1400" b="0" i="1" smtClean="0">
                                  <a:solidFill>
                                    <a:srgbClr val="C00000"/>
                                  </a:solidFill>
                                  <a:latin typeface="Cambria Math" panose="02040503050406030204" pitchFamily="18" charset="0"/>
                                  <a:ea typeface="Cambria Math" panose="02040503050406030204" pitchFamily="18" charset="0"/>
                                </a:rPr>
                                <m:t>𝑖</m:t>
                              </m:r>
                            </m:e>
                          </m:d>
                          <m:r>
                            <a:rPr lang="en-US" sz="1400" b="0" i="1" smtClean="0">
                              <a:latin typeface="Cambria Math" panose="02040503050406030204" pitchFamily="18" charset="0"/>
                              <a:ea typeface="Cambria Math" panose="02040503050406030204" pitchFamily="18" charset="0"/>
                            </a:rPr>
                            <m:t>×∆</m:t>
                          </m:r>
                          <m:sSubSup>
                            <m:sSubSupPr>
                              <m:ctrlPr>
                                <a:rPr lang="en-US" sz="1400" b="0" i="1" smtClean="0">
                                  <a:latin typeface="Cambria Math" panose="02040503050406030204" pitchFamily="18" charset="0"/>
                                  <a:ea typeface="Cambria Math" panose="02040503050406030204" pitchFamily="18" charset="0"/>
                                </a:rPr>
                              </m:ctrlPr>
                            </m:sSubSupPr>
                            <m:e>
                              <m:r>
                                <a:rPr lang="en-US" sz="1400" b="0" i="1" smtClean="0">
                                  <a:latin typeface="Cambria Math" panose="02040503050406030204" pitchFamily="18" charset="0"/>
                                  <a:ea typeface="Cambria Math" panose="02040503050406030204" pitchFamily="18" charset="0"/>
                                </a:rPr>
                                <m:t>𝐺</m:t>
                              </m:r>
                            </m:e>
                            <m:sub>
                              <m:r>
                                <a:rPr lang="en-US" sz="1400" b="0" i="1" smtClean="0">
                                  <a:latin typeface="Cambria Math" panose="02040503050406030204" pitchFamily="18" charset="0"/>
                                  <a:ea typeface="Cambria Math" panose="02040503050406030204" pitchFamily="18" charset="0"/>
                                </a:rPr>
                                <m:t>𝑔</m:t>
                              </m:r>
                              <m:d>
                                <m:dPr>
                                  <m:begChr m:val="["/>
                                  <m:endChr m:val="]"/>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𝑖</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𝑖</m:t>
                                  </m:r>
                                  <m:r>
                                    <a:rPr lang="en-US" sz="1400" b="0" i="1" smtClean="0">
                                      <a:latin typeface="Cambria Math" panose="02040503050406030204" pitchFamily="18" charset="0"/>
                                      <a:ea typeface="Cambria Math" panose="02040503050406030204" pitchFamily="18" charset="0"/>
                                    </a:rPr>
                                    <m:t>+1</m:t>
                                  </m:r>
                                </m:e>
                              </m:d>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𝑡</m:t>
                              </m:r>
                              <m:d>
                                <m:dPr>
                                  <m:begChr m:val="["/>
                                  <m:endChr m:val="]"/>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𝑖</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𝑖</m:t>
                                  </m:r>
                                  <m:r>
                                    <a:rPr lang="en-US" sz="1400" b="0" i="1" smtClean="0">
                                      <a:latin typeface="Cambria Math" panose="02040503050406030204" pitchFamily="18" charset="0"/>
                                      <a:ea typeface="Cambria Math" panose="02040503050406030204" pitchFamily="18" charset="0"/>
                                    </a:rPr>
                                    <m:t>+1</m:t>
                                  </m:r>
                                </m:e>
                              </m:d>
                            </m:sub>
                            <m:sup>
                              <m:r>
                                <a:rPr lang="en-US" sz="1400" b="0" i="1" smtClean="0">
                                  <a:latin typeface="Cambria Math" panose="02040503050406030204" pitchFamily="18" charset="0"/>
                                  <a:ea typeface="Cambria Math" panose="02040503050406030204" pitchFamily="18" charset="0"/>
                                </a:rPr>
                                <m:t>𝑅𝑁𝐴</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𝐷𝑁𝐴</m:t>
                              </m:r>
                            </m:sup>
                          </m:sSubSup>
                        </m:e>
                      </m:nary>
                    </m:oMath>
                  </m:oMathPara>
                </a14:m>
                <a:endParaRPr lang="en-IN" sz="1400"/>
              </a:p>
            </p:txBody>
          </p:sp>
        </mc:Choice>
        <mc:Fallback xmlns="">
          <p:sp>
            <p:nvSpPr>
              <p:cNvPr id="44" name="TextBox 43">
                <a:extLst>
                  <a:ext uri="{FF2B5EF4-FFF2-40B4-BE49-F238E27FC236}">
                    <a16:creationId xmlns:a16="http://schemas.microsoft.com/office/drawing/2014/main" id="{991F2275-D1A0-38F6-B639-63AF2E2D3E15}"/>
                  </a:ext>
                </a:extLst>
              </p:cNvPr>
              <p:cNvSpPr txBox="1">
                <a:spLocks noRot="1" noChangeAspect="1" noMove="1" noResize="1" noEditPoints="1" noAdjustHandles="1" noChangeArrowheads="1" noChangeShapeType="1" noTextEdit="1"/>
              </p:cNvSpPr>
              <p:nvPr/>
            </p:nvSpPr>
            <p:spPr>
              <a:xfrm>
                <a:off x="8479930" y="3347428"/>
                <a:ext cx="3038871" cy="698012"/>
              </a:xfrm>
              <a:prstGeom prst="rect">
                <a:avLst/>
              </a:prstGeom>
              <a:blipFill>
                <a:blip r:embed="rId8"/>
                <a:stretch>
                  <a:fillRect/>
                </a:stretch>
              </a:blipFill>
            </p:spPr>
            <p:txBody>
              <a:bodyPr/>
              <a:lstStyle/>
              <a:p>
                <a:r>
                  <a:rPr lang="en-IN">
                    <a:noFill/>
                  </a:rPr>
                  <a:t> </a:t>
                </a:r>
              </a:p>
            </p:txBody>
          </p:sp>
        </mc:Fallback>
      </mc:AlternateContent>
      <p:cxnSp>
        <p:nvCxnSpPr>
          <p:cNvPr id="47" name="Straight Arrow Connector 46">
            <a:extLst>
              <a:ext uri="{FF2B5EF4-FFF2-40B4-BE49-F238E27FC236}">
                <a16:creationId xmlns:a16="http://schemas.microsoft.com/office/drawing/2014/main" id="{73E65F42-AFE9-8735-6085-BE7779506E3D}"/>
              </a:ext>
            </a:extLst>
          </p:cNvPr>
          <p:cNvCxnSpPr>
            <a:cxnSpLocks/>
          </p:cNvCxnSpPr>
          <p:nvPr/>
        </p:nvCxnSpPr>
        <p:spPr>
          <a:xfrm>
            <a:off x="9490699" y="3094991"/>
            <a:ext cx="0" cy="334009"/>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E740C51F-6AF3-05AE-426F-C6A0CB4352DF}"/>
                  </a:ext>
                </a:extLst>
              </p:cNvPr>
              <p:cNvSpPr txBox="1"/>
              <p:nvPr/>
            </p:nvSpPr>
            <p:spPr>
              <a:xfrm>
                <a:off x="7609841" y="5244641"/>
                <a:ext cx="4336434" cy="422936"/>
              </a:xfrm>
              <a:prstGeom prst="rect">
                <a:avLst/>
              </a:prstGeom>
              <a:solidFill>
                <a:schemeClr val="bg1"/>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IN"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𝐺</m:t>
                          </m:r>
                        </m:e>
                        <m:sub>
                          <m:r>
                            <a:rPr lang="en-US" b="0" i="1" smtClean="0">
                              <a:latin typeface="Cambria Math" panose="02040503050406030204" pitchFamily="18" charset="0"/>
                              <a:ea typeface="Cambria Math" panose="02040503050406030204" pitchFamily="18" charset="0"/>
                            </a:rPr>
                            <m:t>𝐵</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𝑃𝐹𝑆</m:t>
                          </m:r>
                        </m:sub>
                      </m:sSub>
                      <m:r>
                        <a:rPr lang="en-US" b="0" i="1" smtClean="0">
                          <a:latin typeface="Cambria Math" panose="02040503050406030204" pitchFamily="18" charset="0"/>
                          <a:ea typeface="Cambria Math" panose="02040503050406030204" pitchFamily="18" charset="0"/>
                        </a:rPr>
                        <m:t>(</m:t>
                      </m:r>
                      <m:r>
                        <a:rPr lang="en-US" b="0" i="1" smtClean="0">
                          <a:solidFill>
                            <a:schemeClr val="tx1"/>
                          </a:solidFill>
                          <a:latin typeface="Cambria Math" panose="02040503050406030204" pitchFamily="18" charset="0"/>
                          <a:ea typeface="Cambria Math" panose="02040503050406030204" pitchFamily="18" charset="0"/>
                        </a:rPr>
                        <m:t>∆</m:t>
                      </m:r>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𝐺</m:t>
                          </m:r>
                        </m:e>
                        <m:sub>
                          <m:r>
                            <a:rPr lang="en-US" b="0" i="1" smtClean="0">
                              <a:solidFill>
                                <a:schemeClr val="tx1"/>
                              </a:solidFill>
                              <a:latin typeface="Cambria Math" panose="02040503050406030204" pitchFamily="18" charset="0"/>
                              <a:ea typeface="Cambria Math" panose="02040503050406030204" pitchFamily="18" charset="0"/>
                            </a:rPr>
                            <m:t>𝐻</m:t>
                          </m:r>
                        </m:sub>
                      </m:sSub>
                      <m:r>
                        <a:rPr lang="en-US" b="0" i="1" smtClean="0">
                          <a:solidFill>
                            <a:schemeClr val="tx1"/>
                          </a:solidFill>
                          <a:latin typeface="Cambria Math" panose="02040503050406030204" pitchFamily="18" charset="0"/>
                          <a:ea typeface="Cambria Math" panose="02040503050406030204" pitchFamily="18" charset="0"/>
                        </a:rPr>
                        <m:t>−∆</m:t>
                      </m:r>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𝐺</m:t>
                          </m:r>
                        </m:e>
                        <m:sub>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𝑈</m:t>
                              </m:r>
                            </m:e>
                            <m:sub>
                              <m:r>
                                <a:rPr lang="en-US" b="0" i="1" smtClean="0">
                                  <a:solidFill>
                                    <a:schemeClr val="tx1"/>
                                  </a:solidFill>
                                  <a:latin typeface="Cambria Math" panose="02040503050406030204" pitchFamily="18" charset="0"/>
                                  <a:ea typeface="Cambria Math" panose="02040503050406030204" pitchFamily="18" charset="0"/>
                                </a:rPr>
                                <m:t>𝑔𝑅𝑁𝐴</m:t>
                              </m:r>
                            </m:sub>
                          </m:sSub>
                        </m:sub>
                      </m:sSub>
                      <m:r>
                        <a:rPr lang="en-US" b="0" i="1" smtClean="0">
                          <a:solidFill>
                            <a:schemeClr val="tx1"/>
                          </a:solidFill>
                          <a:latin typeface="Cambria Math" panose="02040503050406030204" pitchFamily="18" charset="0"/>
                          <a:ea typeface="Cambria Math" panose="02040503050406030204" pitchFamily="18" charset="0"/>
                        </a:rPr>
                        <m:t>−∆</m:t>
                      </m:r>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𝐺</m:t>
                          </m:r>
                        </m:e>
                        <m:sub>
                          <m:sSub>
                            <m:sSubPr>
                              <m:ctrlPr>
                                <a:rPr lang="en-US" b="0" i="1" smtClean="0">
                                  <a:solidFill>
                                    <a:schemeClr val="tx1"/>
                                  </a:solidFill>
                                  <a:latin typeface="Cambria Math" panose="02040503050406030204" pitchFamily="18" charset="0"/>
                                  <a:ea typeface="Cambria Math" panose="02040503050406030204" pitchFamily="18" charset="0"/>
                                </a:rPr>
                              </m:ctrlPr>
                            </m:sSubPr>
                            <m:e>
                              <m:r>
                                <a:rPr lang="en-US" b="0" i="1" smtClean="0">
                                  <a:solidFill>
                                    <a:schemeClr val="tx1"/>
                                  </a:solidFill>
                                  <a:latin typeface="Cambria Math" panose="02040503050406030204" pitchFamily="18" charset="0"/>
                                  <a:ea typeface="Cambria Math" panose="02040503050406030204" pitchFamily="18" charset="0"/>
                                </a:rPr>
                                <m:t>𝑈</m:t>
                              </m:r>
                            </m:e>
                            <m:sub>
                              <m:r>
                                <a:rPr lang="en-US" b="0" i="1" smtClean="0">
                                  <a:solidFill>
                                    <a:schemeClr val="tx1"/>
                                  </a:solidFill>
                                  <a:latin typeface="Cambria Math" panose="02040503050406030204" pitchFamily="18" charset="0"/>
                                  <a:ea typeface="Cambria Math" panose="02040503050406030204" pitchFamily="18" charset="0"/>
                                </a:rPr>
                                <m:t>𝑡𝑅𝑁𝐴</m:t>
                              </m:r>
                            </m:sub>
                          </m:sSub>
                        </m:sub>
                      </m:sSub>
                      <m:r>
                        <a:rPr lang="en-US" b="0" i="1" smtClean="0">
                          <a:latin typeface="Cambria Math" panose="02040503050406030204" pitchFamily="18" charset="0"/>
                          <a:ea typeface="Cambria Math" panose="02040503050406030204" pitchFamily="18" charset="0"/>
                        </a:rPr>
                        <m:t>)</m:t>
                      </m:r>
                    </m:oMath>
                  </m:oMathPara>
                </a14:m>
                <a:endParaRPr lang="en-IN"/>
              </a:p>
            </p:txBody>
          </p:sp>
        </mc:Choice>
        <mc:Fallback xmlns="">
          <p:sp>
            <p:nvSpPr>
              <p:cNvPr id="48" name="TextBox 47">
                <a:extLst>
                  <a:ext uri="{FF2B5EF4-FFF2-40B4-BE49-F238E27FC236}">
                    <a16:creationId xmlns:a16="http://schemas.microsoft.com/office/drawing/2014/main" id="{E740C51F-6AF3-05AE-426F-C6A0CB4352DF}"/>
                  </a:ext>
                </a:extLst>
              </p:cNvPr>
              <p:cNvSpPr txBox="1">
                <a:spLocks noRot="1" noChangeAspect="1" noMove="1" noResize="1" noEditPoints="1" noAdjustHandles="1" noChangeArrowheads="1" noChangeShapeType="1" noTextEdit="1"/>
              </p:cNvSpPr>
              <p:nvPr/>
            </p:nvSpPr>
            <p:spPr>
              <a:xfrm>
                <a:off x="7609841" y="5244641"/>
                <a:ext cx="4336434" cy="422936"/>
              </a:xfrm>
              <a:prstGeom prst="rect">
                <a:avLst/>
              </a:prstGeom>
              <a:blipFill>
                <a:blip r:embed="rId9"/>
                <a:stretch>
                  <a:fillRect b="-4286"/>
                </a:stretch>
              </a:blipFill>
            </p:spPr>
            <p:txBody>
              <a:bodyPr/>
              <a:lstStyle/>
              <a:p>
                <a:r>
                  <a:rPr lang="en-IN">
                    <a:noFill/>
                  </a:rPr>
                  <a:t> </a:t>
                </a:r>
              </a:p>
            </p:txBody>
          </p:sp>
        </mc:Fallback>
      </mc:AlternateContent>
      <p:sp>
        <p:nvSpPr>
          <p:cNvPr id="49" name="TextBox 48">
            <a:extLst>
              <a:ext uri="{FF2B5EF4-FFF2-40B4-BE49-F238E27FC236}">
                <a16:creationId xmlns:a16="http://schemas.microsoft.com/office/drawing/2014/main" id="{2AC0852C-1C01-F296-A661-C4C50C7E0AAE}"/>
              </a:ext>
            </a:extLst>
          </p:cNvPr>
          <p:cNvSpPr txBox="1"/>
          <p:nvPr/>
        </p:nvSpPr>
        <p:spPr>
          <a:xfrm>
            <a:off x="9049387" y="2323857"/>
            <a:ext cx="1135833" cy="400110"/>
          </a:xfrm>
          <a:prstGeom prst="rect">
            <a:avLst/>
          </a:prstGeom>
          <a:noFill/>
        </p:spPr>
        <p:txBody>
          <a:bodyPr wrap="square" rtlCol="0">
            <a:spAutoFit/>
          </a:bodyPr>
          <a:lstStyle/>
          <a:p>
            <a:r>
              <a:rPr lang="en-US" sz="1000"/>
              <a:t>RNA:DNA Hybridization</a:t>
            </a:r>
            <a:endParaRPr lang="en-IN" sz="1000"/>
          </a:p>
        </p:txBody>
      </p:sp>
      <p:sp>
        <p:nvSpPr>
          <p:cNvPr id="50" name="TextBox 49">
            <a:extLst>
              <a:ext uri="{FF2B5EF4-FFF2-40B4-BE49-F238E27FC236}">
                <a16:creationId xmlns:a16="http://schemas.microsoft.com/office/drawing/2014/main" id="{753983A5-0B70-9FEB-575F-F583572F4B06}"/>
              </a:ext>
            </a:extLst>
          </p:cNvPr>
          <p:cNvSpPr txBox="1"/>
          <p:nvPr/>
        </p:nvSpPr>
        <p:spPr>
          <a:xfrm>
            <a:off x="10041351" y="2314814"/>
            <a:ext cx="886705" cy="400110"/>
          </a:xfrm>
          <a:prstGeom prst="rect">
            <a:avLst/>
          </a:prstGeom>
          <a:noFill/>
        </p:spPr>
        <p:txBody>
          <a:bodyPr wrap="square" rtlCol="0">
            <a:spAutoFit/>
          </a:bodyPr>
          <a:lstStyle/>
          <a:p>
            <a:r>
              <a:rPr lang="en-US" sz="1000"/>
              <a:t>RNA unfolding</a:t>
            </a:r>
            <a:endParaRPr lang="en-IN" sz="1000"/>
          </a:p>
        </p:txBody>
      </p:sp>
      <p:sp>
        <p:nvSpPr>
          <p:cNvPr id="51" name="TextBox 50">
            <a:extLst>
              <a:ext uri="{FF2B5EF4-FFF2-40B4-BE49-F238E27FC236}">
                <a16:creationId xmlns:a16="http://schemas.microsoft.com/office/drawing/2014/main" id="{B2FAC64F-0037-0C18-D13E-AFCCA037F33E}"/>
              </a:ext>
            </a:extLst>
          </p:cNvPr>
          <p:cNvSpPr txBox="1"/>
          <p:nvPr/>
        </p:nvSpPr>
        <p:spPr>
          <a:xfrm>
            <a:off x="10978281" y="2296945"/>
            <a:ext cx="886705" cy="400110"/>
          </a:xfrm>
          <a:prstGeom prst="rect">
            <a:avLst/>
          </a:prstGeom>
          <a:noFill/>
        </p:spPr>
        <p:txBody>
          <a:bodyPr wrap="square" rtlCol="0">
            <a:spAutoFit/>
          </a:bodyPr>
          <a:lstStyle/>
          <a:p>
            <a:r>
              <a:rPr lang="en-US" sz="1000"/>
              <a:t>DNA opening</a:t>
            </a:r>
            <a:endParaRPr lang="en-IN" sz="1000"/>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7A37287E-89BA-B852-1DB9-FEF670F0521E}"/>
                  </a:ext>
                </a:extLst>
              </p:cNvPr>
              <p:cNvSpPr txBox="1"/>
              <p:nvPr/>
            </p:nvSpPr>
            <p:spPr>
              <a:xfrm>
                <a:off x="8463553" y="4482975"/>
                <a:ext cx="3038871" cy="69801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nary>
                        <m:naryPr>
                          <m:chr m:val="∑"/>
                          <m:ctrlPr>
                            <a:rPr lang="en-US" sz="1400" b="0" i="1" smtClean="0">
                              <a:latin typeface="Cambria Math" panose="02040503050406030204" pitchFamily="18" charset="0"/>
                              <a:ea typeface="Cambria Math" panose="02040503050406030204" pitchFamily="18" charset="0"/>
                            </a:rPr>
                          </m:ctrlPr>
                        </m:naryPr>
                        <m:sub>
                          <m:r>
                            <m:rPr>
                              <m:brk m:alnAt="23"/>
                            </m:rPr>
                            <a:rPr lang="en-US" sz="1400" b="0" i="1" smtClean="0">
                              <a:latin typeface="Cambria Math" panose="02040503050406030204" pitchFamily="18" charset="0"/>
                              <a:ea typeface="Cambria Math" panose="02040503050406030204" pitchFamily="18" charset="0"/>
                            </a:rPr>
                            <m:t>𝑖</m:t>
                          </m:r>
                          <m:r>
                            <a:rPr lang="en-US" sz="1400" b="0" i="1" smtClean="0">
                              <a:latin typeface="Cambria Math" panose="02040503050406030204" pitchFamily="18" charset="0"/>
                              <a:ea typeface="Cambria Math" panose="02040503050406030204" pitchFamily="18" charset="0"/>
                            </a:rPr>
                            <m:t>=1</m:t>
                          </m:r>
                        </m:sub>
                        <m:sup>
                          <m:r>
                            <a:rPr lang="en-US" sz="1400" b="0" i="1" smtClean="0">
                              <a:latin typeface="Cambria Math" panose="02040503050406030204" pitchFamily="18" charset="0"/>
                              <a:ea typeface="Cambria Math" panose="02040503050406030204" pitchFamily="18" charset="0"/>
                            </a:rPr>
                            <m:t>?</m:t>
                          </m:r>
                        </m:sup>
                        <m:e>
                          <m:sSub>
                            <m:sSubPr>
                              <m:ctrlPr>
                                <a:rPr lang="en-US" sz="1400" b="0" i="1" smtClean="0">
                                  <a:solidFill>
                                    <a:srgbClr val="C00000"/>
                                  </a:solidFill>
                                  <a:latin typeface="Cambria Math" panose="02040503050406030204" pitchFamily="18" charset="0"/>
                                  <a:ea typeface="Cambria Math" panose="02040503050406030204" pitchFamily="18" charset="0"/>
                                </a:rPr>
                              </m:ctrlPr>
                            </m:sSubPr>
                            <m:e>
                              <m:r>
                                <a:rPr lang="en-US" sz="1400" b="0" i="1" smtClean="0">
                                  <a:solidFill>
                                    <a:srgbClr val="C00000"/>
                                  </a:solidFill>
                                  <a:latin typeface="Cambria Math" panose="02040503050406030204" pitchFamily="18" charset="0"/>
                                  <a:ea typeface="Cambria Math" panose="02040503050406030204" pitchFamily="18" charset="0"/>
                                </a:rPr>
                                <m:t>𝛤</m:t>
                              </m:r>
                            </m:e>
                            <m:sub>
                              <m:r>
                                <a:rPr lang="en-US" sz="1400" b="0" i="1" smtClean="0">
                                  <a:solidFill>
                                    <a:srgbClr val="C00000"/>
                                  </a:solidFill>
                                  <a:latin typeface="Cambria Math" panose="02040503050406030204" pitchFamily="18" charset="0"/>
                                  <a:ea typeface="Cambria Math" panose="02040503050406030204" pitchFamily="18" charset="0"/>
                                </a:rPr>
                                <m:t>𝐶𝑎𝑠</m:t>
                              </m:r>
                              <m:r>
                                <a:rPr lang="en-US" sz="1400" b="0" i="1" smtClean="0">
                                  <a:solidFill>
                                    <a:srgbClr val="C00000"/>
                                  </a:solidFill>
                                  <a:latin typeface="Cambria Math" panose="02040503050406030204" pitchFamily="18" charset="0"/>
                                  <a:ea typeface="Cambria Math" panose="02040503050406030204" pitchFamily="18" charset="0"/>
                                </a:rPr>
                                <m:t>13</m:t>
                              </m:r>
                            </m:sub>
                          </m:sSub>
                          <m:d>
                            <m:dPr>
                              <m:begChr m:val="["/>
                              <m:endChr m:val="]"/>
                              <m:ctrlPr>
                                <a:rPr lang="en-US" sz="1400" b="0" i="1" smtClean="0">
                                  <a:solidFill>
                                    <a:srgbClr val="C00000"/>
                                  </a:solidFill>
                                  <a:latin typeface="Cambria Math" panose="02040503050406030204" pitchFamily="18" charset="0"/>
                                  <a:ea typeface="Cambria Math" panose="02040503050406030204" pitchFamily="18" charset="0"/>
                                </a:rPr>
                              </m:ctrlPr>
                            </m:dPr>
                            <m:e>
                              <m:r>
                                <a:rPr lang="en-US" sz="1400" b="0" i="1" smtClean="0">
                                  <a:solidFill>
                                    <a:srgbClr val="C00000"/>
                                  </a:solidFill>
                                  <a:latin typeface="Cambria Math" panose="02040503050406030204" pitchFamily="18" charset="0"/>
                                  <a:ea typeface="Cambria Math" panose="02040503050406030204" pitchFamily="18" charset="0"/>
                                </a:rPr>
                                <m:t>𝑖</m:t>
                              </m:r>
                            </m:e>
                          </m:d>
                          <m:r>
                            <a:rPr lang="en-US" sz="1400" b="0" i="1" smtClean="0">
                              <a:latin typeface="Cambria Math" panose="02040503050406030204" pitchFamily="18" charset="0"/>
                              <a:ea typeface="Cambria Math" panose="02040503050406030204" pitchFamily="18" charset="0"/>
                            </a:rPr>
                            <m:t>×∆</m:t>
                          </m:r>
                          <m:sSubSup>
                            <m:sSubSupPr>
                              <m:ctrlPr>
                                <a:rPr lang="en-US" sz="1400" b="0" i="1" smtClean="0">
                                  <a:latin typeface="Cambria Math" panose="02040503050406030204" pitchFamily="18" charset="0"/>
                                  <a:ea typeface="Cambria Math" panose="02040503050406030204" pitchFamily="18" charset="0"/>
                                </a:rPr>
                              </m:ctrlPr>
                            </m:sSubSupPr>
                            <m:e>
                              <m:r>
                                <a:rPr lang="en-US" sz="1400" b="0" i="1" smtClean="0">
                                  <a:latin typeface="Cambria Math" panose="02040503050406030204" pitchFamily="18" charset="0"/>
                                  <a:ea typeface="Cambria Math" panose="02040503050406030204" pitchFamily="18" charset="0"/>
                                </a:rPr>
                                <m:t>𝐺</m:t>
                              </m:r>
                            </m:e>
                            <m:sub>
                              <m:r>
                                <a:rPr lang="en-US" sz="1400" b="0" i="1" smtClean="0">
                                  <a:latin typeface="Cambria Math" panose="02040503050406030204" pitchFamily="18" charset="0"/>
                                  <a:ea typeface="Cambria Math" panose="02040503050406030204" pitchFamily="18" charset="0"/>
                                </a:rPr>
                                <m:t>𝑔</m:t>
                              </m:r>
                              <m:d>
                                <m:dPr>
                                  <m:begChr m:val="["/>
                                  <m:endChr m:val="]"/>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𝑖</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𝑖</m:t>
                                  </m:r>
                                  <m:r>
                                    <a:rPr lang="en-US" sz="1400" b="0" i="1" smtClean="0">
                                      <a:latin typeface="Cambria Math" panose="02040503050406030204" pitchFamily="18" charset="0"/>
                                      <a:ea typeface="Cambria Math" panose="02040503050406030204" pitchFamily="18" charset="0"/>
                                    </a:rPr>
                                    <m:t>+1</m:t>
                                  </m:r>
                                </m:e>
                              </m:d>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𝑡</m:t>
                              </m:r>
                              <m:d>
                                <m:dPr>
                                  <m:begChr m:val="["/>
                                  <m:endChr m:val="]"/>
                                  <m:ctrlPr>
                                    <a:rPr lang="en-US" sz="1400" b="0" i="1" smtClean="0">
                                      <a:latin typeface="Cambria Math" panose="02040503050406030204" pitchFamily="18" charset="0"/>
                                      <a:ea typeface="Cambria Math" panose="02040503050406030204" pitchFamily="18" charset="0"/>
                                    </a:rPr>
                                  </m:ctrlPr>
                                </m:dPr>
                                <m:e>
                                  <m:r>
                                    <a:rPr lang="en-US" sz="1400" b="0" i="1" smtClean="0">
                                      <a:latin typeface="Cambria Math" panose="02040503050406030204" pitchFamily="18" charset="0"/>
                                      <a:ea typeface="Cambria Math" panose="02040503050406030204" pitchFamily="18" charset="0"/>
                                    </a:rPr>
                                    <m:t>𝑖</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𝑖</m:t>
                                  </m:r>
                                  <m:r>
                                    <a:rPr lang="en-US" sz="1400" b="0" i="1" smtClean="0">
                                      <a:latin typeface="Cambria Math" panose="02040503050406030204" pitchFamily="18" charset="0"/>
                                      <a:ea typeface="Cambria Math" panose="02040503050406030204" pitchFamily="18" charset="0"/>
                                    </a:rPr>
                                    <m:t>+1</m:t>
                                  </m:r>
                                </m:e>
                              </m:d>
                            </m:sub>
                            <m:sup>
                              <m:r>
                                <a:rPr lang="en-US" sz="1400" b="0" i="1" smtClean="0">
                                  <a:latin typeface="Cambria Math" panose="02040503050406030204" pitchFamily="18" charset="0"/>
                                  <a:ea typeface="Cambria Math" panose="02040503050406030204" pitchFamily="18" charset="0"/>
                                </a:rPr>
                                <m:t>𝑔𝑅𝑁𝐴</m:t>
                              </m:r>
                              <m:r>
                                <a:rPr lang="en-US" sz="1400" b="0" i="1" smtClean="0">
                                  <a:latin typeface="Cambria Math" panose="02040503050406030204" pitchFamily="18" charset="0"/>
                                  <a:ea typeface="Cambria Math" panose="02040503050406030204" pitchFamily="18" charset="0"/>
                                </a:rPr>
                                <m:t>:</m:t>
                              </m:r>
                              <m:r>
                                <a:rPr lang="en-US" sz="1400" b="0" i="1" smtClean="0">
                                  <a:latin typeface="Cambria Math" panose="02040503050406030204" pitchFamily="18" charset="0"/>
                                  <a:ea typeface="Cambria Math" panose="02040503050406030204" pitchFamily="18" charset="0"/>
                                </a:rPr>
                                <m:t>𝑡𝑅𝑁𝐴</m:t>
                              </m:r>
                            </m:sup>
                          </m:sSubSup>
                        </m:e>
                      </m:nary>
                    </m:oMath>
                  </m:oMathPara>
                </a14:m>
                <a:endParaRPr lang="en-IN" sz="1400"/>
              </a:p>
            </p:txBody>
          </p:sp>
        </mc:Choice>
        <mc:Fallback xmlns="">
          <p:sp>
            <p:nvSpPr>
              <p:cNvPr id="54" name="TextBox 53">
                <a:extLst>
                  <a:ext uri="{FF2B5EF4-FFF2-40B4-BE49-F238E27FC236}">
                    <a16:creationId xmlns:a16="http://schemas.microsoft.com/office/drawing/2014/main" id="{7A37287E-89BA-B852-1DB9-FEF670F0521E}"/>
                  </a:ext>
                </a:extLst>
              </p:cNvPr>
              <p:cNvSpPr txBox="1">
                <a:spLocks noRot="1" noChangeAspect="1" noMove="1" noResize="1" noEditPoints="1" noAdjustHandles="1" noChangeArrowheads="1" noChangeShapeType="1" noTextEdit="1"/>
              </p:cNvSpPr>
              <p:nvPr/>
            </p:nvSpPr>
            <p:spPr>
              <a:xfrm>
                <a:off x="8463553" y="4482975"/>
                <a:ext cx="3038871" cy="698012"/>
              </a:xfrm>
              <a:prstGeom prst="rect">
                <a:avLst/>
              </a:prstGeom>
              <a:blipFill>
                <a:blip r:embed="rId10"/>
                <a:stretch>
                  <a:fillRect/>
                </a:stretch>
              </a:blipFill>
            </p:spPr>
            <p:txBody>
              <a:bodyPr/>
              <a:lstStyle/>
              <a:p>
                <a:r>
                  <a:rPr lang="en-IN">
                    <a:noFill/>
                  </a:rPr>
                  <a:t> </a:t>
                </a:r>
              </a:p>
            </p:txBody>
          </p:sp>
        </mc:Fallback>
      </mc:AlternateContent>
      <p:cxnSp>
        <p:nvCxnSpPr>
          <p:cNvPr id="55" name="Straight Arrow Connector 54">
            <a:extLst>
              <a:ext uri="{FF2B5EF4-FFF2-40B4-BE49-F238E27FC236}">
                <a16:creationId xmlns:a16="http://schemas.microsoft.com/office/drawing/2014/main" id="{1776507F-5072-DB2C-D440-617FD6F71484}"/>
              </a:ext>
            </a:extLst>
          </p:cNvPr>
          <p:cNvCxnSpPr>
            <a:cxnSpLocks/>
          </p:cNvCxnSpPr>
          <p:nvPr/>
        </p:nvCxnSpPr>
        <p:spPr>
          <a:xfrm flipV="1">
            <a:off x="9279882" y="5023077"/>
            <a:ext cx="0" cy="265888"/>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59" name="Straight Connector 58">
            <a:extLst>
              <a:ext uri="{FF2B5EF4-FFF2-40B4-BE49-F238E27FC236}">
                <a16:creationId xmlns:a16="http://schemas.microsoft.com/office/drawing/2014/main" id="{47D274CE-AE65-1829-3668-002E2993A3FB}"/>
              </a:ext>
            </a:extLst>
          </p:cNvPr>
          <p:cNvCxnSpPr>
            <a:cxnSpLocks/>
          </p:cNvCxnSpPr>
          <p:nvPr/>
        </p:nvCxnSpPr>
        <p:spPr>
          <a:xfrm>
            <a:off x="842871" y="4175350"/>
            <a:ext cx="11022115" cy="0"/>
          </a:xfrm>
          <a:prstGeom prst="line">
            <a:avLst/>
          </a:prstGeom>
          <a:ln w="28575">
            <a:prstDash val="dash"/>
          </a:ln>
        </p:spPr>
        <p:style>
          <a:lnRef idx="2">
            <a:schemeClr val="dk1"/>
          </a:lnRef>
          <a:fillRef idx="0">
            <a:schemeClr val="dk1"/>
          </a:fillRef>
          <a:effectRef idx="1">
            <a:schemeClr val="dk1"/>
          </a:effectRef>
          <a:fontRef idx="minor">
            <a:schemeClr val="tx1"/>
          </a:fontRef>
        </p:style>
      </p:cxnSp>
      <p:sp>
        <p:nvSpPr>
          <p:cNvPr id="62" name="TextBox 61">
            <a:extLst>
              <a:ext uri="{FF2B5EF4-FFF2-40B4-BE49-F238E27FC236}">
                <a16:creationId xmlns:a16="http://schemas.microsoft.com/office/drawing/2014/main" id="{17EA1EF4-7DD4-66EE-0AB4-ECE34FB265FB}"/>
              </a:ext>
            </a:extLst>
          </p:cNvPr>
          <p:cNvSpPr txBox="1"/>
          <p:nvPr/>
        </p:nvSpPr>
        <p:spPr>
          <a:xfrm>
            <a:off x="545887" y="6374768"/>
            <a:ext cx="3329908" cy="307777"/>
          </a:xfrm>
          <a:prstGeom prst="rect">
            <a:avLst/>
          </a:prstGeom>
          <a:noFill/>
        </p:spPr>
        <p:txBody>
          <a:bodyPr wrap="square" rtlCol="0">
            <a:spAutoFit/>
          </a:bodyPr>
          <a:lstStyle/>
          <a:p>
            <a:r>
              <a:rPr lang="en-US" sz="1400"/>
              <a:t>Bigini et al.,2023</a:t>
            </a:r>
            <a:endParaRPr lang="en-IN" sz="1400"/>
          </a:p>
        </p:txBody>
      </p:sp>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E693C71B-43E7-BD36-EE65-2808BB0A9D12}"/>
                  </a:ext>
                </a:extLst>
              </p:cNvPr>
              <p:cNvSpPr txBox="1"/>
              <p:nvPr/>
            </p:nvSpPr>
            <p:spPr>
              <a:xfrm>
                <a:off x="5167616" y="6116874"/>
                <a:ext cx="739402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1800" i="1" smtClean="0">
                              <a:solidFill>
                                <a:schemeClr val="tx1"/>
                              </a:solidFill>
                              <a:latin typeface="Cambria Math" panose="02040503050406030204" pitchFamily="18" charset="0"/>
                              <a:ea typeface="Cambria Math" panose="02040503050406030204" pitchFamily="18" charset="0"/>
                            </a:rPr>
                          </m:ctrlPr>
                        </m:sSubPr>
                        <m:e>
                          <m:r>
                            <m:rPr>
                              <m:sty m:val="p"/>
                            </m:rPr>
                            <a:rPr lang="en-US" sz="1800" b="0" i="0" smtClean="0">
                              <a:solidFill>
                                <a:schemeClr val="tx1"/>
                              </a:solidFill>
                              <a:latin typeface="Cambria Math" panose="02040503050406030204" pitchFamily="18" charset="0"/>
                              <a:ea typeface="Cambria Math" panose="02040503050406030204" pitchFamily="18" charset="0"/>
                            </a:rPr>
                            <m:t>Γ</m:t>
                          </m:r>
                        </m:e>
                        <m:sub>
                          <m:r>
                            <m:rPr>
                              <m:sty m:val="p"/>
                            </m:rPr>
                            <a:rPr lang="en-US" sz="1800" b="0" i="0" smtClean="0">
                              <a:solidFill>
                                <a:schemeClr val="tx1"/>
                              </a:solidFill>
                              <a:latin typeface="Cambria Math" panose="02040503050406030204" pitchFamily="18" charset="0"/>
                              <a:ea typeface="Cambria Math" panose="02040503050406030204" pitchFamily="18" charset="0"/>
                            </a:rPr>
                            <m:t>Cas</m:t>
                          </m:r>
                        </m:sub>
                      </m:sSub>
                      <m:r>
                        <a:rPr lang="en-US" sz="1800" b="0" i="0" smtClean="0">
                          <a:solidFill>
                            <a:schemeClr val="tx1"/>
                          </a:solidFill>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Position</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specific</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binding</m:t>
                      </m:r>
                      <m:r>
                        <a:rPr lang="en-US">
                          <a:latin typeface="Cambria Math" panose="02040503050406030204" pitchFamily="18" charset="0"/>
                          <a:ea typeface="Cambria Math" panose="02040503050406030204" pitchFamily="18" charset="0"/>
                        </a:rPr>
                        <m:t> </m:t>
                      </m:r>
                      <m:r>
                        <m:rPr>
                          <m:sty m:val="p"/>
                        </m:rPr>
                        <a:rPr lang="en-US">
                          <a:latin typeface="Cambria Math" panose="02040503050406030204" pitchFamily="18" charset="0"/>
                          <a:ea typeface="Cambria Math" panose="02040503050406030204" pitchFamily="18" charset="0"/>
                        </a:rPr>
                        <m:t>weights</m:t>
                      </m:r>
                    </m:oMath>
                  </m:oMathPara>
                </a14:m>
                <a:endParaRPr lang="en-IN">
                  <a:solidFill>
                    <a:schemeClr val="tx1"/>
                  </a:solidFill>
                </a:endParaRPr>
              </a:p>
            </p:txBody>
          </p:sp>
        </mc:Choice>
        <mc:Fallback xmlns="">
          <p:sp>
            <p:nvSpPr>
              <p:cNvPr id="64" name="TextBox 63">
                <a:extLst>
                  <a:ext uri="{FF2B5EF4-FFF2-40B4-BE49-F238E27FC236}">
                    <a16:creationId xmlns:a16="http://schemas.microsoft.com/office/drawing/2014/main" id="{E693C71B-43E7-BD36-EE65-2808BB0A9D12}"/>
                  </a:ext>
                </a:extLst>
              </p:cNvPr>
              <p:cNvSpPr txBox="1">
                <a:spLocks noRot="1" noChangeAspect="1" noMove="1" noResize="1" noEditPoints="1" noAdjustHandles="1" noChangeArrowheads="1" noChangeShapeType="1" noTextEdit="1"/>
              </p:cNvSpPr>
              <p:nvPr/>
            </p:nvSpPr>
            <p:spPr>
              <a:xfrm>
                <a:off x="5167616" y="6116874"/>
                <a:ext cx="7394026" cy="369332"/>
              </a:xfrm>
              <a:prstGeom prst="rect">
                <a:avLst/>
              </a:prstGeom>
              <a:blipFill>
                <a:blip r:embed="rId11"/>
                <a:stretch>
                  <a:fillRect b="-13115"/>
                </a:stretch>
              </a:blipFill>
            </p:spPr>
            <p:txBody>
              <a:bodyPr/>
              <a:lstStyle/>
              <a:p>
                <a:r>
                  <a:rPr lang="en-IN">
                    <a:noFill/>
                  </a:rPr>
                  <a:t> </a:t>
                </a:r>
              </a:p>
            </p:txBody>
          </p:sp>
        </mc:Fallback>
      </mc:AlternateContent>
      <p:sp>
        <p:nvSpPr>
          <p:cNvPr id="65" name="Slide Number Placeholder 64">
            <a:extLst>
              <a:ext uri="{FF2B5EF4-FFF2-40B4-BE49-F238E27FC236}">
                <a16:creationId xmlns:a16="http://schemas.microsoft.com/office/drawing/2014/main" id="{CCBC8548-C870-0FE1-8ED2-3E1E36963D89}"/>
              </a:ext>
            </a:extLst>
          </p:cNvPr>
          <p:cNvSpPr>
            <a:spLocks noGrp="1"/>
          </p:cNvSpPr>
          <p:nvPr>
            <p:ph type="sldNum" sz="quarter" idx="12"/>
          </p:nvPr>
        </p:nvSpPr>
        <p:spPr/>
        <p:txBody>
          <a:bodyPr/>
          <a:lstStyle/>
          <a:p>
            <a:fld id="{5726A261-CBDC-45C6-994B-4400E8D6835A}" type="slidenum">
              <a:rPr lang="en-IN" smtClean="0"/>
              <a:t>6</a:t>
            </a:fld>
            <a:endParaRPr lang="en-IN"/>
          </a:p>
        </p:txBody>
      </p:sp>
      <p:sp>
        <p:nvSpPr>
          <p:cNvPr id="66" name="Rectangle 65">
            <a:extLst>
              <a:ext uri="{FF2B5EF4-FFF2-40B4-BE49-F238E27FC236}">
                <a16:creationId xmlns:a16="http://schemas.microsoft.com/office/drawing/2014/main" id="{12C66B9A-E774-3960-2529-F62C8B2AE376}"/>
              </a:ext>
            </a:extLst>
          </p:cNvPr>
          <p:cNvSpPr/>
          <p:nvPr/>
        </p:nvSpPr>
        <p:spPr>
          <a:xfrm>
            <a:off x="237744" y="160438"/>
            <a:ext cx="11795760" cy="653712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892900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CE29E-3E4D-5D8C-D7D5-6701CD54C8F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6E7020E-F706-4BD7-9B87-2F02FFE62749}"/>
                  </a:ext>
                </a:extLst>
              </p:cNvPr>
              <p:cNvSpPr txBox="1"/>
              <p:nvPr/>
            </p:nvSpPr>
            <p:spPr>
              <a:xfrm>
                <a:off x="0" y="241930"/>
                <a:ext cx="12066076" cy="1068690"/>
              </a:xfrm>
              <a:prstGeom prst="rect">
                <a:avLst/>
              </a:prstGeom>
              <a:noFill/>
            </p:spPr>
            <p:txBody>
              <a:bodyPr wrap="square" rtlCol="0">
                <a:spAutoFit/>
              </a:bodyPr>
              <a:lstStyle/>
              <a:p>
                <a:pPr algn="ctr"/>
                <a:r>
                  <a:rPr lang="en-US" sz="4000" b="1">
                    <a:solidFill>
                      <a:srgbClr val="C00000"/>
                    </a:solidFill>
                  </a:rPr>
                  <a:t>Binding energy model: </a:t>
                </a:r>
                <a:r>
                  <a:rPr lang="en-US" sz="4000" b="1" i="0" u="none" strike="noStrike" baseline="0">
                    <a:solidFill>
                      <a:srgbClr val="C00000"/>
                    </a:solidFill>
                    <a:latin typeface="Aptos" panose="020B0004020202020204" pitchFamily="34" charset="0"/>
                  </a:rPr>
                  <a:t>Cas9-gRNA-DNA complex</a:t>
                </a:r>
                <a:endParaRPr lang="en-US" sz="4000" b="1">
                  <a:solidFill>
                    <a:srgbClr val="C00000"/>
                  </a:solidFill>
                </a:endParaRPr>
              </a:p>
              <a:p>
                <a:pPr algn="ctr"/>
                <a14:m>
                  <m:oMathPara xmlns:m="http://schemas.openxmlformats.org/officeDocument/2006/math">
                    <m:oMathParaPr>
                      <m:jc m:val="centerGroup"/>
                    </m:oMathParaPr>
                    <m:oMath xmlns:m="http://schemas.openxmlformats.org/officeDocument/2006/math">
                      <m:r>
                        <m:rPr>
                          <m:nor/>
                        </m:rPr>
                        <a:rPr lang="en-US" sz="2400" b="0" i="0" smtClean="0">
                          <a:solidFill>
                            <a:schemeClr val="tx1"/>
                          </a:solidFill>
                          <a:latin typeface="Cambria Math" panose="02040503050406030204" pitchFamily="18" charset="0"/>
                          <a:ea typeface="Cambria Math" panose="02040503050406030204" pitchFamily="18" charset="0"/>
                        </a:rPr>
                        <m:t>H</m:t>
                      </m:r>
                      <m:r>
                        <m:rPr>
                          <m:nor/>
                        </m:rPr>
                        <a:rPr lang="en-US" sz="2400" smtClean="0"/>
                        <m:t>ow</m:t>
                      </m:r>
                      <m:r>
                        <m:rPr>
                          <m:nor/>
                        </m:rPr>
                        <a:rPr lang="en-US" sz="2400" smtClean="0"/>
                        <m:t> </m:t>
                      </m:r>
                      <m:r>
                        <m:rPr>
                          <m:nor/>
                        </m:rPr>
                        <a:rPr lang="en-US" sz="2400" smtClean="0"/>
                        <m:t>different</m:t>
                      </m:r>
                      <m:r>
                        <m:rPr>
                          <m:nor/>
                        </m:rPr>
                        <a:rPr lang="en-US" sz="2400" smtClean="0"/>
                        <m:t> </m:t>
                      </m:r>
                      <m:r>
                        <m:rPr>
                          <m:nor/>
                        </m:rPr>
                        <a:rPr lang="en-US" sz="2400" smtClean="0"/>
                        <m:t>positions</m:t>
                      </m:r>
                      <m:r>
                        <m:rPr>
                          <m:nor/>
                        </m:rPr>
                        <a:rPr lang="en-US" sz="2400" smtClean="0"/>
                        <m:t> </m:t>
                      </m:r>
                      <m:r>
                        <m:rPr>
                          <m:nor/>
                        </m:rPr>
                        <a:rPr lang="en-US" sz="2400" smtClean="0"/>
                        <m:t>influence</m:t>
                      </m:r>
                      <m:r>
                        <m:rPr>
                          <m:nor/>
                        </m:rPr>
                        <a:rPr lang="en-US" sz="2400" smtClean="0"/>
                        <m:t> </m:t>
                      </m:r>
                      <m:r>
                        <m:rPr>
                          <m:nor/>
                        </m:rPr>
                        <a:rPr lang="en-US" sz="2400" smtClean="0"/>
                        <m:t>binding</m:t>
                      </m:r>
                      <m:r>
                        <m:rPr>
                          <m:nor/>
                        </m:rPr>
                        <a:rPr lang="en-US" sz="2400" smtClean="0"/>
                        <m:t> </m:t>
                      </m:r>
                      <m:r>
                        <m:rPr>
                          <m:nor/>
                        </m:rPr>
                        <a:rPr lang="en-US" sz="2400" smtClean="0"/>
                        <m:t>stability</m:t>
                      </m:r>
                      <m:r>
                        <m:rPr>
                          <m:nor/>
                        </m:rPr>
                        <a:rPr lang="en-US" sz="2400" b="0" i="0" smtClean="0"/>
                        <m:t> (</m:t>
                      </m:r>
                      <m:sSub>
                        <m:sSubPr>
                          <m:ctrlPr>
                            <a:rPr lang="en-US" sz="2400" i="1" smtClean="0">
                              <a:solidFill>
                                <a:schemeClr val="tx1"/>
                              </a:solidFill>
                              <a:latin typeface="Cambria Math" panose="02040503050406030204" pitchFamily="18" charset="0"/>
                              <a:ea typeface="Cambria Math" panose="02040503050406030204" pitchFamily="18" charset="0"/>
                            </a:rPr>
                          </m:ctrlPr>
                        </m:sSubPr>
                        <m:e>
                          <m:r>
                            <m:rPr>
                              <m:sty m:val="p"/>
                            </m:rPr>
                            <a:rPr lang="en-US" sz="2400" b="0" i="0" smtClean="0">
                              <a:solidFill>
                                <a:schemeClr val="tx1"/>
                              </a:solidFill>
                              <a:latin typeface="Cambria Math" panose="02040503050406030204" pitchFamily="18" charset="0"/>
                              <a:ea typeface="Cambria Math" panose="02040503050406030204" pitchFamily="18" charset="0"/>
                            </a:rPr>
                            <m:t>Γ</m:t>
                          </m:r>
                        </m:e>
                        <m:sub>
                          <m:r>
                            <m:rPr>
                              <m:sty m:val="p"/>
                            </m:rPr>
                            <a:rPr lang="en-US" sz="2400" b="0" i="0" smtClean="0">
                              <a:solidFill>
                                <a:schemeClr val="tx1"/>
                              </a:solidFill>
                              <a:latin typeface="Cambria Math" panose="02040503050406030204" pitchFamily="18" charset="0"/>
                              <a:ea typeface="Cambria Math" panose="02040503050406030204" pitchFamily="18" charset="0"/>
                            </a:rPr>
                            <m:t>Cas</m:t>
                          </m:r>
                        </m:sub>
                      </m:sSub>
                      <m:r>
                        <m:rPr>
                          <m:nor/>
                        </m:rPr>
                        <a:rPr lang="en-US" sz="2400" b="0" i="0" smtClean="0"/>
                        <m:t>)</m:t>
                      </m:r>
                    </m:oMath>
                  </m:oMathPara>
                </a14:m>
                <a:endParaRPr lang="en-IN" sz="3200" b="1">
                  <a:solidFill>
                    <a:srgbClr val="C00000"/>
                  </a:solidFill>
                </a:endParaRPr>
              </a:p>
            </p:txBody>
          </p:sp>
        </mc:Choice>
        <mc:Fallback xmlns="">
          <p:sp>
            <p:nvSpPr>
              <p:cNvPr id="11" name="TextBox 10">
                <a:extLst>
                  <a:ext uri="{FF2B5EF4-FFF2-40B4-BE49-F238E27FC236}">
                    <a16:creationId xmlns:a16="http://schemas.microsoft.com/office/drawing/2014/main" id="{B6E7020E-F706-4BD7-9B87-2F02FFE62749}"/>
                  </a:ext>
                </a:extLst>
              </p:cNvPr>
              <p:cNvSpPr txBox="1">
                <a:spLocks noRot="1" noChangeAspect="1" noMove="1" noResize="1" noEditPoints="1" noAdjustHandles="1" noChangeArrowheads="1" noChangeShapeType="1" noTextEdit="1"/>
              </p:cNvSpPr>
              <p:nvPr/>
            </p:nvSpPr>
            <p:spPr>
              <a:xfrm>
                <a:off x="0" y="241930"/>
                <a:ext cx="12066076" cy="1068690"/>
              </a:xfrm>
              <a:prstGeom prst="rect">
                <a:avLst/>
              </a:prstGeom>
              <a:blipFill>
                <a:blip r:embed="rId3"/>
                <a:stretch>
                  <a:fillRect t="-10286" b="-514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FD80AF5-AA2D-797A-F9D6-D317B70A32E1}"/>
                  </a:ext>
                </a:extLst>
              </p:cNvPr>
              <p:cNvSpPr txBox="1"/>
              <p:nvPr/>
            </p:nvSpPr>
            <p:spPr>
              <a:xfrm>
                <a:off x="447626" y="1503316"/>
                <a:ext cx="10135429" cy="370986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IN" sz="2000"/>
                  <a:t>Different effects on binding due to how Cas9 interacts with each part of the complex.</a:t>
                </a:r>
              </a:p>
              <a:p>
                <a:pPr marL="342900" indent="-342900">
                  <a:lnSpc>
                    <a:spcPct val="150000"/>
                  </a:lnSpc>
                  <a:buFont typeface="Arial" panose="020B0604020202020204" pitchFamily="34" charset="0"/>
                  <a:buChar char="•"/>
                </a:pPr>
                <a:r>
                  <a:rPr lang="en-IN" sz="2000"/>
                  <a:t>Using biochemical profiling datasets to measure kinetics of different bindings.</a:t>
                </a:r>
                <a:r>
                  <a:rPr lang="en-IN" sz="2000">
                    <a:sym typeface="Wingdings" panose="05000000000000000000" pitchFamily="2" charset="2"/>
                  </a:rPr>
                  <a:t> </a:t>
                </a:r>
                <a:r>
                  <a:rPr lang="en-US" sz="2000" b="1">
                    <a:ea typeface="Cambria Math" panose="02040503050406030204" pitchFamily="18" charset="0"/>
                  </a:rPr>
                  <a:t>	</a:t>
                </a:r>
                <a14:m>
                  <m:oMath xmlns:m="http://schemas.openxmlformats.org/officeDocument/2006/math">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𝜞</m:t>
                        </m:r>
                      </m:e>
                      <m:sub>
                        <m:r>
                          <a:rPr lang="en-US" sz="2000" b="1" i="1" smtClean="0">
                            <a:latin typeface="Cambria Math" panose="02040503050406030204" pitchFamily="18" charset="0"/>
                            <a:ea typeface="Cambria Math" panose="02040503050406030204" pitchFamily="18" charset="0"/>
                          </a:rPr>
                          <m:t>𝑪𝒂𝒔</m:t>
                        </m:r>
                        <m:r>
                          <a:rPr lang="en-US" sz="2000" b="1" i="1" smtClean="0">
                            <a:latin typeface="Cambria Math" panose="02040503050406030204" pitchFamily="18" charset="0"/>
                            <a:ea typeface="Cambria Math" panose="02040503050406030204" pitchFamily="18" charset="0"/>
                          </a:rPr>
                          <m:t>𝟗</m:t>
                        </m:r>
                      </m:sub>
                    </m:sSub>
                    <m:d>
                      <m:dPr>
                        <m:begChr m:val="["/>
                        <m:endChr m:val="]"/>
                        <m:ctrlPr>
                          <a:rPr lang="en-US" sz="2000" b="1" i="1" smtClean="0">
                            <a:latin typeface="Cambria Math" panose="02040503050406030204" pitchFamily="18" charset="0"/>
                            <a:ea typeface="Cambria Math" panose="02040503050406030204" pitchFamily="18" charset="0"/>
                          </a:rPr>
                        </m:ctrlPr>
                      </m:dPr>
                      <m:e>
                        <m:r>
                          <a:rPr lang="en-US" sz="2000" b="1" i="1" smtClean="0">
                            <a:latin typeface="Cambria Math" panose="02040503050406030204" pitchFamily="18" charset="0"/>
                            <a:ea typeface="Cambria Math" panose="02040503050406030204" pitchFamily="18" charset="0"/>
                          </a:rPr>
                          <m:t>𝒊</m:t>
                        </m:r>
                      </m:e>
                    </m:d>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𝒍𝒐</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𝒈</m:t>
                        </m:r>
                      </m:e>
                      <m:sub>
                        <m:r>
                          <a:rPr lang="en-US" sz="2000" b="1" i="1" smtClean="0">
                            <a:latin typeface="Cambria Math" panose="02040503050406030204" pitchFamily="18" charset="0"/>
                            <a:ea typeface="Cambria Math" panose="02040503050406030204" pitchFamily="18" charset="0"/>
                          </a:rPr>
                          <m:t>𝟏𝟎</m:t>
                        </m:r>
                      </m:sub>
                    </m:sSub>
                    <m:d>
                      <m:dPr>
                        <m:ctrlPr>
                          <a:rPr lang="en-US" sz="2000" b="1" i="1" smtClean="0">
                            <a:latin typeface="Cambria Math" panose="02040503050406030204" pitchFamily="18" charset="0"/>
                            <a:ea typeface="Cambria Math" panose="02040503050406030204" pitchFamily="18" charset="0"/>
                          </a:rPr>
                        </m:ctrlPr>
                      </m:dPr>
                      <m:e>
                        <m:f>
                          <m:fPr>
                            <m:ctrlPr>
                              <a:rPr lang="en-US" sz="2000" b="1" i="1" smtClean="0">
                                <a:latin typeface="Cambria Math" panose="02040503050406030204" pitchFamily="18" charset="0"/>
                                <a:ea typeface="Cambria Math" panose="02040503050406030204" pitchFamily="18" charset="0"/>
                              </a:rPr>
                            </m:ctrlPr>
                          </m:fPr>
                          <m:num>
                            <m:sSub>
                              <m:sSubPr>
                                <m:ctrlPr>
                                  <a:rPr lang="en-US" sz="2000" b="1" i="1" smtClean="0">
                                    <a:highlight>
                                      <a:srgbClr val="FFFF00"/>
                                    </a:highlight>
                                    <a:latin typeface="Cambria Math" panose="02040503050406030204" pitchFamily="18" charset="0"/>
                                    <a:ea typeface="Cambria Math" panose="02040503050406030204" pitchFamily="18" charset="0"/>
                                  </a:rPr>
                                </m:ctrlPr>
                              </m:sSubPr>
                              <m:e>
                                <m:r>
                                  <a:rPr lang="en-US" sz="2000" b="1" i="1" smtClean="0">
                                    <a:highlight>
                                      <a:srgbClr val="FFFF00"/>
                                    </a:highlight>
                                    <a:latin typeface="Cambria Math" panose="02040503050406030204" pitchFamily="18" charset="0"/>
                                    <a:ea typeface="Cambria Math" panose="02040503050406030204" pitchFamily="18" charset="0"/>
                                  </a:rPr>
                                  <m:t>𝑾</m:t>
                                </m:r>
                              </m:e>
                              <m:sub>
                                <m:r>
                                  <a:rPr lang="en-US" sz="2000" b="1" i="1" smtClean="0">
                                    <a:highlight>
                                      <a:srgbClr val="FFFF00"/>
                                    </a:highlight>
                                    <a:latin typeface="Cambria Math" panose="02040503050406030204" pitchFamily="18" charset="0"/>
                                    <a:ea typeface="Cambria Math" panose="02040503050406030204" pitchFamily="18" charset="0"/>
                                  </a:rPr>
                                  <m:t>𝒊</m:t>
                                </m:r>
                              </m:sub>
                            </m:sSub>
                          </m:num>
                          <m:den>
                            <m:func>
                              <m:funcPr>
                                <m:ctrlPr>
                                  <a:rPr lang="en-US" sz="2000" b="1" i="1" smtClean="0">
                                    <a:latin typeface="Cambria Math" panose="02040503050406030204" pitchFamily="18" charset="0"/>
                                    <a:ea typeface="Cambria Math" panose="02040503050406030204" pitchFamily="18" charset="0"/>
                                  </a:rPr>
                                </m:ctrlPr>
                              </m:funcPr>
                              <m:fName>
                                <m:r>
                                  <a:rPr lang="en-US" sz="2000" b="1">
                                    <a:latin typeface="Cambria Math" panose="02040503050406030204" pitchFamily="18" charset="0"/>
                                    <a:ea typeface="Cambria Math" panose="02040503050406030204" pitchFamily="18" charset="0"/>
                                  </a:rPr>
                                  <m:t>𝐦𝐢𝐧</m:t>
                                </m:r>
                              </m:fName>
                              <m:e>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𝑾</m:t>
                                    </m:r>
                                  </m:e>
                                  <m:sub>
                                    <m:r>
                                      <a:rPr lang="en-US" sz="2000" b="1" i="1">
                                        <a:latin typeface="Cambria Math" panose="02040503050406030204" pitchFamily="18" charset="0"/>
                                        <a:ea typeface="Cambria Math" panose="02040503050406030204" pitchFamily="18" charset="0"/>
                                      </a:rPr>
                                      <m:t>𝟏</m:t>
                                    </m:r>
                                  </m:sub>
                                </m:sSub>
                                <m:r>
                                  <a:rPr lang="en-US" sz="2000" b="1" i="1">
                                    <a:latin typeface="Cambria Math" panose="02040503050406030204" pitchFamily="18" charset="0"/>
                                    <a:ea typeface="Cambria Math" panose="02040503050406030204" pitchFamily="18" charset="0"/>
                                  </a:rPr>
                                  <m:t>….</m:t>
                                </m:r>
                                <m:sSub>
                                  <m:sSubPr>
                                    <m:ctrlPr>
                                      <a:rPr lang="en-US" sz="2000" b="1" i="1">
                                        <a:latin typeface="Cambria Math" panose="02040503050406030204" pitchFamily="18" charset="0"/>
                                        <a:ea typeface="Cambria Math" panose="02040503050406030204" pitchFamily="18" charset="0"/>
                                      </a:rPr>
                                    </m:ctrlPr>
                                  </m:sSubPr>
                                  <m:e>
                                    <m:r>
                                      <a:rPr lang="en-US" sz="2000" b="1" i="1">
                                        <a:latin typeface="Cambria Math" panose="02040503050406030204" pitchFamily="18" charset="0"/>
                                        <a:ea typeface="Cambria Math" panose="02040503050406030204" pitchFamily="18" charset="0"/>
                                      </a:rPr>
                                      <m:t>𝑾</m:t>
                                    </m:r>
                                  </m:e>
                                  <m:sub>
                                    <m:r>
                                      <a:rPr lang="en-US" sz="2000" b="1" i="1">
                                        <a:latin typeface="Cambria Math" panose="02040503050406030204" pitchFamily="18" charset="0"/>
                                        <a:ea typeface="Cambria Math" panose="02040503050406030204" pitchFamily="18" charset="0"/>
                                      </a:rPr>
                                      <m:t>𝟏𝟗</m:t>
                                    </m:r>
                                  </m:sub>
                                </m:sSub>
                              </m:e>
                            </m:func>
                          </m:den>
                        </m:f>
                      </m:e>
                    </m:d>
                    <m:r>
                      <a:rPr lang="en-US" sz="2000" b="1" i="1" smtClean="0">
                        <a:latin typeface="Cambria Math" panose="02040503050406030204" pitchFamily="18" charset="0"/>
                        <a:ea typeface="Cambria Math" panose="02040503050406030204" pitchFamily="18" charset="0"/>
                      </a:rPr>
                      <m:t>+</m:t>
                    </m:r>
                    <m:r>
                      <a:rPr lang="en-US" sz="2000" b="1" i="1" smtClean="0">
                        <a:latin typeface="Cambria Math" panose="02040503050406030204" pitchFamily="18" charset="0"/>
                        <a:ea typeface="Cambria Math" panose="02040503050406030204" pitchFamily="18" charset="0"/>
                      </a:rPr>
                      <m:t>𝟏</m:t>
                    </m:r>
                  </m:oMath>
                </a14:m>
                <a:endParaRPr lang="en-US" sz="2000" b="1">
                  <a:ea typeface="Cambria Math" panose="02040503050406030204" pitchFamily="18" charset="0"/>
                </a:endParaRPr>
              </a:p>
              <a:p>
                <a:pPr>
                  <a:lnSpc>
                    <a:spcPct val="150000"/>
                  </a:lnSpc>
                </a:pPr>
                <a:r>
                  <a:rPr lang="en-US" sz="2000" b="0"/>
                  <a:t>	</a:t>
                </a:r>
                <a14:m>
                  <m:oMath xmlns:m="http://schemas.openxmlformats.org/officeDocument/2006/math">
                    <m:sSub>
                      <m:sSubPr>
                        <m:ctrlPr>
                          <a:rPr lang="en-US" sz="2000" b="0" i="1" smtClean="0">
                            <a:highlight>
                              <a:srgbClr val="FFFF00"/>
                            </a:highlight>
                            <a:latin typeface="Cambria Math" panose="02040503050406030204" pitchFamily="18" charset="0"/>
                          </a:rPr>
                        </m:ctrlPr>
                      </m:sSubPr>
                      <m:e>
                        <m:r>
                          <a:rPr lang="en-US" sz="2000" b="0" i="1" smtClean="0">
                            <a:highlight>
                              <a:srgbClr val="FFFF00"/>
                            </a:highlight>
                            <a:latin typeface="Cambria Math" panose="02040503050406030204" pitchFamily="18" charset="0"/>
                          </a:rPr>
                          <m:t>𝑊</m:t>
                        </m:r>
                      </m:e>
                      <m:sub>
                        <m:r>
                          <a:rPr lang="en-US" sz="2000" b="0" i="1" smtClean="0">
                            <a:highlight>
                              <a:srgbClr val="FFFF00"/>
                            </a:highlight>
                            <a:latin typeface="Cambria Math" panose="02040503050406030204" pitchFamily="18" charset="0"/>
                          </a:rPr>
                          <m:t>𝑖</m:t>
                        </m:r>
                      </m:sub>
                    </m:sSub>
                    <m:r>
                      <a:rPr lang="en-US" sz="2000" b="0" i="1" smtClean="0">
                        <a:latin typeface="Cambria Math" panose="02040503050406030204" pitchFamily="18" charset="0"/>
                      </a:rPr>
                      <m:t>=</m:t>
                    </m:r>
                    <m:nary>
                      <m:naryPr>
                        <m:chr m:val="∑"/>
                        <m:ctrlPr>
                          <a:rPr lang="en-US" sz="2000" i="1">
                            <a:latin typeface="Cambria Math" panose="02040503050406030204" pitchFamily="18" charset="0"/>
                            <a:ea typeface="Cambria Math" panose="02040503050406030204" pitchFamily="18" charset="0"/>
                          </a:rPr>
                        </m:ctrlPr>
                      </m:naryPr>
                      <m:sub>
                        <m:r>
                          <a:rPr lang="en-US" sz="2000" b="0" i="1" smtClean="0">
                            <a:latin typeface="Cambria Math" panose="02040503050406030204" pitchFamily="18" charset="0"/>
                            <a:ea typeface="Cambria Math" panose="02040503050406030204" pitchFamily="18" charset="0"/>
                          </a:rPr>
                          <m:t>𝑛</m:t>
                        </m:r>
                        <m:r>
                          <a:rPr lang="en-US" sz="2000" i="1">
                            <a:latin typeface="Cambria Math" panose="02040503050406030204" pitchFamily="18" charset="0"/>
                            <a:ea typeface="Cambria Math" panose="02040503050406030204" pitchFamily="18" charset="0"/>
                          </a:rPr>
                          <m:t>=1</m:t>
                        </m:r>
                      </m:sub>
                      <m:sup>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𝑂</m:t>
                        </m:r>
                        <m:r>
                          <a:rPr lang="en-US" sz="2000" b="0" i="1" smtClean="0">
                            <a:latin typeface="Cambria Math" panose="02040503050406030204" pitchFamily="18" charset="0"/>
                            <a:ea typeface="Cambria Math" panose="02040503050406030204" pitchFamily="18" charset="0"/>
                          </a:rPr>
                          <m:t>|</m:t>
                        </m:r>
                      </m:sup>
                      <m:e>
                        <m:acc>
                          <m:accPr>
                            <m:chr m:val="̃"/>
                            <m:ctrlPr>
                              <a:rPr lang="en-US" sz="2000" b="0" i="1" smtClean="0">
                                <a:solidFill>
                                  <a:srgbClr val="C00000"/>
                                </a:solidFill>
                                <a:latin typeface="Cambria Math" panose="02040503050406030204" pitchFamily="18" charset="0"/>
                                <a:ea typeface="Cambria Math" panose="02040503050406030204" pitchFamily="18" charset="0"/>
                              </a:rPr>
                            </m:ctrlPr>
                          </m:accPr>
                          <m:e>
                            <m:sSub>
                              <m:sSubPr>
                                <m:ctrlPr>
                                  <a:rPr lang="en-US" sz="2000" b="0" i="1" smtClean="0">
                                    <a:solidFill>
                                      <a:srgbClr val="C00000"/>
                                    </a:solidFill>
                                    <a:latin typeface="Cambria Math" panose="02040503050406030204" pitchFamily="18" charset="0"/>
                                    <a:ea typeface="Cambria Math" panose="02040503050406030204" pitchFamily="18" charset="0"/>
                                  </a:rPr>
                                </m:ctrlPr>
                              </m:sSubPr>
                              <m:e>
                                <m:r>
                                  <a:rPr lang="en-US" sz="2000" b="0" i="1" smtClean="0">
                                    <a:solidFill>
                                      <a:srgbClr val="C00000"/>
                                    </a:solidFill>
                                    <a:latin typeface="Cambria Math" panose="02040503050406030204" pitchFamily="18" charset="0"/>
                                    <a:ea typeface="Cambria Math" panose="02040503050406030204" pitchFamily="18" charset="0"/>
                                  </a:rPr>
                                  <m:t>𝑎</m:t>
                                </m:r>
                              </m:e>
                              <m:sub>
                                <m:r>
                                  <a:rPr lang="en-US" sz="2000" b="0" i="1" smtClean="0">
                                    <a:solidFill>
                                      <a:srgbClr val="C00000"/>
                                    </a:solidFill>
                                    <a:latin typeface="Cambria Math" panose="02040503050406030204" pitchFamily="18" charset="0"/>
                                    <a:ea typeface="Cambria Math" panose="02040503050406030204" pitchFamily="18" charset="0"/>
                                  </a:rPr>
                                  <m:t>𝑛</m:t>
                                </m:r>
                              </m:sub>
                            </m:sSub>
                          </m:e>
                        </m:acc>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ea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𝐺</m:t>
                            </m:r>
                          </m:e>
                          <m:sub>
                            <m:acc>
                              <m:accPr>
                                <m:chr m:val="̃"/>
                                <m:ctrlPr>
                                  <a:rPr lang="en-US" sz="2000" b="0" i="1" smtClean="0">
                                    <a:latin typeface="Cambria Math" panose="02040503050406030204" pitchFamily="18" charset="0"/>
                                    <a:ea typeface="Cambria Math" panose="02040503050406030204" pitchFamily="18" charset="0"/>
                                  </a:rPr>
                                </m:ctrlPr>
                              </m:accPr>
                              <m:e>
                                <m:r>
                                  <a:rPr lang="en-US" sz="2000" b="0" i="1" smtClean="0">
                                    <a:latin typeface="Cambria Math" panose="02040503050406030204" pitchFamily="18" charset="0"/>
                                    <a:ea typeface="Cambria Math" panose="02040503050406030204" pitchFamily="18" charset="0"/>
                                  </a:rPr>
                                  <m:t>𝑔</m:t>
                                </m:r>
                              </m:e>
                            </m:acc>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+1</m:t>
                                </m:r>
                              </m:e>
                            </m:d>
                            <m:r>
                              <a:rPr lang="en-US" sz="2000" i="1">
                                <a:latin typeface="Cambria Math" panose="02040503050406030204" pitchFamily="18" charset="0"/>
                                <a:ea typeface="Cambria Math" panose="02040503050406030204" pitchFamily="18" charset="0"/>
                              </a:rPr>
                              <m:t>:</m:t>
                            </m:r>
                            <m:acc>
                              <m:accPr>
                                <m:chr m:val="̃"/>
                                <m:ctrlPr>
                                  <a:rPr lang="en-US" sz="2000" b="0" i="1" smtClean="0">
                                    <a:latin typeface="Cambria Math" panose="02040503050406030204" pitchFamily="18" charset="0"/>
                                    <a:ea typeface="Cambria Math" panose="02040503050406030204" pitchFamily="18" charset="0"/>
                                  </a:rPr>
                                </m:ctrlPr>
                              </m:accPr>
                              <m:e>
                                <m:sSub>
                                  <m:sSubPr>
                                    <m:ctrlPr>
                                      <a:rPr lang="en-US" sz="2000" b="0" i="1" smtClean="0">
                                        <a:latin typeface="Cambria Math" panose="02040503050406030204" pitchFamily="18" charset="0"/>
                                        <a:ea typeface="Cambria Math" panose="02040503050406030204" pitchFamily="18" charset="0"/>
                                      </a:rPr>
                                    </m:ctrlPr>
                                  </m:sSubPr>
                                  <m:e>
                                    <m:r>
                                      <a:rPr lang="en-US" sz="2000" b="0" i="1" smtClean="0">
                                        <a:latin typeface="Cambria Math" panose="02040503050406030204" pitchFamily="18" charset="0"/>
                                        <a:ea typeface="Cambria Math" panose="02040503050406030204" pitchFamily="18" charset="0"/>
                                      </a:rPr>
                                      <m:t>𝑜</m:t>
                                    </m:r>
                                  </m:e>
                                  <m:sub>
                                    <m:r>
                                      <a:rPr lang="en-US" sz="2000" b="0" i="1" smtClean="0">
                                        <a:latin typeface="Cambria Math" panose="02040503050406030204" pitchFamily="18" charset="0"/>
                                        <a:ea typeface="Cambria Math" panose="02040503050406030204" pitchFamily="18" charset="0"/>
                                      </a:rPr>
                                      <m:t>𝑛</m:t>
                                    </m:r>
                                  </m:sub>
                                </m:sSub>
                              </m:e>
                            </m:acc>
                            <m:d>
                              <m:dPr>
                                <m:begChr m:val="["/>
                                <m:endChr m:val="]"/>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𝑖</m:t>
                                </m:r>
                                <m:r>
                                  <a:rPr lang="en-US" sz="2000" i="1">
                                    <a:latin typeface="Cambria Math" panose="02040503050406030204" pitchFamily="18" charset="0"/>
                                    <a:ea typeface="Cambria Math" panose="02040503050406030204" pitchFamily="18" charset="0"/>
                                  </a:rPr>
                                  <m:t>+1</m:t>
                                </m:r>
                              </m:e>
                            </m:d>
                          </m:sub>
                          <m:sup>
                            <m:r>
                              <a:rPr lang="en-US" sz="2000" i="1">
                                <a:latin typeface="Cambria Math" panose="02040503050406030204" pitchFamily="18" charset="0"/>
                                <a:ea typeface="Cambria Math" panose="02040503050406030204" pitchFamily="18" charset="0"/>
                              </a:rPr>
                              <m:t>𝑅𝑁𝐴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𝐷𝑁𝐴</m:t>
                            </m:r>
                          </m:sup>
                        </m:sSubSup>
                      </m:e>
                    </m:nary>
                  </m:oMath>
                </a14:m>
                <a:r>
                  <a:rPr lang="en-IN" sz="2000"/>
                  <a:t>        (</a:t>
                </a:r>
                <a14:m>
                  <m:oMath xmlns:m="http://schemas.openxmlformats.org/officeDocument/2006/math">
                    <m:r>
                      <a:rPr lang="en-US" sz="2000" b="0" i="1" smtClean="0">
                        <a:latin typeface="Cambria Math" panose="02040503050406030204" pitchFamily="18" charset="0"/>
                      </a:rPr>
                      <m:t>1</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𝑖</m:t>
                    </m:r>
                    <m:r>
                      <a:rPr lang="en-US" sz="2000" b="0" i="1" smtClean="0">
                        <a:latin typeface="Cambria Math" panose="02040503050406030204" pitchFamily="18" charset="0"/>
                        <a:ea typeface="Cambria Math" panose="02040503050406030204" pitchFamily="18" charset="0"/>
                      </a:rPr>
                      <m:t>≤19</m:t>
                    </m:r>
                  </m:oMath>
                </a14:m>
                <a:r>
                  <a:rPr lang="en-IN" sz="2000"/>
                  <a:t>)</a:t>
                </a:r>
              </a:p>
              <a:p>
                <a:pPr marL="342900" indent="-342900">
                  <a:lnSpc>
                    <a:spcPct val="150000"/>
                  </a:lnSpc>
                  <a:buFont typeface="Arial" panose="020B0604020202020204" pitchFamily="34" charset="0"/>
                  <a:buChar char="•"/>
                </a:pPr>
                <a:endParaRPr lang="en-IN" sz="2000">
                  <a:sym typeface="Wingdings" panose="05000000000000000000" pitchFamily="2" charset="2"/>
                </a:endParaRPr>
              </a:p>
              <a:p>
                <a:pPr>
                  <a:lnSpc>
                    <a:spcPct val="150000"/>
                  </a:lnSpc>
                </a:pPr>
                <a:endParaRPr lang="en-IN" sz="2000"/>
              </a:p>
              <a:p>
                <a:pPr>
                  <a:lnSpc>
                    <a:spcPct val="150000"/>
                  </a:lnSpc>
                </a:pPr>
                <a:endParaRPr lang="en-IN" sz="2000"/>
              </a:p>
            </p:txBody>
          </p:sp>
        </mc:Choice>
        <mc:Fallback xmlns="">
          <p:sp>
            <p:nvSpPr>
              <p:cNvPr id="5" name="TextBox 4">
                <a:extLst>
                  <a:ext uri="{FF2B5EF4-FFF2-40B4-BE49-F238E27FC236}">
                    <a16:creationId xmlns:a16="http://schemas.microsoft.com/office/drawing/2014/main" id="{CFD80AF5-AA2D-797A-F9D6-D317B70A32E1}"/>
                  </a:ext>
                </a:extLst>
              </p:cNvPr>
              <p:cNvSpPr txBox="1">
                <a:spLocks noRot="1" noChangeAspect="1" noMove="1" noResize="1" noEditPoints="1" noAdjustHandles="1" noChangeArrowheads="1" noChangeShapeType="1" noTextEdit="1"/>
              </p:cNvSpPr>
              <p:nvPr/>
            </p:nvSpPr>
            <p:spPr>
              <a:xfrm>
                <a:off x="447626" y="1503316"/>
                <a:ext cx="10135429" cy="3709862"/>
              </a:xfrm>
              <a:prstGeom prst="rect">
                <a:avLst/>
              </a:prstGeom>
              <a:blipFill>
                <a:blip r:embed="rId4"/>
                <a:stretch>
                  <a:fillRect l="-54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C09CD8E-F790-EBBA-BD12-2498E5E50192}"/>
                  </a:ext>
                </a:extLst>
              </p:cNvPr>
              <p:cNvSpPr txBox="1"/>
              <p:nvPr/>
            </p:nvSpPr>
            <p:spPr>
              <a:xfrm>
                <a:off x="2087665" y="3822256"/>
                <a:ext cx="1202248" cy="954107"/>
              </a:xfrm>
              <a:prstGeom prst="rect">
                <a:avLst/>
              </a:prstGeom>
              <a:noFill/>
            </p:spPr>
            <p:txBody>
              <a:bodyPr wrap="square">
                <a:spAutoFit/>
              </a:bodyPr>
              <a:lstStyle/>
              <a:p>
                <a:r>
                  <a:rPr lang="en-US" altLang="en-US" sz="1400">
                    <a:solidFill>
                      <a:srgbClr val="C00000"/>
                    </a:solidFill>
                  </a:rPr>
                  <a:t>association rate for off-target </a:t>
                </a:r>
                <a14:m>
                  <m:oMath xmlns:m="http://schemas.openxmlformats.org/officeDocument/2006/math">
                    <m:acc>
                      <m:accPr>
                        <m:chr m:val="̃"/>
                        <m:ctrlPr>
                          <a:rPr lang="en-US" sz="1400" i="1">
                            <a:solidFill>
                              <a:srgbClr val="C00000"/>
                            </a:solidFill>
                            <a:latin typeface="Cambria Math" panose="02040503050406030204" pitchFamily="18" charset="0"/>
                            <a:ea typeface="Cambria Math" panose="02040503050406030204" pitchFamily="18" charset="0"/>
                          </a:rPr>
                        </m:ctrlPr>
                      </m:accPr>
                      <m:e>
                        <m:sSub>
                          <m:sSubPr>
                            <m:ctrlPr>
                              <a:rPr lang="en-US" sz="1400" i="1">
                                <a:solidFill>
                                  <a:srgbClr val="C00000"/>
                                </a:solidFill>
                                <a:latin typeface="Cambria Math" panose="02040503050406030204" pitchFamily="18" charset="0"/>
                                <a:ea typeface="Cambria Math" panose="02040503050406030204" pitchFamily="18" charset="0"/>
                              </a:rPr>
                            </m:ctrlPr>
                          </m:sSubPr>
                          <m:e>
                            <m:r>
                              <a:rPr lang="en-US" sz="1400" b="0" i="1" smtClean="0">
                                <a:solidFill>
                                  <a:srgbClr val="C00000"/>
                                </a:solidFill>
                                <a:latin typeface="Cambria Math" panose="02040503050406030204" pitchFamily="18" charset="0"/>
                                <a:ea typeface="Cambria Math" panose="02040503050406030204" pitchFamily="18" charset="0"/>
                              </a:rPr>
                              <m:t>𝑜</m:t>
                            </m:r>
                          </m:e>
                          <m:sub>
                            <m:r>
                              <a:rPr lang="en-US" sz="1400" i="1">
                                <a:solidFill>
                                  <a:srgbClr val="C00000"/>
                                </a:solidFill>
                                <a:latin typeface="Cambria Math" panose="02040503050406030204" pitchFamily="18" charset="0"/>
                                <a:ea typeface="Cambria Math" panose="02040503050406030204" pitchFamily="18" charset="0"/>
                              </a:rPr>
                              <m:t>𝑛</m:t>
                            </m:r>
                          </m:sub>
                        </m:sSub>
                      </m:e>
                    </m:acc>
                  </m:oMath>
                </a14:m>
                <a:endParaRPr lang="en-IN" sz="1400">
                  <a:solidFill>
                    <a:srgbClr val="C00000"/>
                  </a:solidFill>
                </a:endParaRPr>
              </a:p>
              <a:p>
                <a:endParaRPr lang="en-IN" sz="1400"/>
              </a:p>
            </p:txBody>
          </p:sp>
        </mc:Choice>
        <mc:Fallback xmlns="">
          <p:sp>
            <p:nvSpPr>
              <p:cNvPr id="7" name="TextBox 6">
                <a:extLst>
                  <a:ext uri="{FF2B5EF4-FFF2-40B4-BE49-F238E27FC236}">
                    <a16:creationId xmlns:a16="http://schemas.microsoft.com/office/drawing/2014/main" id="{9C09CD8E-F790-EBBA-BD12-2498E5E50192}"/>
                  </a:ext>
                </a:extLst>
              </p:cNvPr>
              <p:cNvSpPr txBox="1">
                <a:spLocks noRot="1" noChangeAspect="1" noMove="1" noResize="1" noEditPoints="1" noAdjustHandles="1" noChangeArrowheads="1" noChangeShapeType="1" noTextEdit="1"/>
              </p:cNvSpPr>
              <p:nvPr/>
            </p:nvSpPr>
            <p:spPr>
              <a:xfrm>
                <a:off x="2087665" y="3822256"/>
                <a:ext cx="1202248" cy="954107"/>
              </a:xfrm>
              <a:prstGeom prst="rect">
                <a:avLst/>
              </a:prstGeom>
              <a:blipFill>
                <a:blip r:embed="rId5"/>
                <a:stretch>
                  <a:fillRect l="-1515" t="-1274" r="-10101"/>
                </a:stretch>
              </a:blipFill>
            </p:spPr>
            <p:txBody>
              <a:bodyPr/>
              <a:lstStyle/>
              <a:p>
                <a:r>
                  <a:rPr lang="en-IN">
                    <a:noFill/>
                  </a:rPr>
                  <a:t> </a:t>
                </a:r>
              </a:p>
            </p:txBody>
          </p:sp>
        </mc:Fallback>
      </mc:AlternateContent>
      <p:sp>
        <p:nvSpPr>
          <p:cNvPr id="13" name="Rectangle 3">
            <a:extLst>
              <a:ext uri="{FF2B5EF4-FFF2-40B4-BE49-F238E27FC236}">
                <a16:creationId xmlns:a16="http://schemas.microsoft.com/office/drawing/2014/main" id="{DB2C58C9-3B19-AB86-50B9-F6054913684D}"/>
              </a:ext>
            </a:extLst>
          </p:cNvPr>
          <p:cNvSpPr>
            <a:spLocks noChangeArrowheads="1"/>
          </p:cNvSpPr>
          <p:nvPr/>
        </p:nvSpPr>
        <p:spPr bwMode="auto">
          <a:xfrm>
            <a:off x="-4490357" y="3914589"/>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1021E3BC-A96C-05AB-9173-8D2DFF676CF5}"/>
                  </a:ext>
                </a:extLst>
              </p:cNvPr>
              <p:cNvSpPr txBox="1"/>
              <p:nvPr/>
            </p:nvSpPr>
            <p:spPr>
              <a:xfrm>
                <a:off x="3289913" y="3822256"/>
                <a:ext cx="2524040" cy="738664"/>
              </a:xfrm>
              <a:prstGeom prst="rect">
                <a:avLst/>
              </a:prstGeom>
              <a:noFill/>
            </p:spPr>
            <p:txBody>
              <a:bodyPr wrap="square">
                <a:spAutoFit/>
              </a:bodyPr>
              <a:lstStyle/>
              <a:p>
                <a:r>
                  <a:rPr kumimoji="0" lang="en-US" altLang="en-US" sz="1400" b="0" i="0" u="none" strike="noStrike" cap="none" normalizeH="0" baseline="0">
                    <a:ln>
                      <a:noFill/>
                    </a:ln>
                    <a:solidFill>
                      <a:schemeClr val="tx1"/>
                    </a:solidFill>
                    <a:effectLst/>
                  </a:rPr>
                  <a:t>Energy contribution for stacking base-pairs at position </a:t>
                </a:r>
                <a14:m>
                  <m:oMath xmlns:m="http://schemas.openxmlformats.org/officeDocument/2006/math">
                    <m:r>
                      <a:rPr kumimoji="0" lang="en-US" altLang="en-US" sz="1400" b="0" i="1" u="none" strike="noStrike" cap="none" normalizeH="0" baseline="0" smtClean="0">
                        <a:ln>
                          <a:noFill/>
                        </a:ln>
                        <a:solidFill>
                          <a:schemeClr val="tx1"/>
                        </a:solidFill>
                        <a:effectLst/>
                        <a:latin typeface="Cambria Math" panose="02040503050406030204" pitchFamily="18" charset="0"/>
                      </a:rPr>
                      <m:t>𝑖</m:t>
                    </m:r>
                  </m:oMath>
                </a14:m>
                <a:r>
                  <a:rPr kumimoji="0" lang="en-US" altLang="en-US" sz="1400" b="0" i="0" u="none" strike="noStrike" cap="none" normalizeH="0" baseline="0">
                    <a:ln>
                      <a:noFill/>
                    </a:ln>
                    <a:solidFill>
                      <a:schemeClr val="tx1"/>
                    </a:solidFill>
                    <a:effectLst/>
                  </a:rPr>
                  <a:t> and </a:t>
                </a:r>
                <a14:m>
                  <m:oMath xmlns:m="http://schemas.openxmlformats.org/officeDocument/2006/math">
                    <m:r>
                      <a:rPr kumimoji="0" lang="en-US" altLang="en-US" sz="1400" b="0" i="1" u="none" strike="noStrike" cap="none" normalizeH="0" baseline="0" smtClean="0">
                        <a:ln>
                          <a:noFill/>
                        </a:ln>
                        <a:solidFill>
                          <a:schemeClr val="tx1"/>
                        </a:solidFill>
                        <a:effectLst/>
                        <a:latin typeface="Cambria Math" panose="02040503050406030204" pitchFamily="18" charset="0"/>
                      </a:rPr>
                      <m:t>𝑖</m:t>
                    </m:r>
                    <m:r>
                      <a:rPr kumimoji="0" lang="en-US" altLang="en-US" sz="1400" b="0" i="1" u="none" strike="noStrike" cap="none" normalizeH="0" baseline="0" smtClean="0">
                        <a:ln>
                          <a:noFill/>
                        </a:ln>
                        <a:solidFill>
                          <a:schemeClr val="tx1"/>
                        </a:solidFill>
                        <a:effectLst/>
                        <a:latin typeface="Cambria Math" panose="02040503050406030204" pitchFamily="18" charset="0"/>
                      </a:rPr>
                      <m:t>+1</m:t>
                    </m:r>
                  </m:oMath>
                </a14:m>
                <a:r>
                  <a:rPr kumimoji="0" lang="en-US" altLang="en-US" sz="1400" b="0" i="0" u="none" strike="noStrike" cap="none" normalizeH="0" baseline="0">
                    <a:ln>
                      <a:noFill/>
                    </a:ln>
                    <a:solidFill>
                      <a:schemeClr val="tx1"/>
                    </a:solidFill>
                    <a:effectLst/>
                  </a:rPr>
                  <a:t> </a:t>
                </a:r>
              </a:p>
            </p:txBody>
          </p:sp>
        </mc:Choice>
        <mc:Fallback xmlns="">
          <p:sp>
            <p:nvSpPr>
              <p:cNvPr id="19" name="TextBox 18">
                <a:extLst>
                  <a:ext uri="{FF2B5EF4-FFF2-40B4-BE49-F238E27FC236}">
                    <a16:creationId xmlns:a16="http://schemas.microsoft.com/office/drawing/2014/main" id="{1021E3BC-A96C-05AB-9173-8D2DFF676CF5}"/>
                  </a:ext>
                </a:extLst>
              </p:cNvPr>
              <p:cNvSpPr txBox="1">
                <a:spLocks noRot="1" noChangeAspect="1" noMove="1" noResize="1" noEditPoints="1" noAdjustHandles="1" noChangeArrowheads="1" noChangeShapeType="1" noTextEdit="1"/>
              </p:cNvSpPr>
              <p:nvPr/>
            </p:nvSpPr>
            <p:spPr>
              <a:xfrm>
                <a:off x="3289913" y="3822256"/>
                <a:ext cx="2524040" cy="738664"/>
              </a:xfrm>
              <a:prstGeom prst="rect">
                <a:avLst/>
              </a:prstGeom>
              <a:blipFill>
                <a:blip r:embed="rId6"/>
                <a:stretch>
                  <a:fillRect l="-725" t="-1653" b="-8264"/>
                </a:stretch>
              </a:blipFill>
            </p:spPr>
            <p:txBody>
              <a:bodyPr/>
              <a:lstStyle/>
              <a:p>
                <a:r>
                  <a:rPr lang="en-IN">
                    <a:noFill/>
                  </a:rPr>
                  <a:t> </a:t>
                </a:r>
              </a:p>
            </p:txBody>
          </p:sp>
        </mc:Fallback>
      </mc:AlternateContent>
      <p:sp>
        <p:nvSpPr>
          <p:cNvPr id="23" name="TextBox 22">
            <a:extLst>
              <a:ext uri="{FF2B5EF4-FFF2-40B4-BE49-F238E27FC236}">
                <a16:creationId xmlns:a16="http://schemas.microsoft.com/office/drawing/2014/main" id="{C76826A1-F74A-A0BB-4A15-B15421B5196C}"/>
              </a:ext>
            </a:extLst>
          </p:cNvPr>
          <p:cNvSpPr txBox="1"/>
          <p:nvPr/>
        </p:nvSpPr>
        <p:spPr>
          <a:xfrm>
            <a:off x="6033038" y="2684207"/>
            <a:ext cx="8357016" cy="369332"/>
          </a:xfrm>
          <a:prstGeom prst="rect">
            <a:avLst/>
          </a:prstGeom>
          <a:noFill/>
        </p:spPr>
        <p:txBody>
          <a:bodyPr wrap="square">
            <a:spAutoFit/>
          </a:bodyPr>
          <a:lstStyle/>
          <a:p>
            <a:r>
              <a:rPr lang="en-US" altLang="en-US"/>
              <a:t>H</a:t>
            </a:r>
            <a:r>
              <a:rPr kumimoji="0" lang="en-US" altLang="en-US" b="0" i="0" u="none" strike="noStrike" cap="none" normalizeH="0" baseline="0">
                <a:ln>
                  <a:noFill/>
                </a:ln>
                <a:solidFill>
                  <a:schemeClr val="tx1"/>
                </a:solidFill>
                <a:effectLst/>
              </a:rPr>
              <a:t>ighlight </a:t>
            </a:r>
            <a:r>
              <a:rPr kumimoji="0" lang="en-US" altLang="en-US" b="1" i="0" u="none" strike="noStrike" cap="none" normalizeH="0" baseline="0">
                <a:ln>
                  <a:noFill/>
                </a:ln>
                <a:solidFill>
                  <a:schemeClr val="tx1"/>
                </a:solidFill>
                <a:effectLst/>
              </a:rPr>
              <a:t>relative positional importance</a:t>
            </a:r>
            <a:r>
              <a:rPr kumimoji="0" lang="en-US" altLang="en-US" b="0" i="0" u="none" strike="noStrike" cap="none" normalizeH="0" baseline="0">
                <a:ln>
                  <a:noFill/>
                </a:ln>
                <a:solidFill>
                  <a:schemeClr val="tx1"/>
                </a:solidFill>
                <a:effectLst/>
              </a:rPr>
              <a:t> effectively.</a:t>
            </a:r>
            <a:endParaRPr lang="en-IN"/>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FC8A41B-2BAF-D003-E608-2CBACC153F64}"/>
                  </a:ext>
                </a:extLst>
              </p:cNvPr>
              <p:cNvSpPr txBox="1"/>
              <p:nvPr/>
            </p:nvSpPr>
            <p:spPr>
              <a:xfrm>
                <a:off x="447626" y="4598594"/>
                <a:ext cx="9406328" cy="971292"/>
              </a:xfrm>
              <a:prstGeom prst="rect">
                <a:avLst/>
              </a:prstGeom>
              <a:noFill/>
            </p:spPr>
            <p:txBody>
              <a:bodyPr wrap="square">
                <a:spAutoFit/>
              </a:bodyPr>
              <a:lstStyle/>
              <a:p>
                <a:pPr marL="342900" indent="-342900">
                  <a:lnSpc>
                    <a:spcPct val="150000"/>
                  </a:lnSpc>
                  <a:buFont typeface="Arial" panose="020B0604020202020204" pitchFamily="34" charset="0"/>
                  <a:buChar char="•"/>
                </a:pPr>
                <a14:m>
                  <m:oMath xmlns:m="http://schemas.openxmlformats.org/officeDocument/2006/math">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𝜞</m:t>
                        </m:r>
                      </m:e>
                      <m:sub>
                        <m:r>
                          <a:rPr lang="en-US" sz="2000" b="1" i="1" smtClean="0">
                            <a:latin typeface="Cambria Math" panose="02040503050406030204" pitchFamily="18" charset="0"/>
                            <a:ea typeface="Cambria Math" panose="02040503050406030204" pitchFamily="18" charset="0"/>
                          </a:rPr>
                          <m:t>𝑪𝒂𝒔</m:t>
                        </m:r>
                        <m:r>
                          <a:rPr lang="en-US" sz="2000" b="1" i="1" smtClean="0">
                            <a:latin typeface="Cambria Math" panose="02040503050406030204" pitchFamily="18" charset="0"/>
                            <a:ea typeface="Cambria Math" panose="02040503050406030204" pitchFamily="18" charset="0"/>
                          </a:rPr>
                          <m:t>𝟗</m:t>
                        </m:r>
                      </m:sub>
                    </m:sSub>
                  </m:oMath>
                </a14:m>
                <a:r>
                  <a:rPr lang="en-IN" sz="2000"/>
                  <a:t>={1.80, 1.96, 1.90, 2.13, 1.38, 1.46, 1.00, 1.39,…., </a:t>
                </a:r>
                <a:r>
                  <a:rPr lang="en-IN" sz="2000" b="1">
                    <a:solidFill>
                      <a:schemeClr val="tx2"/>
                    </a:solidFill>
                  </a:rPr>
                  <a:t>1.94, 2.15, 2.04, 2.2</a:t>
                </a:r>
                <a:r>
                  <a:rPr lang="en-IN" sz="2000"/>
                  <a:t>}</a:t>
                </a:r>
              </a:p>
              <a:p>
                <a:pPr marL="342900" indent="-342900">
                  <a:lnSpc>
                    <a:spcPct val="150000"/>
                  </a:lnSpc>
                  <a:buFont typeface="Arial" panose="020B0604020202020204" pitchFamily="34" charset="0"/>
                  <a:buChar char="•"/>
                </a:pPr>
                <a:r>
                  <a:rPr lang="en-IN" sz="2000" b="1">
                    <a:solidFill>
                      <a:schemeClr val="tx2"/>
                    </a:solidFill>
                  </a:rPr>
                  <a:t>PAM proximal region </a:t>
                </a:r>
                <a:r>
                  <a:rPr lang="en-IN" sz="2000"/>
                  <a:t>is more important for binding stability.</a:t>
                </a:r>
              </a:p>
            </p:txBody>
          </p:sp>
        </mc:Choice>
        <mc:Fallback xmlns="">
          <p:sp>
            <p:nvSpPr>
              <p:cNvPr id="30" name="TextBox 29">
                <a:extLst>
                  <a:ext uri="{FF2B5EF4-FFF2-40B4-BE49-F238E27FC236}">
                    <a16:creationId xmlns:a16="http://schemas.microsoft.com/office/drawing/2014/main" id="{8FC8A41B-2BAF-D003-E608-2CBACC153F64}"/>
                  </a:ext>
                </a:extLst>
              </p:cNvPr>
              <p:cNvSpPr txBox="1">
                <a:spLocks noRot="1" noChangeAspect="1" noMove="1" noResize="1" noEditPoints="1" noAdjustHandles="1" noChangeArrowheads="1" noChangeShapeType="1" noTextEdit="1"/>
              </p:cNvSpPr>
              <p:nvPr/>
            </p:nvSpPr>
            <p:spPr>
              <a:xfrm>
                <a:off x="447626" y="4598594"/>
                <a:ext cx="9406328" cy="971292"/>
              </a:xfrm>
              <a:prstGeom prst="rect">
                <a:avLst/>
              </a:prstGeom>
              <a:blipFill>
                <a:blip r:embed="rId7"/>
                <a:stretch>
                  <a:fillRect l="-583" b="-10000"/>
                </a:stretch>
              </a:blipFill>
            </p:spPr>
            <p:txBody>
              <a:bodyPr/>
              <a:lstStyle/>
              <a:p>
                <a:r>
                  <a:rPr lang="en-IN">
                    <a:noFill/>
                  </a:rPr>
                  <a:t> </a:t>
                </a:r>
              </a:p>
            </p:txBody>
          </p:sp>
        </mc:Fallback>
      </mc:AlternateContent>
      <p:sp>
        <p:nvSpPr>
          <p:cNvPr id="32" name="Slide Number Placeholder 31">
            <a:extLst>
              <a:ext uri="{FF2B5EF4-FFF2-40B4-BE49-F238E27FC236}">
                <a16:creationId xmlns:a16="http://schemas.microsoft.com/office/drawing/2014/main" id="{38CA1268-5F1B-2079-3FFA-F7630ED3FF5A}"/>
              </a:ext>
            </a:extLst>
          </p:cNvPr>
          <p:cNvSpPr>
            <a:spLocks noGrp="1"/>
          </p:cNvSpPr>
          <p:nvPr>
            <p:ph type="sldNum" sz="quarter" idx="12"/>
          </p:nvPr>
        </p:nvSpPr>
        <p:spPr/>
        <p:txBody>
          <a:bodyPr/>
          <a:lstStyle/>
          <a:p>
            <a:fld id="{5726A261-CBDC-45C6-994B-4400E8D6835A}" type="slidenum">
              <a:rPr lang="en-IN" smtClean="0"/>
              <a:t>7</a:t>
            </a:fld>
            <a:endParaRPr lang="en-IN"/>
          </a:p>
        </p:txBody>
      </p:sp>
      <p:sp>
        <p:nvSpPr>
          <p:cNvPr id="33" name="Rectangle 32">
            <a:extLst>
              <a:ext uri="{FF2B5EF4-FFF2-40B4-BE49-F238E27FC236}">
                <a16:creationId xmlns:a16="http://schemas.microsoft.com/office/drawing/2014/main" id="{1BBB62B5-987B-B03B-01E2-24AB9100ED40}"/>
              </a:ext>
            </a:extLst>
          </p:cNvPr>
          <p:cNvSpPr/>
          <p:nvPr/>
        </p:nvSpPr>
        <p:spPr>
          <a:xfrm>
            <a:off x="237744" y="160438"/>
            <a:ext cx="11795760" cy="653712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0668902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B41FA52-EBC8-65F3-8106-7A78E0C179A1}"/>
                  </a:ext>
                </a:extLst>
              </p:cNvPr>
              <p:cNvSpPr txBox="1"/>
              <p:nvPr/>
            </p:nvSpPr>
            <p:spPr>
              <a:xfrm>
                <a:off x="658866" y="1981547"/>
                <a:ext cx="7244163" cy="3881575"/>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0" i="0" u="none" strike="noStrike" baseline="0">
                    <a:solidFill>
                      <a:srgbClr val="000000"/>
                    </a:solidFill>
                    <a:latin typeface="Aptos" panose="020B0004020202020204" pitchFamily="34" charset="0"/>
                  </a:rPr>
                  <a:t> </a:t>
                </a:r>
                <a:r>
                  <a:rPr lang="en-US" sz="2000">
                    <a:solidFill>
                      <a:srgbClr val="000000"/>
                    </a:solidFill>
                    <a:latin typeface="Aptos" panose="020B0004020202020204" pitchFamily="34" charset="0"/>
                  </a:rPr>
                  <a:t>I</a:t>
                </a:r>
                <a:r>
                  <a:rPr lang="en-US" sz="2000" b="0" i="0" u="none" strike="noStrike" baseline="0">
                    <a:solidFill>
                      <a:srgbClr val="000000"/>
                    </a:solidFill>
                    <a:latin typeface="Aptos" panose="020B0004020202020204" pitchFamily="34" charset="0"/>
                  </a:rPr>
                  <a:t>ntroduces two prediction models, </a:t>
                </a:r>
                <a:r>
                  <a:rPr lang="en-US" sz="2000" b="1" i="0" u="none" strike="noStrike" baseline="0">
                    <a:solidFill>
                      <a:srgbClr val="000000"/>
                    </a:solidFill>
                    <a:latin typeface="Aptos" panose="020B0004020202020204" pitchFamily="34" charset="0"/>
                  </a:rPr>
                  <a:t>CRISPRoff </a:t>
                </a:r>
                <a:r>
                  <a:rPr lang="en-US" sz="2000" b="0" i="0" u="none" strike="noStrike" baseline="0">
                    <a:solidFill>
                      <a:srgbClr val="000000"/>
                    </a:solidFill>
                    <a:latin typeface="Aptos" panose="020B0004020202020204" pitchFamily="34" charset="0"/>
                  </a:rPr>
                  <a:t>and </a:t>
                </a:r>
                <a:r>
                  <a:rPr lang="en-US" sz="2000" b="1" i="0" u="none" strike="noStrike" baseline="0">
                    <a:solidFill>
                      <a:srgbClr val="000000"/>
                    </a:solidFill>
                    <a:latin typeface="Aptos" panose="020B0004020202020204" pitchFamily="34" charset="0"/>
                  </a:rPr>
                  <a:t>CRISPRspec.</a:t>
                </a:r>
                <a:endParaRPr lang="en-US" sz="2000" b="0" i="0" u="none" strike="noStrike" baseline="0">
                  <a:solidFill>
                    <a:srgbClr val="000000"/>
                  </a:solidFill>
                  <a:latin typeface="Aptos" panose="020B0004020202020204" pitchFamily="34" charset="0"/>
                </a:endParaRPr>
              </a:p>
              <a:p>
                <a:pPr>
                  <a:lnSpc>
                    <a:spcPct val="150000"/>
                  </a:lnSpc>
                </a:pPr>
                <a:r>
                  <a:rPr lang="en-US" sz="2000" b="1" i="0" u="none" strike="noStrike" baseline="0">
                    <a:solidFill>
                      <a:srgbClr val="000000"/>
                    </a:solidFill>
                    <a:latin typeface="Aptos" panose="020B0004020202020204" pitchFamily="34" charset="0"/>
                  </a:rPr>
                  <a:t>CRSIPRoff</a:t>
                </a:r>
                <a:r>
                  <a:rPr lang="en-US" sz="2000" b="0" i="0" u="none" strike="noStrike" baseline="0">
                    <a:solidFill>
                      <a:srgbClr val="000000"/>
                    </a:solidFill>
                    <a:latin typeface="Aptos" panose="020B0004020202020204" pitchFamily="34" charset="0"/>
                  </a:rPr>
                  <a:t>: </a:t>
                </a:r>
              </a:p>
              <a:p>
                <a:pPr marL="342900" indent="-342900">
                  <a:lnSpc>
                    <a:spcPct val="150000"/>
                  </a:lnSpc>
                  <a:buFont typeface="Arial" panose="020B0604020202020204" pitchFamily="34" charset="0"/>
                  <a:buChar char="•"/>
                </a:pPr>
                <a:r>
                  <a:rPr lang="en-US" sz="2000">
                    <a:sym typeface="Wingdings" panose="05000000000000000000" pitchFamily="2" charset="2"/>
                  </a:rPr>
                  <a:t>Confidence score assigned to each predicted off-target site of a given gRNA.</a:t>
                </a:r>
              </a:p>
              <a:p>
                <a:pPr>
                  <a:lnSpc>
                    <a:spcPct val="150000"/>
                  </a:lnSpc>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sym typeface="Wingdings" panose="05000000000000000000" pitchFamily="2" charset="2"/>
                        </a:rPr>
                        <m:t>𝐶𝑅𝐼𝑆𝑃𝑅𝑜𝑓𝑓</m:t>
                      </m:r>
                      <m:d>
                        <m:dPr>
                          <m:begChr m:val="["/>
                          <m:endChr m:val="]"/>
                          <m:ctrlPr>
                            <a:rPr lang="en-US" sz="2000" b="0" i="1" smtClean="0">
                              <a:latin typeface="Cambria Math" panose="02040503050406030204" pitchFamily="18" charset="0"/>
                              <a:sym typeface="Wingdings" panose="05000000000000000000" pitchFamily="2" charset="2"/>
                            </a:rPr>
                          </m:ctrlPr>
                        </m:dPr>
                        <m:e>
                          <m:r>
                            <a:rPr lang="en-US" sz="2000" b="0" i="1" smtClean="0">
                              <a:latin typeface="Cambria Math" panose="02040503050406030204" pitchFamily="18" charset="0"/>
                              <a:sym typeface="Wingdings" panose="05000000000000000000" pitchFamily="2" charset="2"/>
                            </a:rPr>
                            <m:t>𝑔</m:t>
                          </m:r>
                          <m:r>
                            <a:rPr lang="en-US" sz="2000" b="0" i="1" smtClean="0">
                              <a:latin typeface="Cambria Math" panose="02040503050406030204" pitchFamily="18" charset="0"/>
                              <a:sym typeface="Wingdings" panose="05000000000000000000" pitchFamily="2" charset="2"/>
                            </a:rPr>
                            <m:t>,</m:t>
                          </m:r>
                          <m:sSub>
                            <m:sSubPr>
                              <m:ctrlPr>
                                <a:rPr lang="en-US" sz="2000" b="0" i="1" smtClean="0">
                                  <a:latin typeface="Cambria Math" panose="02040503050406030204" pitchFamily="18" charset="0"/>
                                  <a:sym typeface="Wingdings" panose="05000000000000000000" pitchFamily="2" charset="2"/>
                                </a:rPr>
                              </m:ctrlPr>
                            </m:sSubPr>
                            <m:e>
                              <m:r>
                                <a:rPr lang="en-US" sz="2000" b="0" i="1" smtClean="0">
                                  <a:latin typeface="Cambria Math" panose="02040503050406030204" pitchFamily="18" charset="0"/>
                                  <a:sym typeface="Wingdings" panose="05000000000000000000" pitchFamily="2" charset="2"/>
                                </a:rPr>
                                <m:t>𝑡</m:t>
                              </m:r>
                            </m:e>
                            <m:sub>
                              <m:r>
                                <a:rPr lang="en-US" sz="2000" b="0" i="1" smtClean="0">
                                  <a:latin typeface="Cambria Math" panose="02040503050406030204" pitchFamily="18" charset="0"/>
                                  <a:sym typeface="Wingdings" panose="05000000000000000000" pitchFamily="2" charset="2"/>
                                </a:rPr>
                                <m:t>𝑜𝑓𝑓</m:t>
                              </m:r>
                            </m:sub>
                          </m:sSub>
                        </m:e>
                      </m:d>
                      <m:r>
                        <a:rPr lang="en-US" sz="2000" b="0" i="1" smtClean="0">
                          <a:latin typeface="Cambria Math" panose="02040503050406030204" pitchFamily="18" charset="0"/>
                          <a:sym typeface="Wingdings" panose="05000000000000000000" pitchFamily="2" charset="2"/>
                        </a:rPr>
                        <m:t>=−</m:t>
                      </m:r>
                      <m:r>
                        <a:rPr lang="en-US" sz="2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sz="2000" b="0" i="1" smtClean="0">
                              <a:latin typeface="Cambria Math" panose="02040503050406030204" pitchFamily="18" charset="0"/>
                              <a:ea typeface="Cambria Math" panose="02040503050406030204" pitchFamily="18" charset="0"/>
                              <a:sym typeface="Wingdings" panose="05000000000000000000" pitchFamily="2" charset="2"/>
                            </a:rPr>
                            <m:t>𝐺</m:t>
                          </m:r>
                        </m:e>
                        <m:sub>
                          <m:r>
                            <a:rPr lang="en-US" sz="2000" b="0" i="1" smtClean="0">
                              <a:latin typeface="Cambria Math" panose="02040503050406030204" pitchFamily="18" charset="0"/>
                              <a:ea typeface="Cambria Math" panose="02040503050406030204" pitchFamily="18" charset="0"/>
                              <a:sym typeface="Wingdings" panose="05000000000000000000" pitchFamily="2" charset="2"/>
                            </a:rPr>
                            <m:t>𝐵</m:t>
                          </m:r>
                        </m:sub>
                      </m:sSub>
                      <m:d>
                        <m:dPr>
                          <m:begChr m:val="["/>
                          <m:endChr m:val="]"/>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sz="2000" b="0" i="1" smtClean="0">
                              <a:latin typeface="Cambria Math" panose="02040503050406030204" pitchFamily="18" charset="0"/>
                              <a:ea typeface="Cambria Math" panose="02040503050406030204" pitchFamily="18" charset="0"/>
                              <a:sym typeface="Wingdings" panose="05000000000000000000" pitchFamily="2" charset="2"/>
                            </a:rPr>
                            <m:t>𝑔</m:t>
                          </m:r>
                          <m:r>
                            <a:rPr lang="en-US" sz="2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sz="2000" b="0" i="1" smtClean="0">
                                  <a:latin typeface="Cambria Math" panose="02040503050406030204" pitchFamily="18" charset="0"/>
                                  <a:ea typeface="Cambria Math" panose="02040503050406030204" pitchFamily="18" charset="0"/>
                                  <a:sym typeface="Wingdings" panose="05000000000000000000" pitchFamily="2" charset="2"/>
                                </a:rPr>
                                <m:t>𝑡</m:t>
                              </m:r>
                            </m:e>
                            <m:sub>
                              <m:r>
                                <a:rPr lang="en-US" sz="2000" b="0" i="1" smtClean="0">
                                  <a:latin typeface="Cambria Math" panose="02040503050406030204" pitchFamily="18" charset="0"/>
                                  <a:ea typeface="Cambria Math" panose="02040503050406030204" pitchFamily="18" charset="0"/>
                                  <a:sym typeface="Wingdings" panose="05000000000000000000" pitchFamily="2" charset="2"/>
                                </a:rPr>
                                <m:t>𝑜𝑓𝑓</m:t>
                              </m:r>
                            </m:sub>
                          </m:sSub>
                        </m:e>
                      </m:d>
                      <m:r>
                        <a:rPr lang="en-US" sz="2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sz="2000" b="0" i="1" smtClean="0">
                              <a:latin typeface="Cambria Math" panose="02040503050406030204" pitchFamily="18" charset="0"/>
                              <a:ea typeface="Cambria Math" panose="02040503050406030204" pitchFamily="18" charset="0"/>
                              <a:sym typeface="Wingdings" panose="05000000000000000000" pitchFamily="2" charset="2"/>
                            </a:rPr>
                            <m:t>𝛿</m:t>
                          </m:r>
                        </m:e>
                        <m:sub>
                          <m:r>
                            <a:rPr lang="en-US" sz="2000" b="0" i="1" smtClean="0">
                              <a:latin typeface="Cambria Math" panose="02040503050406030204" pitchFamily="18" charset="0"/>
                              <a:ea typeface="Cambria Math" panose="02040503050406030204" pitchFamily="18" charset="0"/>
                              <a:sym typeface="Wingdings" panose="05000000000000000000" pitchFamily="2" charset="2"/>
                            </a:rPr>
                            <m:t>𝑃𝐴𝑀</m:t>
                          </m:r>
                        </m:sub>
                      </m:sSub>
                      <m:d>
                        <m:dPr>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sz="2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sz="2000" b="0" i="1" smtClean="0">
                                  <a:latin typeface="Cambria Math" panose="02040503050406030204" pitchFamily="18" charset="0"/>
                                  <a:ea typeface="Cambria Math" panose="02040503050406030204" pitchFamily="18" charset="0"/>
                                  <a:sym typeface="Wingdings" panose="05000000000000000000" pitchFamily="2" charset="2"/>
                                </a:rPr>
                                <m:t>𝐺</m:t>
                              </m:r>
                            </m:e>
                            <m:sub>
                              <m:r>
                                <a:rPr lang="en-US" sz="2000" b="0" i="1" smtClean="0">
                                  <a:latin typeface="Cambria Math" panose="02040503050406030204" pitchFamily="18" charset="0"/>
                                  <a:ea typeface="Cambria Math" panose="02040503050406030204" pitchFamily="18" charset="0"/>
                                  <a:sym typeface="Wingdings" panose="05000000000000000000" pitchFamily="2" charset="2"/>
                                </a:rPr>
                                <m:t>𝐻</m:t>
                              </m:r>
                            </m:sub>
                          </m:sSub>
                          <m:d>
                            <m:dPr>
                              <m:begChr m:val="["/>
                              <m:endChr m:val="]"/>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sz="2000" b="0" i="1" smtClean="0">
                                  <a:latin typeface="Cambria Math" panose="02040503050406030204" pitchFamily="18" charset="0"/>
                                  <a:ea typeface="Cambria Math" panose="02040503050406030204" pitchFamily="18" charset="0"/>
                                  <a:sym typeface="Wingdings" panose="05000000000000000000" pitchFamily="2" charset="2"/>
                                </a:rPr>
                                <m:t>𝑔</m:t>
                              </m:r>
                              <m:r>
                                <a:rPr lang="en-US" sz="2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sz="2000" b="0" i="1" smtClean="0">
                                      <a:latin typeface="Cambria Math" panose="02040503050406030204" pitchFamily="18" charset="0"/>
                                      <a:ea typeface="Cambria Math" panose="02040503050406030204" pitchFamily="18" charset="0"/>
                                      <a:sym typeface="Wingdings" panose="05000000000000000000" pitchFamily="2" charset="2"/>
                                    </a:rPr>
                                    <m:t>𝑡</m:t>
                                  </m:r>
                                </m:e>
                                <m:sub>
                                  <m:r>
                                    <a:rPr lang="en-US" sz="2000" b="0" i="1" smtClean="0">
                                      <a:latin typeface="Cambria Math" panose="02040503050406030204" pitchFamily="18" charset="0"/>
                                      <a:ea typeface="Cambria Math" panose="02040503050406030204" pitchFamily="18" charset="0"/>
                                      <a:sym typeface="Wingdings" panose="05000000000000000000" pitchFamily="2" charset="2"/>
                                    </a:rPr>
                                    <m:t>𝑜𝑓𝑓</m:t>
                                  </m:r>
                                </m:sub>
                              </m:sSub>
                            </m:e>
                          </m:d>
                          <m:r>
                            <a:rPr lang="en-US" sz="2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sz="2000" b="0" i="1" smtClean="0">
                                  <a:latin typeface="Cambria Math" panose="02040503050406030204" pitchFamily="18" charset="0"/>
                                  <a:ea typeface="Cambria Math" panose="02040503050406030204" pitchFamily="18" charset="0"/>
                                  <a:sym typeface="Wingdings" panose="05000000000000000000" pitchFamily="2" charset="2"/>
                                </a:rPr>
                                <m:t>𝐺</m:t>
                              </m:r>
                            </m:e>
                            <m:sub>
                              <m:r>
                                <a:rPr lang="en-US" sz="2000" b="0" i="1" smtClean="0">
                                  <a:latin typeface="Cambria Math" panose="02040503050406030204" pitchFamily="18" charset="0"/>
                                  <a:ea typeface="Cambria Math" panose="02040503050406030204" pitchFamily="18" charset="0"/>
                                  <a:sym typeface="Wingdings" panose="05000000000000000000" pitchFamily="2" charset="2"/>
                                </a:rPr>
                                <m:t>𝑂</m:t>
                              </m:r>
                            </m:sub>
                          </m:sSub>
                          <m:d>
                            <m:dPr>
                              <m:begChr m:val="["/>
                              <m:endChr m:val="]"/>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dPr>
                            <m:e>
                              <m:sSub>
                                <m:sSubPr>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sz="2000" b="0" i="1" smtClean="0">
                                      <a:latin typeface="Cambria Math" panose="02040503050406030204" pitchFamily="18" charset="0"/>
                                      <a:ea typeface="Cambria Math" panose="02040503050406030204" pitchFamily="18" charset="0"/>
                                      <a:sym typeface="Wingdings" panose="05000000000000000000" pitchFamily="2" charset="2"/>
                                    </a:rPr>
                                    <m:t>𝑡</m:t>
                                  </m:r>
                                </m:e>
                                <m:sub>
                                  <m:r>
                                    <a:rPr lang="en-US" sz="2000" b="0" i="1" smtClean="0">
                                      <a:latin typeface="Cambria Math" panose="02040503050406030204" pitchFamily="18" charset="0"/>
                                      <a:ea typeface="Cambria Math" panose="02040503050406030204" pitchFamily="18" charset="0"/>
                                      <a:sym typeface="Wingdings" panose="05000000000000000000" pitchFamily="2" charset="2"/>
                                    </a:rPr>
                                    <m:t>𝑜𝑓𝑓</m:t>
                                  </m:r>
                                </m:sub>
                              </m:sSub>
                            </m:e>
                          </m:d>
                          <m:r>
                            <a:rPr lang="en-US" sz="2000" b="0" i="1" smtClean="0">
                              <a:latin typeface="Cambria Math" panose="02040503050406030204" pitchFamily="18" charset="0"/>
                              <a:ea typeface="Cambria Math" panose="02040503050406030204" pitchFamily="18" charset="0"/>
                              <a:sym typeface="Wingdings" panose="05000000000000000000" pitchFamily="2" charset="2"/>
                            </a:rPr>
                            <m:t>−∆</m:t>
                          </m:r>
                          <m:sSub>
                            <m:sSubPr>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sSubPr>
                            <m:e>
                              <m:r>
                                <a:rPr lang="en-US" sz="2000" b="0" i="1" smtClean="0">
                                  <a:latin typeface="Cambria Math" panose="02040503050406030204" pitchFamily="18" charset="0"/>
                                  <a:ea typeface="Cambria Math" panose="02040503050406030204" pitchFamily="18" charset="0"/>
                                  <a:sym typeface="Wingdings" panose="05000000000000000000" pitchFamily="2" charset="2"/>
                                </a:rPr>
                                <m:t>𝐺</m:t>
                              </m:r>
                            </m:e>
                            <m:sub>
                              <m:r>
                                <a:rPr lang="en-US" sz="2000" b="0" i="1" smtClean="0">
                                  <a:latin typeface="Cambria Math" panose="02040503050406030204" pitchFamily="18" charset="0"/>
                                  <a:ea typeface="Cambria Math" panose="02040503050406030204" pitchFamily="18" charset="0"/>
                                  <a:sym typeface="Wingdings" panose="05000000000000000000" pitchFamily="2" charset="2"/>
                                </a:rPr>
                                <m:t>𝑈</m:t>
                              </m:r>
                            </m:sub>
                          </m:sSub>
                          <m:d>
                            <m:dPr>
                              <m:begChr m:val="["/>
                              <m:endChr m:val="]"/>
                              <m:ctrlPr>
                                <a:rPr lang="en-US" sz="2000" b="0" i="1" smtClean="0">
                                  <a:latin typeface="Cambria Math" panose="02040503050406030204" pitchFamily="18" charset="0"/>
                                  <a:ea typeface="Cambria Math" panose="02040503050406030204" pitchFamily="18" charset="0"/>
                                  <a:sym typeface="Wingdings" panose="05000000000000000000" pitchFamily="2" charset="2"/>
                                </a:rPr>
                              </m:ctrlPr>
                            </m:dPr>
                            <m:e>
                              <m:r>
                                <a:rPr lang="en-US" sz="2000" b="0" i="1" smtClean="0">
                                  <a:latin typeface="Cambria Math" panose="02040503050406030204" pitchFamily="18" charset="0"/>
                                  <a:ea typeface="Cambria Math" panose="02040503050406030204" pitchFamily="18" charset="0"/>
                                  <a:sym typeface="Wingdings" panose="05000000000000000000" pitchFamily="2" charset="2"/>
                                </a:rPr>
                                <m:t>𝑔</m:t>
                              </m:r>
                            </m:e>
                          </m:d>
                        </m:e>
                      </m:d>
                    </m:oMath>
                  </m:oMathPara>
                </a14:m>
                <a:endParaRPr lang="en-US" sz="2000">
                  <a:sym typeface="Wingdings" panose="05000000000000000000" pitchFamily="2" charset="2"/>
                </a:endParaRPr>
              </a:p>
              <a:p>
                <a:pPr>
                  <a:lnSpc>
                    <a:spcPct val="150000"/>
                  </a:lnSpc>
                </a:pPr>
                <a:endParaRPr lang="en-US" sz="2000">
                  <a:sym typeface="Wingdings" panose="05000000000000000000" pitchFamily="2" charset="2"/>
                </a:endParaRPr>
              </a:p>
            </p:txBody>
          </p:sp>
        </mc:Choice>
        <mc:Fallback xmlns="">
          <p:sp>
            <p:nvSpPr>
              <p:cNvPr id="4" name="TextBox 3">
                <a:extLst>
                  <a:ext uri="{FF2B5EF4-FFF2-40B4-BE49-F238E27FC236}">
                    <a16:creationId xmlns:a16="http://schemas.microsoft.com/office/drawing/2014/main" id="{DB41FA52-EBC8-65F3-8106-7A78E0C179A1}"/>
                  </a:ext>
                </a:extLst>
              </p:cNvPr>
              <p:cNvSpPr txBox="1">
                <a:spLocks noRot="1" noChangeAspect="1" noMove="1" noResize="1" noEditPoints="1" noAdjustHandles="1" noChangeArrowheads="1" noChangeShapeType="1" noTextEdit="1"/>
              </p:cNvSpPr>
              <p:nvPr/>
            </p:nvSpPr>
            <p:spPr>
              <a:xfrm>
                <a:off x="658866" y="1981547"/>
                <a:ext cx="7244163" cy="3881575"/>
              </a:xfrm>
              <a:prstGeom prst="rect">
                <a:avLst/>
              </a:prstGeom>
              <a:blipFill>
                <a:blip r:embed="rId3"/>
                <a:stretch>
                  <a:fillRect l="-842"/>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4CCF73D0-6290-4D3A-365C-33E0E877F755}"/>
              </a:ext>
            </a:extLst>
          </p:cNvPr>
          <p:cNvSpPr txBox="1"/>
          <p:nvPr/>
        </p:nvSpPr>
        <p:spPr>
          <a:xfrm>
            <a:off x="658866" y="376446"/>
            <a:ext cx="10216055" cy="1446550"/>
          </a:xfrm>
          <a:prstGeom prst="rect">
            <a:avLst/>
          </a:prstGeom>
          <a:noFill/>
        </p:spPr>
        <p:txBody>
          <a:bodyPr wrap="square" rtlCol="0">
            <a:spAutoFit/>
          </a:bodyPr>
          <a:lstStyle/>
          <a:p>
            <a:pPr algn="ctr"/>
            <a:r>
              <a:rPr lang="en-US" sz="3200" b="1">
                <a:solidFill>
                  <a:srgbClr val="C00000"/>
                </a:solidFill>
              </a:rPr>
              <a:t>THE PAPER: CRISPR-Cas9 off-targeting assessment with nucleic acid duplex energy parameters</a:t>
            </a:r>
          </a:p>
          <a:p>
            <a:pPr algn="ctr"/>
            <a:r>
              <a:rPr lang="en-US" sz="2400"/>
              <a:t>Alkan et al., Genome Biology, 2018</a:t>
            </a:r>
            <a:endParaRPr lang="en-IN" sz="2400"/>
          </a:p>
        </p:txBody>
      </p:sp>
      <p:pic>
        <p:nvPicPr>
          <p:cNvPr id="8" name="Picture 7">
            <a:extLst>
              <a:ext uri="{FF2B5EF4-FFF2-40B4-BE49-F238E27FC236}">
                <a16:creationId xmlns:a16="http://schemas.microsoft.com/office/drawing/2014/main" id="{8CAF87AE-6BC0-7179-47F2-85631C9D113C}"/>
              </a:ext>
            </a:extLst>
          </p:cNvPr>
          <p:cNvPicPr>
            <a:picLocks noChangeAspect="1"/>
          </p:cNvPicPr>
          <p:nvPr/>
        </p:nvPicPr>
        <p:blipFill>
          <a:blip r:embed="rId4"/>
          <a:stretch>
            <a:fillRect/>
          </a:stretch>
        </p:blipFill>
        <p:spPr>
          <a:xfrm>
            <a:off x="8275129" y="2279342"/>
            <a:ext cx="3258005" cy="3191320"/>
          </a:xfrm>
          <a:prstGeom prst="rect">
            <a:avLst/>
          </a:prstGeom>
        </p:spPr>
      </p:pic>
      <p:sp>
        <p:nvSpPr>
          <p:cNvPr id="12" name="TextBox 11">
            <a:extLst>
              <a:ext uri="{FF2B5EF4-FFF2-40B4-BE49-F238E27FC236}">
                <a16:creationId xmlns:a16="http://schemas.microsoft.com/office/drawing/2014/main" id="{030DC73A-DE5F-B820-6B2B-B529A2D85C0F}"/>
              </a:ext>
            </a:extLst>
          </p:cNvPr>
          <p:cNvSpPr txBox="1"/>
          <p:nvPr/>
        </p:nvSpPr>
        <p:spPr>
          <a:xfrm>
            <a:off x="7903029" y="5623903"/>
            <a:ext cx="4373711" cy="795539"/>
          </a:xfrm>
          <a:prstGeom prst="rect">
            <a:avLst/>
          </a:prstGeom>
          <a:noFill/>
        </p:spPr>
        <p:txBody>
          <a:bodyPr wrap="square">
            <a:spAutoFit/>
          </a:bodyPr>
          <a:lstStyle/>
          <a:p>
            <a:pPr lvl="1">
              <a:lnSpc>
                <a:spcPct val="150000"/>
              </a:lnSpc>
            </a:pPr>
            <a:r>
              <a:rPr lang="en-US" sz="1600">
                <a:solidFill>
                  <a:srgbClr val="000000"/>
                </a:solidFill>
                <a:latin typeface="Aptos" panose="020B0004020202020204" pitchFamily="34" charset="0"/>
              </a:rPr>
              <a:t>L</a:t>
            </a:r>
            <a:r>
              <a:rPr lang="en-US" sz="1600" b="0" i="0" u="none" strike="noStrike" baseline="0">
                <a:solidFill>
                  <a:srgbClr val="000000"/>
                </a:solidFill>
                <a:latin typeface="Aptos" panose="020B0004020202020204" pitchFamily="34" charset="0"/>
              </a:rPr>
              <a:t>ow False Positive Rate (FPR) and High True Positive Rate (TPR).  </a:t>
            </a:r>
          </a:p>
        </p:txBody>
      </p:sp>
      <p:sp>
        <p:nvSpPr>
          <p:cNvPr id="14" name="TextBox 13">
            <a:extLst>
              <a:ext uri="{FF2B5EF4-FFF2-40B4-BE49-F238E27FC236}">
                <a16:creationId xmlns:a16="http://schemas.microsoft.com/office/drawing/2014/main" id="{58A7695C-29BA-12C6-1178-68A9814F66A9}"/>
              </a:ext>
            </a:extLst>
          </p:cNvPr>
          <p:cNvSpPr txBox="1"/>
          <p:nvPr/>
        </p:nvSpPr>
        <p:spPr>
          <a:xfrm>
            <a:off x="758245" y="5711556"/>
            <a:ext cx="6624284" cy="707886"/>
          </a:xfrm>
          <a:prstGeom prst="rect">
            <a:avLst/>
          </a:prstGeom>
          <a:noFill/>
        </p:spPr>
        <p:txBody>
          <a:bodyPr wrap="square">
            <a:spAutoFit/>
          </a:bodyPr>
          <a:lstStyle/>
          <a:p>
            <a:pPr algn="l"/>
            <a:r>
              <a:rPr lang="en-IN" sz="2000" b="1"/>
              <a:t>Dataset</a:t>
            </a:r>
            <a:r>
              <a:rPr lang="en-IN" sz="2000"/>
              <a:t>(Human genome): 6</a:t>
            </a:r>
            <a:r>
              <a:rPr lang="en-IN" sz="2000" b="0" i="0" u="none" strike="noStrike" baseline="0"/>
              <a:t>50 </a:t>
            </a:r>
            <a:r>
              <a:rPr lang="en-US" sz="2000" b="0" i="0" u="none" strike="noStrike" baseline="0"/>
              <a:t>off-target sequences reported for 31 different gRNAs</a:t>
            </a:r>
            <a:endParaRPr lang="en-IN" sz="2000"/>
          </a:p>
        </p:txBody>
      </p:sp>
      <p:sp>
        <p:nvSpPr>
          <p:cNvPr id="15" name="Slide Number Placeholder 14">
            <a:extLst>
              <a:ext uri="{FF2B5EF4-FFF2-40B4-BE49-F238E27FC236}">
                <a16:creationId xmlns:a16="http://schemas.microsoft.com/office/drawing/2014/main" id="{ADD8124A-FB78-22F1-5D30-2506C73667B1}"/>
              </a:ext>
            </a:extLst>
          </p:cNvPr>
          <p:cNvSpPr>
            <a:spLocks noGrp="1"/>
          </p:cNvSpPr>
          <p:nvPr>
            <p:ph type="sldNum" sz="quarter" idx="12"/>
          </p:nvPr>
        </p:nvSpPr>
        <p:spPr/>
        <p:txBody>
          <a:bodyPr/>
          <a:lstStyle/>
          <a:p>
            <a:fld id="{5726A261-CBDC-45C6-994B-4400E8D6835A}" type="slidenum">
              <a:rPr lang="en-IN" smtClean="0"/>
              <a:t>8</a:t>
            </a:fld>
            <a:endParaRPr lang="en-IN"/>
          </a:p>
        </p:txBody>
      </p:sp>
      <p:sp>
        <p:nvSpPr>
          <p:cNvPr id="16" name="Rectangle 15">
            <a:extLst>
              <a:ext uri="{FF2B5EF4-FFF2-40B4-BE49-F238E27FC236}">
                <a16:creationId xmlns:a16="http://schemas.microsoft.com/office/drawing/2014/main" id="{17681643-1172-2571-7787-65B3479EEC4D}"/>
              </a:ext>
            </a:extLst>
          </p:cNvPr>
          <p:cNvSpPr/>
          <p:nvPr/>
        </p:nvSpPr>
        <p:spPr>
          <a:xfrm>
            <a:off x="237744" y="160438"/>
            <a:ext cx="11795760" cy="653712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35617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E9468-FF52-7B37-5FDA-259C8599116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DBE5BE2-5247-3457-87AC-7143993D5FC5}"/>
                  </a:ext>
                </a:extLst>
              </p:cNvPr>
              <p:cNvSpPr txBox="1"/>
              <p:nvPr/>
            </p:nvSpPr>
            <p:spPr>
              <a:xfrm>
                <a:off x="658866" y="1945995"/>
                <a:ext cx="6737977" cy="339887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i="0" u="none" strike="noStrike" baseline="0">
                    <a:solidFill>
                      <a:srgbClr val="000000"/>
                    </a:solidFill>
                    <a:latin typeface="Aptos" panose="020B0004020202020204" pitchFamily="34" charset="0"/>
                  </a:rPr>
                  <a:t>CRISPRspec</a:t>
                </a:r>
                <a:r>
                  <a:rPr lang="en-US" sz="2000">
                    <a:solidFill>
                      <a:srgbClr val="000000"/>
                    </a:solidFill>
                    <a:latin typeface="Aptos" panose="020B0004020202020204" pitchFamily="34" charset="0"/>
                  </a:rPr>
                  <a:t>: S</a:t>
                </a:r>
                <a:r>
                  <a:rPr lang="en-US" sz="2000" b="0" i="0" u="none" strike="noStrike" baseline="0">
                    <a:solidFill>
                      <a:srgbClr val="000000"/>
                    </a:solidFill>
                    <a:latin typeface="Aptos" panose="020B0004020202020204" pitchFamily="34" charset="0"/>
                  </a:rPr>
                  <a:t>pecificity score for a guided RNA using free energies of all possible bindings. </a:t>
                </a:r>
              </a:p>
              <a:p>
                <a:pPr marL="342900" indent="-342900">
                  <a:lnSpc>
                    <a:spcPct val="150000"/>
                  </a:lnSpc>
                  <a:buFont typeface="Arial" panose="020B0604020202020204" pitchFamily="34" charset="0"/>
                  <a:buChar char="•"/>
                </a:pPr>
                <a:r>
                  <a:rPr lang="en-US" sz="2000">
                    <a:sym typeface="Wingdings" panose="05000000000000000000" pitchFamily="2" charset="2"/>
                  </a:rPr>
                  <a:t>Partition function approach to model ensemble of all potential interactions. </a:t>
                </a:r>
              </a:p>
              <a:p>
                <a:endParaRPr lang="en-US" sz="2000" b="0" i="1">
                  <a:latin typeface="Cambria Math" panose="02040503050406030204" pitchFamily="18" charset="0"/>
                </a:endParaRPr>
              </a:p>
              <a:p>
                <a:endParaRPr lang="en-US" sz="2000" b="0" i="1">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𝐶𝑅𝐼𝑆𝑃𝑅𝑠𝑝𝑒𝑐</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𝑔</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𝑇</m:t>
                              </m:r>
                            </m:e>
                            <m:sub>
                              <m:r>
                                <a:rPr lang="en-US" sz="2000" b="0" i="1" smtClean="0">
                                  <a:latin typeface="Cambria Math" panose="02040503050406030204" pitchFamily="18" charset="0"/>
                                </a:rPr>
                                <m:t>𝑔</m:t>
                              </m:r>
                            </m:sub>
                          </m:sSub>
                        </m:e>
                      </m:d>
                      <m:r>
                        <a:rPr lang="en-US" sz="2000" b="0" i="1" smtClean="0">
                          <a:latin typeface="Cambria Math" panose="02040503050406030204" pitchFamily="18" charset="0"/>
                        </a:rPr>
                        <m:t>=−</m:t>
                      </m:r>
                      <m:func>
                        <m:funcPr>
                          <m:ctrlPr>
                            <a:rPr lang="en-US" sz="2000" b="0" i="1" smtClean="0">
                              <a:latin typeface="Cambria Math" panose="02040503050406030204" pitchFamily="18" charset="0"/>
                            </a:rPr>
                          </m:ctrlPr>
                        </m:funcPr>
                        <m:fName>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log</m:t>
                              </m:r>
                            </m:e>
                            <m:sub>
                              <m:r>
                                <a:rPr lang="en-US" sz="2000" b="0" i="1" smtClean="0">
                                  <a:latin typeface="Cambria Math" panose="02040503050406030204" pitchFamily="18" charset="0"/>
                                </a:rPr>
                                <m:t>10</m:t>
                              </m:r>
                            </m:sub>
                          </m:sSub>
                        </m:fName>
                        <m:e>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nary>
                                    <m:naryPr>
                                      <m:chr m:val="∑"/>
                                      <m:supHide m:val="on"/>
                                      <m:ctrlPr>
                                        <a:rPr lang="en-US" sz="2000" b="0" i="1" smtClean="0">
                                          <a:solidFill>
                                            <a:srgbClr val="C00000"/>
                                          </a:solidFill>
                                          <a:latin typeface="Cambria Math" panose="02040503050406030204" pitchFamily="18" charset="0"/>
                                        </a:rPr>
                                      </m:ctrlPr>
                                    </m:naryPr>
                                    <m:sub>
                                      <m:r>
                                        <a:rPr lang="en-US" sz="2000" b="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rPr>
                                        <m:t>𝑡</m:t>
                                      </m:r>
                                      <m:r>
                                        <a:rPr lang="en-US" sz="2000" b="0" i="1" smtClean="0">
                                          <a:solidFill>
                                            <a:srgbClr val="C00000"/>
                                          </a:solidFill>
                                          <a:latin typeface="Cambria Math" panose="02040503050406030204" pitchFamily="18" charset="0"/>
                                          <a:ea typeface="Cambria Math" panose="02040503050406030204" pitchFamily="18" charset="0"/>
                                        </a:rPr>
                                        <m:t>∈</m:t>
                                      </m:r>
                                      <m:sSub>
                                        <m:sSubPr>
                                          <m:ctrlPr>
                                            <a:rPr lang="en-US" sz="2000" b="0" i="1" smtClean="0">
                                              <a:solidFill>
                                                <a:srgbClr val="C00000"/>
                                              </a:solidFill>
                                              <a:latin typeface="Cambria Math" panose="02040503050406030204" pitchFamily="18" charset="0"/>
                                              <a:ea typeface="Cambria Math" panose="02040503050406030204" pitchFamily="18" charset="0"/>
                                            </a:rPr>
                                          </m:ctrlPr>
                                        </m:sSubPr>
                                        <m:e>
                                          <m:r>
                                            <a:rPr lang="en-US" sz="2000" b="0" i="1" smtClean="0">
                                              <a:solidFill>
                                                <a:srgbClr val="C00000"/>
                                              </a:solidFill>
                                              <a:latin typeface="Cambria Math" panose="02040503050406030204" pitchFamily="18" charset="0"/>
                                              <a:ea typeface="Cambria Math" panose="02040503050406030204" pitchFamily="18" charset="0"/>
                                            </a:rPr>
                                            <m:t>𝑇</m:t>
                                          </m:r>
                                        </m:e>
                                        <m:sub>
                                          <m:r>
                                            <a:rPr lang="en-US" sz="2000" b="0" i="1" smtClean="0">
                                              <a:solidFill>
                                                <a:srgbClr val="C00000"/>
                                              </a:solidFill>
                                              <a:latin typeface="Cambria Math" panose="02040503050406030204" pitchFamily="18" charset="0"/>
                                              <a:ea typeface="Cambria Math" panose="02040503050406030204" pitchFamily="18" charset="0"/>
                                            </a:rPr>
                                            <m:t>𝑔</m:t>
                                          </m:r>
                                        </m:sub>
                                      </m:sSub>
                                      <m:r>
                                        <a:rPr lang="en-US" sz="2000" b="0" i="1" smtClean="0">
                                          <a:solidFill>
                                            <a:srgbClr val="C00000"/>
                                          </a:solidFill>
                                          <a:latin typeface="Cambria Math" panose="02040503050406030204" pitchFamily="18" charset="0"/>
                                          <a:ea typeface="Cambria Math" panose="02040503050406030204" pitchFamily="18" charset="0"/>
                                        </a:rPr>
                                        <m:t>\</m:t>
                                      </m:r>
                                      <m:r>
                                        <m:rPr>
                                          <m:lit/>
                                        </m:rPr>
                                        <a:rPr lang="en-US" sz="2000" b="0" i="1" smtClean="0">
                                          <a:solidFill>
                                            <a:srgbClr val="C00000"/>
                                          </a:solidFill>
                                          <a:latin typeface="Cambria Math" panose="02040503050406030204" pitchFamily="18" charset="0"/>
                                          <a:ea typeface="Cambria Math" panose="02040503050406030204" pitchFamily="18" charset="0"/>
                                        </a:rPr>
                                        <m:t>[</m:t>
                                      </m:r>
                                      <m:sSub>
                                        <m:sSubPr>
                                          <m:ctrlPr>
                                            <a:rPr lang="en-US" sz="2000" b="0" i="1" smtClean="0">
                                              <a:solidFill>
                                                <a:srgbClr val="C00000"/>
                                              </a:solidFill>
                                              <a:latin typeface="Cambria Math" panose="02040503050406030204" pitchFamily="18" charset="0"/>
                                              <a:ea typeface="Cambria Math" panose="02040503050406030204" pitchFamily="18" charset="0"/>
                                            </a:rPr>
                                          </m:ctrlPr>
                                        </m:sSubPr>
                                        <m:e>
                                          <m:r>
                                            <a:rPr lang="en-US" sz="2000" b="0" i="1" smtClean="0">
                                              <a:solidFill>
                                                <a:srgbClr val="C00000"/>
                                              </a:solidFill>
                                              <a:latin typeface="Cambria Math" panose="02040503050406030204" pitchFamily="18" charset="0"/>
                                              <a:ea typeface="Cambria Math" panose="02040503050406030204" pitchFamily="18" charset="0"/>
                                            </a:rPr>
                                            <m:t>𝑡</m:t>
                                          </m:r>
                                        </m:e>
                                        <m:sub>
                                          <m:r>
                                            <a:rPr lang="en-US" sz="2000" b="0" i="1" smtClean="0">
                                              <a:solidFill>
                                                <a:srgbClr val="C00000"/>
                                              </a:solidFill>
                                              <a:latin typeface="Cambria Math" panose="02040503050406030204" pitchFamily="18" charset="0"/>
                                              <a:ea typeface="Cambria Math" panose="02040503050406030204" pitchFamily="18" charset="0"/>
                                            </a:rPr>
                                            <m:t>𝑜𝑛</m:t>
                                          </m:r>
                                        </m:sub>
                                      </m:sSub>
                                      <m:r>
                                        <a:rPr lang="en-US" sz="2000" b="0" i="1" smtClean="0">
                                          <a:solidFill>
                                            <a:srgbClr val="C00000"/>
                                          </a:solidFill>
                                          <a:latin typeface="Cambria Math" panose="02040503050406030204" pitchFamily="18" charset="0"/>
                                          <a:ea typeface="Cambria Math" panose="02040503050406030204" pitchFamily="18" charset="0"/>
                                        </a:rPr>
                                        <m:t>]</m:t>
                                      </m:r>
                                    </m:sub>
                                    <m:sup/>
                                    <m:e>
                                      <m:sSup>
                                        <m:sSupPr>
                                          <m:ctrlPr>
                                            <a:rPr lang="en-US" sz="2000" b="0" i="1" smtClean="0">
                                              <a:solidFill>
                                                <a:srgbClr val="C00000"/>
                                              </a:solidFill>
                                              <a:latin typeface="Cambria Math" panose="02040503050406030204" pitchFamily="18" charset="0"/>
                                            </a:rPr>
                                          </m:ctrlPr>
                                        </m:sSupPr>
                                        <m:e>
                                          <m:r>
                                            <a:rPr lang="en-US" sz="2000" b="0" i="1" smtClean="0">
                                              <a:solidFill>
                                                <a:srgbClr val="C00000"/>
                                              </a:solidFill>
                                              <a:latin typeface="Cambria Math" panose="02040503050406030204" pitchFamily="18" charset="0"/>
                                            </a:rPr>
                                            <m:t>𝑒</m:t>
                                          </m:r>
                                        </m:e>
                                        <m:sup>
                                          <m:r>
                                            <a:rPr lang="en-US" sz="2000" b="0" i="1" smtClean="0">
                                              <a:solidFill>
                                                <a:srgbClr val="C00000"/>
                                              </a:solidFill>
                                              <a:latin typeface="Cambria Math" panose="02040503050406030204" pitchFamily="18" charset="0"/>
                                            </a:rPr>
                                            <m:t>−</m:t>
                                          </m:r>
                                          <m:r>
                                            <a:rPr lang="en-US" sz="2000" b="0" i="1" smtClean="0">
                                              <a:solidFill>
                                                <a:srgbClr val="C00000"/>
                                              </a:solidFill>
                                              <a:latin typeface="Cambria Math" panose="02040503050406030204" pitchFamily="18" charset="0"/>
                                            </a:rPr>
                                            <m:t>𝛽</m:t>
                                          </m:r>
                                          <m:r>
                                            <a:rPr lang="en-US" sz="2000" b="0" i="1" smtClean="0">
                                              <a:solidFill>
                                                <a:srgbClr val="C00000"/>
                                              </a:solidFill>
                                              <a:latin typeface="Cambria Math" panose="02040503050406030204" pitchFamily="18" charset="0"/>
                                              <a:ea typeface="Cambria Math" panose="02040503050406030204" pitchFamily="18" charset="0"/>
                                            </a:rPr>
                                            <m:t>∆</m:t>
                                          </m:r>
                                          <m:sSub>
                                            <m:sSubPr>
                                              <m:ctrlPr>
                                                <a:rPr lang="en-US" sz="2000" b="0" i="1" smtClean="0">
                                                  <a:solidFill>
                                                    <a:srgbClr val="C00000"/>
                                                  </a:solidFill>
                                                  <a:latin typeface="Cambria Math" panose="02040503050406030204" pitchFamily="18" charset="0"/>
                                                  <a:ea typeface="Cambria Math" panose="02040503050406030204" pitchFamily="18" charset="0"/>
                                                </a:rPr>
                                              </m:ctrlPr>
                                            </m:sSubPr>
                                            <m:e>
                                              <m:r>
                                                <a:rPr lang="en-US" sz="2000" b="0" i="1" smtClean="0">
                                                  <a:solidFill>
                                                    <a:srgbClr val="C00000"/>
                                                  </a:solidFill>
                                                  <a:latin typeface="Cambria Math" panose="02040503050406030204" pitchFamily="18" charset="0"/>
                                                  <a:ea typeface="Cambria Math" panose="02040503050406030204" pitchFamily="18" charset="0"/>
                                                </a:rPr>
                                                <m:t>𝐺</m:t>
                                              </m:r>
                                            </m:e>
                                            <m:sub>
                                              <m:r>
                                                <a:rPr lang="en-US" sz="2000" b="0" i="1" smtClean="0">
                                                  <a:solidFill>
                                                    <a:srgbClr val="C00000"/>
                                                  </a:solidFill>
                                                  <a:latin typeface="Cambria Math" panose="02040503050406030204" pitchFamily="18" charset="0"/>
                                                  <a:ea typeface="Cambria Math" panose="02040503050406030204" pitchFamily="18" charset="0"/>
                                                </a:rPr>
                                                <m:t>𝐵</m:t>
                                              </m:r>
                                            </m:sub>
                                          </m:sSub>
                                          <m:d>
                                            <m:dPr>
                                              <m:begChr m:val="["/>
                                              <m:endChr m:val="]"/>
                                              <m:ctrlPr>
                                                <a:rPr lang="en-US" sz="2000" b="0" i="1" smtClean="0">
                                                  <a:solidFill>
                                                    <a:srgbClr val="C00000"/>
                                                  </a:solidFill>
                                                  <a:latin typeface="Cambria Math" panose="02040503050406030204" pitchFamily="18" charset="0"/>
                                                  <a:ea typeface="Cambria Math" panose="02040503050406030204" pitchFamily="18" charset="0"/>
                                                </a:rPr>
                                              </m:ctrlPr>
                                            </m:dPr>
                                            <m:e>
                                              <m:r>
                                                <a:rPr lang="en-US" sz="2000" b="0" i="1" smtClean="0">
                                                  <a:solidFill>
                                                    <a:srgbClr val="C00000"/>
                                                  </a:solidFill>
                                                  <a:latin typeface="Cambria Math" panose="02040503050406030204" pitchFamily="18" charset="0"/>
                                                  <a:ea typeface="Cambria Math" panose="02040503050406030204" pitchFamily="18" charset="0"/>
                                                </a:rPr>
                                                <m:t>𝑔</m:t>
                                              </m:r>
                                              <m:r>
                                                <a:rPr lang="en-US" sz="2000" b="0" i="1" smtClean="0">
                                                  <a:solidFill>
                                                    <a:srgbClr val="C00000"/>
                                                  </a:solidFill>
                                                  <a:latin typeface="Cambria Math" panose="02040503050406030204" pitchFamily="18" charset="0"/>
                                                  <a:ea typeface="Cambria Math" panose="02040503050406030204" pitchFamily="18" charset="0"/>
                                                </a:rPr>
                                                <m:t>,</m:t>
                                              </m:r>
                                              <m:r>
                                                <a:rPr lang="en-US" sz="2000" b="0" i="1" smtClean="0">
                                                  <a:solidFill>
                                                    <a:srgbClr val="C00000"/>
                                                  </a:solidFill>
                                                  <a:latin typeface="Cambria Math" panose="02040503050406030204" pitchFamily="18" charset="0"/>
                                                  <a:ea typeface="Cambria Math" panose="02040503050406030204" pitchFamily="18" charset="0"/>
                                                </a:rPr>
                                                <m:t>𝑡</m:t>
                                              </m:r>
                                            </m:e>
                                          </m:d>
                                        </m:sup>
                                      </m:sSup>
                                    </m:e>
                                  </m:nary>
                                </m:num>
                                <m:den>
                                  <m:nary>
                                    <m:naryPr>
                                      <m:chr m:val="∑"/>
                                      <m:supHide m:val="on"/>
                                      <m:ctrlPr>
                                        <a:rPr lang="en-US" sz="2000" b="0" i="1" smtClean="0">
                                          <a:solidFill>
                                            <a:schemeClr val="tx2"/>
                                          </a:solidFill>
                                          <a:latin typeface="Cambria Math" panose="02040503050406030204" pitchFamily="18" charset="0"/>
                                        </a:rPr>
                                      </m:ctrlPr>
                                    </m:naryPr>
                                    <m:sub>
                                      <m:r>
                                        <a:rPr lang="en-US" sz="2000" b="0" i="1" smtClean="0">
                                          <a:solidFill>
                                            <a:schemeClr val="tx2"/>
                                          </a:solidFill>
                                          <a:latin typeface="Cambria Math" panose="02040503050406030204" pitchFamily="18" charset="0"/>
                                        </a:rPr>
                                        <m:t>∀</m:t>
                                      </m:r>
                                      <m:r>
                                        <a:rPr lang="en-US" sz="2000" b="0" i="1" smtClean="0">
                                          <a:solidFill>
                                            <a:schemeClr val="tx2"/>
                                          </a:solidFill>
                                          <a:latin typeface="Cambria Math" panose="02040503050406030204" pitchFamily="18" charset="0"/>
                                        </a:rPr>
                                        <m:t>𝑡</m:t>
                                      </m:r>
                                      <m:r>
                                        <a:rPr lang="en-US" sz="2000" b="0" i="1" smtClean="0">
                                          <a:solidFill>
                                            <a:schemeClr val="tx2"/>
                                          </a:solidFill>
                                          <a:latin typeface="Cambria Math" panose="02040503050406030204" pitchFamily="18" charset="0"/>
                                          <a:ea typeface="Cambria Math" panose="02040503050406030204" pitchFamily="18" charset="0"/>
                                        </a:rPr>
                                        <m:t>∈</m:t>
                                      </m:r>
                                      <m:sSub>
                                        <m:sSubPr>
                                          <m:ctrlPr>
                                            <a:rPr lang="en-US" sz="2000" b="0" i="1" smtClean="0">
                                              <a:solidFill>
                                                <a:schemeClr val="tx2"/>
                                              </a:solidFill>
                                              <a:latin typeface="Cambria Math" panose="02040503050406030204" pitchFamily="18" charset="0"/>
                                              <a:ea typeface="Cambria Math" panose="02040503050406030204" pitchFamily="18" charset="0"/>
                                            </a:rPr>
                                          </m:ctrlPr>
                                        </m:sSubPr>
                                        <m:e>
                                          <m:r>
                                            <a:rPr lang="en-US" sz="2000" b="0" i="1" smtClean="0">
                                              <a:solidFill>
                                                <a:schemeClr val="tx2"/>
                                              </a:solidFill>
                                              <a:latin typeface="Cambria Math" panose="02040503050406030204" pitchFamily="18" charset="0"/>
                                              <a:ea typeface="Cambria Math" panose="02040503050406030204" pitchFamily="18" charset="0"/>
                                            </a:rPr>
                                            <m:t>𝑇</m:t>
                                          </m:r>
                                        </m:e>
                                        <m:sub>
                                          <m:r>
                                            <a:rPr lang="en-US" sz="2000" b="0" i="1" smtClean="0">
                                              <a:solidFill>
                                                <a:schemeClr val="tx2"/>
                                              </a:solidFill>
                                              <a:latin typeface="Cambria Math" panose="02040503050406030204" pitchFamily="18" charset="0"/>
                                              <a:ea typeface="Cambria Math" panose="02040503050406030204" pitchFamily="18" charset="0"/>
                                            </a:rPr>
                                            <m:t>𝑔</m:t>
                                          </m:r>
                                        </m:sub>
                                      </m:sSub>
                                    </m:sub>
                                    <m:sup/>
                                    <m:e>
                                      <m:sSup>
                                        <m:sSupPr>
                                          <m:ctrlPr>
                                            <a:rPr lang="en-US" sz="2000" b="0" i="1" smtClean="0">
                                              <a:solidFill>
                                                <a:schemeClr val="tx2"/>
                                              </a:solidFill>
                                              <a:latin typeface="Cambria Math" panose="02040503050406030204" pitchFamily="18" charset="0"/>
                                            </a:rPr>
                                          </m:ctrlPr>
                                        </m:sSupPr>
                                        <m:e>
                                          <m:r>
                                            <a:rPr lang="en-US" sz="2000" b="0" i="1" smtClean="0">
                                              <a:solidFill>
                                                <a:schemeClr val="tx2"/>
                                              </a:solidFill>
                                              <a:latin typeface="Cambria Math" panose="02040503050406030204" pitchFamily="18" charset="0"/>
                                            </a:rPr>
                                            <m:t>𝑒</m:t>
                                          </m:r>
                                        </m:e>
                                        <m:sup>
                                          <m:r>
                                            <a:rPr lang="en-US" sz="2000" b="0" i="1" smtClean="0">
                                              <a:solidFill>
                                                <a:schemeClr val="tx2"/>
                                              </a:solidFill>
                                              <a:latin typeface="Cambria Math" panose="02040503050406030204" pitchFamily="18" charset="0"/>
                                            </a:rPr>
                                            <m:t>−</m:t>
                                          </m:r>
                                          <m:r>
                                            <a:rPr lang="en-US" sz="2000" b="0" i="1" smtClean="0">
                                              <a:solidFill>
                                                <a:schemeClr val="tx2"/>
                                              </a:solidFill>
                                              <a:latin typeface="Cambria Math" panose="02040503050406030204" pitchFamily="18" charset="0"/>
                                            </a:rPr>
                                            <m:t>𝛽</m:t>
                                          </m:r>
                                          <m:r>
                                            <a:rPr lang="en-US" sz="2000" b="0" i="1" smtClean="0">
                                              <a:solidFill>
                                                <a:schemeClr val="tx2"/>
                                              </a:solidFill>
                                              <a:latin typeface="Cambria Math" panose="02040503050406030204" pitchFamily="18" charset="0"/>
                                              <a:ea typeface="Cambria Math" panose="02040503050406030204" pitchFamily="18" charset="0"/>
                                            </a:rPr>
                                            <m:t>∆</m:t>
                                          </m:r>
                                          <m:sSub>
                                            <m:sSubPr>
                                              <m:ctrlPr>
                                                <a:rPr lang="en-US" sz="2000" b="0" i="1" smtClean="0">
                                                  <a:solidFill>
                                                    <a:schemeClr val="tx2"/>
                                                  </a:solidFill>
                                                  <a:latin typeface="Cambria Math" panose="02040503050406030204" pitchFamily="18" charset="0"/>
                                                  <a:ea typeface="Cambria Math" panose="02040503050406030204" pitchFamily="18" charset="0"/>
                                                </a:rPr>
                                              </m:ctrlPr>
                                            </m:sSubPr>
                                            <m:e>
                                              <m:r>
                                                <a:rPr lang="en-US" sz="2000" b="0" i="1" smtClean="0">
                                                  <a:solidFill>
                                                    <a:schemeClr val="tx2"/>
                                                  </a:solidFill>
                                                  <a:latin typeface="Cambria Math" panose="02040503050406030204" pitchFamily="18" charset="0"/>
                                                  <a:ea typeface="Cambria Math" panose="02040503050406030204" pitchFamily="18" charset="0"/>
                                                </a:rPr>
                                                <m:t>𝐺</m:t>
                                              </m:r>
                                            </m:e>
                                            <m:sub>
                                              <m:r>
                                                <a:rPr lang="en-US" sz="2000" b="0" i="1" smtClean="0">
                                                  <a:solidFill>
                                                    <a:schemeClr val="tx2"/>
                                                  </a:solidFill>
                                                  <a:latin typeface="Cambria Math" panose="02040503050406030204" pitchFamily="18" charset="0"/>
                                                  <a:ea typeface="Cambria Math" panose="02040503050406030204" pitchFamily="18" charset="0"/>
                                                </a:rPr>
                                                <m:t>𝐵</m:t>
                                              </m:r>
                                            </m:sub>
                                          </m:sSub>
                                          <m:d>
                                            <m:dPr>
                                              <m:begChr m:val="["/>
                                              <m:endChr m:val="]"/>
                                              <m:ctrlPr>
                                                <a:rPr lang="en-US" sz="2000" b="0" i="1" smtClean="0">
                                                  <a:solidFill>
                                                    <a:schemeClr val="tx2"/>
                                                  </a:solidFill>
                                                  <a:latin typeface="Cambria Math" panose="02040503050406030204" pitchFamily="18" charset="0"/>
                                                  <a:ea typeface="Cambria Math" panose="02040503050406030204" pitchFamily="18" charset="0"/>
                                                </a:rPr>
                                              </m:ctrlPr>
                                            </m:dPr>
                                            <m:e>
                                              <m:r>
                                                <a:rPr lang="en-US" sz="2000" b="0" i="1" smtClean="0">
                                                  <a:solidFill>
                                                    <a:schemeClr val="tx2"/>
                                                  </a:solidFill>
                                                  <a:latin typeface="Cambria Math" panose="02040503050406030204" pitchFamily="18" charset="0"/>
                                                  <a:ea typeface="Cambria Math" panose="02040503050406030204" pitchFamily="18" charset="0"/>
                                                </a:rPr>
                                                <m:t>𝑔</m:t>
                                              </m:r>
                                              <m:r>
                                                <a:rPr lang="en-US" sz="2000" b="0" i="1" smtClean="0">
                                                  <a:solidFill>
                                                    <a:schemeClr val="tx2"/>
                                                  </a:solidFill>
                                                  <a:latin typeface="Cambria Math" panose="02040503050406030204" pitchFamily="18" charset="0"/>
                                                  <a:ea typeface="Cambria Math" panose="02040503050406030204" pitchFamily="18" charset="0"/>
                                                </a:rPr>
                                                <m:t>,</m:t>
                                              </m:r>
                                              <m:r>
                                                <a:rPr lang="en-US" sz="2000" b="0" i="1" smtClean="0">
                                                  <a:solidFill>
                                                    <a:schemeClr val="tx2"/>
                                                  </a:solidFill>
                                                  <a:latin typeface="Cambria Math" panose="02040503050406030204" pitchFamily="18" charset="0"/>
                                                  <a:ea typeface="Cambria Math" panose="02040503050406030204" pitchFamily="18" charset="0"/>
                                                </a:rPr>
                                                <m:t>𝑡</m:t>
                                              </m:r>
                                            </m:e>
                                          </m:d>
                                        </m:sup>
                                      </m:sSup>
                                    </m:e>
                                  </m:nary>
                                </m:den>
                              </m:f>
                            </m:e>
                          </m:d>
                        </m:e>
                      </m:func>
                    </m:oMath>
                  </m:oMathPara>
                </a14:m>
                <a:endParaRPr lang="en-IN" sz="2000"/>
              </a:p>
            </p:txBody>
          </p:sp>
        </mc:Choice>
        <mc:Fallback xmlns="">
          <p:sp>
            <p:nvSpPr>
              <p:cNvPr id="4" name="TextBox 3">
                <a:extLst>
                  <a:ext uri="{FF2B5EF4-FFF2-40B4-BE49-F238E27FC236}">
                    <a16:creationId xmlns:a16="http://schemas.microsoft.com/office/drawing/2014/main" id="{3DBE5BE2-5247-3457-87AC-7143993D5FC5}"/>
                  </a:ext>
                </a:extLst>
              </p:cNvPr>
              <p:cNvSpPr txBox="1">
                <a:spLocks noRot="1" noChangeAspect="1" noMove="1" noResize="1" noEditPoints="1" noAdjustHandles="1" noChangeArrowheads="1" noChangeShapeType="1" noTextEdit="1"/>
              </p:cNvSpPr>
              <p:nvPr/>
            </p:nvSpPr>
            <p:spPr>
              <a:xfrm>
                <a:off x="658866" y="1945995"/>
                <a:ext cx="6737977" cy="3398879"/>
              </a:xfrm>
              <a:prstGeom prst="rect">
                <a:avLst/>
              </a:prstGeom>
              <a:blipFill>
                <a:blip r:embed="rId3"/>
                <a:stretch>
                  <a:fillRect l="-814"/>
                </a:stretch>
              </a:blipFill>
            </p:spPr>
            <p:txBody>
              <a:bodyPr/>
              <a:lstStyle/>
              <a:p>
                <a:r>
                  <a:rPr lang="en-IN">
                    <a:noFill/>
                  </a:rPr>
                  <a:t> </a:t>
                </a:r>
              </a:p>
            </p:txBody>
          </p:sp>
        </mc:Fallback>
      </mc:AlternateContent>
      <p:sp>
        <p:nvSpPr>
          <p:cNvPr id="7" name="TextBox 6">
            <a:extLst>
              <a:ext uri="{FF2B5EF4-FFF2-40B4-BE49-F238E27FC236}">
                <a16:creationId xmlns:a16="http://schemas.microsoft.com/office/drawing/2014/main" id="{18F03203-9079-A9CA-9BB3-321EB232E8EF}"/>
              </a:ext>
            </a:extLst>
          </p:cNvPr>
          <p:cNvSpPr txBox="1"/>
          <p:nvPr/>
        </p:nvSpPr>
        <p:spPr>
          <a:xfrm>
            <a:off x="658866" y="330455"/>
            <a:ext cx="10216055" cy="1446550"/>
          </a:xfrm>
          <a:prstGeom prst="rect">
            <a:avLst/>
          </a:prstGeom>
          <a:noFill/>
        </p:spPr>
        <p:txBody>
          <a:bodyPr wrap="square" rtlCol="0">
            <a:spAutoFit/>
          </a:bodyPr>
          <a:lstStyle/>
          <a:p>
            <a:pPr algn="ctr"/>
            <a:r>
              <a:rPr lang="en-US" sz="3200" b="1">
                <a:solidFill>
                  <a:srgbClr val="C00000"/>
                </a:solidFill>
              </a:rPr>
              <a:t>THE PAPER: CRISPR-Cas9 off-targeting assessment with nucleic acid duplex energy parameters</a:t>
            </a:r>
          </a:p>
          <a:p>
            <a:pPr algn="ctr"/>
            <a:r>
              <a:rPr lang="en-US" sz="2400"/>
              <a:t>Alkan et al., Genome Biology, 2018</a:t>
            </a:r>
            <a:endParaRPr lang="en-IN" sz="2400"/>
          </a:p>
        </p:txBody>
      </p:sp>
      <p:pic>
        <p:nvPicPr>
          <p:cNvPr id="2" name="Picture 1">
            <a:extLst>
              <a:ext uri="{FF2B5EF4-FFF2-40B4-BE49-F238E27FC236}">
                <a16:creationId xmlns:a16="http://schemas.microsoft.com/office/drawing/2014/main" id="{9CCC64A9-4E02-8470-5364-9390CFE8FA85}"/>
              </a:ext>
            </a:extLst>
          </p:cNvPr>
          <p:cNvPicPr>
            <a:picLocks noChangeAspect="1"/>
          </p:cNvPicPr>
          <p:nvPr/>
        </p:nvPicPr>
        <p:blipFill>
          <a:blip r:embed="rId4"/>
          <a:stretch>
            <a:fillRect/>
          </a:stretch>
        </p:blipFill>
        <p:spPr>
          <a:xfrm>
            <a:off x="7875724" y="2488742"/>
            <a:ext cx="3478076" cy="3997076"/>
          </a:xfrm>
          <a:prstGeom prst="rect">
            <a:avLst/>
          </a:prstGeom>
        </p:spPr>
      </p:pic>
      <p:sp>
        <p:nvSpPr>
          <p:cNvPr id="6" name="TextBox 5">
            <a:extLst>
              <a:ext uri="{FF2B5EF4-FFF2-40B4-BE49-F238E27FC236}">
                <a16:creationId xmlns:a16="http://schemas.microsoft.com/office/drawing/2014/main" id="{DF61BAFF-F89D-5C02-E71A-F08419ECC28B}"/>
              </a:ext>
            </a:extLst>
          </p:cNvPr>
          <p:cNvSpPr txBox="1"/>
          <p:nvPr/>
        </p:nvSpPr>
        <p:spPr>
          <a:xfrm>
            <a:off x="7640842" y="1633832"/>
            <a:ext cx="4404511" cy="830997"/>
          </a:xfrm>
          <a:prstGeom prst="rect">
            <a:avLst/>
          </a:prstGeom>
          <a:noFill/>
        </p:spPr>
        <p:txBody>
          <a:bodyPr wrap="square">
            <a:spAutoFit/>
          </a:bodyPr>
          <a:lstStyle/>
          <a:p>
            <a:pPr lvl="1"/>
            <a:r>
              <a:rPr lang="en-US" sz="1600">
                <a:solidFill>
                  <a:srgbClr val="000000"/>
                </a:solidFill>
                <a:latin typeface="Aptos" panose="020B0004020202020204" pitchFamily="34" charset="0"/>
              </a:rPr>
              <a:t>S</a:t>
            </a:r>
            <a:r>
              <a:rPr lang="en-US" sz="1600" b="0" i="0" u="none" strike="noStrike" baseline="0">
                <a:solidFill>
                  <a:srgbClr val="000000"/>
                </a:solidFill>
                <a:latin typeface="Aptos" panose="020B0004020202020204" pitchFamily="34" charset="0"/>
              </a:rPr>
              <a:t>trong negative correlation between the predicted specificity and off-target read counts. </a:t>
            </a:r>
            <a:endParaRPr lang="en-IN" sz="1600"/>
          </a:p>
        </p:txBody>
      </p:sp>
      <p:sp>
        <p:nvSpPr>
          <p:cNvPr id="9" name="TextBox 8">
            <a:extLst>
              <a:ext uri="{FF2B5EF4-FFF2-40B4-BE49-F238E27FC236}">
                <a16:creationId xmlns:a16="http://schemas.microsoft.com/office/drawing/2014/main" id="{41DAC77E-734D-078E-2A77-A31AF58D5418}"/>
              </a:ext>
            </a:extLst>
          </p:cNvPr>
          <p:cNvSpPr txBox="1"/>
          <p:nvPr/>
        </p:nvSpPr>
        <p:spPr>
          <a:xfrm>
            <a:off x="4430828" y="3606020"/>
            <a:ext cx="2821310" cy="707630"/>
          </a:xfrm>
          <a:prstGeom prst="rect">
            <a:avLst/>
          </a:prstGeom>
          <a:noFill/>
        </p:spPr>
        <p:txBody>
          <a:bodyPr wrap="square">
            <a:spAutoFit/>
          </a:bodyPr>
          <a:lstStyle/>
          <a:p>
            <a:pPr>
              <a:lnSpc>
                <a:spcPct val="150000"/>
              </a:lnSpc>
            </a:pPr>
            <a:r>
              <a:rPr lang="en-US" sz="1400">
                <a:solidFill>
                  <a:srgbClr val="C00000"/>
                </a:solidFill>
                <a:sym typeface="Wingdings" panose="05000000000000000000" pitchFamily="2" charset="2"/>
              </a:rPr>
              <a:t>Summed probability of all potential off-target interactions</a:t>
            </a:r>
            <a:r>
              <a:rPr lang="en-US" sz="1400">
                <a:sym typeface="Wingdings" panose="05000000000000000000" pitchFamily="2" charset="2"/>
              </a:rPr>
              <a:t>.</a:t>
            </a:r>
          </a:p>
        </p:txBody>
      </p:sp>
      <p:sp>
        <p:nvSpPr>
          <p:cNvPr id="11" name="TextBox 10">
            <a:extLst>
              <a:ext uri="{FF2B5EF4-FFF2-40B4-BE49-F238E27FC236}">
                <a16:creationId xmlns:a16="http://schemas.microsoft.com/office/drawing/2014/main" id="{3C607403-03DA-CE29-2AC7-3C80D2ED5B1A}"/>
              </a:ext>
            </a:extLst>
          </p:cNvPr>
          <p:cNvSpPr txBox="1"/>
          <p:nvPr/>
        </p:nvSpPr>
        <p:spPr>
          <a:xfrm>
            <a:off x="4509592" y="5266045"/>
            <a:ext cx="2514601" cy="707630"/>
          </a:xfrm>
          <a:prstGeom prst="rect">
            <a:avLst/>
          </a:prstGeom>
          <a:noFill/>
        </p:spPr>
        <p:txBody>
          <a:bodyPr wrap="square">
            <a:spAutoFit/>
          </a:bodyPr>
          <a:lstStyle/>
          <a:p>
            <a:pPr>
              <a:lnSpc>
                <a:spcPct val="150000"/>
              </a:lnSpc>
            </a:pPr>
            <a:r>
              <a:rPr lang="en-US" sz="1400">
                <a:solidFill>
                  <a:schemeClr val="tx2"/>
                </a:solidFill>
                <a:sym typeface="Wingdings" panose="05000000000000000000" pitchFamily="2" charset="2"/>
              </a:rPr>
              <a:t>Summed probability of all potential interactions.</a:t>
            </a:r>
          </a:p>
        </p:txBody>
      </p:sp>
      <p:sp>
        <p:nvSpPr>
          <p:cNvPr id="12" name="Slide Number Placeholder 11">
            <a:extLst>
              <a:ext uri="{FF2B5EF4-FFF2-40B4-BE49-F238E27FC236}">
                <a16:creationId xmlns:a16="http://schemas.microsoft.com/office/drawing/2014/main" id="{8D1A96B7-0264-4274-0789-D56EC49E25E3}"/>
              </a:ext>
            </a:extLst>
          </p:cNvPr>
          <p:cNvSpPr>
            <a:spLocks noGrp="1"/>
          </p:cNvSpPr>
          <p:nvPr>
            <p:ph type="sldNum" sz="quarter" idx="12"/>
          </p:nvPr>
        </p:nvSpPr>
        <p:spPr/>
        <p:txBody>
          <a:bodyPr/>
          <a:lstStyle/>
          <a:p>
            <a:fld id="{5726A261-CBDC-45C6-994B-4400E8D6835A}" type="slidenum">
              <a:rPr lang="en-IN" smtClean="0"/>
              <a:t>9</a:t>
            </a:fld>
            <a:endParaRPr lang="en-IN"/>
          </a:p>
        </p:txBody>
      </p:sp>
      <p:sp>
        <p:nvSpPr>
          <p:cNvPr id="13" name="Rectangle 12">
            <a:extLst>
              <a:ext uri="{FF2B5EF4-FFF2-40B4-BE49-F238E27FC236}">
                <a16:creationId xmlns:a16="http://schemas.microsoft.com/office/drawing/2014/main" id="{C9E251CB-199E-F881-CCA7-7ED7C804C350}"/>
              </a:ext>
            </a:extLst>
          </p:cNvPr>
          <p:cNvSpPr/>
          <p:nvPr/>
        </p:nvSpPr>
        <p:spPr>
          <a:xfrm>
            <a:off x="237744" y="160438"/>
            <a:ext cx="11795760" cy="653712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47361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E220F-EFB3-1046-157A-74D996504421}"/>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A923A159-A301-AF50-07A2-14B3C3490E4B}"/>
              </a:ext>
            </a:extLst>
          </p:cNvPr>
          <p:cNvSpPr txBox="1"/>
          <p:nvPr/>
        </p:nvSpPr>
        <p:spPr>
          <a:xfrm>
            <a:off x="0" y="241930"/>
            <a:ext cx="12066076" cy="707886"/>
          </a:xfrm>
          <a:prstGeom prst="rect">
            <a:avLst/>
          </a:prstGeom>
          <a:noFill/>
        </p:spPr>
        <p:txBody>
          <a:bodyPr wrap="square" rtlCol="0">
            <a:spAutoFit/>
          </a:bodyPr>
          <a:lstStyle/>
          <a:p>
            <a:pPr algn="ctr"/>
            <a:r>
              <a:rPr lang="en-US" sz="4000" b="1">
                <a:solidFill>
                  <a:srgbClr val="C00000"/>
                </a:solidFill>
              </a:rPr>
              <a:t>To-do list</a:t>
            </a:r>
          </a:p>
        </p:txBody>
      </p:sp>
      <p:sp>
        <p:nvSpPr>
          <p:cNvPr id="13" name="Rectangle 3">
            <a:extLst>
              <a:ext uri="{FF2B5EF4-FFF2-40B4-BE49-F238E27FC236}">
                <a16:creationId xmlns:a16="http://schemas.microsoft.com/office/drawing/2014/main" id="{C96A95EF-2F36-073C-919A-D770C65AC866}"/>
              </a:ext>
            </a:extLst>
          </p:cNvPr>
          <p:cNvSpPr>
            <a:spLocks noChangeArrowheads="1"/>
          </p:cNvSpPr>
          <p:nvPr/>
        </p:nvSpPr>
        <p:spPr bwMode="auto">
          <a:xfrm>
            <a:off x="-4490357" y="3914589"/>
            <a:ext cx="3289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4A61C42-729A-4E32-A589-8D166B977525}"/>
                  </a:ext>
                </a:extLst>
              </p:cNvPr>
              <p:cNvSpPr txBox="1"/>
              <p:nvPr/>
            </p:nvSpPr>
            <p:spPr>
              <a:xfrm>
                <a:off x="508786" y="1242424"/>
                <a:ext cx="11445470" cy="502503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b="1"/>
                  <a:t>How does the binding stability (</a:t>
                </a:r>
                <a14:m>
                  <m:oMath xmlns:m="http://schemas.openxmlformats.org/officeDocument/2006/math">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0" smtClean="0">
                            <a:solidFill>
                              <a:schemeClr val="tx1"/>
                            </a:solidFill>
                            <a:latin typeface="Cambria Math" panose="02040503050406030204" pitchFamily="18" charset="0"/>
                            <a:ea typeface="Cambria Math" panose="02040503050406030204" pitchFamily="18" charset="0"/>
                          </a:rPr>
                          <m:t>𝚪</m:t>
                        </m:r>
                      </m:e>
                      <m:sub>
                        <m:r>
                          <a:rPr lang="en-US" sz="2400" b="1" i="0" smtClean="0">
                            <a:solidFill>
                              <a:schemeClr val="tx1"/>
                            </a:solidFill>
                            <a:latin typeface="Cambria Math" panose="02040503050406030204" pitchFamily="18" charset="0"/>
                            <a:ea typeface="Cambria Math" panose="02040503050406030204" pitchFamily="18" charset="0"/>
                          </a:rPr>
                          <m:t>𝐂𝐚𝐬</m:t>
                        </m:r>
                      </m:sub>
                    </m:sSub>
                  </m:oMath>
                </a14:m>
                <a:r>
                  <a:rPr lang="en-US" sz="2400" b="1"/>
                  <a:t>) change? [Till 11/20]</a:t>
                </a:r>
              </a:p>
              <a:p>
                <a:pPr marL="800100" lvl="1" indent="-342900">
                  <a:lnSpc>
                    <a:spcPct val="150000"/>
                  </a:lnSpc>
                  <a:buFont typeface="Arial" panose="020B0604020202020204" pitchFamily="34" charset="0"/>
                  <a:buChar char="•"/>
                </a:pPr>
                <a:r>
                  <a:rPr lang="en-US" sz="2400"/>
                  <a:t>For Cas12, Staggered cut compared to blunt cut by Cas9. </a:t>
                </a:r>
                <a:r>
                  <a:rPr lang="en-US" sz="2400" u="sng"/>
                  <a:t>Kinetic data available</a:t>
                </a:r>
                <a:r>
                  <a:rPr lang="en-US" sz="2400"/>
                  <a:t>.</a:t>
                </a:r>
              </a:p>
              <a:p>
                <a:pPr marL="800100" lvl="1" indent="-342900">
                  <a:lnSpc>
                    <a:spcPct val="150000"/>
                  </a:lnSpc>
                  <a:buFont typeface="Arial" panose="020B0604020202020204" pitchFamily="34" charset="0"/>
                  <a:buChar char="•"/>
                </a:pPr>
                <a:r>
                  <a:rPr lang="en-US" sz="2400"/>
                  <a:t>For Cas13, binding stability depends on base-pairing? </a:t>
                </a:r>
                <a:r>
                  <a:rPr lang="en-US" sz="2400" u="sng"/>
                  <a:t>No kinetic data.</a:t>
                </a:r>
                <a:endParaRPr lang="en-US" sz="2400"/>
              </a:p>
              <a:p>
                <a:pPr marL="1257300" lvl="2" indent="-342900">
                  <a:lnSpc>
                    <a:spcPct val="150000"/>
                  </a:lnSpc>
                  <a:buFont typeface="Arial" panose="020B0604020202020204" pitchFamily="34" charset="0"/>
                  <a:buChar char="•"/>
                </a:pPr>
                <a:r>
                  <a:rPr lang="en-US" sz="2400"/>
                  <a:t>Some sequences do not have a PFS. </a:t>
                </a:r>
                <a:endParaRPr lang="en-US" sz="2400" b="1"/>
              </a:p>
              <a:p>
                <a:pPr marL="342900" indent="-342900">
                  <a:lnSpc>
                    <a:spcPct val="150000"/>
                  </a:lnSpc>
                  <a:buFont typeface="Arial" panose="020B0604020202020204" pitchFamily="34" charset="0"/>
                  <a:buChar char="•"/>
                </a:pPr>
                <a:r>
                  <a:rPr lang="en-US" sz="2400" b="1"/>
                  <a:t>Can the binding energy model predict off-targets with Cas12? [Till 11/30]</a:t>
                </a:r>
              </a:p>
              <a:p>
                <a:pPr marL="800100" lvl="1" indent="-342900">
                  <a:lnSpc>
                    <a:spcPct val="150000"/>
                  </a:lnSpc>
                  <a:buFont typeface="Arial" panose="020B0604020202020204" pitchFamily="34" charset="0"/>
                  <a:buChar char="•"/>
                </a:pPr>
                <a:r>
                  <a:rPr lang="en-US" sz="2400"/>
                  <a:t>How does it compare with Cas9? </a:t>
                </a:r>
              </a:p>
              <a:p>
                <a:pPr marL="800100" lvl="1" indent="-342900">
                  <a:lnSpc>
                    <a:spcPct val="150000"/>
                  </a:lnSpc>
                  <a:buFont typeface="Arial" panose="020B0604020202020204" pitchFamily="34" charset="0"/>
                  <a:buChar char="•"/>
                </a:pPr>
                <a:r>
                  <a:rPr lang="en-US" sz="2400"/>
                  <a:t>Brien et al.,2023 with deep learning models on Cas9 and Cas12 off-targeting predictions with different genomes. </a:t>
                </a:r>
              </a:p>
              <a:p>
                <a:pPr marL="342900" indent="-342900">
                  <a:lnSpc>
                    <a:spcPct val="150000"/>
                  </a:lnSpc>
                  <a:buFont typeface="Arial" panose="020B0604020202020204" pitchFamily="34" charset="0"/>
                  <a:buChar char="•"/>
                </a:pPr>
                <a:endParaRPr lang="en-US" sz="2400"/>
              </a:p>
            </p:txBody>
          </p:sp>
        </mc:Choice>
        <mc:Fallback xmlns="">
          <p:sp>
            <p:nvSpPr>
              <p:cNvPr id="31" name="TextBox 30">
                <a:extLst>
                  <a:ext uri="{FF2B5EF4-FFF2-40B4-BE49-F238E27FC236}">
                    <a16:creationId xmlns:a16="http://schemas.microsoft.com/office/drawing/2014/main" id="{14A61C42-729A-4E32-A589-8D166B977525}"/>
                  </a:ext>
                </a:extLst>
              </p:cNvPr>
              <p:cNvSpPr txBox="1">
                <a:spLocks noRot="1" noChangeAspect="1" noMove="1" noResize="1" noEditPoints="1" noAdjustHandles="1" noChangeArrowheads="1" noChangeShapeType="1" noTextEdit="1"/>
              </p:cNvSpPr>
              <p:nvPr/>
            </p:nvSpPr>
            <p:spPr>
              <a:xfrm>
                <a:off x="508786" y="1242424"/>
                <a:ext cx="11445470" cy="5025030"/>
              </a:xfrm>
              <a:prstGeom prst="rect">
                <a:avLst/>
              </a:prstGeom>
              <a:blipFill>
                <a:blip r:embed="rId3"/>
                <a:stretch>
                  <a:fillRect l="-692" r="-479"/>
                </a:stretch>
              </a:blipFill>
            </p:spPr>
            <p:txBody>
              <a:bodyPr/>
              <a:lstStyle/>
              <a:p>
                <a:r>
                  <a:rPr lang="en-IN">
                    <a:noFill/>
                  </a:rPr>
                  <a:t> </a:t>
                </a:r>
              </a:p>
            </p:txBody>
          </p:sp>
        </mc:Fallback>
      </mc:AlternateContent>
      <p:sp>
        <p:nvSpPr>
          <p:cNvPr id="2" name="Slide Number Placeholder 1">
            <a:extLst>
              <a:ext uri="{FF2B5EF4-FFF2-40B4-BE49-F238E27FC236}">
                <a16:creationId xmlns:a16="http://schemas.microsoft.com/office/drawing/2014/main" id="{19631592-0769-223F-67E8-869385D26F34}"/>
              </a:ext>
            </a:extLst>
          </p:cNvPr>
          <p:cNvSpPr>
            <a:spLocks noGrp="1"/>
          </p:cNvSpPr>
          <p:nvPr>
            <p:ph type="sldNum" sz="quarter" idx="12"/>
          </p:nvPr>
        </p:nvSpPr>
        <p:spPr/>
        <p:txBody>
          <a:bodyPr/>
          <a:lstStyle/>
          <a:p>
            <a:fld id="{5726A261-CBDC-45C6-994B-4400E8D6835A}" type="slidenum">
              <a:rPr lang="en-IN" smtClean="0"/>
              <a:t>10</a:t>
            </a:fld>
            <a:endParaRPr lang="en-IN"/>
          </a:p>
        </p:txBody>
      </p:sp>
      <p:sp>
        <p:nvSpPr>
          <p:cNvPr id="3" name="Rectangle 2">
            <a:extLst>
              <a:ext uri="{FF2B5EF4-FFF2-40B4-BE49-F238E27FC236}">
                <a16:creationId xmlns:a16="http://schemas.microsoft.com/office/drawing/2014/main" id="{B2BED6D1-C991-F7C6-3F48-C27B8C270863}"/>
              </a:ext>
            </a:extLst>
          </p:cNvPr>
          <p:cNvSpPr/>
          <p:nvPr/>
        </p:nvSpPr>
        <p:spPr>
          <a:xfrm>
            <a:off x="237744" y="160438"/>
            <a:ext cx="11795760" cy="653712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5785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E255360-5759-41F6-880A-64F935C9BE5E}"/>
              </a:ext>
            </a:extLst>
          </p:cNvPr>
          <p:cNvSpPr txBox="1"/>
          <p:nvPr/>
        </p:nvSpPr>
        <p:spPr>
          <a:xfrm>
            <a:off x="-111820" y="1864677"/>
            <a:ext cx="12066076" cy="1107996"/>
          </a:xfrm>
          <a:prstGeom prst="rect">
            <a:avLst/>
          </a:prstGeom>
          <a:noFill/>
        </p:spPr>
        <p:txBody>
          <a:bodyPr wrap="square" rtlCol="0">
            <a:spAutoFit/>
          </a:bodyPr>
          <a:lstStyle/>
          <a:p>
            <a:pPr algn="ctr"/>
            <a:r>
              <a:rPr lang="en-US" sz="6600" b="1">
                <a:solidFill>
                  <a:srgbClr val="C00000"/>
                </a:solidFill>
              </a:rPr>
              <a:t>Questions?</a:t>
            </a:r>
          </a:p>
        </p:txBody>
      </p:sp>
      <p:sp>
        <p:nvSpPr>
          <p:cNvPr id="5" name="Slide Number Placeholder 4">
            <a:extLst>
              <a:ext uri="{FF2B5EF4-FFF2-40B4-BE49-F238E27FC236}">
                <a16:creationId xmlns:a16="http://schemas.microsoft.com/office/drawing/2014/main" id="{F725D1F5-5C3D-72D3-1F1C-33DA693FF037}"/>
              </a:ext>
            </a:extLst>
          </p:cNvPr>
          <p:cNvSpPr>
            <a:spLocks noGrp="1"/>
          </p:cNvSpPr>
          <p:nvPr>
            <p:ph type="sldNum" sz="quarter" idx="12"/>
          </p:nvPr>
        </p:nvSpPr>
        <p:spPr/>
        <p:txBody>
          <a:bodyPr/>
          <a:lstStyle/>
          <a:p>
            <a:fld id="{5726A261-CBDC-45C6-994B-4400E8D6835A}" type="slidenum">
              <a:rPr lang="en-IN" smtClean="0"/>
              <a:t>11</a:t>
            </a:fld>
            <a:endParaRPr lang="en-IN"/>
          </a:p>
        </p:txBody>
      </p:sp>
      <p:sp>
        <p:nvSpPr>
          <p:cNvPr id="6" name="Rectangle 5">
            <a:extLst>
              <a:ext uri="{FF2B5EF4-FFF2-40B4-BE49-F238E27FC236}">
                <a16:creationId xmlns:a16="http://schemas.microsoft.com/office/drawing/2014/main" id="{5AF754E7-AB40-59F2-C2F1-AFF54DC448EE}"/>
              </a:ext>
            </a:extLst>
          </p:cNvPr>
          <p:cNvSpPr/>
          <p:nvPr/>
        </p:nvSpPr>
        <p:spPr>
          <a:xfrm>
            <a:off x="237744" y="160438"/>
            <a:ext cx="11795760" cy="653712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857909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6227</TotalTime>
  <Words>1560</Words>
  <Application>Microsoft Macintosh PowerPoint</Application>
  <PresentationFormat>Widescreen</PresentationFormat>
  <Paragraphs>177</Paragraphs>
  <Slides>11</Slides>
  <Notes>8</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11</vt:i4>
      </vt:variant>
    </vt:vector>
  </HeadingPairs>
  <TitlesOfParts>
    <vt:vector size="25" baseType="lpstr">
      <vt:lpstr>Aptos</vt:lpstr>
      <vt:lpstr>Aptos Display</vt:lpstr>
      <vt:lpstr>Arial</vt:lpstr>
      <vt:lpstr>BddrfpRMTMI</vt:lpstr>
      <vt:lpstr>Cambria Math</vt:lpstr>
      <vt:lpstr>DmyjblWarnockPro-It</vt:lpstr>
      <vt:lpstr>ElsevierGulliver</vt:lpstr>
      <vt:lpstr>Google Sans</vt:lpstr>
      <vt:lpstr>Harding</vt:lpstr>
      <vt:lpstr>Helvetica Neue</vt:lpstr>
      <vt:lpstr>MgwfqbWarnockPro-Regular</vt:lpstr>
      <vt:lpstr>Open Sans</vt:lpstr>
      <vt:lpstr>Wingdings</vt:lpstr>
      <vt:lpstr>Office Theme</vt:lpstr>
      <vt:lpstr> CRISPR-Cas9: Predictions with free energy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Ashwin Amalaruban</dc:creator>
  <cp:lastModifiedBy>Ashwin Amalaruban M</cp:lastModifiedBy>
  <cp:revision>47</cp:revision>
  <dcterms:created xsi:type="dcterms:W3CDTF">2024-11-09T19:30:43Z</dcterms:created>
  <dcterms:modified xsi:type="dcterms:W3CDTF">2026-04-28T19:32:15Z</dcterms:modified>
</cp:coreProperties>
</file>