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716" r:id="rId3"/>
    <p:sldId id="715" r:id="rId4"/>
    <p:sldId id="717" r:id="rId5"/>
    <p:sldId id="722" r:id="rId6"/>
    <p:sldId id="454" r:id="rId7"/>
    <p:sldId id="723" r:id="rId8"/>
    <p:sldId id="718" r:id="rId9"/>
    <p:sldId id="720" r:id="rId10"/>
    <p:sldId id="704" r:id="rId11"/>
    <p:sldId id="698" r:id="rId12"/>
    <p:sldId id="703" r:id="rId13"/>
    <p:sldId id="725" r:id="rId14"/>
    <p:sldId id="726" r:id="rId15"/>
    <p:sldId id="727" r:id="rId16"/>
    <p:sldId id="705" r:id="rId17"/>
    <p:sldId id="706" r:id="rId18"/>
    <p:sldId id="707" r:id="rId19"/>
    <p:sldId id="683" r:id="rId20"/>
    <p:sldId id="711" r:id="rId21"/>
    <p:sldId id="710" r:id="rId22"/>
    <p:sldId id="709" r:id="rId23"/>
    <p:sldId id="719" r:id="rId24"/>
    <p:sldId id="724" r:id="rId25"/>
    <p:sldId id="697" r:id="rId26"/>
    <p:sldId id="695" r:id="rId27"/>
    <p:sldId id="696" r:id="rId28"/>
    <p:sldId id="699" r:id="rId29"/>
    <p:sldId id="712" r:id="rId30"/>
    <p:sldId id="64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p:restoredTop sz="84452"/>
  </p:normalViewPr>
  <p:slideViewPr>
    <p:cSldViewPr snapToGrid="0">
      <p:cViewPr varScale="1">
        <p:scale>
          <a:sx n="102" d="100"/>
          <a:sy n="102" d="100"/>
        </p:scale>
        <p:origin x="144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86E455-BA42-4BD9-A292-7CA61E51EC19}" type="datetimeFigureOut">
              <a:rPr lang="en-IN" smtClean="0"/>
              <a:t>30/04/26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E8D7C8-AE32-420C-BA6C-8D10A718A65B}" type="slidenum">
              <a:rPr lang="en-IN" smtClean="0"/>
              <a:t>‹#›</a:t>
            </a:fld>
            <a:endParaRPr lang="en-IN"/>
          </a:p>
        </p:txBody>
      </p:sp>
    </p:spTree>
    <p:extLst>
      <p:ext uri="{BB962C8B-B14F-4D97-AF65-F5344CB8AC3E}">
        <p14:creationId xmlns:p14="http://schemas.microsoft.com/office/powerpoint/2010/main" val="3009157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8D7C8-AE32-420C-BA6C-8D10A718A65B}" type="slidenum">
              <a:rPr lang="en-IN" smtClean="0"/>
              <a:t>1</a:t>
            </a:fld>
            <a:endParaRPr lang="en-IN"/>
          </a:p>
        </p:txBody>
      </p:sp>
    </p:spTree>
    <p:extLst>
      <p:ext uri="{BB962C8B-B14F-4D97-AF65-F5344CB8AC3E}">
        <p14:creationId xmlns:p14="http://schemas.microsoft.com/office/powerpoint/2010/main" val="1004641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0A3B6-1086-62EA-6D60-C2DB293D7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3D33B-C6BD-D35F-6EA7-9454BDA45E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BA4CF2-F0F1-0FFD-B043-7B317BE415A1}"/>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a GC pair in one sequence is replaced by an AU pair in another sequence. Comparative analysis is quite robust when a number of homologous sequences are available. Over 97% of base-pairs predicted for ribosomal RNA were demonstrated in subsequent crystal structures.</a:t>
            </a:r>
            <a:endParaRPr lang="en-US" dirty="0"/>
          </a:p>
        </p:txBody>
      </p:sp>
      <p:sp>
        <p:nvSpPr>
          <p:cNvPr id="4" name="Slide Number Placeholder 3">
            <a:extLst>
              <a:ext uri="{FF2B5EF4-FFF2-40B4-BE49-F238E27FC236}">
                <a16:creationId xmlns:a16="http://schemas.microsoft.com/office/drawing/2014/main" id="{8C4B6EF0-A70D-5677-1647-15741563A878}"/>
              </a:ext>
            </a:extLst>
          </p:cNvPr>
          <p:cNvSpPr>
            <a:spLocks noGrp="1"/>
          </p:cNvSpPr>
          <p:nvPr>
            <p:ph type="sldNum" sz="quarter" idx="5"/>
          </p:nvPr>
        </p:nvSpPr>
        <p:spPr/>
        <p:txBody>
          <a:bodyPr/>
          <a:lstStyle/>
          <a:p>
            <a:fld id="{73943695-D8D2-434F-BE28-4D8F9A7809A5}" type="slidenum">
              <a:rPr lang="en-IN" smtClean="0"/>
              <a:t>2</a:t>
            </a:fld>
            <a:endParaRPr lang="en-IN"/>
          </a:p>
        </p:txBody>
      </p:sp>
    </p:spTree>
    <p:extLst>
      <p:ext uri="{BB962C8B-B14F-4D97-AF65-F5344CB8AC3E}">
        <p14:creationId xmlns:p14="http://schemas.microsoft.com/office/powerpoint/2010/main" val="2057225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E0F38-F87C-1EBA-2D30-34598ED0A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E8283-AD4D-3D06-4746-90A18A00D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946FE2-6662-4DC4-C235-27BA37022671}"/>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a GC pair in one sequence is replaced by an AU pair in another sequence. Comparative analysis is quite robust when a number of homologous sequences are available. Over 97% of base-pairs predicted for ribosomal RNA were demonstrated in subsequent crystal structures.</a:t>
            </a:r>
            <a:endParaRPr lang="en-US" dirty="0"/>
          </a:p>
        </p:txBody>
      </p:sp>
      <p:sp>
        <p:nvSpPr>
          <p:cNvPr id="4" name="Slide Number Placeholder 3">
            <a:extLst>
              <a:ext uri="{FF2B5EF4-FFF2-40B4-BE49-F238E27FC236}">
                <a16:creationId xmlns:a16="http://schemas.microsoft.com/office/drawing/2014/main" id="{5C2FCB86-21A5-1C40-611F-15C5BB01F859}"/>
              </a:ext>
            </a:extLst>
          </p:cNvPr>
          <p:cNvSpPr>
            <a:spLocks noGrp="1"/>
          </p:cNvSpPr>
          <p:nvPr>
            <p:ph type="sldNum" sz="quarter" idx="5"/>
          </p:nvPr>
        </p:nvSpPr>
        <p:spPr/>
        <p:txBody>
          <a:bodyPr/>
          <a:lstStyle/>
          <a:p>
            <a:fld id="{73943695-D8D2-434F-BE28-4D8F9A7809A5}" type="slidenum">
              <a:rPr lang="en-IN" smtClean="0"/>
              <a:t>3</a:t>
            </a:fld>
            <a:endParaRPr lang="en-IN"/>
          </a:p>
        </p:txBody>
      </p:sp>
    </p:spTree>
    <p:extLst>
      <p:ext uri="{BB962C8B-B14F-4D97-AF65-F5344CB8AC3E}">
        <p14:creationId xmlns:p14="http://schemas.microsoft.com/office/powerpoint/2010/main" val="284335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F8D74-2D18-FE8C-6105-90FCA7BD0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C8316B-371C-392D-698F-BD40FF75B7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C7C19-B322-2228-F575-F0A62B3F1EDE}"/>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a GC pair in one sequence is replaced by an AU pair in another sequence. Comparative analysis is quite robust when a number of homologous sequences are available. Over 97% of base-pairs predicted for ribosomal RNA were demonstrated in subsequent crystal structures.</a:t>
            </a:r>
            <a:endParaRPr lang="en-US" dirty="0"/>
          </a:p>
        </p:txBody>
      </p:sp>
      <p:sp>
        <p:nvSpPr>
          <p:cNvPr id="4" name="Slide Number Placeholder 3">
            <a:extLst>
              <a:ext uri="{FF2B5EF4-FFF2-40B4-BE49-F238E27FC236}">
                <a16:creationId xmlns:a16="http://schemas.microsoft.com/office/drawing/2014/main" id="{4A3DE8D1-D14A-46DE-9D7B-0DD891EBE6F6}"/>
              </a:ext>
            </a:extLst>
          </p:cNvPr>
          <p:cNvSpPr>
            <a:spLocks noGrp="1"/>
          </p:cNvSpPr>
          <p:nvPr>
            <p:ph type="sldNum" sz="quarter" idx="5"/>
          </p:nvPr>
        </p:nvSpPr>
        <p:spPr/>
        <p:txBody>
          <a:bodyPr/>
          <a:lstStyle/>
          <a:p>
            <a:fld id="{73943695-D8D2-434F-BE28-4D8F9A7809A5}" type="slidenum">
              <a:rPr lang="en-IN" smtClean="0"/>
              <a:t>4</a:t>
            </a:fld>
            <a:endParaRPr lang="en-IN"/>
          </a:p>
        </p:txBody>
      </p:sp>
    </p:spTree>
    <p:extLst>
      <p:ext uri="{BB962C8B-B14F-4D97-AF65-F5344CB8AC3E}">
        <p14:creationId xmlns:p14="http://schemas.microsoft.com/office/powerpoint/2010/main" val="3892270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35A2D-3136-7379-694C-4E03E559F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44915-7643-50F8-52EF-1CC9EA3E84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F5691-40C0-0D40-FCBB-BC7270C1EED4}"/>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a GC pair in one sequence is replaced by an AU pair in another sequence. Comparative analysis is quite robust when a number of homologous sequences are available. Over 97% of base-pairs predicted for ribosomal RNA were demonstrated in subsequent crystal structures.</a:t>
            </a:r>
            <a:endParaRPr lang="en-US" dirty="0"/>
          </a:p>
        </p:txBody>
      </p:sp>
      <p:sp>
        <p:nvSpPr>
          <p:cNvPr id="4" name="Slide Number Placeholder 3">
            <a:extLst>
              <a:ext uri="{FF2B5EF4-FFF2-40B4-BE49-F238E27FC236}">
                <a16:creationId xmlns:a16="http://schemas.microsoft.com/office/drawing/2014/main" id="{1CFAAFC1-D908-9487-D1DF-CB102087B62A}"/>
              </a:ext>
            </a:extLst>
          </p:cNvPr>
          <p:cNvSpPr>
            <a:spLocks noGrp="1"/>
          </p:cNvSpPr>
          <p:nvPr>
            <p:ph type="sldNum" sz="quarter" idx="5"/>
          </p:nvPr>
        </p:nvSpPr>
        <p:spPr/>
        <p:txBody>
          <a:bodyPr/>
          <a:lstStyle/>
          <a:p>
            <a:fld id="{73943695-D8D2-434F-BE28-4D8F9A7809A5}" type="slidenum">
              <a:rPr lang="en-IN" smtClean="0"/>
              <a:t>5</a:t>
            </a:fld>
            <a:endParaRPr lang="en-IN"/>
          </a:p>
        </p:txBody>
      </p:sp>
    </p:spTree>
    <p:extLst>
      <p:ext uri="{BB962C8B-B14F-4D97-AF65-F5344CB8AC3E}">
        <p14:creationId xmlns:p14="http://schemas.microsoft.com/office/powerpoint/2010/main" val="3239705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they </a:t>
            </a:r>
            <a:r>
              <a:rPr lang="en-US" sz="1200" b="1" i="0" u="none" strike="noStrike" kern="1200" dirty="0">
                <a:solidFill>
                  <a:schemeClr val="tx1"/>
                </a:solidFill>
                <a:effectLst/>
                <a:latin typeface="+mn-lt"/>
                <a:ea typeface="+mn-ea"/>
                <a:cs typeface="+mn-cs"/>
              </a:rPr>
              <a:t>bias</a:t>
            </a:r>
            <a:r>
              <a:rPr lang="en-US" sz="1200" b="0" i="0" u="none" strike="noStrike" kern="1200" dirty="0">
                <a:solidFill>
                  <a:schemeClr val="tx1"/>
                </a:solidFill>
                <a:effectLst/>
                <a:latin typeface="+mn-lt"/>
                <a:ea typeface="+mn-ea"/>
                <a:cs typeface="+mn-cs"/>
              </a:rPr>
              <a:t> it toward structures that the RNA actually occupies in solution, which substantially improves prediction accuracy</a:t>
            </a:r>
            <a:endParaRPr lang="en-US" dirty="0"/>
          </a:p>
        </p:txBody>
      </p:sp>
      <p:sp>
        <p:nvSpPr>
          <p:cNvPr id="4" name="Slide Number Placeholder 3"/>
          <p:cNvSpPr>
            <a:spLocks noGrp="1"/>
          </p:cNvSpPr>
          <p:nvPr>
            <p:ph type="sldNum" sz="quarter" idx="5"/>
          </p:nvPr>
        </p:nvSpPr>
        <p:spPr/>
        <p:txBody>
          <a:bodyPr/>
          <a:lstStyle/>
          <a:p>
            <a:fld id="{73943695-D8D2-434F-BE28-4D8F9A7809A5}" type="slidenum">
              <a:rPr lang="en-IN" smtClean="0"/>
              <a:t>6</a:t>
            </a:fld>
            <a:endParaRPr lang="en-IN"/>
          </a:p>
        </p:txBody>
      </p:sp>
    </p:spTree>
    <p:extLst>
      <p:ext uri="{BB962C8B-B14F-4D97-AF65-F5344CB8AC3E}">
        <p14:creationId xmlns:p14="http://schemas.microsoft.com/office/powerpoint/2010/main" val="2609146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814E2-3A84-ED2D-32B6-55E5E6C298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86BDC-6830-A19A-D648-D5C8363C1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B0DC79-ED64-CD56-9590-3A9F8CC34A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B06D7B-7890-A56E-9D8E-AB5A858D427B}"/>
              </a:ext>
            </a:extLst>
          </p:cNvPr>
          <p:cNvSpPr>
            <a:spLocks noGrp="1"/>
          </p:cNvSpPr>
          <p:nvPr>
            <p:ph type="sldNum" sz="quarter" idx="5"/>
          </p:nvPr>
        </p:nvSpPr>
        <p:spPr/>
        <p:txBody>
          <a:bodyPr/>
          <a:lstStyle/>
          <a:p>
            <a:fld id="{73943695-D8D2-434F-BE28-4D8F9A7809A5}" type="slidenum">
              <a:rPr lang="en-IN" smtClean="0"/>
              <a:t>7</a:t>
            </a:fld>
            <a:endParaRPr lang="en-IN"/>
          </a:p>
        </p:txBody>
      </p:sp>
    </p:spTree>
    <p:extLst>
      <p:ext uri="{BB962C8B-B14F-4D97-AF65-F5344CB8AC3E}">
        <p14:creationId xmlns:p14="http://schemas.microsoft.com/office/powerpoint/2010/main" val="467636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2F7B8-DDE3-72EB-803A-F5CA3AE34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6D360-7BC2-E8C1-C3BD-692FD291CF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DFE3D-FAB3-4FB9-B280-29F32724A564}"/>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 the experimental side, there are </a:t>
            </a:r>
            <a:r>
              <a:rPr lang="en-US" sz="1200" b="1" i="0" u="none" strike="noStrike" kern="1200" dirty="0">
                <a:solidFill>
                  <a:schemeClr val="tx1"/>
                </a:solidFill>
                <a:effectLst/>
                <a:latin typeface="+mn-lt"/>
                <a:ea typeface="+mn-ea"/>
                <a:cs typeface="+mn-cs"/>
              </a:rPr>
              <a:t>hundreds of optical melting experiments</a:t>
            </a:r>
            <a:r>
              <a:rPr lang="en-US" sz="1200" b="0" i="0" u="none" strike="noStrike" kern="1200" dirty="0">
                <a:solidFill>
                  <a:schemeClr val="tx1"/>
                </a:solidFill>
                <a:effectLst/>
                <a:latin typeface="+mn-lt"/>
                <a:ea typeface="+mn-ea"/>
                <a:cs typeface="+mn-cs"/>
              </a:rPr>
              <a:t>—on the order of 800 constructs.</a:t>
            </a:r>
          </a:p>
          <a:p>
            <a:r>
              <a:rPr lang="en-US" sz="1200" b="0" i="0" u="none" strike="noStrike" kern="1200" dirty="0">
                <a:solidFill>
                  <a:schemeClr val="tx1"/>
                </a:solidFill>
                <a:effectLst/>
                <a:latin typeface="+mn-lt"/>
                <a:ea typeface="+mn-ea"/>
                <a:cs typeface="+mn-cs"/>
              </a:rPr>
              <a:t>Those are fit to recover roughly </a:t>
            </a:r>
            <a:r>
              <a:rPr lang="en-US" sz="1200" b="1" i="0" u="none" strike="noStrike" kern="1200" dirty="0">
                <a:solidFill>
                  <a:schemeClr val="tx1"/>
                </a:solidFill>
                <a:effectLst/>
                <a:latin typeface="+mn-lt"/>
                <a:ea typeface="+mn-ea"/>
                <a:cs typeface="+mn-cs"/>
              </a:rPr>
              <a:t>300 nearest-neighbor parameters</a:t>
            </a:r>
            <a:r>
              <a:rPr lang="en-US" sz="1200" b="0" i="0" u="none" strike="noStrike" kern="1200" dirty="0">
                <a:solidFill>
                  <a:schemeClr val="tx1"/>
                </a:solidFill>
                <a:effectLst/>
                <a:latin typeface="+mn-lt"/>
                <a:ea typeface="+mn-ea"/>
                <a:cs typeface="+mn-cs"/>
              </a:rPr>
              <a:t>: helical stacking, dangling ends, terminal mismatches, hairpins, internal loops, multibranch loops, etc.</a:t>
            </a:r>
          </a:p>
          <a:p>
            <a:r>
              <a:rPr lang="en-US" sz="1200" b="0" i="0" u="none" strike="noStrike" kern="1200" dirty="0">
                <a:solidFill>
                  <a:schemeClr val="tx1"/>
                </a:solidFill>
                <a:effectLst/>
                <a:latin typeface="+mn-lt"/>
                <a:ea typeface="+mn-ea"/>
                <a:cs typeface="+mn-cs"/>
              </a:rPr>
              <a:t>These core parameters are then expanded into </a:t>
            </a:r>
            <a:r>
              <a:rPr lang="en-US" sz="1200" b="1" i="0" u="none" strike="noStrike" kern="1200" dirty="0">
                <a:solidFill>
                  <a:schemeClr val="tx1"/>
                </a:solidFill>
                <a:effectLst/>
                <a:latin typeface="+mn-lt"/>
                <a:ea typeface="+mn-ea"/>
                <a:cs typeface="+mn-cs"/>
              </a:rPr>
              <a:t>lookup tables</a:t>
            </a:r>
            <a:r>
              <a:rPr lang="en-US" sz="1200" b="0" i="0" u="none" strike="noStrike" kern="1200" dirty="0">
                <a:solidFill>
                  <a:schemeClr val="tx1"/>
                </a:solidFill>
                <a:effectLst/>
                <a:latin typeface="+mn-lt"/>
                <a:ea typeface="+mn-ea"/>
                <a:cs typeface="+mn-cs"/>
              </a:rPr>
              <a:t>—about </a:t>
            </a:r>
            <a:r>
              <a:rPr lang="en-US" sz="1200" b="1" i="0" u="none" strike="noStrike" kern="1200" dirty="0">
                <a:solidFill>
                  <a:schemeClr val="tx1"/>
                </a:solidFill>
                <a:effectLst/>
                <a:latin typeface="+mn-lt"/>
                <a:ea typeface="+mn-ea"/>
                <a:cs typeface="+mn-cs"/>
              </a:rPr>
              <a:t>10–15k table entries</a:t>
            </a:r>
            <a:r>
              <a:rPr lang="en-US" sz="1200" b="0" i="0" u="none" strike="noStrike" kern="1200" dirty="0">
                <a:solidFill>
                  <a:schemeClr val="tx1"/>
                </a:solidFill>
                <a:effectLst/>
                <a:latin typeface="+mn-lt"/>
                <a:ea typeface="+mn-ea"/>
                <a:cs typeface="+mn-cs"/>
              </a:rPr>
              <a:t> in tools like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When you give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 a sequence, it decomposes every candidate structure into motifs, </a:t>
            </a:r>
            <a:r>
              <a:rPr lang="en-US" sz="1200" b="1" i="0" u="none" strike="noStrike" kern="1200" dirty="0">
                <a:solidFill>
                  <a:schemeClr val="tx1"/>
                </a:solidFill>
                <a:effectLst/>
                <a:latin typeface="+mn-lt"/>
                <a:ea typeface="+mn-ea"/>
                <a:cs typeface="+mn-cs"/>
              </a:rPr>
              <a:t>pulls the corresponding numbers from these tables</a:t>
            </a:r>
            <a:r>
              <a:rPr lang="en-US" sz="1200" b="0" i="0" u="none" strike="noStrike" kern="1200" dirty="0">
                <a:solidFill>
                  <a:schemeClr val="tx1"/>
                </a:solidFill>
                <a:effectLst/>
                <a:latin typeface="+mn-lt"/>
                <a:ea typeface="+mn-ea"/>
                <a:cs typeface="+mn-cs"/>
              </a:rPr>
              <a:t>.</a:t>
            </a:r>
            <a:endParaRPr lang="en-US" dirty="0"/>
          </a:p>
        </p:txBody>
      </p:sp>
      <p:sp>
        <p:nvSpPr>
          <p:cNvPr id="4" name="Slide Number Placeholder 3">
            <a:extLst>
              <a:ext uri="{FF2B5EF4-FFF2-40B4-BE49-F238E27FC236}">
                <a16:creationId xmlns:a16="http://schemas.microsoft.com/office/drawing/2014/main" id="{437FD99F-07B2-976C-7A90-7658035969A4}"/>
              </a:ext>
            </a:extLst>
          </p:cNvPr>
          <p:cNvSpPr>
            <a:spLocks noGrp="1"/>
          </p:cNvSpPr>
          <p:nvPr>
            <p:ph type="sldNum" sz="quarter" idx="5"/>
          </p:nvPr>
        </p:nvSpPr>
        <p:spPr/>
        <p:txBody>
          <a:bodyPr/>
          <a:lstStyle/>
          <a:p>
            <a:fld id="{73943695-D8D2-434F-BE28-4D8F9A7809A5}" type="slidenum">
              <a:rPr lang="en-IN" smtClean="0"/>
              <a:t>8</a:t>
            </a:fld>
            <a:endParaRPr lang="en-IN"/>
          </a:p>
        </p:txBody>
      </p:sp>
    </p:spTree>
    <p:extLst>
      <p:ext uri="{BB962C8B-B14F-4D97-AF65-F5344CB8AC3E}">
        <p14:creationId xmlns:p14="http://schemas.microsoft.com/office/powerpoint/2010/main" val="482654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5D118-ECF7-9E02-A0D7-232E4EFD3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05C5B-2800-847C-51A8-C1B658B47E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123FAF-1202-CEAA-2A9D-F9869BF6E48D}"/>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 the experimental side, there are </a:t>
            </a:r>
            <a:r>
              <a:rPr lang="en-US" sz="1200" b="1" i="0" u="none" strike="noStrike" kern="1200" dirty="0">
                <a:solidFill>
                  <a:schemeClr val="tx1"/>
                </a:solidFill>
                <a:effectLst/>
                <a:latin typeface="+mn-lt"/>
                <a:ea typeface="+mn-ea"/>
                <a:cs typeface="+mn-cs"/>
              </a:rPr>
              <a:t>hundreds of optical melting experiments</a:t>
            </a:r>
            <a:r>
              <a:rPr lang="en-US" sz="1200" b="0" i="0" u="none" strike="noStrike" kern="1200" dirty="0">
                <a:solidFill>
                  <a:schemeClr val="tx1"/>
                </a:solidFill>
                <a:effectLst/>
                <a:latin typeface="+mn-lt"/>
                <a:ea typeface="+mn-ea"/>
                <a:cs typeface="+mn-cs"/>
              </a:rPr>
              <a:t>—on the order of 800 constructs.</a:t>
            </a:r>
          </a:p>
          <a:p>
            <a:r>
              <a:rPr lang="en-US" sz="1200" b="0" i="0" u="none" strike="noStrike" kern="1200" dirty="0">
                <a:solidFill>
                  <a:schemeClr val="tx1"/>
                </a:solidFill>
                <a:effectLst/>
                <a:latin typeface="+mn-lt"/>
                <a:ea typeface="+mn-ea"/>
                <a:cs typeface="+mn-cs"/>
              </a:rPr>
              <a:t>Those are fit to recover roughly </a:t>
            </a:r>
            <a:r>
              <a:rPr lang="en-US" sz="1200" b="1" i="0" u="none" strike="noStrike" kern="1200" dirty="0">
                <a:solidFill>
                  <a:schemeClr val="tx1"/>
                </a:solidFill>
                <a:effectLst/>
                <a:latin typeface="+mn-lt"/>
                <a:ea typeface="+mn-ea"/>
                <a:cs typeface="+mn-cs"/>
              </a:rPr>
              <a:t>300 nearest-neighbor parameters</a:t>
            </a:r>
            <a:r>
              <a:rPr lang="en-US" sz="1200" b="0" i="0" u="none" strike="noStrike" kern="1200" dirty="0">
                <a:solidFill>
                  <a:schemeClr val="tx1"/>
                </a:solidFill>
                <a:effectLst/>
                <a:latin typeface="+mn-lt"/>
                <a:ea typeface="+mn-ea"/>
                <a:cs typeface="+mn-cs"/>
              </a:rPr>
              <a:t>: helical stacking, dangling ends, terminal mismatches, hairpins, internal loops, multibranch loops, etc.</a:t>
            </a:r>
          </a:p>
          <a:p>
            <a:r>
              <a:rPr lang="en-US" sz="1200" b="0" i="0" u="none" strike="noStrike" kern="1200" dirty="0">
                <a:solidFill>
                  <a:schemeClr val="tx1"/>
                </a:solidFill>
                <a:effectLst/>
                <a:latin typeface="+mn-lt"/>
                <a:ea typeface="+mn-ea"/>
                <a:cs typeface="+mn-cs"/>
              </a:rPr>
              <a:t>These core parameters are then expanded into </a:t>
            </a:r>
            <a:r>
              <a:rPr lang="en-US" sz="1200" b="1" i="0" u="none" strike="noStrike" kern="1200" dirty="0">
                <a:solidFill>
                  <a:schemeClr val="tx1"/>
                </a:solidFill>
                <a:effectLst/>
                <a:latin typeface="+mn-lt"/>
                <a:ea typeface="+mn-ea"/>
                <a:cs typeface="+mn-cs"/>
              </a:rPr>
              <a:t>lookup tables</a:t>
            </a:r>
            <a:r>
              <a:rPr lang="en-US" sz="1200" b="0" i="0" u="none" strike="noStrike" kern="1200" dirty="0">
                <a:solidFill>
                  <a:schemeClr val="tx1"/>
                </a:solidFill>
                <a:effectLst/>
                <a:latin typeface="+mn-lt"/>
                <a:ea typeface="+mn-ea"/>
                <a:cs typeface="+mn-cs"/>
              </a:rPr>
              <a:t>—about </a:t>
            </a:r>
            <a:r>
              <a:rPr lang="en-US" sz="1200" b="1" i="0" u="none" strike="noStrike" kern="1200" dirty="0">
                <a:solidFill>
                  <a:schemeClr val="tx1"/>
                </a:solidFill>
                <a:effectLst/>
                <a:latin typeface="+mn-lt"/>
                <a:ea typeface="+mn-ea"/>
                <a:cs typeface="+mn-cs"/>
              </a:rPr>
              <a:t>10–15k table entries</a:t>
            </a:r>
            <a:r>
              <a:rPr lang="en-US" sz="1200" b="0" i="0" u="none" strike="noStrike" kern="1200" dirty="0">
                <a:solidFill>
                  <a:schemeClr val="tx1"/>
                </a:solidFill>
                <a:effectLst/>
                <a:latin typeface="+mn-lt"/>
                <a:ea typeface="+mn-ea"/>
                <a:cs typeface="+mn-cs"/>
              </a:rPr>
              <a:t> in tools like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When you give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 a sequence, it decomposes every candidate structure into motifs, </a:t>
            </a:r>
            <a:r>
              <a:rPr lang="en-US" sz="1200" b="1" i="0" u="none" strike="noStrike" kern="1200" dirty="0">
                <a:solidFill>
                  <a:schemeClr val="tx1"/>
                </a:solidFill>
                <a:effectLst/>
                <a:latin typeface="+mn-lt"/>
                <a:ea typeface="+mn-ea"/>
                <a:cs typeface="+mn-cs"/>
              </a:rPr>
              <a:t>pulls the corresponding numbers from these tables</a:t>
            </a:r>
            <a:r>
              <a:rPr lang="en-US" sz="1200" b="0" i="0" u="none" strike="noStrike" kern="1200" dirty="0">
                <a:solidFill>
                  <a:schemeClr val="tx1"/>
                </a:solidFill>
                <a:effectLst/>
                <a:latin typeface="+mn-lt"/>
                <a:ea typeface="+mn-ea"/>
                <a:cs typeface="+mn-cs"/>
              </a:rPr>
              <a:t>.</a:t>
            </a:r>
            <a:endParaRPr lang="en-US" dirty="0"/>
          </a:p>
        </p:txBody>
      </p:sp>
      <p:sp>
        <p:nvSpPr>
          <p:cNvPr id="4" name="Slide Number Placeholder 3">
            <a:extLst>
              <a:ext uri="{FF2B5EF4-FFF2-40B4-BE49-F238E27FC236}">
                <a16:creationId xmlns:a16="http://schemas.microsoft.com/office/drawing/2014/main" id="{5D218F79-ED0F-87BE-A156-8A0BB7B68DB6}"/>
              </a:ext>
            </a:extLst>
          </p:cNvPr>
          <p:cNvSpPr>
            <a:spLocks noGrp="1"/>
          </p:cNvSpPr>
          <p:nvPr>
            <p:ph type="sldNum" sz="quarter" idx="5"/>
          </p:nvPr>
        </p:nvSpPr>
        <p:spPr/>
        <p:txBody>
          <a:bodyPr/>
          <a:lstStyle/>
          <a:p>
            <a:fld id="{73943695-D8D2-434F-BE28-4D8F9A7809A5}" type="slidenum">
              <a:rPr lang="en-IN" smtClean="0"/>
              <a:t>9</a:t>
            </a:fld>
            <a:endParaRPr lang="en-IN"/>
          </a:p>
        </p:txBody>
      </p:sp>
    </p:spTree>
    <p:extLst>
      <p:ext uri="{BB962C8B-B14F-4D97-AF65-F5344CB8AC3E}">
        <p14:creationId xmlns:p14="http://schemas.microsoft.com/office/powerpoint/2010/main" val="1557653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D4E28-752D-7A74-0515-73F0D56EF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846E4-B645-5535-A5DA-2E4B1AEBC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7AD17-5450-0437-6D06-73452D7C6344}"/>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 the experimental side, there are </a:t>
            </a:r>
            <a:r>
              <a:rPr lang="en-US" sz="1200" b="1" i="0" u="none" strike="noStrike" kern="1200" dirty="0">
                <a:solidFill>
                  <a:schemeClr val="tx1"/>
                </a:solidFill>
                <a:effectLst/>
                <a:latin typeface="+mn-lt"/>
                <a:ea typeface="+mn-ea"/>
                <a:cs typeface="+mn-cs"/>
              </a:rPr>
              <a:t>hundreds of optical melting experiments</a:t>
            </a:r>
            <a:r>
              <a:rPr lang="en-US" sz="1200" b="0" i="0" u="none" strike="noStrike" kern="1200" dirty="0">
                <a:solidFill>
                  <a:schemeClr val="tx1"/>
                </a:solidFill>
                <a:effectLst/>
                <a:latin typeface="+mn-lt"/>
                <a:ea typeface="+mn-ea"/>
                <a:cs typeface="+mn-cs"/>
              </a:rPr>
              <a:t>—on the order of 800 constructs.</a:t>
            </a:r>
          </a:p>
          <a:p>
            <a:r>
              <a:rPr lang="en-US" sz="1200" b="0" i="0" u="none" strike="noStrike" kern="1200" dirty="0">
                <a:solidFill>
                  <a:schemeClr val="tx1"/>
                </a:solidFill>
                <a:effectLst/>
                <a:latin typeface="+mn-lt"/>
                <a:ea typeface="+mn-ea"/>
                <a:cs typeface="+mn-cs"/>
              </a:rPr>
              <a:t>Those are fit to recover roughly </a:t>
            </a:r>
            <a:r>
              <a:rPr lang="en-US" sz="1200" b="1" i="0" u="none" strike="noStrike" kern="1200" dirty="0">
                <a:solidFill>
                  <a:schemeClr val="tx1"/>
                </a:solidFill>
                <a:effectLst/>
                <a:latin typeface="+mn-lt"/>
                <a:ea typeface="+mn-ea"/>
                <a:cs typeface="+mn-cs"/>
              </a:rPr>
              <a:t>300 nearest-neighbor parameters</a:t>
            </a:r>
            <a:r>
              <a:rPr lang="en-US" sz="1200" b="0" i="0" u="none" strike="noStrike" kern="1200" dirty="0">
                <a:solidFill>
                  <a:schemeClr val="tx1"/>
                </a:solidFill>
                <a:effectLst/>
                <a:latin typeface="+mn-lt"/>
                <a:ea typeface="+mn-ea"/>
                <a:cs typeface="+mn-cs"/>
              </a:rPr>
              <a:t>: helical stacking, dangling ends, terminal mismatches, hairpins, internal loops, multibranch loops, etc.</a:t>
            </a:r>
          </a:p>
          <a:p>
            <a:r>
              <a:rPr lang="en-US" sz="1200" b="0" i="0" u="none" strike="noStrike" kern="1200" dirty="0">
                <a:solidFill>
                  <a:schemeClr val="tx1"/>
                </a:solidFill>
                <a:effectLst/>
                <a:latin typeface="+mn-lt"/>
                <a:ea typeface="+mn-ea"/>
                <a:cs typeface="+mn-cs"/>
              </a:rPr>
              <a:t>These core parameters are then expanded into </a:t>
            </a:r>
            <a:r>
              <a:rPr lang="en-US" sz="1200" b="1" i="0" u="none" strike="noStrike" kern="1200" dirty="0">
                <a:solidFill>
                  <a:schemeClr val="tx1"/>
                </a:solidFill>
                <a:effectLst/>
                <a:latin typeface="+mn-lt"/>
                <a:ea typeface="+mn-ea"/>
                <a:cs typeface="+mn-cs"/>
              </a:rPr>
              <a:t>lookup tables</a:t>
            </a:r>
            <a:r>
              <a:rPr lang="en-US" sz="1200" b="0" i="0" u="none" strike="noStrike" kern="1200" dirty="0">
                <a:solidFill>
                  <a:schemeClr val="tx1"/>
                </a:solidFill>
                <a:effectLst/>
                <a:latin typeface="+mn-lt"/>
                <a:ea typeface="+mn-ea"/>
                <a:cs typeface="+mn-cs"/>
              </a:rPr>
              <a:t>—about </a:t>
            </a:r>
            <a:r>
              <a:rPr lang="en-US" sz="1200" b="1" i="0" u="none" strike="noStrike" kern="1200" dirty="0">
                <a:solidFill>
                  <a:schemeClr val="tx1"/>
                </a:solidFill>
                <a:effectLst/>
                <a:latin typeface="+mn-lt"/>
                <a:ea typeface="+mn-ea"/>
                <a:cs typeface="+mn-cs"/>
              </a:rPr>
              <a:t>10–15k table entries</a:t>
            </a:r>
            <a:r>
              <a:rPr lang="en-US" sz="1200" b="0" i="0" u="none" strike="noStrike" kern="1200" dirty="0">
                <a:solidFill>
                  <a:schemeClr val="tx1"/>
                </a:solidFill>
                <a:effectLst/>
                <a:latin typeface="+mn-lt"/>
                <a:ea typeface="+mn-ea"/>
                <a:cs typeface="+mn-cs"/>
              </a:rPr>
              <a:t> in tools like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When you give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 a sequence, it decomposes every candidate structure into motifs, </a:t>
            </a:r>
            <a:r>
              <a:rPr lang="en-US" sz="1200" b="1" i="0" u="none" strike="noStrike" kern="1200" dirty="0">
                <a:solidFill>
                  <a:schemeClr val="tx1"/>
                </a:solidFill>
                <a:effectLst/>
                <a:latin typeface="+mn-lt"/>
                <a:ea typeface="+mn-ea"/>
                <a:cs typeface="+mn-cs"/>
              </a:rPr>
              <a:t>pulls the corresponding numbers from these tables</a:t>
            </a:r>
            <a:r>
              <a:rPr lang="en-US" sz="1200" b="0" i="0" u="none" strike="noStrike" kern="1200" dirty="0">
                <a:solidFill>
                  <a:schemeClr val="tx1"/>
                </a:solidFill>
                <a:effectLst/>
                <a:latin typeface="+mn-lt"/>
                <a:ea typeface="+mn-ea"/>
                <a:cs typeface="+mn-cs"/>
              </a:rPr>
              <a:t>.</a:t>
            </a:r>
            <a:endParaRPr lang="en-US" dirty="0"/>
          </a:p>
        </p:txBody>
      </p:sp>
      <p:sp>
        <p:nvSpPr>
          <p:cNvPr id="4" name="Slide Number Placeholder 3">
            <a:extLst>
              <a:ext uri="{FF2B5EF4-FFF2-40B4-BE49-F238E27FC236}">
                <a16:creationId xmlns:a16="http://schemas.microsoft.com/office/drawing/2014/main" id="{1FB53C2E-4973-55E5-AD0F-B267ABAB5900}"/>
              </a:ext>
            </a:extLst>
          </p:cNvPr>
          <p:cNvSpPr>
            <a:spLocks noGrp="1"/>
          </p:cNvSpPr>
          <p:nvPr>
            <p:ph type="sldNum" sz="quarter" idx="5"/>
          </p:nvPr>
        </p:nvSpPr>
        <p:spPr/>
        <p:txBody>
          <a:bodyPr/>
          <a:lstStyle/>
          <a:p>
            <a:fld id="{73943695-D8D2-434F-BE28-4D8F9A7809A5}" type="slidenum">
              <a:rPr lang="en-IN" smtClean="0"/>
              <a:t>10</a:t>
            </a:fld>
            <a:endParaRPr lang="en-IN"/>
          </a:p>
        </p:txBody>
      </p:sp>
    </p:spTree>
    <p:extLst>
      <p:ext uri="{BB962C8B-B14F-4D97-AF65-F5344CB8AC3E}">
        <p14:creationId xmlns:p14="http://schemas.microsoft.com/office/powerpoint/2010/main" val="2239084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AC755-D5C1-F8B6-41BB-94A84E17CE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7C6C2-E9E1-4A6D-5D91-EF3A50054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E6F1A2-3BD3-812D-8CA3-FE93462ED17B}"/>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 the experimental side, there are </a:t>
            </a:r>
            <a:r>
              <a:rPr lang="en-US" sz="1200" b="1" i="0" u="none" strike="noStrike" kern="1200" dirty="0">
                <a:solidFill>
                  <a:schemeClr val="tx1"/>
                </a:solidFill>
                <a:effectLst/>
                <a:latin typeface="+mn-lt"/>
                <a:ea typeface="+mn-ea"/>
                <a:cs typeface="+mn-cs"/>
              </a:rPr>
              <a:t>hundreds of optical melting experiments</a:t>
            </a:r>
            <a:r>
              <a:rPr lang="en-US" sz="1200" b="0" i="0" u="none" strike="noStrike" kern="1200" dirty="0">
                <a:solidFill>
                  <a:schemeClr val="tx1"/>
                </a:solidFill>
                <a:effectLst/>
                <a:latin typeface="+mn-lt"/>
                <a:ea typeface="+mn-ea"/>
                <a:cs typeface="+mn-cs"/>
              </a:rPr>
              <a:t>—on the order of 800 constructs.</a:t>
            </a:r>
          </a:p>
          <a:p>
            <a:r>
              <a:rPr lang="en-US" sz="1200" b="0" i="0" u="none" strike="noStrike" kern="1200" dirty="0">
                <a:solidFill>
                  <a:schemeClr val="tx1"/>
                </a:solidFill>
                <a:effectLst/>
                <a:latin typeface="+mn-lt"/>
                <a:ea typeface="+mn-ea"/>
                <a:cs typeface="+mn-cs"/>
              </a:rPr>
              <a:t>Those are fit to recover roughly </a:t>
            </a:r>
            <a:r>
              <a:rPr lang="en-US" sz="1200" b="1" i="0" u="none" strike="noStrike" kern="1200" dirty="0">
                <a:solidFill>
                  <a:schemeClr val="tx1"/>
                </a:solidFill>
                <a:effectLst/>
                <a:latin typeface="+mn-lt"/>
                <a:ea typeface="+mn-ea"/>
                <a:cs typeface="+mn-cs"/>
              </a:rPr>
              <a:t>300 nearest-neighbor parameters</a:t>
            </a:r>
            <a:r>
              <a:rPr lang="en-US" sz="1200" b="0" i="0" u="none" strike="noStrike" kern="1200" dirty="0">
                <a:solidFill>
                  <a:schemeClr val="tx1"/>
                </a:solidFill>
                <a:effectLst/>
                <a:latin typeface="+mn-lt"/>
                <a:ea typeface="+mn-ea"/>
                <a:cs typeface="+mn-cs"/>
              </a:rPr>
              <a:t>: helical stacking, dangling ends, terminal mismatches, hairpins, internal loops, multibranch loops, etc.</a:t>
            </a:r>
          </a:p>
          <a:p>
            <a:r>
              <a:rPr lang="en-US" sz="1200" b="0" i="0" u="none" strike="noStrike" kern="1200" dirty="0">
                <a:solidFill>
                  <a:schemeClr val="tx1"/>
                </a:solidFill>
                <a:effectLst/>
                <a:latin typeface="+mn-lt"/>
                <a:ea typeface="+mn-ea"/>
                <a:cs typeface="+mn-cs"/>
              </a:rPr>
              <a:t>These core parameters are then expanded into </a:t>
            </a:r>
            <a:r>
              <a:rPr lang="en-US" sz="1200" b="1" i="0" u="none" strike="noStrike" kern="1200" dirty="0">
                <a:solidFill>
                  <a:schemeClr val="tx1"/>
                </a:solidFill>
                <a:effectLst/>
                <a:latin typeface="+mn-lt"/>
                <a:ea typeface="+mn-ea"/>
                <a:cs typeface="+mn-cs"/>
              </a:rPr>
              <a:t>lookup tables</a:t>
            </a:r>
            <a:r>
              <a:rPr lang="en-US" sz="1200" b="0" i="0" u="none" strike="noStrike" kern="1200" dirty="0">
                <a:solidFill>
                  <a:schemeClr val="tx1"/>
                </a:solidFill>
                <a:effectLst/>
                <a:latin typeface="+mn-lt"/>
                <a:ea typeface="+mn-ea"/>
                <a:cs typeface="+mn-cs"/>
              </a:rPr>
              <a:t>—about </a:t>
            </a:r>
            <a:r>
              <a:rPr lang="en-US" sz="1200" b="1" i="0" u="none" strike="noStrike" kern="1200" dirty="0">
                <a:solidFill>
                  <a:schemeClr val="tx1"/>
                </a:solidFill>
                <a:effectLst/>
                <a:latin typeface="+mn-lt"/>
                <a:ea typeface="+mn-ea"/>
                <a:cs typeface="+mn-cs"/>
              </a:rPr>
              <a:t>10–15k table entries</a:t>
            </a:r>
            <a:r>
              <a:rPr lang="en-US" sz="1200" b="0" i="0" u="none" strike="noStrike" kern="1200" dirty="0">
                <a:solidFill>
                  <a:schemeClr val="tx1"/>
                </a:solidFill>
                <a:effectLst/>
                <a:latin typeface="+mn-lt"/>
                <a:ea typeface="+mn-ea"/>
                <a:cs typeface="+mn-cs"/>
              </a:rPr>
              <a:t> in tools like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When you give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 a sequence, it decomposes every candidate structure into motifs, </a:t>
            </a:r>
            <a:r>
              <a:rPr lang="en-US" sz="1200" b="1" i="0" u="none" strike="noStrike" kern="1200" dirty="0">
                <a:solidFill>
                  <a:schemeClr val="tx1"/>
                </a:solidFill>
                <a:effectLst/>
                <a:latin typeface="+mn-lt"/>
                <a:ea typeface="+mn-ea"/>
                <a:cs typeface="+mn-cs"/>
              </a:rPr>
              <a:t>pulls the corresponding numbers from these tables</a:t>
            </a:r>
            <a:r>
              <a:rPr lang="en-US" sz="1200" b="0" i="0" u="none" strike="noStrike" kern="1200" dirty="0">
                <a:solidFill>
                  <a:schemeClr val="tx1"/>
                </a:solidFill>
                <a:effectLst/>
                <a:latin typeface="+mn-lt"/>
                <a:ea typeface="+mn-ea"/>
                <a:cs typeface="+mn-cs"/>
              </a:rPr>
              <a:t>.</a:t>
            </a:r>
            <a:endParaRPr lang="en-US" dirty="0"/>
          </a:p>
        </p:txBody>
      </p:sp>
      <p:sp>
        <p:nvSpPr>
          <p:cNvPr id="4" name="Slide Number Placeholder 3">
            <a:extLst>
              <a:ext uri="{FF2B5EF4-FFF2-40B4-BE49-F238E27FC236}">
                <a16:creationId xmlns:a16="http://schemas.microsoft.com/office/drawing/2014/main" id="{9B289DDC-5FCD-A01E-EF26-1EB352A1991D}"/>
              </a:ext>
            </a:extLst>
          </p:cNvPr>
          <p:cNvSpPr>
            <a:spLocks noGrp="1"/>
          </p:cNvSpPr>
          <p:nvPr>
            <p:ph type="sldNum" sz="quarter" idx="5"/>
          </p:nvPr>
        </p:nvSpPr>
        <p:spPr/>
        <p:txBody>
          <a:bodyPr/>
          <a:lstStyle/>
          <a:p>
            <a:fld id="{73943695-D8D2-434F-BE28-4D8F9A7809A5}" type="slidenum">
              <a:rPr lang="en-IN" smtClean="0"/>
              <a:t>11</a:t>
            </a:fld>
            <a:endParaRPr lang="en-IN"/>
          </a:p>
        </p:txBody>
      </p:sp>
    </p:spTree>
    <p:extLst>
      <p:ext uri="{BB962C8B-B14F-4D97-AF65-F5344CB8AC3E}">
        <p14:creationId xmlns:p14="http://schemas.microsoft.com/office/powerpoint/2010/main" val="288735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3311B-C5A4-C0BE-8C73-9937FCD9E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2C564D-4E15-D2ED-2062-84E7674A6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DF8FE-A314-38A4-EC68-4688BB37A67A}"/>
              </a:ext>
            </a:extLst>
          </p:cNvPr>
          <p:cNvSpPr>
            <a:spLocks noGrp="1"/>
          </p:cNvSpPr>
          <p:nvPr>
            <p:ph type="body" idx="1"/>
          </p:nvPr>
        </p:nvSpPr>
        <p:spPr/>
        <p:txBody>
          <a:bodyPr/>
          <a:lstStyle/>
          <a:p>
            <a:r>
              <a:rPr lang="en-US" dirty="0"/>
              <a:t>Compares a sequence against itself in a </a:t>
            </a:r>
            <a:r>
              <a:rPr lang="en-US" dirty="0" err="1"/>
              <a:t>nxn</a:t>
            </a:r>
            <a:r>
              <a:rPr lang="en-US" dirty="0"/>
              <a:t> matrix</a:t>
            </a:r>
          </a:p>
        </p:txBody>
      </p:sp>
      <p:sp>
        <p:nvSpPr>
          <p:cNvPr id="4" name="Slide Number Placeholder 3">
            <a:extLst>
              <a:ext uri="{FF2B5EF4-FFF2-40B4-BE49-F238E27FC236}">
                <a16:creationId xmlns:a16="http://schemas.microsoft.com/office/drawing/2014/main" id="{91B83F10-3C7A-D1E7-8301-0774DE16360B}"/>
              </a:ext>
            </a:extLst>
          </p:cNvPr>
          <p:cNvSpPr>
            <a:spLocks noGrp="1"/>
          </p:cNvSpPr>
          <p:nvPr>
            <p:ph type="sldNum" sz="quarter" idx="5"/>
          </p:nvPr>
        </p:nvSpPr>
        <p:spPr/>
        <p:txBody>
          <a:bodyPr/>
          <a:lstStyle/>
          <a:p>
            <a:fld id="{73943695-D8D2-434F-BE28-4D8F9A7809A5}" type="slidenum">
              <a:rPr lang="en-IN" smtClean="0"/>
              <a:t>12</a:t>
            </a:fld>
            <a:endParaRPr lang="en-IN"/>
          </a:p>
        </p:txBody>
      </p:sp>
    </p:spTree>
    <p:extLst>
      <p:ext uri="{BB962C8B-B14F-4D97-AF65-F5344CB8AC3E}">
        <p14:creationId xmlns:p14="http://schemas.microsoft.com/office/powerpoint/2010/main" val="3793694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7D582-259D-12EC-97EE-B26E89BD7D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19B7F-9D1A-9587-A4F8-642595B43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0697C8-AB81-3ECF-CB4C-9CE69C53C0A6}"/>
              </a:ext>
            </a:extLst>
          </p:cNvPr>
          <p:cNvSpPr>
            <a:spLocks noGrp="1"/>
          </p:cNvSpPr>
          <p:nvPr>
            <p:ph type="body" idx="1"/>
          </p:nvPr>
        </p:nvSpPr>
        <p:spPr/>
        <p:txBody>
          <a:bodyPr/>
          <a:lstStyle/>
          <a:p>
            <a:r>
              <a:rPr lang="en-US" dirty="0"/>
              <a:t>Compares a sequence against itself in a </a:t>
            </a:r>
            <a:r>
              <a:rPr lang="en-US" dirty="0" err="1"/>
              <a:t>nxn</a:t>
            </a:r>
            <a:r>
              <a:rPr lang="en-US" dirty="0"/>
              <a:t> matrix</a:t>
            </a:r>
          </a:p>
        </p:txBody>
      </p:sp>
      <p:sp>
        <p:nvSpPr>
          <p:cNvPr id="4" name="Slide Number Placeholder 3">
            <a:extLst>
              <a:ext uri="{FF2B5EF4-FFF2-40B4-BE49-F238E27FC236}">
                <a16:creationId xmlns:a16="http://schemas.microsoft.com/office/drawing/2014/main" id="{BFE48BE8-2193-A2D2-E83F-1CCEB804066A}"/>
              </a:ext>
            </a:extLst>
          </p:cNvPr>
          <p:cNvSpPr>
            <a:spLocks noGrp="1"/>
          </p:cNvSpPr>
          <p:nvPr>
            <p:ph type="sldNum" sz="quarter" idx="5"/>
          </p:nvPr>
        </p:nvSpPr>
        <p:spPr/>
        <p:txBody>
          <a:bodyPr/>
          <a:lstStyle/>
          <a:p>
            <a:fld id="{73943695-D8D2-434F-BE28-4D8F9A7809A5}" type="slidenum">
              <a:rPr lang="en-IN" smtClean="0"/>
              <a:t>13</a:t>
            </a:fld>
            <a:endParaRPr lang="en-IN"/>
          </a:p>
        </p:txBody>
      </p:sp>
    </p:spTree>
    <p:extLst>
      <p:ext uri="{BB962C8B-B14F-4D97-AF65-F5344CB8AC3E}">
        <p14:creationId xmlns:p14="http://schemas.microsoft.com/office/powerpoint/2010/main" val="584131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91A4C-909C-92ED-4BF1-72DB9F22D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A5AAD-A888-2CFE-6D25-B5B7564DC8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CFE3B6-33B2-D8A6-6B38-CBDB087F39BD}"/>
              </a:ext>
            </a:extLst>
          </p:cNvPr>
          <p:cNvSpPr>
            <a:spLocks noGrp="1"/>
          </p:cNvSpPr>
          <p:nvPr>
            <p:ph type="body" idx="1"/>
          </p:nvPr>
        </p:nvSpPr>
        <p:spPr/>
        <p:txBody>
          <a:bodyPr/>
          <a:lstStyle/>
          <a:p>
            <a:r>
              <a:rPr lang="en-US" dirty="0"/>
              <a:t>Compares a sequence against itself in a </a:t>
            </a:r>
            <a:r>
              <a:rPr lang="en-US" dirty="0" err="1"/>
              <a:t>nxn</a:t>
            </a:r>
            <a:r>
              <a:rPr lang="en-US" dirty="0"/>
              <a:t> matrix</a:t>
            </a:r>
          </a:p>
        </p:txBody>
      </p:sp>
      <p:sp>
        <p:nvSpPr>
          <p:cNvPr id="4" name="Slide Number Placeholder 3">
            <a:extLst>
              <a:ext uri="{FF2B5EF4-FFF2-40B4-BE49-F238E27FC236}">
                <a16:creationId xmlns:a16="http://schemas.microsoft.com/office/drawing/2014/main" id="{1A636D23-2BAF-A4EE-AADD-D3629970AED0}"/>
              </a:ext>
            </a:extLst>
          </p:cNvPr>
          <p:cNvSpPr>
            <a:spLocks noGrp="1"/>
          </p:cNvSpPr>
          <p:nvPr>
            <p:ph type="sldNum" sz="quarter" idx="5"/>
          </p:nvPr>
        </p:nvSpPr>
        <p:spPr/>
        <p:txBody>
          <a:bodyPr/>
          <a:lstStyle/>
          <a:p>
            <a:fld id="{73943695-D8D2-434F-BE28-4D8F9A7809A5}" type="slidenum">
              <a:rPr lang="en-IN" smtClean="0"/>
              <a:t>14</a:t>
            </a:fld>
            <a:endParaRPr lang="en-IN"/>
          </a:p>
        </p:txBody>
      </p:sp>
    </p:spTree>
    <p:extLst>
      <p:ext uri="{BB962C8B-B14F-4D97-AF65-F5344CB8AC3E}">
        <p14:creationId xmlns:p14="http://schemas.microsoft.com/office/powerpoint/2010/main" val="2013004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C86ED-8382-3BDF-C655-9FCA590A9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A638A-CA71-3799-1307-B2004B7BB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F07E8-08FE-E003-A962-B6E5F36A54CF}"/>
              </a:ext>
            </a:extLst>
          </p:cNvPr>
          <p:cNvSpPr>
            <a:spLocks noGrp="1"/>
          </p:cNvSpPr>
          <p:nvPr>
            <p:ph type="body" idx="1"/>
          </p:nvPr>
        </p:nvSpPr>
        <p:spPr/>
        <p:txBody>
          <a:bodyPr/>
          <a:lstStyle/>
          <a:p>
            <a:r>
              <a:rPr lang="en-US" dirty="0"/>
              <a:t>Compares a sequence against itself in a </a:t>
            </a:r>
            <a:r>
              <a:rPr lang="en-US" dirty="0" err="1"/>
              <a:t>nxn</a:t>
            </a:r>
            <a:r>
              <a:rPr lang="en-US" dirty="0"/>
              <a:t> matrix</a:t>
            </a:r>
          </a:p>
        </p:txBody>
      </p:sp>
      <p:sp>
        <p:nvSpPr>
          <p:cNvPr id="4" name="Slide Number Placeholder 3">
            <a:extLst>
              <a:ext uri="{FF2B5EF4-FFF2-40B4-BE49-F238E27FC236}">
                <a16:creationId xmlns:a16="http://schemas.microsoft.com/office/drawing/2014/main" id="{77DCFAF0-6D86-8D20-29D3-A845DAB2143B}"/>
              </a:ext>
            </a:extLst>
          </p:cNvPr>
          <p:cNvSpPr>
            <a:spLocks noGrp="1"/>
          </p:cNvSpPr>
          <p:nvPr>
            <p:ph type="sldNum" sz="quarter" idx="5"/>
          </p:nvPr>
        </p:nvSpPr>
        <p:spPr/>
        <p:txBody>
          <a:bodyPr/>
          <a:lstStyle/>
          <a:p>
            <a:fld id="{73943695-D8D2-434F-BE28-4D8F9A7809A5}" type="slidenum">
              <a:rPr lang="en-IN" smtClean="0"/>
              <a:t>15</a:t>
            </a:fld>
            <a:endParaRPr lang="en-IN"/>
          </a:p>
        </p:txBody>
      </p:sp>
    </p:spTree>
    <p:extLst>
      <p:ext uri="{BB962C8B-B14F-4D97-AF65-F5344CB8AC3E}">
        <p14:creationId xmlns:p14="http://schemas.microsoft.com/office/powerpoint/2010/main" val="3281793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3BD48-8B50-CD6B-9525-951B02014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D60D6-9329-8166-693B-0BB70A1E76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14A2C-C053-EA74-F245-C3D8AACBC93C}"/>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 the experimental side, there are </a:t>
            </a:r>
            <a:r>
              <a:rPr lang="en-US" sz="1200" b="1" i="0" u="none" strike="noStrike" kern="1200" dirty="0">
                <a:solidFill>
                  <a:schemeClr val="tx1"/>
                </a:solidFill>
                <a:effectLst/>
                <a:latin typeface="+mn-lt"/>
                <a:ea typeface="+mn-ea"/>
                <a:cs typeface="+mn-cs"/>
              </a:rPr>
              <a:t>hundreds of optical melting experiments</a:t>
            </a:r>
            <a:r>
              <a:rPr lang="en-US" sz="1200" b="0" i="0" u="none" strike="noStrike" kern="1200" dirty="0">
                <a:solidFill>
                  <a:schemeClr val="tx1"/>
                </a:solidFill>
                <a:effectLst/>
                <a:latin typeface="+mn-lt"/>
                <a:ea typeface="+mn-ea"/>
                <a:cs typeface="+mn-cs"/>
              </a:rPr>
              <a:t>—on the order of 800 constructs.</a:t>
            </a:r>
          </a:p>
          <a:p>
            <a:r>
              <a:rPr lang="en-US" sz="1200" b="0" i="0" u="none" strike="noStrike" kern="1200" dirty="0">
                <a:solidFill>
                  <a:schemeClr val="tx1"/>
                </a:solidFill>
                <a:effectLst/>
                <a:latin typeface="+mn-lt"/>
                <a:ea typeface="+mn-ea"/>
                <a:cs typeface="+mn-cs"/>
              </a:rPr>
              <a:t>Those are fit to recover roughly </a:t>
            </a:r>
            <a:r>
              <a:rPr lang="en-US" sz="1200" b="1" i="0" u="none" strike="noStrike" kern="1200" dirty="0">
                <a:solidFill>
                  <a:schemeClr val="tx1"/>
                </a:solidFill>
                <a:effectLst/>
                <a:latin typeface="+mn-lt"/>
                <a:ea typeface="+mn-ea"/>
                <a:cs typeface="+mn-cs"/>
              </a:rPr>
              <a:t>300 nearest-neighbor parameters</a:t>
            </a:r>
            <a:r>
              <a:rPr lang="en-US" sz="1200" b="0" i="0" u="none" strike="noStrike" kern="1200" dirty="0">
                <a:solidFill>
                  <a:schemeClr val="tx1"/>
                </a:solidFill>
                <a:effectLst/>
                <a:latin typeface="+mn-lt"/>
                <a:ea typeface="+mn-ea"/>
                <a:cs typeface="+mn-cs"/>
              </a:rPr>
              <a:t>: helical stacking, dangling ends, terminal mismatches, hairpins, internal loops, multibranch loops, etc.</a:t>
            </a:r>
          </a:p>
          <a:p>
            <a:r>
              <a:rPr lang="en-US" sz="1200" b="0" i="0" u="none" strike="noStrike" kern="1200" dirty="0">
                <a:solidFill>
                  <a:schemeClr val="tx1"/>
                </a:solidFill>
                <a:effectLst/>
                <a:latin typeface="+mn-lt"/>
                <a:ea typeface="+mn-ea"/>
                <a:cs typeface="+mn-cs"/>
              </a:rPr>
              <a:t>These core parameters are then expanded into </a:t>
            </a:r>
            <a:r>
              <a:rPr lang="en-US" sz="1200" b="1" i="0" u="none" strike="noStrike" kern="1200" dirty="0">
                <a:solidFill>
                  <a:schemeClr val="tx1"/>
                </a:solidFill>
                <a:effectLst/>
                <a:latin typeface="+mn-lt"/>
                <a:ea typeface="+mn-ea"/>
                <a:cs typeface="+mn-cs"/>
              </a:rPr>
              <a:t>lookup tables</a:t>
            </a:r>
            <a:r>
              <a:rPr lang="en-US" sz="1200" b="0" i="0" u="none" strike="noStrike" kern="1200" dirty="0">
                <a:solidFill>
                  <a:schemeClr val="tx1"/>
                </a:solidFill>
                <a:effectLst/>
                <a:latin typeface="+mn-lt"/>
                <a:ea typeface="+mn-ea"/>
                <a:cs typeface="+mn-cs"/>
              </a:rPr>
              <a:t>—about </a:t>
            </a:r>
            <a:r>
              <a:rPr lang="en-US" sz="1200" b="1" i="0" u="none" strike="noStrike" kern="1200" dirty="0">
                <a:solidFill>
                  <a:schemeClr val="tx1"/>
                </a:solidFill>
                <a:effectLst/>
                <a:latin typeface="+mn-lt"/>
                <a:ea typeface="+mn-ea"/>
                <a:cs typeface="+mn-cs"/>
              </a:rPr>
              <a:t>10–15k table entries</a:t>
            </a:r>
            <a:r>
              <a:rPr lang="en-US" sz="1200" b="0" i="0" u="none" strike="noStrike" kern="1200" dirty="0">
                <a:solidFill>
                  <a:schemeClr val="tx1"/>
                </a:solidFill>
                <a:effectLst/>
                <a:latin typeface="+mn-lt"/>
                <a:ea typeface="+mn-ea"/>
                <a:cs typeface="+mn-cs"/>
              </a:rPr>
              <a:t> in tools like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When you give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 a sequence, it decomposes every candidate structure into motifs, </a:t>
            </a:r>
            <a:r>
              <a:rPr lang="en-US" sz="1200" b="1" i="0" u="none" strike="noStrike" kern="1200" dirty="0">
                <a:solidFill>
                  <a:schemeClr val="tx1"/>
                </a:solidFill>
                <a:effectLst/>
                <a:latin typeface="+mn-lt"/>
                <a:ea typeface="+mn-ea"/>
                <a:cs typeface="+mn-cs"/>
              </a:rPr>
              <a:t>pulls the corresponding numbers from these tables</a:t>
            </a:r>
            <a:r>
              <a:rPr lang="en-US" sz="1200" b="0" i="0" u="none" strike="noStrike" kern="1200" dirty="0">
                <a:solidFill>
                  <a:schemeClr val="tx1"/>
                </a:solidFill>
                <a:effectLst/>
                <a:latin typeface="+mn-lt"/>
                <a:ea typeface="+mn-ea"/>
                <a:cs typeface="+mn-cs"/>
              </a:rPr>
              <a:t>.</a:t>
            </a:r>
            <a:endParaRPr lang="en-US" dirty="0"/>
          </a:p>
        </p:txBody>
      </p:sp>
      <p:sp>
        <p:nvSpPr>
          <p:cNvPr id="4" name="Slide Number Placeholder 3">
            <a:extLst>
              <a:ext uri="{FF2B5EF4-FFF2-40B4-BE49-F238E27FC236}">
                <a16:creationId xmlns:a16="http://schemas.microsoft.com/office/drawing/2014/main" id="{1FE98DE5-F60D-6BD7-0DD9-0DBBF6266048}"/>
              </a:ext>
            </a:extLst>
          </p:cNvPr>
          <p:cNvSpPr>
            <a:spLocks noGrp="1"/>
          </p:cNvSpPr>
          <p:nvPr>
            <p:ph type="sldNum" sz="quarter" idx="5"/>
          </p:nvPr>
        </p:nvSpPr>
        <p:spPr/>
        <p:txBody>
          <a:bodyPr/>
          <a:lstStyle/>
          <a:p>
            <a:fld id="{73943695-D8D2-434F-BE28-4D8F9A7809A5}" type="slidenum">
              <a:rPr lang="en-IN" smtClean="0"/>
              <a:t>16</a:t>
            </a:fld>
            <a:endParaRPr lang="en-IN"/>
          </a:p>
        </p:txBody>
      </p:sp>
    </p:spTree>
    <p:extLst>
      <p:ext uri="{BB962C8B-B14F-4D97-AF65-F5344CB8AC3E}">
        <p14:creationId xmlns:p14="http://schemas.microsoft.com/office/powerpoint/2010/main" val="2604985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07D95-1F2A-A1E0-C29C-883BCA1BA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2F825-F6B4-D26A-947F-9A6A8436E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3D87EE-38EA-0B3F-04B7-381AF864870A}"/>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 the experimental side, there are </a:t>
            </a:r>
            <a:r>
              <a:rPr lang="en-US" sz="1200" b="1" i="0" u="none" strike="noStrike" kern="1200" dirty="0">
                <a:solidFill>
                  <a:schemeClr val="tx1"/>
                </a:solidFill>
                <a:effectLst/>
                <a:latin typeface="+mn-lt"/>
                <a:ea typeface="+mn-ea"/>
                <a:cs typeface="+mn-cs"/>
              </a:rPr>
              <a:t>hundreds of optical melting experiments</a:t>
            </a:r>
            <a:r>
              <a:rPr lang="en-US" sz="1200" b="0" i="0" u="none" strike="noStrike" kern="1200" dirty="0">
                <a:solidFill>
                  <a:schemeClr val="tx1"/>
                </a:solidFill>
                <a:effectLst/>
                <a:latin typeface="+mn-lt"/>
                <a:ea typeface="+mn-ea"/>
                <a:cs typeface="+mn-cs"/>
              </a:rPr>
              <a:t>—on the order of 800 constructs.</a:t>
            </a:r>
          </a:p>
          <a:p>
            <a:r>
              <a:rPr lang="en-US" sz="1200" b="0" i="0" u="none" strike="noStrike" kern="1200" dirty="0">
                <a:solidFill>
                  <a:schemeClr val="tx1"/>
                </a:solidFill>
                <a:effectLst/>
                <a:latin typeface="+mn-lt"/>
                <a:ea typeface="+mn-ea"/>
                <a:cs typeface="+mn-cs"/>
              </a:rPr>
              <a:t>Those are fit to recover roughly </a:t>
            </a:r>
            <a:r>
              <a:rPr lang="en-US" sz="1200" b="1" i="0" u="none" strike="noStrike" kern="1200" dirty="0">
                <a:solidFill>
                  <a:schemeClr val="tx1"/>
                </a:solidFill>
                <a:effectLst/>
                <a:latin typeface="+mn-lt"/>
                <a:ea typeface="+mn-ea"/>
                <a:cs typeface="+mn-cs"/>
              </a:rPr>
              <a:t>300 nearest-neighbor parameters</a:t>
            </a:r>
            <a:r>
              <a:rPr lang="en-US" sz="1200" b="0" i="0" u="none" strike="noStrike" kern="1200" dirty="0">
                <a:solidFill>
                  <a:schemeClr val="tx1"/>
                </a:solidFill>
                <a:effectLst/>
                <a:latin typeface="+mn-lt"/>
                <a:ea typeface="+mn-ea"/>
                <a:cs typeface="+mn-cs"/>
              </a:rPr>
              <a:t>: helical stacking, dangling ends, terminal mismatches, hairpins, internal loops, multibranch loops, etc.</a:t>
            </a:r>
          </a:p>
          <a:p>
            <a:r>
              <a:rPr lang="en-US" sz="1200" b="0" i="0" u="none" strike="noStrike" kern="1200" dirty="0">
                <a:solidFill>
                  <a:schemeClr val="tx1"/>
                </a:solidFill>
                <a:effectLst/>
                <a:latin typeface="+mn-lt"/>
                <a:ea typeface="+mn-ea"/>
                <a:cs typeface="+mn-cs"/>
              </a:rPr>
              <a:t>These core parameters are then expanded into </a:t>
            </a:r>
            <a:r>
              <a:rPr lang="en-US" sz="1200" b="1" i="0" u="none" strike="noStrike" kern="1200" dirty="0">
                <a:solidFill>
                  <a:schemeClr val="tx1"/>
                </a:solidFill>
                <a:effectLst/>
                <a:latin typeface="+mn-lt"/>
                <a:ea typeface="+mn-ea"/>
                <a:cs typeface="+mn-cs"/>
              </a:rPr>
              <a:t>lookup tables</a:t>
            </a:r>
            <a:r>
              <a:rPr lang="en-US" sz="1200" b="0" i="0" u="none" strike="noStrike" kern="1200" dirty="0">
                <a:solidFill>
                  <a:schemeClr val="tx1"/>
                </a:solidFill>
                <a:effectLst/>
                <a:latin typeface="+mn-lt"/>
                <a:ea typeface="+mn-ea"/>
                <a:cs typeface="+mn-cs"/>
              </a:rPr>
              <a:t>—about </a:t>
            </a:r>
            <a:r>
              <a:rPr lang="en-US" sz="1200" b="1" i="0" u="none" strike="noStrike" kern="1200" dirty="0">
                <a:solidFill>
                  <a:schemeClr val="tx1"/>
                </a:solidFill>
                <a:effectLst/>
                <a:latin typeface="+mn-lt"/>
                <a:ea typeface="+mn-ea"/>
                <a:cs typeface="+mn-cs"/>
              </a:rPr>
              <a:t>10–15k table entries</a:t>
            </a:r>
            <a:r>
              <a:rPr lang="en-US" sz="1200" b="0" i="0" u="none" strike="noStrike" kern="1200" dirty="0">
                <a:solidFill>
                  <a:schemeClr val="tx1"/>
                </a:solidFill>
                <a:effectLst/>
                <a:latin typeface="+mn-lt"/>
                <a:ea typeface="+mn-ea"/>
                <a:cs typeface="+mn-cs"/>
              </a:rPr>
              <a:t> in tools like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When you give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 a sequence, it decomposes every candidate structure into motifs, </a:t>
            </a:r>
            <a:r>
              <a:rPr lang="en-US" sz="1200" b="1" i="0" u="none" strike="noStrike" kern="1200" dirty="0">
                <a:solidFill>
                  <a:schemeClr val="tx1"/>
                </a:solidFill>
                <a:effectLst/>
                <a:latin typeface="+mn-lt"/>
                <a:ea typeface="+mn-ea"/>
                <a:cs typeface="+mn-cs"/>
              </a:rPr>
              <a:t>pulls the corresponding numbers from these tables</a:t>
            </a:r>
            <a:r>
              <a:rPr lang="en-US" sz="1200" b="0" i="0" u="none" strike="noStrike" kern="1200" dirty="0">
                <a:solidFill>
                  <a:schemeClr val="tx1"/>
                </a:solidFill>
                <a:effectLst/>
                <a:latin typeface="+mn-lt"/>
                <a:ea typeface="+mn-ea"/>
                <a:cs typeface="+mn-cs"/>
              </a:rPr>
              <a:t>.</a:t>
            </a:r>
            <a:endParaRPr lang="en-US" dirty="0"/>
          </a:p>
        </p:txBody>
      </p:sp>
      <p:sp>
        <p:nvSpPr>
          <p:cNvPr id="4" name="Slide Number Placeholder 3">
            <a:extLst>
              <a:ext uri="{FF2B5EF4-FFF2-40B4-BE49-F238E27FC236}">
                <a16:creationId xmlns:a16="http://schemas.microsoft.com/office/drawing/2014/main" id="{C243DF14-CCE6-72BB-EF11-DF0AD183BDA5}"/>
              </a:ext>
            </a:extLst>
          </p:cNvPr>
          <p:cNvSpPr>
            <a:spLocks noGrp="1"/>
          </p:cNvSpPr>
          <p:nvPr>
            <p:ph type="sldNum" sz="quarter" idx="5"/>
          </p:nvPr>
        </p:nvSpPr>
        <p:spPr/>
        <p:txBody>
          <a:bodyPr/>
          <a:lstStyle/>
          <a:p>
            <a:fld id="{73943695-D8D2-434F-BE28-4D8F9A7809A5}" type="slidenum">
              <a:rPr lang="en-IN" smtClean="0"/>
              <a:t>17</a:t>
            </a:fld>
            <a:endParaRPr lang="en-IN"/>
          </a:p>
        </p:txBody>
      </p:sp>
    </p:spTree>
    <p:extLst>
      <p:ext uri="{BB962C8B-B14F-4D97-AF65-F5344CB8AC3E}">
        <p14:creationId xmlns:p14="http://schemas.microsoft.com/office/powerpoint/2010/main" val="192816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A8E09-5294-6489-AF59-01CD2C5A6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3E7B8-1A49-5759-3D63-C2BD26B3C2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C5A0E-CA25-0194-CB98-0BD86FB676C4}"/>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 the experimental side, there are </a:t>
            </a:r>
            <a:r>
              <a:rPr lang="en-US" sz="1200" b="1" i="0" u="none" strike="noStrike" kern="1200" dirty="0">
                <a:solidFill>
                  <a:schemeClr val="tx1"/>
                </a:solidFill>
                <a:effectLst/>
                <a:latin typeface="+mn-lt"/>
                <a:ea typeface="+mn-ea"/>
                <a:cs typeface="+mn-cs"/>
              </a:rPr>
              <a:t>hundreds of optical melting experiments</a:t>
            </a:r>
            <a:r>
              <a:rPr lang="en-US" sz="1200" b="0" i="0" u="none" strike="noStrike" kern="1200" dirty="0">
                <a:solidFill>
                  <a:schemeClr val="tx1"/>
                </a:solidFill>
                <a:effectLst/>
                <a:latin typeface="+mn-lt"/>
                <a:ea typeface="+mn-ea"/>
                <a:cs typeface="+mn-cs"/>
              </a:rPr>
              <a:t>—on the order of 800 constructs.</a:t>
            </a:r>
          </a:p>
          <a:p>
            <a:r>
              <a:rPr lang="en-US" sz="1200" b="0" i="0" u="none" strike="noStrike" kern="1200" dirty="0">
                <a:solidFill>
                  <a:schemeClr val="tx1"/>
                </a:solidFill>
                <a:effectLst/>
                <a:latin typeface="+mn-lt"/>
                <a:ea typeface="+mn-ea"/>
                <a:cs typeface="+mn-cs"/>
              </a:rPr>
              <a:t>Those are fit to recover roughly </a:t>
            </a:r>
            <a:r>
              <a:rPr lang="en-US" sz="1200" b="1" i="0" u="none" strike="noStrike" kern="1200" dirty="0">
                <a:solidFill>
                  <a:schemeClr val="tx1"/>
                </a:solidFill>
                <a:effectLst/>
                <a:latin typeface="+mn-lt"/>
                <a:ea typeface="+mn-ea"/>
                <a:cs typeface="+mn-cs"/>
              </a:rPr>
              <a:t>300 nearest-neighbor parameters</a:t>
            </a:r>
            <a:r>
              <a:rPr lang="en-US" sz="1200" b="0" i="0" u="none" strike="noStrike" kern="1200" dirty="0">
                <a:solidFill>
                  <a:schemeClr val="tx1"/>
                </a:solidFill>
                <a:effectLst/>
                <a:latin typeface="+mn-lt"/>
                <a:ea typeface="+mn-ea"/>
                <a:cs typeface="+mn-cs"/>
              </a:rPr>
              <a:t>: helical stacking, dangling ends, terminal mismatches, hairpins, internal loops, multibranch loops, etc.</a:t>
            </a:r>
          </a:p>
          <a:p>
            <a:r>
              <a:rPr lang="en-US" sz="1200" b="0" i="0" u="none" strike="noStrike" kern="1200" dirty="0">
                <a:solidFill>
                  <a:schemeClr val="tx1"/>
                </a:solidFill>
                <a:effectLst/>
                <a:latin typeface="+mn-lt"/>
                <a:ea typeface="+mn-ea"/>
                <a:cs typeface="+mn-cs"/>
              </a:rPr>
              <a:t>These core parameters are then expanded into </a:t>
            </a:r>
            <a:r>
              <a:rPr lang="en-US" sz="1200" b="1" i="0" u="none" strike="noStrike" kern="1200" dirty="0">
                <a:solidFill>
                  <a:schemeClr val="tx1"/>
                </a:solidFill>
                <a:effectLst/>
                <a:latin typeface="+mn-lt"/>
                <a:ea typeface="+mn-ea"/>
                <a:cs typeface="+mn-cs"/>
              </a:rPr>
              <a:t>lookup tables</a:t>
            </a:r>
            <a:r>
              <a:rPr lang="en-US" sz="1200" b="0" i="0" u="none" strike="noStrike" kern="1200" dirty="0">
                <a:solidFill>
                  <a:schemeClr val="tx1"/>
                </a:solidFill>
                <a:effectLst/>
                <a:latin typeface="+mn-lt"/>
                <a:ea typeface="+mn-ea"/>
                <a:cs typeface="+mn-cs"/>
              </a:rPr>
              <a:t>—about </a:t>
            </a:r>
            <a:r>
              <a:rPr lang="en-US" sz="1200" b="1" i="0" u="none" strike="noStrike" kern="1200" dirty="0">
                <a:solidFill>
                  <a:schemeClr val="tx1"/>
                </a:solidFill>
                <a:effectLst/>
                <a:latin typeface="+mn-lt"/>
                <a:ea typeface="+mn-ea"/>
                <a:cs typeface="+mn-cs"/>
              </a:rPr>
              <a:t>10–15k table entries</a:t>
            </a:r>
            <a:r>
              <a:rPr lang="en-US" sz="1200" b="0" i="0" u="none" strike="noStrike" kern="1200" dirty="0">
                <a:solidFill>
                  <a:schemeClr val="tx1"/>
                </a:solidFill>
                <a:effectLst/>
                <a:latin typeface="+mn-lt"/>
                <a:ea typeface="+mn-ea"/>
                <a:cs typeface="+mn-cs"/>
              </a:rPr>
              <a:t> in tools like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When you give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 a sequence, it decomposes every candidate structure into motifs, </a:t>
            </a:r>
            <a:r>
              <a:rPr lang="en-US" sz="1200" b="1" i="0" u="none" strike="noStrike" kern="1200" dirty="0">
                <a:solidFill>
                  <a:schemeClr val="tx1"/>
                </a:solidFill>
                <a:effectLst/>
                <a:latin typeface="+mn-lt"/>
                <a:ea typeface="+mn-ea"/>
                <a:cs typeface="+mn-cs"/>
              </a:rPr>
              <a:t>pulls the corresponding numbers from these tables</a:t>
            </a:r>
            <a:r>
              <a:rPr lang="en-US" sz="1200" b="0" i="0" u="none" strike="noStrike" kern="1200" dirty="0">
                <a:solidFill>
                  <a:schemeClr val="tx1"/>
                </a:solidFill>
                <a:effectLst/>
                <a:latin typeface="+mn-lt"/>
                <a:ea typeface="+mn-ea"/>
                <a:cs typeface="+mn-cs"/>
              </a:rPr>
              <a:t>.</a:t>
            </a:r>
            <a:endParaRPr lang="en-US" dirty="0"/>
          </a:p>
        </p:txBody>
      </p:sp>
      <p:sp>
        <p:nvSpPr>
          <p:cNvPr id="4" name="Slide Number Placeholder 3">
            <a:extLst>
              <a:ext uri="{FF2B5EF4-FFF2-40B4-BE49-F238E27FC236}">
                <a16:creationId xmlns:a16="http://schemas.microsoft.com/office/drawing/2014/main" id="{8A79C2DA-9B24-93DB-DA6A-3E471ECD1050}"/>
              </a:ext>
            </a:extLst>
          </p:cNvPr>
          <p:cNvSpPr>
            <a:spLocks noGrp="1"/>
          </p:cNvSpPr>
          <p:nvPr>
            <p:ph type="sldNum" sz="quarter" idx="5"/>
          </p:nvPr>
        </p:nvSpPr>
        <p:spPr/>
        <p:txBody>
          <a:bodyPr/>
          <a:lstStyle/>
          <a:p>
            <a:fld id="{73943695-D8D2-434F-BE28-4D8F9A7809A5}" type="slidenum">
              <a:rPr lang="en-IN" smtClean="0"/>
              <a:t>18</a:t>
            </a:fld>
            <a:endParaRPr lang="en-IN"/>
          </a:p>
        </p:txBody>
      </p:sp>
    </p:spTree>
    <p:extLst>
      <p:ext uri="{BB962C8B-B14F-4D97-AF65-F5344CB8AC3E}">
        <p14:creationId xmlns:p14="http://schemas.microsoft.com/office/powerpoint/2010/main" val="27523452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542B-A8AF-5802-DFE9-EE9D89694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82AB86-EEEF-33DA-505D-F147919C7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1F2490-D31C-A316-59DB-ED737FEEA32E}"/>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 the experimental side, there are </a:t>
            </a:r>
            <a:r>
              <a:rPr lang="en-US" sz="1200" b="1" i="0" u="none" strike="noStrike" kern="1200" dirty="0">
                <a:solidFill>
                  <a:schemeClr val="tx1"/>
                </a:solidFill>
                <a:effectLst/>
                <a:latin typeface="+mn-lt"/>
                <a:ea typeface="+mn-ea"/>
                <a:cs typeface="+mn-cs"/>
              </a:rPr>
              <a:t>hundreds of optical melting experiments</a:t>
            </a:r>
            <a:r>
              <a:rPr lang="en-US" sz="1200" b="0" i="0" u="none" strike="noStrike" kern="1200" dirty="0">
                <a:solidFill>
                  <a:schemeClr val="tx1"/>
                </a:solidFill>
                <a:effectLst/>
                <a:latin typeface="+mn-lt"/>
                <a:ea typeface="+mn-ea"/>
                <a:cs typeface="+mn-cs"/>
              </a:rPr>
              <a:t>—on the order of 800 constructs.</a:t>
            </a:r>
          </a:p>
          <a:p>
            <a:r>
              <a:rPr lang="en-US" sz="1200" b="0" i="0" u="none" strike="noStrike" kern="1200" dirty="0">
                <a:solidFill>
                  <a:schemeClr val="tx1"/>
                </a:solidFill>
                <a:effectLst/>
                <a:latin typeface="+mn-lt"/>
                <a:ea typeface="+mn-ea"/>
                <a:cs typeface="+mn-cs"/>
              </a:rPr>
              <a:t>Those are fit to recover roughly </a:t>
            </a:r>
            <a:r>
              <a:rPr lang="en-US" sz="1200" b="1" i="0" u="none" strike="noStrike" kern="1200" dirty="0">
                <a:solidFill>
                  <a:schemeClr val="tx1"/>
                </a:solidFill>
                <a:effectLst/>
                <a:latin typeface="+mn-lt"/>
                <a:ea typeface="+mn-ea"/>
                <a:cs typeface="+mn-cs"/>
              </a:rPr>
              <a:t>300 nearest-neighbor parameters</a:t>
            </a:r>
            <a:r>
              <a:rPr lang="en-US" sz="1200" b="0" i="0" u="none" strike="noStrike" kern="1200" dirty="0">
                <a:solidFill>
                  <a:schemeClr val="tx1"/>
                </a:solidFill>
                <a:effectLst/>
                <a:latin typeface="+mn-lt"/>
                <a:ea typeface="+mn-ea"/>
                <a:cs typeface="+mn-cs"/>
              </a:rPr>
              <a:t>: helical stacking, dangling ends, terminal mismatches, hairpins, internal loops, multibranch loops, etc.</a:t>
            </a:r>
          </a:p>
          <a:p>
            <a:r>
              <a:rPr lang="en-US" sz="1200" b="0" i="0" u="none" strike="noStrike" kern="1200" dirty="0">
                <a:solidFill>
                  <a:schemeClr val="tx1"/>
                </a:solidFill>
                <a:effectLst/>
                <a:latin typeface="+mn-lt"/>
                <a:ea typeface="+mn-ea"/>
                <a:cs typeface="+mn-cs"/>
              </a:rPr>
              <a:t>These core parameters are then expanded into </a:t>
            </a:r>
            <a:r>
              <a:rPr lang="en-US" sz="1200" b="1" i="0" u="none" strike="noStrike" kern="1200" dirty="0">
                <a:solidFill>
                  <a:schemeClr val="tx1"/>
                </a:solidFill>
                <a:effectLst/>
                <a:latin typeface="+mn-lt"/>
                <a:ea typeface="+mn-ea"/>
                <a:cs typeface="+mn-cs"/>
              </a:rPr>
              <a:t>lookup tables</a:t>
            </a:r>
            <a:r>
              <a:rPr lang="en-US" sz="1200" b="0" i="0" u="none" strike="noStrike" kern="1200" dirty="0">
                <a:solidFill>
                  <a:schemeClr val="tx1"/>
                </a:solidFill>
                <a:effectLst/>
                <a:latin typeface="+mn-lt"/>
                <a:ea typeface="+mn-ea"/>
                <a:cs typeface="+mn-cs"/>
              </a:rPr>
              <a:t>—about </a:t>
            </a:r>
            <a:r>
              <a:rPr lang="en-US" sz="1200" b="1" i="0" u="none" strike="noStrike" kern="1200" dirty="0">
                <a:solidFill>
                  <a:schemeClr val="tx1"/>
                </a:solidFill>
                <a:effectLst/>
                <a:latin typeface="+mn-lt"/>
                <a:ea typeface="+mn-ea"/>
                <a:cs typeface="+mn-cs"/>
              </a:rPr>
              <a:t>10–15k table entries</a:t>
            </a:r>
            <a:r>
              <a:rPr lang="en-US" sz="1200" b="0" i="0" u="none" strike="noStrike" kern="1200" dirty="0">
                <a:solidFill>
                  <a:schemeClr val="tx1"/>
                </a:solidFill>
                <a:effectLst/>
                <a:latin typeface="+mn-lt"/>
                <a:ea typeface="+mn-ea"/>
                <a:cs typeface="+mn-cs"/>
              </a:rPr>
              <a:t> in tools like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When you give </a:t>
            </a:r>
            <a:r>
              <a:rPr lang="en-US" sz="1200" b="0" i="0" u="none" strike="noStrike" kern="1200" dirty="0" err="1">
                <a:solidFill>
                  <a:schemeClr val="tx1"/>
                </a:solidFill>
                <a:effectLst/>
                <a:latin typeface="+mn-lt"/>
                <a:ea typeface="+mn-ea"/>
                <a:cs typeface="+mn-cs"/>
              </a:rPr>
              <a:t>RNAstructure</a:t>
            </a:r>
            <a:r>
              <a:rPr lang="en-US" sz="1200" b="0" i="0" u="none" strike="noStrike" kern="1200" dirty="0">
                <a:solidFill>
                  <a:schemeClr val="tx1"/>
                </a:solidFill>
                <a:effectLst/>
                <a:latin typeface="+mn-lt"/>
                <a:ea typeface="+mn-ea"/>
                <a:cs typeface="+mn-cs"/>
              </a:rPr>
              <a:t> a sequence, it decomposes every candidate structure into motifs, </a:t>
            </a:r>
            <a:r>
              <a:rPr lang="en-US" sz="1200" b="1" i="0" u="none" strike="noStrike" kern="1200" dirty="0">
                <a:solidFill>
                  <a:schemeClr val="tx1"/>
                </a:solidFill>
                <a:effectLst/>
                <a:latin typeface="+mn-lt"/>
                <a:ea typeface="+mn-ea"/>
                <a:cs typeface="+mn-cs"/>
              </a:rPr>
              <a:t>pulls the corresponding numbers from these tables</a:t>
            </a:r>
            <a:r>
              <a:rPr lang="en-US" sz="1200" b="0" i="0" u="none" strike="noStrike" kern="1200" dirty="0">
                <a:solidFill>
                  <a:schemeClr val="tx1"/>
                </a:solidFill>
                <a:effectLst/>
                <a:latin typeface="+mn-lt"/>
                <a:ea typeface="+mn-ea"/>
                <a:cs typeface="+mn-cs"/>
              </a:rPr>
              <a:t>.</a:t>
            </a:r>
            <a:endParaRPr lang="en-US" dirty="0"/>
          </a:p>
        </p:txBody>
      </p:sp>
      <p:sp>
        <p:nvSpPr>
          <p:cNvPr id="4" name="Slide Number Placeholder 3">
            <a:extLst>
              <a:ext uri="{FF2B5EF4-FFF2-40B4-BE49-F238E27FC236}">
                <a16:creationId xmlns:a16="http://schemas.microsoft.com/office/drawing/2014/main" id="{AA691378-9F5C-6EEA-E8D1-A88829B22D18}"/>
              </a:ext>
            </a:extLst>
          </p:cNvPr>
          <p:cNvSpPr>
            <a:spLocks noGrp="1"/>
          </p:cNvSpPr>
          <p:nvPr>
            <p:ph type="sldNum" sz="quarter" idx="5"/>
          </p:nvPr>
        </p:nvSpPr>
        <p:spPr/>
        <p:txBody>
          <a:bodyPr/>
          <a:lstStyle/>
          <a:p>
            <a:fld id="{73943695-D8D2-434F-BE28-4D8F9A7809A5}" type="slidenum">
              <a:rPr lang="en-IN" smtClean="0"/>
              <a:t>19</a:t>
            </a:fld>
            <a:endParaRPr lang="en-IN"/>
          </a:p>
        </p:txBody>
      </p:sp>
    </p:spTree>
    <p:extLst>
      <p:ext uri="{BB962C8B-B14F-4D97-AF65-F5344CB8AC3E}">
        <p14:creationId xmlns:p14="http://schemas.microsoft.com/office/powerpoint/2010/main" val="13144509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741F5-5A69-FE16-E0DE-8880F50BB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5AE0E-6F5A-63F1-EC6C-C7BCACD92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938D66-76D2-5C6D-14EE-B8303C3CDF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a:t>
            </a:r>
            <a:r>
              <a:rPr lang="en-US" sz="1200" b="0" i="0" u="none" strike="noStrike" kern="1200" dirty="0">
                <a:solidFill>
                  <a:schemeClr val="tx1"/>
                </a:solidFill>
                <a:effectLst/>
                <a:latin typeface="+mn-lt"/>
                <a:ea typeface="+mn-ea"/>
                <a:cs typeface="+mn-cs"/>
              </a:rPr>
              <a:t>ithout this step, the algorithm only provides a score (the maximum number of base pairs or minimum energy).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Once the matrix is completely filled and the maximum score for the entire sequence (cell S(1, n)) is found, the backtracking step begins. It "traces back" through the matrix, starting from the final cell, to identify the specific choices made at each step of the forward pass that led to that optimal score. If a cell's value came from a case where two nucleotides were paired, that pair is added to the predicted structure, and the backtracking continues from the new, smaller segment(s).</a:t>
            </a:r>
          </a:p>
        </p:txBody>
      </p:sp>
      <p:sp>
        <p:nvSpPr>
          <p:cNvPr id="4" name="Slide Number Placeholder 3">
            <a:extLst>
              <a:ext uri="{FF2B5EF4-FFF2-40B4-BE49-F238E27FC236}">
                <a16:creationId xmlns:a16="http://schemas.microsoft.com/office/drawing/2014/main" id="{D50ADC64-5E04-DFE2-E65F-FCFC10982A86}"/>
              </a:ext>
            </a:extLst>
          </p:cNvPr>
          <p:cNvSpPr>
            <a:spLocks noGrp="1"/>
          </p:cNvSpPr>
          <p:nvPr>
            <p:ph type="sldNum" sz="quarter" idx="5"/>
          </p:nvPr>
        </p:nvSpPr>
        <p:spPr/>
        <p:txBody>
          <a:bodyPr/>
          <a:lstStyle/>
          <a:p>
            <a:fld id="{C6E8D7C8-AE32-420C-BA6C-8D10A718A65B}" type="slidenum">
              <a:rPr lang="en-IN" smtClean="0"/>
              <a:t>20</a:t>
            </a:fld>
            <a:endParaRPr lang="en-IN"/>
          </a:p>
        </p:txBody>
      </p:sp>
    </p:spTree>
    <p:extLst>
      <p:ext uri="{BB962C8B-B14F-4D97-AF65-F5344CB8AC3E}">
        <p14:creationId xmlns:p14="http://schemas.microsoft.com/office/powerpoint/2010/main" val="2343566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C8315-EE88-F12B-B17B-69FC27B00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4125E-2E2A-836E-00A4-EC986189C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8A6805-E6A7-62E1-BE56-2726045370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a:t>
            </a:r>
            <a:r>
              <a:rPr lang="en-US" sz="1200" b="0" i="0" u="none" strike="noStrike" kern="1200" dirty="0">
                <a:solidFill>
                  <a:schemeClr val="tx1"/>
                </a:solidFill>
                <a:effectLst/>
                <a:latin typeface="+mn-lt"/>
                <a:ea typeface="+mn-ea"/>
                <a:cs typeface="+mn-cs"/>
              </a:rPr>
              <a:t>ithout this step, the algorithm only provides a score (the maximum number of base pairs or minimum energy).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Once the matrix is completely filled and the maximum score for the entire sequence (cell S(1, n)) is found, the backtracking step begins. It "traces back" through the matrix, starting from the final cell, to identify the specific choices made at each step of the forward pass that led to that optimal score. If a cell's value came from a case where two nucleotides were paired, that pair is added to the predicted structure, and the backtracking continues from the new, smaller segment(s).</a:t>
            </a:r>
          </a:p>
        </p:txBody>
      </p:sp>
      <p:sp>
        <p:nvSpPr>
          <p:cNvPr id="4" name="Slide Number Placeholder 3">
            <a:extLst>
              <a:ext uri="{FF2B5EF4-FFF2-40B4-BE49-F238E27FC236}">
                <a16:creationId xmlns:a16="http://schemas.microsoft.com/office/drawing/2014/main" id="{7FD9D417-ED23-C46C-C833-75BBC053FEE2}"/>
              </a:ext>
            </a:extLst>
          </p:cNvPr>
          <p:cNvSpPr>
            <a:spLocks noGrp="1"/>
          </p:cNvSpPr>
          <p:nvPr>
            <p:ph type="sldNum" sz="quarter" idx="5"/>
          </p:nvPr>
        </p:nvSpPr>
        <p:spPr/>
        <p:txBody>
          <a:bodyPr/>
          <a:lstStyle/>
          <a:p>
            <a:fld id="{C6E8D7C8-AE32-420C-BA6C-8D10A718A65B}" type="slidenum">
              <a:rPr lang="en-IN" smtClean="0"/>
              <a:t>21</a:t>
            </a:fld>
            <a:endParaRPr lang="en-IN"/>
          </a:p>
        </p:txBody>
      </p:sp>
    </p:spTree>
    <p:extLst>
      <p:ext uri="{BB962C8B-B14F-4D97-AF65-F5344CB8AC3E}">
        <p14:creationId xmlns:p14="http://schemas.microsoft.com/office/powerpoint/2010/main" val="3976685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199A-9D27-57E9-A3EC-5380510C1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2B461-B060-C3A8-2D6D-DE9BD0744C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143A8D-6671-79F8-8CCC-DBDD5C6E71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This DP + traceback pipeline is exactly what we’ll reuse for free energy minimization.</a:t>
            </a:r>
          </a:p>
        </p:txBody>
      </p:sp>
      <p:sp>
        <p:nvSpPr>
          <p:cNvPr id="4" name="Slide Number Placeholder 3">
            <a:extLst>
              <a:ext uri="{FF2B5EF4-FFF2-40B4-BE49-F238E27FC236}">
                <a16:creationId xmlns:a16="http://schemas.microsoft.com/office/drawing/2014/main" id="{65F7A3AD-5CE6-E842-3C07-F21DA1B5F50C}"/>
              </a:ext>
            </a:extLst>
          </p:cNvPr>
          <p:cNvSpPr>
            <a:spLocks noGrp="1"/>
          </p:cNvSpPr>
          <p:nvPr>
            <p:ph type="sldNum" sz="quarter" idx="5"/>
          </p:nvPr>
        </p:nvSpPr>
        <p:spPr/>
        <p:txBody>
          <a:bodyPr/>
          <a:lstStyle/>
          <a:p>
            <a:fld id="{C6E8D7C8-AE32-420C-BA6C-8D10A718A65B}" type="slidenum">
              <a:rPr lang="en-IN" smtClean="0"/>
              <a:t>22</a:t>
            </a:fld>
            <a:endParaRPr lang="en-IN"/>
          </a:p>
        </p:txBody>
      </p:sp>
    </p:spTree>
    <p:extLst>
      <p:ext uri="{BB962C8B-B14F-4D97-AF65-F5344CB8AC3E}">
        <p14:creationId xmlns:p14="http://schemas.microsoft.com/office/powerpoint/2010/main" val="9764204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8E352-89D0-776E-D35B-281DC5299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EC0AEB-AA28-2A92-48B5-74B2058487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C264B-97C8-476B-E422-7A50223CCAE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This DP + traceback pipeline is exactly what we’ll reuse for free energy minimization.</a:t>
            </a:r>
          </a:p>
        </p:txBody>
      </p:sp>
      <p:sp>
        <p:nvSpPr>
          <p:cNvPr id="4" name="Slide Number Placeholder 3">
            <a:extLst>
              <a:ext uri="{FF2B5EF4-FFF2-40B4-BE49-F238E27FC236}">
                <a16:creationId xmlns:a16="http://schemas.microsoft.com/office/drawing/2014/main" id="{427023C8-D634-7962-99E8-45B28310960D}"/>
              </a:ext>
            </a:extLst>
          </p:cNvPr>
          <p:cNvSpPr>
            <a:spLocks noGrp="1"/>
          </p:cNvSpPr>
          <p:nvPr>
            <p:ph type="sldNum" sz="quarter" idx="5"/>
          </p:nvPr>
        </p:nvSpPr>
        <p:spPr/>
        <p:txBody>
          <a:bodyPr/>
          <a:lstStyle/>
          <a:p>
            <a:fld id="{C6E8D7C8-AE32-420C-BA6C-8D10A718A65B}" type="slidenum">
              <a:rPr lang="en-IN" smtClean="0"/>
              <a:t>23</a:t>
            </a:fld>
            <a:endParaRPr lang="en-IN"/>
          </a:p>
        </p:txBody>
      </p:sp>
    </p:spTree>
    <p:extLst>
      <p:ext uri="{BB962C8B-B14F-4D97-AF65-F5344CB8AC3E}">
        <p14:creationId xmlns:p14="http://schemas.microsoft.com/office/powerpoint/2010/main" val="34562266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21F7B-0797-9965-307B-E70C0AF74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620A0-F36A-B392-914E-27C36297A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59475-4D33-50A2-C65C-CCE33605A64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Once the matrix is completely filled and the maximum score for the entire sequence (cell S(1, n)) is found, the backtracking step begins. It "traces back" through the matrix, starting from the final cell, to identify the specific choices made at each step of the forward pass that led to that optimal score. If a cell's value came from a case where two nucleotides were paired, that pair is added to the predicted structure, and the backtracking continues from the new, smaller segment(s).</a:t>
            </a:r>
          </a:p>
        </p:txBody>
      </p:sp>
      <p:sp>
        <p:nvSpPr>
          <p:cNvPr id="4" name="Slide Number Placeholder 3">
            <a:extLst>
              <a:ext uri="{FF2B5EF4-FFF2-40B4-BE49-F238E27FC236}">
                <a16:creationId xmlns:a16="http://schemas.microsoft.com/office/drawing/2014/main" id="{76F8018F-C916-7A23-D68D-7BCB2B7B3FF2}"/>
              </a:ext>
            </a:extLst>
          </p:cNvPr>
          <p:cNvSpPr>
            <a:spLocks noGrp="1"/>
          </p:cNvSpPr>
          <p:nvPr>
            <p:ph type="sldNum" sz="quarter" idx="5"/>
          </p:nvPr>
        </p:nvSpPr>
        <p:spPr/>
        <p:txBody>
          <a:bodyPr/>
          <a:lstStyle/>
          <a:p>
            <a:fld id="{C6E8D7C8-AE32-420C-BA6C-8D10A718A65B}" type="slidenum">
              <a:rPr lang="en-IN" smtClean="0"/>
              <a:t>24</a:t>
            </a:fld>
            <a:endParaRPr lang="en-IN"/>
          </a:p>
        </p:txBody>
      </p:sp>
    </p:spTree>
    <p:extLst>
      <p:ext uri="{BB962C8B-B14F-4D97-AF65-F5344CB8AC3E}">
        <p14:creationId xmlns:p14="http://schemas.microsoft.com/office/powerpoint/2010/main" val="31370348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53482-F636-9E80-446A-1DA34C8E0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9E353-8A61-8F5B-C3A1-EB64666D09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07577-925A-AA96-1C3D-C92ABD8CCFC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Once the matrix is completely filled and the maximum score for the entire sequence (cell S(1, n)) is found, the backtracking step begins. It "traces back" through the matrix, starting from the final cell, to identify the specific choices made at each step of the forward pass that led to that optimal score. If a cell's value came from a case where two nucleotides were paired, that pair is added to the predicted structure, and the backtracking continues from the new, smaller segment(s).</a:t>
            </a:r>
          </a:p>
        </p:txBody>
      </p:sp>
      <p:sp>
        <p:nvSpPr>
          <p:cNvPr id="4" name="Slide Number Placeholder 3">
            <a:extLst>
              <a:ext uri="{FF2B5EF4-FFF2-40B4-BE49-F238E27FC236}">
                <a16:creationId xmlns:a16="http://schemas.microsoft.com/office/drawing/2014/main" id="{3838D87C-DB4D-0933-5E55-5484450E86BE}"/>
              </a:ext>
            </a:extLst>
          </p:cNvPr>
          <p:cNvSpPr>
            <a:spLocks noGrp="1"/>
          </p:cNvSpPr>
          <p:nvPr>
            <p:ph type="sldNum" sz="quarter" idx="5"/>
          </p:nvPr>
        </p:nvSpPr>
        <p:spPr/>
        <p:txBody>
          <a:bodyPr/>
          <a:lstStyle/>
          <a:p>
            <a:fld id="{C6E8D7C8-AE32-420C-BA6C-8D10A718A65B}" type="slidenum">
              <a:rPr lang="en-IN" smtClean="0"/>
              <a:t>25</a:t>
            </a:fld>
            <a:endParaRPr lang="en-IN"/>
          </a:p>
        </p:txBody>
      </p:sp>
    </p:spTree>
    <p:extLst>
      <p:ext uri="{BB962C8B-B14F-4D97-AF65-F5344CB8AC3E}">
        <p14:creationId xmlns:p14="http://schemas.microsoft.com/office/powerpoint/2010/main" val="1613255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D7BB9-34EB-0124-C4EB-7BCDE6303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259007-E9C5-92D0-5BC5-87D9B494B5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288E9-B7A9-97E2-F793-F3504D8E6FF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Once the matrix is completely filled and the maximum score for the entire sequence (cell S(1, n)) is found, the backtracking step begins. It "traces back" through the matrix, starting from the final cell, to identify the specific choices made at each step of the forward pass that led to that optimal score. If a cell's value came from a case where two nucleotides were paired, that pair is added to the predicted structure, and the backtracking continues from the new, smaller segment(s).</a:t>
            </a:r>
          </a:p>
        </p:txBody>
      </p:sp>
      <p:sp>
        <p:nvSpPr>
          <p:cNvPr id="4" name="Slide Number Placeholder 3">
            <a:extLst>
              <a:ext uri="{FF2B5EF4-FFF2-40B4-BE49-F238E27FC236}">
                <a16:creationId xmlns:a16="http://schemas.microsoft.com/office/drawing/2014/main" id="{1B76EF63-5AEB-B01D-65EC-EA74F62446C9}"/>
              </a:ext>
            </a:extLst>
          </p:cNvPr>
          <p:cNvSpPr>
            <a:spLocks noGrp="1"/>
          </p:cNvSpPr>
          <p:nvPr>
            <p:ph type="sldNum" sz="quarter" idx="5"/>
          </p:nvPr>
        </p:nvSpPr>
        <p:spPr/>
        <p:txBody>
          <a:bodyPr/>
          <a:lstStyle/>
          <a:p>
            <a:fld id="{C6E8D7C8-AE32-420C-BA6C-8D10A718A65B}" type="slidenum">
              <a:rPr lang="en-IN" smtClean="0"/>
              <a:t>26</a:t>
            </a:fld>
            <a:endParaRPr lang="en-IN"/>
          </a:p>
        </p:txBody>
      </p:sp>
    </p:spTree>
    <p:extLst>
      <p:ext uri="{BB962C8B-B14F-4D97-AF65-F5344CB8AC3E}">
        <p14:creationId xmlns:p14="http://schemas.microsoft.com/office/powerpoint/2010/main" val="27772615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E2D9E-3CDC-3CF5-BB00-A54FE9383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D2701-0797-CA36-BA70-A291BB018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0338C-7725-3D70-9928-07582C924E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Once the matrix is completely filled and the maximum score for the entire sequence (cell S(1, n)) is found, the backtracking step begins. It "traces back" through the matrix, starting from the final cell, to identify the specific choices made at each step of the forward pass that led to that optimal score. If a cell's value came from a case where two nucleotides were paired, that pair is added to the predicted structure, and the backtracking continues from the new, smaller segment(s).</a:t>
            </a:r>
          </a:p>
        </p:txBody>
      </p:sp>
      <p:sp>
        <p:nvSpPr>
          <p:cNvPr id="4" name="Slide Number Placeholder 3">
            <a:extLst>
              <a:ext uri="{FF2B5EF4-FFF2-40B4-BE49-F238E27FC236}">
                <a16:creationId xmlns:a16="http://schemas.microsoft.com/office/drawing/2014/main" id="{BB15A9C9-AC37-040D-69BA-25FEB2B51215}"/>
              </a:ext>
            </a:extLst>
          </p:cNvPr>
          <p:cNvSpPr>
            <a:spLocks noGrp="1"/>
          </p:cNvSpPr>
          <p:nvPr>
            <p:ph type="sldNum" sz="quarter" idx="5"/>
          </p:nvPr>
        </p:nvSpPr>
        <p:spPr/>
        <p:txBody>
          <a:bodyPr/>
          <a:lstStyle/>
          <a:p>
            <a:fld id="{C6E8D7C8-AE32-420C-BA6C-8D10A718A65B}" type="slidenum">
              <a:rPr lang="en-IN" smtClean="0"/>
              <a:t>27</a:t>
            </a:fld>
            <a:endParaRPr lang="en-IN"/>
          </a:p>
        </p:txBody>
      </p:sp>
    </p:spTree>
    <p:extLst>
      <p:ext uri="{BB962C8B-B14F-4D97-AF65-F5344CB8AC3E}">
        <p14:creationId xmlns:p14="http://schemas.microsoft.com/office/powerpoint/2010/main" val="16401827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73F57-5A8B-740B-28DC-75AA98ABD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8F1ED-D2CB-7B9A-CDBF-05EC113B6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0E6BDB-7105-CB51-080B-033053A2EF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Once the matrix is completely filled and the maximum score for the entire sequence (cell S(1, n)) is found, the backtracking step begins. It "traces back" through the matrix, starting from the final cell, to identify the specific choices made at each step of the forward pass that led to that optimal score. If a cell's value came from a case where two nucleotides were paired, that pair is added to the predicted structure, and the backtracking continues from the new, smaller segment(s).</a:t>
            </a:r>
          </a:p>
        </p:txBody>
      </p:sp>
      <p:sp>
        <p:nvSpPr>
          <p:cNvPr id="4" name="Slide Number Placeholder 3">
            <a:extLst>
              <a:ext uri="{FF2B5EF4-FFF2-40B4-BE49-F238E27FC236}">
                <a16:creationId xmlns:a16="http://schemas.microsoft.com/office/drawing/2014/main" id="{E8C76209-216D-32F0-5582-DD85030B6D61}"/>
              </a:ext>
            </a:extLst>
          </p:cNvPr>
          <p:cNvSpPr>
            <a:spLocks noGrp="1"/>
          </p:cNvSpPr>
          <p:nvPr>
            <p:ph type="sldNum" sz="quarter" idx="5"/>
          </p:nvPr>
        </p:nvSpPr>
        <p:spPr/>
        <p:txBody>
          <a:bodyPr/>
          <a:lstStyle/>
          <a:p>
            <a:fld id="{C6E8D7C8-AE32-420C-BA6C-8D10A718A65B}" type="slidenum">
              <a:rPr lang="en-IN" smtClean="0"/>
              <a:t>28</a:t>
            </a:fld>
            <a:endParaRPr lang="en-IN"/>
          </a:p>
        </p:txBody>
      </p:sp>
    </p:spTree>
    <p:extLst>
      <p:ext uri="{BB962C8B-B14F-4D97-AF65-F5344CB8AC3E}">
        <p14:creationId xmlns:p14="http://schemas.microsoft.com/office/powerpoint/2010/main" val="34178901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AF434-731B-1DB9-7EE3-8D75592EA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085AA-5ACA-386A-ABC3-34915045B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7BB793-7DEE-A5C1-0D3C-DBFD3AAAEB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Once the matrix is completely filled and the maximum score for the entire sequence (cell S(1, n)) is found, the backtracking step begins. It "traces back" through the matrix, starting from the final cell, to identify the specific choices made at each step of the forward pass that led to that optimal score. If a cell's value came from a case where two nucleotides were paired, that pair is added to the predicted structure, and the backtracking continues from the new, smaller segment(s).</a:t>
            </a:r>
          </a:p>
        </p:txBody>
      </p:sp>
      <p:sp>
        <p:nvSpPr>
          <p:cNvPr id="4" name="Slide Number Placeholder 3">
            <a:extLst>
              <a:ext uri="{FF2B5EF4-FFF2-40B4-BE49-F238E27FC236}">
                <a16:creationId xmlns:a16="http://schemas.microsoft.com/office/drawing/2014/main" id="{6D0C7411-0E78-1239-764F-2A79582BD643}"/>
              </a:ext>
            </a:extLst>
          </p:cNvPr>
          <p:cNvSpPr>
            <a:spLocks noGrp="1"/>
          </p:cNvSpPr>
          <p:nvPr>
            <p:ph type="sldNum" sz="quarter" idx="5"/>
          </p:nvPr>
        </p:nvSpPr>
        <p:spPr/>
        <p:txBody>
          <a:bodyPr/>
          <a:lstStyle/>
          <a:p>
            <a:fld id="{C6E8D7C8-AE32-420C-BA6C-8D10A718A65B}" type="slidenum">
              <a:rPr lang="en-IN" smtClean="0"/>
              <a:t>29</a:t>
            </a:fld>
            <a:endParaRPr lang="en-IN"/>
          </a:p>
        </p:txBody>
      </p:sp>
    </p:spTree>
    <p:extLst>
      <p:ext uri="{BB962C8B-B14F-4D97-AF65-F5344CB8AC3E}">
        <p14:creationId xmlns:p14="http://schemas.microsoft.com/office/powerpoint/2010/main" val="4076137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322FC-29EB-5D26-125F-67D927438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E67F1-81CC-D6A8-5EA3-446E0D499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60E866-DE2C-4B25-2F99-8BEA53ECB105}"/>
              </a:ext>
            </a:extLst>
          </p:cNvPr>
          <p:cNvSpPr>
            <a:spLocks noGrp="1"/>
          </p:cNvSpPr>
          <p:nvPr>
            <p:ph type="body" idx="1"/>
          </p:nvPr>
        </p:nvSpPr>
        <p:spPr/>
        <p:txBody>
          <a:bodyPr/>
          <a:lstStyle/>
          <a:p>
            <a:r>
              <a:rPr lang="en-US" dirty="0"/>
              <a:t>Anfinsen’s well accepted thermodynamic hypothesis, posits that biological molecules are often in an MFE state in vivo. Sensitivity - what percentage of known pairs</a:t>
            </a:r>
          </a:p>
          <a:p>
            <a:r>
              <a:rPr lang="en-US" dirty="0"/>
              <a:t>occur </a:t>
            </a:r>
            <a:r>
              <a:rPr lang="en-US" dirty="0" err="1"/>
              <a:t>i</a:t>
            </a:r>
            <a:r>
              <a:rPr lang="en-US" dirty="0"/>
              <a:t> n the predicted structure.</a:t>
            </a:r>
          </a:p>
          <a:p>
            <a:r>
              <a:rPr lang="en-US" dirty="0"/>
              <a:t>• Positive Predictive Value (PPV) - what</a:t>
            </a:r>
          </a:p>
          <a:p>
            <a:r>
              <a:rPr lang="en-US" dirty="0"/>
              <a:t>percentage o f predicted pairs occur in the known</a:t>
            </a:r>
          </a:p>
          <a:p>
            <a:r>
              <a:rPr lang="en-US" dirty="0"/>
              <a:t>s t r u c t u r e .</a:t>
            </a:r>
          </a:p>
          <a:p>
            <a:r>
              <a:rPr lang="en-US" dirty="0"/>
              <a:t>• P P V ≤ Sensitivity because the structures</a:t>
            </a:r>
          </a:p>
          <a:p>
            <a:r>
              <a:rPr lang="en-US" dirty="0"/>
              <a:t>determined by comparative sequence analysis do</a:t>
            </a:r>
          </a:p>
          <a:p>
            <a:r>
              <a:rPr lang="en-US" dirty="0"/>
              <a:t>not have all pairs and there </a:t>
            </a:r>
            <a:r>
              <a:rPr lang="en-US" dirty="0" err="1"/>
              <a:t>i</a:t>
            </a:r>
            <a:r>
              <a:rPr lang="en-US" dirty="0"/>
              <a:t> s a tendency t o over-</a:t>
            </a:r>
          </a:p>
          <a:p>
            <a:r>
              <a:rPr lang="en-US" dirty="0"/>
              <a:t>predict base pairs by free energy minimization.</a:t>
            </a:r>
          </a:p>
        </p:txBody>
      </p:sp>
      <p:sp>
        <p:nvSpPr>
          <p:cNvPr id="4" name="Slide Number Placeholder 3">
            <a:extLst>
              <a:ext uri="{FF2B5EF4-FFF2-40B4-BE49-F238E27FC236}">
                <a16:creationId xmlns:a16="http://schemas.microsoft.com/office/drawing/2014/main" id="{3B71CDC9-9F2E-2041-848E-3AB0228F227E}"/>
              </a:ext>
            </a:extLst>
          </p:cNvPr>
          <p:cNvSpPr>
            <a:spLocks noGrp="1"/>
          </p:cNvSpPr>
          <p:nvPr>
            <p:ph type="sldNum" sz="quarter" idx="5"/>
          </p:nvPr>
        </p:nvSpPr>
        <p:spPr/>
        <p:txBody>
          <a:bodyPr/>
          <a:lstStyle/>
          <a:p>
            <a:fld id="{73943695-D8D2-434F-BE28-4D8F9A7809A5}" type="slidenum">
              <a:rPr lang="en-IN" smtClean="0"/>
              <a:t>30</a:t>
            </a:fld>
            <a:endParaRPr lang="en-IN"/>
          </a:p>
        </p:txBody>
      </p:sp>
    </p:spTree>
    <p:extLst>
      <p:ext uri="{BB962C8B-B14F-4D97-AF65-F5344CB8AC3E}">
        <p14:creationId xmlns:p14="http://schemas.microsoft.com/office/powerpoint/2010/main" val="1164714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4A80F-DF4D-2129-7A08-82FA4D43E3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B20E92-D53E-5603-C0E8-830872897D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BC6B39-1287-AD92-208D-599C4DEEE431}"/>
              </a:ext>
            </a:extLst>
          </p:cNvPr>
          <p:cNvSpPr>
            <a:spLocks noGrp="1"/>
          </p:cNvSpPr>
          <p:nvPr>
            <p:ph type="dt" sz="half" idx="10"/>
          </p:nvPr>
        </p:nvSpPr>
        <p:spPr/>
        <p:txBody>
          <a:bodyPr/>
          <a:lstStyle/>
          <a:p>
            <a:fld id="{21EED367-56BB-F545-BFC1-94BD3732DFFA}" type="datetime1">
              <a:rPr lang="en-US" smtClean="0"/>
              <a:t>4/30/26</a:t>
            </a:fld>
            <a:endParaRPr lang="en-IN"/>
          </a:p>
        </p:txBody>
      </p:sp>
      <p:sp>
        <p:nvSpPr>
          <p:cNvPr id="5" name="Footer Placeholder 4">
            <a:extLst>
              <a:ext uri="{FF2B5EF4-FFF2-40B4-BE49-F238E27FC236}">
                <a16:creationId xmlns:a16="http://schemas.microsoft.com/office/drawing/2014/main" id="{FE5F4854-0933-0897-3642-DEE4243D35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0875F7-CEFB-E7AF-2E08-4FDB5141B2FF}"/>
              </a:ext>
            </a:extLst>
          </p:cNvPr>
          <p:cNvSpPr>
            <a:spLocks noGrp="1"/>
          </p:cNvSpPr>
          <p:nvPr>
            <p:ph type="sldNum" sz="quarter" idx="12"/>
          </p:nvPr>
        </p:nvSpPr>
        <p:spPr/>
        <p:txBody>
          <a:bodyPr/>
          <a:lstStyle/>
          <a:p>
            <a:fld id="{CA37D8FE-10D6-4876-9A01-32155165DD68}" type="slidenum">
              <a:rPr lang="en-IN" smtClean="0"/>
              <a:t>‹#›</a:t>
            </a:fld>
            <a:endParaRPr lang="en-IN"/>
          </a:p>
        </p:txBody>
      </p:sp>
    </p:spTree>
    <p:extLst>
      <p:ext uri="{BB962C8B-B14F-4D97-AF65-F5344CB8AC3E}">
        <p14:creationId xmlns:p14="http://schemas.microsoft.com/office/powerpoint/2010/main" val="489296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F71E7-8CCB-F2EF-C467-B5A6D1E86C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52CEB6-9E50-1EBA-BFF3-C4AEA67336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24E5B6-9E1F-670C-14B5-E6B150F254F8}"/>
              </a:ext>
            </a:extLst>
          </p:cNvPr>
          <p:cNvSpPr>
            <a:spLocks noGrp="1"/>
          </p:cNvSpPr>
          <p:nvPr>
            <p:ph type="dt" sz="half" idx="10"/>
          </p:nvPr>
        </p:nvSpPr>
        <p:spPr/>
        <p:txBody>
          <a:bodyPr/>
          <a:lstStyle/>
          <a:p>
            <a:fld id="{88799876-CFBA-CB49-B1F6-F07F32C7B328}" type="datetime1">
              <a:rPr lang="en-US" smtClean="0"/>
              <a:t>4/30/26</a:t>
            </a:fld>
            <a:endParaRPr lang="en-IN"/>
          </a:p>
        </p:txBody>
      </p:sp>
      <p:sp>
        <p:nvSpPr>
          <p:cNvPr id="5" name="Footer Placeholder 4">
            <a:extLst>
              <a:ext uri="{FF2B5EF4-FFF2-40B4-BE49-F238E27FC236}">
                <a16:creationId xmlns:a16="http://schemas.microsoft.com/office/drawing/2014/main" id="{DE71734C-1CA7-6F3B-5AD6-9296DFD133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973C0E-C8F9-C1DD-5B79-BA25CB34E32E}"/>
              </a:ext>
            </a:extLst>
          </p:cNvPr>
          <p:cNvSpPr>
            <a:spLocks noGrp="1"/>
          </p:cNvSpPr>
          <p:nvPr>
            <p:ph type="sldNum" sz="quarter" idx="12"/>
          </p:nvPr>
        </p:nvSpPr>
        <p:spPr/>
        <p:txBody>
          <a:bodyPr/>
          <a:lstStyle/>
          <a:p>
            <a:fld id="{CA37D8FE-10D6-4876-9A01-32155165DD68}" type="slidenum">
              <a:rPr lang="en-IN" smtClean="0"/>
              <a:t>‹#›</a:t>
            </a:fld>
            <a:endParaRPr lang="en-IN"/>
          </a:p>
        </p:txBody>
      </p:sp>
    </p:spTree>
    <p:extLst>
      <p:ext uri="{BB962C8B-B14F-4D97-AF65-F5344CB8AC3E}">
        <p14:creationId xmlns:p14="http://schemas.microsoft.com/office/powerpoint/2010/main" val="3286383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6B65F-27DB-D0C9-772F-C0A8437E23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4AB40C-8534-7325-FE28-5636D9F7E5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84790E-66EE-B28F-71DE-8C145B1EA37C}"/>
              </a:ext>
            </a:extLst>
          </p:cNvPr>
          <p:cNvSpPr>
            <a:spLocks noGrp="1"/>
          </p:cNvSpPr>
          <p:nvPr>
            <p:ph type="dt" sz="half" idx="10"/>
          </p:nvPr>
        </p:nvSpPr>
        <p:spPr/>
        <p:txBody>
          <a:bodyPr/>
          <a:lstStyle/>
          <a:p>
            <a:fld id="{D7C6C32B-75B4-E244-98BE-93DA3F74EBED}" type="datetime1">
              <a:rPr lang="en-US" smtClean="0"/>
              <a:t>4/30/26</a:t>
            </a:fld>
            <a:endParaRPr lang="en-IN"/>
          </a:p>
        </p:txBody>
      </p:sp>
      <p:sp>
        <p:nvSpPr>
          <p:cNvPr id="5" name="Footer Placeholder 4">
            <a:extLst>
              <a:ext uri="{FF2B5EF4-FFF2-40B4-BE49-F238E27FC236}">
                <a16:creationId xmlns:a16="http://schemas.microsoft.com/office/drawing/2014/main" id="{9FC3F097-947A-C12D-7620-C8CA17346F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1DFAD9-34A1-CB1C-8B6A-7A76FBB26665}"/>
              </a:ext>
            </a:extLst>
          </p:cNvPr>
          <p:cNvSpPr>
            <a:spLocks noGrp="1"/>
          </p:cNvSpPr>
          <p:nvPr>
            <p:ph type="sldNum" sz="quarter" idx="12"/>
          </p:nvPr>
        </p:nvSpPr>
        <p:spPr/>
        <p:txBody>
          <a:bodyPr/>
          <a:lstStyle/>
          <a:p>
            <a:fld id="{CA37D8FE-10D6-4876-9A01-32155165DD68}" type="slidenum">
              <a:rPr lang="en-IN" smtClean="0"/>
              <a:t>‹#›</a:t>
            </a:fld>
            <a:endParaRPr lang="en-IN"/>
          </a:p>
        </p:txBody>
      </p:sp>
    </p:spTree>
    <p:extLst>
      <p:ext uri="{BB962C8B-B14F-4D97-AF65-F5344CB8AC3E}">
        <p14:creationId xmlns:p14="http://schemas.microsoft.com/office/powerpoint/2010/main" val="2192512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163CB-9957-337A-6599-61B0367F62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6E04CC-EB55-15AE-24F6-1109087B41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6082C5-D2A2-9B4C-AE47-6F49051C6F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CDA453C-844E-DAA4-8DED-CE4FC9258516}"/>
              </a:ext>
            </a:extLst>
          </p:cNvPr>
          <p:cNvSpPr>
            <a:spLocks noGrp="1"/>
          </p:cNvSpPr>
          <p:nvPr>
            <p:ph type="dt" sz="half" idx="10"/>
          </p:nvPr>
        </p:nvSpPr>
        <p:spPr/>
        <p:txBody>
          <a:bodyPr/>
          <a:lstStyle/>
          <a:p>
            <a:fld id="{79807703-9074-3348-8A91-3FEA007ECE4B}" type="datetime1">
              <a:rPr lang="en-US" smtClean="0"/>
              <a:t>4/30/26</a:t>
            </a:fld>
            <a:endParaRPr lang="en-IN"/>
          </a:p>
        </p:txBody>
      </p:sp>
      <p:sp>
        <p:nvSpPr>
          <p:cNvPr id="6" name="Footer Placeholder 5">
            <a:extLst>
              <a:ext uri="{FF2B5EF4-FFF2-40B4-BE49-F238E27FC236}">
                <a16:creationId xmlns:a16="http://schemas.microsoft.com/office/drawing/2014/main" id="{7C1CDF67-E63C-0359-75C5-81AA9D3FE5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04041C-EBC6-458A-59EA-9AA37C1078AD}"/>
              </a:ext>
            </a:extLst>
          </p:cNvPr>
          <p:cNvSpPr>
            <a:spLocks noGrp="1"/>
          </p:cNvSpPr>
          <p:nvPr>
            <p:ph type="sldNum" sz="quarter" idx="12"/>
          </p:nvPr>
        </p:nvSpPr>
        <p:spPr/>
        <p:txBody>
          <a:bodyPr/>
          <a:lstStyle/>
          <a:p>
            <a:fld id="{CA37D8FE-10D6-4876-9A01-32155165DD68}" type="slidenum">
              <a:rPr lang="en-IN" smtClean="0"/>
              <a:t>‹#›</a:t>
            </a:fld>
            <a:endParaRPr lang="en-IN"/>
          </a:p>
        </p:txBody>
      </p:sp>
    </p:spTree>
    <p:extLst>
      <p:ext uri="{BB962C8B-B14F-4D97-AF65-F5344CB8AC3E}">
        <p14:creationId xmlns:p14="http://schemas.microsoft.com/office/powerpoint/2010/main" val="739676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2B38C-B162-F071-AE3D-A94C790FDC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55293AE-4E03-2FB1-997F-FC9CFFF6C3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8FD60D-95AE-F228-95D0-A7F95CB793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D5E253-CA6E-BB95-FFD0-B71581A1EE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0F1E3C-9370-0452-C882-BEFA3C9A39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2A1189-00A5-F53C-63DE-3B25A51BA3CA}"/>
              </a:ext>
            </a:extLst>
          </p:cNvPr>
          <p:cNvSpPr>
            <a:spLocks noGrp="1"/>
          </p:cNvSpPr>
          <p:nvPr>
            <p:ph type="dt" sz="half" idx="10"/>
          </p:nvPr>
        </p:nvSpPr>
        <p:spPr/>
        <p:txBody>
          <a:bodyPr/>
          <a:lstStyle/>
          <a:p>
            <a:fld id="{7C6E9A50-D41A-5C44-8380-AB9545725B6D}" type="datetime1">
              <a:rPr lang="en-US" smtClean="0"/>
              <a:t>4/30/26</a:t>
            </a:fld>
            <a:endParaRPr lang="en-IN"/>
          </a:p>
        </p:txBody>
      </p:sp>
      <p:sp>
        <p:nvSpPr>
          <p:cNvPr id="8" name="Footer Placeholder 7">
            <a:extLst>
              <a:ext uri="{FF2B5EF4-FFF2-40B4-BE49-F238E27FC236}">
                <a16:creationId xmlns:a16="http://schemas.microsoft.com/office/drawing/2014/main" id="{42EA6A72-131D-81D4-A3DF-0D7B0DF7072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C8C51CA-819F-1EF6-5EC5-42E1FA1D50E7}"/>
              </a:ext>
            </a:extLst>
          </p:cNvPr>
          <p:cNvSpPr>
            <a:spLocks noGrp="1"/>
          </p:cNvSpPr>
          <p:nvPr>
            <p:ph type="sldNum" sz="quarter" idx="12"/>
          </p:nvPr>
        </p:nvSpPr>
        <p:spPr/>
        <p:txBody>
          <a:bodyPr/>
          <a:lstStyle/>
          <a:p>
            <a:fld id="{CA37D8FE-10D6-4876-9A01-32155165DD68}" type="slidenum">
              <a:rPr lang="en-IN" smtClean="0"/>
              <a:t>‹#›</a:t>
            </a:fld>
            <a:endParaRPr lang="en-IN"/>
          </a:p>
        </p:txBody>
      </p:sp>
    </p:spTree>
    <p:extLst>
      <p:ext uri="{BB962C8B-B14F-4D97-AF65-F5344CB8AC3E}">
        <p14:creationId xmlns:p14="http://schemas.microsoft.com/office/powerpoint/2010/main" val="1941327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0E63A-A0AF-69CD-A4BF-123DAB788F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D8B4144-44DE-0016-EC4E-54D8215BF021}"/>
              </a:ext>
            </a:extLst>
          </p:cNvPr>
          <p:cNvSpPr>
            <a:spLocks noGrp="1"/>
          </p:cNvSpPr>
          <p:nvPr>
            <p:ph type="dt" sz="half" idx="10"/>
          </p:nvPr>
        </p:nvSpPr>
        <p:spPr/>
        <p:txBody>
          <a:bodyPr/>
          <a:lstStyle/>
          <a:p>
            <a:fld id="{399B67E4-03CF-BC4C-A73D-3303351C4FCA}" type="datetime1">
              <a:rPr lang="en-US" smtClean="0"/>
              <a:t>4/30/26</a:t>
            </a:fld>
            <a:endParaRPr lang="en-IN"/>
          </a:p>
        </p:txBody>
      </p:sp>
      <p:sp>
        <p:nvSpPr>
          <p:cNvPr id="4" name="Footer Placeholder 3">
            <a:extLst>
              <a:ext uri="{FF2B5EF4-FFF2-40B4-BE49-F238E27FC236}">
                <a16:creationId xmlns:a16="http://schemas.microsoft.com/office/drawing/2014/main" id="{4CA37B95-8BB2-572C-56A3-5FA2F5452BA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A04AC2F-407D-03EF-90FE-C3F427D664A2}"/>
              </a:ext>
            </a:extLst>
          </p:cNvPr>
          <p:cNvSpPr>
            <a:spLocks noGrp="1"/>
          </p:cNvSpPr>
          <p:nvPr>
            <p:ph type="sldNum" sz="quarter" idx="12"/>
          </p:nvPr>
        </p:nvSpPr>
        <p:spPr/>
        <p:txBody>
          <a:bodyPr/>
          <a:lstStyle/>
          <a:p>
            <a:fld id="{CA37D8FE-10D6-4876-9A01-32155165DD68}" type="slidenum">
              <a:rPr lang="en-IN" smtClean="0"/>
              <a:t>‹#›</a:t>
            </a:fld>
            <a:endParaRPr lang="en-IN"/>
          </a:p>
        </p:txBody>
      </p:sp>
    </p:spTree>
    <p:extLst>
      <p:ext uri="{BB962C8B-B14F-4D97-AF65-F5344CB8AC3E}">
        <p14:creationId xmlns:p14="http://schemas.microsoft.com/office/powerpoint/2010/main" val="3391545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4EBE9F-AB02-1416-B0D8-791D7D2FFE0B}"/>
              </a:ext>
            </a:extLst>
          </p:cNvPr>
          <p:cNvSpPr>
            <a:spLocks noGrp="1"/>
          </p:cNvSpPr>
          <p:nvPr>
            <p:ph type="dt" sz="half" idx="10"/>
          </p:nvPr>
        </p:nvSpPr>
        <p:spPr/>
        <p:txBody>
          <a:bodyPr/>
          <a:lstStyle/>
          <a:p>
            <a:fld id="{CFB5F907-26EA-1F42-BEF3-02C301F1D609}" type="datetime1">
              <a:rPr lang="en-US" smtClean="0"/>
              <a:t>4/30/26</a:t>
            </a:fld>
            <a:endParaRPr lang="en-IN"/>
          </a:p>
        </p:txBody>
      </p:sp>
      <p:sp>
        <p:nvSpPr>
          <p:cNvPr id="3" name="Footer Placeholder 2">
            <a:extLst>
              <a:ext uri="{FF2B5EF4-FFF2-40B4-BE49-F238E27FC236}">
                <a16:creationId xmlns:a16="http://schemas.microsoft.com/office/drawing/2014/main" id="{E4BFFC7B-7833-6415-6D12-570F1BE352D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9C552-D988-924B-7CA0-DCC5D1B47EF9}"/>
              </a:ext>
            </a:extLst>
          </p:cNvPr>
          <p:cNvSpPr>
            <a:spLocks noGrp="1"/>
          </p:cNvSpPr>
          <p:nvPr>
            <p:ph type="sldNum" sz="quarter" idx="12"/>
          </p:nvPr>
        </p:nvSpPr>
        <p:spPr/>
        <p:txBody>
          <a:bodyPr/>
          <a:lstStyle/>
          <a:p>
            <a:fld id="{CA37D8FE-10D6-4876-9A01-32155165DD68}" type="slidenum">
              <a:rPr lang="en-IN" smtClean="0"/>
              <a:t>‹#›</a:t>
            </a:fld>
            <a:endParaRPr lang="en-IN"/>
          </a:p>
        </p:txBody>
      </p:sp>
    </p:spTree>
    <p:extLst>
      <p:ext uri="{BB962C8B-B14F-4D97-AF65-F5344CB8AC3E}">
        <p14:creationId xmlns:p14="http://schemas.microsoft.com/office/powerpoint/2010/main" val="3661825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1179B-1B83-C4BA-E7E0-DBD61DE7C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301296-4387-791E-5E7D-C2B4921C51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62DD7C5-3D8B-0803-8CD2-07BE5854B3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7EDBBA-7BF8-A73F-B644-08A1D04A34DF}"/>
              </a:ext>
            </a:extLst>
          </p:cNvPr>
          <p:cNvSpPr>
            <a:spLocks noGrp="1"/>
          </p:cNvSpPr>
          <p:nvPr>
            <p:ph type="dt" sz="half" idx="10"/>
          </p:nvPr>
        </p:nvSpPr>
        <p:spPr/>
        <p:txBody>
          <a:bodyPr/>
          <a:lstStyle/>
          <a:p>
            <a:fld id="{D328BF60-1889-3A46-82C1-5E62D21ADB3B}" type="datetime1">
              <a:rPr lang="en-US" smtClean="0"/>
              <a:t>4/30/26</a:t>
            </a:fld>
            <a:endParaRPr lang="en-IN"/>
          </a:p>
        </p:txBody>
      </p:sp>
      <p:sp>
        <p:nvSpPr>
          <p:cNvPr id="6" name="Footer Placeholder 5">
            <a:extLst>
              <a:ext uri="{FF2B5EF4-FFF2-40B4-BE49-F238E27FC236}">
                <a16:creationId xmlns:a16="http://schemas.microsoft.com/office/drawing/2014/main" id="{EE7DCE07-6D85-60DA-44C0-6FA375BD90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EE0C36-F1B9-89F0-82BF-567CAE086B99}"/>
              </a:ext>
            </a:extLst>
          </p:cNvPr>
          <p:cNvSpPr>
            <a:spLocks noGrp="1"/>
          </p:cNvSpPr>
          <p:nvPr>
            <p:ph type="sldNum" sz="quarter" idx="12"/>
          </p:nvPr>
        </p:nvSpPr>
        <p:spPr/>
        <p:txBody>
          <a:bodyPr/>
          <a:lstStyle/>
          <a:p>
            <a:fld id="{CA37D8FE-10D6-4876-9A01-32155165DD68}" type="slidenum">
              <a:rPr lang="en-IN" smtClean="0"/>
              <a:t>‹#›</a:t>
            </a:fld>
            <a:endParaRPr lang="en-IN"/>
          </a:p>
        </p:txBody>
      </p:sp>
    </p:spTree>
    <p:extLst>
      <p:ext uri="{BB962C8B-B14F-4D97-AF65-F5344CB8AC3E}">
        <p14:creationId xmlns:p14="http://schemas.microsoft.com/office/powerpoint/2010/main" val="700386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3E3D1-5E5A-E298-EE10-B7ED72D9F3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7E6063F-AE80-9E31-D99F-78DE1B7D90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63A2367-BF6B-7E56-38BC-C9A310E36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6505F5-889E-40DD-FF7E-25726D3CD7D2}"/>
              </a:ext>
            </a:extLst>
          </p:cNvPr>
          <p:cNvSpPr>
            <a:spLocks noGrp="1"/>
          </p:cNvSpPr>
          <p:nvPr>
            <p:ph type="dt" sz="half" idx="10"/>
          </p:nvPr>
        </p:nvSpPr>
        <p:spPr/>
        <p:txBody>
          <a:bodyPr/>
          <a:lstStyle/>
          <a:p>
            <a:fld id="{807616D4-50BA-2B40-89A1-80F1EEFEFF52}" type="datetime1">
              <a:rPr lang="en-US" smtClean="0"/>
              <a:t>4/30/26</a:t>
            </a:fld>
            <a:endParaRPr lang="en-IN"/>
          </a:p>
        </p:txBody>
      </p:sp>
      <p:sp>
        <p:nvSpPr>
          <p:cNvPr id="6" name="Footer Placeholder 5">
            <a:extLst>
              <a:ext uri="{FF2B5EF4-FFF2-40B4-BE49-F238E27FC236}">
                <a16:creationId xmlns:a16="http://schemas.microsoft.com/office/drawing/2014/main" id="{AE0EA51D-12B5-5A0F-4B41-9B586FCFA7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B39957-00D8-5F5D-B948-F5F4B2697E2A}"/>
              </a:ext>
            </a:extLst>
          </p:cNvPr>
          <p:cNvSpPr>
            <a:spLocks noGrp="1"/>
          </p:cNvSpPr>
          <p:nvPr>
            <p:ph type="sldNum" sz="quarter" idx="12"/>
          </p:nvPr>
        </p:nvSpPr>
        <p:spPr/>
        <p:txBody>
          <a:bodyPr/>
          <a:lstStyle/>
          <a:p>
            <a:fld id="{CA37D8FE-10D6-4876-9A01-32155165DD68}" type="slidenum">
              <a:rPr lang="en-IN" smtClean="0"/>
              <a:t>‹#›</a:t>
            </a:fld>
            <a:endParaRPr lang="en-IN"/>
          </a:p>
        </p:txBody>
      </p:sp>
    </p:spTree>
    <p:extLst>
      <p:ext uri="{BB962C8B-B14F-4D97-AF65-F5344CB8AC3E}">
        <p14:creationId xmlns:p14="http://schemas.microsoft.com/office/powerpoint/2010/main" val="574243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6A85E-80AD-3CAD-F204-9A40AB03BD7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4EA485-D14F-7A4F-44E1-15950E4EDD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54DE9B-1A2C-BFDC-5831-405796AA3CCF}"/>
              </a:ext>
            </a:extLst>
          </p:cNvPr>
          <p:cNvSpPr>
            <a:spLocks noGrp="1"/>
          </p:cNvSpPr>
          <p:nvPr>
            <p:ph type="dt" sz="half" idx="10"/>
          </p:nvPr>
        </p:nvSpPr>
        <p:spPr/>
        <p:txBody>
          <a:bodyPr/>
          <a:lstStyle/>
          <a:p>
            <a:fld id="{601D9B21-B5A3-3549-BC87-C4A6A4B40E9F}" type="datetime1">
              <a:rPr lang="en-US" smtClean="0"/>
              <a:t>4/30/26</a:t>
            </a:fld>
            <a:endParaRPr lang="en-IN"/>
          </a:p>
        </p:txBody>
      </p:sp>
      <p:sp>
        <p:nvSpPr>
          <p:cNvPr id="5" name="Footer Placeholder 4">
            <a:extLst>
              <a:ext uri="{FF2B5EF4-FFF2-40B4-BE49-F238E27FC236}">
                <a16:creationId xmlns:a16="http://schemas.microsoft.com/office/drawing/2014/main" id="{16A5DD5E-D3A6-400D-C0C6-8FE6B20F54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AC2EFC-FE36-47B6-9BB9-B8142C904060}"/>
              </a:ext>
            </a:extLst>
          </p:cNvPr>
          <p:cNvSpPr>
            <a:spLocks noGrp="1"/>
          </p:cNvSpPr>
          <p:nvPr>
            <p:ph type="sldNum" sz="quarter" idx="12"/>
          </p:nvPr>
        </p:nvSpPr>
        <p:spPr/>
        <p:txBody>
          <a:bodyPr/>
          <a:lstStyle/>
          <a:p>
            <a:fld id="{CA37D8FE-10D6-4876-9A01-32155165DD68}" type="slidenum">
              <a:rPr lang="en-IN" smtClean="0"/>
              <a:t>‹#›</a:t>
            </a:fld>
            <a:endParaRPr lang="en-IN"/>
          </a:p>
        </p:txBody>
      </p:sp>
    </p:spTree>
    <p:extLst>
      <p:ext uri="{BB962C8B-B14F-4D97-AF65-F5344CB8AC3E}">
        <p14:creationId xmlns:p14="http://schemas.microsoft.com/office/powerpoint/2010/main" val="3280609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8AEF12-8FB2-DC88-8708-D4464A9F1D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D96C74-0E14-6505-9351-CF7E035566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F515B9-395B-52B8-6A37-43FE33580253}"/>
              </a:ext>
            </a:extLst>
          </p:cNvPr>
          <p:cNvSpPr>
            <a:spLocks noGrp="1"/>
          </p:cNvSpPr>
          <p:nvPr>
            <p:ph type="dt" sz="half" idx="10"/>
          </p:nvPr>
        </p:nvSpPr>
        <p:spPr/>
        <p:txBody>
          <a:bodyPr/>
          <a:lstStyle/>
          <a:p>
            <a:fld id="{2D06BB18-D02D-AA42-9E3D-06A6E281B97E}" type="datetime1">
              <a:rPr lang="en-US" smtClean="0"/>
              <a:t>4/30/26</a:t>
            </a:fld>
            <a:endParaRPr lang="en-IN"/>
          </a:p>
        </p:txBody>
      </p:sp>
      <p:sp>
        <p:nvSpPr>
          <p:cNvPr id="5" name="Footer Placeholder 4">
            <a:extLst>
              <a:ext uri="{FF2B5EF4-FFF2-40B4-BE49-F238E27FC236}">
                <a16:creationId xmlns:a16="http://schemas.microsoft.com/office/drawing/2014/main" id="{D1B1D087-7291-B1EB-99A5-2DE1A3E0B6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5581EA-029D-5BDD-11AC-AD5504028938}"/>
              </a:ext>
            </a:extLst>
          </p:cNvPr>
          <p:cNvSpPr>
            <a:spLocks noGrp="1"/>
          </p:cNvSpPr>
          <p:nvPr>
            <p:ph type="sldNum" sz="quarter" idx="12"/>
          </p:nvPr>
        </p:nvSpPr>
        <p:spPr/>
        <p:txBody>
          <a:bodyPr/>
          <a:lstStyle/>
          <a:p>
            <a:fld id="{CA37D8FE-10D6-4876-9A01-32155165DD68}" type="slidenum">
              <a:rPr lang="en-IN" smtClean="0"/>
              <a:t>‹#›</a:t>
            </a:fld>
            <a:endParaRPr lang="en-IN"/>
          </a:p>
        </p:txBody>
      </p:sp>
    </p:spTree>
    <p:extLst>
      <p:ext uri="{BB962C8B-B14F-4D97-AF65-F5344CB8AC3E}">
        <p14:creationId xmlns:p14="http://schemas.microsoft.com/office/powerpoint/2010/main" val="3687946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455EE-DD49-B672-61BD-AA40EBE3D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79733B-ED4B-8796-2FEA-6E55E9942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522950-6B41-DD64-A802-A8857DCC79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6659E5-0BA3-254E-B3A0-4EF152656475}" type="datetime1">
              <a:rPr lang="en-US" smtClean="0"/>
              <a:t>4/30/26</a:t>
            </a:fld>
            <a:endParaRPr lang="en-IN"/>
          </a:p>
        </p:txBody>
      </p:sp>
      <p:sp>
        <p:nvSpPr>
          <p:cNvPr id="5" name="Footer Placeholder 4">
            <a:extLst>
              <a:ext uri="{FF2B5EF4-FFF2-40B4-BE49-F238E27FC236}">
                <a16:creationId xmlns:a16="http://schemas.microsoft.com/office/drawing/2014/main" id="{D6E2A973-956E-7112-2D78-145B6D2E03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0CF5ABF-29B0-239B-4479-ECC533381A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37D8FE-10D6-4876-9A01-32155165DD68}" type="slidenum">
              <a:rPr lang="en-IN" smtClean="0"/>
              <a:t>‹#›</a:t>
            </a:fld>
            <a:endParaRPr lang="en-IN"/>
          </a:p>
        </p:txBody>
      </p:sp>
    </p:spTree>
    <p:extLst>
      <p:ext uri="{BB962C8B-B14F-4D97-AF65-F5344CB8AC3E}">
        <p14:creationId xmlns:p14="http://schemas.microsoft.com/office/powerpoint/2010/main" val="25577028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5.png"/><Relationship Id="rId3" Type="http://schemas.openxmlformats.org/officeDocument/2006/relationships/image" Target="../media/image52.png"/><Relationship Id="rId7" Type="http://schemas.openxmlformats.org/officeDocument/2006/relationships/image" Target="../media/image90.png"/><Relationship Id="rId12" Type="http://schemas.openxmlformats.org/officeDocument/2006/relationships/image" Target="../media/image14.png"/><Relationship Id="rId17" Type="http://schemas.openxmlformats.org/officeDocument/2006/relationships/image" Target="../media/image7.png"/><Relationship Id="rId2" Type="http://schemas.openxmlformats.org/officeDocument/2006/relationships/notesSlide" Target="../notesSlides/notesSlide6.xml"/><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80.png"/><Relationship Id="rId11" Type="http://schemas.openxmlformats.org/officeDocument/2006/relationships/image" Target="../media/image13.png"/><Relationship Id="rId5" Type="http://schemas.openxmlformats.org/officeDocument/2006/relationships/image" Target="../media/image6.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110.pn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50.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70.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0.gi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47.png"/></Relationships>
</file>

<file path=ppt/slides/_rels/slide2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5.png"/><Relationship Id="rId7"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7.png"/><Relationship Id="rId5" Type="http://schemas.openxmlformats.org/officeDocument/2006/relationships/image" Target="../media/image47.png"/><Relationship Id="rId10" Type="http://schemas.openxmlformats.org/officeDocument/2006/relationships/image" Target="../media/image36.png"/><Relationship Id="rId4" Type="http://schemas.openxmlformats.org/officeDocument/2006/relationships/image" Target="../media/image46.png"/><Relationship Id="rId9" Type="http://schemas.openxmlformats.org/officeDocument/2006/relationships/image" Target="../media/image35.png"/></Relationships>
</file>

<file path=ppt/slides/_rels/slide2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54.png"/><Relationship Id="rId7"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55.png"/><Relationship Id="rId9" Type="http://schemas.openxmlformats.org/officeDocument/2006/relationships/image" Target="../media/image37.png"/></Relationships>
</file>

<file path=ppt/slides/_rels/slide2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56.png"/><Relationship Id="rId7"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8.png"/><Relationship Id="rId9" Type="http://schemas.openxmlformats.org/officeDocument/2006/relationships/image" Target="../media/image37.png"/></Relationships>
</file>

<file path=ppt/slides/_rels/slide2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20.png"/><Relationship Id="rId7" Type="http://schemas.openxmlformats.org/officeDocument/2006/relationships/image" Target="../media/image43.png"/><Relationship Id="rId12"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image" Target="../media/image50.png"/><Relationship Id="rId5" Type="http://schemas.openxmlformats.org/officeDocument/2006/relationships/image" Target="../media/image41.png"/><Relationship Id="rId10" Type="http://schemas.openxmlformats.org/officeDocument/2006/relationships/image" Target="../media/image49.png"/><Relationship Id="rId4" Type="http://schemas.openxmlformats.org/officeDocument/2006/relationships/image" Target="../media/image39.png"/><Relationship Id="rId9" Type="http://schemas.openxmlformats.org/officeDocument/2006/relationships/image" Target="../media/image4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4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732DDB-B8AB-2580-133E-D8D9F0DF7417}"/>
              </a:ext>
            </a:extLst>
          </p:cNvPr>
          <p:cNvPicPr>
            <a:picLocks noChangeAspect="1"/>
          </p:cNvPicPr>
          <p:nvPr/>
        </p:nvPicPr>
        <p:blipFill>
          <a:blip r:embed="rId3"/>
          <a:srcRect r="71394"/>
          <a:stretch>
            <a:fillRect/>
          </a:stretch>
        </p:blipFill>
        <p:spPr>
          <a:xfrm>
            <a:off x="511396" y="857595"/>
            <a:ext cx="2780691" cy="5386299"/>
          </a:xfrm>
          <a:prstGeom prst="rect">
            <a:avLst/>
          </a:prstGeom>
        </p:spPr>
      </p:pic>
      <p:sp>
        <p:nvSpPr>
          <p:cNvPr id="2" name="Title 1">
            <a:extLst>
              <a:ext uri="{FF2B5EF4-FFF2-40B4-BE49-F238E27FC236}">
                <a16:creationId xmlns:a16="http://schemas.microsoft.com/office/drawing/2014/main" id="{17D13C4B-3577-8BA4-FCE3-2A3E91B4F52E}"/>
              </a:ext>
            </a:extLst>
          </p:cNvPr>
          <p:cNvSpPr>
            <a:spLocks noGrp="1"/>
          </p:cNvSpPr>
          <p:nvPr>
            <p:ph type="ctrTitle"/>
          </p:nvPr>
        </p:nvSpPr>
        <p:spPr>
          <a:xfrm>
            <a:off x="1524000" y="919656"/>
            <a:ext cx="10298654" cy="2174638"/>
          </a:xfrm>
        </p:spPr>
        <p:txBody>
          <a:bodyPr>
            <a:normAutofit/>
          </a:bodyPr>
          <a:lstStyle/>
          <a:p>
            <a:r>
              <a:rPr lang="en-US" b="1" dirty="0">
                <a:solidFill>
                  <a:srgbClr val="C00000"/>
                </a:solidFill>
              </a:rPr>
              <a:t>Minimum Free Energy (MFE) structure prediction</a:t>
            </a:r>
            <a:endParaRPr lang="en-IN" b="1" dirty="0">
              <a:solidFill>
                <a:srgbClr val="C00000"/>
              </a:solidFill>
            </a:endParaRPr>
          </a:p>
        </p:txBody>
      </p:sp>
      <p:sp>
        <p:nvSpPr>
          <p:cNvPr id="3" name="Subtitle 2">
            <a:extLst>
              <a:ext uri="{FF2B5EF4-FFF2-40B4-BE49-F238E27FC236}">
                <a16:creationId xmlns:a16="http://schemas.microsoft.com/office/drawing/2014/main" id="{B95F1E76-AEAC-4156-3046-A6448EF21114}"/>
              </a:ext>
            </a:extLst>
          </p:cNvPr>
          <p:cNvSpPr>
            <a:spLocks noGrp="1"/>
          </p:cNvSpPr>
          <p:nvPr>
            <p:ph type="subTitle" idx="1"/>
          </p:nvPr>
        </p:nvSpPr>
        <p:spPr>
          <a:xfrm>
            <a:off x="1146258" y="3550745"/>
            <a:ext cx="9144000" cy="1655762"/>
          </a:xfrm>
        </p:spPr>
        <p:txBody>
          <a:bodyPr>
            <a:noAutofit/>
          </a:bodyPr>
          <a:lstStyle/>
          <a:p>
            <a:pPr>
              <a:lnSpc>
                <a:spcPct val="100000"/>
              </a:lnSpc>
            </a:pPr>
            <a:r>
              <a:rPr lang="en-US" b="1" dirty="0"/>
              <a:t>Ashwin Amalaruban</a:t>
            </a:r>
          </a:p>
        </p:txBody>
      </p:sp>
      <p:sp>
        <p:nvSpPr>
          <p:cNvPr id="4" name="Rectangle 3">
            <a:extLst>
              <a:ext uri="{FF2B5EF4-FFF2-40B4-BE49-F238E27FC236}">
                <a16:creationId xmlns:a16="http://schemas.microsoft.com/office/drawing/2014/main" id="{C0D0D259-3DED-5426-1B3A-186BCF8641C6}"/>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508E4465-8A59-3B2A-50D0-9050D4E0F32B}"/>
              </a:ext>
            </a:extLst>
          </p:cNvPr>
          <p:cNvSpPr/>
          <p:nvPr/>
        </p:nvSpPr>
        <p:spPr>
          <a:xfrm>
            <a:off x="1146258" y="857595"/>
            <a:ext cx="594860" cy="3449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8223453"/>
      </p:ext>
    </p:extLst>
  </p:cSld>
  <p:clrMapOvr>
    <a:masterClrMapping/>
  </p:clrMapOvr>
  <mc:AlternateContent xmlns:mc="http://schemas.openxmlformats.org/markup-compatibility/2006" xmlns:p14="http://schemas.microsoft.com/office/powerpoint/2010/main">
    <mc:Choice Requires="p14">
      <p:transition spd="slow" p14:dur="2000" advTm="14372"/>
    </mc:Choice>
    <mc:Fallback xmlns="">
      <p:transition spd="slow" advTm="1437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0AE53-5DD2-61E0-9619-CC334382ADEE}"/>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E047FA14-F268-3E66-6996-5BC305B7F873}"/>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Slide Number Placeholder 3">
            <a:extLst>
              <a:ext uri="{FF2B5EF4-FFF2-40B4-BE49-F238E27FC236}">
                <a16:creationId xmlns:a16="http://schemas.microsoft.com/office/drawing/2014/main" id="{ECE77268-4358-DF95-3F8A-032B84666791}"/>
              </a:ext>
            </a:extLst>
          </p:cNvPr>
          <p:cNvSpPr>
            <a:spLocks noGrp="1"/>
          </p:cNvSpPr>
          <p:nvPr>
            <p:ph type="sldNum" sz="quarter" idx="12"/>
          </p:nvPr>
        </p:nvSpPr>
        <p:spPr/>
        <p:txBody>
          <a:bodyPr/>
          <a:lstStyle/>
          <a:p>
            <a:r>
              <a:rPr lang="en-IN" dirty="0"/>
              <a:t>1</a:t>
            </a:r>
          </a:p>
        </p:txBody>
      </p:sp>
      <p:sp>
        <p:nvSpPr>
          <p:cNvPr id="23" name="TextBox 22">
            <a:extLst>
              <a:ext uri="{FF2B5EF4-FFF2-40B4-BE49-F238E27FC236}">
                <a16:creationId xmlns:a16="http://schemas.microsoft.com/office/drawing/2014/main" id="{A13CC50F-5B61-E534-4B14-089D8E343C8E}"/>
              </a:ext>
            </a:extLst>
          </p:cNvPr>
          <p:cNvSpPr txBox="1"/>
          <p:nvPr/>
        </p:nvSpPr>
        <p:spPr>
          <a:xfrm>
            <a:off x="1663450" y="305014"/>
            <a:ext cx="9226118" cy="584775"/>
          </a:xfrm>
          <a:prstGeom prst="rect">
            <a:avLst/>
          </a:prstGeom>
          <a:noFill/>
        </p:spPr>
        <p:txBody>
          <a:bodyPr wrap="square" rtlCol="0">
            <a:spAutoFit/>
          </a:bodyPr>
          <a:lstStyle/>
          <a:p>
            <a:pPr algn="ctr"/>
            <a:r>
              <a:rPr lang="en-US" sz="3200" b="1" dirty="0">
                <a:solidFill>
                  <a:srgbClr val="C00000"/>
                </a:solidFill>
              </a:rPr>
              <a:t>Predicting RNA structure from</a:t>
            </a:r>
          </a:p>
        </p:txBody>
      </p:sp>
      <p:sp>
        <p:nvSpPr>
          <p:cNvPr id="15" name="Terminator 14">
            <a:extLst>
              <a:ext uri="{FF2B5EF4-FFF2-40B4-BE49-F238E27FC236}">
                <a16:creationId xmlns:a16="http://schemas.microsoft.com/office/drawing/2014/main" id="{8979E333-426E-6B25-A768-1851E72F5652}"/>
              </a:ext>
            </a:extLst>
          </p:cNvPr>
          <p:cNvSpPr/>
          <p:nvPr/>
        </p:nvSpPr>
        <p:spPr>
          <a:xfrm>
            <a:off x="1663450" y="1307878"/>
            <a:ext cx="3928763" cy="528732"/>
          </a:xfrm>
          <a:prstGeom prst="flowChartTerminator">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Our interest</a:t>
            </a:r>
          </a:p>
        </p:txBody>
      </p:sp>
      <p:sp>
        <p:nvSpPr>
          <p:cNvPr id="22" name="TextBox 21">
            <a:extLst>
              <a:ext uri="{FF2B5EF4-FFF2-40B4-BE49-F238E27FC236}">
                <a16:creationId xmlns:a16="http://schemas.microsoft.com/office/drawing/2014/main" id="{0373AE06-844D-ABC8-CA60-102C54B5B8DE}"/>
              </a:ext>
            </a:extLst>
          </p:cNvPr>
          <p:cNvSpPr txBox="1"/>
          <p:nvPr/>
        </p:nvSpPr>
        <p:spPr>
          <a:xfrm>
            <a:off x="113694" y="6382921"/>
            <a:ext cx="6100762" cy="338554"/>
          </a:xfrm>
          <a:prstGeom prst="rect">
            <a:avLst/>
          </a:prstGeom>
          <a:noFill/>
        </p:spPr>
        <p:txBody>
          <a:bodyPr wrap="square">
            <a:spAutoFit/>
          </a:bodyPr>
          <a:lstStyle/>
          <a:p>
            <a:r>
              <a:rPr lang="en-US" sz="800" dirty="0">
                <a:solidFill>
                  <a:srgbClr val="222222"/>
                </a:solidFill>
                <a:latin typeface="Arial" panose="020B0604020202020204" pitchFamily="34" charset="0"/>
              </a:rPr>
              <a:t>Al-Khatib et al., </a:t>
            </a:r>
            <a:r>
              <a:rPr lang="en-US" sz="800" i="1" dirty="0">
                <a:solidFill>
                  <a:srgbClr val="222222"/>
                </a:solidFill>
                <a:latin typeface="Arial" panose="020B0604020202020204" pitchFamily="34" charset="0"/>
              </a:rPr>
              <a:t>Evolutionary Bioinformatics</a:t>
            </a:r>
            <a:r>
              <a:rPr lang="en-US" sz="800" dirty="0">
                <a:solidFill>
                  <a:srgbClr val="222222"/>
                </a:solidFill>
                <a:latin typeface="Arial" panose="020B0604020202020204" pitchFamily="34" charset="0"/>
              </a:rPr>
              <a:t>, 2010</a:t>
            </a:r>
            <a:endParaRPr lang="en-US" sz="800" b="0" i="0" u="none" strike="noStrike" dirty="0">
              <a:effectLst/>
            </a:endParaRPr>
          </a:p>
          <a:p>
            <a:r>
              <a:rPr lang="en-US" sz="800" b="0" i="0" u="none" strike="noStrike" dirty="0">
                <a:effectLst/>
              </a:rPr>
              <a:t>Vicens et al., </a:t>
            </a:r>
            <a:r>
              <a:rPr lang="en-US" sz="800" b="0" i="1" u="none" strike="noStrike" dirty="0">
                <a:effectLst/>
              </a:rPr>
              <a:t>PNAS</a:t>
            </a:r>
            <a:r>
              <a:rPr lang="en-US" sz="800" b="0" i="0" u="none" strike="noStrike" dirty="0">
                <a:effectLst/>
              </a:rPr>
              <a:t>, 2022</a:t>
            </a:r>
          </a:p>
        </p:txBody>
      </p:sp>
      <p:sp>
        <p:nvSpPr>
          <p:cNvPr id="29" name="TextBox 28">
            <a:extLst>
              <a:ext uri="{FF2B5EF4-FFF2-40B4-BE49-F238E27FC236}">
                <a16:creationId xmlns:a16="http://schemas.microsoft.com/office/drawing/2014/main" id="{186D4FE5-95B1-53EC-0945-5F65F0B798B4}"/>
              </a:ext>
            </a:extLst>
          </p:cNvPr>
          <p:cNvSpPr txBox="1"/>
          <p:nvPr/>
        </p:nvSpPr>
        <p:spPr>
          <a:xfrm>
            <a:off x="5251858" y="1352973"/>
            <a:ext cx="5777814" cy="400110"/>
          </a:xfrm>
          <a:prstGeom prst="rect">
            <a:avLst/>
          </a:prstGeom>
          <a:noFill/>
        </p:spPr>
        <p:txBody>
          <a:bodyPr wrap="square" rtlCol="0">
            <a:spAutoFit/>
          </a:bodyPr>
          <a:lstStyle/>
          <a:p>
            <a:pPr algn="ctr"/>
            <a:r>
              <a:rPr lang="en-US" sz="2000" i="1" dirty="0"/>
              <a:t>Computational structure prediction</a:t>
            </a:r>
          </a:p>
        </p:txBody>
      </p:sp>
      <p:sp>
        <p:nvSpPr>
          <p:cNvPr id="33" name="TextBox 32">
            <a:extLst>
              <a:ext uri="{FF2B5EF4-FFF2-40B4-BE49-F238E27FC236}">
                <a16:creationId xmlns:a16="http://schemas.microsoft.com/office/drawing/2014/main" id="{B253CB0B-BD3F-0F65-E38B-074738F7B9E6}"/>
              </a:ext>
            </a:extLst>
          </p:cNvPr>
          <p:cNvSpPr txBox="1"/>
          <p:nvPr/>
        </p:nvSpPr>
        <p:spPr>
          <a:xfrm>
            <a:off x="409421" y="1383751"/>
            <a:ext cx="986498" cy="369332"/>
          </a:xfrm>
          <a:prstGeom prst="rect">
            <a:avLst/>
          </a:prstGeom>
          <a:noFill/>
        </p:spPr>
        <p:txBody>
          <a:bodyPr wrap="square" rtlCol="0">
            <a:spAutoFit/>
          </a:bodyPr>
          <a:lstStyle/>
          <a:p>
            <a:r>
              <a:rPr lang="en-US" i="1" dirty="0"/>
              <a:t>Faster</a:t>
            </a:r>
          </a:p>
        </p:txBody>
      </p:sp>
    </p:spTree>
    <p:extLst>
      <p:ext uri="{BB962C8B-B14F-4D97-AF65-F5344CB8AC3E}">
        <p14:creationId xmlns:p14="http://schemas.microsoft.com/office/powerpoint/2010/main" val="258564170"/>
      </p:ext>
    </p:extLst>
  </p:cSld>
  <p:clrMapOvr>
    <a:masterClrMapping/>
  </p:clrMapOvr>
  <mc:AlternateContent xmlns:mc="http://schemas.openxmlformats.org/markup-compatibility/2006" xmlns:p14="http://schemas.microsoft.com/office/powerpoint/2010/main">
    <mc:Choice Requires="p14">
      <p:transition spd="slow" p14:dur="2000" advTm="12429"/>
    </mc:Choice>
    <mc:Fallback xmlns="">
      <p:transition spd="slow" advTm="1242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C18D9-ACA6-8CFF-98AA-4A127B67767D}"/>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3FC7904F-69DD-2631-B955-79E4D09D06A8}"/>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Slide Number Placeholder 3">
            <a:extLst>
              <a:ext uri="{FF2B5EF4-FFF2-40B4-BE49-F238E27FC236}">
                <a16:creationId xmlns:a16="http://schemas.microsoft.com/office/drawing/2014/main" id="{FFC518B6-5FF3-5155-DAF6-8898CC577E17}"/>
              </a:ext>
            </a:extLst>
          </p:cNvPr>
          <p:cNvSpPr>
            <a:spLocks noGrp="1"/>
          </p:cNvSpPr>
          <p:nvPr>
            <p:ph type="sldNum" sz="quarter" idx="12"/>
          </p:nvPr>
        </p:nvSpPr>
        <p:spPr/>
        <p:txBody>
          <a:bodyPr/>
          <a:lstStyle/>
          <a:p>
            <a:r>
              <a:rPr lang="en-IN" dirty="0"/>
              <a:t>1</a:t>
            </a:r>
          </a:p>
        </p:txBody>
      </p:sp>
      <p:sp>
        <p:nvSpPr>
          <p:cNvPr id="23" name="TextBox 22">
            <a:extLst>
              <a:ext uri="{FF2B5EF4-FFF2-40B4-BE49-F238E27FC236}">
                <a16:creationId xmlns:a16="http://schemas.microsoft.com/office/drawing/2014/main" id="{5686B2AC-7B9E-07E2-BF5C-C331D762ADB5}"/>
              </a:ext>
            </a:extLst>
          </p:cNvPr>
          <p:cNvSpPr txBox="1"/>
          <p:nvPr/>
        </p:nvSpPr>
        <p:spPr>
          <a:xfrm>
            <a:off x="1663450" y="305014"/>
            <a:ext cx="9226118" cy="584775"/>
          </a:xfrm>
          <a:prstGeom prst="rect">
            <a:avLst/>
          </a:prstGeom>
          <a:noFill/>
        </p:spPr>
        <p:txBody>
          <a:bodyPr wrap="square" rtlCol="0">
            <a:spAutoFit/>
          </a:bodyPr>
          <a:lstStyle/>
          <a:p>
            <a:pPr algn="ctr"/>
            <a:r>
              <a:rPr lang="en-US" sz="3200" b="1" dirty="0">
                <a:solidFill>
                  <a:srgbClr val="C00000"/>
                </a:solidFill>
              </a:rPr>
              <a:t>Predicting RNA structure from</a:t>
            </a:r>
          </a:p>
        </p:txBody>
      </p:sp>
      <p:sp>
        <p:nvSpPr>
          <p:cNvPr id="15" name="Terminator 14">
            <a:extLst>
              <a:ext uri="{FF2B5EF4-FFF2-40B4-BE49-F238E27FC236}">
                <a16:creationId xmlns:a16="http://schemas.microsoft.com/office/drawing/2014/main" id="{591CF354-B4CB-CE98-EF3A-DE3BB3B456E7}"/>
              </a:ext>
            </a:extLst>
          </p:cNvPr>
          <p:cNvSpPr/>
          <p:nvPr/>
        </p:nvSpPr>
        <p:spPr>
          <a:xfrm>
            <a:off x="1663450" y="1307878"/>
            <a:ext cx="3928763" cy="528732"/>
          </a:xfrm>
          <a:prstGeom prst="flowChartTerminator">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Our interest</a:t>
            </a:r>
          </a:p>
        </p:txBody>
      </p:sp>
      <p:sp>
        <p:nvSpPr>
          <p:cNvPr id="22" name="TextBox 21">
            <a:extLst>
              <a:ext uri="{FF2B5EF4-FFF2-40B4-BE49-F238E27FC236}">
                <a16:creationId xmlns:a16="http://schemas.microsoft.com/office/drawing/2014/main" id="{16FDC3E0-FA30-E635-F8D7-B69C849F1AEC}"/>
              </a:ext>
            </a:extLst>
          </p:cNvPr>
          <p:cNvSpPr txBox="1"/>
          <p:nvPr/>
        </p:nvSpPr>
        <p:spPr>
          <a:xfrm>
            <a:off x="113694" y="6382921"/>
            <a:ext cx="6100762" cy="338554"/>
          </a:xfrm>
          <a:prstGeom prst="rect">
            <a:avLst/>
          </a:prstGeom>
          <a:noFill/>
        </p:spPr>
        <p:txBody>
          <a:bodyPr wrap="square">
            <a:spAutoFit/>
          </a:bodyPr>
          <a:lstStyle/>
          <a:p>
            <a:r>
              <a:rPr lang="en-US" sz="800" dirty="0">
                <a:solidFill>
                  <a:srgbClr val="222222"/>
                </a:solidFill>
                <a:latin typeface="Arial" panose="020B0604020202020204" pitchFamily="34" charset="0"/>
              </a:rPr>
              <a:t>Al-Khatib et al., </a:t>
            </a:r>
            <a:r>
              <a:rPr lang="en-US" sz="800" i="1" dirty="0">
                <a:solidFill>
                  <a:srgbClr val="222222"/>
                </a:solidFill>
                <a:latin typeface="Arial" panose="020B0604020202020204" pitchFamily="34" charset="0"/>
              </a:rPr>
              <a:t>Evolutionary Bioinformatics</a:t>
            </a:r>
            <a:r>
              <a:rPr lang="en-US" sz="800" dirty="0">
                <a:solidFill>
                  <a:srgbClr val="222222"/>
                </a:solidFill>
                <a:latin typeface="Arial" panose="020B0604020202020204" pitchFamily="34" charset="0"/>
              </a:rPr>
              <a:t>, 2010</a:t>
            </a:r>
            <a:endParaRPr lang="en-US" sz="800" b="0" i="0" u="none" strike="noStrike" dirty="0">
              <a:effectLst/>
            </a:endParaRPr>
          </a:p>
          <a:p>
            <a:r>
              <a:rPr lang="en-US" sz="800" b="0" i="0" u="none" strike="noStrike" dirty="0">
                <a:effectLst/>
              </a:rPr>
              <a:t>Vicens et al., </a:t>
            </a:r>
            <a:r>
              <a:rPr lang="en-US" sz="800" b="0" i="1" u="none" strike="noStrike" dirty="0">
                <a:effectLst/>
              </a:rPr>
              <a:t>PNAS</a:t>
            </a:r>
            <a:r>
              <a:rPr lang="en-US" sz="800" b="0" i="0" u="none" strike="noStrike" dirty="0">
                <a:effectLst/>
              </a:rPr>
              <a:t>, 2022</a:t>
            </a:r>
          </a:p>
        </p:txBody>
      </p:sp>
      <p:sp>
        <p:nvSpPr>
          <p:cNvPr id="29" name="TextBox 28">
            <a:extLst>
              <a:ext uri="{FF2B5EF4-FFF2-40B4-BE49-F238E27FC236}">
                <a16:creationId xmlns:a16="http://schemas.microsoft.com/office/drawing/2014/main" id="{796D0915-EAB6-7A5B-41D5-C9A35FDC4B0A}"/>
              </a:ext>
            </a:extLst>
          </p:cNvPr>
          <p:cNvSpPr txBox="1"/>
          <p:nvPr/>
        </p:nvSpPr>
        <p:spPr>
          <a:xfrm>
            <a:off x="5251858" y="1352973"/>
            <a:ext cx="5777814" cy="400110"/>
          </a:xfrm>
          <a:prstGeom prst="rect">
            <a:avLst/>
          </a:prstGeom>
          <a:noFill/>
        </p:spPr>
        <p:txBody>
          <a:bodyPr wrap="square" rtlCol="0">
            <a:spAutoFit/>
          </a:bodyPr>
          <a:lstStyle/>
          <a:p>
            <a:pPr algn="ctr"/>
            <a:r>
              <a:rPr lang="en-US" sz="2000" i="1" dirty="0"/>
              <a:t>Computational structure prediction</a:t>
            </a:r>
          </a:p>
        </p:txBody>
      </p:sp>
      <p:sp>
        <p:nvSpPr>
          <p:cNvPr id="33" name="TextBox 32">
            <a:extLst>
              <a:ext uri="{FF2B5EF4-FFF2-40B4-BE49-F238E27FC236}">
                <a16:creationId xmlns:a16="http://schemas.microsoft.com/office/drawing/2014/main" id="{BE3BA5CE-3AA2-E5BD-B589-26B939458074}"/>
              </a:ext>
            </a:extLst>
          </p:cNvPr>
          <p:cNvSpPr txBox="1"/>
          <p:nvPr/>
        </p:nvSpPr>
        <p:spPr>
          <a:xfrm>
            <a:off x="409421" y="1387578"/>
            <a:ext cx="986498" cy="369332"/>
          </a:xfrm>
          <a:prstGeom prst="rect">
            <a:avLst/>
          </a:prstGeom>
          <a:noFill/>
        </p:spPr>
        <p:txBody>
          <a:bodyPr wrap="square" rtlCol="0">
            <a:spAutoFit/>
          </a:bodyPr>
          <a:lstStyle/>
          <a:p>
            <a:r>
              <a:rPr lang="en-US" i="1" dirty="0"/>
              <a:t>Faster</a:t>
            </a:r>
          </a:p>
        </p:txBody>
      </p:sp>
      <p:sp>
        <p:nvSpPr>
          <p:cNvPr id="8" name="Terminator 7">
            <a:extLst>
              <a:ext uri="{FF2B5EF4-FFF2-40B4-BE49-F238E27FC236}">
                <a16:creationId xmlns:a16="http://schemas.microsoft.com/office/drawing/2014/main" id="{54CA5DA5-2A44-63A6-67EE-CE148E86C1E0}"/>
              </a:ext>
            </a:extLst>
          </p:cNvPr>
          <p:cNvSpPr/>
          <p:nvPr/>
        </p:nvSpPr>
        <p:spPr>
          <a:xfrm>
            <a:off x="1663450" y="2503196"/>
            <a:ext cx="3928763" cy="528732"/>
          </a:xfrm>
          <a:prstGeom prst="flowChartTerminator">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Comparative Analysis</a:t>
            </a:r>
          </a:p>
        </p:txBody>
      </p:sp>
      <p:pic>
        <p:nvPicPr>
          <p:cNvPr id="9" name="Picture 8" descr="A diagram of a letter&#10;&#10;AI-generated content may be incorrect.">
            <a:extLst>
              <a:ext uri="{FF2B5EF4-FFF2-40B4-BE49-F238E27FC236}">
                <a16:creationId xmlns:a16="http://schemas.microsoft.com/office/drawing/2014/main" id="{BD245AD6-1F5A-0014-F63F-718D3A0219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8432" y="3154228"/>
            <a:ext cx="4309015" cy="920268"/>
          </a:xfrm>
          <a:prstGeom prst="rect">
            <a:avLst/>
          </a:prstGeom>
        </p:spPr>
      </p:pic>
      <p:sp>
        <p:nvSpPr>
          <p:cNvPr id="12" name="TextBox 11">
            <a:extLst>
              <a:ext uri="{FF2B5EF4-FFF2-40B4-BE49-F238E27FC236}">
                <a16:creationId xmlns:a16="http://schemas.microsoft.com/office/drawing/2014/main" id="{8A2ECE8F-2352-AA10-AF4E-E367FECDC8A9}"/>
              </a:ext>
            </a:extLst>
          </p:cNvPr>
          <p:cNvSpPr txBox="1"/>
          <p:nvPr/>
        </p:nvSpPr>
        <p:spPr>
          <a:xfrm>
            <a:off x="7852566" y="3275412"/>
            <a:ext cx="4309015" cy="707886"/>
          </a:xfrm>
          <a:prstGeom prst="rect">
            <a:avLst/>
          </a:prstGeom>
          <a:noFill/>
        </p:spPr>
        <p:txBody>
          <a:bodyPr wrap="square" rtlCol="0">
            <a:spAutoFit/>
          </a:bodyPr>
          <a:lstStyle/>
          <a:p>
            <a:r>
              <a:rPr lang="en-US" sz="2000" dirty="0"/>
              <a:t>Structures for similar RNAs (from different species) can be obtained.</a:t>
            </a:r>
          </a:p>
        </p:txBody>
      </p:sp>
    </p:spTree>
    <p:extLst>
      <p:ext uri="{BB962C8B-B14F-4D97-AF65-F5344CB8AC3E}">
        <p14:creationId xmlns:p14="http://schemas.microsoft.com/office/powerpoint/2010/main" val="2423849063"/>
      </p:ext>
    </p:extLst>
  </p:cSld>
  <p:clrMapOvr>
    <a:masterClrMapping/>
  </p:clrMapOvr>
  <mc:AlternateContent xmlns:mc="http://schemas.openxmlformats.org/markup-compatibility/2006" xmlns:p14="http://schemas.microsoft.com/office/powerpoint/2010/main">
    <mc:Choice Requires="p14">
      <p:transition spd="slow" p14:dur="2000" advTm="43043"/>
    </mc:Choice>
    <mc:Fallback xmlns="">
      <p:transition spd="slow" advTm="4304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0E7CC-E820-925C-C49F-79072D0F4299}"/>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F2B18DCC-EE37-4C9A-BE74-A8E52D112D10}"/>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Slide Number Placeholder 3">
            <a:extLst>
              <a:ext uri="{FF2B5EF4-FFF2-40B4-BE49-F238E27FC236}">
                <a16:creationId xmlns:a16="http://schemas.microsoft.com/office/drawing/2014/main" id="{5458BF03-D3DF-B93F-E7F8-1FF2B67F739E}"/>
              </a:ext>
            </a:extLst>
          </p:cNvPr>
          <p:cNvSpPr>
            <a:spLocks noGrp="1"/>
          </p:cNvSpPr>
          <p:nvPr>
            <p:ph type="sldNum" sz="quarter" idx="12"/>
          </p:nvPr>
        </p:nvSpPr>
        <p:spPr/>
        <p:txBody>
          <a:bodyPr/>
          <a:lstStyle/>
          <a:p>
            <a:r>
              <a:rPr lang="en-IN" dirty="0"/>
              <a:t>1</a:t>
            </a:r>
          </a:p>
        </p:txBody>
      </p:sp>
      <p:sp>
        <p:nvSpPr>
          <p:cNvPr id="23" name="TextBox 22">
            <a:extLst>
              <a:ext uri="{FF2B5EF4-FFF2-40B4-BE49-F238E27FC236}">
                <a16:creationId xmlns:a16="http://schemas.microsoft.com/office/drawing/2014/main" id="{A5081EA5-DA05-F012-6E3B-D6C5F82EB573}"/>
              </a:ext>
            </a:extLst>
          </p:cNvPr>
          <p:cNvSpPr txBox="1"/>
          <p:nvPr/>
        </p:nvSpPr>
        <p:spPr>
          <a:xfrm>
            <a:off x="1663450" y="305014"/>
            <a:ext cx="9226118" cy="584775"/>
          </a:xfrm>
          <a:prstGeom prst="rect">
            <a:avLst/>
          </a:prstGeom>
          <a:noFill/>
        </p:spPr>
        <p:txBody>
          <a:bodyPr wrap="square" rtlCol="0">
            <a:spAutoFit/>
          </a:bodyPr>
          <a:lstStyle/>
          <a:p>
            <a:pPr algn="ctr"/>
            <a:r>
              <a:rPr lang="en-US" sz="3200" b="1" dirty="0">
                <a:solidFill>
                  <a:srgbClr val="C00000"/>
                </a:solidFill>
              </a:rPr>
              <a:t>Predicting RNA structure from</a:t>
            </a:r>
          </a:p>
        </p:txBody>
      </p:sp>
      <p:sp>
        <p:nvSpPr>
          <p:cNvPr id="15" name="Terminator 14">
            <a:extLst>
              <a:ext uri="{FF2B5EF4-FFF2-40B4-BE49-F238E27FC236}">
                <a16:creationId xmlns:a16="http://schemas.microsoft.com/office/drawing/2014/main" id="{70A1C7A2-2696-1981-1AC9-B62FCEE2AFA2}"/>
              </a:ext>
            </a:extLst>
          </p:cNvPr>
          <p:cNvSpPr/>
          <p:nvPr/>
        </p:nvSpPr>
        <p:spPr>
          <a:xfrm>
            <a:off x="1663450" y="1307878"/>
            <a:ext cx="3928763" cy="528732"/>
          </a:xfrm>
          <a:prstGeom prst="flowChartTerminator">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Our interest</a:t>
            </a:r>
          </a:p>
        </p:txBody>
      </p:sp>
      <p:sp>
        <p:nvSpPr>
          <p:cNvPr id="22" name="TextBox 21">
            <a:extLst>
              <a:ext uri="{FF2B5EF4-FFF2-40B4-BE49-F238E27FC236}">
                <a16:creationId xmlns:a16="http://schemas.microsoft.com/office/drawing/2014/main" id="{4FFC6029-A87D-4EFE-7C4D-B2FB5575BDEA}"/>
              </a:ext>
            </a:extLst>
          </p:cNvPr>
          <p:cNvSpPr txBox="1"/>
          <p:nvPr/>
        </p:nvSpPr>
        <p:spPr>
          <a:xfrm>
            <a:off x="113694" y="6382921"/>
            <a:ext cx="6100762" cy="338554"/>
          </a:xfrm>
          <a:prstGeom prst="rect">
            <a:avLst/>
          </a:prstGeom>
          <a:noFill/>
        </p:spPr>
        <p:txBody>
          <a:bodyPr wrap="square">
            <a:spAutoFit/>
          </a:bodyPr>
          <a:lstStyle/>
          <a:p>
            <a:r>
              <a:rPr lang="en-US" sz="800" dirty="0">
                <a:solidFill>
                  <a:srgbClr val="222222"/>
                </a:solidFill>
                <a:latin typeface="Arial" panose="020B0604020202020204" pitchFamily="34" charset="0"/>
              </a:rPr>
              <a:t>Al-Khatib et al., </a:t>
            </a:r>
            <a:r>
              <a:rPr lang="en-US" sz="800" i="1" dirty="0">
                <a:solidFill>
                  <a:srgbClr val="222222"/>
                </a:solidFill>
                <a:latin typeface="Arial" panose="020B0604020202020204" pitchFamily="34" charset="0"/>
              </a:rPr>
              <a:t>Evolutionary Bioinformatics</a:t>
            </a:r>
            <a:r>
              <a:rPr lang="en-US" sz="800" dirty="0">
                <a:solidFill>
                  <a:srgbClr val="222222"/>
                </a:solidFill>
                <a:latin typeface="Arial" panose="020B0604020202020204" pitchFamily="34" charset="0"/>
              </a:rPr>
              <a:t>, 2010</a:t>
            </a:r>
            <a:endParaRPr lang="en-US" sz="800" b="0" i="0" u="none" strike="noStrike" dirty="0">
              <a:effectLst/>
            </a:endParaRPr>
          </a:p>
          <a:p>
            <a:r>
              <a:rPr lang="en-US" sz="800" b="0" i="0" u="none" strike="noStrike" dirty="0">
                <a:effectLst/>
              </a:rPr>
              <a:t>Vicens et al., </a:t>
            </a:r>
            <a:r>
              <a:rPr lang="en-US" sz="800" b="0" i="1" u="none" strike="noStrike" dirty="0">
                <a:effectLst/>
              </a:rPr>
              <a:t>PNAS</a:t>
            </a:r>
            <a:r>
              <a:rPr lang="en-US" sz="800" b="0" i="0" u="none" strike="noStrike" dirty="0">
                <a:effectLst/>
              </a:rPr>
              <a:t>, 2022</a:t>
            </a:r>
          </a:p>
        </p:txBody>
      </p:sp>
      <p:sp>
        <p:nvSpPr>
          <p:cNvPr id="29" name="TextBox 28">
            <a:extLst>
              <a:ext uri="{FF2B5EF4-FFF2-40B4-BE49-F238E27FC236}">
                <a16:creationId xmlns:a16="http://schemas.microsoft.com/office/drawing/2014/main" id="{5DB740CA-C8D8-72A0-9B85-DE84DC85934C}"/>
              </a:ext>
            </a:extLst>
          </p:cNvPr>
          <p:cNvSpPr txBox="1"/>
          <p:nvPr/>
        </p:nvSpPr>
        <p:spPr>
          <a:xfrm>
            <a:off x="5251858" y="1352973"/>
            <a:ext cx="5777814" cy="400110"/>
          </a:xfrm>
          <a:prstGeom prst="rect">
            <a:avLst/>
          </a:prstGeom>
          <a:noFill/>
        </p:spPr>
        <p:txBody>
          <a:bodyPr wrap="square" rtlCol="0">
            <a:spAutoFit/>
          </a:bodyPr>
          <a:lstStyle/>
          <a:p>
            <a:pPr algn="ctr"/>
            <a:r>
              <a:rPr lang="en-US" sz="2000" i="1" dirty="0"/>
              <a:t>Computational structure prediction</a:t>
            </a:r>
          </a:p>
        </p:txBody>
      </p:sp>
      <p:sp>
        <p:nvSpPr>
          <p:cNvPr id="33" name="TextBox 32">
            <a:extLst>
              <a:ext uri="{FF2B5EF4-FFF2-40B4-BE49-F238E27FC236}">
                <a16:creationId xmlns:a16="http://schemas.microsoft.com/office/drawing/2014/main" id="{CD162315-E416-C7B2-3513-76FE0D36BEB9}"/>
              </a:ext>
            </a:extLst>
          </p:cNvPr>
          <p:cNvSpPr txBox="1"/>
          <p:nvPr/>
        </p:nvSpPr>
        <p:spPr>
          <a:xfrm>
            <a:off x="425770" y="1387578"/>
            <a:ext cx="986498" cy="369332"/>
          </a:xfrm>
          <a:prstGeom prst="rect">
            <a:avLst/>
          </a:prstGeom>
          <a:noFill/>
        </p:spPr>
        <p:txBody>
          <a:bodyPr wrap="square" rtlCol="0">
            <a:spAutoFit/>
          </a:bodyPr>
          <a:lstStyle/>
          <a:p>
            <a:r>
              <a:rPr lang="en-US" i="1" dirty="0"/>
              <a:t>Faster</a:t>
            </a:r>
          </a:p>
        </p:txBody>
      </p:sp>
      <p:sp>
        <p:nvSpPr>
          <p:cNvPr id="8" name="Terminator 7">
            <a:extLst>
              <a:ext uri="{FF2B5EF4-FFF2-40B4-BE49-F238E27FC236}">
                <a16:creationId xmlns:a16="http://schemas.microsoft.com/office/drawing/2014/main" id="{BC64DF43-940E-8C93-6910-47A20F927333}"/>
              </a:ext>
            </a:extLst>
          </p:cNvPr>
          <p:cNvSpPr/>
          <p:nvPr/>
        </p:nvSpPr>
        <p:spPr>
          <a:xfrm>
            <a:off x="1663450" y="2503196"/>
            <a:ext cx="3928763" cy="528732"/>
          </a:xfrm>
          <a:prstGeom prst="flowChartTerminator">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Comparative Analysis</a:t>
            </a:r>
          </a:p>
        </p:txBody>
      </p:sp>
      <p:pic>
        <p:nvPicPr>
          <p:cNvPr id="9" name="Picture 8" descr="A diagram of a letter&#10;&#10;AI-generated content may be incorrect.">
            <a:extLst>
              <a:ext uri="{FF2B5EF4-FFF2-40B4-BE49-F238E27FC236}">
                <a16:creationId xmlns:a16="http://schemas.microsoft.com/office/drawing/2014/main" id="{F90ABB6A-8A17-28B0-02C4-E367DBE70C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8432" y="3154228"/>
            <a:ext cx="4309015" cy="920268"/>
          </a:xfrm>
          <a:prstGeom prst="rect">
            <a:avLst/>
          </a:prstGeom>
        </p:spPr>
      </p:pic>
      <p:sp>
        <p:nvSpPr>
          <p:cNvPr id="12" name="TextBox 11">
            <a:extLst>
              <a:ext uri="{FF2B5EF4-FFF2-40B4-BE49-F238E27FC236}">
                <a16:creationId xmlns:a16="http://schemas.microsoft.com/office/drawing/2014/main" id="{0F28DDA1-6C6A-9063-DF63-02F9589EE814}"/>
              </a:ext>
            </a:extLst>
          </p:cNvPr>
          <p:cNvSpPr txBox="1"/>
          <p:nvPr/>
        </p:nvSpPr>
        <p:spPr>
          <a:xfrm>
            <a:off x="7852566" y="3275412"/>
            <a:ext cx="4309015" cy="707886"/>
          </a:xfrm>
          <a:prstGeom prst="rect">
            <a:avLst/>
          </a:prstGeom>
          <a:noFill/>
        </p:spPr>
        <p:txBody>
          <a:bodyPr wrap="square" rtlCol="0">
            <a:spAutoFit/>
          </a:bodyPr>
          <a:lstStyle/>
          <a:p>
            <a:r>
              <a:rPr lang="en-US" sz="2000" dirty="0"/>
              <a:t>Structures for similar RNAs (from different species) can be obtained.</a:t>
            </a:r>
          </a:p>
        </p:txBody>
      </p:sp>
      <p:sp>
        <p:nvSpPr>
          <p:cNvPr id="2" name="Terminator 1">
            <a:extLst>
              <a:ext uri="{FF2B5EF4-FFF2-40B4-BE49-F238E27FC236}">
                <a16:creationId xmlns:a16="http://schemas.microsoft.com/office/drawing/2014/main" id="{23D68930-4964-AC1C-39BA-68399AF61762}"/>
              </a:ext>
            </a:extLst>
          </p:cNvPr>
          <p:cNvSpPr/>
          <p:nvPr/>
        </p:nvSpPr>
        <p:spPr>
          <a:xfrm>
            <a:off x="1714348" y="4283183"/>
            <a:ext cx="3877864" cy="603974"/>
          </a:xfrm>
          <a:prstGeom prst="flowChartTerminator">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Experiments</a:t>
            </a:r>
          </a:p>
        </p:txBody>
      </p:sp>
      <p:sp>
        <p:nvSpPr>
          <p:cNvPr id="3" name="TextBox 2">
            <a:extLst>
              <a:ext uri="{FF2B5EF4-FFF2-40B4-BE49-F238E27FC236}">
                <a16:creationId xmlns:a16="http://schemas.microsoft.com/office/drawing/2014/main" id="{E7A134E0-E4C4-A096-30C5-14974DB63CD3}"/>
              </a:ext>
            </a:extLst>
          </p:cNvPr>
          <p:cNvSpPr txBox="1"/>
          <p:nvPr/>
        </p:nvSpPr>
        <p:spPr>
          <a:xfrm>
            <a:off x="5915497" y="4422177"/>
            <a:ext cx="4827378" cy="400110"/>
          </a:xfrm>
          <a:prstGeom prst="rect">
            <a:avLst/>
          </a:prstGeom>
          <a:noFill/>
        </p:spPr>
        <p:txBody>
          <a:bodyPr wrap="square" rtlCol="0">
            <a:spAutoFit/>
          </a:bodyPr>
          <a:lstStyle/>
          <a:p>
            <a:r>
              <a:rPr lang="en-US" sz="2000" dirty="0"/>
              <a:t>X-ray crystallography</a:t>
            </a:r>
          </a:p>
        </p:txBody>
      </p:sp>
      <p:pic>
        <p:nvPicPr>
          <p:cNvPr id="5" name="Picture 4" descr="A diagram of a dna molecule&#10;&#10;AI-generated content may be incorrect.">
            <a:extLst>
              <a:ext uri="{FF2B5EF4-FFF2-40B4-BE49-F238E27FC236}">
                <a16:creationId xmlns:a16="http://schemas.microsoft.com/office/drawing/2014/main" id="{0809834F-2287-DD58-14DE-B56302A56017}"/>
              </a:ext>
            </a:extLst>
          </p:cNvPr>
          <p:cNvPicPr>
            <a:picLocks noChangeAspect="1"/>
          </p:cNvPicPr>
          <p:nvPr/>
        </p:nvPicPr>
        <p:blipFill>
          <a:blip r:embed="rId4">
            <a:extLst>
              <a:ext uri="{28A0092B-C50C-407E-A947-70E740481C1C}">
                <a14:useLocalDpi xmlns:a14="http://schemas.microsoft.com/office/drawing/2010/main" val="0"/>
              </a:ext>
            </a:extLst>
          </a:blip>
          <a:srcRect l="26362" t="11810" r="37670" b="8022"/>
          <a:stretch>
            <a:fillRect/>
          </a:stretch>
        </p:blipFill>
        <p:spPr>
          <a:xfrm>
            <a:off x="5150596" y="5093068"/>
            <a:ext cx="1403293" cy="1341878"/>
          </a:xfrm>
          <a:prstGeom prst="rect">
            <a:avLst/>
          </a:prstGeom>
        </p:spPr>
      </p:pic>
      <p:cxnSp>
        <p:nvCxnSpPr>
          <p:cNvPr id="6" name="Straight Arrow Connector 5">
            <a:extLst>
              <a:ext uri="{FF2B5EF4-FFF2-40B4-BE49-F238E27FC236}">
                <a16:creationId xmlns:a16="http://schemas.microsoft.com/office/drawing/2014/main" id="{EC23636A-76BD-406B-3FBE-9E23021FA278}"/>
              </a:ext>
            </a:extLst>
          </p:cNvPr>
          <p:cNvCxnSpPr>
            <a:cxnSpLocks/>
          </p:cNvCxnSpPr>
          <p:nvPr/>
        </p:nvCxnSpPr>
        <p:spPr>
          <a:xfrm>
            <a:off x="6934835" y="5697153"/>
            <a:ext cx="107723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CA5F5189-E6D7-8EB7-41D7-489413F831BD}"/>
              </a:ext>
            </a:extLst>
          </p:cNvPr>
          <p:cNvSpPr txBox="1"/>
          <p:nvPr/>
        </p:nvSpPr>
        <p:spPr>
          <a:xfrm>
            <a:off x="8016531" y="5474249"/>
            <a:ext cx="2047508" cy="400110"/>
          </a:xfrm>
          <a:prstGeom prst="rect">
            <a:avLst/>
          </a:prstGeom>
          <a:noFill/>
        </p:spPr>
        <p:txBody>
          <a:bodyPr wrap="square" rtlCol="0">
            <a:spAutoFit/>
          </a:bodyPr>
          <a:lstStyle/>
          <a:p>
            <a:r>
              <a:rPr lang="en-US" sz="2000" b="1" dirty="0"/>
              <a:t>Structure</a:t>
            </a:r>
          </a:p>
        </p:txBody>
      </p:sp>
      <p:sp>
        <p:nvSpPr>
          <p:cNvPr id="10" name="TextBox 9">
            <a:extLst>
              <a:ext uri="{FF2B5EF4-FFF2-40B4-BE49-F238E27FC236}">
                <a16:creationId xmlns:a16="http://schemas.microsoft.com/office/drawing/2014/main" id="{F51DE5E8-2EE0-14DB-0A45-D64B4DEB49BC}"/>
              </a:ext>
            </a:extLst>
          </p:cNvPr>
          <p:cNvSpPr txBox="1"/>
          <p:nvPr/>
        </p:nvSpPr>
        <p:spPr>
          <a:xfrm>
            <a:off x="6934835" y="5367387"/>
            <a:ext cx="1643743" cy="276999"/>
          </a:xfrm>
          <a:prstGeom prst="rect">
            <a:avLst/>
          </a:prstGeom>
          <a:noFill/>
        </p:spPr>
        <p:txBody>
          <a:bodyPr wrap="square" rtlCol="0">
            <a:spAutoFit/>
          </a:bodyPr>
          <a:lstStyle/>
          <a:p>
            <a:r>
              <a:rPr lang="en-US" sz="1200" dirty="0"/>
              <a:t>Processing</a:t>
            </a:r>
          </a:p>
        </p:txBody>
      </p:sp>
      <p:sp>
        <p:nvSpPr>
          <p:cNvPr id="11" name="Rectangle 10">
            <a:extLst>
              <a:ext uri="{FF2B5EF4-FFF2-40B4-BE49-F238E27FC236}">
                <a16:creationId xmlns:a16="http://schemas.microsoft.com/office/drawing/2014/main" id="{6027BB69-35A0-32DE-D099-C51A7853F0E1}"/>
              </a:ext>
            </a:extLst>
          </p:cNvPr>
          <p:cNvSpPr/>
          <p:nvPr/>
        </p:nvSpPr>
        <p:spPr>
          <a:xfrm>
            <a:off x="5987477" y="5041044"/>
            <a:ext cx="947358" cy="1737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90299FE-2D45-BB0B-B11C-1212CD4AE5A3}"/>
              </a:ext>
            </a:extLst>
          </p:cNvPr>
          <p:cNvSpPr/>
          <p:nvPr/>
        </p:nvSpPr>
        <p:spPr>
          <a:xfrm>
            <a:off x="6342449" y="6059618"/>
            <a:ext cx="592386" cy="173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3958F2B-28BF-40A5-DCDE-9CB855E6BB6D}"/>
              </a:ext>
            </a:extLst>
          </p:cNvPr>
          <p:cNvSpPr txBox="1"/>
          <p:nvPr/>
        </p:nvSpPr>
        <p:spPr>
          <a:xfrm>
            <a:off x="425770" y="4446737"/>
            <a:ext cx="1403294" cy="646331"/>
          </a:xfrm>
          <a:prstGeom prst="rect">
            <a:avLst/>
          </a:prstGeom>
          <a:noFill/>
        </p:spPr>
        <p:txBody>
          <a:bodyPr wrap="square" rtlCol="0">
            <a:spAutoFit/>
          </a:bodyPr>
          <a:lstStyle/>
          <a:p>
            <a:r>
              <a:rPr lang="en-US" i="1" dirty="0"/>
              <a:t>More accurate</a:t>
            </a:r>
          </a:p>
        </p:txBody>
      </p:sp>
      <p:sp>
        <p:nvSpPr>
          <p:cNvPr id="20" name="Rectangle 19">
            <a:extLst>
              <a:ext uri="{FF2B5EF4-FFF2-40B4-BE49-F238E27FC236}">
                <a16:creationId xmlns:a16="http://schemas.microsoft.com/office/drawing/2014/main" id="{F660E7D6-DE01-F2CC-C252-D66AB5B2E41C}"/>
              </a:ext>
            </a:extLst>
          </p:cNvPr>
          <p:cNvSpPr/>
          <p:nvPr/>
        </p:nvSpPr>
        <p:spPr>
          <a:xfrm>
            <a:off x="4998262" y="5505027"/>
            <a:ext cx="592386" cy="33855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A9A8EA3-6B75-1103-BD29-5BFF18451F95}"/>
              </a:ext>
            </a:extLst>
          </p:cNvPr>
          <p:cNvSpPr txBox="1"/>
          <p:nvPr/>
        </p:nvSpPr>
        <p:spPr>
          <a:xfrm>
            <a:off x="3734675" y="5505027"/>
            <a:ext cx="2047508" cy="400110"/>
          </a:xfrm>
          <a:prstGeom prst="rect">
            <a:avLst/>
          </a:prstGeom>
          <a:noFill/>
        </p:spPr>
        <p:txBody>
          <a:bodyPr wrap="square" rtlCol="0">
            <a:spAutoFit/>
          </a:bodyPr>
          <a:lstStyle/>
          <a:p>
            <a:r>
              <a:rPr lang="en-US" sz="2000" b="1" dirty="0"/>
              <a:t>X-ray</a:t>
            </a:r>
          </a:p>
        </p:txBody>
      </p:sp>
      <p:cxnSp>
        <p:nvCxnSpPr>
          <p:cNvPr id="24" name="Straight Arrow Connector 23">
            <a:extLst>
              <a:ext uri="{FF2B5EF4-FFF2-40B4-BE49-F238E27FC236}">
                <a16:creationId xmlns:a16="http://schemas.microsoft.com/office/drawing/2014/main" id="{B60EA048-F955-3BCE-B379-6F4DD32229A5}"/>
              </a:ext>
            </a:extLst>
          </p:cNvPr>
          <p:cNvCxnSpPr>
            <a:cxnSpLocks/>
          </p:cNvCxnSpPr>
          <p:nvPr/>
        </p:nvCxnSpPr>
        <p:spPr>
          <a:xfrm>
            <a:off x="4552583" y="5713503"/>
            <a:ext cx="94470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06060342"/>
      </p:ext>
    </p:extLst>
  </p:cSld>
  <p:clrMapOvr>
    <a:masterClrMapping/>
  </p:clrMapOvr>
  <mc:AlternateContent xmlns:mc="http://schemas.openxmlformats.org/markup-compatibility/2006" xmlns:p14="http://schemas.microsoft.com/office/powerpoint/2010/main">
    <mc:Choice Requires="p14">
      <p:transition spd="slow" p14:dur="2000" advTm="15045"/>
    </mc:Choice>
    <mc:Fallback xmlns="">
      <p:transition spd="slow" advTm="1504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5E7DB-763E-A45F-EFD4-562ED09D3CAD}"/>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B05E6F55-85CB-5F86-B990-D9ACAABACB7C}"/>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Slide Number Placeholder 3">
            <a:extLst>
              <a:ext uri="{FF2B5EF4-FFF2-40B4-BE49-F238E27FC236}">
                <a16:creationId xmlns:a16="http://schemas.microsoft.com/office/drawing/2014/main" id="{DC3C8867-A9F5-95C6-2037-3CC6CF76B74D}"/>
              </a:ext>
            </a:extLst>
          </p:cNvPr>
          <p:cNvSpPr>
            <a:spLocks noGrp="1"/>
          </p:cNvSpPr>
          <p:nvPr>
            <p:ph type="sldNum" sz="quarter" idx="12"/>
          </p:nvPr>
        </p:nvSpPr>
        <p:spPr/>
        <p:txBody>
          <a:bodyPr/>
          <a:lstStyle/>
          <a:p>
            <a:r>
              <a:rPr lang="en-IN" dirty="0"/>
              <a:t>2</a:t>
            </a:r>
          </a:p>
        </p:txBody>
      </p:sp>
      <p:sp>
        <p:nvSpPr>
          <p:cNvPr id="23" name="TextBox 22">
            <a:extLst>
              <a:ext uri="{FF2B5EF4-FFF2-40B4-BE49-F238E27FC236}">
                <a16:creationId xmlns:a16="http://schemas.microsoft.com/office/drawing/2014/main" id="{A6C5AD2C-516B-E19C-9B42-5EC84EDB2AD8}"/>
              </a:ext>
            </a:extLst>
          </p:cNvPr>
          <p:cNvSpPr txBox="1"/>
          <p:nvPr/>
        </p:nvSpPr>
        <p:spPr>
          <a:xfrm>
            <a:off x="1663450" y="305014"/>
            <a:ext cx="9226118" cy="584775"/>
          </a:xfrm>
          <a:prstGeom prst="rect">
            <a:avLst/>
          </a:prstGeom>
          <a:noFill/>
        </p:spPr>
        <p:txBody>
          <a:bodyPr wrap="square" rtlCol="0">
            <a:spAutoFit/>
          </a:bodyPr>
          <a:lstStyle/>
          <a:p>
            <a:pPr algn="ctr"/>
            <a:r>
              <a:rPr lang="en-US" sz="3200" b="1" dirty="0">
                <a:solidFill>
                  <a:srgbClr val="C00000"/>
                </a:solidFill>
              </a:rPr>
              <a:t>Recap: Free Energy Parameters</a:t>
            </a:r>
          </a:p>
        </p:txBody>
      </p:sp>
      <p:pic>
        <p:nvPicPr>
          <p:cNvPr id="32" name="Picture 31">
            <a:extLst>
              <a:ext uri="{FF2B5EF4-FFF2-40B4-BE49-F238E27FC236}">
                <a16:creationId xmlns:a16="http://schemas.microsoft.com/office/drawing/2014/main" id="{3D6C70D9-7D6F-81A5-DDAF-2C85147B3A3A}"/>
              </a:ext>
            </a:extLst>
          </p:cNvPr>
          <p:cNvPicPr>
            <a:picLocks noChangeAspect="1"/>
          </p:cNvPicPr>
          <p:nvPr/>
        </p:nvPicPr>
        <p:blipFill>
          <a:blip r:embed="rId3"/>
          <a:srcRect t="5931" r="27489"/>
          <a:stretch>
            <a:fillRect/>
          </a:stretch>
        </p:blipFill>
        <p:spPr>
          <a:xfrm>
            <a:off x="1180205" y="1087200"/>
            <a:ext cx="1989887" cy="5071738"/>
          </a:xfrm>
          <a:prstGeom prst="rect">
            <a:avLst/>
          </a:prstGeom>
        </p:spPr>
      </p:pic>
      <p:pic>
        <p:nvPicPr>
          <p:cNvPr id="2" name="Picture 1">
            <a:extLst>
              <a:ext uri="{FF2B5EF4-FFF2-40B4-BE49-F238E27FC236}">
                <a16:creationId xmlns:a16="http://schemas.microsoft.com/office/drawing/2014/main" id="{A9925B35-6C2D-CD72-7AE5-ACAA4AAAA691}"/>
              </a:ext>
            </a:extLst>
          </p:cNvPr>
          <p:cNvPicPr>
            <a:picLocks noChangeAspect="1"/>
          </p:cNvPicPr>
          <p:nvPr/>
        </p:nvPicPr>
        <p:blipFill>
          <a:blip r:embed="rId4"/>
          <a:stretch>
            <a:fillRect/>
          </a:stretch>
        </p:blipFill>
        <p:spPr>
          <a:xfrm>
            <a:off x="4466589" y="1698288"/>
            <a:ext cx="6047415" cy="4193557"/>
          </a:xfrm>
          <a:prstGeom prst="rect">
            <a:avLst/>
          </a:prstGeom>
        </p:spPr>
      </p:pic>
      <p:sp>
        <p:nvSpPr>
          <p:cNvPr id="3" name="TextBox 2">
            <a:extLst>
              <a:ext uri="{FF2B5EF4-FFF2-40B4-BE49-F238E27FC236}">
                <a16:creationId xmlns:a16="http://schemas.microsoft.com/office/drawing/2014/main" id="{13C860DB-A06B-FB84-1915-270D05E0F000}"/>
              </a:ext>
            </a:extLst>
          </p:cNvPr>
          <p:cNvSpPr txBox="1"/>
          <p:nvPr/>
        </p:nvSpPr>
        <p:spPr>
          <a:xfrm>
            <a:off x="9390529" y="2504746"/>
            <a:ext cx="2512807" cy="369332"/>
          </a:xfrm>
          <a:prstGeom prst="rect">
            <a:avLst/>
          </a:prstGeom>
          <a:noFill/>
        </p:spPr>
        <p:txBody>
          <a:bodyPr wrap="square" rtlCol="0">
            <a:spAutoFit/>
          </a:bodyPr>
          <a:lstStyle/>
          <a:p>
            <a:r>
              <a:rPr lang="en-US" b="1" dirty="0"/>
              <a:t>Helical stacks</a:t>
            </a:r>
          </a:p>
        </p:txBody>
      </p:sp>
      <p:cxnSp>
        <p:nvCxnSpPr>
          <p:cNvPr id="6" name="Straight Arrow Connector 5">
            <a:extLst>
              <a:ext uri="{FF2B5EF4-FFF2-40B4-BE49-F238E27FC236}">
                <a16:creationId xmlns:a16="http://schemas.microsoft.com/office/drawing/2014/main" id="{96EEA5FC-7752-2C0E-7D55-06D3A6F6AF35}"/>
              </a:ext>
            </a:extLst>
          </p:cNvPr>
          <p:cNvCxnSpPr/>
          <p:nvPr/>
        </p:nvCxnSpPr>
        <p:spPr>
          <a:xfrm>
            <a:off x="8347934" y="2689412"/>
            <a:ext cx="7637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953DDD39-F588-FE5F-C8A0-45E3AC0816A8}"/>
              </a:ext>
            </a:extLst>
          </p:cNvPr>
          <p:cNvSpPr txBox="1"/>
          <p:nvPr/>
        </p:nvSpPr>
        <p:spPr>
          <a:xfrm>
            <a:off x="8354110" y="2458579"/>
            <a:ext cx="968188" cy="461665"/>
          </a:xfrm>
          <a:prstGeom prst="rect">
            <a:avLst/>
          </a:prstGeom>
          <a:noFill/>
        </p:spPr>
        <p:txBody>
          <a:bodyPr wrap="square" rtlCol="0">
            <a:spAutoFit/>
          </a:bodyPr>
          <a:lstStyle/>
          <a:p>
            <a:r>
              <a:rPr lang="en-US" sz="1200" dirty="0"/>
              <a:t>Consists of multiple</a:t>
            </a:r>
          </a:p>
        </p:txBody>
      </p:sp>
      <p:sp>
        <p:nvSpPr>
          <p:cNvPr id="8" name="TextBox 7">
            <a:extLst>
              <a:ext uri="{FF2B5EF4-FFF2-40B4-BE49-F238E27FC236}">
                <a16:creationId xmlns:a16="http://schemas.microsoft.com/office/drawing/2014/main" id="{9C97FF3F-D0EA-E883-CECB-151F7A86FB8D}"/>
              </a:ext>
            </a:extLst>
          </p:cNvPr>
          <p:cNvSpPr txBox="1"/>
          <p:nvPr/>
        </p:nvSpPr>
        <p:spPr>
          <a:xfrm>
            <a:off x="6299173" y="3152001"/>
            <a:ext cx="1191124" cy="276999"/>
          </a:xfrm>
          <a:prstGeom prst="rect">
            <a:avLst/>
          </a:prstGeom>
          <a:solidFill>
            <a:schemeClr val="accent2">
              <a:lumMod val="60000"/>
              <a:lumOff val="40000"/>
            </a:schemeClr>
          </a:solidFill>
          <a:ln>
            <a:solidFill>
              <a:schemeClr val="accent2">
                <a:lumMod val="60000"/>
                <a:lumOff val="40000"/>
              </a:schemeClr>
            </a:solidFill>
          </a:ln>
        </p:spPr>
        <p:txBody>
          <a:bodyPr wrap="square" rtlCol="0">
            <a:spAutoFit/>
          </a:bodyPr>
          <a:lstStyle/>
          <a:p>
            <a:pPr algn="ctr"/>
            <a:r>
              <a:rPr lang="en-US" sz="1200" b="1" dirty="0"/>
              <a:t>Internal loop</a:t>
            </a:r>
          </a:p>
        </p:txBody>
      </p:sp>
      <p:sp>
        <p:nvSpPr>
          <p:cNvPr id="9" name="TextBox 8">
            <a:extLst>
              <a:ext uri="{FF2B5EF4-FFF2-40B4-BE49-F238E27FC236}">
                <a16:creationId xmlns:a16="http://schemas.microsoft.com/office/drawing/2014/main" id="{5BCC74C5-EF0D-4B1C-C995-5C0BEFE227BB}"/>
              </a:ext>
            </a:extLst>
          </p:cNvPr>
          <p:cNvSpPr txBox="1"/>
          <p:nvPr/>
        </p:nvSpPr>
        <p:spPr>
          <a:xfrm>
            <a:off x="8045197" y="1543813"/>
            <a:ext cx="2162287" cy="369332"/>
          </a:xfrm>
          <a:prstGeom prst="rect">
            <a:avLst/>
          </a:prstGeom>
          <a:noFill/>
        </p:spPr>
        <p:txBody>
          <a:bodyPr wrap="square" rtlCol="0">
            <a:spAutoFit/>
          </a:bodyPr>
          <a:lstStyle/>
          <a:p>
            <a:r>
              <a:rPr lang="en-US" b="1" dirty="0"/>
              <a:t>Dangling end</a:t>
            </a:r>
          </a:p>
        </p:txBody>
      </p:sp>
      <p:sp>
        <p:nvSpPr>
          <p:cNvPr id="10" name="TextBox 9">
            <a:extLst>
              <a:ext uri="{FF2B5EF4-FFF2-40B4-BE49-F238E27FC236}">
                <a16:creationId xmlns:a16="http://schemas.microsoft.com/office/drawing/2014/main" id="{40421CA3-732B-84CD-A9C1-8FD0C640CE3E}"/>
              </a:ext>
            </a:extLst>
          </p:cNvPr>
          <p:cNvSpPr txBox="1"/>
          <p:nvPr/>
        </p:nvSpPr>
        <p:spPr>
          <a:xfrm>
            <a:off x="9982200" y="3983923"/>
            <a:ext cx="2512807" cy="369332"/>
          </a:xfrm>
          <a:prstGeom prst="rect">
            <a:avLst/>
          </a:prstGeom>
          <a:noFill/>
        </p:spPr>
        <p:txBody>
          <a:bodyPr wrap="square" rtlCol="0">
            <a:spAutoFit/>
          </a:bodyPr>
          <a:lstStyle/>
          <a:p>
            <a:r>
              <a:rPr lang="en-US" b="1" dirty="0"/>
              <a:t>Mismatch</a:t>
            </a:r>
          </a:p>
        </p:txBody>
      </p:sp>
      <p:cxnSp>
        <p:nvCxnSpPr>
          <p:cNvPr id="12" name="Straight Arrow Connector 11">
            <a:extLst>
              <a:ext uri="{FF2B5EF4-FFF2-40B4-BE49-F238E27FC236}">
                <a16:creationId xmlns:a16="http://schemas.microsoft.com/office/drawing/2014/main" id="{374A9ACD-9D25-68A2-DBC2-6250A02969B4}"/>
              </a:ext>
            </a:extLst>
          </p:cNvPr>
          <p:cNvCxnSpPr/>
          <p:nvPr/>
        </p:nvCxnSpPr>
        <p:spPr>
          <a:xfrm>
            <a:off x="10090673" y="4353255"/>
            <a:ext cx="0" cy="2617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C84C2DA-66D9-9880-F2F7-517B0D857F7C}"/>
              </a:ext>
            </a:extLst>
          </p:cNvPr>
          <p:cNvCxnSpPr/>
          <p:nvPr/>
        </p:nvCxnSpPr>
        <p:spPr>
          <a:xfrm flipV="1">
            <a:off x="10090673" y="5604734"/>
            <a:ext cx="0" cy="2871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0425649"/>
      </p:ext>
    </p:extLst>
  </p:cSld>
  <p:clrMapOvr>
    <a:masterClrMapping/>
  </p:clrMapOvr>
  <mc:AlternateContent xmlns:mc="http://schemas.openxmlformats.org/markup-compatibility/2006" xmlns:p14="http://schemas.microsoft.com/office/powerpoint/2010/main">
    <mc:Choice Requires="p14">
      <p:transition spd="slow" p14:dur="2000" advTm="25572"/>
    </mc:Choice>
    <mc:Fallback xmlns="">
      <p:transition spd="slow" advTm="2557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851E6-77E4-2EDD-0EE1-A2BBF23A4BE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190DBE-4B87-5AA5-D2B8-39ACA24E80EA}"/>
              </a:ext>
            </a:extLst>
          </p:cNvPr>
          <p:cNvSpPr>
            <a:spLocks noGrp="1"/>
          </p:cNvSpPr>
          <p:nvPr>
            <p:ph type="sldNum" sz="quarter" idx="12"/>
          </p:nvPr>
        </p:nvSpPr>
        <p:spPr/>
        <p:txBody>
          <a:bodyPr/>
          <a:lstStyle/>
          <a:p>
            <a:r>
              <a:rPr lang="en-IN" dirty="0"/>
              <a:t>3</a:t>
            </a:r>
          </a:p>
        </p:txBody>
      </p:sp>
      <p:sp>
        <p:nvSpPr>
          <p:cNvPr id="3" name="Title 1">
            <a:extLst>
              <a:ext uri="{FF2B5EF4-FFF2-40B4-BE49-F238E27FC236}">
                <a16:creationId xmlns:a16="http://schemas.microsoft.com/office/drawing/2014/main" id="{C4ACD917-B865-08C7-D8B0-B40AEEE123FD}"/>
              </a:ext>
            </a:extLst>
          </p:cNvPr>
          <p:cNvSpPr txBox="1">
            <a:spLocks/>
          </p:cNvSpPr>
          <p:nvPr/>
        </p:nvSpPr>
        <p:spPr>
          <a:xfrm>
            <a:off x="931333" y="341172"/>
            <a:ext cx="10574800" cy="87523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solidFill>
                  <a:srgbClr val="C00000"/>
                </a:solidFill>
              </a:rPr>
              <a:t>Minimum Free Energy Structure (MFE) structure prediction</a:t>
            </a:r>
          </a:p>
        </p:txBody>
      </p:sp>
      <p:sp>
        <p:nvSpPr>
          <p:cNvPr id="11" name="Rectangle 10">
            <a:extLst>
              <a:ext uri="{FF2B5EF4-FFF2-40B4-BE49-F238E27FC236}">
                <a16:creationId xmlns:a16="http://schemas.microsoft.com/office/drawing/2014/main" id="{BB3D00D8-DC91-C2BA-6576-3F425B4D4E26}"/>
              </a:ext>
            </a:extLst>
          </p:cNvPr>
          <p:cNvSpPr/>
          <p:nvPr/>
        </p:nvSpPr>
        <p:spPr>
          <a:xfrm>
            <a:off x="71425" y="183142"/>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AF0A611-D433-FB2A-57BD-273E0A870BF3}"/>
                  </a:ext>
                </a:extLst>
              </p:cNvPr>
              <p:cNvSpPr txBox="1"/>
              <p:nvPr/>
            </p:nvSpPr>
            <p:spPr>
              <a:xfrm>
                <a:off x="9163889" y="1016684"/>
                <a:ext cx="2678279" cy="655698"/>
              </a:xfrm>
              <a:prstGeom prst="rect">
                <a:avLst/>
              </a:prstGeom>
              <a:noFill/>
            </p:spPr>
            <p:txBody>
              <a:bodyPr wrap="square">
                <a:spAutoFit/>
              </a:bodyPr>
              <a:lstStyle/>
              <a:p>
                <a:pPr algn="ctr"/>
                <a:r>
                  <a:rPr lang="en-US" sz="1200" dirty="0"/>
                  <a:t>“Free energy” refers to free energy change relative to the unfolded state at 37</a:t>
                </a:r>
                <a14:m>
                  <m:oMath xmlns:m="http://schemas.openxmlformats.org/officeDocument/2006/math">
                    <m:r>
                      <a:rPr lang="en-US" sz="1200" i="0" smtClean="0">
                        <a:latin typeface="Cambria Math" panose="02040503050406030204" pitchFamily="18" charset="0"/>
                        <a:ea typeface="Cambria Math" panose="02040503050406030204" pitchFamily="18" charset="0"/>
                      </a:rPr>
                      <m:t>℃</m:t>
                    </m:r>
                  </m:oMath>
                </a14:m>
                <a:r>
                  <a:rPr lang="en-US" sz="1200" dirty="0"/>
                  <a:t>.</a:t>
                </a:r>
              </a:p>
            </p:txBody>
          </p:sp>
        </mc:Choice>
        <mc:Fallback xmlns="">
          <p:sp>
            <p:nvSpPr>
              <p:cNvPr id="4" name="TextBox 3">
                <a:extLst>
                  <a:ext uri="{FF2B5EF4-FFF2-40B4-BE49-F238E27FC236}">
                    <a16:creationId xmlns:a16="http://schemas.microsoft.com/office/drawing/2014/main" id="{BAF0A611-D433-FB2A-57BD-273E0A870BF3}"/>
                  </a:ext>
                </a:extLst>
              </p:cNvPr>
              <p:cNvSpPr txBox="1">
                <a:spLocks noRot="1" noChangeAspect="1" noMove="1" noResize="1" noEditPoints="1" noAdjustHandles="1" noChangeArrowheads="1" noChangeShapeType="1" noTextEdit="1"/>
              </p:cNvSpPr>
              <p:nvPr/>
            </p:nvSpPr>
            <p:spPr>
              <a:xfrm>
                <a:off x="9163889" y="1016684"/>
                <a:ext cx="2678279" cy="655698"/>
              </a:xfrm>
              <a:prstGeom prst="rect">
                <a:avLst/>
              </a:prstGeom>
              <a:blipFill>
                <a:blip r:embed="rId3"/>
                <a:stretch>
                  <a:fillRect t="-1923" b="-384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31830978-2738-8B86-7716-D85860D89A5D}"/>
              </a:ext>
            </a:extLst>
          </p:cNvPr>
          <p:cNvSpPr txBox="1"/>
          <p:nvPr/>
        </p:nvSpPr>
        <p:spPr>
          <a:xfrm>
            <a:off x="1055259" y="3000031"/>
            <a:ext cx="10450874" cy="1344151"/>
          </a:xfrm>
          <a:prstGeom prst="rect">
            <a:avLst/>
          </a:prstGeom>
          <a:noFill/>
        </p:spPr>
        <p:txBody>
          <a:bodyPr wrap="square">
            <a:spAutoFit/>
          </a:bodyPr>
          <a:lstStyle/>
          <a:p>
            <a:pPr>
              <a:lnSpc>
                <a:spcPct val="150000"/>
              </a:lnSpc>
            </a:pPr>
            <a:r>
              <a:rPr lang="en-US" sz="6000" dirty="0"/>
              <a:t>2 </a:t>
            </a:r>
            <a:r>
              <a:rPr lang="en-US" sz="3200" dirty="0"/>
              <a:t> </a:t>
            </a:r>
            <a:r>
              <a:rPr lang="en-US" sz="2000" dirty="0"/>
              <a:t>Minimum free energy = Most stable = Most likely </a:t>
            </a:r>
          </a:p>
        </p:txBody>
      </p:sp>
      <p:sp>
        <p:nvSpPr>
          <p:cNvPr id="17" name="TextBox 16">
            <a:extLst>
              <a:ext uri="{FF2B5EF4-FFF2-40B4-BE49-F238E27FC236}">
                <a16:creationId xmlns:a16="http://schemas.microsoft.com/office/drawing/2014/main" id="{15703BF8-13F7-304F-4830-D9DAEECDF955}"/>
              </a:ext>
            </a:extLst>
          </p:cNvPr>
          <p:cNvSpPr txBox="1"/>
          <p:nvPr/>
        </p:nvSpPr>
        <p:spPr>
          <a:xfrm>
            <a:off x="71425" y="6466646"/>
            <a:ext cx="6100174" cy="276999"/>
          </a:xfrm>
          <a:prstGeom prst="rect">
            <a:avLst/>
          </a:prstGeom>
          <a:noFill/>
        </p:spPr>
        <p:txBody>
          <a:bodyPr wrap="square">
            <a:spAutoFit/>
          </a:bodyPr>
          <a:lstStyle/>
          <a:p>
            <a:r>
              <a:rPr lang="en-US" sz="1200" b="0" i="0" u="none" strike="noStrike" dirty="0">
                <a:effectLst/>
              </a:rPr>
              <a:t>Vicens et al., </a:t>
            </a:r>
            <a:r>
              <a:rPr lang="en-US" sz="1200" b="0" i="1" u="none" strike="noStrike" dirty="0">
                <a:effectLst/>
              </a:rPr>
              <a:t>PNAS</a:t>
            </a:r>
            <a:r>
              <a:rPr lang="en-US" sz="1200" b="0" i="0" u="none" strike="noStrike" dirty="0">
                <a:effectLst/>
              </a:rPr>
              <a:t>, 2022</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D40015D-4F22-6A22-27A2-6B7D3D4B09D3}"/>
                  </a:ext>
                </a:extLst>
              </p:cNvPr>
              <p:cNvSpPr txBox="1"/>
              <p:nvPr/>
            </p:nvSpPr>
            <p:spPr>
              <a:xfrm>
                <a:off x="4966076" y="2288252"/>
                <a:ext cx="3644524" cy="7807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𝐺</m:t>
                      </m:r>
                      <m:r>
                        <a:rPr lang="en-US" sz="2000" b="0" i="1" smtClean="0">
                          <a:latin typeface="Cambria Math" panose="02040503050406030204" pitchFamily="18" charset="0"/>
                          <a:ea typeface="Cambria Math" panose="02040503050406030204" pitchFamily="18" charset="0"/>
                        </a:rPr>
                        <m:t>=</m:t>
                      </m:r>
                      <m:nary>
                        <m:naryPr>
                          <m:chr m:val="∑"/>
                          <m:supHide m:val="on"/>
                          <m:ctrlPr>
                            <a:rPr lang="en-US" sz="2000" b="0" i="1" smtClean="0">
                              <a:latin typeface="Cambria Math" panose="02040503050406030204" pitchFamily="18" charset="0"/>
                              <a:ea typeface="Cambria Math" panose="02040503050406030204" pitchFamily="18" charset="0"/>
                            </a:rPr>
                          </m:ctrlPr>
                        </m:naryPr>
                        <m:sub>
                          <m:r>
                            <m:rPr>
                              <m:brk m:alnAt="7"/>
                            </m:rPr>
                            <a:rPr lang="en-US" sz="2000" b="0" i="1" smtClean="0">
                              <a:latin typeface="Cambria Math" panose="02040503050406030204" pitchFamily="18" charset="0"/>
                              <a:ea typeface="Cambria Math" panose="02040503050406030204" pitchFamily="18" charset="0"/>
                            </a:rPr>
                            <m:t>𝑙</m:t>
                          </m:r>
                          <m:r>
                            <a:rPr lang="en-US" sz="2000" b="0" i="1" smtClean="0">
                              <a:latin typeface="Cambria Math" panose="02040503050406030204" pitchFamily="18" charset="0"/>
                              <a:ea typeface="Cambria Math" panose="02040503050406030204" pitchFamily="18" charset="0"/>
                            </a:rPr>
                            <m:t>𝑜𝑜𝑝𝑠</m:t>
                          </m:r>
                        </m:sub>
                        <m:sup/>
                        <m:e>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𝐺</m:t>
                              </m:r>
                            </m:e>
                            <m:sub>
                              <m:r>
                                <a:rPr lang="en-US" sz="2000" b="0" i="1" smtClean="0">
                                  <a:latin typeface="Cambria Math" panose="02040503050406030204" pitchFamily="18" charset="0"/>
                                  <a:ea typeface="Cambria Math" panose="02040503050406030204" pitchFamily="18" charset="0"/>
                                </a:rPr>
                                <m:t>𝑙𝑜𝑜𝑝</m:t>
                              </m:r>
                            </m:sub>
                          </m:sSub>
                        </m:e>
                      </m:nary>
                      <m:r>
                        <a:rPr lang="en-US" sz="2000" b="0" i="1" smtClean="0">
                          <a:latin typeface="Cambria Math" panose="02040503050406030204" pitchFamily="18" charset="0"/>
                          <a:ea typeface="Cambria Math" panose="02040503050406030204" pitchFamily="18" charset="0"/>
                        </a:rPr>
                        <m:t>+</m:t>
                      </m:r>
                      <m:nary>
                        <m:naryPr>
                          <m:chr m:val="∑"/>
                          <m:supHide m:val="on"/>
                          <m:ctrlPr>
                            <a:rPr lang="en-US" sz="2000" i="1">
                              <a:latin typeface="Cambria Math" panose="02040503050406030204" pitchFamily="18" charset="0"/>
                              <a:ea typeface="Cambria Math" panose="02040503050406030204" pitchFamily="18" charset="0"/>
                            </a:rPr>
                          </m:ctrlPr>
                        </m:naryPr>
                        <m:sub>
                          <m:r>
                            <m:rPr>
                              <m:brk m:alnAt="7"/>
                            </m:rPr>
                            <a:rPr lang="en-US" sz="2000" i="1">
                              <a:latin typeface="Cambria Math" panose="02040503050406030204" pitchFamily="18" charset="0"/>
                              <a:ea typeface="Cambria Math" panose="02040503050406030204" pitchFamily="18" charset="0"/>
                            </a:rPr>
                            <m:t>𝑠</m:t>
                          </m:r>
                          <m:r>
                            <a:rPr lang="en-US" sz="2000" i="1">
                              <a:latin typeface="Cambria Math" panose="02040503050406030204" pitchFamily="18" charset="0"/>
                              <a:ea typeface="Cambria Math" panose="02040503050406030204" pitchFamily="18" charset="0"/>
                            </a:rPr>
                            <m:t>𝑡𝑒𝑚𝑠</m:t>
                          </m:r>
                        </m:sub>
                        <m:sup/>
                        <m:e>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𝐺</m:t>
                              </m:r>
                            </m:e>
                            <m:sub>
                              <m:r>
                                <a:rPr lang="en-US" sz="2000" i="1">
                                  <a:latin typeface="Cambria Math" panose="02040503050406030204" pitchFamily="18" charset="0"/>
                                  <a:ea typeface="Cambria Math" panose="02040503050406030204" pitchFamily="18" charset="0"/>
                                </a:rPr>
                                <m:t>𝑠𝑡𝑒𝑚</m:t>
                              </m:r>
                            </m:sub>
                          </m:sSub>
                        </m:e>
                      </m:nary>
                    </m:oMath>
                  </m:oMathPara>
                </a14:m>
                <a:endParaRPr lang="en-US" sz="2000" dirty="0"/>
              </a:p>
            </p:txBody>
          </p:sp>
        </mc:Choice>
        <mc:Fallback xmlns="">
          <p:sp>
            <p:nvSpPr>
              <p:cNvPr id="6" name="TextBox 5">
                <a:extLst>
                  <a:ext uri="{FF2B5EF4-FFF2-40B4-BE49-F238E27FC236}">
                    <a16:creationId xmlns:a16="http://schemas.microsoft.com/office/drawing/2014/main" id="{ED40015D-4F22-6A22-27A2-6B7D3D4B09D3}"/>
                  </a:ext>
                </a:extLst>
              </p:cNvPr>
              <p:cNvSpPr txBox="1">
                <a:spLocks noRot="1" noChangeAspect="1" noMove="1" noResize="1" noEditPoints="1" noAdjustHandles="1" noChangeArrowheads="1" noChangeShapeType="1" noTextEdit="1"/>
              </p:cNvSpPr>
              <p:nvPr/>
            </p:nvSpPr>
            <p:spPr>
              <a:xfrm>
                <a:off x="4966076" y="2288252"/>
                <a:ext cx="3644524" cy="780727"/>
              </a:xfrm>
              <a:prstGeom prst="rect">
                <a:avLst/>
              </a:prstGeom>
              <a:blipFill>
                <a:blip r:embed="rId4"/>
                <a:stretch>
                  <a:fillRect l="-5556" t="-140323" b="-190323"/>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CD9064E8-511F-3BFE-19B0-4BE7F4A76F5F}"/>
              </a:ext>
            </a:extLst>
          </p:cNvPr>
          <p:cNvSpPr txBox="1"/>
          <p:nvPr/>
        </p:nvSpPr>
        <p:spPr>
          <a:xfrm>
            <a:off x="1055259" y="909885"/>
            <a:ext cx="8276093" cy="1015663"/>
          </a:xfrm>
          <a:prstGeom prst="rect">
            <a:avLst/>
          </a:prstGeom>
          <a:noFill/>
        </p:spPr>
        <p:txBody>
          <a:bodyPr wrap="square">
            <a:spAutoFit/>
          </a:bodyPr>
          <a:lstStyle/>
          <a:p>
            <a:r>
              <a:rPr lang="en-US" sz="6000" dirty="0"/>
              <a:t>1</a:t>
            </a:r>
            <a:r>
              <a:rPr lang="en-US" sz="2000" dirty="0"/>
              <a:t> Free energy of structure is the sum of free energy of individual motifs.</a:t>
            </a:r>
          </a:p>
        </p:txBody>
      </p:sp>
      <p:pic>
        <p:nvPicPr>
          <p:cNvPr id="26" name="Picture 25" descr="A diagram of a molecule&#10;&#10;AI-generated content may be incorrect.">
            <a:extLst>
              <a:ext uri="{FF2B5EF4-FFF2-40B4-BE49-F238E27FC236}">
                <a16:creationId xmlns:a16="http://schemas.microsoft.com/office/drawing/2014/main" id="{48264C06-55AA-8DAC-8382-9307838490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78854" y="4481103"/>
            <a:ext cx="7772400" cy="1786398"/>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A288019-A687-A339-03C7-5F5E59C266C3}"/>
                  </a:ext>
                </a:extLst>
              </p:cNvPr>
              <p:cNvSpPr txBox="1"/>
              <p:nvPr/>
            </p:nvSpPr>
            <p:spPr>
              <a:xfrm>
                <a:off x="4583929" y="4457067"/>
                <a:ext cx="2278897"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i="1" smtClean="0">
                          <a:solidFill>
                            <a:srgbClr val="C00000"/>
                          </a:solidFill>
                          <a:latin typeface="Cambria Math" panose="02040503050406030204" pitchFamily="18" charset="0"/>
                          <a:ea typeface="Cambria Math" panose="02040503050406030204" pitchFamily="18" charset="0"/>
                        </a:rPr>
                        <m:t>∆</m:t>
                      </m:r>
                      <m:r>
                        <a:rPr lang="en-US" sz="1200" b="0" i="1" smtClean="0">
                          <a:solidFill>
                            <a:srgbClr val="C00000"/>
                          </a:solidFill>
                          <a:latin typeface="Cambria Math" panose="02040503050406030204" pitchFamily="18" charset="0"/>
                          <a:ea typeface="Cambria Math" panose="02040503050406030204" pitchFamily="18" charset="0"/>
                        </a:rPr>
                        <m:t>𝐺</m:t>
                      </m:r>
                      <m:r>
                        <a:rPr lang="en-US" sz="1200" b="0" i="1" smtClean="0">
                          <a:solidFill>
                            <a:srgbClr val="C00000"/>
                          </a:solidFill>
                          <a:latin typeface="Cambria Math" panose="02040503050406030204" pitchFamily="18" charset="0"/>
                          <a:ea typeface="Cambria Math" panose="02040503050406030204" pitchFamily="18" charset="0"/>
                        </a:rPr>
                        <m:t>=−32</m:t>
                      </m:r>
                    </m:oMath>
                  </m:oMathPara>
                </a14:m>
                <a:endParaRPr lang="en-US" sz="1200" dirty="0">
                  <a:solidFill>
                    <a:srgbClr val="C00000"/>
                  </a:solidFill>
                </a:endParaRPr>
              </a:p>
            </p:txBody>
          </p:sp>
        </mc:Choice>
        <mc:Fallback xmlns="">
          <p:sp>
            <p:nvSpPr>
              <p:cNvPr id="27" name="TextBox 26">
                <a:extLst>
                  <a:ext uri="{FF2B5EF4-FFF2-40B4-BE49-F238E27FC236}">
                    <a16:creationId xmlns:a16="http://schemas.microsoft.com/office/drawing/2014/main" id="{EA288019-A687-A339-03C7-5F5E59C266C3}"/>
                  </a:ext>
                </a:extLst>
              </p:cNvPr>
              <p:cNvSpPr txBox="1">
                <a:spLocks noRot="1" noChangeAspect="1" noMove="1" noResize="1" noEditPoints="1" noAdjustHandles="1" noChangeArrowheads="1" noChangeShapeType="1" noTextEdit="1"/>
              </p:cNvSpPr>
              <p:nvPr/>
            </p:nvSpPr>
            <p:spPr>
              <a:xfrm>
                <a:off x="4583929" y="4457067"/>
                <a:ext cx="2278897" cy="27699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3FEB356-9ED6-A332-6897-827D56FA1CCB}"/>
                  </a:ext>
                </a:extLst>
              </p:cNvPr>
              <p:cNvSpPr txBox="1"/>
              <p:nvPr/>
            </p:nvSpPr>
            <p:spPr>
              <a:xfrm>
                <a:off x="1901967" y="4805457"/>
                <a:ext cx="877557"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800" i="1" smtClean="0">
                          <a:solidFill>
                            <a:schemeClr val="tx1"/>
                          </a:solidFill>
                          <a:latin typeface="Cambria Math" panose="02040503050406030204" pitchFamily="18" charset="0"/>
                          <a:ea typeface="Cambria Math" panose="02040503050406030204" pitchFamily="18" charset="0"/>
                        </a:rPr>
                        <m:t>∆</m:t>
                      </m:r>
                      <m:r>
                        <a:rPr lang="en-US" sz="800" b="0" i="1" smtClean="0">
                          <a:solidFill>
                            <a:schemeClr val="tx1"/>
                          </a:solidFill>
                          <a:latin typeface="Cambria Math" panose="02040503050406030204" pitchFamily="18" charset="0"/>
                          <a:ea typeface="Cambria Math" panose="02040503050406030204" pitchFamily="18" charset="0"/>
                        </a:rPr>
                        <m:t>𝐺</m:t>
                      </m:r>
                      <m:r>
                        <a:rPr lang="en-US" sz="800" b="0" i="1" smtClean="0">
                          <a:solidFill>
                            <a:schemeClr val="tx1"/>
                          </a:solidFill>
                          <a:latin typeface="Cambria Math" panose="02040503050406030204" pitchFamily="18" charset="0"/>
                          <a:ea typeface="Cambria Math" panose="02040503050406030204" pitchFamily="18" charset="0"/>
                        </a:rPr>
                        <m:t>=−21</m:t>
                      </m:r>
                    </m:oMath>
                  </m:oMathPara>
                </a14:m>
                <a:endParaRPr lang="en-US" sz="800" dirty="0">
                  <a:solidFill>
                    <a:schemeClr val="tx1"/>
                  </a:solidFill>
                </a:endParaRPr>
              </a:p>
            </p:txBody>
          </p:sp>
        </mc:Choice>
        <mc:Fallback xmlns="">
          <p:sp>
            <p:nvSpPr>
              <p:cNvPr id="29" name="TextBox 28">
                <a:extLst>
                  <a:ext uri="{FF2B5EF4-FFF2-40B4-BE49-F238E27FC236}">
                    <a16:creationId xmlns:a16="http://schemas.microsoft.com/office/drawing/2014/main" id="{23FEB356-9ED6-A332-6897-827D56FA1CCB}"/>
                  </a:ext>
                </a:extLst>
              </p:cNvPr>
              <p:cNvSpPr txBox="1">
                <a:spLocks noRot="1" noChangeAspect="1" noMove="1" noResize="1" noEditPoints="1" noAdjustHandles="1" noChangeArrowheads="1" noChangeShapeType="1" noTextEdit="1"/>
              </p:cNvSpPr>
              <p:nvPr/>
            </p:nvSpPr>
            <p:spPr>
              <a:xfrm>
                <a:off x="1901967" y="4805457"/>
                <a:ext cx="877557" cy="21544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56EB6E8-8C91-62F5-144A-F3FBEF380074}"/>
                  </a:ext>
                </a:extLst>
              </p:cNvPr>
              <p:cNvSpPr txBox="1"/>
              <p:nvPr/>
            </p:nvSpPr>
            <p:spPr>
              <a:xfrm>
                <a:off x="2748248" y="4510500"/>
                <a:ext cx="942642"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800" i="1" smtClean="0">
                          <a:solidFill>
                            <a:schemeClr val="tx1"/>
                          </a:solidFill>
                          <a:latin typeface="Cambria Math" panose="02040503050406030204" pitchFamily="18" charset="0"/>
                          <a:ea typeface="Cambria Math" panose="02040503050406030204" pitchFamily="18" charset="0"/>
                        </a:rPr>
                        <m:t>∆</m:t>
                      </m:r>
                      <m:r>
                        <a:rPr lang="en-US" sz="800" b="0" i="1" smtClean="0">
                          <a:solidFill>
                            <a:schemeClr val="tx1"/>
                          </a:solidFill>
                          <a:latin typeface="Cambria Math" panose="02040503050406030204" pitchFamily="18" charset="0"/>
                          <a:ea typeface="Cambria Math" panose="02040503050406030204" pitchFamily="18" charset="0"/>
                        </a:rPr>
                        <m:t>𝐺</m:t>
                      </m:r>
                      <m:r>
                        <a:rPr lang="en-US" sz="800" b="0" i="1" smtClean="0">
                          <a:solidFill>
                            <a:schemeClr val="tx1"/>
                          </a:solidFill>
                          <a:latin typeface="Cambria Math" panose="02040503050406030204" pitchFamily="18" charset="0"/>
                          <a:ea typeface="Cambria Math" panose="02040503050406030204" pitchFamily="18" charset="0"/>
                        </a:rPr>
                        <m:t>=−16</m:t>
                      </m:r>
                    </m:oMath>
                  </m:oMathPara>
                </a14:m>
                <a:endParaRPr lang="en-US" sz="800" dirty="0">
                  <a:solidFill>
                    <a:schemeClr val="tx1"/>
                  </a:solidFill>
                </a:endParaRPr>
              </a:p>
            </p:txBody>
          </p:sp>
        </mc:Choice>
        <mc:Fallback xmlns="">
          <p:sp>
            <p:nvSpPr>
              <p:cNvPr id="30" name="TextBox 29">
                <a:extLst>
                  <a:ext uri="{FF2B5EF4-FFF2-40B4-BE49-F238E27FC236}">
                    <a16:creationId xmlns:a16="http://schemas.microsoft.com/office/drawing/2014/main" id="{F56EB6E8-8C91-62F5-144A-F3FBEF380074}"/>
                  </a:ext>
                </a:extLst>
              </p:cNvPr>
              <p:cNvSpPr txBox="1">
                <a:spLocks noRot="1" noChangeAspect="1" noMove="1" noResize="1" noEditPoints="1" noAdjustHandles="1" noChangeArrowheads="1" noChangeShapeType="1" noTextEdit="1"/>
              </p:cNvSpPr>
              <p:nvPr/>
            </p:nvSpPr>
            <p:spPr>
              <a:xfrm>
                <a:off x="2748248" y="4510500"/>
                <a:ext cx="942642" cy="21544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8E673A2-48CA-C466-AFAF-4816CA3D13DF}"/>
                  </a:ext>
                </a:extLst>
              </p:cNvPr>
              <p:cNvSpPr txBox="1"/>
              <p:nvPr/>
            </p:nvSpPr>
            <p:spPr>
              <a:xfrm>
                <a:off x="3944345" y="4522490"/>
                <a:ext cx="716703"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800" i="1" smtClean="0">
                          <a:solidFill>
                            <a:schemeClr val="tx1"/>
                          </a:solidFill>
                          <a:latin typeface="Cambria Math" panose="02040503050406030204" pitchFamily="18" charset="0"/>
                          <a:ea typeface="Cambria Math" panose="02040503050406030204" pitchFamily="18" charset="0"/>
                        </a:rPr>
                        <m:t>∆</m:t>
                      </m:r>
                      <m:r>
                        <a:rPr lang="en-US" sz="800" b="0" i="1" smtClean="0">
                          <a:solidFill>
                            <a:schemeClr val="tx1"/>
                          </a:solidFill>
                          <a:latin typeface="Cambria Math" panose="02040503050406030204" pitchFamily="18" charset="0"/>
                          <a:ea typeface="Cambria Math" panose="02040503050406030204" pitchFamily="18" charset="0"/>
                        </a:rPr>
                        <m:t>𝐺</m:t>
                      </m:r>
                      <m:r>
                        <a:rPr lang="en-US" sz="800" b="0" i="1" smtClean="0">
                          <a:solidFill>
                            <a:schemeClr val="tx1"/>
                          </a:solidFill>
                          <a:latin typeface="Cambria Math" panose="02040503050406030204" pitchFamily="18" charset="0"/>
                          <a:ea typeface="Cambria Math" panose="02040503050406030204" pitchFamily="18" charset="0"/>
                        </a:rPr>
                        <m:t>=−30.8</m:t>
                      </m:r>
                    </m:oMath>
                  </m:oMathPara>
                </a14:m>
                <a:endParaRPr lang="en-US" sz="800" dirty="0">
                  <a:solidFill>
                    <a:schemeClr val="tx1"/>
                  </a:solidFill>
                </a:endParaRPr>
              </a:p>
            </p:txBody>
          </p:sp>
        </mc:Choice>
        <mc:Fallback xmlns="">
          <p:sp>
            <p:nvSpPr>
              <p:cNvPr id="31" name="TextBox 30">
                <a:extLst>
                  <a:ext uri="{FF2B5EF4-FFF2-40B4-BE49-F238E27FC236}">
                    <a16:creationId xmlns:a16="http://schemas.microsoft.com/office/drawing/2014/main" id="{78E673A2-48CA-C466-AFAF-4816CA3D13DF}"/>
                  </a:ext>
                </a:extLst>
              </p:cNvPr>
              <p:cNvSpPr txBox="1">
                <a:spLocks noRot="1" noChangeAspect="1" noMove="1" noResize="1" noEditPoints="1" noAdjustHandles="1" noChangeArrowheads="1" noChangeShapeType="1" noTextEdit="1"/>
              </p:cNvSpPr>
              <p:nvPr/>
            </p:nvSpPr>
            <p:spPr>
              <a:xfrm>
                <a:off x="3944345" y="4522490"/>
                <a:ext cx="716703" cy="21544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2B367CB-B6E3-CF0A-F707-D3B231F4773E}"/>
                  </a:ext>
                </a:extLst>
              </p:cNvPr>
              <p:cNvSpPr txBox="1"/>
              <p:nvPr/>
            </p:nvSpPr>
            <p:spPr>
              <a:xfrm>
                <a:off x="3739638" y="6036928"/>
                <a:ext cx="718055"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800" i="1" smtClean="0">
                          <a:solidFill>
                            <a:schemeClr val="tx1"/>
                          </a:solidFill>
                          <a:latin typeface="Cambria Math" panose="02040503050406030204" pitchFamily="18" charset="0"/>
                          <a:ea typeface="Cambria Math" panose="02040503050406030204" pitchFamily="18" charset="0"/>
                        </a:rPr>
                        <m:t>∆</m:t>
                      </m:r>
                      <m:r>
                        <a:rPr lang="en-US" sz="800" b="0" i="1" smtClean="0">
                          <a:solidFill>
                            <a:schemeClr val="tx1"/>
                          </a:solidFill>
                          <a:latin typeface="Cambria Math" panose="02040503050406030204" pitchFamily="18" charset="0"/>
                          <a:ea typeface="Cambria Math" panose="02040503050406030204" pitchFamily="18" charset="0"/>
                        </a:rPr>
                        <m:t>𝐺</m:t>
                      </m:r>
                      <m:r>
                        <a:rPr lang="en-US" sz="800" b="0" i="1" smtClean="0">
                          <a:solidFill>
                            <a:schemeClr val="tx1"/>
                          </a:solidFill>
                          <a:latin typeface="Cambria Math" panose="02040503050406030204" pitchFamily="18" charset="0"/>
                          <a:ea typeface="Cambria Math" panose="02040503050406030204" pitchFamily="18" charset="0"/>
                        </a:rPr>
                        <m:t>=−28</m:t>
                      </m:r>
                    </m:oMath>
                  </m:oMathPara>
                </a14:m>
                <a:endParaRPr lang="en-US" sz="800" dirty="0">
                  <a:solidFill>
                    <a:schemeClr val="tx1"/>
                  </a:solidFill>
                </a:endParaRPr>
              </a:p>
            </p:txBody>
          </p:sp>
        </mc:Choice>
        <mc:Fallback xmlns="">
          <p:sp>
            <p:nvSpPr>
              <p:cNvPr id="32" name="TextBox 31">
                <a:extLst>
                  <a:ext uri="{FF2B5EF4-FFF2-40B4-BE49-F238E27FC236}">
                    <a16:creationId xmlns:a16="http://schemas.microsoft.com/office/drawing/2014/main" id="{B2B367CB-B6E3-CF0A-F707-D3B231F4773E}"/>
                  </a:ext>
                </a:extLst>
              </p:cNvPr>
              <p:cNvSpPr txBox="1">
                <a:spLocks noRot="1" noChangeAspect="1" noMove="1" noResize="1" noEditPoints="1" noAdjustHandles="1" noChangeArrowheads="1" noChangeShapeType="1" noTextEdit="1"/>
              </p:cNvSpPr>
              <p:nvPr/>
            </p:nvSpPr>
            <p:spPr>
              <a:xfrm>
                <a:off x="3739638" y="6036928"/>
                <a:ext cx="718055" cy="21544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4671DA7-1054-4071-86C0-EF1B97FD3781}"/>
                  </a:ext>
                </a:extLst>
              </p:cNvPr>
              <p:cNvSpPr txBox="1"/>
              <p:nvPr/>
            </p:nvSpPr>
            <p:spPr>
              <a:xfrm>
                <a:off x="6032104" y="6084464"/>
                <a:ext cx="71805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800" i="1" smtClean="0">
                          <a:solidFill>
                            <a:schemeClr val="tx1"/>
                          </a:solidFill>
                          <a:latin typeface="Cambria Math" panose="02040503050406030204" pitchFamily="18" charset="0"/>
                          <a:ea typeface="Cambria Math" panose="02040503050406030204" pitchFamily="18" charset="0"/>
                        </a:rPr>
                        <m:t>∆</m:t>
                      </m:r>
                      <m:r>
                        <a:rPr lang="en-US" sz="800" b="0" i="1" smtClean="0">
                          <a:solidFill>
                            <a:schemeClr val="tx1"/>
                          </a:solidFill>
                          <a:latin typeface="Cambria Math" panose="02040503050406030204" pitchFamily="18" charset="0"/>
                          <a:ea typeface="Cambria Math" panose="02040503050406030204" pitchFamily="18" charset="0"/>
                        </a:rPr>
                        <m:t>𝐺</m:t>
                      </m:r>
                      <m:r>
                        <a:rPr lang="en-US" sz="800" b="0" i="1" smtClean="0">
                          <a:solidFill>
                            <a:schemeClr val="tx1"/>
                          </a:solidFill>
                          <a:latin typeface="Cambria Math" panose="02040503050406030204" pitchFamily="18" charset="0"/>
                          <a:ea typeface="Cambria Math" panose="02040503050406030204" pitchFamily="18" charset="0"/>
                        </a:rPr>
                        <m:t>=−24</m:t>
                      </m:r>
                    </m:oMath>
                  </m:oMathPara>
                </a14:m>
                <a:endParaRPr lang="en-US" sz="800" dirty="0">
                  <a:solidFill>
                    <a:schemeClr val="tx1"/>
                  </a:solidFill>
                </a:endParaRPr>
              </a:p>
            </p:txBody>
          </p:sp>
        </mc:Choice>
        <mc:Fallback xmlns="">
          <p:sp>
            <p:nvSpPr>
              <p:cNvPr id="33" name="TextBox 32">
                <a:extLst>
                  <a:ext uri="{FF2B5EF4-FFF2-40B4-BE49-F238E27FC236}">
                    <a16:creationId xmlns:a16="http://schemas.microsoft.com/office/drawing/2014/main" id="{A4671DA7-1054-4071-86C0-EF1B97FD3781}"/>
                  </a:ext>
                </a:extLst>
              </p:cNvPr>
              <p:cNvSpPr txBox="1">
                <a:spLocks noRot="1" noChangeAspect="1" noMove="1" noResize="1" noEditPoints="1" noAdjustHandles="1" noChangeArrowheads="1" noChangeShapeType="1" noTextEdit="1"/>
              </p:cNvSpPr>
              <p:nvPr/>
            </p:nvSpPr>
            <p:spPr>
              <a:xfrm>
                <a:off x="6032104" y="6084464"/>
                <a:ext cx="718054" cy="21544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AD640B1-713D-F851-4F5B-725DE53499ED}"/>
                  </a:ext>
                </a:extLst>
              </p:cNvPr>
              <p:cNvSpPr txBox="1"/>
              <p:nvPr/>
            </p:nvSpPr>
            <p:spPr>
              <a:xfrm>
                <a:off x="7575863" y="6028021"/>
                <a:ext cx="71805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800" i="1" smtClean="0">
                          <a:solidFill>
                            <a:schemeClr val="tx1"/>
                          </a:solidFill>
                          <a:latin typeface="Cambria Math" panose="02040503050406030204" pitchFamily="18" charset="0"/>
                          <a:ea typeface="Cambria Math" panose="02040503050406030204" pitchFamily="18" charset="0"/>
                        </a:rPr>
                        <m:t>∆</m:t>
                      </m:r>
                      <m:r>
                        <a:rPr lang="en-US" sz="800" b="0" i="1" smtClean="0">
                          <a:solidFill>
                            <a:schemeClr val="tx1"/>
                          </a:solidFill>
                          <a:latin typeface="Cambria Math" panose="02040503050406030204" pitchFamily="18" charset="0"/>
                          <a:ea typeface="Cambria Math" panose="02040503050406030204" pitchFamily="18" charset="0"/>
                        </a:rPr>
                        <m:t>𝐺</m:t>
                      </m:r>
                      <m:r>
                        <a:rPr lang="en-US" sz="800" b="0" i="1" smtClean="0">
                          <a:solidFill>
                            <a:schemeClr val="tx1"/>
                          </a:solidFill>
                          <a:latin typeface="Cambria Math" panose="02040503050406030204" pitchFamily="18" charset="0"/>
                          <a:ea typeface="Cambria Math" panose="02040503050406030204" pitchFamily="18" charset="0"/>
                        </a:rPr>
                        <m:t>=−31.8</m:t>
                      </m:r>
                    </m:oMath>
                  </m:oMathPara>
                </a14:m>
                <a:endParaRPr lang="en-US" sz="800" dirty="0">
                  <a:solidFill>
                    <a:schemeClr val="tx1"/>
                  </a:solidFill>
                </a:endParaRPr>
              </a:p>
            </p:txBody>
          </p:sp>
        </mc:Choice>
        <mc:Fallback xmlns="">
          <p:sp>
            <p:nvSpPr>
              <p:cNvPr id="34" name="TextBox 33">
                <a:extLst>
                  <a:ext uri="{FF2B5EF4-FFF2-40B4-BE49-F238E27FC236}">
                    <a16:creationId xmlns:a16="http://schemas.microsoft.com/office/drawing/2014/main" id="{EAD640B1-713D-F851-4F5B-725DE53499ED}"/>
                  </a:ext>
                </a:extLst>
              </p:cNvPr>
              <p:cNvSpPr txBox="1">
                <a:spLocks noRot="1" noChangeAspect="1" noMove="1" noResize="1" noEditPoints="1" noAdjustHandles="1" noChangeArrowheads="1" noChangeShapeType="1" noTextEdit="1"/>
              </p:cNvSpPr>
              <p:nvPr/>
            </p:nvSpPr>
            <p:spPr>
              <a:xfrm>
                <a:off x="7575863" y="6028021"/>
                <a:ext cx="718054" cy="21544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0EBE87B-0431-59E3-B493-D23FAB41334C}"/>
                  </a:ext>
                </a:extLst>
              </p:cNvPr>
              <p:cNvSpPr txBox="1"/>
              <p:nvPr/>
            </p:nvSpPr>
            <p:spPr>
              <a:xfrm>
                <a:off x="6897124" y="4608469"/>
                <a:ext cx="71805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800" i="1" smtClean="0">
                          <a:solidFill>
                            <a:schemeClr val="tx1"/>
                          </a:solidFill>
                          <a:latin typeface="Cambria Math" panose="02040503050406030204" pitchFamily="18" charset="0"/>
                          <a:ea typeface="Cambria Math" panose="02040503050406030204" pitchFamily="18" charset="0"/>
                        </a:rPr>
                        <m:t>∆</m:t>
                      </m:r>
                      <m:r>
                        <a:rPr lang="en-US" sz="800" b="0" i="1" smtClean="0">
                          <a:solidFill>
                            <a:schemeClr val="tx1"/>
                          </a:solidFill>
                          <a:latin typeface="Cambria Math" panose="02040503050406030204" pitchFamily="18" charset="0"/>
                          <a:ea typeface="Cambria Math" panose="02040503050406030204" pitchFamily="18" charset="0"/>
                        </a:rPr>
                        <m:t>𝐺</m:t>
                      </m:r>
                      <m:r>
                        <a:rPr lang="en-US" sz="800" b="0" i="1" smtClean="0">
                          <a:solidFill>
                            <a:schemeClr val="tx1"/>
                          </a:solidFill>
                          <a:latin typeface="Cambria Math" panose="02040503050406030204" pitchFamily="18" charset="0"/>
                          <a:ea typeface="Cambria Math" panose="02040503050406030204" pitchFamily="18" charset="0"/>
                        </a:rPr>
                        <m:t>=−23</m:t>
                      </m:r>
                    </m:oMath>
                  </m:oMathPara>
                </a14:m>
                <a:endParaRPr lang="en-US" sz="800" dirty="0">
                  <a:solidFill>
                    <a:schemeClr val="tx1"/>
                  </a:solidFill>
                </a:endParaRPr>
              </a:p>
            </p:txBody>
          </p:sp>
        </mc:Choice>
        <mc:Fallback xmlns="">
          <p:sp>
            <p:nvSpPr>
              <p:cNvPr id="35" name="TextBox 34">
                <a:extLst>
                  <a:ext uri="{FF2B5EF4-FFF2-40B4-BE49-F238E27FC236}">
                    <a16:creationId xmlns:a16="http://schemas.microsoft.com/office/drawing/2014/main" id="{C0EBE87B-0431-59E3-B493-D23FAB41334C}"/>
                  </a:ext>
                </a:extLst>
              </p:cNvPr>
              <p:cNvSpPr txBox="1">
                <a:spLocks noRot="1" noChangeAspect="1" noMove="1" noResize="1" noEditPoints="1" noAdjustHandles="1" noChangeArrowheads="1" noChangeShapeType="1" noTextEdit="1"/>
              </p:cNvSpPr>
              <p:nvPr/>
            </p:nvSpPr>
            <p:spPr>
              <a:xfrm>
                <a:off x="6897124" y="4608469"/>
                <a:ext cx="718054" cy="21544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B2BDC78-8A44-0C3E-46F0-97666622784B}"/>
                  </a:ext>
                </a:extLst>
              </p:cNvPr>
              <p:cNvSpPr txBox="1"/>
              <p:nvPr/>
            </p:nvSpPr>
            <p:spPr>
              <a:xfrm>
                <a:off x="8804862" y="5824919"/>
                <a:ext cx="71805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800" i="1" smtClean="0">
                          <a:solidFill>
                            <a:schemeClr val="tx1"/>
                          </a:solidFill>
                          <a:latin typeface="Cambria Math" panose="02040503050406030204" pitchFamily="18" charset="0"/>
                          <a:ea typeface="Cambria Math" panose="02040503050406030204" pitchFamily="18" charset="0"/>
                        </a:rPr>
                        <m:t>∆</m:t>
                      </m:r>
                      <m:r>
                        <a:rPr lang="en-US" sz="800" b="0" i="1" smtClean="0">
                          <a:solidFill>
                            <a:schemeClr val="tx1"/>
                          </a:solidFill>
                          <a:latin typeface="Cambria Math" panose="02040503050406030204" pitchFamily="18" charset="0"/>
                          <a:ea typeface="Cambria Math" panose="02040503050406030204" pitchFamily="18" charset="0"/>
                        </a:rPr>
                        <m:t>𝐺</m:t>
                      </m:r>
                      <m:r>
                        <a:rPr lang="en-US" sz="800" b="0" i="1" smtClean="0">
                          <a:solidFill>
                            <a:schemeClr val="tx1"/>
                          </a:solidFill>
                          <a:latin typeface="Cambria Math" panose="02040503050406030204" pitchFamily="18" charset="0"/>
                          <a:ea typeface="Cambria Math" panose="02040503050406030204" pitchFamily="18" charset="0"/>
                        </a:rPr>
                        <m:t>=−29.9</m:t>
                      </m:r>
                    </m:oMath>
                  </m:oMathPara>
                </a14:m>
                <a:endParaRPr lang="en-US" sz="800" dirty="0">
                  <a:solidFill>
                    <a:schemeClr val="tx1"/>
                  </a:solidFill>
                </a:endParaRPr>
              </a:p>
            </p:txBody>
          </p:sp>
        </mc:Choice>
        <mc:Fallback xmlns="">
          <p:sp>
            <p:nvSpPr>
              <p:cNvPr id="36" name="TextBox 35">
                <a:extLst>
                  <a:ext uri="{FF2B5EF4-FFF2-40B4-BE49-F238E27FC236}">
                    <a16:creationId xmlns:a16="http://schemas.microsoft.com/office/drawing/2014/main" id="{DB2BDC78-8A44-0C3E-46F0-97666622784B}"/>
                  </a:ext>
                </a:extLst>
              </p:cNvPr>
              <p:cNvSpPr txBox="1">
                <a:spLocks noRot="1" noChangeAspect="1" noMove="1" noResize="1" noEditPoints="1" noAdjustHandles="1" noChangeArrowheads="1" noChangeShapeType="1" noTextEdit="1"/>
              </p:cNvSpPr>
              <p:nvPr/>
            </p:nvSpPr>
            <p:spPr>
              <a:xfrm>
                <a:off x="8804862" y="5824919"/>
                <a:ext cx="718054" cy="21544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F221B20-F330-CB37-A038-1FFD973AAFC4}"/>
                  </a:ext>
                </a:extLst>
              </p:cNvPr>
              <p:cNvSpPr txBox="1"/>
              <p:nvPr/>
            </p:nvSpPr>
            <p:spPr>
              <a:xfrm>
                <a:off x="7855625" y="4551469"/>
                <a:ext cx="71805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800" i="1" smtClean="0">
                          <a:solidFill>
                            <a:schemeClr val="tx1"/>
                          </a:solidFill>
                          <a:latin typeface="Cambria Math" panose="02040503050406030204" pitchFamily="18" charset="0"/>
                          <a:ea typeface="Cambria Math" panose="02040503050406030204" pitchFamily="18" charset="0"/>
                        </a:rPr>
                        <m:t>∆</m:t>
                      </m:r>
                      <m:r>
                        <a:rPr lang="en-US" sz="800" b="0" i="1" smtClean="0">
                          <a:solidFill>
                            <a:schemeClr val="tx1"/>
                          </a:solidFill>
                          <a:latin typeface="Cambria Math" panose="02040503050406030204" pitchFamily="18" charset="0"/>
                          <a:ea typeface="Cambria Math" panose="02040503050406030204" pitchFamily="18" charset="0"/>
                        </a:rPr>
                        <m:t>𝐺</m:t>
                      </m:r>
                      <m:r>
                        <a:rPr lang="en-US" sz="800" b="0" i="1" smtClean="0">
                          <a:solidFill>
                            <a:schemeClr val="tx1"/>
                          </a:solidFill>
                          <a:latin typeface="Cambria Math" panose="02040503050406030204" pitchFamily="18" charset="0"/>
                          <a:ea typeface="Cambria Math" panose="02040503050406030204" pitchFamily="18" charset="0"/>
                        </a:rPr>
                        <m:t>=−26</m:t>
                      </m:r>
                    </m:oMath>
                  </m:oMathPara>
                </a14:m>
                <a:endParaRPr lang="en-US" sz="800" dirty="0">
                  <a:solidFill>
                    <a:schemeClr val="tx1"/>
                  </a:solidFill>
                </a:endParaRPr>
              </a:p>
            </p:txBody>
          </p:sp>
        </mc:Choice>
        <mc:Fallback xmlns="">
          <p:sp>
            <p:nvSpPr>
              <p:cNvPr id="37" name="TextBox 36">
                <a:extLst>
                  <a:ext uri="{FF2B5EF4-FFF2-40B4-BE49-F238E27FC236}">
                    <a16:creationId xmlns:a16="http://schemas.microsoft.com/office/drawing/2014/main" id="{9F221B20-F330-CB37-A038-1FFD973AAFC4}"/>
                  </a:ext>
                </a:extLst>
              </p:cNvPr>
              <p:cNvSpPr txBox="1">
                <a:spLocks noRot="1" noChangeAspect="1" noMove="1" noResize="1" noEditPoints="1" noAdjustHandles="1" noChangeArrowheads="1" noChangeShapeType="1" noTextEdit="1"/>
              </p:cNvSpPr>
              <p:nvPr/>
            </p:nvSpPr>
            <p:spPr>
              <a:xfrm>
                <a:off x="7855625" y="4551469"/>
                <a:ext cx="718054" cy="21544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5B21A9F-ED4C-FBDB-53FD-E3E665F46C64}"/>
                  </a:ext>
                </a:extLst>
              </p:cNvPr>
              <p:cNvSpPr txBox="1"/>
              <p:nvPr/>
            </p:nvSpPr>
            <p:spPr>
              <a:xfrm>
                <a:off x="9719298" y="5266914"/>
                <a:ext cx="2674550" cy="276999"/>
              </a:xfrm>
              <a:prstGeom prst="rect">
                <a:avLst/>
              </a:prstGeom>
              <a:noFill/>
            </p:spPr>
            <p:txBody>
              <a:bodyPr wrap="square">
                <a:spAutoFit/>
              </a:bodyPr>
              <a:lstStyle/>
              <a:p>
                <a:r>
                  <a:rPr lang="en-US" sz="1200" b="1" dirty="0">
                    <a:ea typeface="Cambria Math" panose="02040503050406030204" pitchFamily="18" charset="0"/>
                  </a:rPr>
                  <a:t>Units of </a:t>
                </a:r>
                <a14:m>
                  <m:oMath xmlns:m="http://schemas.openxmlformats.org/officeDocument/2006/math">
                    <m:r>
                      <a:rPr lang="en-US" sz="1200" b="1" i="1" smtClean="0">
                        <a:latin typeface="Cambria Math" panose="02040503050406030204" pitchFamily="18" charset="0"/>
                        <a:ea typeface="Cambria Math" panose="02040503050406030204" pitchFamily="18" charset="0"/>
                      </a:rPr>
                      <m:t>∆</m:t>
                    </m:r>
                    <m:r>
                      <a:rPr lang="en-US" sz="1200" b="1" i="1" smtClean="0">
                        <a:latin typeface="Cambria Math" panose="02040503050406030204" pitchFamily="18" charset="0"/>
                        <a:ea typeface="Cambria Math" panose="02040503050406030204" pitchFamily="18" charset="0"/>
                      </a:rPr>
                      <m:t>𝑮</m:t>
                    </m:r>
                  </m:oMath>
                </a14:m>
                <a:r>
                  <a:rPr lang="en-US" sz="1200" b="1" dirty="0"/>
                  <a:t> is </a:t>
                </a:r>
                <a:r>
                  <a:rPr lang="en-US" sz="1200" b="1" i="1" dirty="0"/>
                  <a:t>kcal/mole</a:t>
                </a:r>
                <a:r>
                  <a:rPr lang="en-US" sz="1200" b="1" dirty="0"/>
                  <a:t>.</a:t>
                </a:r>
              </a:p>
            </p:txBody>
          </p:sp>
        </mc:Choice>
        <mc:Fallback xmlns="">
          <p:sp>
            <p:nvSpPr>
              <p:cNvPr id="39" name="TextBox 38">
                <a:extLst>
                  <a:ext uri="{FF2B5EF4-FFF2-40B4-BE49-F238E27FC236}">
                    <a16:creationId xmlns:a16="http://schemas.microsoft.com/office/drawing/2014/main" id="{65B21A9F-ED4C-FBDB-53FD-E3E665F46C64}"/>
                  </a:ext>
                </a:extLst>
              </p:cNvPr>
              <p:cNvSpPr txBox="1">
                <a:spLocks noRot="1" noChangeAspect="1" noMove="1" noResize="1" noEditPoints="1" noAdjustHandles="1" noChangeArrowheads="1" noChangeShapeType="1" noTextEdit="1"/>
              </p:cNvSpPr>
              <p:nvPr/>
            </p:nvSpPr>
            <p:spPr>
              <a:xfrm>
                <a:off x="9719298" y="5266914"/>
                <a:ext cx="2674550" cy="276999"/>
              </a:xfrm>
              <a:prstGeom prst="rect">
                <a:avLst/>
              </a:prstGeom>
              <a:blipFill>
                <a:blip r:embed="rId16"/>
                <a:stretch>
                  <a:fillRect b="-13043"/>
                </a:stretch>
              </a:blipFill>
            </p:spPr>
            <p:txBody>
              <a:bodyPr/>
              <a:lstStyle/>
              <a:p>
                <a:r>
                  <a:rPr lang="en-US">
                    <a:noFill/>
                  </a:rPr>
                  <a:t> </a:t>
                </a:r>
              </a:p>
            </p:txBody>
          </p:sp>
        </mc:Fallback>
      </mc:AlternateContent>
      <p:pic>
        <p:nvPicPr>
          <p:cNvPr id="43" name="Picture 42" descr="A diagram of a structure&#10;&#10;AI-generated content may be incorrect.">
            <a:extLst>
              <a:ext uri="{FF2B5EF4-FFF2-40B4-BE49-F238E27FC236}">
                <a16:creationId xmlns:a16="http://schemas.microsoft.com/office/drawing/2014/main" id="{A55CE464-A48B-2B29-6862-90FFB6D67CAF}"/>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272819" y="1848854"/>
            <a:ext cx="2184874" cy="1688451"/>
          </a:xfrm>
          <a:prstGeom prst="rect">
            <a:avLst/>
          </a:prstGeom>
        </p:spPr>
      </p:pic>
    </p:spTree>
    <p:extLst>
      <p:ext uri="{BB962C8B-B14F-4D97-AF65-F5344CB8AC3E}">
        <p14:creationId xmlns:p14="http://schemas.microsoft.com/office/powerpoint/2010/main" val="3453990346"/>
      </p:ext>
    </p:extLst>
  </p:cSld>
  <p:clrMapOvr>
    <a:masterClrMapping/>
  </p:clrMapOvr>
  <mc:AlternateContent xmlns:mc="http://schemas.openxmlformats.org/markup-compatibility/2006" xmlns:p14="http://schemas.microsoft.com/office/powerpoint/2010/main">
    <mc:Choice Requires="p14">
      <p:transition spd="slow" p14:dur="2000" advTm="58251"/>
    </mc:Choice>
    <mc:Fallback xmlns="">
      <p:transition spd="slow" advTm="5825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3C7C9-95FE-9A55-2F89-F6574A3EA76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5FD5A86E-EEB0-A996-74F3-B03A7354701C}"/>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Slide Number Placeholder 3">
            <a:extLst>
              <a:ext uri="{FF2B5EF4-FFF2-40B4-BE49-F238E27FC236}">
                <a16:creationId xmlns:a16="http://schemas.microsoft.com/office/drawing/2014/main" id="{AD844E30-B1FB-D18F-6001-C39FCF10F479}"/>
              </a:ext>
            </a:extLst>
          </p:cNvPr>
          <p:cNvSpPr>
            <a:spLocks noGrp="1"/>
          </p:cNvSpPr>
          <p:nvPr>
            <p:ph type="sldNum" sz="quarter" idx="12"/>
          </p:nvPr>
        </p:nvSpPr>
        <p:spPr>
          <a:xfrm>
            <a:off x="8673230" y="6335220"/>
            <a:ext cx="2743200" cy="365125"/>
          </a:xfrm>
        </p:spPr>
        <p:txBody>
          <a:bodyPr/>
          <a:lstStyle/>
          <a:p>
            <a:r>
              <a:rPr lang="en-IN" dirty="0"/>
              <a:t>4</a:t>
            </a:r>
          </a:p>
        </p:txBody>
      </p:sp>
      <p:sp>
        <p:nvSpPr>
          <p:cNvPr id="5" name="TextBox 4">
            <a:extLst>
              <a:ext uri="{FF2B5EF4-FFF2-40B4-BE49-F238E27FC236}">
                <a16:creationId xmlns:a16="http://schemas.microsoft.com/office/drawing/2014/main" id="{87760827-2F9C-D6E6-C700-531AF6D2399F}"/>
              </a:ext>
            </a:extLst>
          </p:cNvPr>
          <p:cNvSpPr txBox="1"/>
          <p:nvPr/>
        </p:nvSpPr>
        <p:spPr>
          <a:xfrm>
            <a:off x="484016" y="1078539"/>
            <a:ext cx="6010575" cy="400110"/>
          </a:xfrm>
          <a:prstGeom prst="rect">
            <a:avLst/>
          </a:prstGeom>
          <a:noFill/>
        </p:spPr>
        <p:txBody>
          <a:bodyPr wrap="square">
            <a:spAutoFit/>
          </a:bodyPr>
          <a:lstStyle/>
          <a:p>
            <a:pPr marL="342900" indent="-342900">
              <a:buFont typeface="Arial" panose="020B0604020202020204" pitchFamily="34" charset="0"/>
              <a:buChar char="•"/>
            </a:pPr>
            <a:r>
              <a:rPr lang="en-US" sz="2000" b="1" dirty="0">
                <a:solidFill>
                  <a:srgbClr val="C00000"/>
                </a:solidFill>
              </a:rPr>
              <a:t>Challenge: </a:t>
            </a:r>
            <a:r>
              <a:rPr lang="en-US" sz="2000" dirty="0"/>
              <a:t>Too many structures to enumerate.</a:t>
            </a:r>
          </a:p>
        </p:txBody>
      </p:sp>
      <p:sp>
        <p:nvSpPr>
          <p:cNvPr id="4" name="Rectangle 1">
            <a:extLst>
              <a:ext uri="{FF2B5EF4-FFF2-40B4-BE49-F238E27FC236}">
                <a16:creationId xmlns:a16="http://schemas.microsoft.com/office/drawing/2014/main" id="{EA6FC690-5777-C0B8-6329-4B13E5DF915F}"/>
              </a:ext>
            </a:extLst>
          </p:cNvPr>
          <p:cNvSpPr>
            <a:spLocks noChangeArrowheads="1"/>
          </p:cNvSpPr>
          <p:nvPr/>
        </p:nvSpPr>
        <p:spPr bwMode="auto">
          <a:xfrm>
            <a:off x="946673" y="300253"/>
            <a:ext cx="109081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C00000"/>
                </a:solidFill>
                <a:effectLst/>
              </a:rPr>
              <a:t>Goal:</a:t>
            </a:r>
            <a:r>
              <a:rPr kumimoji="0" lang="en-US" altLang="en-US" sz="3200" b="1" i="0" u="none" strike="noStrike" cap="none" normalizeH="0" baseline="0" dirty="0">
                <a:ln>
                  <a:noFill/>
                </a:ln>
                <a:solidFill>
                  <a:srgbClr val="C00000"/>
                </a:solidFill>
                <a:effectLst/>
                <a:latin typeface="-webkit-standard"/>
              </a:rPr>
              <a:t> Find the secondary structure with minimum free energy.</a:t>
            </a:r>
            <a:endParaRPr kumimoji="0" lang="en-US" altLang="en-US" sz="3200" b="1" i="0" u="none" strike="noStrike" cap="none" normalizeH="0" baseline="0" dirty="0">
              <a:ln>
                <a:noFill/>
              </a:ln>
              <a:solidFill>
                <a:srgbClr val="C00000"/>
              </a:solidFill>
              <a:effectLst/>
            </a:endParaRPr>
          </a:p>
        </p:txBody>
      </p:sp>
      <p:pic>
        <p:nvPicPr>
          <p:cNvPr id="6" name="Picture 5">
            <a:extLst>
              <a:ext uri="{FF2B5EF4-FFF2-40B4-BE49-F238E27FC236}">
                <a16:creationId xmlns:a16="http://schemas.microsoft.com/office/drawing/2014/main" id="{7CE71E10-9990-4467-8B2F-DBF2A7110006}"/>
              </a:ext>
            </a:extLst>
          </p:cNvPr>
          <p:cNvPicPr>
            <a:picLocks noChangeAspect="1"/>
          </p:cNvPicPr>
          <p:nvPr/>
        </p:nvPicPr>
        <p:blipFill>
          <a:blip r:embed="rId3"/>
          <a:stretch>
            <a:fillRect/>
          </a:stretch>
        </p:blipFill>
        <p:spPr>
          <a:xfrm>
            <a:off x="2831230" y="2441724"/>
            <a:ext cx="5842000" cy="2336800"/>
          </a:xfrm>
          <a:prstGeom prst="rect">
            <a:avLst/>
          </a:prstGeom>
        </p:spPr>
      </p:pic>
    </p:spTree>
    <p:extLst>
      <p:ext uri="{BB962C8B-B14F-4D97-AF65-F5344CB8AC3E}">
        <p14:creationId xmlns:p14="http://schemas.microsoft.com/office/powerpoint/2010/main" val="1743703771"/>
      </p:ext>
    </p:extLst>
  </p:cSld>
  <p:clrMapOvr>
    <a:masterClrMapping/>
  </p:clrMapOvr>
  <mc:AlternateContent xmlns:mc="http://schemas.openxmlformats.org/markup-compatibility/2006" xmlns:p14="http://schemas.microsoft.com/office/powerpoint/2010/main">
    <mc:Choice Requires="p14">
      <p:transition spd="slow" p14:dur="2000" advTm="12816"/>
    </mc:Choice>
    <mc:Fallback xmlns="">
      <p:transition spd="slow" advTm="1281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04AD3-C6D4-28B2-8B27-1B428E93113E}"/>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E4372C8F-FC52-1B9F-ECD8-93A622526744}"/>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Slide Number Placeholder 3">
            <a:extLst>
              <a:ext uri="{FF2B5EF4-FFF2-40B4-BE49-F238E27FC236}">
                <a16:creationId xmlns:a16="http://schemas.microsoft.com/office/drawing/2014/main" id="{426D0A55-8B84-E30A-1593-4A0C35C4C970}"/>
              </a:ext>
            </a:extLst>
          </p:cNvPr>
          <p:cNvSpPr>
            <a:spLocks noGrp="1"/>
          </p:cNvSpPr>
          <p:nvPr>
            <p:ph type="sldNum" sz="quarter" idx="12"/>
          </p:nvPr>
        </p:nvSpPr>
        <p:spPr>
          <a:xfrm>
            <a:off x="8673230" y="6335220"/>
            <a:ext cx="2743200" cy="365125"/>
          </a:xfrm>
        </p:spPr>
        <p:txBody>
          <a:bodyPr/>
          <a:lstStyle/>
          <a:p>
            <a:r>
              <a:rPr lang="en-IN" dirty="0"/>
              <a:t>4</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E029AD6-F4EA-A045-D1EC-893A77B4CEC6}"/>
                  </a:ext>
                </a:extLst>
              </p:cNvPr>
              <p:cNvGraphicFramePr>
                <a:graphicFrameLocks noGrp="1"/>
              </p:cNvGraphicFramePr>
              <p:nvPr>
                <p:extLst>
                  <p:ext uri="{D42A27DB-BD31-4B8C-83A1-F6EECF244321}">
                    <p14:modId xmlns:p14="http://schemas.microsoft.com/office/powerpoint/2010/main" val="2143207951"/>
                  </p:ext>
                </p:extLst>
              </p:nvPr>
            </p:nvGraphicFramePr>
            <p:xfrm>
              <a:off x="2408398" y="1643719"/>
              <a:ext cx="8128000" cy="1409065"/>
            </p:xfrm>
            <a:graphic>
              <a:graphicData uri="http://schemas.openxmlformats.org/drawingml/2006/table">
                <a:tbl>
                  <a:tblPr firstRow="1" bandRow="1">
                    <a:tableStyleId>{D7AC3CCA-C797-4891-BE02-D94E43425B78}</a:tableStyleId>
                  </a:tblPr>
                  <a:tblGrid>
                    <a:gridCol w="2985286">
                      <a:extLst>
                        <a:ext uri="{9D8B030D-6E8A-4147-A177-3AD203B41FA5}">
                          <a16:colId xmlns:a16="http://schemas.microsoft.com/office/drawing/2014/main" val="493158420"/>
                        </a:ext>
                      </a:extLst>
                    </a:gridCol>
                    <a:gridCol w="5142714">
                      <a:extLst>
                        <a:ext uri="{9D8B030D-6E8A-4147-A177-3AD203B41FA5}">
                          <a16:colId xmlns:a16="http://schemas.microsoft.com/office/drawing/2014/main" val="1709982306"/>
                        </a:ext>
                      </a:extLst>
                    </a:gridCol>
                  </a:tblGrid>
                  <a:tr h="370840">
                    <a:tc>
                      <a:txBody>
                        <a:bodyPr/>
                        <a:lstStyle/>
                        <a:p>
                          <a:pPr algn="ctr"/>
                          <a:r>
                            <a:rPr lang="en-US" sz="2000" dirty="0">
                              <a:solidFill>
                                <a:schemeClr val="tx1"/>
                              </a:solidFill>
                            </a:rPr>
                            <a:t>Sequence length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Number of possible secondary structures</a:t>
                          </a:r>
                        </a:p>
                      </a:txBody>
                      <a:tcPr/>
                    </a:tc>
                    <a:extLst>
                      <a:ext uri="{0D108BD9-81ED-4DB2-BD59-A6C34878D82A}">
                        <a16:rowId xmlns:a16="http://schemas.microsoft.com/office/drawing/2014/main" val="791678837"/>
                      </a:ext>
                    </a:extLst>
                  </a:tr>
                  <a:tr h="370840">
                    <a:tc>
                      <a:txBody>
                        <a:bodyPr/>
                        <a:lstStyle/>
                        <a:p>
                          <a:pPr algn="ctr"/>
                          <a:r>
                            <a:rPr lang="en-US" sz="2000" dirty="0"/>
                            <a:t>100</a:t>
                          </a:r>
                        </a:p>
                        <a:p>
                          <a:pPr algn="ctr"/>
                          <a:r>
                            <a:rPr lang="en-US" sz="2000" dirty="0"/>
                            <a:t>500</a:t>
                          </a:r>
                        </a:p>
                        <a:p>
                          <a:pPr algn="ctr"/>
                          <a:r>
                            <a:rPr lang="en-US" sz="2000" dirty="0"/>
                            <a:t>1000</a:t>
                          </a:r>
                        </a:p>
                      </a:txBody>
                      <a:tcPr/>
                    </a:tc>
                    <a:tc>
                      <a:txBody>
                        <a:bodyPr/>
                        <a:lstStyle/>
                        <a:p>
                          <a:pPr algn="ct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smtClean="0">
                                        <a:latin typeface="Cambria Math" panose="02040503050406030204" pitchFamily="18" charset="0"/>
                                      </a:rPr>
                                      <m:t>10</m:t>
                                    </m:r>
                                  </m:e>
                                  <m:sup>
                                    <m:r>
                                      <a:rPr lang="en-US" sz="2000" b="0" smtClean="0">
                                        <a:latin typeface="Cambria Math" panose="02040503050406030204" pitchFamily="18" charset="0"/>
                                      </a:rPr>
                                      <m:t>25</m:t>
                                    </m:r>
                                  </m:sup>
                                </m:sSup>
                              </m:oMath>
                            </m:oMathPara>
                          </a14:m>
                          <a:endParaRPr lang="en-US" sz="2000" dirty="0"/>
                        </a:p>
                        <a:p>
                          <a:pPr algn="ct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smtClean="0">
                                        <a:latin typeface="Cambria Math" panose="02040503050406030204" pitchFamily="18" charset="0"/>
                                      </a:rPr>
                                      <m:t>10</m:t>
                                    </m:r>
                                  </m:e>
                                  <m:sup>
                                    <m:r>
                                      <a:rPr lang="en-US" sz="2000" b="0" smtClean="0">
                                        <a:latin typeface="Cambria Math" panose="02040503050406030204" pitchFamily="18" charset="0"/>
                                      </a:rPr>
                                      <m:t>127</m:t>
                                    </m:r>
                                  </m:sup>
                                </m:sSup>
                              </m:oMath>
                            </m:oMathPara>
                          </a14:m>
                          <a:endParaRPr lang="en-US" sz="2000" b="0" dirty="0"/>
                        </a:p>
                        <a:p>
                          <a:pPr algn="ct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smtClean="0">
                                        <a:latin typeface="Cambria Math" panose="02040503050406030204" pitchFamily="18" charset="0"/>
                                      </a:rPr>
                                      <m:t>10</m:t>
                                    </m:r>
                                  </m:e>
                                  <m:sup>
                                    <m:r>
                                      <a:rPr lang="en-US" sz="2000" b="0" smtClean="0">
                                        <a:latin typeface="Cambria Math" panose="02040503050406030204" pitchFamily="18" charset="0"/>
                                      </a:rPr>
                                      <m:t>255</m:t>
                                    </m:r>
                                  </m:sup>
                                </m:sSup>
                              </m:oMath>
                            </m:oMathPara>
                          </a14:m>
                          <a:endParaRPr lang="en-US" sz="2000" dirty="0"/>
                        </a:p>
                      </a:txBody>
                      <a:tcPr/>
                    </a:tc>
                    <a:extLst>
                      <a:ext uri="{0D108BD9-81ED-4DB2-BD59-A6C34878D82A}">
                        <a16:rowId xmlns:a16="http://schemas.microsoft.com/office/drawing/2014/main" val="754180875"/>
                      </a:ext>
                    </a:extLst>
                  </a:tr>
                </a:tbl>
              </a:graphicData>
            </a:graphic>
          </p:graphicFrame>
        </mc:Choice>
        <mc:Fallback xmlns="">
          <p:graphicFrame>
            <p:nvGraphicFramePr>
              <p:cNvPr id="3" name="Table 2">
                <a:extLst>
                  <a:ext uri="{FF2B5EF4-FFF2-40B4-BE49-F238E27FC236}">
                    <a16:creationId xmlns:a16="http://schemas.microsoft.com/office/drawing/2014/main" id="{3E029AD6-F4EA-A045-D1EC-893A77B4CEC6}"/>
                  </a:ext>
                </a:extLst>
              </p:cNvPr>
              <p:cNvGraphicFramePr>
                <a:graphicFrameLocks noGrp="1"/>
              </p:cNvGraphicFramePr>
              <p:nvPr>
                <p:extLst>
                  <p:ext uri="{D42A27DB-BD31-4B8C-83A1-F6EECF244321}">
                    <p14:modId xmlns:p14="http://schemas.microsoft.com/office/powerpoint/2010/main" val="2143207951"/>
                  </p:ext>
                </p:extLst>
              </p:nvPr>
            </p:nvGraphicFramePr>
            <p:xfrm>
              <a:off x="2408398" y="1643719"/>
              <a:ext cx="8128000" cy="1431862"/>
            </p:xfrm>
            <a:graphic>
              <a:graphicData uri="http://schemas.openxmlformats.org/drawingml/2006/table">
                <a:tbl>
                  <a:tblPr firstRow="1" bandRow="1">
                    <a:tableStyleId>{D7AC3CCA-C797-4891-BE02-D94E43425B78}</a:tableStyleId>
                  </a:tblPr>
                  <a:tblGrid>
                    <a:gridCol w="2985286">
                      <a:extLst>
                        <a:ext uri="{9D8B030D-6E8A-4147-A177-3AD203B41FA5}">
                          <a16:colId xmlns:a16="http://schemas.microsoft.com/office/drawing/2014/main" val="493158420"/>
                        </a:ext>
                      </a:extLst>
                    </a:gridCol>
                    <a:gridCol w="5142714">
                      <a:extLst>
                        <a:ext uri="{9D8B030D-6E8A-4147-A177-3AD203B41FA5}">
                          <a16:colId xmlns:a16="http://schemas.microsoft.com/office/drawing/2014/main" val="1709982306"/>
                        </a:ext>
                      </a:extLst>
                    </a:gridCol>
                  </a:tblGrid>
                  <a:tr h="396240">
                    <a:tc>
                      <a:txBody>
                        <a:bodyPr/>
                        <a:lstStyle/>
                        <a:p>
                          <a:pPr algn="ctr"/>
                          <a:r>
                            <a:rPr lang="en-US" sz="2000" dirty="0">
                              <a:solidFill>
                                <a:schemeClr val="tx1"/>
                              </a:solidFill>
                            </a:rPr>
                            <a:t>Sequence length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Number of possible secondary structures</a:t>
                          </a:r>
                        </a:p>
                      </a:txBody>
                      <a:tcPr/>
                    </a:tc>
                    <a:extLst>
                      <a:ext uri="{0D108BD9-81ED-4DB2-BD59-A6C34878D82A}">
                        <a16:rowId xmlns:a16="http://schemas.microsoft.com/office/drawing/2014/main" val="791678837"/>
                      </a:ext>
                    </a:extLst>
                  </a:tr>
                  <a:tr h="1035622">
                    <a:tc>
                      <a:txBody>
                        <a:bodyPr/>
                        <a:lstStyle/>
                        <a:p>
                          <a:pPr algn="ctr"/>
                          <a:r>
                            <a:rPr lang="en-US" sz="2000" dirty="0"/>
                            <a:t>100</a:t>
                          </a:r>
                        </a:p>
                        <a:p>
                          <a:pPr algn="ctr"/>
                          <a:r>
                            <a:rPr lang="en-US" sz="2000" dirty="0"/>
                            <a:t>500</a:t>
                          </a:r>
                        </a:p>
                        <a:p>
                          <a:pPr algn="ctr"/>
                          <a:r>
                            <a:rPr lang="en-US" sz="2000" dirty="0"/>
                            <a:t>1000</a:t>
                          </a:r>
                        </a:p>
                      </a:txBody>
                      <a:tcPr/>
                    </a:tc>
                    <a:tc>
                      <a:txBody>
                        <a:bodyPr/>
                        <a:lstStyle/>
                        <a:p>
                          <a:endParaRPr lang="en-US"/>
                        </a:p>
                      </a:txBody>
                      <a:tcPr>
                        <a:blipFill>
                          <a:blip r:embed="rId3"/>
                          <a:stretch>
                            <a:fillRect l="-57882" t="-42683" r="-246" b="-7317"/>
                          </a:stretch>
                        </a:blipFill>
                      </a:tcPr>
                    </a:tc>
                    <a:extLst>
                      <a:ext uri="{0D108BD9-81ED-4DB2-BD59-A6C34878D82A}">
                        <a16:rowId xmlns:a16="http://schemas.microsoft.com/office/drawing/2014/main" val="754180875"/>
                      </a:ext>
                    </a:extLst>
                  </a:tr>
                </a:tbl>
              </a:graphicData>
            </a:graphic>
          </p:graphicFrame>
        </mc:Fallback>
      </mc:AlternateContent>
      <p:sp>
        <p:nvSpPr>
          <p:cNvPr id="5" name="TextBox 4">
            <a:extLst>
              <a:ext uri="{FF2B5EF4-FFF2-40B4-BE49-F238E27FC236}">
                <a16:creationId xmlns:a16="http://schemas.microsoft.com/office/drawing/2014/main" id="{6C4BBAF5-F645-2E42-0B9D-A928DC5D1C25}"/>
              </a:ext>
            </a:extLst>
          </p:cNvPr>
          <p:cNvSpPr txBox="1"/>
          <p:nvPr/>
        </p:nvSpPr>
        <p:spPr>
          <a:xfrm>
            <a:off x="484016" y="1078539"/>
            <a:ext cx="6010575" cy="400110"/>
          </a:xfrm>
          <a:prstGeom prst="rect">
            <a:avLst/>
          </a:prstGeom>
          <a:noFill/>
        </p:spPr>
        <p:txBody>
          <a:bodyPr wrap="square">
            <a:spAutoFit/>
          </a:bodyPr>
          <a:lstStyle/>
          <a:p>
            <a:pPr marL="342900" indent="-342900">
              <a:buFont typeface="Arial" panose="020B0604020202020204" pitchFamily="34" charset="0"/>
              <a:buChar char="•"/>
            </a:pPr>
            <a:r>
              <a:rPr lang="en-US" sz="2000" b="1" dirty="0">
                <a:solidFill>
                  <a:srgbClr val="C00000"/>
                </a:solidFill>
              </a:rPr>
              <a:t>Challenge: </a:t>
            </a:r>
            <a:r>
              <a:rPr lang="en-US" sz="2000" dirty="0"/>
              <a:t>Too many structures to enumerate.</a:t>
            </a:r>
          </a:p>
        </p:txBody>
      </p:sp>
      <p:sp>
        <p:nvSpPr>
          <p:cNvPr id="4" name="Rectangle 1">
            <a:extLst>
              <a:ext uri="{FF2B5EF4-FFF2-40B4-BE49-F238E27FC236}">
                <a16:creationId xmlns:a16="http://schemas.microsoft.com/office/drawing/2014/main" id="{1810DA99-1B44-4728-C4C4-57020932841F}"/>
              </a:ext>
            </a:extLst>
          </p:cNvPr>
          <p:cNvSpPr>
            <a:spLocks noChangeArrowheads="1"/>
          </p:cNvSpPr>
          <p:nvPr/>
        </p:nvSpPr>
        <p:spPr bwMode="auto">
          <a:xfrm>
            <a:off x="946673" y="300253"/>
            <a:ext cx="109081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C00000"/>
                </a:solidFill>
                <a:effectLst/>
              </a:rPr>
              <a:t>Goal:</a:t>
            </a:r>
            <a:r>
              <a:rPr kumimoji="0" lang="en-US" altLang="en-US" sz="3200" b="1" i="0" u="none" strike="noStrike" cap="none" normalizeH="0" baseline="0" dirty="0">
                <a:ln>
                  <a:noFill/>
                </a:ln>
                <a:solidFill>
                  <a:srgbClr val="C00000"/>
                </a:solidFill>
                <a:effectLst/>
                <a:latin typeface="-webkit-standard"/>
              </a:rPr>
              <a:t> Find the secondary structure with minimum free energy.</a:t>
            </a:r>
            <a:endParaRPr kumimoji="0" lang="en-US" altLang="en-US" sz="3200" b="1" i="0" u="none" strike="noStrike" cap="none" normalizeH="0" baseline="0" dirty="0">
              <a:ln>
                <a:noFill/>
              </a:ln>
              <a:solidFill>
                <a:srgbClr val="C00000"/>
              </a:solidFill>
              <a:effectLst/>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18FF980-77D3-7DB8-1E32-28AD35DDB31B}"/>
                  </a:ext>
                </a:extLst>
              </p:cNvPr>
              <p:cNvSpPr txBox="1"/>
              <p:nvPr/>
            </p:nvSpPr>
            <p:spPr>
              <a:xfrm>
                <a:off x="10696164" y="2358544"/>
                <a:ext cx="1301959" cy="464999"/>
              </a:xfrm>
              <a:prstGeom prst="rect">
                <a:avLst/>
              </a:prstGeom>
              <a:noFill/>
            </p:spPr>
            <p:txBody>
              <a:bodyPr wrap="square">
                <a:spAutoFit/>
              </a:bodyPr>
              <a:lstStyle/>
              <a:p>
                <a:r>
                  <a:rPr lang="en-US" sz="1200" dirty="0">
                    <a:solidFill>
                      <a:srgbClr val="000000"/>
                    </a:solidFill>
                  </a:rPr>
                  <a:t>E</a:t>
                </a:r>
                <a:r>
                  <a:rPr lang="en-US" sz="1200" b="0" i="0" u="none" strike="noStrike" dirty="0">
                    <a:solidFill>
                      <a:srgbClr val="000000"/>
                    </a:solidFill>
                    <a:effectLst/>
                  </a:rPr>
                  <a:t>xponential growth</a:t>
                </a:r>
                <a14:m>
                  <m:oMath xmlns:m="http://schemas.openxmlformats.org/officeDocument/2006/math">
                    <m:r>
                      <a:rPr lang="en-US" sz="1200" b="0" i="0" u="none" strike="noStrike" smtClean="0">
                        <a:solidFill>
                          <a:srgbClr val="000000"/>
                        </a:solidFill>
                        <a:effectLst/>
                        <a:latin typeface="Cambria Math" panose="02040503050406030204" pitchFamily="18" charset="0"/>
                      </a:rPr>
                      <m:t> </m:t>
                    </m:r>
                    <m:r>
                      <a:rPr lang="en-US" sz="1200" b="0" i="1" u="none" strike="noStrike" smtClean="0">
                        <a:solidFill>
                          <a:srgbClr val="000000"/>
                        </a:solidFill>
                        <a:effectLst/>
                        <a:latin typeface="Cambria Math" panose="02040503050406030204" pitchFamily="18" charset="0"/>
                      </a:rPr>
                      <m:t>(~</m:t>
                    </m:r>
                    <m:sSup>
                      <m:sSupPr>
                        <m:ctrlPr>
                          <a:rPr lang="en-US" sz="1200" b="0" i="1" u="none" strike="noStrike" smtClean="0">
                            <a:solidFill>
                              <a:srgbClr val="000000"/>
                            </a:solidFill>
                            <a:effectLst/>
                            <a:latin typeface="Cambria Math" panose="02040503050406030204" pitchFamily="18" charset="0"/>
                          </a:rPr>
                        </m:ctrlPr>
                      </m:sSupPr>
                      <m:e>
                        <m:r>
                          <a:rPr lang="en-US" sz="1200" b="0" i="1" u="none" strike="noStrike" smtClean="0">
                            <a:solidFill>
                              <a:srgbClr val="000000"/>
                            </a:solidFill>
                            <a:effectLst/>
                            <a:latin typeface="Cambria Math" panose="02040503050406030204" pitchFamily="18" charset="0"/>
                          </a:rPr>
                          <m:t>1.8</m:t>
                        </m:r>
                      </m:e>
                      <m:sup>
                        <m:r>
                          <a:rPr lang="en-US" sz="1200" b="0" i="1" u="none" strike="noStrike" smtClean="0">
                            <a:solidFill>
                              <a:srgbClr val="000000"/>
                            </a:solidFill>
                            <a:effectLst/>
                            <a:latin typeface="Cambria Math" panose="02040503050406030204" pitchFamily="18" charset="0"/>
                          </a:rPr>
                          <m:t>𝑁</m:t>
                        </m:r>
                      </m:sup>
                    </m:sSup>
                    <m:r>
                      <a:rPr lang="en-US" sz="1200" b="0" i="1" u="none" strike="noStrike" smtClean="0">
                        <a:solidFill>
                          <a:srgbClr val="000000"/>
                        </a:solidFill>
                        <a:effectLst/>
                        <a:latin typeface="Cambria Math" panose="02040503050406030204" pitchFamily="18" charset="0"/>
                      </a:rPr>
                      <m:t>)</m:t>
                    </m:r>
                  </m:oMath>
                </a14:m>
                <a:endParaRPr lang="en-US" sz="1200" dirty="0"/>
              </a:p>
            </p:txBody>
          </p:sp>
        </mc:Choice>
        <mc:Fallback xmlns="">
          <p:sp>
            <p:nvSpPr>
              <p:cNvPr id="12" name="TextBox 11">
                <a:extLst>
                  <a:ext uri="{FF2B5EF4-FFF2-40B4-BE49-F238E27FC236}">
                    <a16:creationId xmlns:a16="http://schemas.microsoft.com/office/drawing/2014/main" id="{318FF980-77D3-7DB8-1E32-28AD35DDB31B}"/>
                  </a:ext>
                </a:extLst>
              </p:cNvPr>
              <p:cNvSpPr txBox="1">
                <a:spLocks noRot="1" noChangeAspect="1" noMove="1" noResize="1" noEditPoints="1" noAdjustHandles="1" noChangeArrowheads="1" noChangeShapeType="1" noTextEdit="1"/>
              </p:cNvSpPr>
              <p:nvPr/>
            </p:nvSpPr>
            <p:spPr>
              <a:xfrm>
                <a:off x="10696164" y="2358544"/>
                <a:ext cx="1301959" cy="464999"/>
              </a:xfrm>
              <a:prstGeom prst="rect">
                <a:avLst/>
              </a:prstGeom>
              <a:blipFill>
                <a:blip r:embed="rId4"/>
                <a:stretch>
                  <a:fillRect b="-7895"/>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E0E32DFA-DA97-1161-4789-E30DAACF616F}"/>
              </a:ext>
            </a:extLst>
          </p:cNvPr>
          <p:cNvCxnSpPr>
            <a:endCxn id="12" idx="1"/>
          </p:cNvCxnSpPr>
          <p:nvPr/>
        </p:nvCxnSpPr>
        <p:spPr>
          <a:xfrm>
            <a:off x="9428278" y="2591043"/>
            <a:ext cx="1267886"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28970122"/>
      </p:ext>
    </p:extLst>
  </p:cSld>
  <p:clrMapOvr>
    <a:masterClrMapping/>
  </p:clrMapOvr>
  <mc:AlternateContent xmlns:mc="http://schemas.openxmlformats.org/markup-compatibility/2006" xmlns:p14="http://schemas.microsoft.com/office/powerpoint/2010/main">
    <mc:Choice Requires="p14">
      <p:transition spd="slow" p14:dur="2000" advTm="18878"/>
    </mc:Choice>
    <mc:Fallback xmlns="">
      <p:transition spd="slow" advTm="1887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1EB64-1049-EC1E-B38C-3C6659D3C90C}"/>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E6CFD97E-5F07-8557-DFBD-DD05EC1C998D}"/>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Slide Number Placeholder 3">
            <a:extLst>
              <a:ext uri="{FF2B5EF4-FFF2-40B4-BE49-F238E27FC236}">
                <a16:creationId xmlns:a16="http://schemas.microsoft.com/office/drawing/2014/main" id="{14831798-56E5-1A21-929E-E60C36FB5CA3}"/>
              </a:ext>
            </a:extLst>
          </p:cNvPr>
          <p:cNvSpPr>
            <a:spLocks noGrp="1"/>
          </p:cNvSpPr>
          <p:nvPr>
            <p:ph type="sldNum" sz="quarter" idx="12"/>
          </p:nvPr>
        </p:nvSpPr>
        <p:spPr>
          <a:xfrm>
            <a:off x="8673230" y="6335220"/>
            <a:ext cx="2743200" cy="365125"/>
          </a:xfrm>
        </p:spPr>
        <p:txBody>
          <a:bodyPr/>
          <a:lstStyle/>
          <a:p>
            <a:r>
              <a:rPr lang="en-IN" dirty="0"/>
              <a:t>4</a:t>
            </a:r>
          </a:p>
        </p:txBody>
      </p:sp>
      <p:sp>
        <p:nvSpPr>
          <p:cNvPr id="20" name="TextBox 19">
            <a:extLst>
              <a:ext uri="{FF2B5EF4-FFF2-40B4-BE49-F238E27FC236}">
                <a16:creationId xmlns:a16="http://schemas.microsoft.com/office/drawing/2014/main" id="{5C4ECB49-1A4D-7A84-CAA3-7A5250022E76}"/>
              </a:ext>
            </a:extLst>
          </p:cNvPr>
          <p:cNvSpPr txBox="1"/>
          <p:nvPr/>
        </p:nvSpPr>
        <p:spPr>
          <a:xfrm>
            <a:off x="484016" y="3853553"/>
            <a:ext cx="11244937" cy="1856086"/>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altLang="en-US" sz="2000" b="1" dirty="0">
                <a:solidFill>
                  <a:schemeClr val="accent1"/>
                </a:solidFill>
              </a:rPr>
              <a:t>Solution: </a:t>
            </a:r>
            <a:r>
              <a:rPr lang="en-US" altLang="en-US" sz="2000" dirty="0">
                <a:solidFill>
                  <a:srgbClr val="000000"/>
                </a:solidFill>
              </a:rPr>
              <a:t>Dynamic Programming</a:t>
            </a:r>
          </a:p>
          <a:p>
            <a:pPr lvl="1">
              <a:lnSpc>
                <a:spcPct val="200000"/>
              </a:lnSpc>
            </a:pPr>
            <a:r>
              <a:rPr lang="en-US" sz="2000" dirty="0"/>
              <a:t>Break the RNA into overlapping subsequences </a:t>
            </a:r>
            <a:r>
              <a:rPr lang="en-US" sz="2000" i="1" dirty="0"/>
              <a:t>(</a:t>
            </a:r>
            <a:r>
              <a:rPr lang="en-US" sz="2000" i="1" dirty="0" err="1"/>
              <a:t>i</a:t>
            </a:r>
            <a:r>
              <a:rPr lang="en-US" sz="2000" i="1" dirty="0"/>
              <a:t>, j) </a:t>
            </a:r>
            <a:r>
              <a:rPr lang="en-US" sz="2000" dirty="0"/>
              <a:t>and compute optimal energies bottom-up, from short intervals to the full sequence.</a:t>
            </a:r>
            <a:endParaRPr lang="en-US" altLang="en-US" sz="2000" i="1"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26D5DEFC-75B1-5CE9-8295-A3A7B605B92B}"/>
                  </a:ext>
                </a:extLst>
              </p:cNvPr>
              <p:cNvGraphicFramePr>
                <a:graphicFrameLocks noGrp="1"/>
              </p:cNvGraphicFramePr>
              <p:nvPr/>
            </p:nvGraphicFramePr>
            <p:xfrm>
              <a:off x="2408398" y="1643719"/>
              <a:ext cx="8128000" cy="1409065"/>
            </p:xfrm>
            <a:graphic>
              <a:graphicData uri="http://schemas.openxmlformats.org/drawingml/2006/table">
                <a:tbl>
                  <a:tblPr firstRow="1" bandRow="1">
                    <a:tableStyleId>{D7AC3CCA-C797-4891-BE02-D94E43425B78}</a:tableStyleId>
                  </a:tblPr>
                  <a:tblGrid>
                    <a:gridCol w="2985286">
                      <a:extLst>
                        <a:ext uri="{9D8B030D-6E8A-4147-A177-3AD203B41FA5}">
                          <a16:colId xmlns:a16="http://schemas.microsoft.com/office/drawing/2014/main" val="493158420"/>
                        </a:ext>
                      </a:extLst>
                    </a:gridCol>
                    <a:gridCol w="5142714">
                      <a:extLst>
                        <a:ext uri="{9D8B030D-6E8A-4147-A177-3AD203B41FA5}">
                          <a16:colId xmlns:a16="http://schemas.microsoft.com/office/drawing/2014/main" val="1709982306"/>
                        </a:ext>
                      </a:extLst>
                    </a:gridCol>
                  </a:tblGrid>
                  <a:tr h="370840">
                    <a:tc>
                      <a:txBody>
                        <a:bodyPr/>
                        <a:lstStyle/>
                        <a:p>
                          <a:pPr algn="ctr"/>
                          <a:r>
                            <a:rPr lang="en-US" sz="2000" dirty="0">
                              <a:solidFill>
                                <a:schemeClr val="tx1"/>
                              </a:solidFill>
                            </a:rPr>
                            <a:t>Sequence length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Number of possible secondary structures</a:t>
                          </a:r>
                        </a:p>
                      </a:txBody>
                      <a:tcPr/>
                    </a:tc>
                    <a:extLst>
                      <a:ext uri="{0D108BD9-81ED-4DB2-BD59-A6C34878D82A}">
                        <a16:rowId xmlns:a16="http://schemas.microsoft.com/office/drawing/2014/main" val="791678837"/>
                      </a:ext>
                    </a:extLst>
                  </a:tr>
                  <a:tr h="370840">
                    <a:tc>
                      <a:txBody>
                        <a:bodyPr/>
                        <a:lstStyle/>
                        <a:p>
                          <a:pPr algn="ctr"/>
                          <a:r>
                            <a:rPr lang="en-US" sz="2000" dirty="0"/>
                            <a:t>100</a:t>
                          </a:r>
                        </a:p>
                        <a:p>
                          <a:pPr algn="ctr"/>
                          <a:r>
                            <a:rPr lang="en-US" sz="2000" dirty="0"/>
                            <a:t>500</a:t>
                          </a:r>
                        </a:p>
                        <a:p>
                          <a:pPr algn="ctr"/>
                          <a:r>
                            <a:rPr lang="en-US" sz="2000" dirty="0"/>
                            <a:t>1000</a:t>
                          </a:r>
                        </a:p>
                      </a:txBody>
                      <a:tcPr/>
                    </a:tc>
                    <a:tc>
                      <a:txBody>
                        <a:bodyPr/>
                        <a:lstStyle/>
                        <a:p>
                          <a:pPr algn="ct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smtClean="0">
                                        <a:latin typeface="Cambria Math" panose="02040503050406030204" pitchFamily="18" charset="0"/>
                                      </a:rPr>
                                      <m:t>10</m:t>
                                    </m:r>
                                  </m:e>
                                  <m:sup>
                                    <m:r>
                                      <a:rPr lang="en-US" sz="2000" b="0" smtClean="0">
                                        <a:latin typeface="Cambria Math" panose="02040503050406030204" pitchFamily="18" charset="0"/>
                                      </a:rPr>
                                      <m:t>25</m:t>
                                    </m:r>
                                  </m:sup>
                                </m:sSup>
                              </m:oMath>
                            </m:oMathPara>
                          </a14:m>
                          <a:endParaRPr lang="en-US" sz="2000" dirty="0"/>
                        </a:p>
                        <a:p>
                          <a:pPr algn="ct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smtClean="0">
                                        <a:latin typeface="Cambria Math" panose="02040503050406030204" pitchFamily="18" charset="0"/>
                                      </a:rPr>
                                      <m:t>10</m:t>
                                    </m:r>
                                  </m:e>
                                  <m:sup>
                                    <m:r>
                                      <a:rPr lang="en-US" sz="2000" b="0" smtClean="0">
                                        <a:latin typeface="Cambria Math" panose="02040503050406030204" pitchFamily="18" charset="0"/>
                                      </a:rPr>
                                      <m:t>127</m:t>
                                    </m:r>
                                  </m:sup>
                                </m:sSup>
                              </m:oMath>
                            </m:oMathPara>
                          </a14:m>
                          <a:endParaRPr lang="en-US" sz="2000" b="0" dirty="0"/>
                        </a:p>
                        <a:p>
                          <a:pPr algn="ct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smtClean="0">
                                        <a:latin typeface="Cambria Math" panose="02040503050406030204" pitchFamily="18" charset="0"/>
                                      </a:rPr>
                                      <m:t>10</m:t>
                                    </m:r>
                                  </m:e>
                                  <m:sup>
                                    <m:r>
                                      <a:rPr lang="en-US" sz="2000" b="0" smtClean="0">
                                        <a:latin typeface="Cambria Math" panose="02040503050406030204" pitchFamily="18" charset="0"/>
                                      </a:rPr>
                                      <m:t>255</m:t>
                                    </m:r>
                                  </m:sup>
                                </m:sSup>
                              </m:oMath>
                            </m:oMathPara>
                          </a14:m>
                          <a:endParaRPr lang="en-US" sz="2000" dirty="0"/>
                        </a:p>
                      </a:txBody>
                      <a:tcPr/>
                    </a:tc>
                    <a:extLst>
                      <a:ext uri="{0D108BD9-81ED-4DB2-BD59-A6C34878D82A}">
                        <a16:rowId xmlns:a16="http://schemas.microsoft.com/office/drawing/2014/main" val="754180875"/>
                      </a:ext>
                    </a:extLst>
                  </a:tr>
                </a:tbl>
              </a:graphicData>
            </a:graphic>
          </p:graphicFrame>
        </mc:Choice>
        <mc:Fallback xmlns="">
          <p:graphicFrame>
            <p:nvGraphicFramePr>
              <p:cNvPr id="3" name="Table 2">
                <a:extLst>
                  <a:ext uri="{FF2B5EF4-FFF2-40B4-BE49-F238E27FC236}">
                    <a16:creationId xmlns:a16="http://schemas.microsoft.com/office/drawing/2014/main" id="{26D5DEFC-75B1-5CE9-8295-A3A7B605B92B}"/>
                  </a:ext>
                </a:extLst>
              </p:cNvPr>
              <p:cNvGraphicFramePr>
                <a:graphicFrameLocks noGrp="1"/>
              </p:cNvGraphicFramePr>
              <p:nvPr/>
            </p:nvGraphicFramePr>
            <p:xfrm>
              <a:off x="2408398" y="1643719"/>
              <a:ext cx="8128000" cy="1431862"/>
            </p:xfrm>
            <a:graphic>
              <a:graphicData uri="http://schemas.openxmlformats.org/drawingml/2006/table">
                <a:tbl>
                  <a:tblPr firstRow="1" bandRow="1">
                    <a:tableStyleId>{D7AC3CCA-C797-4891-BE02-D94E43425B78}</a:tableStyleId>
                  </a:tblPr>
                  <a:tblGrid>
                    <a:gridCol w="2985286">
                      <a:extLst>
                        <a:ext uri="{9D8B030D-6E8A-4147-A177-3AD203B41FA5}">
                          <a16:colId xmlns:a16="http://schemas.microsoft.com/office/drawing/2014/main" val="493158420"/>
                        </a:ext>
                      </a:extLst>
                    </a:gridCol>
                    <a:gridCol w="5142714">
                      <a:extLst>
                        <a:ext uri="{9D8B030D-6E8A-4147-A177-3AD203B41FA5}">
                          <a16:colId xmlns:a16="http://schemas.microsoft.com/office/drawing/2014/main" val="1709982306"/>
                        </a:ext>
                      </a:extLst>
                    </a:gridCol>
                  </a:tblGrid>
                  <a:tr h="396240">
                    <a:tc>
                      <a:txBody>
                        <a:bodyPr/>
                        <a:lstStyle/>
                        <a:p>
                          <a:pPr algn="ctr"/>
                          <a:r>
                            <a:rPr lang="en-US" sz="2000" dirty="0">
                              <a:solidFill>
                                <a:schemeClr val="tx1"/>
                              </a:solidFill>
                            </a:rPr>
                            <a:t>Sequence length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Number of possible secondary structures</a:t>
                          </a:r>
                        </a:p>
                      </a:txBody>
                      <a:tcPr/>
                    </a:tc>
                    <a:extLst>
                      <a:ext uri="{0D108BD9-81ED-4DB2-BD59-A6C34878D82A}">
                        <a16:rowId xmlns:a16="http://schemas.microsoft.com/office/drawing/2014/main" val="791678837"/>
                      </a:ext>
                    </a:extLst>
                  </a:tr>
                  <a:tr h="1035622">
                    <a:tc>
                      <a:txBody>
                        <a:bodyPr/>
                        <a:lstStyle/>
                        <a:p>
                          <a:pPr algn="ctr"/>
                          <a:r>
                            <a:rPr lang="en-US" sz="2000" dirty="0"/>
                            <a:t>100</a:t>
                          </a:r>
                        </a:p>
                        <a:p>
                          <a:pPr algn="ctr"/>
                          <a:r>
                            <a:rPr lang="en-US" sz="2000" dirty="0"/>
                            <a:t>500</a:t>
                          </a:r>
                        </a:p>
                        <a:p>
                          <a:pPr algn="ctr"/>
                          <a:r>
                            <a:rPr lang="en-US" sz="2000" dirty="0"/>
                            <a:t>1000</a:t>
                          </a:r>
                        </a:p>
                      </a:txBody>
                      <a:tcPr/>
                    </a:tc>
                    <a:tc>
                      <a:txBody>
                        <a:bodyPr/>
                        <a:lstStyle/>
                        <a:p>
                          <a:endParaRPr lang="en-US"/>
                        </a:p>
                      </a:txBody>
                      <a:tcPr>
                        <a:blipFill>
                          <a:blip r:embed="rId3"/>
                          <a:stretch>
                            <a:fillRect l="-57882" t="-42683" r="-246" b="-7317"/>
                          </a:stretch>
                        </a:blipFill>
                      </a:tcPr>
                    </a:tc>
                    <a:extLst>
                      <a:ext uri="{0D108BD9-81ED-4DB2-BD59-A6C34878D82A}">
                        <a16:rowId xmlns:a16="http://schemas.microsoft.com/office/drawing/2014/main" val="754180875"/>
                      </a:ext>
                    </a:extLst>
                  </a:tr>
                </a:tbl>
              </a:graphicData>
            </a:graphic>
          </p:graphicFrame>
        </mc:Fallback>
      </mc:AlternateContent>
      <p:sp>
        <p:nvSpPr>
          <p:cNvPr id="5" name="TextBox 4">
            <a:extLst>
              <a:ext uri="{FF2B5EF4-FFF2-40B4-BE49-F238E27FC236}">
                <a16:creationId xmlns:a16="http://schemas.microsoft.com/office/drawing/2014/main" id="{C7A6FBC4-7E3A-99A7-D6B7-1EF588B13707}"/>
              </a:ext>
            </a:extLst>
          </p:cNvPr>
          <p:cNvSpPr txBox="1"/>
          <p:nvPr/>
        </p:nvSpPr>
        <p:spPr>
          <a:xfrm>
            <a:off x="484016" y="1078539"/>
            <a:ext cx="6010575" cy="400110"/>
          </a:xfrm>
          <a:prstGeom prst="rect">
            <a:avLst/>
          </a:prstGeom>
          <a:noFill/>
        </p:spPr>
        <p:txBody>
          <a:bodyPr wrap="square">
            <a:spAutoFit/>
          </a:bodyPr>
          <a:lstStyle/>
          <a:p>
            <a:pPr marL="342900" indent="-342900">
              <a:buFont typeface="Arial" panose="020B0604020202020204" pitchFamily="34" charset="0"/>
              <a:buChar char="•"/>
            </a:pPr>
            <a:r>
              <a:rPr lang="en-US" sz="2000" b="1" dirty="0">
                <a:solidFill>
                  <a:srgbClr val="C00000"/>
                </a:solidFill>
              </a:rPr>
              <a:t>Challenge: </a:t>
            </a:r>
            <a:r>
              <a:rPr lang="en-US" sz="2000" dirty="0"/>
              <a:t>Too many structures to enumerate.</a:t>
            </a:r>
          </a:p>
        </p:txBody>
      </p:sp>
      <p:pic>
        <p:nvPicPr>
          <p:cNvPr id="9" name="Picture 8">
            <a:extLst>
              <a:ext uri="{FF2B5EF4-FFF2-40B4-BE49-F238E27FC236}">
                <a16:creationId xmlns:a16="http://schemas.microsoft.com/office/drawing/2014/main" id="{B5025F9D-4556-2061-6F8B-AC8E15A9B8E0}"/>
              </a:ext>
            </a:extLst>
          </p:cNvPr>
          <p:cNvPicPr>
            <a:picLocks noChangeAspect="1"/>
          </p:cNvPicPr>
          <p:nvPr/>
        </p:nvPicPr>
        <p:blipFill rotWithShape="1">
          <a:blip r:embed="rId4"/>
          <a:srcRect l="19046" t="38920" r="19956" b="31533"/>
          <a:stretch>
            <a:fillRect/>
          </a:stretch>
        </p:blipFill>
        <p:spPr>
          <a:xfrm>
            <a:off x="5356736" y="4103783"/>
            <a:ext cx="3839483" cy="464965"/>
          </a:xfrm>
          <a:prstGeom prst="rect">
            <a:avLst/>
          </a:prstGeom>
        </p:spPr>
      </p:pic>
      <p:sp>
        <p:nvSpPr>
          <p:cNvPr id="4" name="Rectangle 1">
            <a:extLst>
              <a:ext uri="{FF2B5EF4-FFF2-40B4-BE49-F238E27FC236}">
                <a16:creationId xmlns:a16="http://schemas.microsoft.com/office/drawing/2014/main" id="{583C0412-DD08-1CEF-4B86-8DB31F712FDB}"/>
              </a:ext>
            </a:extLst>
          </p:cNvPr>
          <p:cNvSpPr>
            <a:spLocks noChangeArrowheads="1"/>
          </p:cNvSpPr>
          <p:nvPr/>
        </p:nvSpPr>
        <p:spPr bwMode="auto">
          <a:xfrm>
            <a:off x="946673" y="300253"/>
            <a:ext cx="109081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C00000"/>
                </a:solidFill>
                <a:effectLst/>
              </a:rPr>
              <a:t>Goal:</a:t>
            </a:r>
            <a:r>
              <a:rPr kumimoji="0" lang="en-US" altLang="en-US" sz="3200" b="1" i="0" u="none" strike="noStrike" cap="none" normalizeH="0" baseline="0" dirty="0">
                <a:ln>
                  <a:noFill/>
                </a:ln>
                <a:solidFill>
                  <a:srgbClr val="C00000"/>
                </a:solidFill>
                <a:effectLst/>
                <a:latin typeface="-webkit-standard"/>
              </a:rPr>
              <a:t> Find the secondary structure with minimum free energy.</a:t>
            </a:r>
            <a:endParaRPr kumimoji="0" lang="en-US" altLang="en-US" sz="3200" b="1" i="0" u="none" strike="noStrike" cap="none" normalizeH="0" baseline="0" dirty="0">
              <a:ln>
                <a:noFill/>
              </a:ln>
              <a:solidFill>
                <a:srgbClr val="C00000"/>
              </a:solidFill>
              <a:effectLst/>
            </a:endParaRPr>
          </a:p>
        </p:txBody>
      </p:sp>
      <p:sp>
        <p:nvSpPr>
          <p:cNvPr id="10" name="TextBox 9">
            <a:extLst>
              <a:ext uri="{FF2B5EF4-FFF2-40B4-BE49-F238E27FC236}">
                <a16:creationId xmlns:a16="http://schemas.microsoft.com/office/drawing/2014/main" id="{C74C81CE-874F-191D-EAF4-16FC7EDC3A8D}"/>
              </a:ext>
            </a:extLst>
          </p:cNvPr>
          <p:cNvSpPr txBox="1"/>
          <p:nvPr/>
        </p:nvSpPr>
        <p:spPr>
          <a:xfrm>
            <a:off x="4188468" y="5998611"/>
            <a:ext cx="3815061" cy="625397"/>
          </a:xfrm>
          <a:prstGeom prst="rect">
            <a:avLst/>
          </a:prstGeom>
          <a:noFill/>
        </p:spPr>
        <p:txBody>
          <a:bodyPr wrap="square">
            <a:spAutoFit/>
          </a:bodyPr>
          <a:lstStyle/>
          <a:p>
            <a:pPr lvl="1">
              <a:lnSpc>
                <a:spcPct val="200000"/>
              </a:lnSpc>
            </a:pPr>
            <a:r>
              <a:rPr lang="en-US" altLang="en-US" sz="2000" dirty="0">
                <a:solidFill>
                  <a:srgbClr val="C00000"/>
                </a:solidFill>
              </a:rPr>
              <a:t>But how?? Next few slides.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C5B8639-7AA8-D09C-3DA2-3642CBF34766}"/>
                  </a:ext>
                </a:extLst>
              </p:cNvPr>
              <p:cNvSpPr txBox="1"/>
              <p:nvPr/>
            </p:nvSpPr>
            <p:spPr>
              <a:xfrm>
                <a:off x="10696164" y="2358544"/>
                <a:ext cx="1301959" cy="464999"/>
              </a:xfrm>
              <a:prstGeom prst="rect">
                <a:avLst/>
              </a:prstGeom>
              <a:noFill/>
            </p:spPr>
            <p:txBody>
              <a:bodyPr wrap="square">
                <a:spAutoFit/>
              </a:bodyPr>
              <a:lstStyle/>
              <a:p>
                <a:r>
                  <a:rPr lang="en-US" sz="1200" dirty="0">
                    <a:solidFill>
                      <a:srgbClr val="000000"/>
                    </a:solidFill>
                  </a:rPr>
                  <a:t>E</a:t>
                </a:r>
                <a:r>
                  <a:rPr lang="en-US" sz="1200" b="0" i="0" u="none" strike="noStrike" dirty="0">
                    <a:solidFill>
                      <a:srgbClr val="000000"/>
                    </a:solidFill>
                    <a:effectLst/>
                  </a:rPr>
                  <a:t>xponential growth</a:t>
                </a:r>
                <a14:m>
                  <m:oMath xmlns:m="http://schemas.openxmlformats.org/officeDocument/2006/math">
                    <m:r>
                      <a:rPr lang="en-US" sz="1200" b="0" i="0" u="none" strike="noStrike" smtClean="0">
                        <a:solidFill>
                          <a:srgbClr val="000000"/>
                        </a:solidFill>
                        <a:effectLst/>
                        <a:latin typeface="Cambria Math" panose="02040503050406030204" pitchFamily="18" charset="0"/>
                      </a:rPr>
                      <m:t> </m:t>
                    </m:r>
                    <m:r>
                      <a:rPr lang="en-US" sz="1200" b="0" i="1" u="none" strike="noStrike" smtClean="0">
                        <a:solidFill>
                          <a:srgbClr val="000000"/>
                        </a:solidFill>
                        <a:effectLst/>
                        <a:latin typeface="Cambria Math" panose="02040503050406030204" pitchFamily="18" charset="0"/>
                      </a:rPr>
                      <m:t>(~</m:t>
                    </m:r>
                    <m:sSup>
                      <m:sSupPr>
                        <m:ctrlPr>
                          <a:rPr lang="en-US" sz="1200" b="0" i="1" u="none" strike="noStrike" smtClean="0">
                            <a:solidFill>
                              <a:srgbClr val="000000"/>
                            </a:solidFill>
                            <a:effectLst/>
                            <a:latin typeface="Cambria Math" panose="02040503050406030204" pitchFamily="18" charset="0"/>
                          </a:rPr>
                        </m:ctrlPr>
                      </m:sSupPr>
                      <m:e>
                        <m:r>
                          <a:rPr lang="en-US" sz="1200" b="0" i="1" u="none" strike="noStrike" smtClean="0">
                            <a:solidFill>
                              <a:srgbClr val="000000"/>
                            </a:solidFill>
                            <a:effectLst/>
                            <a:latin typeface="Cambria Math" panose="02040503050406030204" pitchFamily="18" charset="0"/>
                          </a:rPr>
                          <m:t>1.8</m:t>
                        </m:r>
                      </m:e>
                      <m:sup>
                        <m:r>
                          <a:rPr lang="en-US" sz="1200" b="0" i="1" u="none" strike="noStrike" smtClean="0">
                            <a:solidFill>
                              <a:srgbClr val="000000"/>
                            </a:solidFill>
                            <a:effectLst/>
                            <a:latin typeface="Cambria Math" panose="02040503050406030204" pitchFamily="18" charset="0"/>
                          </a:rPr>
                          <m:t>𝑁</m:t>
                        </m:r>
                      </m:sup>
                    </m:sSup>
                    <m:r>
                      <a:rPr lang="en-US" sz="1200" b="0" i="1" u="none" strike="noStrike" smtClean="0">
                        <a:solidFill>
                          <a:srgbClr val="000000"/>
                        </a:solidFill>
                        <a:effectLst/>
                        <a:latin typeface="Cambria Math" panose="02040503050406030204" pitchFamily="18" charset="0"/>
                      </a:rPr>
                      <m:t>)</m:t>
                    </m:r>
                  </m:oMath>
                </a14:m>
                <a:endParaRPr lang="en-US" sz="1200" dirty="0"/>
              </a:p>
            </p:txBody>
          </p:sp>
        </mc:Choice>
        <mc:Fallback xmlns="">
          <p:sp>
            <p:nvSpPr>
              <p:cNvPr id="12" name="TextBox 11">
                <a:extLst>
                  <a:ext uri="{FF2B5EF4-FFF2-40B4-BE49-F238E27FC236}">
                    <a16:creationId xmlns:a16="http://schemas.microsoft.com/office/drawing/2014/main" id="{8C5B8639-7AA8-D09C-3DA2-3642CBF34766}"/>
                  </a:ext>
                </a:extLst>
              </p:cNvPr>
              <p:cNvSpPr txBox="1">
                <a:spLocks noRot="1" noChangeAspect="1" noMove="1" noResize="1" noEditPoints="1" noAdjustHandles="1" noChangeArrowheads="1" noChangeShapeType="1" noTextEdit="1"/>
              </p:cNvSpPr>
              <p:nvPr/>
            </p:nvSpPr>
            <p:spPr>
              <a:xfrm>
                <a:off x="10696164" y="2358544"/>
                <a:ext cx="1301959" cy="464999"/>
              </a:xfrm>
              <a:prstGeom prst="rect">
                <a:avLst/>
              </a:prstGeom>
              <a:blipFill>
                <a:blip r:embed="rId5"/>
                <a:stretch>
                  <a:fillRect b="-7895"/>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EC6A3ACE-2E99-C4B5-49F6-F58A659B5353}"/>
              </a:ext>
            </a:extLst>
          </p:cNvPr>
          <p:cNvCxnSpPr>
            <a:endCxn id="12" idx="1"/>
          </p:cNvCxnSpPr>
          <p:nvPr/>
        </p:nvCxnSpPr>
        <p:spPr>
          <a:xfrm>
            <a:off x="9428278" y="2591043"/>
            <a:ext cx="1267886"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31815895"/>
      </p:ext>
    </p:extLst>
  </p:cSld>
  <p:clrMapOvr>
    <a:masterClrMapping/>
  </p:clrMapOvr>
  <mc:AlternateContent xmlns:mc="http://schemas.openxmlformats.org/markup-compatibility/2006" xmlns:p14="http://schemas.microsoft.com/office/powerpoint/2010/main">
    <mc:Choice Requires="p14">
      <p:transition spd="slow" p14:dur="2000" advTm="24174"/>
    </mc:Choice>
    <mc:Fallback xmlns="">
      <p:transition spd="slow" advTm="2417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478A3-5682-A53D-2C98-FF53D812044A}"/>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2147CB9B-B657-A3DC-BB61-4B28FB4C9DE7}"/>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Rectangle 11">
            <a:extLst>
              <a:ext uri="{FF2B5EF4-FFF2-40B4-BE49-F238E27FC236}">
                <a16:creationId xmlns:a16="http://schemas.microsoft.com/office/drawing/2014/main" id="{8592D9CA-8B00-7297-DDCE-96B9CA80B86D}"/>
              </a:ext>
            </a:extLst>
          </p:cNvPr>
          <p:cNvSpPr/>
          <p:nvPr/>
        </p:nvSpPr>
        <p:spPr>
          <a:xfrm>
            <a:off x="981013" y="4470450"/>
            <a:ext cx="288987" cy="1706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B2204B9-6119-C59F-5E0D-18A7D05FD961}"/>
              </a:ext>
            </a:extLst>
          </p:cNvPr>
          <p:cNvSpPr txBox="1"/>
          <p:nvPr/>
        </p:nvSpPr>
        <p:spPr>
          <a:xfrm>
            <a:off x="842114" y="335831"/>
            <a:ext cx="10947141" cy="584775"/>
          </a:xfrm>
          <a:prstGeom prst="rect">
            <a:avLst/>
          </a:prstGeom>
          <a:noFill/>
        </p:spPr>
        <p:txBody>
          <a:bodyPr wrap="square" rtlCol="0">
            <a:spAutoFit/>
          </a:bodyPr>
          <a:lstStyle/>
          <a:p>
            <a:pPr algn="ctr"/>
            <a:r>
              <a:rPr lang="en-US" sz="3200" b="1" dirty="0">
                <a:solidFill>
                  <a:srgbClr val="C00000"/>
                </a:solidFill>
              </a:rPr>
              <a:t>RNA folding problem</a:t>
            </a:r>
          </a:p>
        </p:txBody>
      </p:sp>
      <p:sp>
        <p:nvSpPr>
          <p:cNvPr id="2" name="Slide Number Placeholder 3">
            <a:extLst>
              <a:ext uri="{FF2B5EF4-FFF2-40B4-BE49-F238E27FC236}">
                <a16:creationId xmlns:a16="http://schemas.microsoft.com/office/drawing/2014/main" id="{B1F828D7-811F-EB01-2F32-25F31A906D98}"/>
              </a:ext>
            </a:extLst>
          </p:cNvPr>
          <p:cNvSpPr>
            <a:spLocks noGrp="1"/>
          </p:cNvSpPr>
          <p:nvPr>
            <p:ph type="sldNum" sz="quarter" idx="12"/>
          </p:nvPr>
        </p:nvSpPr>
        <p:spPr>
          <a:xfrm>
            <a:off x="8673230" y="6335220"/>
            <a:ext cx="2743200" cy="365125"/>
          </a:xfrm>
        </p:spPr>
        <p:txBody>
          <a:bodyPr/>
          <a:lstStyle/>
          <a:p>
            <a:r>
              <a:rPr lang="en-IN" dirty="0"/>
              <a:t>6</a:t>
            </a:r>
          </a:p>
        </p:txBody>
      </p:sp>
      <p:sp>
        <p:nvSpPr>
          <p:cNvPr id="26" name="TextBox 25">
            <a:extLst>
              <a:ext uri="{FF2B5EF4-FFF2-40B4-BE49-F238E27FC236}">
                <a16:creationId xmlns:a16="http://schemas.microsoft.com/office/drawing/2014/main" id="{D03A128E-5FD8-45D3-E95E-9E9E234CF020}"/>
              </a:ext>
            </a:extLst>
          </p:cNvPr>
          <p:cNvSpPr txBox="1"/>
          <p:nvPr/>
        </p:nvSpPr>
        <p:spPr>
          <a:xfrm>
            <a:off x="1275641" y="4764374"/>
            <a:ext cx="3281460" cy="400109"/>
          </a:xfrm>
          <a:prstGeom prst="rect">
            <a:avLst/>
          </a:prstGeom>
          <a:noFill/>
          <a:ln>
            <a:solidFill>
              <a:schemeClr val="tx1"/>
            </a:solidFill>
          </a:ln>
        </p:spPr>
        <p:txBody>
          <a:bodyPr wrap="square">
            <a:spAutoFit/>
          </a:bodyPr>
          <a:lstStyle/>
          <a:p>
            <a:pPr algn="ctr"/>
            <a:r>
              <a:rPr lang="en-US" sz="2000" dirty="0"/>
              <a:t>RNA sequence</a:t>
            </a:r>
          </a:p>
        </p:txBody>
      </p:sp>
      <p:cxnSp>
        <p:nvCxnSpPr>
          <p:cNvPr id="30" name="Straight Arrow Connector 29">
            <a:extLst>
              <a:ext uri="{FF2B5EF4-FFF2-40B4-BE49-F238E27FC236}">
                <a16:creationId xmlns:a16="http://schemas.microsoft.com/office/drawing/2014/main" id="{12EE46DC-7817-6C9B-9521-B81C9E671782}"/>
              </a:ext>
            </a:extLst>
          </p:cNvPr>
          <p:cNvCxnSpPr>
            <a:cxnSpLocks/>
          </p:cNvCxnSpPr>
          <p:nvPr/>
        </p:nvCxnSpPr>
        <p:spPr>
          <a:xfrm>
            <a:off x="5153757" y="5345429"/>
            <a:ext cx="23238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DA7EE47A-5DFD-D3DF-EC28-9D494A9AAC79}"/>
              </a:ext>
            </a:extLst>
          </p:cNvPr>
          <p:cNvSpPr txBox="1"/>
          <p:nvPr/>
        </p:nvSpPr>
        <p:spPr>
          <a:xfrm>
            <a:off x="7477611" y="5025414"/>
            <a:ext cx="3429331" cy="707886"/>
          </a:xfrm>
          <a:prstGeom prst="rect">
            <a:avLst/>
          </a:prstGeom>
          <a:noFill/>
          <a:ln>
            <a:solidFill>
              <a:schemeClr val="tx1"/>
            </a:solidFill>
          </a:ln>
        </p:spPr>
        <p:txBody>
          <a:bodyPr wrap="square">
            <a:spAutoFit/>
          </a:bodyPr>
          <a:lstStyle/>
          <a:p>
            <a:pPr algn="ctr"/>
            <a:r>
              <a:rPr lang="en-US" sz="2000" dirty="0"/>
              <a:t>Structure with </a:t>
            </a:r>
            <a:r>
              <a:rPr lang="en-US" sz="2000" dirty="0">
                <a:solidFill>
                  <a:srgbClr val="C00000"/>
                </a:solidFill>
              </a:rPr>
              <a:t>maximum </a:t>
            </a:r>
            <a:r>
              <a:rPr lang="en-US" sz="2000" dirty="0"/>
              <a:t>number of base pairs</a:t>
            </a:r>
          </a:p>
        </p:txBody>
      </p:sp>
      <p:sp>
        <p:nvSpPr>
          <p:cNvPr id="32" name="TextBox 31">
            <a:extLst>
              <a:ext uri="{FF2B5EF4-FFF2-40B4-BE49-F238E27FC236}">
                <a16:creationId xmlns:a16="http://schemas.microsoft.com/office/drawing/2014/main" id="{4CCC131E-9777-4D44-06C6-A93C1BBF2D22}"/>
              </a:ext>
            </a:extLst>
          </p:cNvPr>
          <p:cNvSpPr txBox="1"/>
          <p:nvPr/>
        </p:nvSpPr>
        <p:spPr>
          <a:xfrm>
            <a:off x="5153757" y="4208196"/>
            <a:ext cx="1842999" cy="707886"/>
          </a:xfrm>
          <a:prstGeom prst="rect">
            <a:avLst/>
          </a:prstGeom>
          <a:noFill/>
          <a:ln>
            <a:solidFill>
              <a:schemeClr val="tx1"/>
            </a:solidFill>
            <a:prstDash val="dash"/>
          </a:ln>
        </p:spPr>
        <p:txBody>
          <a:bodyPr wrap="square">
            <a:spAutoFit/>
          </a:bodyPr>
          <a:lstStyle/>
          <a:p>
            <a:pPr algn="ctr"/>
            <a:r>
              <a:rPr lang="en-US" sz="2000" dirty="0"/>
              <a:t>Dynamic programming</a:t>
            </a:r>
          </a:p>
        </p:txBody>
      </p:sp>
      <p:sp>
        <p:nvSpPr>
          <p:cNvPr id="33" name="TextBox 32">
            <a:extLst>
              <a:ext uri="{FF2B5EF4-FFF2-40B4-BE49-F238E27FC236}">
                <a16:creationId xmlns:a16="http://schemas.microsoft.com/office/drawing/2014/main" id="{B7072047-A697-30D5-97E3-CBB2B789E205}"/>
              </a:ext>
            </a:extLst>
          </p:cNvPr>
          <p:cNvSpPr txBox="1"/>
          <p:nvPr/>
        </p:nvSpPr>
        <p:spPr>
          <a:xfrm>
            <a:off x="1270000" y="5515641"/>
            <a:ext cx="3281436" cy="400109"/>
          </a:xfrm>
          <a:prstGeom prst="rect">
            <a:avLst/>
          </a:prstGeom>
          <a:noFill/>
          <a:ln>
            <a:solidFill>
              <a:schemeClr val="tx1"/>
            </a:solidFill>
          </a:ln>
        </p:spPr>
        <p:txBody>
          <a:bodyPr wrap="square">
            <a:spAutoFit/>
          </a:bodyPr>
          <a:lstStyle/>
          <a:p>
            <a:pPr algn="ctr"/>
            <a:r>
              <a:rPr lang="en-US" sz="2000" strike="sngStrike" dirty="0"/>
              <a:t>Thermodynamic parameters</a:t>
            </a:r>
          </a:p>
        </p:txBody>
      </p:sp>
      <p:cxnSp>
        <p:nvCxnSpPr>
          <p:cNvPr id="34" name="Straight Arrow Connector 33">
            <a:extLst>
              <a:ext uri="{FF2B5EF4-FFF2-40B4-BE49-F238E27FC236}">
                <a16:creationId xmlns:a16="http://schemas.microsoft.com/office/drawing/2014/main" id="{9784AAC0-7D2D-8895-F779-EB437990DCE9}"/>
              </a:ext>
            </a:extLst>
          </p:cNvPr>
          <p:cNvCxnSpPr>
            <a:cxnSpLocks/>
            <a:stCxn id="32" idx="2"/>
          </p:cNvCxnSpPr>
          <p:nvPr/>
        </p:nvCxnSpPr>
        <p:spPr>
          <a:xfrm>
            <a:off x="6075257" y="4916082"/>
            <a:ext cx="0" cy="4293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Elbow Connector 34">
            <a:extLst>
              <a:ext uri="{FF2B5EF4-FFF2-40B4-BE49-F238E27FC236}">
                <a16:creationId xmlns:a16="http://schemas.microsoft.com/office/drawing/2014/main" id="{78CF2E5A-A62D-34F1-9D82-A43A9D6D903B}"/>
              </a:ext>
            </a:extLst>
          </p:cNvPr>
          <p:cNvCxnSpPr>
            <a:stCxn id="26" idx="3"/>
          </p:cNvCxnSpPr>
          <p:nvPr/>
        </p:nvCxnSpPr>
        <p:spPr>
          <a:xfrm>
            <a:off x="4557101" y="4964429"/>
            <a:ext cx="826049" cy="38100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6" name="Elbow Connector 35">
            <a:extLst>
              <a:ext uri="{FF2B5EF4-FFF2-40B4-BE49-F238E27FC236}">
                <a16:creationId xmlns:a16="http://schemas.microsoft.com/office/drawing/2014/main" id="{92377F8A-91EC-4684-3E32-47CA43A71E96}"/>
              </a:ext>
            </a:extLst>
          </p:cNvPr>
          <p:cNvCxnSpPr>
            <a:stCxn id="33" idx="3"/>
          </p:cNvCxnSpPr>
          <p:nvPr/>
        </p:nvCxnSpPr>
        <p:spPr>
          <a:xfrm flipV="1">
            <a:off x="4551436" y="5345429"/>
            <a:ext cx="831714" cy="370267"/>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61570990-82D2-ACC4-93C0-8769288BCBA4}"/>
              </a:ext>
            </a:extLst>
          </p:cNvPr>
          <p:cNvSpPr txBox="1"/>
          <p:nvPr/>
        </p:nvSpPr>
        <p:spPr>
          <a:xfrm>
            <a:off x="1275641" y="2140040"/>
            <a:ext cx="3281460" cy="400109"/>
          </a:xfrm>
          <a:prstGeom prst="rect">
            <a:avLst/>
          </a:prstGeom>
          <a:noFill/>
          <a:ln>
            <a:solidFill>
              <a:schemeClr val="tx1"/>
            </a:solidFill>
          </a:ln>
        </p:spPr>
        <p:txBody>
          <a:bodyPr wrap="square">
            <a:spAutoFit/>
          </a:bodyPr>
          <a:lstStyle/>
          <a:p>
            <a:pPr algn="ctr"/>
            <a:r>
              <a:rPr lang="en-US" sz="2000" dirty="0"/>
              <a:t>RNA sequence</a:t>
            </a:r>
          </a:p>
        </p:txBody>
      </p:sp>
      <p:cxnSp>
        <p:nvCxnSpPr>
          <p:cNvPr id="4" name="Straight Arrow Connector 3">
            <a:extLst>
              <a:ext uri="{FF2B5EF4-FFF2-40B4-BE49-F238E27FC236}">
                <a16:creationId xmlns:a16="http://schemas.microsoft.com/office/drawing/2014/main" id="{63DE2F27-93CB-3EC9-1C2A-B318E76680C7}"/>
              </a:ext>
            </a:extLst>
          </p:cNvPr>
          <p:cNvCxnSpPr>
            <a:cxnSpLocks/>
          </p:cNvCxnSpPr>
          <p:nvPr/>
        </p:nvCxnSpPr>
        <p:spPr>
          <a:xfrm>
            <a:off x="5153757" y="2721095"/>
            <a:ext cx="23238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6CA67AA-F412-C64A-95C5-219C13768B4A}"/>
              </a:ext>
            </a:extLst>
          </p:cNvPr>
          <p:cNvSpPr txBox="1"/>
          <p:nvPr/>
        </p:nvSpPr>
        <p:spPr>
          <a:xfrm>
            <a:off x="7477611" y="2385527"/>
            <a:ext cx="3281421" cy="707886"/>
          </a:xfrm>
          <a:prstGeom prst="rect">
            <a:avLst/>
          </a:prstGeom>
          <a:noFill/>
          <a:ln>
            <a:solidFill>
              <a:schemeClr val="tx1"/>
            </a:solidFill>
          </a:ln>
        </p:spPr>
        <p:txBody>
          <a:bodyPr wrap="square">
            <a:spAutoFit/>
          </a:bodyPr>
          <a:lstStyle/>
          <a:p>
            <a:pPr algn="ctr"/>
            <a:r>
              <a:rPr lang="en-US" sz="2000" dirty="0"/>
              <a:t>Structure with </a:t>
            </a:r>
            <a:r>
              <a:rPr lang="en-US" sz="2000" dirty="0">
                <a:solidFill>
                  <a:srgbClr val="C00000"/>
                </a:solidFill>
              </a:rPr>
              <a:t>minimum </a:t>
            </a:r>
            <a:r>
              <a:rPr lang="en-US" sz="2000" dirty="0"/>
              <a:t>free energy</a:t>
            </a:r>
          </a:p>
        </p:txBody>
      </p:sp>
      <p:sp>
        <p:nvSpPr>
          <p:cNvPr id="6" name="TextBox 5">
            <a:extLst>
              <a:ext uri="{FF2B5EF4-FFF2-40B4-BE49-F238E27FC236}">
                <a16:creationId xmlns:a16="http://schemas.microsoft.com/office/drawing/2014/main" id="{1F2898CD-AEF5-BD60-39EE-AED0E9E0F39D}"/>
              </a:ext>
            </a:extLst>
          </p:cNvPr>
          <p:cNvSpPr txBox="1"/>
          <p:nvPr/>
        </p:nvSpPr>
        <p:spPr>
          <a:xfrm>
            <a:off x="5153757" y="1583862"/>
            <a:ext cx="1842999" cy="707886"/>
          </a:xfrm>
          <a:prstGeom prst="rect">
            <a:avLst/>
          </a:prstGeom>
          <a:noFill/>
          <a:ln>
            <a:solidFill>
              <a:schemeClr val="tx1"/>
            </a:solidFill>
            <a:prstDash val="dash"/>
          </a:ln>
        </p:spPr>
        <p:txBody>
          <a:bodyPr wrap="square">
            <a:spAutoFit/>
          </a:bodyPr>
          <a:lstStyle/>
          <a:p>
            <a:pPr algn="ctr"/>
            <a:r>
              <a:rPr lang="en-US" sz="2000" dirty="0"/>
              <a:t>Dynamic programming</a:t>
            </a:r>
          </a:p>
        </p:txBody>
      </p:sp>
      <p:sp>
        <p:nvSpPr>
          <p:cNvPr id="7" name="TextBox 6">
            <a:extLst>
              <a:ext uri="{FF2B5EF4-FFF2-40B4-BE49-F238E27FC236}">
                <a16:creationId xmlns:a16="http://schemas.microsoft.com/office/drawing/2014/main" id="{1D7903BB-C87E-87A1-942D-2020328650A6}"/>
              </a:ext>
            </a:extLst>
          </p:cNvPr>
          <p:cNvSpPr txBox="1"/>
          <p:nvPr/>
        </p:nvSpPr>
        <p:spPr>
          <a:xfrm>
            <a:off x="1270000" y="2891307"/>
            <a:ext cx="3281436" cy="400109"/>
          </a:xfrm>
          <a:prstGeom prst="rect">
            <a:avLst/>
          </a:prstGeom>
          <a:noFill/>
          <a:ln>
            <a:solidFill>
              <a:schemeClr val="tx1"/>
            </a:solidFill>
          </a:ln>
        </p:spPr>
        <p:txBody>
          <a:bodyPr wrap="square">
            <a:spAutoFit/>
          </a:bodyPr>
          <a:lstStyle/>
          <a:p>
            <a:pPr algn="ctr"/>
            <a:r>
              <a:rPr lang="en-US" sz="2000" dirty="0"/>
              <a:t>Thermodynamic parameters</a:t>
            </a:r>
          </a:p>
        </p:txBody>
      </p:sp>
      <p:cxnSp>
        <p:nvCxnSpPr>
          <p:cNvPr id="8" name="Straight Arrow Connector 7">
            <a:extLst>
              <a:ext uri="{FF2B5EF4-FFF2-40B4-BE49-F238E27FC236}">
                <a16:creationId xmlns:a16="http://schemas.microsoft.com/office/drawing/2014/main" id="{292C924A-994F-2765-0F8D-091A84B74EF9}"/>
              </a:ext>
            </a:extLst>
          </p:cNvPr>
          <p:cNvCxnSpPr>
            <a:cxnSpLocks/>
            <a:stCxn id="6" idx="2"/>
          </p:cNvCxnSpPr>
          <p:nvPr/>
        </p:nvCxnSpPr>
        <p:spPr>
          <a:xfrm>
            <a:off x="6075257" y="2291748"/>
            <a:ext cx="0" cy="4293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Elbow Connector 8">
            <a:extLst>
              <a:ext uri="{FF2B5EF4-FFF2-40B4-BE49-F238E27FC236}">
                <a16:creationId xmlns:a16="http://schemas.microsoft.com/office/drawing/2014/main" id="{6251AD6D-E186-2842-55BE-C0CA6AA064EE}"/>
              </a:ext>
            </a:extLst>
          </p:cNvPr>
          <p:cNvCxnSpPr>
            <a:stCxn id="3" idx="3"/>
          </p:cNvCxnSpPr>
          <p:nvPr/>
        </p:nvCxnSpPr>
        <p:spPr>
          <a:xfrm>
            <a:off x="4557101" y="2340095"/>
            <a:ext cx="826049" cy="38100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0" name="Elbow Connector 9">
            <a:extLst>
              <a:ext uri="{FF2B5EF4-FFF2-40B4-BE49-F238E27FC236}">
                <a16:creationId xmlns:a16="http://schemas.microsoft.com/office/drawing/2014/main" id="{FFED69D5-634B-C088-16A8-2C4E23DE5068}"/>
              </a:ext>
            </a:extLst>
          </p:cNvPr>
          <p:cNvCxnSpPr>
            <a:stCxn id="7" idx="3"/>
          </p:cNvCxnSpPr>
          <p:nvPr/>
        </p:nvCxnSpPr>
        <p:spPr>
          <a:xfrm flipV="1">
            <a:off x="4551436" y="2721095"/>
            <a:ext cx="831714" cy="370267"/>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77AA878-B847-75F3-78B4-4B810B8813E5}"/>
              </a:ext>
            </a:extLst>
          </p:cNvPr>
          <p:cNvSpPr txBox="1"/>
          <p:nvPr/>
        </p:nvSpPr>
        <p:spPr>
          <a:xfrm>
            <a:off x="556078" y="3688269"/>
            <a:ext cx="5519178" cy="400110"/>
          </a:xfrm>
          <a:prstGeom prst="rect">
            <a:avLst/>
          </a:prstGeom>
          <a:noFill/>
        </p:spPr>
        <p:txBody>
          <a:bodyPr wrap="square" rtlCol="0">
            <a:spAutoFit/>
          </a:bodyPr>
          <a:lstStyle/>
          <a:p>
            <a:r>
              <a:rPr lang="en-US" sz="2000" b="1" dirty="0"/>
              <a:t>Let us start with a simplified folding model</a:t>
            </a:r>
          </a:p>
        </p:txBody>
      </p:sp>
    </p:spTree>
    <p:extLst>
      <p:ext uri="{BB962C8B-B14F-4D97-AF65-F5344CB8AC3E}">
        <p14:creationId xmlns:p14="http://schemas.microsoft.com/office/powerpoint/2010/main" val="124933677"/>
      </p:ext>
    </p:extLst>
  </p:cSld>
  <p:clrMapOvr>
    <a:masterClrMapping/>
  </p:clrMapOvr>
  <mc:AlternateContent xmlns:mc="http://schemas.openxmlformats.org/markup-compatibility/2006" xmlns:p14="http://schemas.microsoft.com/office/powerpoint/2010/main">
    <mc:Choice Requires="p14">
      <p:transition spd="slow" p14:dur="2000" advTm="46327"/>
    </mc:Choice>
    <mc:Fallback xmlns="">
      <p:transition spd="slow" advTm="4632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E7A38-65D8-693B-1AF4-F1995324FAA7}"/>
            </a:ext>
          </a:extLst>
        </p:cNvPr>
        <p:cNvGrpSpPr/>
        <p:nvPr/>
      </p:nvGrpSpPr>
      <p:grpSpPr>
        <a:xfrm>
          <a:off x="0" y="0"/>
          <a:ext cx="0" cy="0"/>
          <a:chOff x="0" y="0"/>
          <a:chExt cx="0" cy="0"/>
        </a:xfrm>
      </p:grpSpPr>
      <p:pic>
        <p:nvPicPr>
          <p:cNvPr id="18" name="Picture 17" descr="A diagram of a line with dots and letters&#10;&#10;AI-generated content may be incorrect.">
            <a:extLst>
              <a:ext uri="{FF2B5EF4-FFF2-40B4-BE49-F238E27FC236}">
                <a16:creationId xmlns:a16="http://schemas.microsoft.com/office/drawing/2014/main" id="{3E14EE7A-67FE-0BCE-9DD1-DE50A99A9F17}"/>
              </a:ext>
            </a:extLst>
          </p:cNvPr>
          <p:cNvPicPr>
            <a:picLocks noChangeAspect="1"/>
          </p:cNvPicPr>
          <p:nvPr/>
        </p:nvPicPr>
        <p:blipFill>
          <a:blip r:embed="rId3">
            <a:extLst>
              <a:ext uri="{28A0092B-C50C-407E-A947-70E740481C1C}">
                <a14:useLocalDpi xmlns:a14="http://schemas.microsoft.com/office/drawing/2010/main" val="0"/>
              </a:ext>
            </a:extLst>
          </a:blip>
          <a:srcRect b="51205"/>
          <a:stretch>
            <a:fillRect/>
          </a:stretch>
        </p:blipFill>
        <p:spPr>
          <a:xfrm>
            <a:off x="3183738" y="2006111"/>
            <a:ext cx="1821493" cy="1202946"/>
          </a:xfrm>
          <a:prstGeom prst="rect">
            <a:avLst/>
          </a:prstGeom>
        </p:spPr>
      </p:pic>
      <p:sp>
        <p:nvSpPr>
          <p:cNvPr id="17" name="Rectangle 16">
            <a:extLst>
              <a:ext uri="{FF2B5EF4-FFF2-40B4-BE49-F238E27FC236}">
                <a16:creationId xmlns:a16="http://schemas.microsoft.com/office/drawing/2014/main" id="{0811E1A0-6061-65C5-BCF8-39B7C7F65C26}"/>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Rectangle 11">
            <a:extLst>
              <a:ext uri="{FF2B5EF4-FFF2-40B4-BE49-F238E27FC236}">
                <a16:creationId xmlns:a16="http://schemas.microsoft.com/office/drawing/2014/main" id="{AED0B3F2-67CF-64C1-660D-08882A08D32C}"/>
              </a:ext>
            </a:extLst>
          </p:cNvPr>
          <p:cNvSpPr/>
          <p:nvPr/>
        </p:nvSpPr>
        <p:spPr>
          <a:xfrm>
            <a:off x="981013" y="4470450"/>
            <a:ext cx="288987" cy="1706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BFB2176-61DD-B111-D128-376AF4D0BB5E}"/>
              </a:ext>
            </a:extLst>
          </p:cNvPr>
          <p:cNvSpPr txBox="1"/>
          <p:nvPr/>
        </p:nvSpPr>
        <p:spPr>
          <a:xfrm>
            <a:off x="1401446" y="305014"/>
            <a:ext cx="10014984" cy="584775"/>
          </a:xfrm>
          <a:prstGeom prst="rect">
            <a:avLst/>
          </a:prstGeom>
          <a:noFill/>
        </p:spPr>
        <p:txBody>
          <a:bodyPr wrap="square" rtlCol="0">
            <a:spAutoFit/>
          </a:bodyPr>
          <a:lstStyle/>
          <a:p>
            <a:pPr algn="ctr"/>
            <a:r>
              <a:rPr lang="en-US" sz="3200" b="1" dirty="0">
                <a:solidFill>
                  <a:srgbClr val="C00000"/>
                </a:solidFill>
              </a:rPr>
              <a:t>RNA folding assumption</a:t>
            </a:r>
          </a:p>
        </p:txBody>
      </p:sp>
      <p:sp>
        <p:nvSpPr>
          <p:cNvPr id="2" name="Slide Number Placeholder 3">
            <a:extLst>
              <a:ext uri="{FF2B5EF4-FFF2-40B4-BE49-F238E27FC236}">
                <a16:creationId xmlns:a16="http://schemas.microsoft.com/office/drawing/2014/main" id="{60F16520-4727-A14A-5F46-018048746172}"/>
              </a:ext>
            </a:extLst>
          </p:cNvPr>
          <p:cNvSpPr>
            <a:spLocks noGrp="1"/>
          </p:cNvSpPr>
          <p:nvPr>
            <p:ph type="sldNum" sz="quarter" idx="12"/>
          </p:nvPr>
        </p:nvSpPr>
        <p:spPr>
          <a:xfrm>
            <a:off x="8673230" y="6335220"/>
            <a:ext cx="2743200" cy="365125"/>
          </a:xfrm>
        </p:spPr>
        <p:txBody>
          <a:bodyPr/>
          <a:lstStyle/>
          <a:p>
            <a:r>
              <a:rPr lang="en-IN" dirty="0"/>
              <a:t>5</a:t>
            </a:r>
          </a:p>
        </p:txBody>
      </p:sp>
      <p:sp>
        <p:nvSpPr>
          <p:cNvPr id="15" name="TextBox 14">
            <a:extLst>
              <a:ext uri="{FF2B5EF4-FFF2-40B4-BE49-F238E27FC236}">
                <a16:creationId xmlns:a16="http://schemas.microsoft.com/office/drawing/2014/main" id="{CDACE19D-DA24-63C5-011F-7288A7A270C4}"/>
              </a:ext>
            </a:extLst>
          </p:cNvPr>
          <p:cNvSpPr txBox="1"/>
          <p:nvPr/>
        </p:nvSpPr>
        <p:spPr>
          <a:xfrm>
            <a:off x="1550450" y="1136184"/>
            <a:ext cx="9104238" cy="1240532"/>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sz="2000" dirty="0"/>
              <a:t>For base-paired positions (</a:t>
            </a:r>
            <a:r>
              <a:rPr lang="en-US" sz="2000" i="1" dirty="0" err="1"/>
              <a:t>i</a:t>
            </a:r>
            <a:r>
              <a:rPr lang="en-US" sz="2000" i="1" dirty="0"/>
              <a:t>, </a:t>
            </a:r>
            <a:r>
              <a:rPr lang="en-US" sz="2000" i="1" dirty="0" err="1"/>
              <a:t>i</a:t>
            </a:r>
            <a:r>
              <a:rPr lang="en-US" sz="2000" i="1" dirty="0"/>
              <a:t>’) </a:t>
            </a:r>
            <a:r>
              <a:rPr lang="en-US" sz="2000" dirty="0"/>
              <a:t>and (</a:t>
            </a:r>
            <a:r>
              <a:rPr lang="en-US" sz="2000" i="1" dirty="0"/>
              <a:t>j, j’)</a:t>
            </a:r>
            <a:r>
              <a:rPr lang="en-US" sz="2000" dirty="0"/>
              <a:t>, we must have either</a:t>
            </a:r>
          </a:p>
          <a:p>
            <a:pPr algn="ctr">
              <a:lnSpc>
                <a:spcPct val="200000"/>
              </a:lnSpc>
            </a:pPr>
            <a:endParaRPr lang="en-US" sz="2000" dirty="0"/>
          </a:p>
        </p:txBody>
      </p:sp>
      <p:pic>
        <p:nvPicPr>
          <p:cNvPr id="25" name="Picture 24" descr="A no connection sign&#10;&#10;AI-generated content may be incorrect.">
            <a:extLst>
              <a:ext uri="{FF2B5EF4-FFF2-40B4-BE49-F238E27FC236}">
                <a16:creationId xmlns:a16="http://schemas.microsoft.com/office/drawing/2014/main" id="{3A9AA77A-94C6-06D4-4EE4-2CFE009E0A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9123" y="4627137"/>
            <a:ext cx="1702325" cy="1632558"/>
          </a:xfrm>
          <a:prstGeom prst="rect">
            <a:avLst/>
          </a:prstGeom>
        </p:spPr>
      </p:pic>
      <p:sp>
        <p:nvSpPr>
          <p:cNvPr id="28" name="TextBox 27">
            <a:extLst>
              <a:ext uri="{FF2B5EF4-FFF2-40B4-BE49-F238E27FC236}">
                <a16:creationId xmlns:a16="http://schemas.microsoft.com/office/drawing/2014/main" id="{2424D9B1-126C-E9F6-6F6E-4B8F3F18BD62}"/>
              </a:ext>
            </a:extLst>
          </p:cNvPr>
          <p:cNvSpPr txBox="1"/>
          <p:nvPr/>
        </p:nvSpPr>
        <p:spPr>
          <a:xfrm>
            <a:off x="1598118" y="4160783"/>
            <a:ext cx="6100174" cy="400110"/>
          </a:xfrm>
          <a:prstGeom prst="rect">
            <a:avLst/>
          </a:prstGeom>
          <a:noFill/>
        </p:spPr>
        <p:txBody>
          <a:bodyPr wrap="square">
            <a:spAutoFit/>
          </a:bodyPr>
          <a:lstStyle/>
          <a:p>
            <a:pPr marL="342900" indent="-342900">
              <a:buFont typeface="Arial" panose="020B0604020202020204" pitchFamily="34" charset="0"/>
              <a:buChar char="•"/>
            </a:pPr>
            <a:r>
              <a:rPr lang="en-US" sz="2000" dirty="0"/>
              <a:t>Can’t have</a:t>
            </a:r>
          </a:p>
        </p:txBody>
      </p:sp>
      <p:sp>
        <p:nvSpPr>
          <p:cNvPr id="38" name="TextBox 37">
            <a:extLst>
              <a:ext uri="{FF2B5EF4-FFF2-40B4-BE49-F238E27FC236}">
                <a16:creationId xmlns:a16="http://schemas.microsoft.com/office/drawing/2014/main" id="{D350982C-5378-F0CF-9662-7A5A52044A38}"/>
              </a:ext>
            </a:extLst>
          </p:cNvPr>
          <p:cNvSpPr txBox="1"/>
          <p:nvPr/>
        </p:nvSpPr>
        <p:spPr>
          <a:xfrm>
            <a:off x="5175736" y="2846480"/>
            <a:ext cx="6100174" cy="624979"/>
          </a:xfrm>
          <a:prstGeom prst="rect">
            <a:avLst/>
          </a:prstGeom>
          <a:noFill/>
        </p:spPr>
        <p:txBody>
          <a:bodyPr wrap="square">
            <a:spAutoFit/>
          </a:bodyPr>
          <a:lstStyle/>
          <a:p>
            <a:pPr algn="ctr">
              <a:lnSpc>
                <a:spcPct val="200000"/>
              </a:lnSpc>
            </a:pPr>
            <a:r>
              <a:rPr lang="en-US" sz="2000" dirty="0"/>
              <a:t>Nested base pairs</a:t>
            </a:r>
          </a:p>
        </p:txBody>
      </p:sp>
      <p:sp>
        <p:nvSpPr>
          <p:cNvPr id="40" name="TextBox 39">
            <a:extLst>
              <a:ext uri="{FF2B5EF4-FFF2-40B4-BE49-F238E27FC236}">
                <a16:creationId xmlns:a16="http://schemas.microsoft.com/office/drawing/2014/main" id="{73866836-007B-2B75-B128-B5E286F59DE7}"/>
              </a:ext>
            </a:extLst>
          </p:cNvPr>
          <p:cNvSpPr txBox="1"/>
          <p:nvPr/>
        </p:nvSpPr>
        <p:spPr>
          <a:xfrm>
            <a:off x="1052118" y="2842970"/>
            <a:ext cx="6100174" cy="624979"/>
          </a:xfrm>
          <a:prstGeom prst="rect">
            <a:avLst/>
          </a:prstGeom>
          <a:noFill/>
        </p:spPr>
        <p:txBody>
          <a:bodyPr wrap="square">
            <a:spAutoFit/>
          </a:bodyPr>
          <a:lstStyle/>
          <a:p>
            <a:pPr algn="ctr">
              <a:lnSpc>
                <a:spcPct val="200000"/>
              </a:lnSpc>
            </a:pPr>
            <a:r>
              <a:rPr lang="en-US" sz="2000" dirty="0"/>
              <a:t>Base pairs not nested</a:t>
            </a:r>
          </a:p>
        </p:txBody>
      </p:sp>
      <p:pic>
        <p:nvPicPr>
          <p:cNvPr id="42" name="Picture 41" descr="A diagram of a tunnel&#10;&#10;AI-generated content may be incorrect.">
            <a:extLst>
              <a:ext uri="{FF2B5EF4-FFF2-40B4-BE49-F238E27FC236}">
                <a16:creationId xmlns:a16="http://schemas.microsoft.com/office/drawing/2014/main" id="{EAB3017A-8E7C-A069-9FD1-AA3F14FEB5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04019" y="4567913"/>
            <a:ext cx="3269211" cy="1653481"/>
          </a:xfrm>
          <a:prstGeom prst="rect">
            <a:avLst/>
          </a:prstGeom>
        </p:spPr>
      </p:pic>
      <p:sp>
        <p:nvSpPr>
          <p:cNvPr id="43" name="Rectangle 42">
            <a:extLst>
              <a:ext uri="{FF2B5EF4-FFF2-40B4-BE49-F238E27FC236}">
                <a16:creationId xmlns:a16="http://schemas.microsoft.com/office/drawing/2014/main" id="{E8F2B9DE-6002-E815-7F60-693A1023A93D}"/>
              </a:ext>
            </a:extLst>
          </p:cNvPr>
          <p:cNvSpPr/>
          <p:nvPr/>
        </p:nvSpPr>
        <p:spPr>
          <a:xfrm>
            <a:off x="7814836" y="5336571"/>
            <a:ext cx="858394" cy="5608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Arrow 43">
            <a:extLst>
              <a:ext uri="{FF2B5EF4-FFF2-40B4-BE49-F238E27FC236}">
                <a16:creationId xmlns:a16="http://schemas.microsoft.com/office/drawing/2014/main" id="{35369365-072B-F79C-F9CB-44399990BC0A}"/>
              </a:ext>
            </a:extLst>
          </p:cNvPr>
          <p:cNvSpPr/>
          <p:nvPr/>
        </p:nvSpPr>
        <p:spPr>
          <a:xfrm>
            <a:off x="4373589" y="5196526"/>
            <a:ext cx="736263" cy="49378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B004D180-BC68-9BD9-6ABF-0D67600BA675}"/>
              </a:ext>
            </a:extLst>
          </p:cNvPr>
          <p:cNvSpPr txBox="1"/>
          <p:nvPr/>
        </p:nvSpPr>
        <p:spPr>
          <a:xfrm>
            <a:off x="6225068" y="6189955"/>
            <a:ext cx="3169085" cy="369332"/>
          </a:xfrm>
          <a:prstGeom prst="rect">
            <a:avLst/>
          </a:prstGeom>
          <a:noFill/>
        </p:spPr>
        <p:txBody>
          <a:bodyPr wrap="square" rtlCol="0">
            <a:spAutoFit/>
          </a:bodyPr>
          <a:lstStyle/>
          <a:p>
            <a:r>
              <a:rPr lang="en-US" i="1" dirty="0"/>
              <a:t>Pseudoknots</a:t>
            </a:r>
          </a:p>
        </p:txBody>
      </p:sp>
      <p:pic>
        <p:nvPicPr>
          <p:cNvPr id="46" name="Picture 45" descr="A diagram of a line with dots and letters&#10;&#10;AI-generated content may be incorrect.">
            <a:extLst>
              <a:ext uri="{FF2B5EF4-FFF2-40B4-BE49-F238E27FC236}">
                <a16:creationId xmlns:a16="http://schemas.microsoft.com/office/drawing/2014/main" id="{B9B2E9CB-9AF6-B50B-0F25-E63B6263F644}"/>
              </a:ext>
            </a:extLst>
          </p:cNvPr>
          <p:cNvPicPr>
            <a:picLocks noChangeAspect="1"/>
          </p:cNvPicPr>
          <p:nvPr/>
        </p:nvPicPr>
        <p:blipFill>
          <a:blip r:embed="rId3">
            <a:extLst>
              <a:ext uri="{28A0092B-C50C-407E-A947-70E740481C1C}">
                <a14:useLocalDpi xmlns:a14="http://schemas.microsoft.com/office/drawing/2010/main" val="0"/>
              </a:ext>
            </a:extLst>
          </a:blip>
          <a:srcRect l="-1" t="47705" r="7"/>
          <a:stretch>
            <a:fillRect/>
          </a:stretch>
        </p:blipFill>
        <p:spPr>
          <a:xfrm>
            <a:off x="7333353" y="1853568"/>
            <a:ext cx="1821360" cy="1289231"/>
          </a:xfrm>
          <a:prstGeom prst="rect">
            <a:avLst/>
          </a:prstGeom>
        </p:spPr>
      </p:pic>
      <p:sp>
        <p:nvSpPr>
          <p:cNvPr id="48" name="TextBox 47">
            <a:extLst>
              <a:ext uri="{FF2B5EF4-FFF2-40B4-BE49-F238E27FC236}">
                <a16:creationId xmlns:a16="http://schemas.microsoft.com/office/drawing/2014/main" id="{8645683D-65DF-6CA0-153B-2208A4B6977C}"/>
              </a:ext>
            </a:extLst>
          </p:cNvPr>
          <p:cNvSpPr txBox="1"/>
          <p:nvPr/>
        </p:nvSpPr>
        <p:spPr>
          <a:xfrm>
            <a:off x="214759" y="6408044"/>
            <a:ext cx="6100174" cy="276999"/>
          </a:xfrm>
          <a:prstGeom prst="rect">
            <a:avLst/>
          </a:prstGeom>
          <a:noFill/>
        </p:spPr>
        <p:txBody>
          <a:bodyPr wrap="square">
            <a:spAutoFit/>
          </a:bodyPr>
          <a:lstStyle/>
          <a:p>
            <a:r>
              <a:rPr lang="en-US" sz="1200" b="0" i="0" u="none" strike="noStrike" dirty="0">
                <a:solidFill>
                  <a:srgbClr val="000000"/>
                </a:solidFill>
                <a:effectLst/>
              </a:rPr>
              <a:t>Image adapted from Pearson Education, Inc., 2008.</a:t>
            </a:r>
            <a:endParaRPr lang="en-US" sz="1200" dirty="0"/>
          </a:p>
        </p:txBody>
      </p:sp>
      <p:sp>
        <p:nvSpPr>
          <p:cNvPr id="50" name="TextBox 49">
            <a:extLst>
              <a:ext uri="{FF2B5EF4-FFF2-40B4-BE49-F238E27FC236}">
                <a16:creationId xmlns:a16="http://schemas.microsoft.com/office/drawing/2014/main" id="{EF8C2619-F501-7737-ABF6-82CBE987A18E}"/>
              </a:ext>
            </a:extLst>
          </p:cNvPr>
          <p:cNvSpPr txBox="1"/>
          <p:nvPr/>
        </p:nvSpPr>
        <p:spPr>
          <a:xfrm>
            <a:off x="8359726" y="4768429"/>
            <a:ext cx="3446302" cy="1015663"/>
          </a:xfrm>
          <a:prstGeom prst="rect">
            <a:avLst/>
          </a:prstGeom>
          <a:noFill/>
        </p:spPr>
        <p:txBody>
          <a:bodyPr wrap="square">
            <a:spAutoFit/>
          </a:bodyPr>
          <a:lstStyle/>
          <a:p>
            <a:r>
              <a:rPr lang="en-US" sz="2000" b="1" i="0" u="none" strike="noStrike" dirty="0">
                <a:solidFill>
                  <a:srgbClr val="000000"/>
                </a:solidFill>
                <a:effectLst/>
              </a:rPr>
              <a:t>Including pseudoknots greatly increases computational complexity.</a:t>
            </a:r>
            <a:endParaRPr lang="en-US" sz="2000" b="1" dirty="0"/>
          </a:p>
        </p:txBody>
      </p:sp>
      <p:sp>
        <p:nvSpPr>
          <p:cNvPr id="4" name="TextBox 3">
            <a:extLst>
              <a:ext uri="{FF2B5EF4-FFF2-40B4-BE49-F238E27FC236}">
                <a16:creationId xmlns:a16="http://schemas.microsoft.com/office/drawing/2014/main" id="{C1987F6D-BF08-769A-478F-48A8843785EE}"/>
              </a:ext>
            </a:extLst>
          </p:cNvPr>
          <p:cNvSpPr txBox="1"/>
          <p:nvPr/>
        </p:nvSpPr>
        <p:spPr>
          <a:xfrm>
            <a:off x="1662012" y="3493353"/>
            <a:ext cx="9126112" cy="624979"/>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sz="2000" dirty="0"/>
              <a:t>The algorithms we’ll consider assume that base pairs</a:t>
            </a:r>
            <a:r>
              <a:rPr lang="en-US" sz="2000" b="1" dirty="0">
                <a:effectLst/>
              </a:rPr>
              <a:t> do not cross.</a:t>
            </a:r>
          </a:p>
        </p:txBody>
      </p:sp>
    </p:spTree>
    <p:extLst>
      <p:ext uri="{BB962C8B-B14F-4D97-AF65-F5344CB8AC3E}">
        <p14:creationId xmlns:p14="http://schemas.microsoft.com/office/powerpoint/2010/main" val="2902810316"/>
      </p:ext>
    </p:extLst>
  </p:cSld>
  <p:clrMapOvr>
    <a:masterClrMapping/>
  </p:clrMapOvr>
  <mc:AlternateContent xmlns:mc="http://schemas.openxmlformats.org/markup-compatibility/2006" xmlns:p14="http://schemas.microsoft.com/office/powerpoint/2010/main">
    <mc:Choice Requires="p14">
      <p:transition spd="slow" p14:dur="2000" advTm="77687"/>
    </mc:Choice>
    <mc:Fallback xmlns="">
      <p:transition spd="slow" advTm="7768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C0084-1535-B63F-88EB-93E9645425A2}"/>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F735B600-DF59-DA07-2BB8-5F012A61C756}"/>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TextBox 22">
            <a:extLst>
              <a:ext uri="{FF2B5EF4-FFF2-40B4-BE49-F238E27FC236}">
                <a16:creationId xmlns:a16="http://schemas.microsoft.com/office/drawing/2014/main" id="{726CA59F-C771-209D-6AA5-9CED765C7093}"/>
              </a:ext>
            </a:extLst>
          </p:cNvPr>
          <p:cNvSpPr txBox="1"/>
          <p:nvPr/>
        </p:nvSpPr>
        <p:spPr>
          <a:xfrm>
            <a:off x="1410413" y="248187"/>
            <a:ext cx="9661229" cy="954107"/>
          </a:xfrm>
          <a:prstGeom prst="rect">
            <a:avLst/>
          </a:prstGeom>
          <a:noFill/>
        </p:spPr>
        <p:txBody>
          <a:bodyPr wrap="square" rtlCol="0">
            <a:spAutoFit/>
          </a:bodyPr>
          <a:lstStyle/>
          <a:p>
            <a:pPr algn="ctr"/>
            <a:r>
              <a:rPr lang="en-US" sz="3200" b="1" dirty="0">
                <a:solidFill>
                  <a:srgbClr val="C00000"/>
                </a:solidFill>
              </a:rPr>
              <a:t>Base-pair Maximization</a:t>
            </a:r>
          </a:p>
          <a:p>
            <a:pPr algn="ctr"/>
            <a:r>
              <a:rPr lang="en-US" sz="2400" dirty="0"/>
              <a:t>Dynamic programming setup</a:t>
            </a:r>
          </a:p>
        </p:txBody>
      </p:sp>
      <p:sp>
        <p:nvSpPr>
          <p:cNvPr id="2" name="Slide Number Placeholder 3">
            <a:extLst>
              <a:ext uri="{FF2B5EF4-FFF2-40B4-BE49-F238E27FC236}">
                <a16:creationId xmlns:a16="http://schemas.microsoft.com/office/drawing/2014/main" id="{CEA5B3F3-F274-6685-B613-852F59C4DD6B}"/>
              </a:ext>
            </a:extLst>
          </p:cNvPr>
          <p:cNvSpPr>
            <a:spLocks noGrp="1"/>
          </p:cNvSpPr>
          <p:nvPr>
            <p:ph type="sldNum" sz="quarter" idx="12"/>
          </p:nvPr>
        </p:nvSpPr>
        <p:spPr>
          <a:xfrm>
            <a:off x="8673230" y="6335220"/>
            <a:ext cx="2743200" cy="365125"/>
          </a:xfrm>
        </p:spPr>
        <p:txBody>
          <a:bodyPr/>
          <a:lstStyle/>
          <a:p>
            <a:r>
              <a:rPr lang="en-IN" dirty="0"/>
              <a:t>7</a:t>
            </a:r>
          </a:p>
        </p:txBody>
      </p:sp>
      <p:pic>
        <p:nvPicPr>
          <p:cNvPr id="10" name="Picture 9" descr="A screenshot of a graph&#10;&#10;AI-generated content may be incorrect.">
            <a:extLst>
              <a:ext uri="{FF2B5EF4-FFF2-40B4-BE49-F238E27FC236}">
                <a16:creationId xmlns:a16="http://schemas.microsoft.com/office/drawing/2014/main" id="{EE19F04D-8308-48EC-9D24-97F44989BBD8}"/>
              </a:ext>
            </a:extLst>
          </p:cNvPr>
          <p:cNvPicPr>
            <a:picLocks noChangeAspect="1"/>
          </p:cNvPicPr>
          <p:nvPr/>
        </p:nvPicPr>
        <p:blipFill>
          <a:blip r:embed="rId3">
            <a:extLst>
              <a:ext uri="{28A0092B-C50C-407E-A947-70E740481C1C}">
                <a14:useLocalDpi xmlns:a14="http://schemas.microsoft.com/office/drawing/2010/main" val="0"/>
              </a:ext>
            </a:extLst>
          </a:blip>
          <a:srcRect l="14480" t="10009" r="1457" b="6380"/>
          <a:stretch>
            <a:fillRect/>
          </a:stretch>
        </p:blipFill>
        <p:spPr>
          <a:xfrm>
            <a:off x="6574971" y="1834345"/>
            <a:ext cx="4397829" cy="3347256"/>
          </a:xfrm>
          <a:prstGeom prst="rect">
            <a:avLst/>
          </a:prstGeom>
        </p:spPr>
      </p:pic>
      <p:sp>
        <p:nvSpPr>
          <p:cNvPr id="12" name="TextBox 11">
            <a:extLst>
              <a:ext uri="{FF2B5EF4-FFF2-40B4-BE49-F238E27FC236}">
                <a16:creationId xmlns:a16="http://schemas.microsoft.com/office/drawing/2014/main" id="{578E6FB2-208D-9741-E510-666223EBA4A2}"/>
              </a:ext>
            </a:extLst>
          </p:cNvPr>
          <p:cNvSpPr txBox="1"/>
          <p:nvPr/>
        </p:nvSpPr>
        <p:spPr>
          <a:xfrm>
            <a:off x="10607981" y="1761541"/>
            <a:ext cx="228600" cy="246221"/>
          </a:xfrm>
          <a:prstGeom prst="rect">
            <a:avLst/>
          </a:prstGeom>
          <a:solidFill>
            <a:schemeClr val="bg1"/>
          </a:solidFill>
        </p:spPr>
        <p:txBody>
          <a:bodyPr wrap="square" rtlCol="0">
            <a:spAutoFit/>
          </a:bodyPr>
          <a:lstStyle/>
          <a:p>
            <a:r>
              <a:rPr lang="en-US" sz="1000" dirty="0"/>
              <a:t>3</a:t>
            </a:r>
          </a:p>
        </p:txBody>
      </p:sp>
      <p:sp>
        <p:nvSpPr>
          <p:cNvPr id="15" name="Rectangle 1">
            <a:extLst>
              <a:ext uri="{FF2B5EF4-FFF2-40B4-BE49-F238E27FC236}">
                <a16:creationId xmlns:a16="http://schemas.microsoft.com/office/drawing/2014/main" id="{24665834-24A8-EE70-536B-58DA0566995E}"/>
              </a:ext>
            </a:extLst>
          </p:cNvPr>
          <p:cNvSpPr>
            <a:spLocks noChangeArrowheads="1"/>
          </p:cNvSpPr>
          <p:nvPr/>
        </p:nvSpPr>
        <p:spPr bwMode="auto">
          <a:xfrm>
            <a:off x="800515" y="1511386"/>
            <a:ext cx="5452214" cy="247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1" u="none" strike="noStrike" cap="none" normalizeH="0" baseline="0" dirty="0">
                <a:ln>
                  <a:noFill/>
                </a:ln>
                <a:solidFill>
                  <a:srgbClr val="000000"/>
                </a:solidFill>
                <a:effectLst/>
                <a:latin typeface="+mn-lt"/>
              </a:rPr>
              <a:t>Define S(</a:t>
            </a:r>
            <a:r>
              <a:rPr kumimoji="0" lang="en-US" altLang="en-US" sz="2000" b="1" i="1" u="none" strike="noStrike" cap="none" normalizeH="0" baseline="0" dirty="0" err="1">
                <a:ln>
                  <a:noFill/>
                </a:ln>
                <a:solidFill>
                  <a:srgbClr val="000000"/>
                </a:solidFill>
                <a:effectLst/>
                <a:latin typeface="+mn-lt"/>
              </a:rPr>
              <a:t>i,j</a:t>
            </a:r>
            <a:r>
              <a:rPr kumimoji="0" lang="en-US" altLang="en-US" sz="2000" b="1" i="1" u="none" strike="noStrike" cap="none" normalizeH="0" baseline="0" dirty="0">
                <a:ln>
                  <a:noFill/>
                </a:ln>
                <a:solidFill>
                  <a:srgbClr val="000000"/>
                </a:solidFill>
                <a:effectLst/>
                <a:latin typeface="+mn-lt"/>
              </a:rPr>
              <a:t>)</a:t>
            </a:r>
            <a:r>
              <a:rPr kumimoji="0" lang="en-US" altLang="en-US" sz="2000" b="1" i="0" u="none" strike="noStrike" cap="none" normalizeH="0" baseline="0" dirty="0">
                <a:ln>
                  <a:noFill/>
                </a:ln>
                <a:solidFill>
                  <a:srgbClr val="000000"/>
                </a:solidFill>
                <a:effectLst/>
                <a:latin typeface="+mn-lt"/>
              </a:rPr>
              <a:t>: </a:t>
            </a:r>
            <a:r>
              <a:rPr kumimoji="0" lang="en-US" altLang="en-US" sz="2000" b="0" i="0" u="none" strike="noStrike" cap="none" normalizeH="0" baseline="0" dirty="0">
                <a:ln>
                  <a:noFill/>
                </a:ln>
                <a:solidFill>
                  <a:srgbClr val="000000"/>
                </a:solidFill>
                <a:effectLst/>
                <a:latin typeface="+mn-lt"/>
              </a:rPr>
              <a:t>maximum number of base pairs that the subsequence</a:t>
            </a:r>
            <a:r>
              <a:rPr kumimoji="0" lang="en-US" altLang="en-US" sz="2000" b="0" i="1" u="none" strike="noStrike" cap="none" normalizeH="0" baseline="0" dirty="0">
                <a:ln>
                  <a:noFill/>
                </a:ln>
                <a:solidFill>
                  <a:srgbClr val="000000"/>
                </a:solidFill>
                <a:effectLst/>
                <a:latin typeface="+mn-lt"/>
              </a:rPr>
              <a:t> </a:t>
            </a:r>
            <a:r>
              <a:rPr kumimoji="0" lang="en-US" altLang="en-US" sz="2000" b="0" i="1" u="none" strike="noStrike" cap="none" normalizeH="0" baseline="0" dirty="0" err="1">
                <a:ln>
                  <a:noFill/>
                </a:ln>
                <a:solidFill>
                  <a:srgbClr val="000000"/>
                </a:solidFill>
                <a:effectLst/>
                <a:latin typeface="+mn-lt"/>
              </a:rPr>
              <a:t>i</a:t>
            </a:r>
            <a:r>
              <a:rPr kumimoji="0" lang="en-US" altLang="en-US" sz="2000" b="0" i="1" u="none" strike="noStrike" cap="none" normalizeH="0" baseline="0" dirty="0">
                <a:ln>
                  <a:noFill/>
                </a:ln>
                <a:solidFill>
                  <a:srgbClr val="000000"/>
                </a:solidFill>
                <a:effectLst/>
                <a:latin typeface="+mn-lt"/>
              </a:rPr>
              <a:t>…j </a:t>
            </a:r>
            <a:r>
              <a:rPr kumimoji="0" lang="en-US" altLang="en-US" sz="2000" b="0" i="0" u="none" strike="noStrike" cap="none" normalizeH="0" baseline="0" dirty="0">
                <a:ln>
                  <a:noFill/>
                </a:ln>
                <a:solidFill>
                  <a:srgbClr val="000000"/>
                </a:solidFill>
                <a:effectLst/>
                <a:latin typeface="+mn-lt"/>
              </a:rPr>
              <a:t>can form</a:t>
            </a:r>
          </a:p>
          <a:p>
            <a:pPr marL="342900" indent="-342900">
              <a:lnSpc>
                <a:spcPct val="200000"/>
              </a:lnSpc>
              <a:buFont typeface="Arial" panose="020B0604020202020204" pitchFamily="34" charset="0"/>
              <a:buChar char="•"/>
            </a:pPr>
            <a:r>
              <a:rPr lang="en-US" altLang="en-US" sz="2000" b="1" dirty="0">
                <a:solidFill>
                  <a:srgbClr val="000000"/>
                </a:solidFill>
                <a:latin typeface="+mn-lt"/>
              </a:rPr>
              <a:t>Subsequence length:</a:t>
            </a:r>
            <a:r>
              <a:rPr lang="en-US" altLang="en-US" sz="2000" dirty="0">
                <a:solidFill>
                  <a:srgbClr val="000000"/>
                </a:solidFill>
                <a:latin typeface="+mn-lt"/>
              </a:rPr>
              <a:t> </a:t>
            </a:r>
            <a:r>
              <a:rPr lang="en-US" altLang="en-US" sz="2000" i="1" dirty="0">
                <a:solidFill>
                  <a:srgbClr val="000000"/>
                </a:solidFill>
                <a:latin typeface="+mn-lt"/>
              </a:rPr>
              <a:t>d=j−</a:t>
            </a:r>
            <a:r>
              <a:rPr lang="en-US" altLang="en-US" sz="2000" i="1" dirty="0" err="1">
                <a:solidFill>
                  <a:srgbClr val="000000"/>
                </a:solidFill>
                <a:latin typeface="+mn-lt"/>
              </a:rPr>
              <a:t>i</a:t>
            </a:r>
            <a:endParaRPr lang="en-US" altLang="en-US" sz="2000" i="1" dirty="0">
              <a:solidFill>
                <a:srgbClr val="000000"/>
              </a:solidFill>
              <a:latin typeface="+mn-lt"/>
            </a:endParaRPr>
          </a:p>
          <a:p>
            <a:pPr marL="342900" indent="-342900">
              <a:lnSpc>
                <a:spcPct val="200000"/>
              </a:lnSpc>
              <a:buFont typeface="Arial" panose="020B0604020202020204" pitchFamily="34" charset="0"/>
              <a:buChar char="•"/>
            </a:pPr>
            <a:r>
              <a:rPr lang="en-US" altLang="en-US" sz="2000" dirty="0">
                <a:solidFill>
                  <a:srgbClr val="000000"/>
                </a:solidFill>
                <a:latin typeface="+mn-lt"/>
              </a:rPr>
              <a:t>Fill diagonally by increasing d (Bottom-up)</a:t>
            </a:r>
            <a:endParaRPr lang="en-US" altLang="en-US" sz="2000" dirty="0">
              <a:latin typeface="+mn-lt"/>
            </a:endParaRPr>
          </a:p>
        </p:txBody>
      </p:sp>
      <p:pic>
        <p:nvPicPr>
          <p:cNvPr id="3" name="Picture 2">
            <a:extLst>
              <a:ext uri="{FF2B5EF4-FFF2-40B4-BE49-F238E27FC236}">
                <a16:creationId xmlns:a16="http://schemas.microsoft.com/office/drawing/2014/main" id="{FBDC7F73-1F45-C9DE-A310-6E0E160F59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014" y="5320638"/>
            <a:ext cx="8646021" cy="890843"/>
          </a:xfrm>
          <a:prstGeom prst="rect">
            <a:avLst/>
          </a:prstGeom>
        </p:spPr>
      </p:pic>
    </p:spTree>
    <p:extLst>
      <p:ext uri="{BB962C8B-B14F-4D97-AF65-F5344CB8AC3E}">
        <p14:creationId xmlns:p14="http://schemas.microsoft.com/office/powerpoint/2010/main" val="3868484369"/>
      </p:ext>
    </p:extLst>
  </p:cSld>
  <p:clrMapOvr>
    <a:masterClrMapping/>
  </p:clrMapOvr>
  <mc:AlternateContent xmlns:mc="http://schemas.openxmlformats.org/markup-compatibility/2006" xmlns:p14="http://schemas.microsoft.com/office/powerpoint/2010/main">
    <mc:Choice Requires="p14">
      <p:transition spd="slow" p14:dur="2000" advTm="46397"/>
    </mc:Choice>
    <mc:Fallback xmlns="">
      <p:transition spd="slow" advTm="4639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F3CEE-1CD4-DC88-089A-48C8841166A4}"/>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F50B0FBD-204E-1855-4DB6-2A260B4FDC99}"/>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TextBox 22">
            <a:extLst>
              <a:ext uri="{FF2B5EF4-FFF2-40B4-BE49-F238E27FC236}">
                <a16:creationId xmlns:a16="http://schemas.microsoft.com/office/drawing/2014/main" id="{669D7163-A441-D1E4-5F19-F964ADE10673}"/>
              </a:ext>
            </a:extLst>
          </p:cNvPr>
          <p:cNvSpPr txBox="1"/>
          <p:nvPr/>
        </p:nvSpPr>
        <p:spPr>
          <a:xfrm>
            <a:off x="1410413" y="248187"/>
            <a:ext cx="9661229" cy="954107"/>
          </a:xfrm>
          <a:prstGeom prst="rect">
            <a:avLst/>
          </a:prstGeom>
          <a:noFill/>
        </p:spPr>
        <p:txBody>
          <a:bodyPr wrap="square" rtlCol="0">
            <a:spAutoFit/>
          </a:bodyPr>
          <a:lstStyle/>
          <a:p>
            <a:pPr algn="ctr"/>
            <a:r>
              <a:rPr lang="en-US" sz="3200" b="1" dirty="0">
                <a:solidFill>
                  <a:srgbClr val="C00000"/>
                </a:solidFill>
              </a:rPr>
              <a:t>Base-pair Maximization</a:t>
            </a:r>
          </a:p>
          <a:p>
            <a:pPr algn="ctr"/>
            <a:r>
              <a:rPr lang="en-US" sz="2400" dirty="0"/>
              <a:t>Dynamic programming setup</a:t>
            </a:r>
          </a:p>
        </p:txBody>
      </p:sp>
      <p:sp>
        <p:nvSpPr>
          <p:cNvPr id="2" name="Slide Number Placeholder 3">
            <a:extLst>
              <a:ext uri="{FF2B5EF4-FFF2-40B4-BE49-F238E27FC236}">
                <a16:creationId xmlns:a16="http://schemas.microsoft.com/office/drawing/2014/main" id="{B8C2EE12-84E8-70BF-3966-78EF21C70500}"/>
              </a:ext>
            </a:extLst>
          </p:cNvPr>
          <p:cNvSpPr>
            <a:spLocks noGrp="1"/>
          </p:cNvSpPr>
          <p:nvPr>
            <p:ph type="sldNum" sz="quarter" idx="12"/>
          </p:nvPr>
        </p:nvSpPr>
        <p:spPr>
          <a:xfrm>
            <a:off x="8673230" y="6335220"/>
            <a:ext cx="2743200" cy="365125"/>
          </a:xfrm>
        </p:spPr>
        <p:txBody>
          <a:bodyPr/>
          <a:lstStyle/>
          <a:p>
            <a:r>
              <a:rPr lang="en-IN" dirty="0"/>
              <a:t>7</a:t>
            </a:r>
          </a:p>
        </p:txBody>
      </p:sp>
      <p:pic>
        <p:nvPicPr>
          <p:cNvPr id="10" name="Picture 9" descr="A screenshot of a graph&#10;&#10;AI-generated content may be incorrect.">
            <a:extLst>
              <a:ext uri="{FF2B5EF4-FFF2-40B4-BE49-F238E27FC236}">
                <a16:creationId xmlns:a16="http://schemas.microsoft.com/office/drawing/2014/main" id="{09888452-A66C-77D4-6D01-3B4315B3EB25}"/>
              </a:ext>
            </a:extLst>
          </p:cNvPr>
          <p:cNvPicPr>
            <a:picLocks noChangeAspect="1"/>
          </p:cNvPicPr>
          <p:nvPr/>
        </p:nvPicPr>
        <p:blipFill>
          <a:blip r:embed="rId3">
            <a:extLst>
              <a:ext uri="{28A0092B-C50C-407E-A947-70E740481C1C}">
                <a14:useLocalDpi xmlns:a14="http://schemas.microsoft.com/office/drawing/2010/main" val="0"/>
              </a:ext>
            </a:extLst>
          </a:blip>
          <a:srcRect l="14480" t="10009" r="1457" b="6380"/>
          <a:stretch>
            <a:fillRect/>
          </a:stretch>
        </p:blipFill>
        <p:spPr>
          <a:xfrm>
            <a:off x="6574971" y="1834345"/>
            <a:ext cx="4397829" cy="3347256"/>
          </a:xfrm>
          <a:prstGeom prst="rect">
            <a:avLst/>
          </a:prstGeom>
        </p:spPr>
      </p:pic>
      <p:sp>
        <p:nvSpPr>
          <p:cNvPr id="12" name="TextBox 11">
            <a:extLst>
              <a:ext uri="{FF2B5EF4-FFF2-40B4-BE49-F238E27FC236}">
                <a16:creationId xmlns:a16="http://schemas.microsoft.com/office/drawing/2014/main" id="{4BE1C275-4F3C-622A-0B29-DF8174B1F0BA}"/>
              </a:ext>
            </a:extLst>
          </p:cNvPr>
          <p:cNvSpPr txBox="1"/>
          <p:nvPr/>
        </p:nvSpPr>
        <p:spPr>
          <a:xfrm>
            <a:off x="10607981" y="1761541"/>
            <a:ext cx="228600" cy="246221"/>
          </a:xfrm>
          <a:prstGeom prst="rect">
            <a:avLst/>
          </a:prstGeom>
          <a:solidFill>
            <a:schemeClr val="bg1"/>
          </a:solidFill>
        </p:spPr>
        <p:txBody>
          <a:bodyPr wrap="square" rtlCol="0">
            <a:spAutoFit/>
          </a:bodyPr>
          <a:lstStyle/>
          <a:p>
            <a:r>
              <a:rPr lang="en-US" sz="1000" dirty="0"/>
              <a:t>3</a:t>
            </a:r>
          </a:p>
        </p:txBody>
      </p:sp>
      <p:pic>
        <p:nvPicPr>
          <p:cNvPr id="14" name="Picture 13">
            <a:extLst>
              <a:ext uri="{FF2B5EF4-FFF2-40B4-BE49-F238E27FC236}">
                <a16:creationId xmlns:a16="http://schemas.microsoft.com/office/drawing/2014/main" id="{F046C520-42E3-3641-9E2F-4925331F2F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014" y="5320638"/>
            <a:ext cx="8646021" cy="890843"/>
          </a:xfrm>
          <a:prstGeom prst="rect">
            <a:avLst/>
          </a:prstGeom>
        </p:spPr>
      </p:pic>
      <p:sp>
        <p:nvSpPr>
          <p:cNvPr id="15" name="Rectangle 1">
            <a:extLst>
              <a:ext uri="{FF2B5EF4-FFF2-40B4-BE49-F238E27FC236}">
                <a16:creationId xmlns:a16="http://schemas.microsoft.com/office/drawing/2014/main" id="{9503C52E-FE86-66C9-D73C-8E02ADE6703E}"/>
              </a:ext>
            </a:extLst>
          </p:cNvPr>
          <p:cNvSpPr>
            <a:spLocks noChangeArrowheads="1"/>
          </p:cNvSpPr>
          <p:nvPr/>
        </p:nvSpPr>
        <p:spPr bwMode="auto">
          <a:xfrm>
            <a:off x="800515" y="1511386"/>
            <a:ext cx="5452214" cy="247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1" u="none" strike="noStrike" cap="none" normalizeH="0" baseline="0" dirty="0">
                <a:ln>
                  <a:noFill/>
                </a:ln>
                <a:solidFill>
                  <a:srgbClr val="000000"/>
                </a:solidFill>
                <a:effectLst/>
                <a:latin typeface="+mn-lt"/>
              </a:rPr>
              <a:t>Define S(</a:t>
            </a:r>
            <a:r>
              <a:rPr kumimoji="0" lang="en-US" altLang="en-US" sz="2000" b="1" i="1" u="none" strike="noStrike" cap="none" normalizeH="0" baseline="0" dirty="0" err="1">
                <a:ln>
                  <a:noFill/>
                </a:ln>
                <a:solidFill>
                  <a:srgbClr val="000000"/>
                </a:solidFill>
                <a:effectLst/>
                <a:latin typeface="+mn-lt"/>
              </a:rPr>
              <a:t>i,j</a:t>
            </a:r>
            <a:r>
              <a:rPr kumimoji="0" lang="en-US" altLang="en-US" sz="2000" b="1" i="1" u="none" strike="noStrike" cap="none" normalizeH="0" baseline="0" dirty="0">
                <a:ln>
                  <a:noFill/>
                </a:ln>
                <a:solidFill>
                  <a:srgbClr val="000000"/>
                </a:solidFill>
                <a:effectLst/>
                <a:latin typeface="+mn-lt"/>
              </a:rPr>
              <a:t>)</a:t>
            </a:r>
            <a:r>
              <a:rPr kumimoji="0" lang="en-US" altLang="en-US" sz="2000" b="1" i="0" u="none" strike="noStrike" cap="none" normalizeH="0" baseline="0" dirty="0">
                <a:ln>
                  <a:noFill/>
                </a:ln>
                <a:solidFill>
                  <a:srgbClr val="000000"/>
                </a:solidFill>
                <a:effectLst/>
                <a:latin typeface="+mn-lt"/>
              </a:rPr>
              <a:t>: </a:t>
            </a:r>
            <a:r>
              <a:rPr kumimoji="0" lang="en-US" altLang="en-US" sz="2000" b="0" i="0" u="none" strike="noStrike" cap="none" normalizeH="0" baseline="0" dirty="0">
                <a:ln>
                  <a:noFill/>
                </a:ln>
                <a:solidFill>
                  <a:srgbClr val="000000"/>
                </a:solidFill>
                <a:effectLst/>
                <a:latin typeface="+mn-lt"/>
              </a:rPr>
              <a:t>maximum number of base pairs that the subsequence</a:t>
            </a:r>
            <a:r>
              <a:rPr kumimoji="0" lang="en-US" altLang="en-US" sz="2000" b="0" i="1" u="none" strike="noStrike" cap="none" normalizeH="0" baseline="0" dirty="0">
                <a:ln>
                  <a:noFill/>
                </a:ln>
                <a:solidFill>
                  <a:srgbClr val="000000"/>
                </a:solidFill>
                <a:effectLst/>
                <a:latin typeface="+mn-lt"/>
              </a:rPr>
              <a:t> </a:t>
            </a:r>
            <a:r>
              <a:rPr kumimoji="0" lang="en-US" altLang="en-US" sz="2000" b="0" i="1" u="none" strike="noStrike" cap="none" normalizeH="0" baseline="0" dirty="0" err="1">
                <a:ln>
                  <a:noFill/>
                </a:ln>
                <a:solidFill>
                  <a:srgbClr val="000000"/>
                </a:solidFill>
                <a:effectLst/>
                <a:latin typeface="+mn-lt"/>
              </a:rPr>
              <a:t>i</a:t>
            </a:r>
            <a:r>
              <a:rPr kumimoji="0" lang="en-US" altLang="en-US" sz="2000" b="0" i="1" u="none" strike="noStrike" cap="none" normalizeH="0" baseline="0" dirty="0">
                <a:ln>
                  <a:noFill/>
                </a:ln>
                <a:solidFill>
                  <a:srgbClr val="000000"/>
                </a:solidFill>
                <a:effectLst/>
                <a:latin typeface="+mn-lt"/>
              </a:rPr>
              <a:t>…j </a:t>
            </a:r>
            <a:r>
              <a:rPr kumimoji="0" lang="en-US" altLang="en-US" sz="2000" b="0" i="0" u="none" strike="noStrike" cap="none" normalizeH="0" baseline="0" dirty="0">
                <a:ln>
                  <a:noFill/>
                </a:ln>
                <a:solidFill>
                  <a:srgbClr val="000000"/>
                </a:solidFill>
                <a:effectLst/>
                <a:latin typeface="+mn-lt"/>
              </a:rPr>
              <a:t>can form</a:t>
            </a:r>
          </a:p>
          <a:p>
            <a:pPr marL="342900" indent="-342900">
              <a:lnSpc>
                <a:spcPct val="200000"/>
              </a:lnSpc>
              <a:buFont typeface="Arial" panose="020B0604020202020204" pitchFamily="34" charset="0"/>
              <a:buChar char="•"/>
            </a:pPr>
            <a:r>
              <a:rPr lang="en-US" altLang="en-US" sz="2000" b="1" dirty="0">
                <a:solidFill>
                  <a:srgbClr val="000000"/>
                </a:solidFill>
                <a:latin typeface="+mn-lt"/>
              </a:rPr>
              <a:t>Subsequence length:</a:t>
            </a:r>
            <a:r>
              <a:rPr lang="en-US" altLang="en-US" sz="2000" dirty="0">
                <a:solidFill>
                  <a:srgbClr val="000000"/>
                </a:solidFill>
                <a:latin typeface="+mn-lt"/>
              </a:rPr>
              <a:t> </a:t>
            </a:r>
            <a:r>
              <a:rPr lang="en-US" altLang="en-US" sz="2000" i="1" dirty="0">
                <a:solidFill>
                  <a:srgbClr val="000000"/>
                </a:solidFill>
                <a:latin typeface="+mn-lt"/>
              </a:rPr>
              <a:t>d=j−</a:t>
            </a:r>
            <a:r>
              <a:rPr lang="en-US" altLang="en-US" sz="2000" i="1" dirty="0" err="1">
                <a:solidFill>
                  <a:srgbClr val="000000"/>
                </a:solidFill>
                <a:latin typeface="+mn-lt"/>
              </a:rPr>
              <a:t>i</a:t>
            </a:r>
            <a:endParaRPr lang="en-US" altLang="en-US" sz="2000" i="1" dirty="0">
              <a:solidFill>
                <a:srgbClr val="000000"/>
              </a:solidFill>
              <a:latin typeface="+mn-lt"/>
            </a:endParaRPr>
          </a:p>
          <a:p>
            <a:pPr marL="342900" indent="-342900">
              <a:lnSpc>
                <a:spcPct val="200000"/>
              </a:lnSpc>
              <a:buFont typeface="Arial" panose="020B0604020202020204" pitchFamily="34" charset="0"/>
              <a:buChar char="•"/>
            </a:pPr>
            <a:r>
              <a:rPr lang="en-US" altLang="en-US" sz="2000" dirty="0">
                <a:solidFill>
                  <a:srgbClr val="000000"/>
                </a:solidFill>
                <a:latin typeface="+mn-lt"/>
              </a:rPr>
              <a:t>Fill diagonally by increasing d (Bottom-up)</a:t>
            </a:r>
            <a:endParaRPr lang="en-US" altLang="en-US" sz="2000" dirty="0">
              <a:latin typeface="+mn-lt"/>
            </a:endParaRPr>
          </a:p>
        </p:txBody>
      </p:sp>
      <p:sp>
        <p:nvSpPr>
          <p:cNvPr id="26" name="TextBox 25">
            <a:extLst>
              <a:ext uri="{FF2B5EF4-FFF2-40B4-BE49-F238E27FC236}">
                <a16:creationId xmlns:a16="http://schemas.microsoft.com/office/drawing/2014/main" id="{1CFC7724-F67F-00B5-5A5A-42F943ED17F2}"/>
              </a:ext>
            </a:extLst>
          </p:cNvPr>
          <p:cNvSpPr txBox="1"/>
          <p:nvPr/>
        </p:nvSpPr>
        <p:spPr>
          <a:xfrm>
            <a:off x="1032014" y="4350033"/>
            <a:ext cx="3799114" cy="461665"/>
          </a:xfrm>
          <a:prstGeom prst="rect">
            <a:avLst/>
          </a:prstGeom>
          <a:noFill/>
        </p:spPr>
        <p:txBody>
          <a:bodyPr wrap="square" rtlCol="0">
            <a:spAutoFit/>
          </a:bodyPr>
          <a:lstStyle/>
          <a:p>
            <a:r>
              <a:rPr lang="en-US" sz="2400" u="sng" dirty="0"/>
              <a:t>A DEMO for a sequence</a:t>
            </a:r>
          </a:p>
        </p:txBody>
      </p:sp>
      <p:sp>
        <p:nvSpPr>
          <p:cNvPr id="27" name="Down Arrow 26">
            <a:extLst>
              <a:ext uri="{FF2B5EF4-FFF2-40B4-BE49-F238E27FC236}">
                <a16:creationId xmlns:a16="http://schemas.microsoft.com/office/drawing/2014/main" id="{C79DC5BC-2ACC-EB90-EA2F-B6360B8A5C15}"/>
              </a:ext>
            </a:extLst>
          </p:cNvPr>
          <p:cNvSpPr/>
          <p:nvPr/>
        </p:nvSpPr>
        <p:spPr>
          <a:xfrm>
            <a:off x="2177143" y="4797245"/>
            <a:ext cx="413657" cy="549369"/>
          </a:xfrm>
          <a:prstGeom prst="downArrow">
            <a:avLst/>
          </a:prstGeom>
          <a:solidFill>
            <a:schemeClr val="bg2">
              <a:lumMod val="9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B5A3EC73-2127-4690-8912-2FA819E06A6A}"/>
              </a:ext>
            </a:extLst>
          </p:cNvPr>
          <p:cNvCxnSpPr/>
          <p:nvPr/>
        </p:nvCxnSpPr>
        <p:spPr>
          <a:xfrm>
            <a:off x="7799294" y="2130014"/>
            <a:ext cx="2097741" cy="20547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4884423"/>
      </p:ext>
    </p:extLst>
  </p:cSld>
  <p:clrMapOvr>
    <a:masterClrMapping/>
  </p:clrMapOvr>
  <mc:AlternateContent xmlns:mc="http://schemas.openxmlformats.org/markup-compatibility/2006" xmlns:p14="http://schemas.microsoft.com/office/powerpoint/2010/main">
    <mc:Choice Requires="p14">
      <p:transition spd="slow" p14:dur="2000" advTm="6633"/>
    </mc:Choice>
    <mc:Fallback xmlns="">
      <p:transition spd="slow" advTm="663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C6B33-681F-EBF6-6111-0AEA6D6CED20}"/>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482E339D-8FE4-DAF2-F1AE-800A74F252A6}"/>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TextBox 22">
            <a:extLst>
              <a:ext uri="{FF2B5EF4-FFF2-40B4-BE49-F238E27FC236}">
                <a16:creationId xmlns:a16="http://schemas.microsoft.com/office/drawing/2014/main" id="{A3C0461F-51B8-C72A-581C-0841EE816DD9}"/>
              </a:ext>
            </a:extLst>
          </p:cNvPr>
          <p:cNvSpPr txBox="1"/>
          <p:nvPr/>
        </p:nvSpPr>
        <p:spPr>
          <a:xfrm>
            <a:off x="1410413" y="248187"/>
            <a:ext cx="9661229" cy="954107"/>
          </a:xfrm>
          <a:prstGeom prst="rect">
            <a:avLst/>
          </a:prstGeom>
          <a:noFill/>
        </p:spPr>
        <p:txBody>
          <a:bodyPr wrap="square" rtlCol="0">
            <a:spAutoFit/>
          </a:bodyPr>
          <a:lstStyle/>
          <a:p>
            <a:pPr algn="ctr"/>
            <a:r>
              <a:rPr lang="en-US" sz="3200" b="1" dirty="0">
                <a:solidFill>
                  <a:srgbClr val="C00000"/>
                </a:solidFill>
              </a:rPr>
              <a:t>Base-pair Maximization</a:t>
            </a:r>
          </a:p>
          <a:p>
            <a:pPr algn="ctr"/>
            <a:r>
              <a:rPr lang="en-US" sz="2400" dirty="0"/>
              <a:t>Dynamic programming setup</a:t>
            </a:r>
          </a:p>
        </p:txBody>
      </p:sp>
      <p:sp>
        <p:nvSpPr>
          <p:cNvPr id="2" name="Slide Number Placeholder 3">
            <a:extLst>
              <a:ext uri="{FF2B5EF4-FFF2-40B4-BE49-F238E27FC236}">
                <a16:creationId xmlns:a16="http://schemas.microsoft.com/office/drawing/2014/main" id="{FFA4665E-D0AD-4513-0BFD-2E82F3885539}"/>
              </a:ext>
            </a:extLst>
          </p:cNvPr>
          <p:cNvSpPr>
            <a:spLocks noGrp="1"/>
          </p:cNvSpPr>
          <p:nvPr>
            <p:ph type="sldNum" sz="quarter" idx="12"/>
          </p:nvPr>
        </p:nvSpPr>
        <p:spPr>
          <a:xfrm>
            <a:off x="8673230" y="6335220"/>
            <a:ext cx="2743200" cy="365125"/>
          </a:xfrm>
        </p:spPr>
        <p:txBody>
          <a:bodyPr/>
          <a:lstStyle/>
          <a:p>
            <a:r>
              <a:rPr lang="en-IN" dirty="0"/>
              <a:t>7</a:t>
            </a:r>
          </a:p>
        </p:txBody>
      </p:sp>
      <p:pic>
        <p:nvPicPr>
          <p:cNvPr id="10" name="Picture 9" descr="A screenshot of a graph&#10;&#10;AI-generated content may be incorrect.">
            <a:extLst>
              <a:ext uri="{FF2B5EF4-FFF2-40B4-BE49-F238E27FC236}">
                <a16:creationId xmlns:a16="http://schemas.microsoft.com/office/drawing/2014/main" id="{2727DAE2-1932-BBC8-047E-514E6AF0FEC0}"/>
              </a:ext>
            </a:extLst>
          </p:cNvPr>
          <p:cNvPicPr>
            <a:picLocks noChangeAspect="1"/>
          </p:cNvPicPr>
          <p:nvPr/>
        </p:nvPicPr>
        <p:blipFill>
          <a:blip r:embed="rId3">
            <a:extLst>
              <a:ext uri="{28A0092B-C50C-407E-A947-70E740481C1C}">
                <a14:useLocalDpi xmlns:a14="http://schemas.microsoft.com/office/drawing/2010/main" val="0"/>
              </a:ext>
            </a:extLst>
          </a:blip>
          <a:srcRect l="14480" t="10009" r="1457" b="6380"/>
          <a:stretch>
            <a:fillRect/>
          </a:stretch>
        </p:blipFill>
        <p:spPr>
          <a:xfrm>
            <a:off x="6574971" y="1834345"/>
            <a:ext cx="4397829" cy="3347256"/>
          </a:xfrm>
          <a:prstGeom prst="rect">
            <a:avLst/>
          </a:prstGeom>
        </p:spPr>
      </p:pic>
      <p:sp>
        <p:nvSpPr>
          <p:cNvPr id="12" name="TextBox 11">
            <a:extLst>
              <a:ext uri="{FF2B5EF4-FFF2-40B4-BE49-F238E27FC236}">
                <a16:creationId xmlns:a16="http://schemas.microsoft.com/office/drawing/2014/main" id="{E333CAD1-DAB1-0BBB-398E-DBCCAD7D8B76}"/>
              </a:ext>
            </a:extLst>
          </p:cNvPr>
          <p:cNvSpPr txBox="1"/>
          <p:nvPr/>
        </p:nvSpPr>
        <p:spPr>
          <a:xfrm>
            <a:off x="10607981" y="1761541"/>
            <a:ext cx="228600" cy="246221"/>
          </a:xfrm>
          <a:prstGeom prst="rect">
            <a:avLst/>
          </a:prstGeom>
          <a:solidFill>
            <a:schemeClr val="bg1"/>
          </a:solidFill>
        </p:spPr>
        <p:txBody>
          <a:bodyPr wrap="square" rtlCol="0">
            <a:spAutoFit/>
          </a:bodyPr>
          <a:lstStyle/>
          <a:p>
            <a:r>
              <a:rPr lang="en-US" sz="1000" dirty="0"/>
              <a:t>3</a:t>
            </a:r>
          </a:p>
        </p:txBody>
      </p:sp>
      <p:pic>
        <p:nvPicPr>
          <p:cNvPr id="14" name="Picture 13">
            <a:extLst>
              <a:ext uri="{FF2B5EF4-FFF2-40B4-BE49-F238E27FC236}">
                <a16:creationId xmlns:a16="http://schemas.microsoft.com/office/drawing/2014/main" id="{F3E02826-2B21-D1DD-4CD1-EEA362214C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014" y="5320638"/>
            <a:ext cx="8646021" cy="890843"/>
          </a:xfrm>
          <a:prstGeom prst="rect">
            <a:avLst/>
          </a:prstGeom>
        </p:spPr>
      </p:pic>
      <p:sp>
        <p:nvSpPr>
          <p:cNvPr id="15" name="Rectangle 1">
            <a:extLst>
              <a:ext uri="{FF2B5EF4-FFF2-40B4-BE49-F238E27FC236}">
                <a16:creationId xmlns:a16="http://schemas.microsoft.com/office/drawing/2014/main" id="{D41BE9F5-9DEA-B099-C14F-BAF7BFFFD406}"/>
              </a:ext>
            </a:extLst>
          </p:cNvPr>
          <p:cNvSpPr>
            <a:spLocks noChangeArrowheads="1"/>
          </p:cNvSpPr>
          <p:nvPr/>
        </p:nvSpPr>
        <p:spPr bwMode="auto">
          <a:xfrm>
            <a:off x="800515" y="1511386"/>
            <a:ext cx="5452214" cy="247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1" u="none" strike="noStrike" cap="none" normalizeH="0" baseline="0" dirty="0">
                <a:ln>
                  <a:noFill/>
                </a:ln>
                <a:solidFill>
                  <a:srgbClr val="000000"/>
                </a:solidFill>
                <a:effectLst/>
                <a:latin typeface="+mn-lt"/>
              </a:rPr>
              <a:t>Define S(</a:t>
            </a:r>
            <a:r>
              <a:rPr kumimoji="0" lang="en-US" altLang="en-US" sz="2000" b="1" i="1" u="none" strike="noStrike" cap="none" normalizeH="0" baseline="0" dirty="0" err="1">
                <a:ln>
                  <a:noFill/>
                </a:ln>
                <a:solidFill>
                  <a:srgbClr val="000000"/>
                </a:solidFill>
                <a:effectLst/>
                <a:latin typeface="+mn-lt"/>
              </a:rPr>
              <a:t>i,j</a:t>
            </a:r>
            <a:r>
              <a:rPr kumimoji="0" lang="en-US" altLang="en-US" sz="2000" b="1" i="1" u="none" strike="noStrike" cap="none" normalizeH="0" baseline="0" dirty="0">
                <a:ln>
                  <a:noFill/>
                </a:ln>
                <a:solidFill>
                  <a:srgbClr val="000000"/>
                </a:solidFill>
                <a:effectLst/>
                <a:latin typeface="+mn-lt"/>
              </a:rPr>
              <a:t>)</a:t>
            </a:r>
            <a:r>
              <a:rPr kumimoji="0" lang="en-US" altLang="en-US" sz="2000" b="1" i="0" u="none" strike="noStrike" cap="none" normalizeH="0" baseline="0" dirty="0">
                <a:ln>
                  <a:noFill/>
                </a:ln>
                <a:solidFill>
                  <a:srgbClr val="000000"/>
                </a:solidFill>
                <a:effectLst/>
                <a:latin typeface="+mn-lt"/>
              </a:rPr>
              <a:t>: </a:t>
            </a:r>
            <a:r>
              <a:rPr kumimoji="0" lang="en-US" altLang="en-US" sz="2000" b="0" i="0" u="none" strike="noStrike" cap="none" normalizeH="0" baseline="0" dirty="0">
                <a:ln>
                  <a:noFill/>
                </a:ln>
                <a:solidFill>
                  <a:srgbClr val="000000"/>
                </a:solidFill>
                <a:effectLst/>
                <a:latin typeface="+mn-lt"/>
              </a:rPr>
              <a:t>maximum number of base pairs that the subsequence</a:t>
            </a:r>
            <a:r>
              <a:rPr kumimoji="0" lang="en-US" altLang="en-US" sz="2000" b="0" i="1" u="none" strike="noStrike" cap="none" normalizeH="0" baseline="0" dirty="0">
                <a:ln>
                  <a:noFill/>
                </a:ln>
                <a:solidFill>
                  <a:srgbClr val="000000"/>
                </a:solidFill>
                <a:effectLst/>
                <a:latin typeface="+mn-lt"/>
              </a:rPr>
              <a:t> </a:t>
            </a:r>
            <a:r>
              <a:rPr kumimoji="0" lang="en-US" altLang="en-US" sz="2000" b="0" i="1" u="none" strike="noStrike" cap="none" normalizeH="0" baseline="0" dirty="0" err="1">
                <a:ln>
                  <a:noFill/>
                </a:ln>
                <a:solidFill>
                  <a:srgbClr val="000000"/>
                </a:solidFill>
                <a:effectLst/>
                <a:latin typeface="+mn-lt"/>
              </a:rPr>
              <a:t>i</a:t>
            </a:r>
            <a:r>
              <a:rPr kumimoji="0" lang="en-US" altLang="en-US" sz="2000" b="0" i="1" u="none" strike="noStrike" cap="none" normalizeH="0" baseline="0" dirty="0">
                <a:ln>
                  <a:noFill/>
                </a:ln>
                <a:solidFill>
                  <a:srgbClr val="000000"/>
                </a:solidFill>
                <a:effectLst/>
                <a:latin typeface="+mn-lt"/>
              </a:rPr>
              <a:t>…j </a:t>
            </a:r>
            <a:r>
              <a:rPr kumimoji="0" lang="en-US" altLang="en-US" sz="2000" b="0" i="0" u="none" strike="noStrike" cap="none" normalizeH="0" baseline="0" dirty="0">
                <a:ln>
                  <a:noFill/>
                </a:ln>
                <a:solidFill>
                  <a:srgbClr val="000000"/>
                </a:solidFill>
                <a:effectLst/>
                <a:latin typeface="+mn-lt"/>
              </a:rPr>
              <a:t>can form</a:t>
            </a:r>
          </a:p>
          <a:p>
            <a:pPr marL="342900" indent="-342900">
              <a:lnSpc>
                <a:spcPct val="200000"/>
              </a:lnSpc>
              <a:buFont typeface="Arial" panose="020B0604020202020204" pitchFamily="34" charset="0"/>
              <a:buChar char="•"/>
            </a:pPr>
            <a:r>
              <a:rPr lang="en-US" altLang="en-US" sz="2000" b="1" dirty="0">
                <a:solidFill>
                  <a:srgbClr val="000000"/>
                </a:solidFill>
                <a:latin typeface="+mn-lt"/>
              </a:rPr>
              <a:t>Subsequence length:</a:t>
            </a:r>
            <a:r>
              <a:rPr lang="en-US" altLang="en-US" sz="2000" dirty="0">
                <a:solidFill>
                  <a:srgbClr val="000000"/>
                </a:solidFill>
                <a:latin typeface="+mn-lt"/>
              </a:rPr>
              <a:t> </a:t>
            </a:r>
            <a:r>
              <a:rPr lang="en-US" altLang="en-US" sz="2000" i="1" dirty="0">
                <a:solidFill>
                  <a:srgbClr val="000000"/>
                </a:solidFill>
                <a:latin typeface="+mn-lt"/>
              </a:rPr>
              <a:t>d=j−</a:t>
            </a:r>
            <a:r>
              <a:rPr lang="en-US" altLang="en-US" sz="2000" i="1" dirty="0" err="1">
                <a:solidFill>
                  <a:srgbClr val="000000"/>
                </a:solidFill>
                <a:latin typeface="+mn-lt"/>
              </a:rPr>
              <a:t>i</a:t>
            </a:r>
            <a:endParaRPr lang="en-US" altLang="en-US" sz="2000" i="1" dirty="0">
              <a:solidFill>
                <a:srgbClr val="000000"/>
              </a:solidFill>
              <a:latin typeface="+mn-lt"/>
            </a:endParaRPr>
          </a:p>
          <a:p>
            <a:pPr marL="342900" indent="-342900">
              <a:lnSpc>
                <a:spcPct val="200000"/>
              </a:lnSpc>
              <a:buFont typeface="Arial" panose="020B0604020202020204" pitchFamily="34" charset="0"/>
              <a:buChar char="•"/>
            </a:pPr>
            <a:r>
              <a:rPr lang="en-US" altLang="en-US" sz="2000" dirty="0">
                <a:solidFill>
                  <a:srgbClr val="000000"/>
                </a:solidFill>
                <a:latin typeface="+mn-lt"/>
              </a:rPr>
              <a:t>Fill diagonally by increasing d (Bottom-up)</a:t>
            </a:r>
            <a:endParaRPr lang="en-US" altLang="en-US" sz="2000" dirty="0">
              <a:latin typeface="+mn-lt"/>
            </a:endParaRPr>
          </a:p>
        </p:txBody>
      </p:sp>
      <p:sp>
        <p:nvSpPr>
          <p:cNvPr id="26" name="TextBox 25">
            <a:extLst>
              <a:ext uri="{FF2B5EF4-FFF2-40B4-BE49-F238E27FC236}">
                <a16:creationId xmlns:a16="http://schemas.microsoft.com/office/drawing/2014/main" id="{B43E5949-C45F-0868-C574-433C7AEB8F6E}"/>
              </a:ext>
            </a:extLst>
          </p:cNvPr>
          <p:cNvSpPr txBox="1"/>
          <p:nvPr/>
        </p:nvSpPr>
        <p:spPr>
          <a:xfrm>
            <a:off x="1032014" y="4350033"/>
            <a:ext cx="3799114" cy="461665"/>
          </a:xfrm>
          <a:prstGeom prst="rect">
            <a:avLst/>
          </a:prstGeom>
          <a:noFill/>
        </p:spPr>
        <p:txBody>
          <a:bodyPr wrap="square" rtlCol="0">
            <a:spAutoFit/>
          </a:bodyPr>
          <a:lstStyle/>
          <a:p>
            <a:r>
              <a:rPr lang="en-US" sz="2400" u="sng" dirty="0"/>
              <a:t>A DEMO for a sequence</a:t>
            </a:r>
          </a:p>
        </p:txBody>
      </p:sp>
      <p:sp>
        <p:nvSpPr>
          <p:cNvPr id="27" name="Down Arrow 26">
            <a:extLst>
              <a:ext uri="{FF2B5EF4-FFF2-40B4-BE49-F238E27FC236}">
                <a16:creationId xmlns:a16="http://schemas.microsoft.com/office/drawing/2014/main" id="{F87DC88D-0855-7CC0-49FE-00564368FA9A}"/>
              </a:ext>
            </a:extLst>
          </p:cNvPr>
          <p:cNvSpPr/>
          <p:nvPr/>
        </p:nvSpPr>
        <p:spPr>
          <a:xfrm>
            <a:off x="2177143" y="4797245"/>
            <a:ext cx="413657" cy="549369"/>
          </a:xfrm>
          <a:prstGeom prst="downArrow">
            <a:avLst/>
          </a:prstGeom>
          <a:solidFill>
            <a:schemeClr val="bg2">
              <a:lumMod val="9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7250BC22-C0F7-2983-373B-4FD773D03916}"/>
              </a:ext>
            </a:extLst>
          </p:cNvPr>
          <p:cNvCxnSpPr/>
          <p:nvPr/>
        </p:nvCxnSpPr>
        <p:spPr>
          <a:xfrm>
            <a:off x="7799294" y="2130014"/>
            <a:ext cx="2097741" cy="20547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59EC8171-A852-25A4-9A06-EE82A8A54BB0}"/>
              </a:ext>
            </a:extLst>
          </p:cNvPr>
          <p:cNvCxnSpPr>
            <a:cxnSpLocks/>
          </p:cNvCxnSpPr>
          <p:nvPr/>
        </p:nvCxnSpPr>
        <p:spPr>
          <a:xfrm>
            <a:off x="8284638" y="2121607"/>
            <a:ext cx="1571182" cy="16125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422683"/>
      </p:ext>
    </p:extLst>
  </p:cSld>
  <p:clrMapOvr>
    <a:masterClrMapping/>
  </p:clrMapOvr>
  <mc:AlternateContent xmlns:mc="http://schemas.openxmlformats.org/markup-compatibility/2006" xmlns:p14="http://schemas.microsoft.com/office/powerpoint/2010/main">
    <mc:Choice Requires="p14">
      <p:transition spd="slow" p14:dur="2000" advTm="1094"/>
    </mc:Choice>
    <mc:Fallback xmlns="">
      <p:transition spd="slow" advTm="109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E3A88-5E9C-4285-F301-A896A40FA05D}"/>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27F34D76-BB82-0B56-DE49-A6DF001DA1F1}"/>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TextBox 22">
            <a:extLst>
              <a:ext uri="{FF2B5EF4-FFF2-40B4-BE49-F238E27FC236}">
                <a16:creationId xmlns:a16="http://schemas.microsoft.com/office/drawing/2014/main" id="{45E2A0B7-4170-35CB-CBBE-BD3F0412E0FF}"/>
              </a:ext>
            </a:extLst>
          </p:cNvPr>
          <p:cNvSpPr txBox="1"/>
          <p:nvPr/>
        </p:nvSpPr>
        <p:spPr>
          <a:xfrm>
            <a:off x="1410413" y="248187"/>
            <a:ext cx="9661229" cy="954107"/>
          </a:xfrm>
          <a:prstGeom prst="rect">
            <a:avLst/>
          </a:prstGeom>
          <a:noFill/>
        </p:spPr>
        <p:txBody>
          <a:bodyPr wrap="square" rtlCol="0">
            <a:spAutoFit/>
          </a:bodyPr>
          <a:lstStyle/>
          <a:p>
            <a:pPr algn="ctr"/>
            <a:r>
              <a:rPr lang="en-US" sz="3200" b="1" dirty="0">
                <a:solidFill>
                  <a:srgbClr val="C00000"/>
                </a:solidFill>
              </a:rPr>
              <a:t>Base-pair Maximization</a:t>
            </a:r>
          </a:p>
          <a:p>
            <a:pPr algn="ctr"/>
            <a:r>
              <a:rPr lang="en-US" sz="2400" dirty="0"/>
              <a:t>Dynamic programming setup</a:t>
            </a:r>
          </a:p>
        </p:txBody>
      </p:sp>
      <p:sp>
        <p:nvSpPr>
          <p:cNvPr id="2" name="Slide Number Placeholder 3">
            <a:extLst>
              <a:ext uri="{FF2B5EF4-FFF2-40B4-BE49-F238E27FC236}">
                <a16:creationId xmlns:a16="http://schemas.microsoft.com/office/drawing/2014/main" id="{AD27FA4E-6703-6CCD-0D9C-7A3CEE53C09C}"/>
              </a:ext>
            </a:extLst>
          </p:cNvPr>
          <p:cNvSpPr>
            <a:spLocks noGrp="1"/>
          </p:cNvSpPr>
          <p:nvPr>
            <p:ph type="sldNum" sz="quarter" idx="12"/>
          </p:nvPr>
        </p:nvSpPr>
        <p:spPr>
          <a:xfrm>
            <a:off x="8673230" y="6335220"/>
            <a:ext cx="2743200" cy="365125"/>
          </a:xfrm>
        </p:spPr>
        <p:txBody>
          <a:bodyPr/>
          <a:lstStyle/>
          <a:p>
            <a:r>
              <a:rPr lang="en-IN" dirty="0"/>
              <a:t>7</a:t>
            </a:r>
          </a:p>
        </p:txBody>
      </p:sp>
      <p:pic>
        <p:nvPicPr>
          <p:cNvPr id="10" name="Picture 9" descr="A screenshot of a graph&#10;&#10;AI-generated content may be incorrect.">
            <a:extLst>
              <a:ext uri="{FF2B5EF4-FFF2-40B4-BE49-F238E27FC236}">
                <a16:creationId xmlns:a16="http://schemas.microsoft.com/office/drawing/2014/main" id="{989C2424-D2BE-4DB9-89E7-998A155D5773}"/>
              </a:ext>
            </a:extLst>
          </p:cNvPr>
          <p:cNvPicPr>
            <a:picLocks noChangeAspect="1"/>
          </p:cNvPicPr>
          <p:nvPr/>
        </p:nvPicPr>
        <p:blipFill>
          <a:blip r:embed="rId3">
            <a:extLst>
              <a:ext uri="{28A0092B-C50C-407E-A947-70E740481C1C}">
                <a14:useLocalDpi xmlns:a14="http://schemas.microsoft.com/office/drawing/2010/main" val="0"/>
              </a:ext>
            </a:extLst>
          </a:blip>
          <a:srcRect l="14480" t="10009" r="1457" b="6380"/>
          <a:stretch>
            <a:fillRect/>
          </a:stretch>
        </p:blipFill>
        <p:spPr>
          <a:xfrm>
            <a:off x="6574971" y="1834345"/>
            <a:ext cx="4397829" cy="3347256"/>
          </a:xfrm>
          <a:prstGeom prst="rect">
            <a:avLst/>
          </a:prstGeom>
        </p:spPr>
      </p:pic>
      <p:sp>
        <p:nvSpPr>
          <p:cNvPr id="12" name="TextBox 11">
            <a:extLst>
              <a:ext uri="{FF2B5EF4-FFF2-40B4-BE49-F238E27FC236}">
                <a16:creationId xmlns:a16="http://schemas.microsoft.com/office/drawing/2014/main" id="{9994863F-8400-6562-675D-DD74754F0CE2}"/>
              </a:ext>
            </a:extLst>
          </p:cNvPr>
          <p:cNvSpPr txBox="1"/>
          <p:nvPr/>
        </p:nvSpPr>
        <p:spPr>
          <a:xfrm>
            <a:off x="10607981" y="1761541"/>
            <a:ext cx="228600" cy="246221"/>
          </a:xfrm>
          <a:prstGeom prst="rect">
            <a:avLst/>
          </a:prstGeom>
          <a:solidFill>
            <a:schemeClr val="bg1"/>
          </a:solidFill>
        </p:spPr>
        <p:txBody>
          <a:bodyPr wrap="square" rtlCol="0">
            <a:spAutoFit/>
          </a:bodyPr>
          <a:lstStyle/>
          <a:p>
            <a:r>
              <a:rPr lang="en-US" sz="1000" dirty="0"/>
              <a:t>3</a:t>
            </a:r>
          </a:p>
        </p:txBody>
      </p:sp>
      <p:pic>
        <p:nvPicPr>
          <p:cNvPr id="14" name="Picture 13">
            <a:extLst>
              <a:ext uri="{FF2B5EF4-FFF2-40B4-BE49-F238E27FC236}">
                <a16:creationId xmlns:a16="http://schemas.microsoft.com/office/drawing/2014/main" id="{C36B3BD2-B296-B66B-E861-03B50785A3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014" y="5320638"/>
            <a:ext cx="8646021" cy="890843"/>
          </a:xfrm>
          <a:prstGeom prst="rect">
            <a:avLst/>
          </a:prstGeom>
        </p:spPr>
      </p:pic>
      <p:sp>
        <p:nvSpPr>
          <p:cNvPr id="15" name="Rectangle 1">
            <a:extLst>
              <a:ext uri="{FF2B5EF4-FFF2-40B4-BE49-F238E27FC236}">
                <a16:creationId xmlns:a16="http://schemas.microsoft.com/office/drawing/2014/main" id="{FCBD274B-E3B1-8001-3B5F-A62D73EE63AA}"/>
              </a:ext>
            </a:extLst>
          </p:cNvPr>
          <p:cNvSpPr>
            <a:spLocks noChangeArrowheads="1"/>
          </p:cNvSpPr>
          <p:nvPr/>
        </p:nvSpPr>
        <p:spPr bwMode="auto">
          <a:xfrm>
            <a:off x="800515" y="1511386"/>
            <a:ext cx="5452214" cy="247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1" u="none" strike="noStrike" cap="none" normalizeH="0" baseline="0" dirty="0">
                <a:ln>
                  <a:noFill/>
                </a:ln>
                <a:solidFill>
                  <a:srgbClr val="000000"/>
                </a:solidFill>
                <a:effectLst/>
                <a:latin typeface="+mn-lt"/>
              </a:rPr>
              <a:t>Define S(</a:t>
            </a:r>
            <a:r>
              <a:rPr kumimoji="0" lang="en-US" altLang="en-US" sz="2000" b="1" i="1" u="none" strike="noStrike" cap="none" normalizeH="0" baseline="0" dirty="0" err="1">
                <a:ln>
                  <a:noFill/>
                </a:ln>
                <a:solidFill>
                  <a:srgbClr val="000000"/>
                </a:solidFill>
                <a:effectLst/>
                <a:latin typeface="+mn-lt"/>
              </a:rPr>
              <a:t>i,j</a:t>
            </a:r>
            <a:r>
              <a:rPr kumimoji="0" lang="en-US" altLang="en-US" sz="2000" b="1" i="1" u="none" strike="noStrike" cap="none" normalizeH="0" baseline="0" dirty="0">
                <a:ln>
                  <a:noFill/>
                </a:ln>
                <a:solidFill>
                  <a:srgbClr val="000000"/>
                </a:solidFill>
                <a:effectLst/>
                <a:latin typeface="+mn-lt"/>
              </a:rPr>
              <a:t>)</a:t>
            </a:r>
            <a:r>
              <a:rPr kumimoji="0" lang="en-US" altLang="en-US" sz="2000" b="1" i="0" u="none" strike="noStrike" cap="none" normalizeH="0" baseline="0" dirty="0">
                <a:ln>
                  <a:noFill/>
                </a:ln>
                <a:solidFill>
                  <a:srgbClr val="000000"/>
                </a:solidFill>
                <a:effectLst/>
                <a:latin typeface="+mn-lt"/>
              </a:rPr>
              <a:t>: </a:t>
            </a:r>
            <a:r>
              <a:rPr kumimoji="0" lang="en-US" altLang="en-US" sz="2000" b="0" i="0" u="none" strike="noStrike" cap="none" normalizeH="0" baseline="0" dirty="0">
                <a:ln>
                  <a:noFill/>
                </a:ln>
                <a:solidFill>
                  <a:srgbClr val="000000"/>
                </a:solidFill>
                <a:effectLst/>
                <a:latin typeface="+mn-lt"/>
              </a:rPr>
              <a:t>maximum number of base pairs that the subsequence</a:t>
            </a:r>
            <a:r>
              <a:rPr kumimoji="0" lang="en-US" altLang="en-US" sz="2000" b="0" i="1" u="none" strike="noStrike" cap="none" normalizeH="0" baseline="0" dirty="0">
                <a:ln>
                  <a:noFill/>
                </a:ln>
                <a:solidFill>
                  <a:srgbClr val="000000"/>
                </a:solidFill>
                <a:effectLst/>
                <a:latin typeface="+mn-lt"/>
              </a:rPr>
              <a:t> </a:t>
            </a:r>
            <a:r>
              <a:rPr kumimoji="0" lang="en-US" altLang="en-US" sz="2000" b="0" i="1" u="none" strike="noStrike" cap="none" normalizeH="0" baseline="0" dirty="0" err="1">
                <a:ln>
                  <a:noFill/>
                </a:ln>
                <a:solidFill>
                  <a:srgbClr val="000000"/>
                </a:solidFill>
                <a:effectLst/>
                <a:latin typeface="+mn-lt"/>
              </a:rPr>
              <a:t>i</a:t>
            </a:r>
            <a:r>
              <a:rPr kumimoji="0" lang="en-US" altLang="en-US" sz="2000" b="0" i="1" u="none" strike="noStrike" cap="none" normalizeH="0" baseline="0" dirty="0">
                <a:ln>
                  <a:noFill/>
                </a:ln>
                <a:solidFill>
                  <a:srgbClr val="000000"/>
                </a:solidFill>
                <a:effectLst/>
                <a:latin typeface="+mn-lt"/>
              </a:rPr>
              <a:t>…j </a:t>
            </a:r>
            <a:r>
              <a:rPr kumimoji="0" lang="en-US" altLang="en-US" sz="2000" b="0" i="0" u="none" strike="noStrike" cap="none" normalizeH="0" baseline="0" dirty="0">
                <a:ln>
                  <a:noFill/>
                </a:ln>
                <a:solidFill>
                  <a:srgbClr val="000000"/>
                </a:solidFill>
                <a:effectLst/>
                <a:latin typeface="+mn-lt"/>
              </a:rPr>
              <a:t>can form</a:t>
            </a:r>
          </a:p>
          <a:p>
            <a:pPr marL="342900" indent="-342900">
              <a:lnSpc>
                <a:spcPct val="200000"/>
              </a:lnSpc>
              <a:buFont typeface="Arial" panose="020B0604020202020204" pitchFamily="34" charset="0"/>
              <a:buChar char="•"/>
            </a:pPr>
            <a:r>
              <a:rPr lang="en-US" altLang="en-US" sz="2000" b="1" dirty="0">
                <a:solidFill>
                  <a:srgbClr val="000000"/>
                </a:solidFill>
                <a:latin typeface="+mn-lt"/>
              </a:rPr>
              <a:t>Subsequence length:</a:t>
            </a:r>
            <a:r>
              <a:rPr lang="en-US" altLang="en-US" sz="2000" dirty="0">
                <a:solidFill>
                  <a:srgbClr val="000000"/>
                </a:solidFill>
                <a:latin typeface="+mn-lt"/>
              </a:rPr>
              <a:t> </a:t>
            </a:r>
            <a:r>
              <a:rPr lang="en-US" altLang="en-US" sz="2000" i="1" dirty="0">
                <a:solidFill>
                  <a:srgbClr val="000000"/>
                </a:solidFill>
                <a:latin typeface="+mn-lt"/>
              </a:rPr>
              <a:t>d=j−</a:t>
            </a:r>
            <a:r>
              <a:rPr lang="en-US" altLang="en-US" sz="2000" i="1" dirty="0" err="1">
                <a:solidFill>
                  <a:srgbClr val="000000"/>
                </a:solidFill>
                <a:latin typeface="+mn-lt"/>
              </a:rPr>
              <a:t>i</a:t>
            </a:r>
            <a:endParaRPr lang="en-US" altLang="en-US" sz="2000" i="1" dirty="0">
              <a:solidFill>
                <a:srgbClr val="000000"/>
              </a:solidFill>
              <a:latin typeface="+mn-lt"/>
            </a:endParaRPr>
          </a:p>
          <a:p>
            <a:pPr marL="342900" indent="-342900">
              <a:lnSpc>
                <a:spcPct val="200000"/>
              </a:lnSpc>
              <a:buFont typeface="Arial" panose="020B0604020202020204" pitchFamily="34" charset="0"/>
              <a:buChar char="•"/>
            </a:pPr>
            <a:r>
              <a:rPr lang="en-US" altLang="en-US" sz="2000" dirty="0">
                <a:solidFill>
                  <a:srgbClr val="000000"/>
                </a:solidFill>
                <a:latin typeface="+mn-lt"/>
              </a:rPr>
              <a:t>Fill diagonally by increasing d (Bottom-up)</a:t>
            </a:r>
            <a:endParaRPr lang="en-US" altLang="en-US" sz="2000" dirty="0">
              <a:latin typeface="+mn-lt"/>
            </a:endParaRPr>
          </a:p>
        </p:txBody>
      </p:sp>
      <p:sp>
        <p:nvSpPr>
          <p:cNvPr id="26" name="TextBox 25">
            <a:extLst>
              <a:ext uri="{FF2B5EF4-FFF2-40B4-BE49-F238E27FC236}">
                <a16:creationId xmlns:a16="http://schemas.microsoft.com/office/drawing/2014/main" id="{E48F71BD-F35A-27A1-D444-4DD09B124524}"/>
              </a:ext>
            </a:extLst>
          </p:cNvPr>
          <p:cNvSpPr txBox="1"/>
          <p:nvPr/>
        </p:nvSpPr>
        <p:spPr>
          <a:xfrm>
            <a:off x="1032014" y="4350033"/>
            <a:ext cx="3799114" cy="461665"/>
          </a:xfrm>
          <a:prstGeom prst="rect">
            <a:avLst/>
          </a:prstGeom>
          <a:noFill/>
        </p:spPr>
        <p:txBody>
          <a:bodyPr wrap="square" rtlCol="0">
            <a:spAutoFit/>
          </a:bodyPr>
          <a:lstStyle/>
          <a:p>
            <a:r>
              <a:rPr lang="en-US" sz="2400" u="sng" dirty="0"/>
              <a:t>A DEMO for a sequence</a:t>
            </a:r>
          </a:p>
        </p:txBody>
      </p:sp>
      <p:sp>
        <p:nvSpPr>
          <p:cNvPr id="27" name="Down Arrow 26">
            <a:extLst>
              <a:ext uri="{FF2B5EF4-FFF2-40B4-BE49-F238E27FC236}">
                <a16:creationId xmlns:a16="http://schemas.microsoft.com/office/drawing/2014/main" id="{E9445EDD-F824-2B4B-8212-DD930A248386}"/>
              </a:ext>
            </a:extLst>
          </p:cNvPr>
          <p:cNvSpPr/>
          <p:nvPr/>
        </p:nvSpPr>
        <p:spPr>
          <a:xfrm>
            <a:off x="2177143" y="4797245"/>
            <a:ext cx="413657" cy="549369"/>
          </a:xfrm>
          <a:prstGeom prst="downArrow">
            <a:avLst/>
          </a:prstGeom>
          <a:solidFill>
            <a:schemeClr val="bg2">
              <a:lumMod val="9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D2BFA5C-69C4-CBAA-08B0-0F260A65FF7D}"/>
              </a:ext>
            </a:extLst>
          </p:cNvPr>
          <p:cNvSpPr txBox="1"/>
          <p:nvPr/>
        </p:nvSpPr>
        <p:spPr>
          <a:xfrm>
            <a:off x="2689402" y="6291828"/>
            <a:ext cx="7771138"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rgbClr val="C00000"/>
                </a:solidFill>
                <a:effectLst/>
              </a:rPr>
              <a:t>Okay, but how do we compute the value in one cell S(</a:t>
            </a:r>
            <a:r>
              <a:rPr kumimoji="0" lang="en-US" altLang="en-US" sz="2000" b="0" i="1" u="none" strike="noStrike" cap="none" normalizeH="0" baseline="0" dirty="0" err="1">
                <a:ln>
                  <a:noFill/>
                </a:ln>
                <a:solidFill>
                  <a:srgbClr val="C00000"/>
                </a:solidFill>
                <a:effectLst/>
              </a:rPr>
              <a:t>i,j</a:t>
            </a:r>
            <a:r>
              <a:rPr kumimoji="0" lang="en-US" altLang="en-US" sz="2000" b="0" i="1" u="none" strike="noStrike" cap="none" normalizeH="0" baseline="0" dirty="0">
                <a:ln>
                  <a:noFill/>
                </a:ln>
                <a:solidFill>
                  <a:srgbClr val="C00000"/>
                </a:solidFill>
                <a:effectLst/>
              </a:rPr>
              <a:t>)?</a:t>
            </a:r>
          </a:p>
        </p:txBody>
      </p:sp>
      <p:cxnSp>
        <p:nvCxnSpPr>
          <p:cNvPr id="5" name="Straight Arrow Connector 4">
            <a:extLst>
              <a:ext uri="{FF2B5EF4-FFF2-40B4-BE49-F238E27FC236}">
                <a16:creationId xmlns:a16="http://schemas.microsoft.com/office/drawing/2014/main" id="{E285CCFC-C7F6-36E9-7DF0-E3FA618055EF}"/>
              </a:ext>
            </a:extLst>
          </p:cNvPr>
          <p:cNvCxnSpPr/>
          <p:nvPr/>
        </p:nvCxnSpPr>
        <p:spPr>
          <a:xfrm flipV="1">
            <a:off x="8541572" y="2162287"/>
            <a:ext cx="1032734" cy="9574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2DF6B1DB-114E-2704-8CFA-EC4EE42E99BB}"/>
              </a:ext>
            </a:extLst>
          </p:cNvPr>
          <p:cNvSpPr/>
          <p:nvPr/>
        </p:nvSpPr>
        <p:spPr>
          <a:xfrm>
            <a:off x="9574306" y="1853190"/>
            <a:ext cx="344245" cy="327942"/>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9067418"/>
      </p:ext>
    </p:extLst>
  </p:cSld>
  <p:clrMapOvr>
    <a:masterClrMapping/>
  </p:clrMapOvr>
  <mc:AlternateContent xmlns:mc="http://schemas.openxmlformats.org/markup-compatibility/2006" xmlns:p14="http://schemas.microsoft.com/office/powerpoint/2010/main">
    <mc:Choice Requires="p14">
      <p:transition spd="slow" p14:dur="2000" advTm="16327"/>
    </mc:Choice>
    <mc:Fallback xmlns="">
      <p:transition spd="slow" advTm="1632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55FB-FD0B-D45D-3559-A173F0D9AC1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B369D7E4-0211-C1A8-4BFD-64D4A0D114E6}"/>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TextBox 22">
            <a:extLst>
              <a:ext uri="{FF2B5EF4-FFF2-40B4-BE49-F238E27FC236}">
                <a16:creationId xmlns:a16="http://schemas.microsoft.com/office/drawing/2014/main" id="{0281EFD7-96AB-16D0-0B15-860DC452C3F3}"/>
              </a:ext>
            </a:extLst>
          </p:cNvPr>
          <p:cNvSpPr txBox="1"/>
          <p:nvPr/>
        </p:nvSpPr>
        <p:spPr>
          <a:xfrm>
            <a:off x="1401446" y="305014"/>
            <a:ext cx="10014984" cy="584775"/>
          </a:xfrm>
          <a:prstGeom prst="rect">
            <a:avLst/>
          </a:prstGeom>
          <a:noFill/>
        </p:spPr>
        <p:txBody>
          <a:bodyPr wrap="square" rtlCol="0">
            <a:spAutoFit/>
          </a:bodyPr>
          <a:lstStyle/>
          <a:p>
            <a:pPr algn="ctr"/>
            <a:r>
              <a:rPr lang="en-US" altLang="en-US" sz="3200" b="1" dirty="0">
                <a:solidFill>
                  <a:srgbClr val="C00000"/>
                </a:solidFill>
              </a:rPr>
              <a:t>How do we compute the value in one cell, S(</a:t>
            </a:r>
            <a:r>
              <a:rPr lang="en-US" altLang="en-US" sz="3200" b="1" dirty="0" err="1">
                <a:solidFill>
                  <a:srgbClr val="C00000"/>
                </a:solidFill>
              </a:rPr>
              <a:t>i,j</a:t>
            </a:r>
            <a:r>
              <a:rPr lang="en-US" altLang="en-US" sz="3200" b="1" dirty="0">
                <a:solidFill>
                  <a:srgbClr val="C00000"/>
                </a:solidFill>
              </a:rPr>
              <a:t>)?</a:t>
            </a:r>
            <a:endParaRPr lang="en-US" sz="3200" b="1" dirty="0">
              <a:solidFill>
                <a:srgbClr val="C00000"/>
              </a:solidFill>
            </a:endParaRPr>
          </a:p>
        </p:txBody>
      </p:sp>
      <p:sp>
        <p:nvSpPr>
          <p:cNvPr id="2" name="Slide Number Placeholder 3">
            <a:extLst>
              <a:ext uri="{FF2B5EF4-FFF2-40B4-BE49-F238E27FC236}">
                <a16:creationId xmlns:a16="http://schemas.microsoft.com/office/drawing/2014/main" id="{EF0C5151-CAFB-8CE7-E055-2E389A033950}"/>
              </a:ext>
            </a:extLst>
          </p:cNvPr>
          <p:cNvSpPr>
            <a:spLocks noGrp="1"/>
          </p:cNvSpPr>
          <p:nvPr>
            <p:ph type="sldNum" sz="quarter" idx="12"/>
          </p:nvPr>
        </p:nvSpPr>
        <p:spPr>
          <a:xfrm>
            <a:off x="8933705" y="6350377"/>
            <a:ext cx="2743200" cy="365125"/>
          </a:xfrm>
        </p:spPr>
        <p:txBody>
          <a:bodyPr/>
          <a:lstStyle/>
          <a:p>
            <a:r>
              <a:rPr lang="en-IN" dirty="0"/>
              <a:t>8</a:t>
            </a:r>
          </a:p>
        </p:txBody>
      </p:sp>
      <p:pic>
        <p:nvPicPr>
          <p:cNvPr id="5" name="Picture 4">
            <a:extLst>
              <a:ext uri="{FF2B5EF4-FFF2-40B4-BE49-F238E27FC236}">
                <a16:creationId xmlns:a16="http://schemas.microsoft.com/office/drawing/2014/main" id="{CC4FCEA8-3780-619C-5C27-6F16970FA1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1355" y="2876259"/>
            <a:ext cx="1612273" cy="2698435"/>
          </a:xfrm>
          <a:prstGeom prst="rect">
            <a:avLst/>
          </a:prstGeom>
        </p:spPr>
      </p:pic>
      <p:sp>
        <p:nvSpPr>
          <p:cNvPr id="67" name="Rectangle 66">
            <a:extLst>
              <a:ext uri="{FF2B5EF4-FFF2-40B4-BE49-F238E27FC236}">
                <a16:creationId xmlns:a16="http://schemas.microsoft.com/office/drawing/2014/main" id="{E71CF2BF-F519-ED69-37E1-5DB40E6566C5}"/>
              </a:ext>
            </a:extLst>
          </p:cNvPr>
          <p:cNvSpPr/>
          <p:nvPr/>
        </p:nvSpPr>
        <p:spPr>
          <a:xfrm>
            <a:off x="8243978" y="2962483"/>
            <a:ext cx="1895104" cy="3227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DDE70D0E-927F-FCAF-E80B-5467F7826976}"/>
              </a:ext>
            </a:extLst>
          </p:cNvPr>
          <p:cNvSpPr txBox="1"/>
          <p:nvPr/>
        </p:nvSpPr>
        <p:spPr>
          <a:xfrm>
            <a:off x="141890" y="6437469"/>
            <a:ext cx="6100174" cy="276999"/>
          </a:xfrm>
          <a:prstGeom prst="rect">
            <a:avLst/>
          </a:prstGeom>
          <a:noFill/>
        </p:spPr>
        <p:txBody>
          <a:bodyPr wrap="square">
            <a:spAutoFit/>
          </a:bodyPr>
          <a:lstStyle/>
          <a:p>
            <a:r>
              <a:rPr lang="en-US" sz="1200" dirty="0"/>
              <a:t>Eddy, </a:t>
            </a:r>
            <a:r>
              <a:rPr lang="en-US" sz="1200" i="1" dirty="0"/>
              <a:t>Nature Biotechnology</a:t>
            </a:r>
            <a:r>
              <a:rPr lang="en-US" sz="1200" dirty="0"/>
              <a:t>, 2004</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48A04DC-B6E3-6BA2-46A9-4D3645A5E953}"/>
                  </a:ext>
                </a:extLst>
              </p:cNvPr>
              <p:cNvSpPr txBox="1"/>
              <p:nvPr/>
            </p:nvSpPr>
            <p:spPr>
              <a:xfrm>
                <a:off x="-991932" y="1356088"/>
                <a:ext cx="9320835" cy="13874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𝑆</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𝑗</m:t>
                          </m:r>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𝑚𝑎𝑥</m:t>
                      </m:r>
                      <m:r>
                        <a:rPr lang="en-US" sz="2000" b="0" i="1" smtClean="0">
                          <a:solidFill>
                            <a:schemeClr val="tx1"/>
                          </a:solidFill>
                          <a:latin typeface="Cambria Math" panose="02040503050406030204" pitchFamily="18" charset="0"/>
                        </a:rPr>
                        <m:t> </m:t>
                      </m:r>
                      <m:d>
                        <m:dPr>
                          <m:begChr m:val="{"/>
                          <m:endChr m:val=""/>
                          <m:ctrlPr>
                            <a:rPr lang="en-US" sz="2000" b="0" i="1" smtClean="0">
                              <a:solidFill>
                                <a:schemeClr val="tx1"/>
                              </a:solidFill>
                              <a:latin typeface="Cambria Math" panose="02040503050406030204" pitchFamily="18" charset="0"/>
                            </a:rPr>
                          </m:ctrlPr>
                        </m:dPr>
                        <m:e>
                          <m:eqArr>
                            <m:eqArrPr>
                              <m:ctrlPr>
                                <a:rPr lang="en-US" sz="2000" b="0" i="1" smtClean="0">
                                  <a:solidFill>
                                    <a:schemeClr val="tx1"/>
                                  </a:solidFill>
                                  <a:latin typeface="Cambria Math" panose="02040503050406030204" pitchFamily="18" charset="0"/>
                                </a:rPr>
                              </m:ctrlPr>
                            </m:eqArrPr>
                            <m:e>
                              <m:r>
                                <a:rPr lang="en-US" sz="2000" b="0" i="1" smtClean="0">
                                  <a:solidFill>
                                    <a:schemeClr val="tx1"/>
                                  </a:solidFill>
                                  <a:latin typeface="Cambria Math" panose="02040503050406030204" pitchFamily="18" charset="0"/>
                                </a:rPr>
                                <m:t>𝑆</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𝑗</m:t>
                                  </m:r>
                                  <m:r>
                                    <a:rPr lang="en-US" sz="2000" b="0" i="1" smtClean="0">
                                      <a:solidFill>
                                        <a:schemeClr val="tx1"/>
                                      </a:solidFill>
                                      <a:latin typeface="Cambria Math" panose="02040503050406030204" pitchFamily="18" charset="0"/>
                                    </a:rPr>
                                    <m:t>−1</m:t>
                                  </m:r>
                                </m:e>
                              </m:d>
                              <m:r>
                                <a:rPr lang="en-US" sz="2000" b="0" i="1" smtClean="0">
                                  <a:solidFill>
                                    <a:srgbClr val="C00000"/>
                                  </a:solidFill>
                                  <a:latin typeface="Cambria Math" panose="02040503050406030204" pitchFamily="18" charset="0"/>
                                </a:rPr>
                                <m:t>+1</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𝑖𝑓</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𝑗</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𝑐𝑎𝑛</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𝑝𝑎𝑖𝑟</m:t>
                              </m:r>
                            </m:e>
                            <m:e/>
                            <m:e>
                              <m:m>
                                <m:mPr>
                                  <m:mcs>
                                    <m:mc>
                                      <m:mcPr>
                                        <m:count m:val="1"/>
                                        <m:mcJc m:val="center"/>
                                      </m:mcPr>
                                    </m:mc>
                                  </m:mcs>
                                  <m:ctrlPr>
                                    <a:rPr lang="en-US" sz="2000" b="0" i="1" smtClean="0">
                                      <a:solidFill>
                                        <a:schemeClr val="tx1"/>
                                      </a:solidFill>
                                      <a:latin typeface="Cambria Math" panose="02040503050406030204" pitchFamily="18" charset="0"/>
                                    </a:rPr>
                                  </m:ctrlPr>
                                </m:mPr>
                                <m:mr>
                                  <m:e/>
                                </m:mr>
                                <m:mr>
                                  <m:e/>
                                </m:mr>
                              </m:m>
                            </m:e>
                          </m:eqArr>
                        </m:e>
                      </m:d>
                    </m:oMath>
                  </m:oMathPara>
                </a14:m>
                <a:endParaRPr lang="en-US" sz="2000" dirty="0">
                  <a:solidFill>
                    <a:schemeClr val="tx1"/>
                  </a:solidFill>
                </a:endParaRPr>
              </a:p>
            </p:txBody>
          </p:sp>
        </mc:Choice>
        <mc:Fallback xmlns="">
          <p:sp>
            <p:nvSpPr>
              <p:cNvPr id="7" name="TextBox 6">
                <a:extLst>
                  <a:ext uri="{FF2B5EF4-FFF2-40B4-BE49-F238E27FC236}">
                    <a16:creationId xmlns:a16="http://schemas.microsoft.com/office/drawing/2014/main" id="{348A04DC-B6E3-6BA2-46A9-4D3645A5E953}"/>
                  </a:ext>
                </a:extLst>
              </p:cNvPr>
              <p:cNvSpPr txBox="1">
                <a:spLocks noRot="1" noChangeAspect="1" noMove="1" noResize="1" noEditPoints="1" noAdjustHandles="1" noChangeArrowheads="1" noChangeShapeType="1" noTextEdit="1"/>
              </p:cNvSpPr>
              <p:nvPr/>
            </p:nvSpPr>
            <p:spPr>
              <a:xfrm>
                <a:off x="-991932" y="1356088"/>
                <a:ext cx="9320835" cy="1387431"/>
              </a:xfrm>
              <a:prstGeom prst="rect">
                <a:avLst/>
              </a:prstGeo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05D067B2-AFF2-D861-D1C9-F3DDE5867258}"/>
              </a:ext>
            </a:extLst>
          </p:cNvPr>
          <p:cNvSpPr txBox="1"/>
          <p:nvPr/>
        </p:nvSpPr>
        <p:spPr>
          <a:xfrm>
            <a:off x="1006242" y="942467"/>
            <a:ext cx="6096000" cy="400110"/>
          </a:xfrm>
          <a:prstGeom prst="rect">
            <a:avLst/>
          </a:prstGeom>
          <a:noFill/>
        </p:spPr>
        <p:txBody>
          <a:bodyPr wrap="square">
            <a:spAutoFit/>
          </a:bodyPr>
          <a:lstStyle/>
          <a:p>
            <a:r>
              <a:rPr lang="en-US" sz="2000" dirty="0"/>
              <a:t>For each index, choose option that yields max score </a:t>
            </a:r>
          </a:p>
        </p:txBody>
      </p:sp>
      <p:sp>
        <p:nvSpPr>
          <p:cNvPr id="12" name="TextBox 11">
            <a:extLst>
              <a:ext uri="{FF2B5EF4-FFF2-40B4-BE49-F238E27FC236}">
                <a16:creationId xmlns:a16="http://schemas.microsoft.com/office/drawing/2014/main" id="{CA299D99-92A5-B30A-8D01-3F6576A76BF7}"/>
              </a:ext>
            </a:extLst>
          </p:cNvPr>
          <p:cNvSpPr txBox="1"/>
          <p:nvPr/>
        </p:nvSpPr>
        <p:spPr>
          <a:xfrm>
            <a:off x="1006242" y="5623145"/>
            <a:ext cx="3032358" cy="584775"/>
          </a:xfrm>
          <a:prstGeom prst="rect">
            <a:avLst/>
          </a:prstGeom>
          <a:noFill/>
        </p:spPr>
        <p:txBody>
          <a:bodyPr wrap="square">
            <a:spAutoFit/>
          </a:bodyPr>
          <a:lstStyle/>
          <a:p>
            <a:r>
              <a:rPr lang="en-US" sz="1600" dirty="0"/>
              <a:t>Pair </a:t>
            </a:r>
            <a:r>
              <a:rPr lang="en-US" sz="1600" dirty="0" err="1"/>
              <a:t>rna</a:t>
            </a:r>
            <a:r>
              <a:rPr lang="en-US" sz="1600" dirty="0"/>
              <a:t>[</a:t>
            </a:r>
            <a:r>
              <a:rPr lang="en-US" sz="1600" dirty="0" err="1"/>
              <a:t>i</a:t>
            </a:r>
            <a:r>
              <a:rPr lang="en-US" sz="1600" dirty="0"/>
              <a:t>] and </a:t>
            </a:r>
            <a:r>
              <a:rPr lang="en-US" sz="1600" dirty="0" err="1"/>
              <a:t>rna</a:t>
            </a:r>
            <a:r>
              <a:rPr lang="en-US" sz="1600" dirty="0"/>
              <a:t>[j] and attach to best structure for </a:t>
            </a:r>
            <a:r>
              <a:rPr lang="en-US" sz="1600" dirty="0" err="1"/>
              <a:t>rna</a:t>
            </a:r>
            <a:r>
              <a:rPr lang="en-US" sz="1600" dirty="0"/>
              <a:t>[i+1:j-1]</a:t>
            </a:r>
          </a:p>
        </p:txBody>
      </p:sp>
      <p:graphicFrame>
        <p:nvGraphicFramePr>
          <p:cNvPr id="3" name="Table 2">
            <a:extLst>
              <a:ext uri="{FF2B5EF4-FFF2-40B4-BE49-F238E27FC236}">
                <a16:creationId xmlns:a16="http://schemas.microsoft.com/office/drawing/2014/main" id="{F1C6E815-8701-C401-89C8-C15745110483}"/>
              </a:ext>
            </a:extLst>
          </p:cNvPr>
          <p:cNvGraphicFramePr>
            <a:graphicFrameLocks noGrp="1"/>
          </p:cNvGraphicFramePr>
          <p:nvPr>
            <p:extLst>
              <p:ext uri="{D42A27DB-BD31-4B8C-83A1-F6EECF244321}">
                <p14:modId xmlns:p14="http://schemas.microsoft.com/office/powerpoint/2010/main" val="2430385699"/>
              </p:ext>
            </p:extLst>
          </p:nvPr>
        </p:nvGraphicFramePr>
        <p:xfrm>
          <a:off x="3460790" y="3455650"/>
          <a:ext cx="3185463" cy="1443767"/>
        </p:xfrm>
        <a:graphic>
          <a:graphicData uri="http://schemas.openxmlformats.org/drawingml/2006/table">
            <a:tbl>
              <a:tblPr firstRow="1" bandRow="1">
                <a:tableStyleId>{D7AC3CCA-C797-4891-BE02-D94E43425B78}</a:tableStyleId>
              </a:tblPr>
              <a:tblGrid>
                <a:gridCol w="1061821">
                  <a:extLst>
                    <a:ext uri="{9D8B030D-6E8A-4147-A177-3AD203B41FA5}">
                      <a16:colId xmlns:a16="http://schemas.microsoft.com/office/drawing/2014/main" val="1407851241"/>
                    </a:ext>
                  </a:extLst>
                </a:gridCol>
                <a:gridCol w="1061821">
                  <a:extLst>
                    <a:ext uri="{9D8B030D-6E8A-4147-A177-3AD203B41FA5}">
                      <a16:colId xmlns:a16="http://schemas.microsoft.com/office/drawing/2014/main" val="1653795211"/>
                    </a:ext>
                  </a:extLst>
                </a:gridCol>
                <a:gridCol w="1061821">
                  <a:extLst>
                    <a:ext uri="{9D8B030D-6E8A-4147-A177-3AD203B41FA5}">
                      <a16:colId xmlns:a16="http://schemas.microsoft.com/office/drawing/2014/main" val="3654786236"/>
                    </a:ext>
                  </a:extLst>
                </a:gridCol>
              </a:tblGrid>
              <a:tr h="401778">
                <a:tc>
                  <a:txBody>
                    <a:bodyPr/>
                    <a:lstStyle/>
                    <a:p>
                      <a:endParaRPr lang="en-US" i="0" dirty="0"/>
                    </a:p>
                  </a:txBody>
                  <a:tcPr/>
                </a:tc>
                <a:tc>
                  <a:txBody>
                    <a:bodyPr/>
                    <a:lstStyle/>
                    <a:p>
                      <a:r>
                        <a:rPr lang="en-US" i="0" dirty="0"/>
                        <a:t>j-1</a:t>
                      </a:r>
                    </a:p>
                  </a:txBody>
                  <a:tcPr/>
                </a:tc>
                <a:tc>
                  <a:txBody>
                    <a:bodyPr/>
                    <a:lstStyle/>
                    <a:p>
                      <a:r>
                        <a:rPr lang="en-US" i="0" dirty="0"/>
                        <a:t>j</a:t>
                      </a:r>
                    </a:p>
                  </a:txBody>
                  <a:tcPr/>
                </a:tc>
                <a:extLst>
                  <a:ext uri="{0D108BD9-81ED-4DB2-BD59-A6C34878D82A}">
                    <a16:rowId xmlns:a16="http://schemas.microsoft.com/office/drawing/2014/main" val="2717424468"/>
                  </a:ext>
                </a:extLst>
              </a:tr>
              <a:tr h="401778">
                <a:tc>
                  <a:txBody>
                    <a:bodyPr/>
                    <a:lstStyle/>
                    <a:p>
                      <a:r>
                        <a:rPr lang="en-US" i="0" dirty="0" err="1"/>
                        <a:t>i</a:t>
                      </a:r>
                      <a:endParaRPr lang="en-US" i="0" dirty="0"/>
                    </a:p>
                  </a:txBody>
                  <a:tcPr/>
                </a:tc>
                <a:tc>
                  <a:txBody>
                    <a:bodyPr/>
                    <a:lstStyle/>
                    <a:p>
                      <a:endParaRPr lang="en-US" i="0" dirty="0"/>
                    </a:p>
                  </a:txBody>
                  <a:tcPr/>
                </a:tc>
                <a:tc>
                  <a:txBody>
                    <a:bodyPr/>
                    <a:lstStyle/>
                    <a:p>
                      <a:r>
                        <a:rPr lang="en-US" i="0" dirty="0"/>
                        <a:t>S(</a:t>
                      </a:r>
                      <a:r>
                        <a:rPr lang="en-US" i="0" dirty="0" err="1"/>
                        <a:t>i,j</a:t>
                      </a:r>
                      <a:r>
                        <a:rPr lang="en-US" i="0" dirty="0"/>
                        <a:t>)</a:t>
                      </a:r>
                    </a:p>
                  </a:txBody>
                  <a:tcPr/>
                </a:tc>
                <a:extLst>
                  <a:ext uri="{0D108BD9-81ED-4DB2-BD59-A6C34878D82A}">
                    <a16:rowId xmlns:a16="http://schemas.microsoft.com/office/drawing/2014/main" val="3319585767"/>
                  </a:ext>
                </a:extLst>
              </a:tr>
              <a:tr h="6402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i+1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S(i+1,j-1)</a:t>
                      </a:r>
                    </a:p>
                  </a:txBody>
                  <a:tcPr/>
                </a:tc>
                <a:tc>
                  <a:txBody>
                    <a:bodyPr/>
                    <a:lstStyle/>
                    <a:p>
                      <a:endParaRPr lang="en-US" i="0" dirty="0"/>
                    </a:p>
                  </a:txBody>
                  <a:tcPr/>
                </a:tc>
                <a:extLst>
                  <a:ext uri="{0D108BD9-81ED-4DB2-BD59-A6C34878D82A}">
                    <a16:rowId xmlns:a16="http://schemas.microsoft.com/office/drawing/2014/main" val="1440958745"/>
                  </a:ext>
                </a:extLst>
              </a:tr>
            </a:tbl>
          </a:graphicData>
        </a:graphic>
      </p:graphicFrame>
      <p:cxnSp>
        <p:nvCxnSpPr>
          <p:cNvPr id="6" name="Straight Arrow Connector 5">
            <a:extLst>
              <a:ext uri="{FF2B5EF4-FFF2-40B4-BE49-F238E27FC236}">
                <a16:creationId xmlns:a16="http://schemas.microsoft.com/office/drawing/2014/main" id="{9054A605-90A2-9C83-9ED2-0879A67EEB9D}"/>
              </a:ext>
            </a:extLst>
          </p:cNvPr>
          <p:cNvCxnSpPr>
            <a:cxnSpLocks/>
          </p:cNvCxnSpPr>
          <p:nvPr/>
        </p:nvCxnSpPr>
        <p:spPr>
          <a:xfrm flipV="1">
            <a:off x="5456972" y="4112349"/>
            <a:ext cx="215153" cy="2262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6780866"/>
      </p:ext>
    </p:extLst>
  </p:cSld>
  <p:clrMapOvr>
    <a:masterClrMapping/>
  </p:clrMapOvr>
  <mc:AlternateContent xmlns:mc="http://schemas.openxmlformats.org/markup-compatibility/2006" xmlns:p14="http://schemas.microsoft.com/office/powerpoint/2010/main">
    <mc:Choice Requires="p14">
      <p:transition spd="slow" p14:dur="2000" advTm="26342"/>
    </mc:Choice>
    <mc:Fallback xmlns="">
      <p:transition spd="slow" advTm="2634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AC0F-329D-304E-0028-EC608238800C}"/>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9076991A-DA28-9124-DC0C-57A0D48E8DAE}"/>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TextBox 22">
            <a:extLst>
              <a:ext uri="{FF2B5EF4-FFF2-40B4-BE49-F238E27FC236}">
                <a16:creationId xmlns:a16="http://schemas.microsoft.com/office/drawing/2014/main" id="{0C8C00A6-279C-696F-0D40-4CE0286021B7}"/>
              </a:ext>
            </a:extLst>
          </p:cNvPr>
          <p:cNvSpPr txBox="1"/>
          <p:nvPr/>
        </p:nvSpPr>
        <p:spPr>
          <a:xfrm>
            <a:off x="1401446" y="305014"/>
            <a:ext cx="10014984" cy="584775"/>
          </a:xfrm>
          <a:prstGeom prst="rect">
            <a:avLst/>
          </a:prstGeom>
          <a:noFill/>
        </p:spPr>
        <p:txBody>
          <a:bodyPr wrap="square" rtlCol="0">
            <a:spAutoFit/>
          </a:bodyPr>
          <a:lstStyle/>
          <a:p>
            <a:pPr algn="ctr"/>
            <a:r>
              <a:rPr lang="en-US" altLang="en-US" sz="3200" b="1" dirty="0">
                <a:solidFill>
                  <a:srgbClr val="C00000"/>
                </a:solidFill>
              </a:rPr>
              <a:t>How do we compute the value in one cell, S(</a:t>
            </a:r>
            <a:r>
              <a:rPr lang="en-US" altLang="en-US" sz="3200" b="1" dirty="0" err="1">
                <a:solidFill>
                  <a:srgbClr val="C00000"/>
                </a:solidFill>
              </a:rPr>
              <a:t>i,j</a:t>
            </a:r>
            <a:r>
              <a:rPr lang="en-US" altLang="en-US" sz="3200" b="1" dirty="0">
                <a:solidFill>
                  <a:srgbClr val="C00000"/>
                </a:solidFill>
              </a:rPr>
              <a:t>)?</a:t>
            </a:r>
            <a:endParaRPr lang="en-US" sz="3200" b="1" dirty="0">
              <a:solidFill>
                <a:srgbClr val="C00000"/>
              </a:solidFill>
            </a:endParaRPr>
          </a:p>
        </p:txBody>
      </p:sp>
      <p:sp>
        <p:nvSpPr>
          <p:cNvPr id="2" name="Slide Number Placeholder 3">
            <a:extLst>
              <a:ext uri="{FF2B5EF4-FFF2-40B4-BE49-F238E27FC236}">
                <a16:creationId xmlns:a16="http://schemas.microsoft.com/office/drawing/2014/main" id="{494D96CB-FAA3-34F8-06B2-F8C88CDBF519}"/>
              </a:ext>
            </a:extLst>
          </p:cNvPr>
          <p:cNvSpPr>
            <a:spLocks noGrp="1"/>
          </p:cNvSpPr>
          <p:nvPr>
            <p:ph type="sldNum" sz="quarter" idx="12"/>
          </p:nvPr>
        </p:nvSpPr>
        <p:spPr>
          <a:xfrm>
            <a:off x="8933705" y="6350377"/>
            <a:ext cx="2743200" cy="365125"/>
          </a:xfrm>
        </p:spPr>
        <p:txBody>
          <a:bodyPr/>
          <a:lstStyle/>
          <a:p>
            <a:r>
              <a:rPr lang="en-IN" dirty="0"/>
              <a:t>8</a:t>
            </a:r>
          </a:p>
        </p:txBody>
      </p:sp>
      <p:pic>
        <p:nvPicPr>
          <p:cNvPr id="5" name="Picture 4">
            <a:extLst>
              <a:ext uri="{FF2B5EF4-FFF2-40B4-BE49-F238E27FC236}">
                <a16:creationId xmlns:a16="http://schemas.microsoft.com/office/drawing/2014/main" id="{36322EF5-49A7-9CF6-9DAF-7D7AAEDC6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1355" y="2876259"/>
            <a:ext cx="1612273" cy="2698435"/>
          </a:xfrm>
          <a:prstGeom prst="rect">
            <a:avLst/>
          </a:prstGeom>
        </p:spPr>
      </p:pic>
      <p:sp>
        <p:nvSpPr>
          <p:cNvPr id="67" name="Rectangle 66">
            <a:extLst>
              <a:ext uri="{FF2B5EF4-FFF2-40B4-BE49-F238E27FC236}">
                <a16:creationId xmlns:a16="http://schemas.microsoft.com/office/drawing/2014/main" id="{A06DC6E2-69A4-1EB9-6EA1-30C2A6538B79}"/>
              </a:ext>
            </a:extLst>
          </p:cNvPr>
          <p:cNvSpPr/>
          <p:nvPr/>
        </p:nvSpPr>
        <p:spPr>
          <a:xfrm>
            <a:off x="8243978" y="2962483"/>
            <a:ext cx="1895104" cy="3227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8F1991D0-BAFE-4AFC-F747-F6AE68E7B275}"/>
              </a:ext>
            </a:extLst>
          </p:cNvPr>
          <p:cNvSpPr txBox="1"/>
          <p:nvPr/>
        </p:nvSpPr>
        <p:spPr>
          <a:xfrm>
            <a:off x="141890" y="6437469"/>
            <a:ext cx="6100174" cy="276999"/>
          </a:xfrm>
          <a:prstGeom prst="rect">
            <a:avLst/>
          </a:prstGeom>
          <a:noFill/>
        </p:spPr>
        <p:txBody>
          <a:bodyPr wrap="square">
            <a:spAutoFit/>
          </a:bodyPr>
          <a:lstStyle/>
          <a:p>
            <a:r>
              <a:rPr lang="en-US" sz="1200" dirty="0"/>
              <a:t>Eddy, </a:t>
            </a:r>
            <a:r>
              <a:rPr lang="en-US" sz="1200" i="1" dirty="0"/>
              <a:t>Nature Biotechnology</a:t>
            </a:r>
            <a:r>
              <a:rPr lang="en-US" sz="1200" dirty="0"/>
              <a:t>, 2004</a:t>
            </a:r>
          </a:p>
        </p:txBody>
      </p:sp>
      <p:pic>
        <p:nvPicPr>
          <p:cNvPr id="3" name="Picture 2">
            <a:extLst>
              <a:ext uri="{FF2B5EF4-FFF2-40B4-BE49-F238E27FC236}">
                <a16:creationId xmlns:a16="http://schemas.microsoft.com/office/drawing/2014/main" id="{65631C8E-980B-CCD0-FF56-8964DDDEC6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8196" y="2887165"/>
            <a:ext cx="1560407" cy="2556243"/>
          </a:xfrm>
          <a:prstGeom prst="rect">
            <a:avLst/>
          </a:prstGeom>
          <a:ln>
            <a:noFill/>
          </a:ln>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8ACEAD2-C320-3748-96B6-A8167D0BAF53}"/>
                  </a:ext>
                </a:extLst>
              </p:cNvPr>
              <p:cNvSpPr txBox="1"/>
              <p:nvPr/>
            </p:nvSpPr>
            <p:spPr>
              <a:xfrm>
                <a:off x="-991932" y="1356088"/>
                <a:ext cx="9320835" cy="13874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𝑆</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𝑗</m:t>
                          </m:r>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𝑚𝑎𝑥</m:t>
                      </m:r>
                      <m:r>
                        <a:rPr lang="en-US" sz="2000" b="0" i="1" smtClean="0">
                          <a:solidFill>
                            <a:schemeClr val="tx1"/>
                          </a:solidFill>
                          <a:latin typeface="Cambria Math" panose="02040503050406030204" pitchFamily="18" charset="0"/>
                        </a:rPr>
                        <m:t> </m:t>
                      </m:r>
                      <m:d>
                        <m:dPr>
                          <m:begChr m:val="{"/>
                          <m:endChr m:val=""/>
                          <m:ctrlPr>
                            <a:rPr lang="en-US" sz="2000" b="0" i="1" smtClean="0">
                              <a:solidFill>
                                <a:schemeClr val="tx1"/>
                              </a:solidFill>
                              <a:latin typeface="Cambria Math" panose="02040503050406030204" pitchFamily="18" charset="0"/>
                            </a:rPr>
                          </m:ctrlPr>
                        </m:dPr>
                        <m:e>
                          <m:eqArr>
                            <m:eqArrPr>
                              <m:ctrlPr>
                                <a:rPr lang="en-US" sz="2000" b="0" i="1" smtClean="0">
                                  <a:solidFill>
                                    <a:schemeClr val="tx1"/>
                                  </a:solidFill>
                                  <a:latin typeface="Cambria Math" panose="02040503050406030204" pitchFamily="18" charset="0"/>
                                </a:rPr>
                              </m:ctrlPr>
                            </m:eqArrPr>
                            <m:e>
                              <m:r>
                                <a:rPr lang="en-US" sz="2000" b="0" i="1" smtClean="0">
                                  <a:solidFill>
                                    <a:schemeClr val="tx1"/>
                                  </a:solidFill>
                                  <a:latin typeface="Cambria Math" panose="02040503050406030204" pitchFamily="18" charset="0"/>
                                </a:rPr>
                                <m:t>𝑆</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𝑗</m:t>
                                  </m:r>
                                  <m:r>
                                    <a:rPr lang="en-US" sz="2000" b="0" i="1" smtClean="0">
                                      <a:solidFill>
                                        <a:schemeClr val="tx1"/>
                                      </a:solidFill>
                                      <a:latin typeface="Cambria Math" panose="02040503050406030204" pitchFamily="18" charset="0"/>
                                    </a:rPr>
                                    <m:t>−1</m:t>
                                  </m:r>
                                </m:e>
                              </m:d>
                              <m:r>
                                <a:rPr lang="en-US" sz="2000" b="0" i="1" smtClean="0">
                                  <a:solidFill>
                                    <a:schemeClr val="tx1"/>
                                  </a:solidFill>
                                  <a:latin typeface="Cambria Math" panose="02040503050406030204" pitchFamily="18" charset="0"/>
                                </a:rPr>
                                <m:t>+1   </m:t>
                              </m:r>
                              <m:r>
                                <a:rPr lang="en-US" sz="2000" b="0" i="1" smtClean="0">
                                  <a:solidFill>
                                    <a:schemeClr val="tx1"/>
                                  </a:solidFill>
                                  <a:latin typeface="Cambria Math" panose="02040503050406030204" pitchFamily="18" charset="0"/>
                                </a:rPr>
                                <m:t>𝑖𝑓</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𝑗</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𝑐𝑎𝑛</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𝑝𝑎𝑖𝑟</m:t>
                              </m:r>
                            </m:e>
                            <m:e>
                              <m:r>
                                <a:rPr lang="en-US" sz="2000" i="1">
                                  <a:latin typeface="Cambria Math" panose="02040503050406030204" pitchFamily="18" charset="0"/>
                                </a:rPr>
                                <m:t>𝑆</m:t>
                              </m:r>
                              <m:d>
                                <m:dPr>
                                  <m:ctrlPr>
                                    <a:rPr lang="en-US" sz="2000" i="1">
                                      <a:latin typeface="Cambria Math" panose="02040503050406030204" pitchFamily="18" charset="0"/>
                                    </a:rPr>
                                  </m:ctrlPr>
                                </m:dPr>
                                <m:e>
                                  <m:r>
                                    <a:rPr lang="en-US" sz="2000" i="1">
                                      <a:latin typeface="Cambria Math" panose="02040503050406030204" pitchFamily="18" charset="0"/>
                                    </a:rPr>
                                    <m:t>𝑖</m:t>
                                  </m:r>
                                  <m:r>
                                    <a:rPr lang="en-US" sz="2000" i="1">
                                      <a:latin typeface="Cambria Math" panose="02040503050406030204" pitchFamily="18" charset="0"/>
                                    </a:rPr>
                                    <m:t>+1,</m:t>
                                  </m:r>
                                  <m:r>
                                    <a:rPr lang="en-US" sz="2000" i="1">
                                      <a:latin typeface="Cambria Math" panose="02040503050406030204" pitchFamily="18" charset="0"/>
                                    </a:rPr>
                                    <m:t>𝑗</m:t>
                                  </m:r>
                                </m:e>
                              </m:d>
                              <m:r>
                                <a:rPr lang="en-US" sz="2000" i="1">
                                  <a:latin typeface="Cambria Math" panose="02040503050406030204" pitchFamily="18" charset="0"/>
                                </a:rPr>
                                <m:t>    </m:t>
                              </m:r>
                              <m:r>
                                <a:rPr lang="en-US" sz="2000" i="1">
                                  <a:latin typeface="Cambria Math" panose="02040503050406030204" pitchFamily="18" charset="0"/>
                                </a:rPr>
                                <m:t>𝑔𝑖𝑣𝑒𝑛</m:t>
                              </m:r>
                              <m:r>
                                <a:rPr lang="en-US" sz="2000" i="1">
                                  <a:latin typeface="Cambria Math" panose="02040503050406030204" pitchFamily="18" charset="0"/>
                                </a:rPr>
                                <m:t> </m:t>
                              </m:r>
                              <m:r>
                                <a:rPr lang="en-US" sz="2000" i="1">
                                  <a:latin typeface="Cambria Math" panose="02040503050406030204" pitchFamily="18" charset="0"/>
                                </a:rPr>
                                <m:t>𝑖</m:t>
                              </m:r>
                              <m:r>
                                <a:rPr lang="en-US" sz="2000" i="1">
                                  <a:latin typeface="Cambria Math" panose="02040503050406030204" pitchFamily="18" charset="0"/>
                                </a:rPr>
                                <m:t> </m:t>
                              </m:r>
                              <m:r>
                                <a:rPr lang="en-US" sz="2000" i="1">
                                  <a:latin typeface="Cambria Math" panose="02040503050406030204" pitchFamily="18" charset="0"/>
                                </a:rPr>
                                <m:t>𝑖𝑠</m:t>
                              </m:r>
                              <m:r>
                                <a:rPr lang="en-US" sz="2000" i="1">
                                  <a:latin typeface="Cambria Math" panose="02040503050406030204" pitchFamily="18" charset="0"/>
                                </a:rPr>
                                <m:t> </m:t>
                              </m:r>
                              <m:r>
                                <a:rPr lang="en-US" sz="2000" i="1">
                                  <a:latin typeface="Cambria Math" panose="02040503050406030204" pitchFamily="18" charset="0"/>
                                </a:rPr>
                                <m:t>𝑢𝑛𝑝𝑎𝑖𝑟𝑒𝑑</m:t>
                              </m:r>
                            </m:e>
                            <m:e>
                              <m:m>
                                <m:mPr>
                                  <m:mcs>
                                    <m:mc>
                                      <m:mcPr>
                                        <m:count m:val="1"/>
                                        <m:mcJc m:val="center"/>
                                      </m:mcPr>
                                    </m:mc>
                                  </m:mcs>
                                  <m:ctrlPr>
                                    <a:rPr lang="en-US" sz="2000" b="0" i="1" smtClean="0">
                                      <a:solidFill>
                                        <a:schemeClr val="tx1"/>
                                      </a:solidFill>
                                      <a:latin typeface="Cambria Math" panose="02040503050406030204" pitchFamily="18" charset="0"/>
                                    </a:rPr>
                                  </m:ctrlPr>
                                </m:mPr>
                                <m:mr>
                                  <m:e/>
                                </m:mr>
                                <m:mr>
                                  <m:e/>
                                </m:mr>
                              </m:m>
                            </m:e>
                          </m:eqArr>
                        </m:e>
                      </m:d>
                    </m:oMath>
                  </m:oMathPara>
                </a14:m>
                <a:endParaRPr lang="en-US" sz="2000" dirty="0">
                  <a:solidFill>
                    <a:schemeClr val="tx1"/>
                  </a:solidFill>
                </a:endParaRPr>
              </a:p>
            </p:txBody>
          </p:sp>
        </mc:Choice>
        <mc:Fallback xmlns="">
          <p:sp>
            <p:nvSpPr>
              <p:cNvPr id="8" name="TextBox 7">
                <a:extLst>
                  <a:ext uri="{FF2B5EF4-FFF2-40B4-BE49-F238E27FC236}">
                    <a16:creationId xmlns:a16="http://schemas.microsoft.com/office/drawing/2014/main" id="{58ACEAD2-C320-3748-96B6-A8167D0BAF53}"/>
                  </a:ext>
                </a:extLst>
              </p:cNvPr>
              <p:cNvSpPr txBox="1">
                <a:spLocks noRot="1" noChangeAspect="1" noMove="1" noResize="1" noEditPoints="1" noAdjustHandles="1" noChangeArrowheads="1" noChangeShapeType="1" noTextEdit="1"/>
              </p:cNvSpPr>
              <p:nvPr/>
            </p:nvSpPr>
            <p:spPr>
              <a:xfrm>
                <a:off x="-991932" y="1356088"/>
                <a:ext cx="9320835" cy="1387431"/>
              </a:xfrm>
              <a:prstGeom prst="rect">
                <a:avLst/>
              </a:prstGeom>
              <a:blipFill>
                <a:blip r:embed="rId5"/>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E8FDBA5-2631-4A50-3E66-A62A5C2E3AD3}"/>
              </a:ext>
            </a:extLst>
          </p:cNvPr>
          <p:cNvSpPr txBox="1"/>
          <p:nvPr/>
        </p:nvSpPr>
        <p:spPr>
          <a:xfrm>
            <a:off x="1006242" y="942467"/>
            <a:ext cx="6096000" cy="400110"/>
          </a:xfrm>
          <a:prstGeom prst="rect">
            <a:avLst/>
          </a:prstGeom>
          <a:noFill/>
        </p:spPr>
        <p:txBody>
          <a:bodyPr wrap="square">
            <a:spAutoFit/>
          </a:bodyPr>
          <a:lstStyle/>
          <a:p>
            <a:r>
              <a:rPr lang="en-US" sz="2000" dirty="0"/>
              <a:t>For each index, choose option that yields max score </a:t>
            </a:r>
          </a:p>
        </p:txBody>
      </p:sp>
      <p:sp>
        <p:nvSpPr>
          <p:cNvPr id="11" name="TextBox 10">
            <a:extLst>
              <a:ext uri="{FF2B5EF4-FFF2-40B4-BE49-F238E27FC236}">
                <a16:creationId xmlns:a16="http://schemas.microsoft.com/office/drawing/2014/main" id="{7D6C81AD-3E96-D5E8-4828-CC5DF38235BF}"/>
              </a:ext>
            </a:extLst>
          </p:cNvPr>
          <p:cNvSpPr txBox="1"/>
          <p:nvPr/>
        </p:nvSpPr>
        <p:spPr>
          <a:xfrm>
            <a:off x="6946964" y="1510637"/>
            <a:ext cx="5573485" cy="276999"/>
          </a:xfrm>
          <a:prstGeom prst="rect">
            <a:avLst/>
          </a:prstGeom>
          <a:noFill/>
        </p:spPr>
        <p:txBody>
          <a:bodyPr wrap="square">
            <a:spAutoFit/>
          </a:bodyPr>
          <a:lstStyle/>
          <a:p>
            <a:r>
              <a:rPr lang="en-US" sz="1200" dirty="0"/>
              <a:t>Pair </a:t>
            </a:r>
            <a:r>
              <a:rPr lang="en-US" sz="1200" dirty="0" err="1"/>
              <a:t>rna</a:t>
            </a:r>
            <a:r>
              <a:rPr lang="en-US" sz="1200" dirty="0"/>
              <a:t>[</a:t>
            </a:r>
            <a:r>
              <a:rPr lang="en-US" sz="1200" dirty="0" err="1"/>
              <a:t>i</a:t>
            </a:r>
            <a:r>
              <a:rPr lang="en-US" sz="1200" dirty="0"/>
              <a:t>] and </a:t>
            </a:r>
            <a:r>
              <a:rPr lang="en-US" sz="1200" dirty="0" err="1"/>
              <a:t>rna</a:t>
            </a:r>
            <a:r>
              <a:rPr lang="en-US" sz="1200" dirty="0"/>
              <a:t>[j] and attach to best structure for </a:t>
            </a:r>
            <a:r>
              <a:rPr lang="en-US" sz="1200" dirty="0" err="1"/>
              <a:t>rna</a:t>
            </a:r>
            <a:r>
              <a:rPr lang="en-US" sz="1200" dirty="0"/>
              <a:t>[i+1:j-1]</a:t>
            </a:r>
          </a:p>
        </p:txBody>
      </p:sp>
      <p:sp>
        <p:nvSpPr>
          <p:cNvPr id="12" name="TextBox 11">
            <a:extLst>
              <a:ext uri="{FF2B5EF4-FFF2-40B4-BE49-F238E27FC236}">
                <a16:creationId xmlns:a16="http://schemas.microsoft.com/office/drawing/2014/main" id="{693C98E2-6950-63A4-33C1-1031798B95EF}"/>
              </a:ext>
            </a:extLst>
          </p:cNvPr>
          <p:cNvSpPr txBox="1"/>
          <p:nvPr/>
        </p:nvSpPr>
        <p:spPr>
          <a:xfrm>
            <a:off x="3648196" y="5443408"/>
            <a:ext cx="2175265" cy="584775"/>
          </a:xfrm>
          <a:prstGeom prst="rect">
            <a:avLst/>
          </a:prstGeom>
          <a:noFill/>
        </p:spPr>
        <p:txBody>
          <a:bodyPr wrap="square">
            <a:spAutoFit/>
          </a:bodyPr>
          <a:lstStyle/>
          <a:p>
            <a:r>
              <a:rPr lang="en-US" sz="1600" dirty="0"/>
              <a:t>Add </a:t>
            </a:r>
            <a:r>
              <a:rPr lang="en-US" sz="1600" dirty="0" err="1"/>
              <a:t>rna</a:t>
            </a:r>
            <a:r>
              <a:rPr lang="en-US" sz="1600" dirty="0"/>
              <a:t>[</a:t>
            </a:r>
            <a:r>
              <a:rPr lang="en-US" sz="1600" dirty="0" err="1"/>
              <a:t>i</a:t>
            </a:r>
            <a:r>
              <a:rPr lang="en-US" sz="1600" dirty="0"/>
              <a:t>] to best structure of </a:t>
            </a:r>
            <a:r>
              <a:rPr lang="en-US" sz="1600" dirty="0" err="1"/>
              <a:t>rna</a:t>
            </a:r>
            <a:r>
              <a:rPr lang="en-US" sz="1600" dirty="0"/>
              <a:t>[i+1:j]</a:t>
            </a:r>
          </a:p>
        </p:txBody>
      </p:sp>
      <p:graphicFrame>
        <p:nvGraphicFramePr>
          <p:cNvPr id="6" name="Table 5">
            <a:extLst>
              <a:ext uri="{FF2B5EF4-FFF2-40B4-BE49-F238E27FC236}">
                <a16:creationId xmlns:a16="http://schemas.microsoft.com/office/drawing/2014/main" id="{35B83B7C-46CE-0377-F17D-BF74400C9F76}"/>
              </a:ext>
            </a:extLst>
          </p:cNvPr>
          <p:cNvGraphicFramePr>
            <a:graphicFrameLocks noGrp="1"/>
          </p:cNvGraphicFramePr>
          <p:nvPr>
            <p:extLst>
              <p:ext uri="{D42A27DB-BD31-4B8C-83A1-F6EECF244321}">
                <p14:modId xmlns:p14="http://schemas.microsoft.com/office/powerpoint/2010/main" val="3668050994"/>
              </p:ext>
            </p:extLst>
          </p:nvPr>
        </p:nvGraphicFramePr>
        <p:xfrm>
          <a:off x="5748242" y="3320582"/>
          <a:ext cx="3185463" cy="1443636"/>
        </p:xfrm>
        <a:graphic>
          <a:graphicData uri="http://schemas.openxmlformats.org/drawingml/2006/table">
            <a:tbl>
              <a:tblPr firstRow="1" bandRow="1">
                <a:tableStyleId>{D7AC3CCA-C797-4891-BE02-D94E43425B78}</a:tableStyleId>
              </a:tblPr>
              <a:tblGrid>
                <a:gridCol w="1061821">
                  <a:extLst>
                    <a:ext uri="{9D8B030D-6E8A-4147-A177-3AD203B41FA5}">
                      <a16:colId xmlns:a16="http://schemas.microsoft.com/office/drawing/2014/main" val="1407851241"/>
                    </a:ext>
                  </a:extLst>
                </a:gridCol>
                <a:gridCol w="1061821">
                  <a:extLst>
                    <a:ext uri="{9D8B030D-6E8A-4147-A177-3AD203B41FA5}">
                      <a16:colId xmlns:a16="http://schemas.microsoft.com/office/drawing/2014/main" val="1653795211"/>
                    </a:ext>
                  </a:extLst>
                </a:gridCol>
                <a:gridCol w="1061821">
                  <a:extLst>
                    <a:ext uri="{9D8B030D-6E8A-4147-A177-3AD203B41FA5}">
                      <a16:colId xmlns:a16="http://schemas.microsoft.com/office/drawing/2014/main" val="3654786236"/>
                    </a:ext>
                  </a:extLst>
                </a:gridCol>
              </a:tblGrid>
              <a:tr h="401778">
                <a:tc>
                  <a:txBody>
                    <a:bodyPr/>
                    <a:lstStyle/>
                    <a:p>
                      <a:pPr algn="ctr"/>
                      <a:endParaRPr lang="en-US" i="0" dirty="0"/>
                    </a:p>
                  </a:txBody>
                  <a:tcPr/>
                </a:tc>
                <a:tc>
                  <a:txBody>
                    <a:bodyPr/>
                    <a:lstStyle/>
                    <a:p>
                      <a:pPr algn="ctr"/>
                      <a:r>
                        <a:rPr lang="en-US" i="0" dirty="0"/>
                        <a:t>j-1</a:t>
                      </a:r>
                    </a:p>
                  </a:txBody>
                  <a:tcPr/>
                </a:tc>
                <a:tc>
                  <a:txBody>
                    <a:bodyPr/>
                    <a:lstStyle/>
                    <a:p>
                      <a:pPr algn="ctr"/>
                      <a:r>
                        <a:rPr lang="en-US" i="0" dirty="0"/>
                        <a:t>j</a:t>
                      </a:r>
                    </a:p>
                  </a:txBody>
                  <a:tcPr/>
                </a:tc>
                <a:extLst>
                  <a:ext uri="{0D108BD9-81ED-4DB2-BD59-A6C34878D82A}">
                    <a16:rowId xmlns:a16="http://schemas.microsoft.com/office/drawing/2014/main" val="2717424468"/>
                  </a:ext>
                </a:extLst>
              </a:tr>
              <a:tr h="401778">
                <a:tc>
                  <a:txBody>
                    <a:bodyPr/>
                    <a:lstStyle/>
                    <a:p>
                      <a:pPr algn="ctr"/>
                      <a:r>
                        <a:rPr lang="en-US" i="0" dirty="0" err="1"/>
                        <a:t>i</a:t>
                      </a:r>
                      <a:endParaRPr lang="en-US" i="0" dirty="0"/>
                    </a:p>
                  </a:txBody>
                  <a:tcPr/>
                </a:tc>
                <a:tc>
                  <a:txBody>
                    <a:bodyPr/>
                    <a:lstStyle/>
                    <a:p>
                      <a:pPr algn="ctr"/>
                      <a:endParaRPr lang="en-US" i="0" dirty="0"/>
                    </a:p>
                  </a:txBody>
                  <a:tcPr/>
                </a:tc>
                <a:tc>
                  <a:txBody>
                    <a:bodyPr/>
                    <a:lstStyle/>
                    <a:p>
                      <a:pPr algn="ctr"/>
                      <a:r>
                        <a:rPr lang="en-US" i="0" dirty="0"/>
                        <a:t>S(</a:t>
                      </a:r>
                      <a:r>
                        <a:rPr lang="en-US" i="0" dirty="0" err="1"/>
                        <a:t>i,j</a:t>
                      </a:r>
                      <a:r>
                        <a:rPr lang="en-US" i="0" dirty="0"/>
                        <a:t>)</a:t>
                      </a:r>
                    </a:p>
                  </a:txBody>
                  <a:tcPr/>
                </a:tc>
                <a:extLst>
                  <a:ext uri="{0D108BD9-81ED-4DB2-BD59-A6C34878D82A}">
                    <a16:rowId xmlns:a16="http://schemas.microsoft.com/office/drawing/2014/main" val="3319585767"/>
                  </a:ext>
                </a:extLst>
              </a:tr>
              <a:tr h="4478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t>i+1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t>S(i+1,j-1)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t>S(i+1,j)</a:t>
                      </a:r>
                    </a:p>
                    <a:p>
                      <a:pPr algn="ctr"/>
                      <a:endParaRPr lang="en-US" i="0" dirty="0"/>
                    </a:p>
                  </a:txBody>
                  <a:tcPr/>
                </a:tc>
                <a:extLst>
                  <a:ext uri="{0D108BD9-81ED-4DB2-BD59-A6C34878D82A}">
                    <a16:rowId xmlns:a16="http://schemas.microsoft.com/office/drawing/2014/main" val="1440958745"/>
                  </a:ext>
                </a:extLst>
              </a:tr>
            </a:tbl>
          </a:graphicData>
        </a:graphic>
      </p:graphicFrame>
      <p:cxnSp>
        <p:nvCxnSpPr>
          <p:cNvPr id="14" name="Straight Arrow Connector 13">
            <a:extLst>
              <a:ext uri="{FF2B5EF4-FFF2-40B4-BE49-F238E27FC236}">
                <a16:creationId xmlns:a16="http://schemas.microsoft.com/office/drawing/2014/main" id="{8D973FA7-608D-92BF-2705-5E0F1B8154E5}"/>
              </a:ext>
            </a:extLst>
          </p:cNvPr>
          <p:cNvCxnSpPr/>
          <p:nvPr/>
        </p:nvCxnSpPr>
        <p:spPr>
          <a:xfrm flipV="1">
            <a:off x="8433995" y="3991087"/>
            <a:ext cx="0" cy="1936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2962987"/>
      </p:ext>
    </p:extLst>
  </p:cSld>
  <p:clrMapOvr>
    <a:masterClrMapping/>
  </p:clrMapOvr>
  <mc:AlternateContent xmlns:mc="http://schemas.openxmlformats.org/markup-compatibility/2006" xmlns:p14="http://schemas.microsoft.com/office/powerpoint/2010/main">
    <mc:Choice Requires="p14">
      <p:transition spd="slow" p14:dur="2000" advTm="9668"/>
    </mc:Choice>
    <mc:Fallback xmlns="">
      <p:transition spd="slow" advTm="966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0FAB5-5E46-B4DB-F7B3-63802EA9797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70CEE17A-A3A0-F2E2-E298-E5D8EDF9DC3E}"/>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TextBox 22">
            <a:extLst>
              <a:ext uri="{FF2B5EF4-FFF2-40B4-BE49-F238E27FC236}">
                <a16:creationId xmlns:a16="http://schemas.microsoft.com/office/drawing/2014/main" id="{469FD1AE-F34A-AEC3-A81D-CDB1C16F239C}"/>
              </a:ext>
            </a:extLst>
          </p:cNvPr>
          <p:cNvSpPr txBox="1"/>
          <p:nvPr/>
        </p:nvSpPr>
        <p:spPr>
          <a:xfrm>
            <a:off x="1401446" y="305014"/>
            <a:ext cx="10014984" cy="584775"/>
          </a:xfrm>
          <a:prstGeom prst="rect">
            <a:avLst/>
          </a:prstGeom>
          <a:noFill/>
        </p:spPr>
        <p:txBody>
          <a:bodyPr wrap="square" rtlCol="0">
            <a:spAutoFit/>
          </a:bodyPr>
          <a:lstStyle/>
          <a:p>
            <a:pPr algn="ctr"/>
            <a:r>
              <a:rPr lang="en-US" altLang="en-US" sz="3200" b="1" dirty="0">
                <a:solidFill>
                  <a:srgbClr val="C00000"/>
                </a:solidFill>
              </a:rPr>
              <a:t>How do we compute the value in one cell, S(</a:t>
            </a:r>
            <a:r>
              <a:rPr lang="en-US" altLang="en-US" sz="3200" b="1" dirty="0" err="1">
                <a:solidFill>
                  <a:srgbClr val="C00000"/>
                </a:solidFill>
              </a:rPr>
              <a:t>i,j</a:t>
            </a:r>
            <a:r>
              <a:rPr lang="en-US" altLang="en-US" sz="3200" b="1" dirty="0">
                <a:solidFill>
                  <a:srgbClr val="C00000"/>
                </a:solidFill>
              </a:rPr>
              <a:t>)?</a:t>
            </a:r>
            <a:endParaRPr lang="en-US" sz="3200" b="1" dirty="0">
              <a:solidFill>
                <a:srgbClr val="C00000"/>
              </a:solidFill>
            </a:endParaRPr>
          </a:p>
        </p:txBody>
      </p:sp>
      <p:sp>
        <p:nvSpPr>
          <p:cNvPr id="2" name="Slide Number Placeholder 3">
            <a:extLst>
              <a:ext uri="{FF2B5EF4-FFF2-40B4-BE49-F238E27FC236}">
                <a16:creationId xmlns:a16="http://schemas.microsoft.com/office/drawing/2014/main" id="{E83B5578-04C6-9246-85BD-E1FC7E0CF988}"/>
              </a:ext>
            </a:extLst>
          </p:cNvPr>
          <p:cNvSpPr>
            <a:spLocks noGrp="1"/>
          </p:cNvSpPr>
          <p:nvPr>
            <p:ph type="sldNum" sz="quarter" idx="12"/>
          </p:nvPr>
        </p:nvSpPr>
        <p:spPr>
          <a:xfrm>
            <a:off x="8933705" y="6350377"/>
            <a:ext cx="2743200" cy="365125"/>
          </a:xfrm>
        </p:spPr>
        <p:txBody>
          <a:bodyPr/>
          <a:lstStyle/>
          <a:p>
            <a:r>
              <a:rPr lang="en-IN" dirty="0"/>
              <a:t>8</a:t>
            </a:r>
          </a:p>
        </p:txBody>
      </p:sp>
      <p:pic>
        <p:nvPicPr>
          <p:cNvPr id="5" name="Picture 4">
            <a:extLst>
              <a:ext uri="{FF2B5EF4-FFF2-40B4-BE49-F238E27FC236}">
                <a16:creationId xmlns:a16="http://schemas.microsoft.com/office/drawing/2014/main" id="{E9D6B68E-D6AF-3FC8-0925-95127D71A6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1355" y="2876259"/>
            <a:ext cx="1612273" cy="2698435"/>
          </a:xfrm>
          <a:prstGeom prst="rect">
            <a:avLst/>
          </a:prstGeom>
        </p:spPr>
      </p:pic>
      <p:sp>
        <p:nvSpPr>
          <p:cNvPr id="67" name="Rectangle 66">
            <a:extLst>
              <a:ext uri="{FF2B5EF4-FFF2-40B4-BE49-F238E27FC236}">
                <a16:creationId xmlns:a16="http://schemas.microsoft.com/office/drawing/2014/main" id="{38E873BA-2B7A-93CE-1430-301093890841}"/>
              </a:ext>
            </a:extLst>
          </p:cNvPr>
          <p:cNvSpPr/>
          <p:nvPr/>
        </p:nvSpPr>
        <p:spPr>
          <a:xfrm>
            <a:off x="8243978" y="2962483"/>
            <a:ext cx="1895104" cy="3227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FAF13AF7-F72E-906A-2CFD-DE9A1068A47F}"/>
              </a:ext>
            </a:extLst>
          </p:cNvPr>
          <p:cNvSpPr txBox="1"/>
          <p:nvPr/>
        </p:nvSpPr>
        <p:spPr>
          <a:xfrm>
            <a:off x="141890" y="6437469"/>
            <a:ext cx="6100174" cy="276999"/>
          </a:xfrm>
          <a:prstGeom prst="rect">
            <a:avLst/>
          </a:prstGeom>
          <a:noFill/>
        </p:spPr>
        <p:txBody>
          <a:bodyPr wrap="square">
            <a:spAutoFit/>
          </a:bodyPr>
          <a:lstStyle/>
          <a:p>
            <a:r>
              <a:rPr lang="en-US" sz="1200" dirty="0"/>
              <a:t>Eddy, </a:t>
            </a:r>
            <a:r>
              <a:rPr lang="en-US" sz="1200" i="1" dirty="0"/>
              <a:t>Nature Biotechnology</a:t>
            </a:r>
            <a:r>
              <a:rPr lang="en-US" sz="1200" dirty="0"/>
              <a:t>, 2004</a:t>
            </a:r>
          </a:p>
        </p:txBody>
      </p:sp>
      <p:pic>
        <p:nvPicPr>
          <p:cNvPr id="3" name="Picture 2">
            <a:extLst>
              <a:ext uri="{FF2B5EF4-FFF2-40B4-BE49-F238E27FC236}">
                <a16:creationId xmlns:a16="http://schemas.microsoft.com/office/drawing/2014/main" id="{03BD5101-E83D-00EB-6791-54BC66E65F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8196" y="2887165"/>
            <a:ext cx="1560407" cy="2556243"/>
          </a:xfrm>
          <a:prstGeom prst="rect">
            <a:avLst/>
          </a:prstGeom>
          <a:ln>
            <a:noFill/>
          </a:ln>
        </p:spPr>
      </p:pic>
      <p:pic>
        <p:nvPicPr>
          <p:cNvPr id="4" name="Picture 3">
            <a:extLst>
              <a:ext uri="{FF2B5EF4-FFF2-40B4-BE49-F238E27FC236}">
                <a16:creationId xmlns:a16="http://schemas.microsoft.com/office/drawing/2014/main" id="{BDE7A04A-35F9-8595-ADC7-7873BEACFE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6912" y="2829130"/>
            <a:ext cx="1778757" cy="2672311"/>
          </a:xfrm>
          <a:prstGeom prst="rect">
            <a:avLst/>
          </a:prstGeom>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8991D4C-9123-41B2-0EB6-79B3EBA7C305}"/>
                  </a:ext>
                </a:extLst>
              </p:cNvPr>
              <p:cNvSpPr txBox="1"/>
              <p:nvPr/>
            </p:nvSpPr>
            <p:spPr>
              <a:xfrm>
                <a:off x="-991932" y="1356088"/>
                <a:ext cx="9320835" cy="13874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𝑆</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𝑗</m:t>
                          </m:r>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𝑚𝑎𝑥</m:t>
                      </m:r>
                      <m:r>
                        <a:rPr lang="en-US" sz="2000" b="0" i="1" smtClean="0">
                          <a:solidFill>
                            <a:schemeClr val="tx1"/>
                          </a:solidFill>
                          <a:latin typeface="Cambria Math" panose="02040503050406030204" pitchFamily="18" charset="0"/>
                        </a:rPr>
                        <m:t> </m:t>
                      </m:r>
                      <m:d>
                        <m:dPr>
                          <m:begChr m:val="{"/>
                          <m:endChr m:val=""/>
                          <m:ctrlPr>
                            <a:rPr lang="en-US" sz="2000" b="0" i="1" smtClean="0">
                              <a:solidFill>
                                <a:schemeClr val="tx1"/>
                              </a:solidFill>
                              <a:latin typeface="Cambria Math" panose="02040503050406030204" pitchFamily="18" charset="0"/>
                            </a:rPr>
                          </m:ctrlPr>
                        </m:dPr>
                        <m:e>
                          <m:eqArr>
                            <m:eqArrPr>
                              <m:ctrlPr>
                                <a:rPr lang="en-US" sz="2000" b="0" i="1" smtClean="0">
                                  <a:solidFill>
                                    <a:schemeClr val="tx1"/>
                                  </a:solidFill>
                                  <a:latin typeface="Cambria Math" panose="02040503050406030204" pitchFamily="18" charset="0"/>
                                </a:rPr>
                              </m:ctrlPr>
                            </m:eqArrPr>
                            <m:e>
                              <m:r>
                                <a:rPr lang="en-US" sz="2000" b="0" i="1" smtClean="0">
                                  <a:solidFill>
                                    <a:schemeClr val="tx1"/>
                                  </a:solidFill>
                                  <a:latin typeface="Cambria Math" panose="02040503050406030204" pitchFamily="18" charset="0"/>
                                </a:rPr>
                                <m:t>𝑆</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𝑗</m:t>
                                  </m:r>
                                  <m:r>
                                    <a:rPr lang="en-US" sz="2000" b="0" i="1" smtClean="0">
                                      <a:solidFill>
                                        <a:schemeClr val="tx1"/>
                                      </a:solidFill>
                                      <a:latin typeface="Cambria Math" panose="02040503050406030204" pitchFamily="18" charset="0"/>
                                    </a:rPr>
                                    <m:t>−1</m:t>
                                  </m:r>
                                </m:e>
                              </m:d>
                              <m:r>
                                <a:rPr lang="en-US" sz="2000" b="0" i="1" smtClean="0">
                                  <a:solidFill>
                                    <a:schemeClr val="tx1"/>
                                  </a:solidFill>
                                  <a:latin typeface="Cambria Math" panose="02040503050406030204" pitchFamily="18" charset="0"/>
                                </a:rPr>
                                <m:t>+1   </m:t>
                              </m:r>
                              <m:r>
                                <a:rPr lang="en-US" sz="2000" b="0" i="1" smtClean="0">
                                  <a:solidFill>
                                    <a:schemeClr val="tx1"/>
                                  </a:solidFill>
                                  <a:latin typeface="Cambria Math" panose="02040503050406030204" pitchFamily="18" charset="0"/>
                                </a:rPr>
                                <m:t>𝑖𝑓</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𝑗</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𝑐𝑎𝑛</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𝑝𝑎𝑖𝑟</m:t>
                              </m:r>
                            </m:e>
                            <m:e>
                              <m:r>
                                <a:rPr lang="en-US" sz="2000" i="1">
                                  <a:latin typeface="Cambria Math" panose="02040503050406030204" pitchFamily="18" charset="0"/>
                                </a:rPr>
                                <m:t>𝑆</m:t>
                              </m:r>
                              <m:d>
                                <m:dPr>
                                  <m:ctrlPr>
                                    <a:rPr lang="en-US" sz="2000" i="1">
                                      <a:latin typeface="Cambria Math" panose="02040503050406030204" pitchFamily="18" charset="0"/>
                                    </a:rPr>
                                  </m:ctrlPr>
                                </m:dPr>
                                <m:e>
                                  <m:r>
                                    <a:rPr lang="en-US" sz="2000" i="1">
                                      <a:latin typeface="Cambria Math" panose="02040503050406030204" pitchFamily="18" charset="0"/>
                                    </a:rPr>
                                    <m:t>𝑖</m:t>
                                  </m:r>
                                  <m:r>
                                    <a:rPr lang="en-US" sz="2000" i="1">
                                      <a:latin typeface="Cambria Math" panose="02040503050406030204" pitchFamily="18" charset="0"/>
                                    </a:rPr>
                                    <m:t>+1,</m:t>
                                  </m:r>
                                  <m:r>
                                    <a:rPr lang="en-US" sz="2000" i="1">
                                      <a:latin typeface="Cambria Math" panose="02040503050406030204" pitchFamily="18" charset="0"/>
                                    </a:rPr>
                                    <m:t>𝑗</m:t>
                                  </m:r>
                                </m:e>
                              </m:d>
                              <m:r>
                                <a:rPr lang="en-US" sz="2000" i="1">
                                  <a:latin typeface="Cambria Math" panose="02040503050406030204" pitchFamily="18" charset="0"/>
                                </a:rPr>
                                <m:t>    </m:t>
                              </m:r>
                              <m:r>
                                <a:rPr lang="en-US" sz="2000" i="1">
                                  <a:latin typeface="Cambria Math" panose="02040503050406030204" pitchFamily="18" charset="0"/>
                                </a:rPr>
                                <m:t>𝑔𝑖𝑣𝑒𝑛</m:t>
                              </m:r>
                              <m:r>
                                <a:rPr lang="en-US" sz="2000" i="1">
                                  <a:latin typeface="Cambria Math" panose="02040503050406030204" pitchFamily="18" charset="0"/>
                                </a:rPr>
                                <m:t> </m:t>
                              </m:r>
                              <m:r>
                                <a:rPr lang="en-US" sz="2000" i="1">
                                  <a:latin typeface="Cambria Math" panose="02040503050406030204" pitchFamily="18" charset="0"/>
                                </a:rPr>
                                <m:t>𝑖</m:t>
                              </m:r>
                              <m:r>
                                <a:rPr lang="en-US" sz="2000" i="1">
                                  <a:latin typeface="Cambria Math" panose="02040503050406030204" pitchFamily="18" charset="0"/>
                                </a:rPr>
                                <m:t> </m:t>
                              </m:r>
                              <m:r>
                                <a:rPr lang="en-US" sz="2000" i="1">
                                  <a:latin typeface="Cambria Math" panose="02040503050406030204" pitchFamily="18" charset="0"/>
                                </a:rPr>
                                <m:t>𝑖𝑠</m:t>
                              </m:r>
                              <m:r>
                                <a:rPr lang="en-US" sz="2000" i="1">
                                  <a:latin typeface="Cambria Math" panose="02040503050406030204" pitchFamily="18" charset="0"/>
                                </a:rPr>
                                <m:t> </m:t>
                              </m:r>
                              <m:r>
                                <a:rPr lang="en-US" sz="2000" i="1">
                                  <a:latin typeface="Cambria Math" panose="02040503050406030204" pitchFamily="18" charset="0"/>
                                </a:rPr>
                                <m:t>𝑢𝑛𝑝𝑎𝑖𝑟𝑒𝑑</m:t>
                              </m:r>
                            </m:e>
                            <m:e>
                              <m:m>
                                <m:mPr>
                                  <m:mcs>
                                    <m:mc>
                                      <m:mcPr>
                                        <m:count m:val="1"/>
                                        <m:mcJc m:val="center"/>
                                      </m:mcPr>
                                    </m:mc>
                                  </m:mcs>
                                  <m:ctrlPr>
                                    <a:rPr lang="en-US" sz="2000" b="0" i="1" smtClean="0">
                                      <a:solidFill>
                                        <a:schemeClr val="tx1"/>
                                      </a:solidFill>
                                      <a:latin typeface="Cambria Math" panose="02040503050406030204" pitchFamily="18" charset="0"/>
                                    </a:rPr>
                                  </m:ctrlPr>
                                </m:mPr>
                                <m:mr>
                                  <m:e>
                                    <m:r>
                                      <a:rPr lang="en-US" sz="2000" i="1">
                                        <a:latin typeface="Cambria Math" panose="02040503050406030204" pitchFamily="18" charset="0"/>
                                      </a:rPr>
                                      <m:t>𝑆</m:t>
                                    </m:r>
                                    <m:d>
                                      <m:dPr>
                                        <m:ctrlPr>
                                          <a:rPr lang="en-US" sz="2000" i="1">
                                            <a:latin typeface="Cambria Math" panose="02040503050406030204" pitchFamily="18" charset="0"/>
                                          </a:rPr>
                                        </m:ctrlPr>
                                      </m:dPr>
                                      <m:e>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𝑗</m:t>
                                        </m:r>
                                        <m:r>
                                          <a:rPr lang="en-US" sz="2000" i="1">
                                            <a:latin typeface="Cambria Math" panose="02040503050406030204" pitchFamily="18" charset="0"/>
                                          </a:rPr>
                                          <m:t>−1</m:t>
                                        </m:r>
                                      </m:e>
                                    </m:d>
                                    <m:r>
                                      <a:rPr lang="en-US" sz="2000" i="1">
                                        <a:latin typeface="Cambria Math" panose="02040503050406030204" pitchFamily="18" charset="0"/>
                                      </a:rPr>
                                      <m:t>   </m:t>
                                    </m:r>
                                    <m:r>
                                      <a:rPr lang="en-US" sz="2000" i="1">
                                        <a:latin typeface="Cambria Math" panose="02040503050406030204" pitchFamily="18" charset="0"/>
                                      </a:rPr>
                                      <m:t>𝑔𝑖𝑣𝑒𝑛</m:t>
                                    </m:r>
                                    <m:r>
                                      <a:rPr lang="en-US" sz="2000" i="1">
                                        <a:latin typeface="Cambria Math" panose="02040503050406030204" pitchFamily="18" charset="0"/>
                                      </a:rPr>
                                      <m:t> </m:t>
                                    </m:r>
                                    <m:r>
                                      <a:rPr lang="en-US" sz="2000" i="1">
                                        <a:latin typeface="Cambria Math" panose="02040503050406030204" pitchFamily="18" charset="0"/>
                                      </a:rPr>
                                      <m:t>𝑗</m:t>
                                    </m:r>
                                    <m:r>
                                      <a:rPr lang="en-US" sz="2000" i="1">
                                        <a:latin typeface="Cambria Math" panose="02040503050406030204" pitchFamily="18" charset="0"/>
                                      </a:rPr>
                                      <m:t> </m:t>
                                    </m:r>
                                    <m:r>
                                      <a:rPr lang="en-US" sz="2000" i="1">
                                        <a:latin typeface="Cambria Math" panose="02040503050406030204" pitchFamily="18" charset="0"/>
                                      </a:rPr>
                                      <m:t>𝑖𝑠</m:t>
                                    </m:r>
                                    <m:r>
                                      <a:rPr lang="en-US" sz="2000" i="1">
                                        <a:latin typeface="Cambria Math" panose="02040503050406030204" pitchFamily="18" charset="0"/>
                                      </a:rPr>
                                      <m:t> </m:t>
                                    </m:r>
                                    <m:r>
                                      <a:rPr lang="en-US" sz="2000" i="1">
                                        <a:latin typeface="Cambria Math" panose="02040503050406030204" pitchFamily="18" charset="0"/>
                                      </a:rPr>
                                      <m:t>𝑢𝑛𝑝𝑎𝑖𝑟𝑒𝑑</m:t>
                                    </m:r>
                                  </m:e>
                                </m:mr>
                                <m:mr>
                                  <m:e/>
                                </m:mr>
                              </m:m>
                            </m:e>
                          </m:eqArr>
                        </m:e>
                      </m:d>
                    </m:oMath>
                  </m:oMathPara>
                </a14:m>
                <a:endParaRPr lang="en-US" sz="2000" dirty="0">
                  <a:solidFill>
                    <a:schemeClr val="tx1"/>
                  </a:solidFill>
                </a:endParaRPr>
              </a:p>
            </p:txBody>
          </p:sp>
        </mc:Choice>
        <mc:Fallback xmlns="">
          <p:sp>
            <p:nvSpPr>
              <p:cNvPr id="12" name="TextBox 11">
                <a:extLst>
                  <a:ext uri="{FF2B5EF4-FFF2-40B4-BE49-F238E27FC236}">
                    <a16:creationId xmlns:a16="http://schemas.microsoft.com/office/drawing/2014/main" id="{18991D4C-9123-41B2-0EB6-79B3EBA7C305}"/>
                  </a:ext>
                </a:extLst>
              </p:cNvPr>
              <p:cNvSpPr txBox="1">
                <a:spLocks noRot="1" noChangeAspect="1" noMove="1" noResize="1" noEditPoints="1" noAdjustHandles="1" noChangeArrowheads="1" noChangeShapeType="1" noTextEdit="1"/>
              </p:cNvSpPr>
              <p:nvPr/>
            </p:nvSpPr>
            <p:spPr>
              <a:xfrm>
                <a:off x="-991932" y="1356088"/>
                <a:ext cx="9320835" cy="1387431"/>
              </a:xfrm>
              <a:prstGeom prst="rect">
                <a:avLst/>
              </a:prstGeom>
              <a:blipFill>
                <a:blip r:embed="rId6"/>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8A3A6283-B5FE-199D-B54B-832261746CBF}"/>
              </a:ext>
            </a:extLst>
          </p:cNvPr>
          <p:cNvSpPr txBox="1"/>
          <p:nvPr/>
        </p:nvSpPr>
        <p:spPr>
          <a:xfrm>
            <a:off x="1006242" y="942467"/>
            <a:ext cx="6096000" cy="400110"/>
          </a:xfrm>
          <a:prstGeom prst="rect">
            <a:avLst/>
          </a:prstGeom>
          <a:noFill/>
        </p:spPr>
        <p:txBody>
          <a:bodyPr wrap="square">
            <a:spAutoFit/>
          </a:bodyPr>
          <a:lstStyle/>
          <a:p>
            <a:r>
              <a:rPr lang="en-US" sz="2000" dirty="0"/>
              <a:t>For each index, choose option that yields max score </a:t>
            </a:r>
          </a:p>
        </p:txBody>
      </p:sp>
      <p:sp>
        <p:nvSpPr>
          <p:cNvPr id="14" name="TextBox 13">
            <a:extLst>
              <a:ext uri="{FF2B5EF4-FFF2-40B4-BE49-F238E27FC236}">
                <a16:creationId xmlns:a16="http://schemas.microsoft.com/office/drawing/2014/main" id="{D096AB01-D9D4-250F-8BB7-D3D76DA8FFDF}"/>
              </a:ext>
            </a:extLst>
          </p:cNvPr>
          <p:cNvSpPr txBox="1"/>
          <p:nvPr/>
        </p:nvSpPr>
        <p:spPr>
          <a:xfrm>
            <a:off x="6946964" y="1510637"/>
            <a:ext cx="5573485" cy="276999"/>
          </a:xfrm>
          <a:prstGeom prst="rect">
            <a:avLst/>
          </a:prstGeom>
          <a:noFill/>
        </p:spPr>
        <p:txBody>
          <a:bodyPr wrap="square">
            <a:spAutoFit/>
          </a:bodyPr>
          <a:lstStyle/>
          <a:p>
            <a:r>
              <a:rPr lang="en-US" sz="1200" dirty="0"/>
              <a:t>Pair </a:t>
            </a:r>
            <a:r>
              <a:rPr lang="en-US" sz="1200" dirty="0" err="1"/>
              <a:t>rna</a:t>
            </a:r>
            <a:r>
              <a:rPr lang="en-US" sz="1200" dirty="0"/>
              <a:t>[</a:t>
            </a:r>
            <a:r>
              <a:rPr lang="en-US" sz="1200" dirty="0" err="1"/>
              <a:t>i</a:t>
            </a:r>
            <a:r>
              <a:rPr lang="en-US" sz="1200" dirty="0"/>
              <a:t>] and </a:t>
            </a:r>
            <a:r>
              <a:rPr lang="en-US" sz="1200" dirty="0" err="1"/>
              <a:t>rna</a:t>
            </a:r>
            <a:r>
              <a:rPr lang="en-US" sz="1200" dirty="0"/>
              <a:t>[j] and attach to best structure for </a:t>
            </a:r>
            <a:r>
              <a:rPr lang="en-US" sz="1200" dirty="0" err="1"/>
              <a:t>rna</a:t>
            </a:r>
            <a:r>
              <a:rPr lang="en-US" sz="1200" dirty="0"/>
              <a:t>[i+1:j-1]</a:t>
            </a:r>
          </a:p>
        </p:txBody>
      </p:sp>
      <p:sp>
        <p:nvSpPr>
          <p:cNvPr id="16" name="TextBox 15">
            <a:extLst>
              <a:ext uri="{FF2B5EF4-FFF2-40B4-BE49-F238E27FC236}">
                <a16:creationId xmlns:a16="http://schemas.microsoft.com/office/drawing/2014/main" id="{600B6E97-B5F2-0BFF-79BD-40D6048DBDB3}"/>
              </a:ext>
            </a:extLst>
          </p:cNvPr>
          <p:cNvSpPr txBox="1"/>
          <p:nvPr/>
        </p:nvSpPr>
        <p:spPr>
          <a:xfrm>
            <a:off x="6946964" y="1743775"/>
            <a:ext cx="6754584" cy="276999"/>
          </a:xfrm>
          <a:prstGeom prst="rect">
            <a:avLst/>
          </a:prstGeom>
          <a:noFill/>
        </p:spPr>
        <p:txBody>
          <a:bodyPr wrap="square">
            <a:spAutoFit/>
          </a:bodyPr>
          <a:lstStyle/>
          <a:p>
            <a:r>
              <a:rPr lang="en-US" sz="1200" dirty="0"/>
              <a:t>Add </a:t>
            </a:r>
            <a:r>
              <a:rPr lang="en-US" sz="1200" dirty="0" err="1"/>
              <a:t>rna</a:t>
            </a:r>
            <a:r>
              <a:rPr lang="en-US" sz="1200" dirty="0"/>
              <a:t>[</a:t>
            </a:r>
            <a:r>
              <a:rPr lang="en-US" sz="1200" dirty="0" err="1"/>
              <a:t>i</a:t>
            </a:r>
            <a:r>
              <a:rPr lang="en-US" sz="1200" dirty="0"/>
              <a:t>] to best structure of </a:t>
            </a:r>
            <a:r>
              <a:rPr lang="en-US" sz="1200" dirty="0" err="1"/>
              <a:t>rna</a:t>
            </a:r>
            <a:r>
              <a:rPr lang="en-US" sz="1200" dirty="0"/>
              <a:t>[i+1:j]</a:t>
            </a:r>
          </a:p>
        </p:txBody>
      </p:sp>
      <p:sp>
        <p:nvSpPr>
          <p:cNvPr id="19" name="TextBox 18">
            <a:extLst>
              <a:ext uri="{FF2B5EF4-FFF2-40B4-BE49-F238E27FC236}">
                <a16:creationId xmlns:a16="http://schemas.microsoft.com/office/drawing/2014/main" id="{7FB1B5C9-3DA7-A30C-95CC-015D2A14C900}"/>
              </a:ext>
            </a:extLst>
          </p:cNvPr>
          <p:cNvSpPr txBox="1"/>
          <p:nvPr/>
        </p:nvSpPr>
        <p:spPr>
          <a:xfrm>
            <a:off x="5836912" y="5549069"/>
            <a:ext cx="2064352" cy="584775"/>
          </a:xfrm>
          <a:prstGeom prst="rect">
            <a:avLst/>
          </a:prstGeom>
          <a:noFill/>
        </p:spPr>
        <p:txBody>
          <a:bodyPr wrap="square">
            <a:spAutoFit/>
          </a:bodyPr>
          <a:lstStyle/>
          <a:p>
            <a:r>
              <a:rPr lang="en-US" sz="1600" dirty="0"/>
              <a:t>Add </a:t>
            </a:r>
            <a:r>
              <a:rPr lang="en-US" sz="1600" dirty="0" err="1"/>
              <a:t>rna</a:t>
            </a:r>
            <a:r>
              <a:rPr lang="en-US" sz="1600" dirty="0"/>
              <a:t>[j] to best structure of </a:t>
            </a:r>
            <a:r>
              <a:rPr lang="en-US" sz="1600" dirty="0" err="1"/>
              <a:t>rna</a:t>
            </a:r>
            <a:r>
              <a:rPr lang="en-US" sz="1600" dirty="0"/>
              <a:t>[i:j-1]</a:t>
            </a:r>
          </a:p>
        </p:txBody>
      </p:sp>
      <p:graphicFrame>
        <p:nvGraphicFramePr>
          <p:cNvPr id="6" name="Table 5">
            <a:extLst>
              <a:ext uri="{FF2B5EF4-FFF2-40B4-BE49-F238E27FC236}">
                <a16:creationId xmlns:a16="http://schemas.microsoft.com/office/drawing/2014/main" id="{5EC675C3-C077-A5E8-585E-21BEC5BA90C9}"/>
              </a:ext>
            </a:extLst>
          </p:cNvPr>
          <p:cNvGraphicFramePr>
            <a:graphicFrameLocks noGrp="1"/>
          </p:cNvGraphicFramePr>
          <p:nvPr>
            <p:extLst>
              <p:ext uri="{D42A27DB-BD31-4B8C-83A1-F6EECF244321}">
                <p14:modId xmlns:p14="http://schemas.microsoft.com/office/powerpoint/2010/main" val="1020768934"/>
              </p:ext>
            </p:extLst>
          </p:nvPr>
        </p:nvGraphicFramePr>
        <p:xfrm>
          <a:off x="8081887" y="3364367"/>
          <a:ext cx="3185463" cy="1443767"/>
        </p:xfrm>
        <a:graphic>
          <a:graphicData uri="http://schemas.openxmlformats.org/drawingml/2006/table">
            <a:tbl>
              <a:tblPr firstRow="1" bandRow="1">
                <a:tableStyleId>{D7AC3CCA-C797-4891-BE02-D94E43425B78}</a:tableStyleId>
              </a:tblPr>
              <a:tblGrid>
                <a:gridCol w="1061821">
                  <a:extLst>
                    <a:ext uri="{9D8B030D-6E8A-4147-A177-3AD203B41FA5}">
                      <a16:colId xmlns:a16="http://schemas.microsoft.com/office/drawing/2014/main" val="1407851241"/>
                    </a:ext>
                  </a:extLst>
                </a:gridCol>
                <a:gridCol w="1061821">
                  <a:extLst>
                    <a:ext uri="{9D8B030D-6E8A-4147-A177-3AD203B41FA5}">
                      <a16:colId xmlns:a16="http://schemas.microsoft.com/office/drawing/2014/main" val="1653795211"/>
                    </a:ext>
                  </a:extLst>
                </a:gridCol>
                <a:gridCol w="1061821">
                  <a:extLst>
                    <a:ext uri="{9D8B030D-6E8A-4147-A177-3AD203B41FA5}">
                      <a16:colId xmlns:a16="http://schemas.microsoft.com/office/drawing/2014/main" val="3654786236"/>
                    </a:ext>
                  </a:extLst>
                </a:gridCol>
              </a:tblGrid>
              <a:tr h="401778">
                <a:tc>
                  <a:txBody>
                    <a:bodyPr/>
                    <a:lstStyle/>
                    <a:p>
                      <a:pPr algn="ctr"/>
                      <a:endParaRPr lang="en-US" i="0" dirty="0"/>
                    </a:p>
                  </a:txBody>
                  <a:tcPr/>
                </a:tc>
                <a:tc>
                  <a:txBody>
                    <a:bodyPr/>
                    <a:lstStyle/>
                    <a:p>
                      <a:pPr algn="ctr"/>
                      <a:r>
                        <a:rPr lang="en-US" i="0" dirty="0"/>
                        <a:t>j-1</a:t>
                      </a:r>
                    </a:p>
                  </a:txBody>
                  <a:tcPr/>
                </a:tc>
                <a:tc>
                  <a:txBody>
                    <a:bodyPr/>
                    <a:lstStyle/>
                    <a:p>
                      <a:pPr algn="ctr"/>
                      <a:r>
                        <a:rPr lang="en-US" i="0" dirty="0"/>
                        <a:t>j</a:t>
                      </a:r>
                    </a:p>
                  </a:txBody>
                  <a:tcPr/>
                </a:tc>
                <a:extLst>
                  <a:ext uri="{0D108BD9-81ED-4DB2-BD59-A6C34878D82A}">
                    <a16:rowId xmlns:a16="http://schemas.microsoft.com/office/drawing/2014/main" val="2717424468"/>
                  </a:ext>
                </a:extLst>
              </a:tr>
              <a:tr h="401778">
                <a:tc>
                  <a:txBody>
                    <a:bodyPr/>
                    <a:lstStyle/>
                    <a:p>
                      <a:pPr algn="ctr"/>
                      <a:r>
                        <a:rPr lang="en-US" i="0" dirty="0" err="1"/>
                        <a:t>i</a:t>
                      </a:r>
                      <a:endParaRPr lang="en-US" i="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t>S(i,j-1)</a:t>
                      </a:r>
                    </a:p>
                  </a:txBody>
                  <a:tcPr/>
                </a:tc>
                <a:tc>
                  <a:txBody>
                    <a:bodyPr/>
                    <a:lstStyle/>
                    <a:p>
                      <a:pPr algn="ctr"/>
                      <a:r>
                        <a:rPr lang="en-US" i="0" dirty="0"/>
                        <a:t>S(</a:t>
                      </a:r>
                      <a:r>
                        <a:rPr lang="en-US" i="0" dirty="0" err="1"/>
                        <a:t>i,j</a:t>
                      </a:r>
                      <a:r>
                        <a:rPr lang="en-US" i="0" dirty="0"/>
                        <a:t>)</a:t>
                      </a:r>
                    </a:p>
                  </a:txBody>
                  <a:tcPr/>
                </a:tc>
                <a:extLst>
                  <a:ext uri="{0D108BD9-81ED-4DB2-BD59-A6C34878D82A}">
                    <a16:rowId xmlns:a16="http://schemas.microsoft.com/office/drawing/2014/main" val="3319585767"/>
                  </a:ext>
                </a:extLst>
              </a:tr>
              <a:tr h="6402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t>i+1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t>S(i+1,j-1)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t>S(i+1,j)</a:t>
                      </a:r>
                    </a:p>
                    <a:p>
                      <a:pPr algn="ctr"/>
                      <a:endParaRPr lang="en-US" i="0" dirty="0"/>
                    </a:p>
                  </a:txBody>
                  <a:tcPr/>
                </a:tc>
                <a:extLst>
                  <a:ext uri="{0D108BD9-81ED-4DB2-BD59-A6C34878D82A}">
                    <a16:rowId xmlns:a16="http://schemas.microsoft.com/office/drawing/2014/main" val="1440958745"/>
                  </a:ext>
                </a:extLst>
              </a:tr>
            </a:tbl>
          </a:graphicData>
        </a:graphic>
      </p:graphicFrame>
      <p:cxnSp>
        <p:nvCxnSpPr>
          <p:cNvPr id="8" name="Straight Arrow Connector 7">
            <a:extLst>
              <a:ext uri="{FF2B5EF4-FFF2-40B4-BE49-F238E27FC236}">
                <a16:creationId xmlns:a16="http://schemas.microsoft.com/office/drawing/2014/main" id="{7925620F-35B8-DAA6-1E77-A49FECEEDCEA}"/>
              </a:ext>
            </a:extLst>
          </p:cNvPr>
          <p:cNvCxnSpPr>
            <a:cxnSpLocks/>
          </p:cNvCxnSpPr>
          <p:nvPr/>
        </p:nvCxnSpPr>
        <p:spPr>
          <a:xfrm>
            <a:off x="10045078" y="3958814"/>
            <a:ext cx="35756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2406088"/>
      </p:ext>
    </p:extLst>
  </p:cSld>
  <p:clrMapOvr>
    <a:masterClrMapping/>
  </p:clrMapOvr>
  <mc:AlternateContent xmlns:mc="http://schemas.openxmlformats.org/markup-compatibility/2006" xmlns:p14="http://schemas.microsoft.com/office/powerpoint/2010/main">
    <mc:Choice Requires="p14">
      <p:transition spd="slow" p14:dur="2000" advTm="9374"/>
    </mc:Choice>
    <mc:Fallback xmlns="">
      <p:transition spd="slow" advTm="937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028A5-74DE-70AC-9273-5B396773FB1E}"/>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AE66063-DB50-A62D-233B-219654DC5B2D}"/>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TextBox 22">
            <a:extLst>
              <a:ext uri="{FF2B5EF4-FFF2-40B4-BE49-F238E27FC236}">
                <a16:creationId xmlns:a16="http://schemas.microsoft.com/office/drawing/2014/main" id="{974E46F9-1C9D-DD43-EAD6-EF93AF3DA1BE}"/>
              </a:ext>
            </a:extLst>
          </p:cNvPr>
          <p:cNvSpPr txBox="1"/>
          <p:nvPr/>
        </p:nvSpPr>
        <p:spPr>
          <a:xfrm>
            <a:off x="1401446" y="305014"/>
            <a:ext cx="10014984" cy="584775"/>
          </a:xfrm>
          <a:prstGeom prst="rect">
            <a:avLst/>
          </a:prstGeom>
          <a:noFill/>
        </p:spPr>
        <p:txBody>
          <a:bodyPr wrap="square" rtlCol="0">
            <a:spAutoFit/>
          </a:bodyPr>
          <a:lstStyle/>
          <a:p>
            <a:pPr algn="ctr"/>
            <a:r>
              <a:rPr lang="en-US" altLang="en-US" sz="3200" b="1" dirty="0">
                <a:solidFill>
                  <a:srgbClr val="C00000"/>
                </a:solidFill>
              </a:rPr>
              <a:t>How do we compute the value in one cell, S(</a:t>
            </a:r>
            <a:r>
              <a:rPr lang="en-US" altLang="en-US" sz="3200" b="1" dirty="0" err="1">
                <a:solidFill>
                  <a:srgbClr val="C00000"/>
                </a:solidFill>
              </a:rPr>
              <a:t>i,j</a:t>
            </a:r>
            <a:r>
              <a:rPr lang="en-US" altLang="en-US" sz="3200" b="1" dirty="0">
                <a:solidFill>
                  <a:srgbClr val="C00000"/>
                </a:solidFill>
              </a:rPr>
              <a:t>)?</a:t>
            </a:r>
            <a:endParaRPr lang="en-US" sz="3200" b="1" dirty="0">
              <a:solidFill>
                <a:srgbClr val="C00000"/>
              </a:solidFill>
            </a:endParaRPr>
          </a:p>
        </p:txBody>
      </p:sp>
      <p:sp>
        <p:nvSpPr>
          <p:cNvPr id="2" name="Slide Number Placeholder 3">
            <a:extLst>
              <a:ext uri="{FF2B5EF4-FFF2-40B4-BE49-F238E27FC236}">
                <a16:creationId xmlns:a16="http://schemas.microsoft.com/office/drawing/2014/main" id="{E0F5E126-9EB0-6DDF-59A4-71A185BAA8A3}"/>
              </a:ext>
            </a:extLst>
          </p:cNvPr>
          <p:cNvSpPr>
            <a:spLocks noGrp="1"/>
          </p:cNvSpPr>
          <p:nvPr>
            <p:ph type="sldNum" sz="quarter" idx="12"/>
          </p:nvPr>
        </p:nvSpPr>
        <p:spPr>
          <a:xfrm>
            <a:off x="8933705" y="6350377"/>
            <a:ext cx="2743200" cy="365125"/>
          </a:xfrm>
        </p:spPr>
        <p:txBody>
          <a:bodyPr/>
          <a:lstStyle/>
          <a:p>
            <a:r>
              <a:rPr lang="en-IN" dirty="0"/>
              <a:t>8</a:t>
            </a:r>
          </a:p>
        </p:txBody>
      </p:sp>
      <p:pic>
        <p:nvPicPr>
          <p:cNvPr id="5" name="Picture 4">
            <a:extLst>
              <a:ext uri="{FF2B5EF4-FFF2-40B4-BE49-F238E27FC236}">
                <a16:creationId xmlns:a16="http://schemas.microsoft.com/office/drawing/2014/main" id="{335C1E08-F3D5-61D4-AA68-36CEB9405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1355" y="2876259"/>
            <a:ext cx="1612273" cy="2698435"/>
          </a:xfrm>
          <a:prstGeom prst="rect">
            <a:avLst/>
          </a:prstGeom>
        </p:spPr>
      </p:pic>
      <p:sp>
        <p:nvSpPr>
          <p:cNvPr id="67" name="Rectangle 66">
            <a:extLst>
              <a:ext uri="{FF2B5EF4-FFF2-40B4-BE49-F238E27FC236}">
                <a16:creationId xmlns:a16="http://schemas.microsoft.com/office/drawing/2014/main" id="{B4A74624-9491-A6DD-C1A2-21F558366A5D}"/>
              </a:ext>
            </a:extLst>
          </p:cNvPr>
          <p:cNvSpPr/>
          <p:nvPr/>
        </p:nvSpPr>
        <p:spPr>
          <a:xfrm>
            <a:off x="8243978" y="2962483"/>
            <a:ext cx="1895104" cy="3227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0280EBA2-4C2A-FE03-436A-0AC8758844EE}"/>
              </a:ext>
            </a:extLst>
          </p:cNvPr>
          <p:cNvSpPr txBox="1"/>
          <p:nvPr/>
        </p:nvSpPr>
        <p:spPr>
          <a:xfrm>
            <a:off x="141890" y="6437469"/>
            <a:ext cx="6100174" cy="276999"/>
          </a:xfrm>
          <a:prstGeom prst="rect">
            <a:avLst/>
          </a:prstGeom>
          <a:noFill/>
        </p:spPr>
        <p:txBody>
          <a:bodyPr wrap="square">
            <a:spAutoFit/>
          </a:bodyPr>
          <a:lstStyle/>
          <a:p>
            <a:r>
              <a:rPr lang="en-US" sz="1200" dirty="0"/>
              <a:t>Eddy, </a:t>
            </a:r>
            <a:r>
              <a:rPr lang="en-US" sz="1200" i="1" dirty="0"/>
              <a:t>Nature Biotechnology</a:t>
            </a:r>
            <a:r>
              <a:rPr lang="en-US" sz="1200" dirty="0"/>
              <a:t>, 2004</a:t>
            </a:r>
          </a:p>
        </p:txBody>
      </p:sp>
      <p:pic>
        <p:nvPicPr>
          <p:cNvPr id="3" name="Picture 2">
            <a:extLst>
              <a:ext uri="{FF2B5EF4-FFF2-40B4-BE49-F238E27FC236}">
                <a16:creationId xmlns:a16="http://schemas.microsoft.com/office/drawing/2014/main" id="{2CB681DF-7FBD-5BAF-DB77-CD4500C563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8196" y="2887165"/>
            <a:ext cx="1560407" cy="2556243"/>
          </a:xfrm>
          <a:prstGeom prst="rect">
            <a:avLst/>
          </a:prstGeom>
          <a:ln>
            <a:noFill/>
          </a:ln>
        </p:spPr>
      </p:pic>
      <p:pic>
        <p:nvPicPr>
          <p:cNvPr id="4" name="Picture 3">
            <a:extLst>
              <a:ext uri="{FF2B5EF4-FFF2-40B4-BE49-F238E27FC236}">
                <a16:creationId xmlns:a16="http://schemas.microsoft.com/office/drawing/2014/main" id="{D2527427-5BF9-B288-AED2-5A8933ABB08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6912" y="2829130"/>
            <a:ext cx="1778757" cy="2672311"/>
          </a:xfrm>
          <a:prstGeom prst="rect">
            <a:avLst/>
          </a:prstGeom>
          <a:ln>
            <a:noFill/>
          </a:ln>
        </p:spPr>
      </p:pic>
      <p:pic>
        <p:nvPicPr>
          <p:cNvPr id="6" name="Picture 5">
            <a:extLst>
              <a:ext uri="{FF2B5EF4-FFF2-40B4-BE49-F238E27FC236}">
                <a16:creationId xmlns:a16="http://schemas.microsoft.com/office/drawing/2014/main" id="{7D7C4CC2-CB25-C2B4-2956-19E14CCD58A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43978" y="2946085"/>
            <a:ext cx="3060700" cy="24384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3E88AC3-0FCD-DECC-BB1B-FF30AC6D7579}"/>
                  </a:ext>
                </a:extLst>
              </p:cNvPr>
              <p:cNvSpPr txBox="1"/>
              <p:nvPr/>
            </p:nvSpPr>
            <p:spPr>
              <a:xfrm>
                <a:off x="-517758" y="1161674"/>
                <a:ext cx="9320835" cy="15191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𝑆</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𝑗</m:t>
                          </m:r>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𝑚𝑎𝑥</m:t>
                      </m:r>
                      <m:r>
                        <a:rPr lang="en-US" sz="2000" b="0" i="1" smtClean="0">
                          <a:solidFill>
                            <a:schemeClr val="tx1"/>
                          </a:solidFill>
                          <a:latin typeface="Cambria Math" panose="02040503050406030204" pitchFamily="18" charset="0"/>
                        </a:rPr>
                        <m:t> </m:t>
                      </m:r>
                      <m:d>
                        <m:dPr>
                          <m:begChr m:val="{"/>
                          <m:endChr m:val=""/>
                          <m:ctrlPr>
                            <a:rPr lang="en-US" sz="2000" b="0" i="1" smtClean="0">
                              <a:solidFill>
                                <a:schemeClr val="tx1"/>
                              </a:solidFill>
                              <a:latin typeface="Cambria Math" panose="02040503050406030204" pitchFamily="18" charset="0"/>
                            </a:rPr>
                          </m:ctrlPr>
                        </m:dPr>
                        <m:e>
                          <m:eqArr>
                            <m:eqArrPr>
                              <m:ctrlPr>
                                <a:rPr lang="en-US" sz="2000" b="0" i="1" smtClean="0">
                                  <a:solidFill>
                                    <a:schemeClr val="tx1"/>
                                  </a:solidFill>
                                  <a:latin typeface="Cambria Math" panose="02040503050406030204" pitchFamily="18" charset="0"/>
                                </a:rPr>
                              </m:ctrlPr>
                            </m:eqArrPr>
                            <m:e>
                              <m:r>
                                <a:rPr lang="en-US" sz="2000" b="0" i="1" smtClean="0">
                                  <a:solidFill>
                                    <a:schemeClr val="tx1"/>
                                  </a:solidFill>
                                  <a:latin typeface="Cambria Math" panose="02040503050406030204" pitchFamily="18" charset="0"/>
                                </a:rPr>
                                <m:t>𝑆</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𝑗</m:t>
                                  </m:r>
                                  <m:r>
                                    <a:rPr lang="en-US" sz="2000" b="0" i="1" smtClean="0">
                                      <a:solidFill>
                                        <a:schemeClr val="tx1"/>
                                      </a:solidFill>
                                      <a:latin typeface="Cambria Math" panose="02040503050406030204" pitchFamily="18" charset="0"/>
                                    </a:rPr>
                                    <m:t>−1</m:t>
                                  </m:r>
                                </m:e>
                              </m:d>
                              <m:r>
                                <a:rPr lang="en-US" sz="2000" b="0" i="1" smtClean="0">
                                  <a:solidFill>
                                    <a:srgbClr val="C00000"/>
                                  </a:solidFill>
                                  <a:latin typeface="Cambria Math" panose="02040503050406030204" pitchFamily="18" charset="0"/>
                                </a:rPr>
                                <m:t>+1</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𝑖𝑓</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𝑗</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𝑐𝑎𝑛</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𝑝𝑎𝑖𝑟</m:t>
                              </m:r>
                            </m:e>
                            <m:e>
                              <m:r>
                                <a:rPr lang="en-US" sz="2000" i="1" smtClean="0">
                                  <a:solidFill>
                                    <a:schemeClr val="tx1"/>
                                  </a:solidFill>
                                  <a:latin typeface="Cambria Math" panose="02040503050406030204" pitchFamily="18" charset="0"/>
                                </a:rPr>
                                <m:t>𝑆</m:t>
                              </m:r>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𝑖</m:t>
                                  </m:r>
                                  <m:r>
                                    <a:rPr lang="en-US" sz="2000" i="1">
                                      <a:solidFill>
                                        <a:schemeClr val="tx1"/>
                                      </a:solidFill>
                                      <a:latin typeface="Cambria Math" panose="02040503050406030204" pitchFamily="18" charset="0"/>
                                    </a:rPr>
                                    <m:t>+1,</m:t>
                                  </m:r>
                                  <m:r>
                                    <a:rPr lang="en-US" sz="2000" i="1">
                                      <a:solidFill>
                                        <a:schemeClr val="tx1"/>
                                      </a:solidFill>
                                      <a:latin typeface="Cambria Math" panose="02040503050406030204" pitchFamily="18" charset="0"/>
                                    </a:rPr>
                                    <m:t>𝑗</m:t>
                                  </m:r>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𝑔𝑖𝑣𝑒𝑛</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𝑖𝑠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𝑢𝑛𝑝𝑎𝑖𝑟𝑒𝑑</m:t>
                              </m:r>
                            </m:e>
                            <m:e>
                              <m:m>
                                <m:mPr>
                                  <m:mcs>
                                    <m:mc>
                                      <m:mcPr>
                                        <m:count m:val="1"/>
                                        <m:mcJc m:val="center"/>
                                      </m:mcPr>
                                    </m:mc>
                                  </m:mcs>
                                  <m:ctrlPr>
                                    <a:rPr lang="en-US" sz="2000" b="0" i="1" smtClean="0">
                                      <a:solidFill>
                                        <a:schemeClr val="tx1"/>
                                      </a:solidFill>
                                      <a:latin typeface="Cambria Math" panose="02040503050406030204" pitchFamily="18" charset="0"/>
                                    </a:rPr>
                                  </m:ctrlPr>
                                </m:mPr>
                                <m:mr>
                                  <m:e>
                                    <m:r>
                                      <a:rPr lang="en-US" sz="2000" i="1" smtClean="0">
                                        <a:solidFill>
                                          <a:schemeClr val="tx1"/>
                                        </a:solidFill>
                                        <a:latin typeface="Cambria Math" panose="02040503050406030204" pitchFamily="18" charset="0"/>
                                      </a:rPr>
                                      <m:t>𝑆</m:t>
                                    </m:r>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𝑖</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𝑗</m:t>
                                        </m:r>
                                        <m:r>
                                          <a:rPr lang="en-US" sz="2000" i="1">
                                            <a:solidFill>
                                              <a:schemeClr val="tx1"/>
                                            </a:solidFill>
                                            <a:latin typeface="Cambria Math" panose="02040503050406030204" pitchFamily="18" charset="0"/>
                                          </a:rPr>
                                          <m:t>−1</m:t>
                                        </m:r>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𝑔𝑖𝑣𝑒𝑛</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𝑗</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𝑖𝑠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𝑢𝑛𝑝𝑎𝑖𝑟𝑒𝑑</m:t>
                                    </m:r>
                                  </m:e>
                                </m:mr>
                                <m:mr>
                                  <m:e>
                                    <m:func>
                                      <m:funcPr>
                                        <m:ctrlPr>
                                          <a:rPr lang="en-US" sz="2000" i="1">
                                            <a:solidFill>
                                              <a:schemeClr val="tx1"/>
                                            </a:solidFill>
                                            <a:latin typeface="Cambria Math" panose="02040503050406030204" pitchFamily="18" charset="0"/>
                                          </a:rPr>
                                        </m:ctrlPr>
                                      </m:funcPr>
                                      <m:fName>
                                        <m:limLow>
                                          <m:limLowPr>
                                            <m:ctrlPr>
                                              <a:rPr lang="en-US" sz="2000" i="1">
                                                <a:solidFill>
                                                  <a:schemeClr val="tx1"/>
                                                </a:solidFill>
                                                <a:latin typeface="Cambria Math" panose="02040503050406030204" pitchFamily="18" charset="0"/>
                                              </a:rPr>
                                            </m:ctrlPr>
                                          </m:limLowPr>
                                          <m:e>
                                            <m:r>
                                              <m:rPr>
                                                <m:sty m:val="p"/>
                                              </m:rPr>
                                              <a:rPr lang="en-US" sz="2000">
                                                <a:solidFill>
                                                  <a:schemeClr val="tx1"/>
                                                </a:solidFill>
                                                <a:latin typeface="Cambria Math" panose="02040503050406030204" pitchFamily="18" charset="0"/>
                                              </a:rPr>
                                              <m:t>max</m:t>
                                            </m:r>
                                          </m:e>
                                          <m:lim>
                                            <m:r>
                                              <a:rPr lang="en-US" sz="2000" i="1">
                                                <a:solidFill>
                                                  <a:schemeClr val="tx1"/>
                                                </a:solidFill>
                                                <a:latin typeface="Cambria Math" panose="02040503050406030204" pitchFamily="18" charset="0"/>
                                              </a:rPr>
                                              <m:t>𝑖</m:t>
                                            </m:r>
                                            <m:r>
                                              <a:rPr lang="en-US" sz="2000" i="1">
                                                <a:solidFill>
                                                  <a:schemeClr val="tx1"/>
                                                </a:solidFill>
                                                <a:latin typeface="Cambria Math" panose="02040503050406030204" pitchFamily="18" charset="0"/>
                                              </a:rPr>
                                              <m:t>&lt;</m:t>
                                            </m:r>
                                            <m:r>
                                              <a:rPr lang="en-US" sz="2000" i="1">
                                                <a:solidFill>
                                                  <a:schemeClr val="tx1"/>
                                                </a:solidFill>
                                                <a:latin typeface="Cambria Math" panose="02040503050406030204" pitchFamily="18" charset="0"/>
                                              </a:rPr>
                                              <m:t>𝑘</m:t>
                                            </m:r>
                                            <m:r>
                                              <a:rPr lang="en-US" sz="2000" i="1">
                                                <a:solidFill>
                                                  <a:schemeClr val="tx1"/>
                                                </a:solidFill>
                                                <a:latin typeface="Cambria Math" panose="02040503050406030204" pitchFamily="18" charset="0"/>
                                              </a:rPr>
                                              <m:t>&lt;</m:t>
                                            </m:r>
                                            <m:r>
                                              <a:rPr lang="en-US" sz="2000" i="1">
                                                <a:solidFill>
                                                  <a:schemeClr val="tx1"/>
                                                </a:solidFill>
                                                <a:latin typeface="Cambria Math" panose="02040503050406030204" pitchFamily="18" charset="0"/>
                                              </a:rPr>
                                              <m:t>𝑗</m:t>
                                            </m:r>
                                          </m:lim>
                                        </m:limLow>
                                      </m:fName>
                                      <m:e>
                                        <m:r>
                                          <a:rPr lang="en-US" sz="2000" i="1">
                                            <a:solidFill>
                                              <a:schemeClr val="tx1"/>
                                            </a:solidFill>
                                            <a:latin typeface="Cambria Math" panose="02040503050406030204" pitchFamily="18" charset="0"/>
                                          </a:rPr>
                                          <m:t>𝑆</m:t>
                                        </m:r>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𝑖</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𝑘</m:t>
                                            </m:r>
                                          </m:e>
                                        </m:d>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𝑆</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𝑘</m:t>
                                        </m:r>
                                        <m:r>
                                          <a:rPr lang="en-US" sz="2000" i="1">
                                            <a:solidFill>
                                              <a:schemeClr val="tx1"/>
                                            </a:solidFill>
                                            <a:latin typeface="Cambria Math" panose="02040503050406030204" pitchFamily="18" charset="0"/>
                                          </a:rPr>
                                          <m:t>+1,</m:t>
                                        </m:r>
                                        <m:r>
                                          <a:rPr lang="en-US" sz="2000" i="1">
                                            <a:solidFill>
                                              <a:schemeClr val="tx1"/>
                                            </a:solidFill>
                                            <a:latin typeface="Cambria Math" panose="02040503050406030204" pitchFamily="18" charset="0"/>
                                          </a:rPr>
                                          <m:t>𝑗</m:t>
                                        </m:r>
                                        <m:r>
                                          <a:rPr lang="en-US" sz="2000" i="1">
                                            <a:solidFill>
                                              <a:schemeClr val="tx1"/>
                                            </a:solidFill>
                                            <a:latin typeface="Cambria Math" panose="02040503050406030204" pitchFamily="18" charset="0"/>
                                          </a:rPr>
                                          <m:t>)</m:t>
                                        </m:r>
                                      </m:e>
                                    </m:func>
                                    <m:r>
                                      <a:rPr lang="en-US" sz="2000" i="1">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𝑆𝑝𝑙𝑖𝑡</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𝑖𝑛𝑡𝑒𝑟𝑣𝑎𝑙</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𝑖𝑛𝑡𝑜</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𝑡𝑤𝑜</m:t>
                                    </m:r>
                                  </m:e>
                                </m:mr>
                              </m:m>
                            </m:e>
                          </m:eqArr>
                        </m:e>
                      </m:d>
                    </m:oMath>
                  </m:oMathPara>
                </a14:m>
                <a:endParaRPr lang="en-US" sz="2000" dirty="0">
                  <a:solidFill>
                    <a:schemeClr val="tx1"/>
                  </a:solidFill>
                </a:endParaRPr>
              </a:p>
            </p:txBody>
          </p:sp>
        </mc:Choice>
        <mc:Fallback xmlns="">
          <p:sp>
            <p:nvSpPr>
              <p:cNvPr id="7" name="TextBox 6">
                <a:extLst>
                  <a:ext uri="{FF2B5EF4-FFF2-40B4-BE49-F238E27FC236}">
                    <a16:creationId xmlns:a16="http://schemas.microsoft.com/office/drawing/2014/main" id="{33E88AC3-0FCD-DECC-BB1B-FF30AC6D7579}"/>
                  </a:ext>
                </a:extLst>
              </p:cNvPr>
              <p:cNvSpPr txBox="1">
                <a:spLocks noRot="1" noChangeAspect="1" noMove="1" noResize="1" noEditPoints="1" noAdjustHandles="1" noChangeArrowheads="1" noChangeShapeType="1" noTextEdit="1"/>
              </p:cNvSpPr>
              <p:nvPr/>
            </p:nvSpPr>
            <p:spPr>
              <a:xfrm>
                <a:off x="-517758" y="1161674"/>
                <a:ext cx="9320835" cy="1519198"/>
              </a:xfrm>
              <a:prstGeom prst="rect">
                <a:avLst/>
              </a:prstGeom>
              <a:blipFill>
                <a:blip r:embed="rId7"/>
                <a:stretch>
                  <a:fillRect b="-826"/>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07A2C87E-A969-A192-CD4E-08834B59A948}"/>
              </a:ext>
            </a:extLst>
          </p:cNvPr>
          <p:cNvSpPr txBox="1"/>
          <p:nvPr/>
        </p:nvSpPr>
        <p:spPr>
          <a:xfrm>
            <a:off x="7653840" y="1243015"/>
            <a:ext cx="5573485" cy="276999"/>
          </a:xfrm>
          <a:prstGeom prst="rect">
            <a:avLst/>
          </a:prstGeom>
          <a:noFill/>
        </p:spPr>
        <p:txBody>
          <a:bodyPr wrap="square">
            <a:spAutoFit/>
          </a:bodyPr>
          <a:lstStyle/>
          <a:p>
            <a:r>
              <a:rPr lang="en-US" sz="1200" dirty="0"/>
              <a:t>Pair </a:t>
            </a:r>
            <a:r>
              <a:rPr lang="en-US" sz="1200" dirty="0" err="1"/>
              <a:t>rna</a:t>
            </a:r>
            <a:r>
              <a:rPr lang="en-US" sz="1200" dirty="0"/>
              <a:t>[</a:t>
            </a:r>
            <a:r>
              <a:rPr lang="en-US" sz="1200" dirty="0" err="1"/>
              <a:t>i</a:t>
            </a:r>
            <a:r>
              <a:rPr lang="en-US" sz="1200" dirty="0"/>
              <a:t>] and </a:t>
            </a:r>
            <a:r>
              <a:rPr lang="en-US" sz="1200" dirty="0" err="1"/>
              <a:t>rna</a:t>
            </a:r>
            <a:r>
              <a:rPr lang="en-US" sz="1200" dirty="0"/>
              <a:t>[j] and attach to best structure for </a:t>
            </a:r>
            <a:r>
              <a:rPr lang="en-US" sz="1200" dirty="0" err="1"/>
              <a:t>rna</a:t>
            </a:r>
            <a:r>
              <a:rPr lang="en-US" sz="1200" dirty="0"/>
              <a:t>[i+1:j-1]</a:t>
            </a:r>
          </a:p>
        </p:txBody>
      </p:sp>
      <p:sp>
        <p:nvSpPr>
          <p:cNvPr id="13" name="TextBox 12">
            <a:extLst>
              <a:ext uri="{FF2B5EF4-FFF2-40B4-BE49-F238E27FC236}">
                <a16:creationId xmlns:a16="http://schemas.microsoft.com/office/drawing/2014/main" id="{2D339940-70C9-7A67-36C3-EF4582CFC40B}"/>
              </a:ext>
            </a:extLst>
          </p:cNvPr>
          <p:cNvSpPr txBox="1"/>
          <p:nvPr/>
        </p:nvSpPr>
        <p:spPr>
          <a:xfrm>
            <a:off x="7653840" y="1490242"/>
            <a:ext cx="6754584" cy="276999"/>
          </a:xfrm>
          <a:prstGeom prst="rect">
            <a:avLst/>
          </a:prstGeom>
          <a:noFill/>
        </p:spPr>
        <p:txBody>
          <a:bodyPr wrap="square">
            <a:spAutoFit/>
          </a:bodyPr>
          <a:lstStyle/>
          <a:p>
            <a:r>
              <a:rPr lang="en-US" sz="1200" dirty="0"/>
              <a:t>Add </a:t>
            </a:r>
            <a:r>
              <a:rPr lang="en-US" sz="1200" dirty="0" err="1"/>
              <a:t>rna</a:t>
            </a:r>
            <a:r>
              <a:rPr lang="en-US" sz="1200" dirty="0"/>
              <a:t>[</a:t>
            </a:r>
            <a:r>
              <a:rPr lang="en-US" sz="1200" dirty="0" err="1"/>
              <a:t>i</a:t>
            </a:r>
            <a:r>
              <a:rPr lang="en-US" sz="1200" dirty="0"/>
              <a:t>] to best structure of </a:t>
            </a:r>
            <a:r>
              <a:rPr lang="en-US" sz="1200" dirty="0" err="1"/>
              <a:t>rna</a:t>
            </a:r>
            <a:r>
              <a:rPr lang="en-US" sz="1200" dirty="0"/>
              <a:t>[i+1:j]</a:t>
            </a:r>
          </a:p>
        </p:txBody>
      </p:sp>
      <p:sp>
        <p:nvSpPr>
          <p:cNvPr id="14" name="TextBox 13">
            <a:extLst>
              <a:ext uri="{FF2B5EF4-FFF2-40B4-BE49-F238E27FC236}">
                <a16:creationId xmlns:a16="http://schemas.microsoft.com/office/drawing/2014/main" id="{A771FD39-FE63-7817-C76A-67E257F36A35}"/>
              </a:ext>
            </a:extLst>
          </p:cNvPr>
          <p:cNvSpPr txBox="1"/>
          <p:nvPr/>
        </p:nvSpPr>
        <p:spPr>
          <a:xfrm>
            <a:off x="7656562" y="1794455"/>
            <a:ext cx="3153583" cy="276999"/>
          </a:xfrm>
          <a:prstGeom prst="rect">
            <a:avLst/>
          </a:prstGeom>
          <a:noFill/>
        </p:spPr>
        <p:txBody>
          <a:bodyPr wrap="square">
            <a:spAutoFit/>
          </a:bodyPr>
          <a:lstStyle/>
          <a:p>
            <a:r>
              <a:rPr lang="en-US" sz="1200" dirty="0"/>
              <a:t>Add </a:t>
            </a:r>
            <a:r>
              <a:rPr lang="en-US" sz="1200" dirty="0" err="1"/>
              <a:t>rna</a:t>
            </a:r>
            <a:r>
              <a:rPr lang="en-US" sz="1200" dirty="0"/>
              <a:t>[j] to best structure of </a:t>
            </a:r>
            <a:r>
              <a:rPr lang="en-US" sz="1200" dirty="0" err="1"/>
              <a:t>rna</a:t>
            </a:r>
            <a:r>
              <a:rPr lang="en-US" sz="1200" dirty="0"/>
              <a:t>[i:j-1]</a:t>
            </a:r>
          </a:p>
        </p:txBody>
      </p:sp>
      <p:sp>
        <p:nvSpPr>
          <p:cNvPr id="16" name="TextBox 15">
            <a:extLst>
              <a:ext uri="{FF2B5EF4-FFF2-40B4-BE49-F238E27FC236}">
                <a16:creationId xmlns:a16="http://schemas.microsoft.com/office/drawing/2014/main" id="{50FABE9B-4789-2C7D-12A4-6F1BA568A75E}"/>
              </a:ext>
            </a:extLst>
          </p:cNvPr>
          <p:cNvSpPr txBox="1"/>
          <p:nvPr/>
        </p:nvSpPr>
        <p:spPr>
          <a:xfrm>
            <a:off x="8363191" y="5367758"/>
            <a:ext cx="2540434" cy="830997"/>
          </a:xfrm>
          <a:prstGeom prst="rect">
            <a:avLst/>
          </a:prstGeom>
          <a:noFill/>
        </p:spPr>
        <p:txBody>
          <a:bodyPr wrap="square">
            <a:spAutoFit/>
          </a:bodyPr>
          <a:lstStyle/>
          <a:p>
            <a:r>
              <a:rPr lang="en-US" sz="1600" dirty="0"/>
              <a:t>Combine two optimal structures for </a:t>
            </a:r>
            <a:r>
              <a:rPr lang="en-US" sz="1600" dirty="0" err="1"/>
              <a:t>rna</a:t>
            </a:r>
            <a:r>
              <a:rPr lang="en-US" sz="1600" dirty="0"/>
              <a:t>[</a:t>
            </a:r>
            <a:r>
              <a:rPr lang="en-US" sz="1600" dirty="0" err="1"/>
              <a:t>i:k</a:t>
            </a:r>
            <a:r>
              <a:rPr lang="en-US" sz="1600" dirty="0"/>
              <a:t>] and </a:t>
            </a:r>
            <a:r>
              <a:rPr lang="en-US" sz="1600" dirty="0" err="1"/>
              <a:t>rna</a:t>
            </a:r>
            <a:r>
              <a:rPr lang="en-US" sz="1600" dirty="0"/>
              <a:t>[k+1:j]</a:t>
            </a:r>
          </a:p>
        </p:txBody>
      </p:sp>
    </p:spTree>
    <p:extLst>
      <p:ext uri="{BB962C8B-B14F-4D97-AF65-F5344CB8AC3E}">
        <p14:creationId xmlns:p14="http://schemas.microsoft.com/office/powerpoint/2010/main" val="1869042717"/>
      </p:ext>
    </p:extLst>
  </p:cSld>
  <p:clrMapOvr>
    <a:masterClrMapping/>
  </p:clrMapOvr>
  <mc:AlternateContent xmlns:mc="http://schemas.openxmlformats.org/markup-compatibility/2006" xmlns:p14="http://schemas.microsoft.com/office/powerpoint/2010/main">
    <mc:Choice Requires="p14">
      <p:transition spd="slow" p14:dur="2000" advTm="25615"/>
    </mc:Choice>
    <mc:Fallback xmlns="">
      <p:transition spd="slow" advTm="25615"/>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6DB03-0952-B7A3-D31E-62DCFA6C37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789366-4341-C919-7D2F-DCEB92A854F5}"/>
              </a:ext>
            </a:extLst>
          </p:cNvPr>
          <p:cNvSpPr>
            <a:spLocks noGrp="1"/>
          </p:cNvSpPr>
          <p:nvPr>
            <p:ph type="sldNum" sz="quarter" idx="12"/>
          </p:nvPr>
        </p:nvSpPr>
        <p:spPr/>
        <p:txBody>
          <a:bodyPr/>
          <a:lstStyle/>
          <a:p>
            <a:r>
              <a:rPr lang="en-IN" dirty="0"/>
              <a:t>9</a:t>
            </a:r>
          </a:p>
        </p:txBody>
      </p:sp>
      <p:pic>
        <p:nvPicPr>
          <p:cNvPr id="4" name="Picture 3" descr="A diagram of a number grid&#10;&#10;AI-generated content may be incorrect.">
            <a:extLst>
              <a:ext uri="{FF2B5EF4-FFF2-40B4-BE49-F238E27FC236}">
                <a16:creationId xmlns:a16="http://schemas.microsoft.com/office/drawing/2014/main" id="{261F0120-F007-515B-4517-E989B241E3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3981" y="1741550"/>
            <a:ext cx="3686166" cy="2683845"/>
          </a:xfrm>
          <a:prstGeom prst="rect">
            <a:avLst/>
          </a:prstGeom>
        </p:spPr>
      </p:pic>
      <p:sp>
        <p:nvSpPr>
          <p:cNvPr id="5" name="TextBox 4">
            <a:extLst>
              <a:ext uri="{FF2B5EF4-FFF2-40B4-BE49-F238E27FC236}">
                <a16:creationId xmlns:a16="http://schemas.microsoft.com/office/drawing/2014/main" id="{4E17DA16-9213-0A38-C055-FA15FC280401}"/>
              </a:ext>
            </a:extLst>
          </p:cNvPr>
          <p:cNvSpPr txBox="1"/>
          <p:nvPr/>
        </p:nvSpPr>
        <p:spPr>
          <a:xfrm>
            <a:off x="1401446" y="336982"/>
            <a:ext cx="10014984" cy="584775"/>
          </a:xfrm>
          <a:prstGeom prst="rect">
            <a:avLst/>
          </a:prstGeom>
          <a:noFill/>
        </p:spPr>
        <p:txBody>
          <a:bodyPr wrap="square" rtlCol="0">
            <a:spAutoFit/>
          </a:bodyPr>
          <a:lstStyle/>
          <a:p>
            <a:pPr algn="ctr"/>
            <a:r>
              <a:rPr lang="en-US" sz="3200" b="1" dirty="0">
                <a:solidFill>
                  <a:srgbClr val="C00000"/>
                </a:solidFill>
              </a:rPr>
              <a:t>How do we recover the structure? Traceback.</a:t>
            </a:r>
          </a:p>
        </p:txBody>
      </p:sp>
      <p:sp>
        <p:nvSpPr>
          <p:cNvPr id="6" name="Rectangle 5">
            <a:extLst>
              <a:ext uri="{FF2B5EF4-FFF2-40B4-BE49-F238E27FC236}">
                <a16:creationId xmlns:a16="http://schemas.microsoft.com/office/drawing/2014/main" id="{DCA4F701-C02B-0EA0-622B-CF673558C5AE}"/>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8F8EF117-27E6-D2EC-FA19-69FDF4C6C932}"/>
              </a:ext>
            </a:extLst>
          </p:cNvPr>
          <p:cNvSpPr txBox="1"/>
          <p:nvPr/>
        </p:nvSpPr>
        <p:spPr>
          <a:xfrm>
            <a:off x="673509" y="2139206"/>
            <a:ext cx="6132831" cy="624979"/>
          </a:xfrm>
          <a:prstGeom prst="rect">
            <a:avLst/>
          </a:prstGeom>
          <a:solidFill>
            <a:schemeClr val="bg2">
              <a:lumMod val="90000"/>
            </a:schemeClr>
          </a:solidFill>
          <a:ln>
            <a:solidFill>
              <a:schemeClr val="tx1"/>
            </a:solidFill>
          </a:ln>
        </p:spPr>
        <p:txBody>
          <a:bodyPr wrap="square">
            <a:spAutoFit/>
          </a:bodyPr>
          <a:lstStyle/>
          <a:p>
            <a:pPr marL="514350" indent="-514350">
              <a:lnSpc>
                <a:spcPct val="200000"/>
              </a:lnSpc>
              <a:buFont typeface="+mj-lt"/>
              <a:buAutoNum type="romanUcPeriod"/>
            </a:pPr>
            <a:r>
              <a:rPr lang="en-US" sz="2000" dirty="0"/>
              <a:t>Start from </a:t>
            </a:r>
            <a:r>
              <a:rPr lang="en-US" sz="2000" b="1" dirty="0"/>
              <a:t>final cell: S(1,N)</a:t>
            </a:r>
            <a:r>
              <a:rPr lang="en-US" sz="2000" dirty="0"/>
              <a:t>.</a:t>
            </a:r>
          </a:p>
        </p:txBody>
      </p:sp>
      <p:cxnSp>
        <p:nvCxnSpPr>
          <p:cNvPr id="18" name="Straight Arrow Connector 17">
            <a:extLst>
              <a:ext uri="{FF2B5EF4-FFF2-40B4-BE49-F238E27FC236}">
                <a16:creationId xmlns:a16="http://schemas.microsoft.com/office/drawing/2014/main" id="{85B66170-4FE4-590F-14B5-2A0319FDA3EE}"/>
              </a:ext>
            </a:extLst>
          </p:cNvPr>
          <p:cNvCxnSpPr>
            <a:cxnSpLocks/>
          </p:cNvCxnSpPr>
          <p:nvPr/>
        </p:nvCxnSpPr>
        <p:spPr>
          <a:xfrm>
            <a:off x="11128927" y="2139206"/>
            <a:ext cx="0" cy="1979112"/>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69EFF25B-8B74-EEC7-08A0-6590E0421959}"/>
              </a:ext>
            </a:extLst>
          </p:cNvPr>
          <p:cNvSpPr txBox="1"/>
          <p:nvPr/>
        </p:nvSpPr>
        <p:spPr>
          <a:xfrm>
            <a:off x="10195038" y="1788895"/>
            <a:ext cx="1662985" cy="276999"/>
          </a:xfrm>
          <a:prstGeom prst="rect">
            <a:avLst/>
          </a:prstGeom>
          <a:noFill/>
        </p:spPr>
        <p:txBody>
          <a:bodyPr wrap="square" rtlCol="0">
            <a:spAutoFit/>
          </a:bodyPr>
          <a:lstStyle/>
          <a:p>
            <a:r>
              <a:rPr lang="en-US" sz="1200" dirty="0"/>
              <a:t>To obtain the structure</a:t>
            </a:r>
          </a:p>
        </p:txBody>
      </p:sp>
      <p:sp>
        <p:nvSpPr>
          <p:cNvPr id="24" name="TextBox 23">
            <a:extLst>
              <a:ext uri="{FF2B5EF4-FFF2-40B4-BE49-F238E27FC236}">
                <a16:creationId xmlns:a16="http://schemas.microsoft.com/office/drawing/2014/main" id="{E20F0C0E-BBC2-88D0-4ED7-E1F620F92570}"/>
              </a:ext>
            </a:extLst>
          </p:cNvPr>
          <p:cNvSpPr txBox="1"/>
          <p:nvPr/>
        </p:nvSpPr>
        <p:spPr>
          <a:xfrm>
            <a:off x="141890" y="6437469"/>
            <a:ext cx="6100174" cy="276999"/>
          </a:xfrm>
          <a:prstGeom prst="rect">
            <a:avLst/>
          </a:prstGeom>
          <a:noFill/>
        </p:spPr>
        <p:txBody>
          <a:bodyPr wrap="square">
            <a:spAutoFit/>
          </a:bodyPr>
          <a:lstStyle/>
          <a:p>
            <a:r>
              <a:rPr lang="en-US" sz="1200" dirty="0"/>
              <a:t>Eddy, </a:t>
            </a:r>
            <a:r>
              <a:rPr lang="en-US" sz="1200" i="1" dirty="0"/>
              <a:t>Nature Biotechnology</a:t>
            </a:r>
            <a:r>
              <a:rPr lang="en-US" sz="1200" dirty="0"/>
              <a:t>, 2004</a:t>
            </a:r>
          </a:p>
        </p:txBody>
      </p:sp>
      <p:cxnSp>
        <p:nvCxnSpPr>
          <p:cNvPr id="12" name="Straight Arrow Connector 11">
            <a:extLst>
              <a:ext uri="{FF2B5EF4-FFF2-40B4-BE49-F238E27FC236}">
                <a16:creationId xmlns:a16="http://schemas.microsoft.com/office/drawing/2014/main" id="{15D079CF-AC6F-C1AA-FACA-846E7787A728}"/>
              </a:ext>
            </a:extLst>
          </p:cNvPr>
          <p:cNvCxnSpPr/>
          <p:nvPr/>
        </p:nvCxnSpPr>
        <p:spPr>
          <a:xfrm>
            <a:off x="9557657" y="1491343"/>
            <a:ext cx="0" cy="794657"/>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4DC1B139-62A4-4BE1-EDED-2A0FB73BFFC8}"/>
              </a:ext>
            </a:extLst>
          </p:cNvPr>
          <p:cNvSpPr txBox="1"/>
          <p:nvPr/>
        </p:nvSpPr>
        <p:spPr>
          <a:xfrm>
            <a:off x="9166974" y="1208616"/>
            <a:ext cx="1643743" cy="307777"/>
          </a:xfrm>
          <a:prstGeom prst="rect">
            <a:avLst/>
          </a:prstGeom>
          <a:noFill/>
        </p:spPr>
        <p:txBody>
          <a:bodyPr wrap="square" rtlCol="0">
            <a:spAutoFit/>
          </a:bodyPr>
          <a:lstStyle/>
          <a:p>
            <a:r>
              <a:rPr lang="en-US" sz="1400" dirty="0">
                <a:solidFill>
                  <a:srgbClr val="C00000"/>
                </a:solidFill>
              </a:rPr>
              <a:t>S(1,N)</a:t>
            </a:r>
          </a:p>
        </p:txBody>
      </p:sp>
    </p:spTree>
    <p:extLst>
      <p:ext uri="{BB962C8B-B14F-4D97-AF65-F5344CB8AC3E}">
        <p14:creationId xmlns:p14="http://schemas.microsoft.com/office/powerpoint/2010/main" val="3690838376"/>
      </p:ext>
    </p:extLst>
  </p:cSld>
  <p:clrMapOvr>
    <a:masterClrMapping/>
  </p:clrMapOvr>
  <mc:AlternateContent xmlns:mc="http://schemas.openxmlformats.org/markup-compatibility/2006" xmlns:p14="http://schemas.microsoft.com/office/powerpoint/2010/main">
    <mc:Choice Requires="p14">
      <p:transition spd="slow" p14:dur="2000" advTm="13727"/>
    </mc:Choice>
    <mc:Fallback xmlns="">
      <p:transition spd="slow" advTm="13727"/>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E19EE-5488-8F84-A0C2-DDE03A7BC5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DB1055-BAAF-FED7-C041-699D1D75367E}"/>
              </a:ext>
            </a:extLst>
          </p:cNvPr>
          <p:cNvSpPr>
            <a:spLocks noGrp="1"/>
          </p:cNvSpPr>
          <p:nvPr>
            <p:ph type="sldNum" sz="quarter" idx="12"/>
          </p:nvPr>
        </p:nvSpPr>
        <p:spPr/>
        <p:txBody>
          <a:bodyPr/>
          <a:lstStyle/>
          <a:p>
            <a:r>
              <a:rPr lang="en-IN" dirty="0"/>
              <a:t>9</a:t>
            </a:r>
          </a:p>
        </p:txBody>
      </p:sp>
      <p:pic>
        <p:nvPicPr>
          <p:cNvPr id="4" name="Picture 3" descr="A diagram of a number grid&#10;&#10;AI-generated content may be incorrect.">
            <a:extLst>
              <a:ext uri="{FF2B5EF4-FFF2-40B4-BE49-F238E27FC236}">
                <a16:creationId xmlns:a16="http://schemas.microsoft.com/office/drawing/2014/main" id="{C9104AA2-CFB9-2A98-FF4D-3C1875F446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3981" y="1741550"/>
            <a:ext cx="3686166" cy="2683845"/>
          </a:xfrm>
          <a:prstGeom prst="rect">
            <a:avLst/>
          </a:prstGeom>
        </p:spPr>
      </p:pic>
      <p:sp>
        <p:nvSpPr>
          <p:cNvPr id="5" name="TextBox 4">
            <a:extLst>
              <a:ext uri="{FF2B5EF4-FFF2-40B4-BE49-F238E27FC236}">
                <a16:creationId xmlns:a16="http://schemas.microsoft.com/office/drawing/2014/main" id="{0441934A-6311-376C-524A-6B1CAEF129F3}"/>
              </a:ext>
            </a:extLst>
          </p:cNvPr>
          <p:cNvSpPr txBox="1"/>
          <p:nvPr/>
        </p:nvSpPr>
        <p:spPr>
          <a:xfrm>
            <a:off x="1401446" y="336982"/>
            <a:ext cx="10014984" cy="584775"/>
          </a:xfrm>
          <a:prstGeom prst="rect">
            <a:avLst/>
          </a:prstGeom>
          <a:noFill/>
        </p:spPr>
        <p:txBody>
          <a:bodyPr wrap="square" rtlCol="0">
            <a:spAutoFit/>
          </a:bodyPr>
          <a:lstStyle/>
          <a:p>
            <a:pPr algn="ctr"/>
            <a:r>
              <a:rPr lang="en-US" sz="3200" b="1" dirty="0">
                <a:solidFill>
                  <a:srgbClr val="C00000"/>
                </a:solidFill>
              </a:rPr>
              <a:t>How do we recover the structure? Traceback.</a:t>
            </a:r>
          </a:p>
        </p:txBody>
      </p:sp>
      <p:sp>
        <p:nvSpPr>
          <p:cNvPr id="6" name="Rectangle 5">
            <a:extLst>
              <a:ext uri="{FF2B5EF4-FFF2-40B4-BE49-F238E27FC236}">
                <a16:creationId xmlns:a16="http://schemas.microsoft.com/office/drawing/2014/main" id="{A3F5039B-7148-FC7C-DA45-AE2DDAF87594}"/>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F1019698-9504-63CD-3B52-FD8E79ADA763}"/>
              </a:ext>
            </a:extLst>
          </p:cNvPr>
          <p:cNvSpPr txBox="1"/>
          <p:nvPr/>
        </p:nvSpPr>
        <p:spPr>
          <a:xfrm>
            <a:off x="673509" y="2139206"/>
            <a:ext cx="6132831" cy="1240532"/>
          </a:xfrm>
          <a:prstGeom prst="rect">
            <a:avLst/>
          </a:prstGeom>
          <a:solidFill>
            <a:schemeClr val="bg2">
              <a:lumMod val="90000"/>
            </a:schemeClr>
          </a:solidFill>
          <a:ln>
            <a:solidFill>
              <a:schemeClr val="tx1"/>
            </a:solidFill>
          </a:ln>
        </p:spPr>
        <p:txBody>
          <a:bodyPr wrap="square">
            <a:spAutoFit/>
          </a:bodyPr>
          <a:lstStyle/>
          <a:p>
            <a:pPr marL="514350" indent="-514350">
              <a:lnSpc>
                <a:spcPct val="200000"/>
              </a:lnSpc>
              <a:buFont typeface="+mj-lt"/>
              <a:buAutoNum type="romanUcPeriod"/>
            </a:pPr>
            <a:r>
              <a:rPr lang="en-US" sz="2000" dirty="0"/>
              <a:t>Start from </a:t>
            </a:r>
            <a:r>
              <a:rPr lang="en-US" sz="2000" b="1" dirty="0"/>
              <a:t>final cell: S(1,N)</a:t>
            </a:r>
            <a:r>
              <a:rPr lang="en-US" sz="2000" dirty="0"/>
              <a:t>.</a:t>
            </a:r>
          </a:p>
          <a:p>
            <a:pPr marL="514350" indent="-514350">
              <a:lnSpc>
                <a:spcPct val="200000"/>
              </a:lnSpc>
              <a:buFont typeface="+mj-lt"/>
              <a:buAutoNum type="romanUcPeriod"/>
            </a:pPr>
            <a:r>
              <a:rPr lang="en-US" sz="2000" dirty="0"/>
              <a:t>Follow which case achieved this optimal result.</a:t>
            </a:r>
          </a:p>
        </p:txBody>
      </p:sp>
      <p:cxnSp>
        <p:nvCxnSpPr>
          <p:cNvPr id="18" name="Straight Arrow Connector 17">
            <a:extLst>
              <a:ext uri="{FF2B5EF4-FFF2-40B4-BE49-F238E27FC236}">
                <a16:creationId xmlns:a16="http://schemas.microsoft.com/office/drawing/2014/main" id="{4D9B5B58-3B42-1F61-73CF-2609B4B945C8}"/>
              </a:ext>
            </a:extLst>
          </p:cNvPr>
          <p:cNvCxnSpPr>
            <a:cxnSpLocks/>
          </p:cNvCxnSpPr>
          <p:nvPr/>
        </p:nvCxnSpPr>
        <p:spPr>
          <a:xfrm>
            <a:off x="11128927" y="2139206"/>
            <a:ext cx="0" cy="1979112"/>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314801B0-8129-21CA-D79B-E080A6ACC655}"/>
              </a:ext>
            </a:extLst>
          </p:cNvPr>
          <p:cNvSpPr txBox="1"/>
          <p:nvPr/>
        </p:nvSpPr>
        <p:spPr>
          <a:xfrm>
            <a:off x="10195038" y="1788895"/>
            <a:ext cx="1662985" cy="276999"/>
          </a:xfrm>
          <a:prstGeom prst="rect">
            <a:avLst/>
          </a:prstGeom>
          <a:noFill/>
        </p:spPr>
        <p:txBody>
          <a:bodyPr wrap="square" rtlCol="0">
            <a:spAutoFit/>
          </a:bodyPr>
          <a:lstStyle/>
          <a:p>
            <a:r>
              <a:rPr lang="en-US" sz="1200" dirty="0"/>
              <a:t>To obtain the structure</a:t>
            </a:r>
          </a:p>
        </p:txBody>
      </p:sp>
      <p:sp>
        <p:nvSpPr>
          <p:cNvPr id="24" name="TextBox 23">
            <a:extLst>
              <a:ext uri="{FF2B5EF4-FFF2-40B4-BE49-F238E27FC236}">
                <a16:creationId xmlns:a16="http://schemas.microsoft.com/office/drawing/2014/main" id="{795E746E-E713-DC24-CBBE-0873633B1219}"/>
              </a:ext>
            </a:extLst>
          </p:cNvPr>
          <p:cNvSpPr txBox="1"/>
          <p:nvPr/>
        </p:nvSpPr>
        <p:spPr>
          <a:xfrm>
            <a:off x="141890" y="6437469"/>
            <a:ext cx="6100174" cy="276999"/>
          </a:xfrm>
          <a:prstGeom prst="rect">
            <a:avLst/>
          </a:prstGeom>
          <a:noFill/>
        </p:spPr>
        <p:txBody>
          <a:bodyPr wrap="square">
            <a:spAutoFit/>
          </a:bodyPr>
          <a:lstStyle/>
          <a:p>
            <a:r>
              <a:rPr lang="en-US" sz="1200" dirty="0"/>
              <a:t>Eddy, </a:t>
            </a:r>
            <a:r>
              <a:rPr lang="en-US" sz="1200" i="1" dirty="0"/>
              <a:t>Nature Biotechnology</a:t>
            </a:r>
            <a:r>
              <a:rPr lang="en-US" sz="1200" dirty="0"/>
              <a:t>, 2004</a:t>
            </a:r>
          </a:p>
        </p:txBody>
      </p:sp>
      <p:cxnSp>
        <p:nvCxnSpPr>
          <p:cNvPr id="12" name="Straight Arrow Connector 11">
            <a:extLst>
              <a:ext uri="{FF2B5EF4-FFF2-40B4-BE49-F238E27FC236}">
                <a16:creationId xmlns:a16="http://schemas.microsoft.com/office/drawing/2014/main" id="{154C38C9-B5E0-E2A3-83A1-C373EADD5C87}"/>
              </a:ext>
            </a:extLst>
          </p:cNvPr>
          <p:cNvCxnSpPr/>
          <p:nvPr/>
        </p:nvCxnSpPr>
        <p:spPr>
          <a:xfrm>
            <a:off x="9557657" y="1491343"/>
            <a:ext cx="0" cy="794657"/>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9132762C-CF23-5560-45B6-267E5906E6D6}"/>
              </a:ext>
            </a:extLst>
          </p:cNvPr>
          <p:cNvSpPr txBox="1"/>
          <p:nvPr/>
        </p:nvSpPr>
        <p:spPr>
          <a:xfrm>
            <a:off x="9166974" y="1208616"/>
            <a:ext cx="1643743" cy="307777"/>
          </a:xfrm>
          <a:prstGeom prst="rect">
            <a:avLst/>
          </a:prstGeom>
          <a:noFill/>
        </p:spPr>
        <p:txBody>
          <a:bodyPr wrap="square" rtlCol="0">
            <a:spAutoFit/>
          </a:bodyPr>
          <a:lstStyle/>
          <a:p>
            <a:r>
              <a:rPr lang="en-US" sz="1400" dirty="0">
                <a:solidFill>
                  <a:srgbClr val="C00000"/>
                </a:solidFill>
              </a:rPr>
              <a:t>S(1,N)</a:t>
            </a:r>
          </a:p>
        </p:txBody>
      </p:sp>
      <p:sp>
        <p:nvSpPr>
          <p:cNvPr id="15" name="Oval 14">
            <a:extLst>
              <a:ext uri="{FF2B5EF4-FFF2-40B4-BE49-F238E27FC236}">
                <a16:creationId xmlns:a16="http://schemas.microsoft.com/office/drawing/2014/main" id="{EDF3CC0E-E096-35A2-8D78-1A705B2F9EED}"/>
              </a:ext>
            </a:extLst>
          </p:cNvPr>
          <p:cNvSpPr/>
          <p:nvPr/>
        </p:nvSpPr>
        <p:spPr>
          <a:xfrm rot="2802093">
            <a:off x="9090637" y="2320818"/>
            <a:ext cx="217987" cy="119864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6022906"/>
      </p:ext>
    </p:extLst>
  </p:cSld>
  <p:clrMapOvr>
    <a:masterClrMapping/>
  </p:clrMapOvr>
  <mc:AlternateContent xmlns:mc="http://schemas.openxmlformats.org/markup-compatibility/2006" xmlns:p14="http://schemas.microsoft.com/office/powerpoint/2010/main">
    <mc:Choice Requires="p14">
      <p:transition spd="slow" p14:dur="2000" advTm="12440"/>
    </mc:Choice>
    <mc:Fallback xmlns="">
      <p:transition spd="slow" advTm="1244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2005B-AA8A-37D2-5D0F-B054684B402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8A9F6F-3932-C022-F81A-0301E7BF975C}"/>
              </a:ext>
            </a:extLst>
          </p:cNvPr>
          <p:cNvSpPr>
            <a:spLocks noGrp="1"/>
          </p:cNvSpPr>
          <p:nvPr>
            <p:ph type="sldNum" sz="quarter" idx="12"/>
          </p:nvPr>
        </p:nvSpPr>
        <p:spPr/>
        <p:txBody>
          <a:bodyPr/>
          <a:lstStyle/>
          <a:p>
            <a:r>
              <a:rPr lang="en-IN" dirty="0"/>
              <a:t>9</a:t>
            </a:r>
          </a:p>
        </p:txBody>
      </p:sp>
      <p:pic>
        <p:nvPicPr>
          <p:cNvPr id="4" name="Picture 3" descr="A diagram of a number grid&#10;&#10;AI-generated content may be incorrect.">
            <a:extLst>
              <a:ext uri="{FF2B5EF4-FFF2-40B4-BE49-F238E27FC236}">
                <a16:creationId xmlns:a16="http://schemas.microsoft.com/office/drawing/2014/main" id="{EE8E14AB-82F3-1978-BC8E-08DD0543F4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3981" y="1741550"/>
            <a:ext cx="3686166" cy="2683845"/>
          </a:xfrm>
          <a:prstGeom prst="rect">
            <a:avLst/>
          </a:prstGeom>
        </p:spPr>
      </p:pic>
      <p:sp>
        <p:nvSpPr>
          <p:cNvPr id="5" name="TextBox 4">
            <a:extLst>
              <a:ext uri="{FF2B5EF4-FFF2-40B4-BE49-F238E27FC236}">
                <a16:creationId xmlns:a16="http://schemas.microsoft.com/office/drawing/2014/main" id="{D0DDC3CD-F8C4-8DCA-7532-98505AAD8412}"/>
              </a:ext>
            </a:extLst>
          </p:cNvPr>
          <p:cNvSpPr txBox="1"/>
          <p:nvPr/>
        </p:nvSpPr>
        <p:spPr>
          <a:xfrm>
            <a:off x="1401446" y="336982"/>
            <a:ext cx="10014984" cy="584775"/>
          </a:xfrm>
          <a:prstGeom prst="rect">
            <a:avLst/>
          </a:prstGeom>
          <a:noFill/>
        </p:spPr>
        <p:txBody>
          <a:bodyPr wrap="square" rtlCol="0">
            <a:spAutoFit/>
          </a:bodyPr>
          <a:lstStyle/>
          <a:p>
            <a:pPr algn="ctr"/>
            <a:r>
              <a:rPr lang="en-US" sz="3200" b="1" dirty="0">
                <a:solidFill>
                  <a:srgbClr val="C00000"/>
                </a:solidFill>
              </a:rPr>
              <a:t>How do we recover the structure? Traceback.</a:t>
            </a:r>
          </a:p>
        </p:txBody>
      </p:sp>
      <p:sp>
        <p:nvSpPr>
          <p:cNvPr id="6" name="Rectangle 5">
            <a:extLst>
              <a:ext uri="{FF2B5EF4-FFF2-40B4-BE49-F238E27FC236}">
                <a16:creationId xmlns:a16="http://schemas.microsoft.com/office/drawing/2014/main" id="{D22B13EE-15EE-D6D1-1EF2-12D5840767EA}"/>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5E4CD5D7-14EC-CF2D-9390-85446711949B}"/>
              </a:ext>
            </a:extLst>
          </p:cNvPr>
          <p:cNvSpPr txBox="1"/>
          <p:nvPr/>
        </p:nvSpPr>
        <p:spPr>
          <a:xfrm>
            <a:off x="673509" y="2139206"/>
            <a:ext cx="6132831" cy="1856086"/>
          </a:xfrm>
          <a:prstGeom prst="rect">
            <a:avLst/>
          </a:prstGeom>
          <a:solidFill>
            <a:schemeClr val="bg2">
              <a:lumMod val="90000"/>
            </a:schemeClr>
          </a:solidFill>
          <a:ln>
            <a:solidFill>
              <a:schemeClr val="tx1"/>
            </a:solidFill>
          </a:ln>
        </p:spPr>
        <p:txBody>
          <a:bodyPr wrap="square">
            <a:spAutoFit/>
          </a:bodyPr>
          <a:lstStyle/>
          <a:p>
            <a:pPr marL="514350" indent="-514350">
              <a:lnSpc>
                <a:spcPct val="200000"/>
              </a:lnSpc>
              <a:buFont typeface="+mj-lt"/>
              <a:buAutoNum type="romanUcPeriod"/>
            </a:pPr>
            <a:r>
              <a:rPr lang="en-US" sz="2000" dirty="0"/>
              <a:t>Start from </a:t>
            </a:r>
            <a:r>
              <a:rPr lang="en-US" sz="2000" b="1" dirty="0"/>
              <a:t>final cell: S(1,N)</a:t>
            </a:r>
            <a:r>
              <a:rPr lang="en-US" sz="2000" dirty="0"/>
              <a:t>.</a:t>
            </a:r>
          </a:p>
          <a:p>
            <a:pPr marL="514350" indent="-514350">
              <a:lnSpc>
                <a:spcPct val="200000"/>
              </a:lnSpc>
              <a:buFont typeface="+mj-lt"/>
              <a:buAutoNum type="romanUcPeriod"/>
            </a:pPr>
            <a:r>
              <a:rPr lang="en-US" sz="2000" dirty="0"/>
              <a:t>Follow which case achieved this optimal result.</a:t>
            </a:r>
          </a:p>
          <a:p>
            <a:pPr marL="514350" indent="-514350">
              <a:lnSpc>
                <a:spcPct val="200000"/>
              </a:lnSpc>
              <a:buFont typeface="+mj-lt"/>
              <a:buAutoNum type="romanUcPeriod"/>
            </a:pPr>
            <a:r>
              <a:rPr lang="en-US" sz="2000" dirty="0"/>
              <a:t>When a “paired case” is chosen, output base pair.</a:t>
            </a:r>
          </a:p>
        </p:txBody>
      </p:sp>
      <p:cxnSp>
        <p:nvCxnSpPr>
          <p:cNvPr id="18" name="Straight Arrow Connector 17">
            <a:extLst>
              <a:ext uri="{FF2B5EF4-FFF2-40B4-BE49-F238E27FC236}">
                <a16:creationId xmlns:a16="http://schemas.microsoft.com/office/drawing/2014/main" id="{EE38B43F-47B4-5137-6DBD-613799B52D6A}"/>
              </a:ext>
            </a:extLst>
          </p:cNvPr>
          <p:cNvCxnSpPr>
            <a:cxnSpLocks/>
          </p:cNvCxnSpPr>
          <p:nvPr/>
        </p:nvCxnSpPr>
        <p:spPr>
          <a:xfrm>
            <a:off x="11128927" y="2139206"/>
            <a:ext cx="0" cy="1979112"/>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CC3896E7-92A9-71C7-0D22-000451A64694}"/>
              </a:ext>
            </a:extLst>
          </p:cNvPr>
          <p:cNvSpPr txBox="1"/>
          <p:nvPr/>
        </p:nvSpPr>
        <p:spPr>
          <a:xfrm>
            <a:off x="10195038" y="1788895"/>
            <a:ext cx="1662985" cy="276999"/>
          </a:xfrm>
          <a:prstGeom prst="rect">
            <a:avLst/>
          </a:prstGeom>
          <a:noFill/>
        </p:spPr>
        <p:txBody>
          <a:bodyPr wrap="square" rtlCol="0">
            <a:spAutoFit/>
          </a:bodyPr>
          <a:lstStyle/>
          <a:p>
            <a:r>
              <a:rPr lang="en-US" sz="1200" dirty="0"/>
              <a:t>To obtain the structure</a:t>
            </a:r>
          </a:p>
        </p:txBody>
      </p:sp>
      <p:sp>
        <p:nvSpPr>
          <p:cNvPr id="24" name="TextBox 23">
            <a:extLst>
              <a:ext uri="{FF2B5EF4-FFF2-40B4-BE49-F238E27FC236}">
                <a16:creationId xmlns:a16="http://schemas.microsoft.com/office/drawing/2014/main" id="{255E71B9-715A-10CD-F4B0-6FF8BDAD1165}"/>
              </a:ext>
            </a:extLst>
          </p:cNvPr>
          <p:cNvSpPr txBox="1"/>
          <p:nvPr/>
        </p:nvSpPr>
        <p:spPr>
          <a:xfrm>
            <a:off x="141890" y="6437469"/>
            <a:ext cx="6100174" cy="276999"/>
          </a:xfrm>
          <a:prstGeom prst="rect">
            <a:avLst/>
          </a:prstGeom>
          <a:noFill/>
        </p:spPr>
        <p:txBody>
          <a:bodyPr wrap="square">
            <a:spAutoFit/>
          </a:bodyPr>
          <a:lstStyle/>
          <a:p>
            <a:r>
              <a:rPr lang="en-US" sz="1200" dirty="0"/>
              <a:t>Eddy, </a:t>
            </a:r>
            <a:r>
              <a:rPr lang="en-US" sz="1200" i="1" dirty="0"/>
              <a:t>Nature Biotechnology</a:t>
            </a:r>
            <a:r>
              <a:rPr lang="en-US" sz="1200" dirty="0"/>
              <a:t>, 2004</a:t>
            </a:r>
          </a:p>
        </p:txBody>
      </p:sp>
      <p:cxnSp>
        <p:nvCxnSpPr>
          <p:cNvPr id="12" name="Straight Arrow Connector 11">
            <a:extLst>
              <a:ext uri="{FF2B5EF4-FFF2-40B4-BE49-F238E27FC236}">
                <a16:creationId xmlns:a16="http://schemas.microsoft.com/office/drawing/2014/main" id="{BFA13B7E-304D-8EC8-7A80-D6B6E34FA172}"/>
              </a:ext>
            </a:extLst>
          </p:cNvPr>
          <p:cNvCxnSpPr/>
          <p:nvPr/>
        </p:nvCxnSpPr>
        <p:spPr>
          <a:xfrm>
            <a:off x="9557657" y="1491343"/>
            <a:ext cx="0" cy="794657"/>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329B4CC0-059C-941F-851C-49D24371B66C}"/>
              </a:ext>
            </a:extLst>
          </p:cNvPr>
          <p:cNvSpPr txBox="1"/>
          <p:nvPr/>
        </p:nvSpPr>
        <p:spPr>
          <a:xfrm>
            <a:off x="9166974" y="1208616"/>
            <a:ext cx="1643743" cy="307777"/>
          </a:xfrm>
          <a:prstGeom prst="rect">
            <a:avLst/>
          </a:prstGeom>
          <a:noFill/>
        </p:spPr>
        <p:txBody>
          <a:bodyPr wrap="square" rtlCol="0">
            <a:spAutoFit/>
          </a:bodyPr>
          <a:lstStyle/>
          <a:p>
            <a:r>
              <a:rPr lang="en-US" sz="1400" dirty="0">
                <a:solidFill>
                  <a:srgbClr val="C00000"/>
                </a:solidFill>
              </a:rPr>
              <a:t>S(1,N)</a:t>
            </a:r>
          </a:p>
        </p:txBody>
      </p:sp>
      <p:sp>
        <p:nvSpPr>
          <p:cNvPr id="15" name="Oval 14">
            <a:extLst>
              <a:ext uri="{FF2B5EF4-FFF2-40B4-BE49-F238E27FC236}">
                <a16:creationId xmlns:a16="http://schemas.microsoft.com/office/drawing/2014/main" id="{E2559964-2457-E104-C61C-D6F909B28E93}"/>
              </a:ext>
            </a:extLst>
          </p:cNvPr>
          <p:cNvSpPr/>
          <p:nvPr/>
        </p:nvSpPr>
        <p:spPr>
          <a:xfrm rot="2802093">
            <a:off x="9090637" y="2320818"/>
            <a:ext cx="217987" cy="119864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798D076-49E6-06C1-EC22-4CC0EE8B6696}"/>
              </a:ext>
            </a:extLst>
          </p:cNvPr>
          <p:cNvSpPr/>
          <p:nvPr/>
        </p:nvSpPr>
        <p:spPr>
          <a:xfrm>
            <a:off x="10194607" y="3186209"/>
            <a:ext cx="595540" cy="732648"/>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F91E5EC-8ACB-F54A-5D69-35B42AE488E3}"/>
              </a:ext>
            </a:extLst>
          </p:cNvPr>
          <p:cNvSpPr/>
          <p:nvPr/>
        </p:nvSpPr>
        <p:spPr>
          <a:xfrm>
            <a:off x="9437663" y="1963388"/>
            <a:ext cx="239988" cy="220106"/>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BA9B2E3-5FB6-632F-57B4-B82E59799B14}"/>
              </a:ext>
            </a:extLst>
          </p:cNvPr>
          <p:cNvSpPr/>
          <p:nvPr/>
        </p:nvSpPr>
        <p:spPr>
          <a:xfrm>
            <a:off x="7271408" y="2431475"/>
            <a:ext cx="239988" cy="220106"/>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2F3388F-EBA5-4220-41E1-EA8AB89B39FF}"/>
              </a:ext>
            </a:extLst>
          </p:cNvPr>
          <p:cNvSpPr/>
          <p:nvPr/>
        </p:nvSpPr>
        <p:spPr>
          <a:xfrm>
            <a:off x="7271408" y="2670963"/>
            <a:ext cx="239988" cy="22010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C196BAA-23AE-87F0-4C33-1163EB93C748}"/>
              </a:ext>
            </a:extLst>
          </p:cNvPr>
          <p:cNvSpPr/>
          <p:nvPr/>
        </p:nvSpPr>
        <p:spPr>
          <a:xfrm>
            <a:off x="7271405" y="2910448"/>
            <a:ext cx="239988" cy="220106"/>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8377256C-F2BA-4DD9-C41E-7CE5FB800091}"/>
              </a:ext>
            </a:extLst>
          </p:cNvPr>
          <p:cNvSpPr/>
          <p:nvPr/>
        </p:nvSpPr>
        <p:spPr>
          <a:xfrm>
            <a:off x="9209064" y="1974274"/>
            <a:ext cx="239988" cy="22010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CE73D46-01D4-A8A4-362A-65F5009C0DF6}"/>
              </a:ext>
            </a:extLst>
          </p:cNvPr>
          <p:cNvSpPr/>
          <p:nvPr/>
        </p:nvSpPr>
        <p:spPr>
          <a:xfrm>
            <a:off x="8958693" y="1974271"/>
            <a:ext cx="239988" cy="220106"/>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4559521"/>
      </p:ext>
    </p:extLst>
  </p:cSld>
  <p:clrMapOvr>
    <a:masterClrMapping/>
  </p:clrMapOvr>
  <mc:AlternateContent xmlns:mc="http://schemas.openxmlformats.org/markup-compatibility/2006" xmlns:p14="http://schemas.microsoft.com/office/powerpoint/2010/main">
    <mc:Choice Requires="p14">
      <p:transition spd="slow" p14:dur="2000" advTm="18349"/>
    </mc:Choice>
    <mc:Fallback xmlns="">
      <p:transition spd="slow" advTm="18349"/>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94FB1-9E55-177A-AD0D-EDC381AD1CC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7B0875-4943-3B16-4378-C9F490BD13E3}"/>
              </a:ext>
            </a:extLst>
          </p:cNvPr>
          <p:cNvSpPr>
            <a:spLocks noGrp="1"/>
          </p:cNvSpPr>
          <p:nvPr>
            <p:ph type="sldNum" sz="quarter" idx="12"/>
          </p:nvPr>
        </p:nvSpPr>
        <p:spPr/>
        <p:txBody>
          <a:bodyPr/>
          <a:lstStyle/>
          <a:p>
            <a:r>
              <a:rPr lang="en-IN" dirty="0"/>
              <a:t>9</a:t>
            </a:r>
          </a:p>
        </p:txBody>
      </p:sp>
      <p:pic>
        <p:nvPicPr>
          <p:cNvPr id="4" name="Picture 3" descr="A diagram of a number grid&#10;&#10;AI-generated content may be incorrect.">
            <a:extLst>
              <a:ext uri="{FF2B5EF4-FFF2-40B4-BE49-F238E27FC236}">
                <a16:creationId xmlns:a16="http://schemas.microsoft.com/office/drawing/2014/main" id="{4BE965D4-F443-8114-ACF0-7C7FE1CA1A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3981" y="1741550"/>
            <a:ext cx="3686166" cy="2683845"/>
          </a:xfrm>
          <a:prstGeom prst="rect">
            <a:avLst/>
          </a:prstGeom>
        </p:spPr>
      </p:pic>
      <p:sp>
        <p:nvSpPr>
          <p:cNvPr id="5" name="TextBox 4">
            <a:extLst>
              <a:ext uri="{FF2B5EF4-FFF2-40B4-BE49-F238E27FC236}">
                <a16:creationId xmlns:a16="http://schemas.microsoft.com/office/drawing/2014/main" id="{154D3DAB-4D57-8850-C41F-D14BF23DBD05}"/>
              </a:ext>
            </a:extLst>
          </p:cNvPr>
          <p:cNvSpPr txBox="1"/>
          <p:nvPr/>
        </p:nvSpPr>
        <p:spPr>
          <a:xfrm>
            <a:off x="1401446" y="336982"/>
            <a:ext cx="10014984" cy="584775"/>
          </a:xfrm>
          <a:prstGeom prst="rect">
            <a:avLst/>
          </a:prstGeom>
          <a:noFill/>
        </p:spPr>
        <p:txBody>
          <a:bodyPr wrap="square" rtlCol="0">
            <a:spAutoFit/>
          </a:bodyPr>
          <a:lstStyle/>
          <a:p>
            <a:pPr algn="ctr"/>
            <a:r>
              <a:rPr lang="en-US" sz="3200" b="1" dirty="0">
                <a:solidFill>
                  <a:srgbClr val="C00000"/>
                </a:solidFill>
              </a:rPr>
              <a:t>How do we recover the structure? Traceback.</a:t>
            </a:r>
          </a:p>
        </p:txBody>
      </p:sp>
      <p:sp>
        <p:nvSpPr>
          <p:cNvPr id="6" name="Rectangle 5">
            <a:extLst>
              <a:ext uri="{FF2B5EF4-FFF2-40B4-BE49-F238E27FC236}">
                <a16:creationId xmlns:a16="http://schemas.microsoft.com/office/drawing/2014/main" id="{C5A2E8C7-2358-ED5C-8EEB-EB624652BBF4}"/>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163FED62-DA4E-DB62-92E6-4E04B674F808}"/>
              </a:ext>
            </a:extLst>
          </p:cNvPr>
          <p:cNvSpPr txBox="1"/>
          <p:nvPr/>
        </p:nvSpPr>
        <p:spPr>
          <a:xfrm>
            <a:off x="673509" y="2139206"/>
            <a:ext cx="6132831" cy="1856086"/>
          </a:xfrm>
          <a:prstGeom prst="rect">
            <a:avLst/>
          </a:prstGeom>
          <a:solidFill>
            <a:schemeClr val="bg2">
              <a:lumMod val="90000"/>
            </a:schemeClr>
          </a:solidFill>
          <a:ln>
            <a:solidFill>
              <a:schemeClr val="tx1"/>
            </a:solidFill>
          </a:ln>
        </p:spPr>
        <p:txBody>
          <a:bodyPr wrap="square">
            <a:spAutoFit/>
          </a:bodyPr>
          <a:lstStyle/>
          <a:p>
            <a:pPr marL="514350" indent="-514350">
              <a:lnSpc>
                <a:spcPct val="200000"/>
              </a:lnSpc>
              <a:buFont typeface="+mj-lt"/>
              <a:buAutoNum type="romanUcPeriod"/>
            </a:pPr>
            <a:r>
              <a:rPr lang="en-US" sz="2000" dirty="0"/>
              <a:t>Start from </a:t>
            </a:r>
            <a:r>
              <a:rPr lang="en-US" sz="2000" b="1" dirty="0"/>
              <a:t>final cell: S(1,N)</a:t>
            </a:r>
            <a:r>
              <a:rPr lang="en-US" sz="2000" dirty="0"/>
              <a:t>.</a:t>
            </a:r>
          </a:p>
          <a:p>
            <a:pPr marL="514350" indent="-514350">
              <a:lnSpc>
                <a:spcPct val="200000"/>
              </a:lnSpc>
              <a:buFont typeface="+mj-lt"/>
              <a:buAutoNum type="romanUcPeriod"/>
            </a:pPr>
            <a:r>
              <a:rPr lang="en-US" sz="2000" dirty="0"/>
              <a:t>Follow which case achieved this optimal result.</a:t>
            </a:r>
          </a:p>
          <a:p>
            <a:pPr marL="514350" indent="-514350">
              <a:lnSpc>
                <a:spcPct val="200000"/>
              </a:lnSpc>
              <a:buFont typeface="+mj-lt"/>
              <a:buAutoNum type="romanUcPeriod"/>
            </a:pPr>
            <a:r>
              <a:rPr lang="en-US" sz="2000" dirty="0"/>
              <a:t>When a “paired case” is chosen, output base pair.</a:t>
            </a:r>
          </a:p>
        </p:txBody>
      </p:sp>
      <p:cxnSp>
        <p:nvCxnSpPr>
          <p:cNvPr id="18" name="Straight Arrow Connector 17">
            <a:extLst>
              <a:ext uri="{FF2B5EF4-FFF2-40B4-BE49-F238E27FC236}">
                <a16:creationId xmlns:a16="http://schemas.microsoft.com/office/drawing/2014/main" id="{683D9754-599F-0D59-6539-D3E72FEFF5A2}"/>
              </a:ext>
            </a:extLst>
          </p:cNvPr>
          <p:cNvCxnSpPr>
            <a:cxnSpLocks/>
          </p:cNvCxnSpPr>
          <p:nvPr/>
        </p:nvCxnSpPr>
        <p:spPr>
          <a:xfrm>
            <a:off x="11128927" y="2139206"/>
            <a:ext cx="0" cy="1979112"/>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2BD89D4D-000D-6022-A93E-C54CF0E2C666}"/>
              </a:ext>
            </a:extLst>
          </p:cNvPr>
          <p:cNvSpPr txBox="1"/>
          <p:nvPr/>
        </p:nvSpPr>
        <p:spPr>
          <a:xfrm>
            <a:off x="10195038" y="1788895"/>
            <a:ext cx="1662985" cy="276999"/>
          </a:xfrm>
          <a:prstGeom prst="rect">
            <a:avLst/>
          </a:prstGeom>
          <a:noFill/>
        </p:spPr>
        <p:txBody>
          <a:bodyPr wrap="square" rtlCol="0">
            <a:spAutoFit/>
          </a:bodyPr>
          <a:lstStyle/>
          <a:p>
            <a:r>
              <a:rPr lang="en-US" sz="1200" dirty="0"/>
              <a:t>To obtain the structure</a:t>
            </a:r>
          </a:p>
        </p:txBody>
      </p:sp>
      <p:sp>
        <p:nvSpPr>
          <p:cNvPr id="24" name="TextBox 23">
            <a:extLst>
              <a:ext uri="{FF2B5EF4-FFF2-40B4-BE49-F238E27FC236}">
                <a16:creationId xmlns:a16="http://schemas.microsoft.com/office/drawing/2014/main" id="{A86F38F5-601A-0FD9-73EE-4038423EFE68}"/>
              </a:ext>
            </a:extLst>
          </p:cNvPr>
          <p:cNvSpPr txBox="1"/>
          <p:nvPr/>
        </p:nvSpPr>
        <p:spPr>
          <a:xfrm>
            <a:off x="141890" y="6437469"/>
            <a:ext cx="6100174" cy="276999"/>
          </a:xfrm>
          <a:prstGeom prst="rect">
            <a:avLst/>
          </a:prstGeom>
          <a:noFill/>
        </p:spPr>
        <p:txBody>
          <a:bodyPr wrap="square">
            <a:spAutoFit/>
          </a:bodyPr>
          <a:lstStyle/>
          <a:p>
            <a:r>
              <a:rPr lang="en-US" sz="1200" dirty="0"/>
              <a:t>Eddy, </a:t>
            </a:r>
            <a:r>
              <a:rPr lang="en-US" sz="1200" i="1" dirty="0"/>
              <a:t>Nature Biotechnology</a:t>
            </a:r>
            <a:r>
              <a:rPr lang="en-US" sz="1200" dirty="0"/>
              <a:t>, 2004</a:t>
            </a:r>
          </a:p>
        </p:txBody>
      </p:sp>
      <p:cxnSp>
        <p:nvCxnSpPr>
          <p:cNvPr id="12" name="Straight Arrow Connector 11">
            <a:extLst>
              <a:ext uri="{FF2B5EF4-FFF2-40B4-BE49-F238E27FC236}">
                <a16:creationId xmlns:a16="http://schemas.microsoft.com/office/drawing/2014/main" id="{48BED0F0-D8B6-1BCC-7501-89951002C780}"/>
              </a:ext>
            </a:extLst>
          </p:cNvPr>
          <p:cNvCxnSpPr/>
          <p:nvPr/>
        </p:nvCxnSpPr>
        <p:spPr>
          <a:xfrm>
            <a:off x="9557657" y="1491343"/>
            <a:ext cx="0" cy="794657"/>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32D450D7-C0ED-37E2-9A9B-72E9604B66B7}"/>
              </a:ext>
            </a:extLst>
          </p:cNvPr>
          <p:cNvSpPr txBox="1"/>
          <p:nvPr/>
        </p:nvSpPr>
        <p:spPr>
          <a:xfrm>
            <a:off x="9166974" y="1208616"/>
            <a:ext cx="1643743" cy="307777"/>
          </a:xfrm>
          <a:prstGeom prst="rect">
            <a:avLst/>
          </a:prstGeom>
          <a:noFill/>
        </p:spPr>
        <p:txBody>
          <a:bodyPr wrap="square" rtlCol="0">
            <a:spAutoFit/>
          </a:bodyPr>
          <a:lstStyle/>
          <a:p>
            <a:r>
              <a:rPr lang="en-US" sz="1400" dirty="0">
                <a:solidFill>
                  <a:srgbClr val="C00000"/>
                </a:solidFill>
              </a:rPr>
              <a:t>S(1,N)</a:t>
            </a:r>
          </a:p>
        </p:txBody>
      </p:sp>
      <p:sp>
        <p:nvSpPr>
          <p:cNvPr id="15" name="Oval 14">
            <a:extLst>
              <a:ext uri="{FF2B5EF4-FFF2-40B4-BE49-F238E27FC236}">
                <a16:creationId xmlns:a16="http://schemas.microsoft.com/office/drawing/2014/main" id="{13188782-E0EF-3D2A-6CF5-A72EDAAEF09F}"/>
              </a:ext>
            </a:extLst>
          </p:cNvPr>
          <p:cNvSpPr/>
          <p:nvPr/>
        </p:nvSpPr>
        <p:spPr>
          <a:xfrm rot="2802093">
            <a:off x="9090637" y="2320818"/>
            <a:ext cx="217987" cy="119864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D97325B-DA2D-B691-B214-0C83A4A0EFF2}"/>
              </a:ext>
            </a:extLst>
          </p:cNvPr>
          <p:cNvSpPr/>
          <p:nvPr/>
        </p:nvSpPr>
        <p:spPr>
          <a:xfrm>
            <a:off x="10194607" y="3186209"/>
            <a:ext cx="595540" cy="732648"/>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93A8172-4159-069B-F1A3-E73C2A1D426F}"/>
              </a:ext>
            </a:extLst>
          </p:cNvPr>
          <p:cNvSpPr/>
          <p:nvPr/>
        </p:nvSpPr>
        <p:spPr>
          <a:xfrm>
            <a:off x="9437663" y="1963388"/>
            <a:ext cx="239988" cy="220106"/>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441F6B3-A286-691C-1D22-4C3F892873CE}"/>
              </a:ext>
            </a:extLst>
          </p:cNvPr>
          <p:cNvSpPr/>
          <p:nvPr/>
        </p:nvSpPr>
        <p:spPr>
          <a:xfrm>
            <a:off x="7271408" y="2431475"/>
            <a:ext cx="239988" cy="220106"/>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6F0AEF3-A365-FFD0-0BE5-80A9BB357E20}"/>
              </a:ext>
            </a:extLst>
          </p:cNvPr>
          <p:cNvSpPr/>
          <p:nvPr/>
        </p:nvSpPr>
        <p:spPr>
          <a:xfrm>
            <a:off x="7271408" y="2670963"/>
            <a:ext cx="239988" cy="22010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3CC4855-1517-6734-0B02-C9B7E3BBBDF8}"/>
              </a:ext>
            </a:extLst>
          </p:cNvPr>
          <p:cNvSpPr/>
          <p:nvPr/>
        </p:nvSpPr>
        <p:spPr>
          <a:xfrm>
            <a:off x="7271405" y="2910448"/>
            <a:ext cx="239988" cy="220106"/>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6773557-FA76-1EBD-CE98-0C11706B8BF0}"/>
              </a:ext>
            </a:extLst>
          </p:cNvPr>
          <p:cNvSpPr/>
          <p:nvPr/>
        </p:nvSpPr>
        <p:spPr>
          <a:xfrm>
            <a:off x="9209064" y="1974274"/>
            <a:ext cx="239988" cy="22010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00F9A2AE-D690-DC41-D837-A55857C4E8BB}"/>
              </a:ext>
            </a:extLst>
          </p:cNvPr>
          <p:cNvSpPr/>
          <p:nvPr/>
        </p:nvSpPr>
        <p:spPr>
          <a:xfrm>
            <a:off x="8958693" y="1974271"/>
            <a:ext cx="239988" cy="220106"/>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C48AEC9-D28F-BD2C-2F5E-79C66E21DAD2}"/>
              </a:ext>
            </a:extLst>
          </p:cNvPr>
          <p:cNvPicPr>
            <a:picLocks noChangeAspect="1"/>
          </p:cNvPicPr>
          <p:nvPr/>
        </p:nvPicPr>
        <p:blipFill>
          <a:blip r:embed="rId4"/>
          <a:stretch>
            <a:fillRect/>
          </a:stretch>
        </p:blipFill>
        <p:spPr>
          <a:xfrm>
            <a:off x="8326760" y="4530793"/>
            <a:ext cx="2221806" cy="1628432"/>
          </a:xfrm>
          <a:prstGeom prst="rect">
            <a:avLst/>
          </a:prstGeom>
        </p:spPr>
      </p:pic>
    </p:spTree>
    <p:extLst>
      <p:ext uri="{BB962C8B-B14F-4D97-AF65-F5344CB8AC3E}">
        <p14:creationId xmlns:p14="http://schemas.microsoft.com/office/powerpoint/2010/main" val="1434872323"/>
      </p:ext>
    </p:extLst>
  </p:cSld>
  <p:clrMapOvr>
    <a:masterClrMapping/>
  </p:clrMapOvr>
  <mc:AlternateContent xmlns:mc="http://schemas.openxmlformats.org/markup-compatibility/2006" xmlns:p14="http://schemas.microsoft.com/office/powerpoint/2010/main">
    <mc:Choice Requires="p14">
      <p:transition spd="slow" p14:dur="2000" advTm="7950"/>
    </mc:Choice>
    <mc:Fallback xmlns="">
      <p:transition spd="slow" advTm="795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851DF-E945-A47E-8F3A-A771D13289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190E09-32F5-B374-C27E-46AB107F4DBE}"/>
              </a:ext>
            </a:extLst>
          </p:cNvPr>
          <p:cNvSpPr>
            <a:spLocks noGrp="1"/>
          </p:cNvSpPr>
          <p:nvPr>
            <p:ph type="sldNum" sz="quarter" idx="12"/>
          </p:nvPr>
        </p:nvSpPr>
        <p:spPr>
          <a:xfrm>
            <a:off x="9216354" y="6314500"/>
            <a:ext cx="2743200" cy="365125"/>
          </a:xfrm>
        </p:spPr>
        <p:txBody>
          <a:bodyPr/>
          <a:lstStyle/>
          <a:p>
            <a:r>
              <a:rPr lang="en-IN" dirty="0"/>
              <a:t>10</a:t>
            </a:r>
          </a:p>
        </p:txBody>
      </p:sp>
      <p:sp>
        <p:nvSpPr>
          <p:cNvPr id="5" name="TextBox 4">
            <a:extLst>
              <a:ext uri="{FF2B5EF4-FFF2-40B4-BE49-F238E27FC236}">
                <a16:creationId xmlns:a16="http://schemas.microsoft.com/office/drawing/2014/main" id="{E642F421-04E5-E574-5555-D295E5BBD8DC}"/>
              </a:ext>
            </a:extLst>
          </p:cNvPr>
          <p:cNvSpPr txBox="1"/>
          <p:nvPr/>
        </p:nvSpPr>
        <p:spPr>
          <a:xfrm>
            <a:off x="1208553" y="332085"/>
            <a:ext cx="10854696" cy="584775"/>
          </a:xfrm>
          <a:prstGeom prst="rect">
            <a:avLst/>
          </a:prstGeom>
          <a:noFill/>
        </p:spPr>
        <p:txBody>
          <a:bodyPr wrap="square" rtlCol="0">
            <a:spAutoFit/>
          </a:bodyPr>
          <a:lstStyle/>
          <a:p>
            <a:pPr algn="ctr"/>
            <a:r>
              <a:rPr lang="en-US" sz="3200" b="1" dirty="0">
                <a:solidFill>
                  <a:srgbClr val="C00000"/>
                </a:solidFill>
              </a:rPr>
              <a:t>From maximizing base pairs to minimizing free energy</a:t>
            </a:r>
          </a:p>
        </p:txBody>
      </p:sp>
      <p:sp>
        <p:nvSpPr>
          <p:cNvPr id="6" name="Rectangle 5">
            <a:extLst>
              <a:ext uri="{FF2B5EF4-FFF2-40B4-BE49-F238E27FC236}">
                <a16:creationId xmlns:a16="http://schemas.microsoft.com/office/drawing/2014/main" id="{7FC89F37-6DF9-94A3-7C0C-3D5E473547ED}"/>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3" name="TextBox 32">
            <a:extLst>
              <a:ext uri="{FF2B5EF4-FFF2-40B4-BE49-F238E27FC236}">
                <a16:creationId xmlns:a16="http://schemas.microsoft.com/office/drawing/2014/main" id="{809D9EF7-C7C4-F1E3-C637-7DF067927BDB}"/>
              </a:ext>
            </a:extLst>
          </p:cNvPr>
          <p:cNvSpPr txBox="1"/>
          <p:nvPr/>
        </p:nvSpPr>
        <p:spPr>
          <a:xfrm>
            <a:off x="192003" y="6437481"/>
            <a:ext cx="6100174" cy="276999"/>
          </a:xfrm>
          <a:prstGeom prst="rect">
            <a:avLst/>
          </a:prstGeom>
          <a:noFill/>
        </p:spPr>
        <p:txBody>
          <a:bodyPr wrap="square">
            <a:spAutoFit/>
          </a:bodyPr>
          <a:lstStyle/>
          <a:p>
            <a:r>
              <a:rPr lang="en-US" sz="1200" dirty="0"/>
              <a:t>Ward et al., </a:t>
            </a:r>
            <a:r>
              <a:rPr lang="en-US" sz="1200" i="1" dirty="0"/>
              <a:t>Briefings in Bioinformatics</a:t>
            </a:r>
            <a:r>
              <a:rPr lang="en-US" sz="1200" dirty="0"/>
              <a:t>, 2025</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845260F-98FE-D5E4-91E1-9A92148B6000}"/>
                  </a:ext>
                </a:extLst>
              </p:cNvPr>
              <p:cNvSpPr txBox="1"/>
              <p:nvPr/>
            </p:nvSpPr>
            <p:spPr>
              <a:xfrm>
                <a:off x="3232610" y="907102"/>
                <a:ext cx="6096000" cy="4688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𝐸</m:t>
                          </m:r>
                        </m:e>
                        <m:sup>
                          <m:r>
                            <a:rPr lang="en-US" sz="2400" b="0" i="1" smtClean="0">
                              <a:latin typeface="Cambria Math" panose="02040503050406030204" pitchFamily="18" charset="0"/>
                            </a:rPr>
                            <m:t>𝑃</m:t>
                          </m:r>
                        </m:sup>
                      </m:sSup>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𝑗</m:t>
                          </m:r>
                        </m:e>
                      </m:d>
                      <m:r>
                        <a:rPr lang="en-US" sz="2400" b="0" i="1" smtClean="0">
                          <a:latin typeface="Cambria Math" panose="02040503050406030204" pitchFamily="18" charset="0"/>
                        </a:rPr>
                        <m:t>=</m:t>
                      </m:r>
                      <m:r>
                        <m:rPr>
                          <m:sty m:val="p"/>
                        </m:rPr>
                        <a:rPr lang="en-US" sz="2400" b="0" i="0" smtClean="0">
                          <a:latin typeface="Cambria Math" panose="02040503050406030204" pitchFamily="18" charset="0"/>
                        </a:rPr>
                        <m:t>min</m:t>
                      </m:r>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𝐸</m:t>
                          </m:r>
                        </m:e>
                        <m:sub>
                          <m:r>
                            <a:rPr lang="en-US" sz="2400" b="0" i="1" smtClean="0">
                              <a:latin typeface="Cambria Math" panose="02040503050406030204" pitchFamily="18" charset="0"/>
                            </a:rPr>
                            <m:t>𝑐𝑎𝑠𝑒</m:t>
                          </m:r>
                          <m:r>
                            <a:rPr lang="en-US" sz="2400" b="0" i="1" smtClean="0">
                              <a:latin typeface="Cambria Math" panose="02040503050406030204" pitchFamily="18" charset="0"/>
                            </a:rPr>
                            <m:t>1</m:t>
                          </m:r>
                        </m:sub>
                        <m:sup>
                          <m:r>
                            <a:rPr lang="en-US" sz="2400" b="0" i="1" smtClean="0">
                              <a:latin typeface="Cambria Math" panose="02040503050406030204" pitchFamily="18" charset="0"/>
                            </a:rPr>
                            <m:t>𝑃</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𝐸</m:t>
                          </m:r>
                        </m:e>
                        <m:sub>
                          <m:r>
                            <a:rPr lang="en-US" sz="2400" i="1">
                              <a:latin typeface="Cambria Math" panose="02040503050406030204" pitchFamily="18" charset="0"/>
                            </a:rPr>
                            <m:t>𝑐𝑎𝑠𝑒</m:t>
                          </m:r>
                          <m:r>
                            <a:rPr lang="en-US" sz="2400" b="0" i="1" smtClean="0">
                              <a:latin typeface="Cambria Math" panose="02040503050406030204" pitchFamily="18" charset="0"/>
                            </a:rPr>
                            <m:t>2</m:t>
                          </m:r>
                        </m:sub>
                        <m:sup>
                          <m:r>
                            <a:rPr lang="en-US" sz="2400" i="1">
                              <a:latin typeface="Cambria Math" panose="02040503050406030204" pitchFamily="18" charset="0"/>
                            </a:rPr>
                            <m:t>𝑃</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𝐸</m:t>
                          </m:r>
                        </m:e>
                        <m:sub>
                          <m:r>
                            <a:rPr lang="en-US" sz="2400" i="1">
                              <a:latin typeface="Cambria Math" panose="02040503050406030204" pitchFamily="18" charset="0"/>
                            </a:rPr>
                            <m:t>𝑐𝑎𝑠𝑒</m:t>
                          </m:r>
                          <m:r>
                            <a:rPr lang="en-US" sz="2400" b="0" i="1" smtClean="0">
                              <a:latin typeface="Cambria Math" panose="02040503050406030204" pitchFamily="18" charset="0"/>
                            </a:rPr>
                            <m:t>3</m:t>
                          </m:r>
                        </m:sub>
                        <m:sup>
                          <m:r>
                            <a:rPr lang="en-US" sz="2400" i="1">
                              <a:latin typeface="Cambria Math" panose="02040503050406030204" pitchFamily="18" charset="0"/>
                            </a:rPr>
                            <m:t>𝑃</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𝐸</m:t>
                          </m:r>
                        </m:e>
                        <m:sub>
                          <m:r>
                            <a:rPr lang="en-US" sz="2400" i="1">
                              <a:latin typeface="Cambria Math" panose="02040503050406030204" pitchFamily="18" charset="0"/>
                            </a:rPr>
                            <m:t>𝑐𝑎𝑠𝑒</m:t>
                          </m:r>
                          <m:r>
                            <a:rPr lang="en-US" sz="2400" b="0" i="1" smtClean="0">
                              <a:latin typeface="Cambria Math" panose="02040503050406030204" pitchFamily="18" charset="0"/>
                            </a:rPr>
                            <m:t>4</m:t>
                          </m:r>
                        </m:sub>
                        <m:sup>
                          <m:r>
                            <a:rPr lang="en-US" sz="2400" i="1">
                              <a:latin typeface="Cambria Math" panose="02040503050406030204" pitchFamily="18" charset="0"/>
                            </a:rPr>
                            <m:t>𝑃</m:t>
                          </m:r>
                        </m:sup>
                      </m:sSubSup>
                      <m:r>
                        <a:rPr lang="en-US" sz="2400" b="0" i="1" smtClean="0">
                          <a:latin typeface="Cambria Math" panose="02040503050406030204" pitchFamily="18" charset="0"/>
                        </a:rPr>
                        <m:t>}</m:t>
                      </m:r>
                    </m:oMath>
                  </m:oMathPara>
                </a14:m>
                <a:endParaRPr lang="en-US" sz="2400" dirty="0"/>
              </a:p>
            </p:txBody>
          </p:sp>
        </mc:Choice>
        <mc:Fallback xmlns="">
          <p:sp>
            <p:nvSpPr>
              <p:cNvPr id="9" name="TextBox 8">
                <a:extLst>
                  <a:ext uri="{FF2B5EF4-FFF2-40B4-BE49-F238E27FC236}">
                    <a16:creationId xmlns:a16="http://schemas.microsoft.com/office/drawing/2014/main" id="{E8295673-B614-A30A-A8D6-48898CC04BC7}"/>
                  </a:ext>
                </a:extLst>
              </p:cNvPr>
              <p:cNvSpPr txBox="1">
                <a:spLocks noRot="1" noChangeAspect="1" noMove="1" noResize="1" noEditPoints="1" noAdjustHandles="1" noChangeArrowheads="1" noChangeShapeType="1" noTextEdit="1"/>
              </p:cNvSpPr>
              <p:nvPr/>
            </p:nvSpPr>
            <p:spPr>
              <a:xfrm>
                <a:off x="3232610" y="907102"/>
                <a:ext cx="6096000" cy="468846"/>
              </a:xfrm>
              <a:prstGeom prst="rect">
                <a:avLst/>
              </a:prstGeom>
              <a:blipFill>
                <a:blip r:embed="rId5"/>
                <a:stretch>
                  <a:fillRect b="-18421"/>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D511AFBF-69BF-472E-09FA-7588C5C0E3BB}"/>
              </a:ext>
            </a:extLst>
          </p:cNvPr>
          <p:cNvSpPr txBox="1"/>
          <p:nvPr/>
        </p:nvSpPr>
        <p:spPr>
          <a:xfrm>
            <a:off x="2207111" y="1641143"/>
            <a:ext cx="7777778" cy="400110"/>
          </a:xfrm>
          <a:prstGeom prst="rect">
            <a:avLst/>
          </a:prstGeom>
          <a:noFill/>
        </p:spPr>
        <p:txBody>
          <a:bodyPr wrap="square" rtlCol="0">
            <a:spAutoFit/>
          </a:bodyPr>
          <a:lstStyle/>
          <a:p>
            <a:r>
              <a:rPr lang="en-US" sz="2000" dirty="0"/>
              <a:t>Minimum free energy for subsequence </a:t>
            </a:r>
            <a:r>
              <a:rPr lang="en-US" sz="2000" i="1" dirty="0" err="1"/>
              <a:t>i</a:t>
            </a:r>
            <a:r>
              <a:rPr lang="en-US" sz="2000" i="1" dirty="0"/>
              <a:t>….j </a:t>
            </a:r>
            <a:r>
              <a:rPr lang="en-US" sz="2000" dirty="0"/>
              <a:t>where </a:t>
            </a:r>
            <a:r>
              <a:rPr lang="en-US" sz="2000" i="1" dirty="0"/>
              <a:t>(</a:t>
            </a:r>
            <a:r>
              <a:rPr lang="en-US" sz="2000" i="1" dirty="0" err="1"/>
              <a:t>i,j</a:t>
            </a:r>
            <a:r>
              <a:rPr lang="en-US" sz="2000" i="1" dirty="0"/>
              <a:t>)</a:t>
            </a:r>
            <a:r>
              <a:rPr lang="en-US" sz="2000" dirty="0"/>
              <a:t> is paired.</a:t>
            </a:r>
          </a:p>
        </p:txBody>
      </p:sp>
      <p:cxnSp>
        <p:nvCxnSpPr>
          <p:cNvPr id="10" name="Straight Arrow Connector 9">
            <a:extLst>
              <a:ext uri="{FF2B5EF4-FFF2-40B4-BE49-F238E27FC236}">
                <a16:creationId xmlns:a16="http://schemas.microsoft.com/office/drawing/2014/main" id="{36515D58-69E6-CC21-E5A6-361EDFB7F8C2}"/>
              </a:ext>
            </a:extLst>
          </p:cNvPr>
          <p:cNvCxnSpPr/>
          <p:nvPr/>
        </p:nvCxnSpPr>
        <p:spPr>
          <a:xfrm>
            <a:off x="3840480" y="1375948"/>
            <a:ext cx="0" cy="3452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1142183"/>
      </p:ext>
    </p:extLst>
  </p:cSld>
  <p:clrMapOvr>
    <a:masterClrMapping/>
  </p:clrMapOvr>
  <mc:AlternateContent xmlns:mc="http://schemas.openxmlformats.org/markup-compatibility/2006" xmlns:p14="http://schemas.microsoft.com/office/powerpoint/2010/main">
    <mc:Choice Requires="p14">
      <p:transition spd="slow" p14:dur="2000" advTm="17873"/>
    </mc:Choice>
    <mc:Fallback xmlns="">
      <p:transition spd="slow" advTm="17873"/>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9C50E-E249-1DD0-8F25-DB5EE1E2A77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160F05-F5F3-CF32-A025-0AE318D51BBD}"/>
              </a:ext>
            </a:extLst>
          </p:cNvPr>
          <p:cNvSpPr>
            <a:spLocks noGrp="1"/>
          </p:cNvSpPr>
          <p:nvPr>
            <p:ph type="sldNum" sz="quarter" idx="12"/>
          </p:nvPr>
        </p:nvSpPr>
        <p:spPr>
          <a:xfrm>
            <a:off x="9216354" y="6314500"/>
            <a:ext cx="2743200" cy="365125"/>
          </a:xfrm>
        </p:spPr>
        <p:txBody>
          <a:bodyPr/>
          <a:lstStyle/>
          <a:p>
            <a:r>
              <a:rPr lang="en-IN" dirty="0"/>
              <a:t>10</a:t>
            </a:r>
          </a:p>
        </p:txBody>
      </p:sp>
      <p:sp>
        <p:nvSpPr>
          <p:cNvPr id="5" name="TextBox 4">
            <a:extLst>
              <a:ext uri="{FF2B5EF4-FFF2-40B4-BE49-F238E27FC236}">
                <a16:creationId xmlns:a16="http://schemas.microsoft.com/office/drawing/2014/main" id="{90EBB3B3-AEB6-C894-B16B-6254DD3A1CBA}"/>
              </a:ext>
            </a:extLst>
          </p:cNvPr>
          <p:cNvSpPr txBox="1"/>
          <p:nvPr/>
        </p:nvSpPr>
        <p:spPr>
          <a:xfrm>
            <a:off x="1208553" y="332085"/>
            <a:ext cx="10854696" cy="584775"/>
          </a:xfrm>
          <a:prstGeom prst="rect">
            <a:avLst/>
          </a:prstGeom>
          <a:noFill/>
        </p:spPr>
        <p:txBody>
          <a:bodyPr wrap="square" rtlCol="0">
            <a:spAutoFit/>
          </a:bodyPr>
          <a:lstStyle/>
          <a:p>
            <a:pPr algn="ctr"/>
            <a:r>
              <a:rPr lang="en-US" sz="3200" b="1" dirty="0">
                <a:solidFill>
                  <a:srgbClr val="C00000"/>
                </a:solidFill>
              </a:rPr>
              <a:t>From maximizing base pairs to minimizing free energy</a:t>
            </a:r>
          </a:p>
        </p:txBody>
      </p:sp>
      <p:sp>
        <p:nvSpPr>
          <p:cNvPr id="6" name="Rectangle 5">
            <a:extLst>
              <a:ext uri="{FF2B5EF4-FFF2-40B4-BE49-F238E27FC236}">
                <a16:creationId xmlns:a16="http://schemas.microsoft.com/office/drawing/2014/main" id="{24BE8330-A222-D609-90AA-97746F974258}"/>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5" name="TextBox 14">
            <a:extLst>
              <a:ext uri="{FF2B5EF4-FFF2-40B4-BE49-F238E27FC236}">
                <a16:creationId xmlns:a16="http://schemas.microsoft.com/office/drawing/2014/main" id="{DABCC74A-AEBD-6C41-3D19-3EDDEE659E5F}"/>
              </a:ext>
            </a:extLst>
          </p:cNvPr>
          <p:cNvSpPr txBox="1"/>
          <p:nvPr/>
        </p:nvSpPr>
        <p:spPr>
          <a:xfrm>
            <a:off x="10325464" y="2259222"/>
            <a:ext cx="1252602" cy="276999"/>
          </a:xfrm>
          <a:prstGeom prst="rect">
            <a:avLst/>
          </a:prstGeom>
          <a:solidFill>
            <a:schemeClr val="bg1"/>
          </a:solidFill>
        </p:spPr>
        <p:txBody>
          <a:bodyPr wrap="square" rtlCol="0">
            <a:spAutoFit/>
          </a:bodyPr>
          <a:lstStyle/>
          <a:p>
            <a:r>
              <a:rPr lang="en-US" sz="1200" dirty="0"/>
              <a:t>Hairpin loops</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B612327-45DE-C1EF-D595-E9A43BF0A787}"/>
                  </a:ext>
                </a:extLst>
              </p:cNvPr>
              <p:cNvSpPr txBox="1"/>
              <p:nvPr/>
            </p:nvSpPr>
            <p:spPr>
              <a:xfrm>
                <a:off x="10239140" y="5271787"/>
                <a:ext cx="1425249" cy="461665"/>
              </a:xfrm>
              <a:prstGeom prst="rect">
                <a:avLst/>
              </a:prstGeom>
              <a:solidFill>
                <a:schemeClr val="bg1"/>
              </a:solidFill>
            </p:spPr>
            <p:txBody>
              <a:bodyPr wrap="square" rtlCol="0">
                <a:spAutoFit/>
              </a:bodyPr>
              <a:lstStyle/>
              <a:p>
                <a:pPr algn="ctr"/>
                <a:r>
                  <a:rPr lang="en-US" sz="1200" dirty="0"/>
                  <a:t>Multibranch loops</a:t>
                </a:r>
              </a:p>
              <a:p>
                <a:pPr algn="ctr"/>
                <a:r>
                  <a:rPr lang="en-US" sz="1200" dirty="0"/>
                  <a:t>(</a:t>
                </a:r>
                <a14:m>
                  <m:oMath xmlns:m="http://schemas.openxmlformats.org/officeDocument/2006/math">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2 </m:t>
                    </m:r>
                  </m:oMath>
                </a14:m>
                <a:r>
                  <a:rPr lang="en-US" sz="1200" dirty="0"/>
                  <a:t> branches)</a:t>
                </a:r>
              </a:p>
            </p:txBody>
          </p:sp>
        </mc:Choice>
        <mc:Fallback xmlns="">
          <p:sp>
            <p:nvSpPr>
              <p:cNvPr id="16" name="TextBox 15">
                <a:extLst>
                  <a:ext uri="{FF2B5EF4-FFF2-40B4-BE49-F238E27FC236}">
                    <a16:creationId xmlns:a16="http://schemas.microsoft.com/office/drawing/2014/main" id="{9B612327-45DE-C1EF-D595-E9A43BF0A787}"/>
                  </a:ext>
                </a:extLst>
              </p:cNvPr>
              <p:cNvSpPr txBox="1">
                <a:spLocks noRot="1" noChangeAspect="1" noMove="1" noResize="1" noEditPoints="1" noAdjustHandles="1" noChangeArrowheads="1" noChangeShapeType="1" noTextEdit="1"/>
              </p:cNvSpPr>
              <p:nvPr/>
            </p:nvSpPr>
            <p:spPr>
              <a:xfrm>
                <a:off x="10239140" y="5271787"/>
                <a:ext cx="1425249" cy="461665"/>
              </a:xfrm>
              <a:prstGeom prst="rect">
                <a:avLst/>
              </a:prstGeom>
              <a:blipFill>
                <a:blip r:embed="rId3"/>
                <a:stretch>
                  <a:fillRect b="-10811"/>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8D1D79CD-5060-CF5B-5B61-45FB0A435BD9}"/>
              </a:ext>
            </a:extLst>
          </p:cNvPr>
          <p:cNvSpPr/>
          <p:nvPr/>
        </p:nvSpPr>
        <p:spPr>
          <a:xfrm>
            <a:off x="1530224" y="3295079"/>
            <a:ext cx="3193882" cy="265691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CD1B391-7AB8-24F2-DF67-66F609E84151}"/>
              </a:ext>
            </a:extLst>
          </p:cNvPr>
          <p:cNvSpPr/>
          <p:nvPr/>
        </p:nvSpPr>
        <p:spPr>
          <a:xfrm>
            <a:off x="2681800" y="5713999"/>
            <a:ext cx="1007289" cy="4759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92E6CF9-F79F-3269-B549-DB92E4786FBE}"/>
              </a:ext>
            </a:extLst>
          </p:cNvPr>
          <p:cNvSpPr txBox="1"/>
          <p:nvPr/>
        </p:nvSpPr>
        <p:spPr>
          <a:xfrm>
            <a:off x="2613761" y="5813280"/>
            <a:ext cx="255222" cy="461665"/>
          </a:xfrm>
          <a:prstGeom prst="rect">
            <a:avLst/>
          </a:prstGeom>
          <a:noFill/>
        </p:spPr>
        <p:txBody>
          <a:bodyPr wrap="square" rtlCol="0">
            <a:spAutoFit/>
          </a:bodyPr>
          <a:lstStyle/>
          <a:p>
            <a:r>
              <a:rPr lang="en-US" sz="2400" i="1" dirty="0"/>
              <a:t>1</a:t>
            </a:r>
          </a:p>
        </p:txBody>
      </p:sp>
      <p:sp>
        <p:nvSpPr>
          <p:cNvPr id="28" name="TextBox 27">
            <a:extLst>
              <a:ext uri="{FF2B5EF4-FFF2-40B4-BE49-F238E27FC236}">
                <a16:creationId xmlns:a16="http://schemas.microsoft.com/office/drawing/2014/main" id="{96336924-5A5A-7935-5CDE-F78F45C2E3AE}"/>
              </a:ext>
            </a:extLst>
          </p:cNvPr>
          <p:cNvSpPr txBox="1"/>
          <p:nvPr/>
        </p:nvSpPr>
        <p:spPr>
          <a:xfrm>
            <a:off x="3384197" y="5838333"/>
            <a:ext cx="557870" cy="461665"/>
          </a:xfrm>
          <a:prstGeom prst="rect">
            <a:avLst/>
          </a:prstGeom>
          <a:noFill/>
        </p:spPr>
        <p:txBody>
          <a:bodyPr wrap="square" rtlCol="0">
            <a:spAutoFit/>
          </a:bodyPr>
          <a:lstStyle/>
          <a:p>
            <a:r>
              <a:rPr lang="en-US" sz="2400" i="1" dirty="0"/>
              <a:t>20</a:t>
            </a:r>
          </a:p>
        </p:txBody>
      </p:sp>
      <p:sp>
        <p:nvSpPr>
          <p:cNvPr id="29" name="TextBox 28">
            <a:extLst>
              <a:ext uri="{FF2B5EF4-FFF2-40B4-BE49-F238E27FC236}">
                <a16:creationId xmlns:a16="http://schemas.microsoft.com/office/drawing/2014/main" id="{9268486C-E04F-39DA-29DE-7F539B49B75D}"/>
              </a:ext>
            </a:extLst>
          </p:cNvPr>
          <p:cNvSpPr txBox="1"/>
          <p:nvPr/>
        </p:nvSpPr>
        <p:spPr>
          <a:xfrm flipH="1">
            <a:off x="1652157" y="3415857"/>
            <a:ext cx="491184" cy="461665"/>
          </a:xfrm>
          <a:prstGeom prst="rect">
            <a:avLst/>
          </a:prstGeom>
          <a:noFill/>
        </p:spPr>
        <p:txBody>
          <a:bodyPr wrap="square" rtlCol="0">
            <a:spAutoFit/>
          </a:bodyPr>
          <a:lstStyle/>
          <a:p>
            <a:r>
              <a:rPr lang="en-US" sz="2400" i="1" dirty="0"/>
              <a:t>5</a:t>
            </a:r>
          </a:p>
        </p:txBody>
      </p:sp>
      <p:sp>
        <p:nvSpPr>
          <p:cNvPr id="30" name="TextBox 29">
            <a:extLst>
              <a:ext uri="{FF2B5EF4-FFF2-40B4-BE49-F238E27FC236}">
                <a16:creationId xmlns:a16="http://schemas.microsoft.com/office/drawing/2014/main" id="{B6249517-229C-C35B-1C5F-69813BE54262}"/>
              </a:ext>
            </a:extLst>
          </p:cNvPr>
          <p:cNvSpPr txBox="1"/>
          <p:nvPr/>
        </p:nvSpPr>
        <p:spPr>
          <a:xfrm>
            <a:off x="4776523" y="4454721"/>
            <a:ext cx="545349" cy="461665"/>
          </a:xfrm>
          <a:prstGeom prst="rect">
            <a:avLst/>
          </a:prstGeom>
          <a:noFill/>
        </p:spPr>
        <p:txBody>
          <a:bodyPr wrap="square" rtlCol="0">
            <a:spAutoFit/>
          </a:bodyPr>
          <a:lstStyle/>
          <a:p>
            <a:r>
              <a:rPr lang="en-US" sz="2400" i="1" dirty="0"/>
              <a:t>17</a:t>
            </a:r>
          </a:p>
        </p:txBody>
      </p:sp>
      <p:cxnSp>
        <p:nvCxnSpPr>
          <p:cNvPr id="31" name="Straight Connector 30">
            <a:extLst>
              <a:ext uri="{FF2B5EF4-FFF2-40B4-BE49-F238E27FC236}">
                <a16:creationId xmlns:a16="http://schemas.microsoft.com/office/drawing/2014/main" id="{C280AA04-D6EB-624C-D84D-48CEB19E8822}"/>
              </a:ext>
            </a:extLst>
          </p:cNvPr>
          <p:cNvCxnSpPr>
            <a:cxnSpLocks/>
            <a:stCxn id="25" idx="1"/>
            <a:endCxn id="25" idx="6"/>
          </p:cNvCxnSpPr>
          <p:nvPr/>
        </p:nvCxnSpPr>
        <p:spPr>
          <a:xfrm>
            <a:off x="1997957" y="3684175"/>
            <a:ext cx="2726149" cy="939362"/>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37D2F8A-F949-9BD2-5303-EE33F6DEFF7F}"/>
                  </a:ext>
                </a:extLst>
              </p:cNvPr>
              <p:cNvSpPr txBox="1"/>
              <p:nvPr/>
            </p:nvSpPr>
            <p:spPr>
              <a:xfrm>
                <a:off x="4697443" y="3808666"/>
                <a:ext cx="610017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𝐸</m:t>
                          </m:r>
                        </m:e>
                        <m:sup>
                          <m:r>
                            <a:rPr lang="en-US" b="0" i="1" smtClean="0">
                              <a:solidFill>
                                <a:schemeClr val="tx1"/>
                              </a:solidFill>
                              <a:latin typeface="Cambria Math" panose="02040503050406030204" pitchFamily="18" charset="0"/>
                            </a:rPr>
                            <m:t>𝑃</m:t>
                          </m:r>
                        </m:sup>
                      </m:sSup>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𝑖</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𝑗</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𝑚𝑖𝑛</m:t>
                      </m:r>
                    </m:oMath>
                  </m:oMathPara>
                </a14:m>
                <a:endParaRPr lang="en-US" dirty="0">
                  <a:solidFill>
                    <a:schemeClr val="tx1"/>
                  </a:solidFill>
                </a:endParaRPr>
              </a:p>
            </p:txBody>
          </p:sp>
        </mc:Choice>
        <mc:Fallback xmlns="">
          <p:sp>
            <p:nvSpPr>
              <p:cNvPr id="4" name="TextBox 3">
                <a:extLst>
                  <a:ext uri="{FF2B5EF4-FFF2-40B4-BE49-F238E27FC236}">
                    <a16:creationId xmlns:a16="http://schemas.microsoft.com/office/drawing/2014/main" id="{737D2F8A-F949-9BD2-5303-EE33F6DEFF7F}"/>
                  </a:ext>
                </a:extLst>
              </p:cNvPr>
              <p:cNvSpPr txBox="1">
                <a:spLocks noRot="1" noChangeAspect="1" noMove="1" noResize="1" noEditPoints="1" noAdjustHandles="1" noChangeArrowheads="1" noChangeShapeType="1" noTextEdit="1"/>
              </p:cNvSpPr>
              <p:nvPr/>
            </p:nvSpPr>
            <p:spPr>
              <a:xfrm>
                <a:off x="4697443" y="3808666"/>
                <a:ext cx="6100174" cy="369332"/>
              </a:xfrm>
              <a:prstGeom prst="rect">
                <a:avLst/>
              </a:prstGeom>
              <a:blipFill>
                <a:blip r:embed="rId4"/>
                <a:stretch>
                  <a:fillRect b="-1379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FE1B463-4057-F47E-61B7-CE22F00D3978}"/>
              </a:ext>
            </a:extLst>
          </p:cNvPr>
          <p:cNvSpPr txBox="1"/>
          <p:nvPr/>
        </p:nvSpPr>
        <p:spPr>
          <a:xfrm>
            <a:off x="490258" y="1631674"/>
            <a:ext cx="7861283" cy="1323439"/>
          </a:xfrm>
          <a:prstGeom prst="rect">
            <a:avLst/>
          </a:prstGeom>
          <a:noFill/>
        </p:spPr>
        <p:txBody>
          <a:bodyPr wrap="square" rtlCol="0">
            <a:spAutoFit/>
          </a:bodyPr>
          <a:lstStyle/>
          <a:p>
            <a:r>
              <a:rPr lang="en-US" sz="2000" i="1" dirty="0"/>
              <a:t>An example of how this works</a:t>
            </a:r>
          </a:p>
          <a:p>
            <a:pPr marL="342900" indent="-342900">
              <a:buFont typeface="Arial" panose="020B0604020202020204" pitchFamily="34" charset="0"/>
              <a:buChar char="•"/>
            </a:pPr>
            <a:r>
              <a:rPr lang="en-US" sz="2000" i="1" dirty="0"/>
              <a:t>Problem</a:t>
            </a:r>
            <a:r>
              <a:rPr lang="en-US" sz="2000" dirty="0"/>
              <a:t>: Determine the minimum free energy for a subsequence 5 to 17  in a sequence of length 20.</a:t>
            </a:r>
          </a:p>
          <a:p>
            <a:pPr marL="342900" indent="-342900">
              <a:buFont typeface="Arial" panose="020B0604020202020204" pitchFamily="34" charset="0"/>
              <a:buChar char="•"/>
            </a:pPr>
            <a:r>
              <a:rPr lang="en-US" sz="2000" i="1" dirty="0"/>
              <a:t>Known:</a:t>
            </a:r>
            <a:r>
              <a:rPr lang="en-US" sz="2000" dirty="0"/>
              <a:t> All subsequences inside (5, 17) have already been solved.</a:t>
            </a:r>
          </a:p>
        </p:txBody>
      </p:sp>
      <p:cxnSp>
        <p:nvCxnSpPr>
          <p:cNvPr id="11" name="Straight Connector 10">
            <a:extLst>
              <a:ext uri="{FF2B5EF4-FFF2-40B4-BE49-F238E27FC236}">
                <a16:creationId xmlns:a16="http://schemas.microsoft.com/office/drawing/2014/main" id="{48C34293-7889-D850-F9C1-0298C4A28CAD}"/>
              </a:ext>
            </a:extLst>
          </p:cNvPr>
          <p:cNvCxnSpPr>
            <a:endCxn id="25" idx="7"/>
          </p:cNvCxnSpPr>
          <p:nvPr/>
        </p:nvCxnSpPr>
        <p:spPr>
          <a:xfrm>
            <a:off x="2227807" y="3549697"/>
            <a:ext cx="2028566" cy="134478"/>
          </a:xfrm>
          <a:prstGeom prst="line">
            <a:avLst/>
          </a:prstGeom>
          <a:ln w="3175">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6779D28-D610-C702-9D0C-CCF2923D5950}"/>
              </a:ext>
            </a:extLst>
          </p:cNvPr>
          <p:cNvCxnSpPr>
            <a:cxnSpLocks/>
          </p:cNvCxnSpPr>
          <p:nvPr/>
        </p:nvCxnSpPr>
        <p:spPr>
          <a:xfrm>
            <a:off x="2406109" y="3433647"/>
            <a:ext cx="1535958" cy="55980"/>
          </a:xfrm>
          <a:prstGeom prst="line">
            <a:avLst/>
          </a:prstGeom>
          <a:ln w="3175">
            <a:prstDash val="dash"/>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D61D999-01AC-C1A4-AFF0-F526B8995379}"/>
              </a:ext>
            </a:extLst>
          </p:cNvPr>
          <p:cNvCxnSpPr>
            <a:cxnSpLocks/>
          </p:cNvCxnSpPr>
          <p:nvPr/>
        </p:nvCxnSpPr>
        <p:spPr>
          <a:xfrm>
            <a:off x="2159805" y="3602094"/>
            <a:ext cx="2564301" cy="852627"/>
          </a:xfrm>
          <a:prstGeom prst="line">
            <a:avLst/>
          </a:prstGeom>
          <a:ln w="3175">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C00346F-6209-5E7B-C392-66D7009AF447}"/>
              </a:ext>
            </a:extLst>
          </p:cNvPr>
          <p:cNvCxnSpPr>
            <a:cxnSpLocks/>
          </p:cNvCxnSpPr>
          <p:nvPr/>
        </p:nvCxnSpPr>
        <p:spPr>
          <a:xfrm>
            <a:off x="4324375" y="3769051"/>
            <a:ext cx="373068" cy="575661"/>
          </a:xfrm>
          <a:prstGeom prst="line">
            <a:avLst/>
          </a:prstGeom>
          <a:ln w="3175">
            <a:prstDash val="dash"/>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880917D8-0D88-F188-ADD0-B91276EF3410}"/>
              </a:ext>
            </a:extLst>
          </p:cNvPr>
          <p:cNvSpPr txBox="1"/>
          <p:nvPr/>
        </p:nvSpPr>
        <p:spPr>
          <a:xfrm>
            <a:off x="192003" y="6437481"/>
            <a:ext cx="6100174" cy="276999"/>
          </a:xfrm>
          <a:prstGeom prst="rect">
            <a:avLst/>
          </a:prstGeom>
          <a:noFill/>
        </p:spPr>
        <p:txBody>
          <a:bodyPr wrap="square">
            <a:spAutoFit/>
          </a:bodyPr>
          <a:lstStyle/>
          <a:p>
            <a:r>
              <a:rPr lang="en-US" sz="1200" dirty="0"/>
              <a:t>Ward et al., </a:t>
            </a:r>
            <a:r>
              <a:rPr lang="en-US" sz="1200" i="1" dirty="0"/>
              <a:t>Briefings in Bioinformatics</a:t>
            </a:r>
            <a:r>
              <a:rPr lang="en-US" sz="1200" dirty="0"/>
              <a:t>, 2025</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8295673-B614-A30A-A8D6-48898CC04BC7}"/>
                  </a:ext>
                </a:extLst>
              </p:cNvPr>
              <p:cNvSpPr txBox="1"/>
              <p:nvPr/>
            </p:nvSpPr>
            <p:spPr>
              <a:xfrm>
                <a:off x="3232610" y="907102"/>
                <a:ext cx="6096000" cy="4688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𝐸</m:t>
                          </m:r>
                        </m:e>
                        <m:sup>
                          <m:r>
                            <a:rPr lang="en-US" sz="2400" b="0" i="1" smtClean="0">
                              <a:latin typeface="Cambria Math" panose="02040503050406030204" pitchFamily="18" charset="0"/>
                            </a:rPr>
                            <m:t>𝑃</m:t>
                          </m:r>
                        </m:sup>
                      </m:sSup>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𝑗</m:t>
                          </m:r>
                        </m:e>
                      </m:d>
                      <m:r>
                        <a:rPr lang="en-US" sz="2400" b="0" i="1" smtClean="0">
                          <a:latin typeface="Cambria Math" panose="02040503050406030204" pitchFamily="18" charset="0"/>
                        </a:rPr>
                        <m:t>=</m:t>
                      </m:r>
                      <m:r>
                        <m:rPr>
                          <m:sty m:val="p"/>
                        </m:rPr>
                        <a:rPr lang="en-US" sz="2400" b="0" i="0" smtClean="0">
                          <a:latin typeface="Cambria Math" panose="02040503050406030204" pitchFamily="18" charset="0"/>
                        </a:rPr>
                        <m:t>min</m:t>
                      </m:r>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𝐸</m:t>
                          </m:r>
                        </m:e>
                        <m:sub>
                          <m:r>
                            <a:rPr lang="en-US" sz="2400" b="0" i="1" smtClean="0">
                              <a:latin typeface="Cambria Math" panose="02040503050406030204" pitchFamily="18" charset="0"/>
                            </a:rPr>
                            <m:t>𝑐𝑎𝑠𝑒</m:t>
                          </m:r>
                          <m:r>
                            <a:rPr lang="en-US" sz="2400" b="0" i="1" smtClean="0">
                              <a:latin typeface="Cambria Math" panose="02040503050406030204" pitchFamily="18" charset="0"/>
                            </a:rPr>
                            <m:t>1</m:t>
                          </m:r>
                        </m:sub>
                        <m:sup>
                          <m:r>
                            <a:rPr lang="en-US" sz="2400" b="0" i="1" smtClean="0">
                              <a:latin typeface="Cambria Math" panose="02040503050406030204" pitchFamily="18" charset="0"/>
                            </a:rPr>
                            <m:t>𝑃</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𝐸</m:t>
                          </m:r>
                        </m:e>
                        <m:sub>
                          <m:r>
                            <a:rPr lang="en-US" sz="2400" i="1">
                              <a:latin typeface="Cambria Math" panose="02040503050406030204" pitchFamily="18" charset="0"/>
                            </a:rPr>
                            <m:t>𝑐𝑎𝑠𝑒</m:t>
                          </m:r>
                          <m:r>
                            <a:rPr lang="en-US" sz="2400" b="0" i="1" smtClean="0">
                              <a:latin typeface="Cambria Math" panose="02040503050406030204" pitchFamily="18" charset="0"/>
                            </a:rPr>
                            <m:t>2</m:t>
                          </m:r>
                        </m:sub>
                        <m:sup>
                          <m:r>
                            <a:rPr lang="en-US" sz="2400" i="1">
                              <a:latin typeface="Cambria Math" panose="02040503050406030204" pitchFamily="18" charset="0"/>
                            </a:rPr>
                            <m:t>𝑃</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𝐸</m:t>
                          </m:r>
                        </m:e>
                        <m:sub>
                          <m:r>
                            <a:rPr lang="en-US" sz="2400" i="1">
                              <a:latin typeface="Cambria Math" panose="02040503050406030204" pitchFamily="18" charset="0"/>
                            </a:rPr>
                            <m:t>𝑐𝑎𝑠𝑒</m:t>
                          </m:r>
                          <m:r>
                            <a:rPr lang="en-US" sz="2400" b="0" i="1" smtClean="0">
                              <a:latin typeface="Cambria Math" panose="02040503050406030204" pitchFamily="18" charset="0"/>
                            </a:rPr>
                            <m:t>3</m:t>
                          </m:r>
                        </m:sub>
                        <m:sup>
                          <m:r>
                            <a:rPr lang="en-US" sz="2400" i="1">
                              <a:latin typeface="Cambria Math" panose="02040503050406030204" pitchFamily="18" charset="0"/>
                            </a:rPr>
                            <m:t>𝑃</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𝐸</m:t>
                          </m:r>
                        </m:e>
                        <m:sub>
                          <m:r>
                            <a:rPr lang="en-US" sz="2400" i="1">
                              <a:latin typeface="Cambria Math" panose="02040503050406030204" pitchFamily="18" charset="0"/>
                            </a:rPr>
                            <m:t>𝑐𝑎𝑠𝑒</m:t>
                          </m:r>
                          <m:r>
                            <a:rPr lang="en-US" sz="2400" b="0" i="1" smtClean="0">
                              <a:latin typeface="Cambria Math" panose="02040503050406030204" pitchFamily="18" charset="0"/>
                            </a:rPr>
                            <m:t>4</m:t>
                          </m:r>
                        </m:sub>
                        <m:sup>
                          <m:r>
                            <a:rPr lang="en-US" sz="2400" i="1">
                              <a:latin typeface="Cambria Math" panose="02040503050406030204" pitchFamily="18" charset="0"/>
                            </a:rPr>
                            <m:t>𝑃</m:t>
                          </m:r>
                        </m:sup>
                      </m:sSubSup>
                      <m:r>
                        <a:rPr lang="en-US" sz="2400" b="0" i="1" smtClean="0">
                          <a:latin typeface="Cambria Math" panose="02040503050406030204" pitchFamily="18" charset="0"/>
                        </a:rPr>
                        <m:t>}</m:t>
                      </m:r>
                    </m:oMath>
                  </m:oMathPara>
                </a14:m>
                <a:endParaRPr lang="en-US" sz="2400" dirty="0"/>
              </a:p>
            </p:txBody>
          </p:sp>
        </mc:Choice>
        <mc:Fallback xmlns="">
          <p:sp>
            <p:nvSpPr>
              <p:cNvPr id="9" name="TextBox 8">
                <a:extLst>
                  <a:ext uri="{FF2B5EF4-FFF2-40B4-BE49-F238E27FC236}">
                    <a16:creationId xmlns:a16="http://schemas.microsoft.com/office/drawing/2014/main" id="{E8295673-B614-A30A-A8D6-48898CC04BC7}"/>
                  </a:ext>
                </a:extLst>
              </p:cNvPr>
              <p:cNvSpPr txBox="1">
                <a:spLocks noRot="1" noChangeAspect="1" noMove="1" noResize="1" noEditPoints="1" noAdjustHandles="1" noChangeArrowheads="1" noChangeShapeType="1" noTextEdit="1"/>
              </p:cNvSpPr>
              <p:nvPr/>
            </p:nvSpPr>
            <p:spPr>
              <a:xfrm>
                <a:off x="3232610" y="907102"/>
                <a:ext cx="6096000" cy="468846"/>
              </a:xfrm>
              <a:prstGeom prst="rect">
                <a:avLst/>
              </a:prstGeom>
              <a:blipFill>
                <a:blip r:embed="rId5"/>
                <a:stretch>
                  <a:fillRect b="-18421"/>
                </a:stretch>
              </a:blipFill>
            </p:spPr>
            <p:txBody>
              <a:bodyPr/>
              <a:lstStyle/>
              <a:p>
                <a:r>
                  <a:rPr lang="en-US">
                    <a:noFill/>
                  </a:rPr>
                  <a:t> </a:t>
                </a:r>
              </a:p>
            </p:txBody>
          </p:sp>
        </mc:Fallback>
      </mc:AlternateContent>
      <p:pic>
        <p:nvPicPr>
          <p:cNvPr id="39" name="Picture 38" descr="A diagram of a structure&#10;&#10;AI-generated content may be incorrect.">
            <a:extLst>
              <a:ext uri="{FF2B5EF4-FFF2-40B4-BE49-F238E27FC236}">
                <a16:creationId xmlns:a16="http://schemas.microsoft.com/office/drawing/2014/main" id="{5A5A3DC7-0E25-B45A-D065-1AB578BC3DC3}"/>
              </a:ext>
            </a:extLst>
          </p:cNvPr>
          <p:cNvPicPr>
            <a:picLocks noChangeAspect="1"/>
          </p:cNvPicPr>
          <p:nvPr/>
        </p:nvPicPr>
        <p:blipFill>
          <a:blip r:embed="rId6">
            <a:extLst>
              <a:ext uri="{28A0092B-C50C-407E-A947-70E740481C1C}">
                <a14:useLocalDpi xmlns:a14="http://schemas.microsoft.com/office/drawing/2010/main" val="0"/>
              </a:ext>
            </a:extLst>
          </a:blip>
          <a:srcRect l="3887" t="3183" r="5845" b="5055"/>
          <a:stretch>
            <a:fillRect/>
          </a:stretch>
        </p:blipFill>
        <p:spPr>
          <a:xfrm>
            <a:off x="6052285" y="4573831"/>
            <a:ext cx="2096101" cy="1701114"/>
          </a:xfrm>
          <a:prstGeom prst="rect">
            <a:avLst/>
          </a:prstGeom>
        </p:spPr>
      </p:pic>
      <p:pic>
        <p:nvPicPr>
          <p:cNvPr id="44" name="Picture 43" descr="A black and red circle with red dots&#10;&#10;AI-generated content may be incorrect.">
            <a:extLst>
              <a:ext uri="{FF2B5EF4-FFF2-40B4-BE49-F238E27FC236}">
                <a16:creationId xmlns:a16="http://schemas.microsoft.com/office/drawing/2014/main" id="{62D5A765-810C-A190-0B43-BE7CE974FD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01005" y="2019613"/>
            <a:ext cx="639277" cy="756218"/>
          </a:xfrm>
          <a:prstGeom prst="rect">
            <a:avLst/>
          </a:prstGeom>
        </p:spPr>
      </p:pic>
      <p:pic>
        <p:nvPicPr>
          <p:cNvPr id="46" name="Picture 45" descr="A blue and black logo&#10;&#10;AI-generated content may be incorrect.">
            <a:extLst>
              <a:ext uri="{FF2B5EF4-FFF2-40B4-BE49-F238E27FC236}">
                <a16:creationId xmlns:a16="http://schemas.microsoft.com/office/drawing/2014/main" id="{181D1964-DC5F-3C17-4A0E-C97D1DD501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52849" y="2919526"/>
            <a:ext cx="594629" cy="667145"/>
          </a:xfrm>
          <a:prstGeom prst="rect">
            <a:avLst/>
          </a:prstGeom>
        </p:spPr>
      </p:pic>
      <p:pic>
        <p:nvPicPr>
          <p:cNvPr id="48" name="Picture 47" descr="A black and blue symbol with black lines and dots&#10;&#10;AI-generated content may be incorrect.">
            <a:extLst>
              <a:ext uri="{FF2B5EF4-FFF2-40B4-BE49-F238E27FC236}">
                <a16:creationId xmlns:a16="http://schemas.microsoft.com/office/drawing/2014/main" id="{7EA34159-F5D6-2256-D4F0-D9B191FF251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967183" y="3940979"/>
            <a:ext cx="627178" cy="682927"/>
          </a:xfrm>
          <a:prstGeom prst="rect">
            <a:avLst/>
          </a:prstGeom>
        </p:spPr>
      </p:pic>
      <p:pic>
        <p:nvPicPr>
          <p:cNvPr id="50" name="Picture 49" descr="A black and blue circle with black lines and dots&#10;&#10;AI-generated content may be incorrect.">
            <a:extLst>
              <a:ext uri="{FF2B5EF4-FFF2-40B4-BE49-F238E27FC236}">
                <a16:creationId xmlns:a16="http://schemas.microsoft.com/office/drawing/2014/main" id="{178F679B-175C-3652-7206-A869DB3417D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621024" y="3962965"/>
            <a:ext cx="461094" cy="701382"/>
          </a:xfrm>
          <a:prstGeom prst="rect">
            <a:avLst/>
          </a:prstGeom>
        </p:spPr>
      </p:pic>
      <p:pic>
        <p:nvPicPr>
          <p:cNvPr id="52" name="Picture 51" descr="A purple square with black dots and lines&#10;&#10;AI-generated content may be incorrect.">
            <a:extLst>
              <a:ext uri="{FF2B5EF4-FFF2-40B4-BE49-F238E27FC236}">
                <a16:creationId xmlns:a16="http://schemas.microsoft.com/office/drawing/2014/main" id="{DCE29183-2D25-8017-189D-6F53168E017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902235" y="4934734"/>
            <a:ext cx="1425249" cy="1068937"/>
          </a:xfrm>
          <a:prstGeom prst="rect">
            <a:avLst/>
          </a:prstGeom>
        </p:spPr>
      </p:pic>
      <p:sp>
        <p:nvSpPr>
          <p:cNvPr id="53" name="Left Brace 52">
            <a:extLst>
              <a:ext uri="{FF2B5EF4-FFF2-40B4-BE49-F238E27FC236}">
                <a16:creationId xmlns:a16="http://schemas.microsoft.com/office/drawing/2014/main" id="{D8CD2294-A45A-8E2B-7185-E8F10372C149}"/>
              </a:ext>
            </a:extLst>
          </p:cNvPr>
          <p:cNvSpPr/>
          <p:nvPr/>
        </p:nvSpPr>
        <p:spPr>
          <a:xfrm>
            <a:off x="8505174" y="1828800"/>
            <a:ext cx="689892" cy="43385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6" name="TextBox 55">
            <a:extLst>
              <a:ext uri="{FF2B5EF4-FFF2-40B4-BE49-F238E27FC236}">
                <a16:creationId xmlns:a16="http://schemas.microsoft.com/office/drawing/2014/main" id="{72862D30-7913-7794-D36A-51F11569B8B0}"/>
              </a:ext>
            </a:extLst>
          </p:cNvPr>
          <p:cNvSpPr txBox="1"/>
          <p:nvPr/>
        </p:nvSpPr>
        <p:spPr>
          <a:xfrm>
            <a:off x="10210554" y="3151453"/>
            <a:ext cx="1425249" cy="276999"/>
          </a:xfrm>
          <a:prstGeom prst="rect">
            <a:avLst/>
          </a:prstGeom>
          <a:solidFill>
            <a:schemeClr val="bg1"/>
          </a:solidFill>
        </p:spPr>
        <p:txBody>
          <a:bodyPr wrap="square" rtlCol="0">
            <a:spAutoFit/>
          </a:bodyPr>
          <a:lstStyle/>
          <a:p>
            <a:r>
              <a:rPr lang="en-US" sz="1200" dirty="0"/>
              <a:t>Stacking base pair</a:t>
            </a:r>
          </a:p>
        </p:txBody>
      </p:sp>
      <p:sp>
        <p:nvSpPr>
          <p:cNvPr id="57" name="TextBox 56">
            <a:extLst>
              <a:ext uri="{FF2B5EF4-FFF2-40B4-BE49-F238E27FC236}">
                <a16:creationId xmlns:a16="http://schemas.microsoft.com/office/drawing/2014/main" id="{2C6189AB-C7C2-F575-4330-74E281D16325}"/>
              </a:ext>
            </a:extLst>
          </p:cNvPr>
          <p:cNvSpPr txBox="1"/>
          <p:nvPr/>
        </p:nvSpPr>
        <p:spPr>
          <a:xfrm>
            <a:off x="10210554" y="4238052"/>
            <a:ext cx="1761345" cy="276999"/>
          </a:xfrm>
          <a:prstGeom prst="rect">
            <a:avLst/>
          </a:prstGeom>
          <a:solidFill>
            <a:schemeClr val="bg1"/>
          </a:solidFill>
        </p:spPr>
        <p:txBody>
          <a:bodyPr wrap="square" rtlCol="0">
            <a:spAutoFit/>
          </a:bodyPr>
          <a:lstStyle/>
          <a:p>
            <a:r>
              <a:rPr lang="en-US" sz="1200" dirty="0"/>
              <a:t>Bulge or internal loop</a:t>
            </a:r>
          </a:p>
        </p:txBody>
      </p:sp>
    </p:spTree>
    <p:extLst>
      <p:ext uri="{BB962C8B-B14F-4D97-AF65-F5344CB8AC3E}">
        <p14:creationId xmlns:p14="http://schemas.microsoft.com/office/powerpoint/2010/main" val="620875893"/>
      </p:ext>
    </p:extLst>
  </p:cSld>
  <p:clrMapOvr>
    <a:masterClrMapping/>
  </p:clrMapOvr>
  <mc:AlternateContent xmlns:mc="http://schemas.openxmlformats.org/markup-compatibility/2006" xmlns:p14="http://schemas.microsoft.com/office/powerpoint/2010/main">
    <mc:Choice Requires="p14">
      <p:transition spd="slow" p14:dur="2000" advTm="31712"/>
    </mc:Choice>
    <mc:Fallback xmlns="">
      <p:transition spd="slow" advTm="31712"/>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1ABEB-1E10-4824-ADB8-E33F0F82284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A03550-0B9C-F59C-5572-6E030E6F2A5B}"/>
              </a:ext>
            </a:extLst>
          </p:cNvPr>
          <p:cNvSpPr>
            <a:spLocks noGrp="1"/>
          </p:cNvSpPr>
          <p:nvPr>
            <p:ph type="sldNum" sz="quarter" idx="12"/>
          </p:nvPr>
        </p:nvSpPr>
        <p:spPr/>
        <p:txBody>
          <a:bodyPr/>
          <a:lstStyle/>
          <a:p>
            <a:r>
              <a:rPr lang="en-IN" dirty="0"/>
              <a:t>10</a:t>
            </a:r>
          </a:p>
        </p:txBody>
      </p:sp>
      <p:sp>
        <p:nvSpPr>
          <p:cNvPr id="6" name="Rectangle 5">
            <a:extLst>
              <a:ext uri="{FF2B5EF4-FFF2-40B4-BE49-F238E27FC236}">
                <a16:creationId xmlns:a16="http://schemas.microsoft.com/office/drawing/2014/main" id="{87B349A0-3052-6D48-FAF6-E0C3E054ED4E}"/>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5" name="Oval 24">
            <a:extLst>
              <a:ext uri="{FF2B5EF4-FFF2-40B4-BE49-F238E27FC236}">
                <a16:creationId xmlns:a16="http://schemas.microsoft.com/office/drawing/2014/main" id="{01E1ED96-FC8C-3748-9EA1-B8EB6D86B0F0}"/>
              </a:ext>
            </a:extLst>
          </p:cNvPr>
          <p:cNvSpPr/>
          <p:nvPr/>
        </p:nvSpPr>
        <p:spPr>
          <a:xfrm>
            <a:off x="1516525" y="2283122"/>
            <a:ext cx="3193882" cy="265691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7B42649-F929-F8DD-8D18-8CC6C658750A}"/>
              </a:ext>
            </a:extLst>
          </p:cNvPr>
          <p:cNvSpPr/>
          <p:nvPr/>
        </p:nvSpPr>
        <p:spPr>
          <a:xfrm>
            <a:off x="2668101" y="4702042"/>
            <a:ext cx="1007289" cy="4759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216EAFA-81AA-723C-11C6-1C137D88446F}"/>
              </a:ext>
            </a:extLst>
          </p:cNvPr>
          <p:cNvSpPr txBox="1"/>
          <p:nvPr/>
        </p:nvSpPr>
        <p:spPr>
          <a:xfrm>
            <a:off x="2600062" y="4801323"/>
            <a:ext cx="255222" cy="461665"/>
          </a:xfrm>
          <a:prstGeom prst="rect">
            <a:avLst/>
          </a:prstGeom>
          <a:noFill/>
        </p:spPr>
        <p:txBody>
          <a:bodyPr wrap="square" rtlCol="0">
            <a:spAutoFit/>
          </a:bodyPr>
          <a:lstStyle/>
          <a:p>
            <a:r>
              <a:rPr lang="en-US" sz="2400" i="1" dirty="0"/>
              <a:t>1</a:t>
            </a:r>
          </a:p>
        </p:txBody>
      </p:sp>
      <p:cxnSp>
        <p:nvCxnSpPr>
          <p:cNvPr id="31" name="Straight Connector 30">
            <a:extLst>
              <a:ext uri="{FF2B5EF4-FFF2-40B4-BE49-F238E27FC236}">
                <a16:creationId xmlns:a16="http://schemas.microsoft.com/office/drawing/2014/main" id="{28D893C9-5B9F-1E23-E113-786A68CF0B76}"/>
              </a:ext>
            </a:extLst>
          </p:cNvPr>
          <p:cNvCxnSpPr>
            <a:cxnSpLocks/>
            <a:stCxn id="25" idx="1"/>
            <a:endCxn id="25" idx="6"/>
          </p:cNvCxnSpPr>
          <p:nvPr/>
        </p:nvCxnSpPr>
        <p:spPr>
          <a:xfrm>
            <a:off x="1984258" y="2672218"/>
            <a:ext cx="2726149" cy="93936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59A08D78-C3E2-A8AB-9140-10E7982477BD}"/>
              </a:ext>
            </a:extLst>
          </p:cNvPr>
          <p:cNvSpPr txBox="1"/>
          <p:nvPr/>
        </p:nvSpPr>
        <p:spPr>
          <a:xfrm>
            <a:off x="4469106" y="2337800"/>
            <a:ext cx="2932007" cy="707886"/>
          </a:xfrm>
          <a:prstGeom prst="rect">
            <a:avLst/>
          </a:prstGeom>
          <a:noFill/>
        </p:spPr>
        <p:txBody>
          <a:bodyPr wrap="square" rtlCol="0">
            <a:spAutoFit/>
          </a:bodyPr>
          <a:lstStyle/>
          <a:p>
            <a:r>
              <a:rPr lang="en-US" sz="2000" dirty="0"/>
              <a:t>Which of these has the lowest free energy?</a:t>
            </a:r>
          </a:p>
        </p:txBody>
      </p:sp>
      <p:cxnSp>
        <p:nvCxnSpPr>
          <p:cNvPr id="48" name="Straight Arrow Connector 47">
            <a:extLst>
              <a:ext uri="{FF2B5EF4-FFF2-40B4-BE49-F238E27FC236}">
                <a16:creationId xmlns:a16="http://schemas.microsoft.com/office/drawing/2014/main" id="{E4A05A00-B376-C789-8A00-F9616E5CC50B}"/>
              </a:ext>
            </a:extLst>
          </p:cNvPr>
          <p:cNvCxnSpPr>
            <a:cxnSpLocks/>
          </p:cNvCxnSpPr>
          <p:nvPr/>
        </p:nvCxnSpPr>
        <p:spPr>
          <a:xfrm>
            <a:off x="3498109" y="3141899"/>
            <a:ext cx="3983486" cy="682572"/>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DD329CF-4BD8-5A95-FDE1-33A0C8975614}"/>
                  </a:ext>
                </a:extLst>
              </p:cNvPr>
              <p:cNvSpPr txBox="1"/>
              <p:nvPr/>
            </p:nvSpPr>
            <p:spPr>
              <a:xfrm>
                <a:off x="9272324" y="1827788"/>
                <a:ext cx="2448032" cy="3970318"/>
              </a:xfrm>
              <a:prstGeom prst="rect">
                <a:avLst/>
              </a:prstGeom>
              <a:noFill/>
            </p:spPr>
            <p:txBody>
              <a:bodyPr wrap="square" rtlCol="0">
                <a:spAutoFit/>
              </a:bodyPr>
              <a:lstStyle/>
              <a:p>
                <a:pPr algn="ctr"/>
                <a:r>
                  <a:rPr lang="en-US" u="sng" dirty="0"/>
                  <a:t>For example </a:t>
                </a:r>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=7 </m:t>
                      </m:r>
                      <m:r>
                        <a:rPr lang="en-US" b="0" i="1" smtClean="0">
                          <a:latin typeface="Cambria Math" panose="02040503050406030204" pitchFamily="18" charset="0"/>
                          <a:ea typeface="Cambria Math" panose="02040503050406030204" pitchFamily="18" charset="0"/>
                        </a:rPr>
                        <m:t>𝑘𝑐𝑎𝑙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𝑚𝑜𝑙𝑒</m:t>
                      </m:r>
                    </m:oMath>
                  </m:oMathPara>
                </a14:m>
                <a:endParaRPr lang="en-US" b="0" dirty="0">
                  <a:ea typeface="Cambria Math" panose="02040503050406030204" pitchFamily="18" charset="0"/>
                </a:endParaRPr>
              </a:p>
              <a:p>
                <a:pPr algn="ctr"/>
                <a:r>
                  <a:rPr lang="en-US" sz="1200" dirty="0">
                    <a:ea typeface="Cambria Math" panose="02040503050406030204" pitchFamily="18" charset="0"/>
                  </a:rPr>
                  <a:t>Hairpin of length 11 </a:t>
                </a:r>
                <a:r>
                  <a:rPr lang="en-US" sz="1200" b="0" dirty="0">
                    <a:ea typeface="Cambria Math" panose="02040503050406030204" pitchFamily="18" charset="0"/>
                  </a:rPr>
                  <a:t>(j-i-1)</a:t>
                </a:r>
              </a:p>
              <a:p>
                <a:endParaRPr lang="en-US"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𝐺</m:t>
                      </m:r>
                      <m:r>
                        <a:rPr lang="en-US" i="1">
                          <a:latin typeface="Cambria Math" panose="02040503050406030204" pitchFamily="18" charset="0"/>
                          <a:ea typeface="Cambria Math" panose="02040503050406030204" pitchFamily="18" charset="0"/>
                        </a:rPr>
                        <m:t>=−1.4 </m:t>
                      </m:r>
                      <m:r>
                        <a:rPr lang="en-US" i="1">
                          <a:latin typeface="Cambria Math" panose="02040503050406030204" pitchFamily="18" charset="0"/>
                          <a:ea typeface="Cambria Math" panose="02040503050406030204" pitchFamily="18" charset="0"/>
                        </a:rPr>
                        <m:t>𝑘𝑐𝑎𝑙</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𝑚𝑜𝑙𝑒</m:t>
                      </m:r>
                    </m:oMath>
                  </m:oMathPara>
                </a14:m>
                <a:endParaRPr lang="en-US" dirty="0">
                  <a:ea typeface="Cambria Math" panose="02040503050406030204" pitchFamily="18" charset="0"/>
                </a:endParaRPr>
              </a:p>
              <a:p>
                <a:pPr algn="ctr"/>
                <a:r>
                  <a:rPr lang="en-US" sz="1200" dirty="0">
                    <a:ea typeface="Cambria Math" panose="02040503050406030204" pitchFamily="18" charset="0"/>
                  </a:rPr>
                  <a:t>(5,17) pair stacked with (6,16)</a:t>
                </a:r>
              </a:p>
              <a:p>
                <a:endParaRPr lang="en-US" dirty="0"/>
              </a:p>
              <a:p>
                <a:endParaRPr lang="en-US"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𝐺</m:t>
                      </m:r>
                      <m:r>
                        <a:rPr lang="en-US" i="1">
                          <a:latin typeface="Cambria Math" panose="02040503050406030204" pitchFamily="18" charset="0"/>
                          <a:ea typeface="Cambria Math" panose="02040503050406030204" pitchFamily="18" charset="0"/>
                        </a:rPr>
                        <m:t>=−0.6 </m:t>
                      </m:r>
                      <m:r>
                        <a:rPr lang="en-US" i="1">
                          <a:latin typeface="Cambria Math" panose="02040503050406030204" pitchFamily="18" charset="0"/>
                          <a:ea typeface="Cambria Math" panose="02040503050406030204" pitchFamily="18" charset="0"/>
                        </a:rPr>
                        <m:t>𝑘𝑐𝑎𝑙</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𝑚𝑜𝑙𝑒</m:t>
                      </m:r>
                    </m:oMath>
                  </m:oMathPara>
                </a14:m>
                <a:endParaRPr lang="en-US" dirty="0">
                  <a:ea typeface="Cambria Math" panose="02040503050406030204" pitchFamily="18" charset="0"/>
                </a:endParaRPr>
              </a:p>
              <a:p>
                <a:pPr algn="ctr"/>
                <a:r>
                  <a:rPr lang="en-US" sz="1200" dirty="0"/>
                  <a:t>(5,17) pair and another pair within to form bulge or internal loop</a:t>
                </a:r>
              </a:p>
              <a:p>
                <a:endParaRPr lang="en-US" dirty="0"/>
              </a:p>
              <a:p>
                <a:endParaRPr lang="en-US" dirty="0"/>
              </a:p>
              <a:p>
                <a:pPr algn="ctr"/>
                <a:r>
                  <a:rPr lang="en-US" dirty="0"/>
                  <a:t>N/A</a:t>
                </a:r>
              </a:p>
              <a:p>
                <a:pPr algn="ctr"/>
                <a:r>
                  <a:rPr lang="en-US" sz="1200" dirty="0"/>
                  <a:t>Not sufficient nucleotides for a multibranch loop</a:t>
                </a:r>
              </a:p>
            </p:txBody>
          </p:sp>
        </mc:Choice>
        <mc:Fallback xmlns="">
          <p:sp>
            <p:nvSpPr>
              <p:cNvPr id="49" name="TextBox 48">
                <a:extLst>
                  <a:ext uri="{FF2B5EF4-FFF2-40B4-BE49-F238E27FC236}">
                    <a16:creationId xmlns:a16="http://schemas.microsoft.com/office/drawing/2014/main" id="{EDD329CF-4BD8-5A95-FDE1-33A0C8975614}"/>
                  </a:ext>
                </a:extLst>
              </p:cNvPr>
              <p:cNvSpPr txBox="1">
                <a:spLocks noRot="1" noChangeAspect="1" noMove="1" noResize="1" noEditPoints="1" noAdjustHandles="1" noChangeArrowheads="1" noChangeShapeType="1" noTextEdit="1"/>
              </p:cNvSpPr>
              <p:nvPr/>
            </p:nvSpPr>
            <p:spPr>
              <a:xfrm>
                <a:off x="9272324" y="1827788"/>
                <a:ext cx="2448032" cy="3970318"/>
              </a:xfrm>
              <a:prstGeom prst="rect">
                <a:avLst/>
              </a:prstGeom>
              <a:blipFill>
                <a:blip r:embed="rId3"/>
                <a:stretch>
                  <a:fillRect t="-958"/>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C0E0AEBE-19B9-4E1C-55D4-EA0DABBF1B05}"/>
              </a:ext>
            </a:extLst>
          </p:cNvPr>
          <p:cNvSpPr txBox="1"/>
          <p:nvPr/>
        </p:nvSpPr>
        <p:spPr>
          <a:xfrm>
            <a:off x="3384434" y="4811874"/>
            <a:ext cx="557870" cy="461665"/>
          </a:xfrm>
          <a:prstGeom prst="rect">
            <a:avLst/>
          </a:prstGeom>
          <a:noFill/>
        </p:spPr>
        <p:txBody>
          <a:bodyPr wrap="square" rtlCol="0">
            <a:spAutoFit/>
          </a:bodyPr>
          <a:lstStyle/>
          <a:p>
            <a:r>
              <a:rPr lang="en-US" sz="2400" i="1" dirty="0"/>
              <a:t>20</a:t>
            </a:r>
          </a:p>
        </p:txBody>
      </p:sp>
      <p:sp>
        <p:nvSpPr>
          <p:cNvPr id="52" name="TextBox 51">
            <a:extLst>
              <a:ext uri="{FF2B5EF4-FFF2-40B4-BE49-F238E27FC236}">
                <a16:creationId xmlns:a16="http://schemas.microsoft.com/office/drawing/2014/main" id="{A6969245-EBAC-D2D9-21CB-1C10303D5FA9}"/>
              </a:ext>
            </a:extLst>
          </p:cNvPr>
          <p:cNvSpPr txBox="1"/>
          <p:nvPr/>
        </p:nvSpPr>
        <p:spPr>
          <a:xfrm flipH="1">
            <a:off x="1652394" y="2389398"/>
            <a:ext cx="491184" cy="461665"/>
          </a:xfrm>
          <a:prstGeom prst="rect">
            <a:avLst/>
          </a:prstGeom>
          <a:noFill/>
        </p:spPr>
        <p:txBody>
          <a:bodyPr wrap="square" rtlCol="0">
            <a:spAutoFit/>
          </a:bodyPr>
          <a:lstStyle/>
          <a:p>
            <a:r>
              <a:rPr lang="en-US" sz="2400" i="1" dirty="0"/>
              <a:t>5</a:t>
            </a:r>
          </a:p>
        </p:txBody>
      </p:sp>
      <p:sp>
        <p:nvSpPr>
          <p:cNvPr id="53" name="TextBox 52">
            <a:extLst>
              <a:ext uri="{FF2B5EF4-FFF2-40B4-BE49-F238E27FC236}">
                <a16:creationId xmlns:a16="http://schemas.microsoft.com/office/drawing/2014/main" id="{A7190248-42E9-7C5B-E6C0-D29D35E11272}"/>
              </a:ext>
            </a:extLst>
          </p:cNvPr>
          <p:cNvSpPr txBox="1"/>
          <p:nvPr/>
        </p:nvSpPr>
        <p:spPr>
          <a:xfrm>
            <a:off x="4776760" y="3428262"/>
            <a:ext cx="545349" cy="461665"/>
          </a:xfrm>
          <a:prstGeom prst="rect">
            <a:avLst/>
          </a:prstGeom>
          <a:noFill/>
        </p:spPr>
        <p:txBody>
          <a:bodyPr wrap="square" rtlCol="0">
            <a:spAutoFit/>
          </a:bodyPr>
          <a:lstStyle/>
          <a:p>
            <a:r>
              <a:rPr lang="en-US" sz="2400" i="1" dirty="0"/>
              <a:t>17</a:t>
            </a:r>
          </a:p>
        </p:txBody>
      </p:sp>
      <p:sp>
        <p:nvSpPr>
          <p:cNvPr id="56" name="TextBox 55">
            <a:extLst>
              <a:ext uri="{FF2B5EF4-FFF2-40B4-BE49-F238E27FC236}">
                <a16:creationId xmlns:a16="http://schemas.microsoft.com/office/drawing/2014/main" id="{ADD97B84-12A0-3951-5A61-774E22F6C761}"/>
              </a:ext>
            </a:extLst>
          </p:cNvPr>
          <p:cNvSpPr txBox="1"/>
          <p:nvPr/>
        </p:nvSpPr>
        <p:spPr>
          <a:xfrm>
            <a:off x="1401446" y="336982"/>
            <a:ext cx="10790554" cy="1077218"/>
          </a:xfrm>
          <a:prstGeom prst="rect">
            <a:avLst/>
          </a:prstGeom>
          <a:noFill/>
        </p:spPr>
        <p:txBody>
          <a:bodyPr wrap="square" rtlCol="0">
            <a:spAutoFit/>
          </a:bodyPr>
          <a:lstStyle/>
          <a:p>
            <a:pPr algn="ctr"/>
            <a:r>
              <a:rPr lang="en-US" sz="3200" b="1" dirty="0">
                <a:solidFill>
                  <a:srgbClr val="C00000"/>
                </a:solidFill>
              </a:rPr>
              <a:t>From maximizing base pairs to minimizing free energy</a:t>
            </a:r>
          </a:p>
          <a:p>
            <a:pPr algn="ctr"/>
            <a:endParaRPr lang="en-US" altLang="en-US" sz="3200" b="1" dirty="0">
              <a:solidFill>
                <a:srgbClr val="C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9A2AC7E-5BF3-19BA-C827-7AACA54158EE}"/>
                  </a:ext>
                </a:extLst>
              </p:cNvPr>
              <p:cNvSpPr txBox="1"/>
              <p:nvPr/>
            </p:nvSpPr>
            <p:spPr>
              <a:xfrm>
                <a:off x="3012155" y="889129"/>
                <a:ext cx="6096000" cy="4688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𝐸</m:t>
                          </m:r>
                        </m:e>
                        <m:sup>
                          <m:r>
                            <a:rPr lang="en-US" sz="2400" b="0" i="1" smtClean="0">
                              <a:latin typeface="Cambria Math" panose="02040503050406030204" pitchFamily="18" charset="0"/>
                            </a:rPr>
                            <m:t>𝑃</m:t>
                          </m:r>
                        </m:sup>
                      </m:sSup>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𝑗</m:t>
                          </m:r>
                        </m:e>
                      </m:d>
                      <m:r>
                        <a:rPr lang="en-US" sz="2400" b="0" i="1" smtClean="0">
                          <a:latin typeface="Cambria Math" panose="02040503050406030204" pitchFamily="18" charset="0"/>
                        </a:rPr>
                        <m:t>=</m:t>
                      </m:r>
                      <m:r>
                        <m:rPr>
                          <m:sty m:val="p"/>
                        </m:rPr>
                        <a:rPr lang="en-US" sz="2400" b="0" i="0" smtClean="0">
                          <a:latin typeface="Cambria Math" panose="02040503050406030204" pitchFamily="18" charset="0"/>
                        </a:rPr>
                        <m:t>min</m:t>
                      </m:r>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𝐸</m:t>
                          </m:r>
                        </m:e>
                        <m:sub>
                          <m:r>
                            <a:rPr lang="en-US" sz="2400" b="0" i="1" smtClean="0">
                              <a:latin typeface="Cambria Math" panose="02040503050406030204" pitchFamily="18" charset="0"/>
                            </a:rPr>
                            <m:t>𝑐𝑎𝑠𝑒</m:t>
                          </m:r>
                          <m:r>
                            <a:rPr lang="en-US" sz="2400" b="0" i="1" smtClean="0">
                              <a:latin typeface="Cambria Math" panose="02040503050406030204" pitchFamily="18" charset="0"/>
                            </a:rPr>
                            <m:t>1</m:t>
                          </m:r>
                        </m:sub>
                        <m:sup>
                          <m:r>
                            <a:rPr lang="en-US" sz="2400" b="0" i="1" smtClean="0">
                              <a:latin typeface="Cambria Math" panose="02040503050406030204" pitchFamily="18" charset="0"/>
                            </a:rPr>
                            <m:t>𝑃</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𝐸</m:t>
                          </m:r>
                        </m:e>
                        <m:sub>
                          <m:r>
                            <a:rPr lang="en-US" sz="2400" i="1">
                              <a:latin typeface="Cambria Math" panose="02040503050406030204" pitchFamily="18" charset="0"/>
                            </a:rPr>
                            <m:t>𝑐𝑎𝑠𝑒</m:t>
                          </m:r>
                          <m:r>
                            <a:rPr lang="en-US" sz="2400" b="0" i="1" smtClean="0">
                              <a:latin typeface="Cambria Math" panose="02040503050406030204" pitchFamily="18" charset="0"/>
                            </a:rPr>
                            <m:t>2</m:t>
                          </m:r>
                        </m:sub>
                        <m:sup>
                          <m:r>
                            <a:rPr lang="en-US" sz="2400" i="1">
                              <a:latin typeface="Cambria Math" panose="02040503050406030204" pitchFamily="18" charset="0"/>
                            </a:rPr>
                            <m:t>𝑃</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𝐸</m:t>
                          </m:r>
                        </m:e>
                        <m:sub>
                          <m:r>
                            <a:rPr lang="en-US" sz="2400" i="1">
                              <a:latin typeface="Cambria Math" panose="02040503050406030204" pitchFamily="18" charset="0"/>
                            </a:rPr>
                            <m:t>𝑐𝑎𝑠𝑒</m:t>
                          </m:r>
                          <m:r>
                            <a:rPr lang="en-US" sz="2400" b="0" i="1" smtClean="0">
                              <a:latin typeface="Cambria Math" panose="02040503050406030204" pitchFamily="18" charset="0"/>
                            </a:rPr>
                            <m:t>3</m:t>
                          </m:r>
                        </m:sub>
                        <m:sup>
                          <m:r>
                            <a:rPr lang="en-US" sz="2400" i="1">
                              <a:latin typeface="Cambria Math" panose="02040503050406030204" pitchFamily="18" charset="0"/>
                            </a:rPr>
                            <m:t>𝑃</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𝐸</m:t>
                          </m:r>
                        </m:e>
                        <m:sub>
                          <m:r>
                            <a:rPr lang="en-US" sz="2400" i="1">
                              <a:latin typeface="Cambria Math" panose="02040503050406030204" pitchFamily="18" charset="0"/>
                            </a:rPr>
                            <m:t>𝑐𝑎𝑠𝑒</m:t>
                          </m:r>
                          <m:r>
                            <a:rPr lang="en-US" sz="2400" b="0" i="1" smtClean="0">
                              <a:latin typeface="Cambria Math" panose="02040503050406030204" pitchFamily="18" charset="0"/>
                            </a:rPr>
                            <m:t>4</m:t>
                          </m:r>
                        </m:sub>
                        <m:sup>
                          <m:r>
                            <a:rPr lang="en-US" sz="2400" i="1">
                              <a:latin typeface="Cambria Math" panose="02040503050406030204" pitchFamily="18" charset="0"/>
                            </a:rPr>
                            <m:t>𝑃</m:t>
                          </m:r>
                        </m:sup>
                      </m:sSubSup>
                      <m:r>
                        <a:rPr lang="en-US" sz="2400" b="0" i="1" smtClean="0">
                          <a:latin typeface="Cambria Math" panose="02040503050406030204" pitchFamily="18" charset="0"/>
                        </a:rPr>
                        <m:t>}</m:t>
                      </m:r>
                    </m:oMath>
                  </m:oMathPara>
                </a14:m>
                <a:endParaRPr lang="en-US" sz="2400" dirty="0"/>
              </a:p>
            </p:txBody>
          </p:sp>
        </mc:Choice>
        <mc:Fallback xmlns="">
          <p:sp>
            <p:nvSpPr>
              <p:cNvPr id="4" name="TextBox 3">
                <a:extLst>
                  <a:ext uri="{FF2B5EF4-FFF2-40B4-BE49-F238E27FC236}">
                    <a16:creationId xmlns:a16="http://schemas.microsoft.com/office/drawing/2014/main" id="{29A2AC7E-5BF3-19BA-C827-7AACA54158EE}"/>
                  </a:ext>
                </a:extLst>
              </p:cNvPr>
              <p:cNvSpPr txBox="1">
                <a:spLocks noRot="1" noChangeAspect="1" noMove="1" noResize="1" noEditPoints="1" noAdjustHandles="1" noChangeArrowheads="1" noChangeShapeType="1" noTextEdit="1"/>
              </p:cNvSpPr>
              <p:nvPr/>
            </p:nvSpPr>
            <p:spPr>
              <a:xfrm>
                <a:off x="3012155" y="889129"/>
                <a:ext cx="6096000" cy="468846"/>
              </a:xfrm>
              <a:prstGeom prst="rect">
                <a:avLst/>
              </a:prstGeom>
              <a:blipFill>
                <a:blip r:embed="rId4"/>
                <a:stretch>
                  <a:fillRect b="-18421"/>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89D771AC-0BE4-EF7D-752D-FF108D378CA4}"/>
              </a:ext>
            </a:extLst>
          </p:cNvPr>
          <p:cNvSpPr txBox="1"/>
          <p:nvPr/>
        </p:nvSpPr>
        <p:spPr>
          <a:xfrm>
            <a:off x="192003" y="6437481"/>
            <a:ext cx="6100174" cy="276999"/>
          </a:xfrm>
          <a:prstGeom prst="rect">
            <a:avLst/>
          </a:prstGeom>
          <a:noFill/>
        </p:spPr>
        <p:txBody>
          <a:bodyPr wrap="square">
            <a:spAutoFit/>
          </a:bodyPr>
          <a:lstStyle/>
          <a:p>
            <a:r>
              <a:rPr lang="en-US" sz="1200" dirty="0"/>
              <a:t>Ward et al., </a:t>
            </a:r>
            <a:r>
              <a:rPr lang="en-US" sz="1200" i="1" dirty="0"/>
              <a:t>Briefings in Bioinformatics</a:t>
            </a:r>
            <a:r>
              <a:rPr lang="en-US" sz="1200" dirty="0"/>
              <a:t>, 2025</a:t>
            </a:r>
          </a:p>
        </p:txBody>
      </p:sp>
      <p:pic>
        <p:nvPicPr>
          <p:cNvPr id="7" name="Picture 6" descr="A black and red circle with red dots&#10;&#10;AI-generated content may be incorrect.">
            <a:extLst>
              <a:ext uri="{FF2B5EF4-FFF2-40B4-BE49-F238E27FC236}">
                <a16:creationId xmlns:a16="http://schemas.microsoft.com/office/drawing/2014/main" id="{E88AC8CE-7515-BF36-BFFF-8411B1BE6D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07089" y="1849129"/>
            <a:ext cx="639277" cy="756218"/>
          </a:xfrm>
          <a:prstGeom prst="rect">
            <a:avLst/>
          </a:prstGeom>
        </p:spPr>
      </p:pic>
      <p:pic>
        <p:nvPicPr>
          <p:cNvPr id="8" name="Picture 7" descr="A blue and black logo&#10;&#10;AI-generated content may be incorrect.">
            <a:extLst>
              <a:ext uri="{FF2B5EF4-FFF2-40B4-BE49-F238E27FC236}">
                <a16:creationId xmlns:a16="http://schemas.microsoft.com/office/drawing/2014/main" id="{D8986568-2317-2DCA-5397-DDF77673F4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58933" y="2749042"/>
            <a:ext cx="594629" cy="667145"/>
          </a:xfrm>
          <a:prstGeom prst="rect">
            <a:avLst/>
          </a:prstGeom>
        </p:spPr>
      </p:pic>
      <p:pic>
        <p:nvPicPr>
          <p:cNvPr id="9" name="Picture 8" descr="A black and blue symbol with black lines and dots&#10;&#10;AI-generated content may be incorrect.">
            <a:extLst>
              <a:ext uri="{FF2B5EF4-FFF2-40B4-BE49-F238E27FC236}">
                <a16:creationId xmlns:a16="http://schemas.microsoft.com/office/drawing/2014/main" id="{CE6F040D-5BE4-3D08-7D61-68C8FB488EC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73267" y="3770495"/>
            <a:ext cx="627178" cy="682927"/>
          </a:xfrm>
          <a:prstGeom prst="rect">
            <a:avLst/>
          </a:prstGeom>
        </p:spPr>
      </p:pic>
      <p:pic>
        <p:nvPicPr>
          <p:cNvPr id="10" name="Picture 9" descr="A black and blue circle with black lines and dots&#10;&#10;AI-generated content may be incorrect.">
            <a:extLst>
              <a:ext uri="{FF2B5EF4-FFF2-40B4-BE49-F238E27FC236}">
                <a16:creationId xmlns:a16="http://schemas.microsoft.com/office/drawing/2014/main" id="{979ABA2B-71CB-8F7F-EF75-CF1EE717FF1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27108" y="3792481"/>
            <a:ext cx="461094" cy="701382"/>
          </a:xfrm>
          <a:prstGeom prst="rect">
            <a:avLst/>
          </a:prstGeom>
        </p:spPr>
      </p:pic>
      <p:pic>
        <p:nvPicPr>
          <p:cNvPr id="11" name="Picture 10" descr="A purple square with black dots and lines&#10;&#10;AI-generated content may be incorrect.">
            <a:extLst>
              <a:ext uri="{FF2B5EF4-FFF2-40B4-BE49-F238E27FC236}">
                <a16:creationId xmlns:a16="http://schemas.microsoft.com/office/drawing/2014/main" id="{2EE10768-EDAB-1EFB-AF29-2A93197124C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08319" y="4764250"/>
            <a:ext cx="1425249" cy="1068937"/>
          </a:xfrm>
          <a:prstGeom prst="rect">
            <a:avLst/>
          </a:prstGeom>
        </p:spPr>
      </p:pic>
      <p:sp>
        <p:nvSpPr>
          <p:cNvPr id="12" name="Left Brace 11">
            <a:extLst>
              <a:ext uri="{FF2B5EF4-FFF2-40B4-BE49-F238E27FC236}">
                <a16:creationId xmlns:a16="http://schemas.microsoft.com/office/drawing/2014/main" id="{C54E1EE2-A006-1493-0C5E-80D61C639EED}"/>
              </a:ext>
            </a:extLst>
          </p:cNvPr>
          <p:cNvSpPr/>
          <p:nvPr/>
        </p:nvSpPr>
        <p:spPr>
          <a:xfrm>
            <a:off x="7511258" y="1658316"/>
            <a:ext cx="689892" cy="43385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40584261"/>
      </p:ext>
    </p:extLst>
  </p:cSld>
  <p:clrMapOvr>
    <a:masterClrMapping/>
  </p:clrMapOvr>
  <mc:AlternateContent xmlns:mc="http://schemas.openxmlformats.org/markup-compatibility/2006" xmlns:p14="http://schemas.microsoft.com/office/powerpoint/2010/main">
    <mc:Choice Requires="p14">
      <p:transition spd="slow" p14:dur="2000" advTm="21200"/>
    </mc:Choice>
    <mc:Fallback xmlns="">
      <p:transition spd="slow" advTm="212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AAF65-E45E-4972-C2D7-525DD81878E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E1A5BF-5CAA-8DE9-1336-BA02940A4C8E}"/>
              </a:ext>
            </a:extLst>
          </p:cNvPr>
          <p:cNvSpPr>
            <a:spLocks noGrp="1"/>
          </p:cNvSpPr>
          <p:nvPr>
            <p:ph type="sldNum" sz="quarter" idx="12"/>
          </p:nvPr>
        </p:nvSpPr>
        <p:spPr/>
        <p:txBody>
          <a:bodyPr/>
          <a:lstStyle/>
          <a:p>
            <a:r>
              <a:rPr lang="en-IN" dirty="0"/>
              <a:t>9</a:t>
            </a:r>
          </a:p>
        </p:txBody>
      </p:sp>
      <p:sp>
        <p:nvSpPr>
          <p:cNvPr id="6" name="Rectangle 5">
            <a:extLst>
              <a:ext uri="{FF2B5EF4-FFF2-40B4-BE49-F238E27FC236}">
                <a16:creationId xmlns:a16="http://schemas.microsoft.com/office/drawing/2014/main" id="{202A0FC2-153D-6D7D-6168-B9D4B3FA71B1}"/>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5" name="Oval 24">
            <a:extLst>
              <a:ext uri="{FF2B5EF4-FFF2-40B4-BE49-F238E27FC236}">
                <a16:creationId xmlns:a16="http://schemas.microsoft.com/office/drawing/2014/main" id="{829D08FC-D99E-F821-E177-B0C466C8EDA8}"/>
              </a:ext>
            </a:extLst>
          </p:cNvPr>
          <p:cNvSpPr/>
          <p:nvPr/>
        </p:nvSpPr>
        <p:spPr>
          <a:xfrm>
            <a:off x="1401446" y="2278453"/>
            <a:ext cx="3193882" cy="265691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45F60D3-DB4E-50FD-19FB-76EB28C290FE}"/>
              </a:ext>
            </a:extLst>
          </p:cNvPr>
          <p:cNvSpPr/>
          <p:nvPr/>
        </p:nvSpPr>
        <p:spPr>
          <a:xfrm>
            <a:off x="2553022" y="4697373"/>
            <a:ext cx="1007289" cy="4759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F4BCEC2-76E1-0003-B91E-567100494AFD}"/>
              </a:ext>
            </a:extLst>
          </p:cNvPr>
          <p:cNvSpPr txBox="1"/>
          <p:nvPr/>
        </p:nvSpPr>
        <p:spPr>
          <a:xfrm>
            <a:off x="2484983" y="4796654"/>
            <a:ext cx="255222" cy="461665"/>
          </a:xfrm>
          <a:prstGeom prst="rect">
            <a:avLst/>
          </a:prstGeom>
          <a:noFill/>
        </p:spPr>
        <p:txBody>
          <a:bodyPr wrap="square" rtlCol="0">
            <a:spAutoFit/>
          </a:bodyPr>
          <a:lstStyle/>
          <a:p>
            <a:r>
              <a:rPr lang="en-US" sz="2400" i="1" dirty="0"/>
              <a:t>1</a:t>
            </a:r>
          </a:p>
        </p:txBody>
      </p:sp>
      <p:cxnSp>
        <p:nvCxnSpPr>
          <p:cNvPr id="31" name="Straight Connector 30">
            <a:extLst>
              <a:ext uri="{FF2B5EF4-FFF2-40B4-BE49-F238E27FC236}">
                <a16:creationId xmlns:a16="http://schemas.microsoft.com/office/drawing/2014/main" id="{BB52BF47-E1B9-E1FD-512E-D4328F3A01AC}"/>
              </a:ext>
            </a:extLst>
          </p:cNvPr>
          <p:cNvCxnSpPr>
            <a:cxnSpLocks/>
            <a:stCxn id="25" idx="1"/>
            <a:endCxn id="25" idx="6"/>
          </p:cNvCxnSpPr>
          <p:nvPr/>
        </p:nvCxnSpPr>
        <p:spPr>
          <a:xfrm>
            <a:off x="1869179" y="2667549"/>
            <a:ext cx="2726149" cy="939362"/>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A6BA821-A5B1-C594-DF17-E57C4C893EBC}"/>
                  </a:ext>
                </a:extLst>
              </p:cNvPr>
              <p:cNvSpPr txBox="1"/>
              <p:nvPr/>
            </p:nvSpPr>
            <p:spPr>
              <a:xfrm>
                <a:off x="9101215" y="1776733"/>
                <a:ext cx="2448032" cy="4247317"/>
              </a:xfrm>
              <a:prstGeom prst="rect">
                <a:avLst/>
              </a:prstGeom>
              <a:noFill/>
            </p:spPr>
            <p:txBody>
              <a:bodyPr wrap="square" rtlCol="0">
                <a:spAutoFit/>
              </a:bodyPr>
              <a:lstStyle/>
              <a:p>
                <a:pPr algn="ctr"/>
                <a:r>
                  <a:rPr lang="en-US" dirty="0"/>
                  <a:t>For example </a:t>
                </a:r>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=7 </m:t>
                      </m:r>
                      <m:r>
                        <a:rPr lang="en-US" b="0" i="1" smtClean="0">
                          <a:latin typeface="Cambria Math" panose="02040503050406030204" pitchFamily="18" charset="0"/>
                          <a:ea typeface="Cambria Math" panose="02040503050406030204" pitchFamily="18" charset="0"/>
                        </a:rPr>
                        <m:t>𝑘𝑐𝑎𝑙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𝑚𝑜𝑙𝑒</m:t>
                      </m:r>
                    </m:oMath>
                  </m:oMathPara>
                </a14:m>
                <a:endParaRPr lang="en-US" b="0" dirty="0">
                  <a:ea typeface="Cambria Math" panose="02040503050406030204" pitchFamily="18" charset="0"/>
                </a:endParaRPr>
              </a:p>
              <a:p>
                <a:endParaRPr lang="en-US" dirty="0"/>
              </a:p>
              <a:p>
                <a:endParaRPr lang="en-US"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𝐺</m:t>
                      </m:r>
                      <m:r>
                        <a:rPr lang="en-US" i="1">
                          <a:latin typeface="Cambria Math" panose="02040503050406030204" pitchFamily="18" charset="0"/>
                          <a:ea typeface="Cambria Math" panose="02040503050406030204" pitchFamily="18" charset="0"/>
                        </a:rPr>
                        <m:t>=−1.4 </m:t>
                      </m:r>
                      <m:r>
                        <a:rPr lang="en-US" i="1">
                          <a:latin typeface="Cambria Math" panose="02040503050406030204" pitchFamily="18" charset="0"/>
                          <a:ea typeface="Cambria Math" panose="02040503050406030204" pitchFamily="18" charset="0"/>
                        </a:rPr>
                        <m:t>𝑘𝑐𝑎𝑙</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𝑚𝑜𝑙𝑒</m:t>
                      </m:r>
                    </m:oMath>
                  </m:oMathPara>
                </a14:m>
                <a:endParaRPr lang="en-US" dirty="0">
                  <a:ea typeface="Cambria Math" panose="02040503050406030204" pitchFamily="18" charset="0"/>
                </a:endParaRPr>
              </a:p>
              <a:p>
                <a:endParaRPr lang="en-US" dirty="0"/>
              </a:p>
              <a:p>
                <a:endParaRPr lang="en-US" dirty="0"/>
              </a:p>
              <a:p>
                <a:endParaRPr lang="en-US"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𝐺</m:t>
                      </m:r>
                      <m:r>
                        <a:rPr lang="en-US" i="1">
                          <a:latin typeface="Cambria Math" panose="02040503050406030204" pitchFamily="18" charset="0"/>
                          <a:ea typeface="Cambria Math" panose="02040503050406030204" pitchFamily="18" charset="0"/>
                        </a:rPr>
                        <m:t>=−0.6 </m:t>
                      </m:r>
                      <m:r>
                        <a:rPr lang="en-US" i="1">
                          <a:latin typeface="Cambria Math" panose="02040503050406030204" pitchFamily="18" charset="0"/>
                          <a:ea typeface="Cambria Math" panose="02040503050406030204" pitchFamily="18" charset="0"/>
                        </a:rPr>
                        <m:t>𝑘𝑐𝑎𝑙</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𝑚𝑜𝑙𝑒</m:t>
                      </m:r>
                    </m:oMath>
                  </m:oMathPara>
                </a14:m>
                <a:endParaRPr lang="en-US" dirty="0">
                  <a:ea typeface="Cambria Math" panose="02040503050406030204" pitchFamily="18" charset="0"/>
                </a:endParaRPr>
              </a:p>
              <a:p>
                <a:endParaRPr lang="en-US" dirty="0"/>
              </a:p>
              <a:p>
                <a:endParaRPr lang="en-US" dirty="0"/>
              </a:p>
              <a:p>
                <a:endParaRPr lang="en-US"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𝐺</m:t>
                      </m:r>
                      <m:r>
                        <a:rPr lang="en-US" i="1">
                          <a:latin typeface="Cambria Math" panose="02040503050406030204" pitchFamily="18" charset="0"/>
                          <a:ea typeface="Cambria Math" panose="02040503050406030204" pitchFamily="18" charset="0"/>
                        </a:rPr>
                        <m:t>=0.6 </m:t>
                      </m:r>
                      <m:r>
                        <a:rPr lang="en-US" i="1">
                          <a:latin typeface="Cambria Math" panose="02040503050406030204" pitchFamily="18" charset="0"/>
                          <a:ea typeface="Cambria Math" panose="02040503050406030204" pitchFamily="18" charset="0"/>
                        </a:rPr>
                        <m:t>𝑘𝑐𝑎𝑙</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𝑚𝑜𝑙𝑒</m:t>
                      </m:r>
                    </m:oMath>
                  </m:oMathPara>
                </a14:m>
                <a:endParaRPr lang="en-US" dirty="0">
                  <a:ea typeface="Cambria Math" panose="02040503050406030204" pitchFamily="18" charset="0"/>
                </a:endParaRPr>
              </a:p>
              <a:p>
                <a:endParaRPr lang="en-US" dirty="0"/>
              </a:p>
              <a:p>
                <a:endParaRPr lang="en-US" dirty="0"/>
              </a:p>
            </p:txBody>
          </p:sp>
        </mc:Choice>
        <mc:Fallback xmlns="">
          <p:sp>
            <p:nvSpPr>
              <p:cNvPr id="49" name="TextBox 48">
                <a:extLst>
                  <a:ext uri="{FF2B5EF4-FFF2-40B4-BE49-F238E27FC236}">
                    <a16:creationId xmlns:a16="http://schemas.microsoft.com/office/drawing/2014/main" id="{2A6BA821-A5B1-C594-DF17-E57C4C893EBC}"/>
                  </a:ext>
                </a:extLst>
              </p:cNvPr>
              <p:cNvSpPr txBox="1">
                <a:spLocks noRot="1" noChangeAspect="1" noMove="1" noResize="1" noEditPoints="1" noAdjustHandles="1" noChangeArrowheads="1" noChangeShapeType="1" noTextEdit="1"/>
              </p:cNvSpPr>
              <p:nvPr/>
            </p:nvSpPr>
            <p:spPr>
              <a:xfrm>
                <a:off x="9101215" y="1776733"/>
                <a:ext cx="2448032" cy="4247317"/>
              </a:xfrm>
              <a:prstGeom prst="rect">
                <a:avLst/>
              </a:prstGeom>
              <a:blipFill>
                <a:blip r:embed="rId3"/>
                <a:stretch>
                  <a:fillRect t="-595"/>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B9EDC96A-765E-7E96-EE59-348F6A06F760}"/>
              </a:ext>
            </a:extLst>
          </p:cNvPr>
          <p:cNvSpPr/>
          <p:nvPr/>
        </p:nvSpPr>
        <p:spPr>
          <a:xfrm>
            <a:off x="7973267" y="2667549"/>
            <a:ext cx="3575980" cy="912083"/>
          </a:xfrm>
          <a:prstGeom prst="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DAEE1DF3-1540-3F85-EF9C-5D8EB64E34B0}"/>
              </a:ext>
            </a:extLst>
          </p:cNvPr>
          <p:cNvCxnSpPr>
            <a:cxnSpLocks/>
          </p:cNvCxnSpPr>
          <p:nvPr/>
        </p:nvCxnSpPr>
        <p:spPr>
          <a:xfrm>
            <a:off x="2147566" y="2495738"/>
            <a:ext cx="2421099" cy="832348"/>
          </a:xfrm>
          <a:prstGeom prst="line">
            <a:avLst/>
          </a:prstGeom>
          <a:ln>
            <a:solidFill>
              <a:schemeClr val="accent6"/>
            </a:solidFill>
            <a:prstDash val="dash"/>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6FAA1A60-33DE-B752-9D24-3CA2CC7ABA96}"/>
              </a:ext>
            </a:extLst>
          </p:cNvPr>
          <p:cNvSpPr txBox="1"/>
          <p:nvPr/>
        </p:nvSpPr>
        <p:spPr>
          <a:xfrm flipH="1">
            <a:off x="1722553" y="2075123"/>
            <a:ext cx="597048" cy="461665"/>
          </a:xfrm>
          <a:prstGeom prst="rect">
            <a:avLst/>
          </a:prstGeom>
          <a:noFill/>
        </p:spPr>
        <p:txBody>
          <a:bodyPr wrap="square" rtlCol="0">
            <a:spAutoFit/>
          </a:bodyPr>
          <a:lstStyle/>
          <a:p>
            <a:r>
              <a:rPr lang="en-US" sz="2400" i="1" dirty="0"/>
              <a:t>6</a:t>
            </a:r>
          </a:p>
        </p:txBody>
      </p:sp>
      <p:sp>
        <p:nvSpPr>
          <p:cNvPr id="12" name="TextBox 11">
            <a:extLst>
              <a:ext uri="{FF2B5EF4-FFF2-40B4-BE49-F238E27FC236}">
                <a16:creationId xmlns:a16="http://schemas.microsoft.com/office/drawing/2014/main" id="{A7373E50-74F8-BAEB-626C-DACF0AC9EC23}"/>
              </a:ext>
            </a:extLst>
          </p:cNvPr>
          <p:cNvSpPr txBox="1"/>
          <p:nvPr/>
        </p:nvSpPr>
        <p:spPr>
          <a:xfrm>
            <a:off x="4647745" y="3051471"/>
            <a:ext cx="555787" cy="461665"/>
          </a:xfrm>
          <a:prstGeom prst="rect">
            <a:avLst/>
          </a:prstGeom>
          <a:noFill/>
        </p:spPr>
        <p:txBody>
          <a:bodyPr wrap="square" rtlCol="0">
            <a:spAutoFit/>
          </a:bodyPr>
          <a:lstStyle/>
          <a:p>
            <a:r>
              <a:rPr lang="en-US" sz="2400" i="1" dirty="0"/>
              <a:t>16</a:t>
            </a:r>
          </a:p>
        </p:txBody>
      </p:sp>
      <p:sp>
        <p:nvSpPr>
          <p:cNvPr id="20" name="TextBox 19">
            <a:extLst>
              <a:ext uri="{FF2B5EF4-FFF2-40B4-BE49-F238E27FC236}">
                <a16:creationId xmlns:a16="http://schemas.microsoft.com/office/drawing/2014/main" id="{B3DC6884-213E-3427-B41F-FBB59195D443}"/>
              </a:ext>
            </a:extLst>
          </p:cNvPr>
          <p:cNvSpPr txBox="1"/>
          <p:nvPr/>
        </p:nvSpPr>
        <p:spPr>
          <a:xfrm>
            <a:off x="3842732" y="1838319"/>
            <a:ext cx="3470299" cy="707886"/>
          </a:xfrm>
          <a:prstGeom prst="rect">
            <a:avLst/>
          </a:prstGeom>
          <a:noFill/>
        </p:spPr>
        <p:txBody>
          <a:bodyPr wrap="square" rtlCol="0">
            <a:spAutoFit/>
          </a:bodyPr>
          <a:lstStyle/>
          <a:p>
            <a:r>
              <a:rPr lang="en-US" sz="2000" dirty="0"/>
              <a:t>Best case for this example is</a:t>
            </a:r>
          </a:p>
          <a:p>
            <a:r>
              <a:rPr lang="en-US" sz="2000" dirty="0"/>
              <a:t> </a:t>
            </a:r>
          </a:p>
        </p:txBody>
      </p:sp>
      <p:sp>
        <p:nvSpPr>
          <p:cNvPr id="21" name="TextBox 20">
            <a:extLst>
              <a:ext uri="{FF2B5EF4-FFF2-40B4-BE49-F238E27FC236}">
                <a16:creationId xmlns:a16="http://schemas.microsoft.com/office/drawing/2014/main" id="{0217D5A8-4246-8F69-B473-5BEF0B20A5FD}"/>
              </a:ext>
            </a:extLst>
          </p:cNvPr>
          <p:cNvSpPr txBox="1"/>
          <p:nvPr/>
        </p:nvSpPr>
        <p:spPr>
          <a:xfrm>
            <a:off x="3255419" y="4821707"/>
            <a:ext cx="557870" cy="461665"/>
          </a:xfrm>
          <a:prstGeom prst="rect">
            <a:avLst/>
          </a:prstGeom>
          <a:noFill/>
        </p:spPr>
        <p:txBody>
          <a:bodyPr wrap="square" rtlCol="0">
            <a:spAutoFit/>
          </a:bodyPr>
          <a:lstStyle/>
          <a:p>
            <a:r>
              <a:rPr lang="en-US" sz="2400" i="1" dirty="0"/>
              <a:t>20</a:t>
            </a:r>
          </a:p>
        </p:txBody>
      </p:sp>
      <p:sp>
        <p:nvSpPr>
          <p:cNvPr id="22" name="TextBox 21">
            <a:extLst>
              <a:ext uri="{FF2B5EF4-FFF2-40B4-BE49-F238E27FC236}">
                <a16:creationId xmlns:a16="http://schemas.microsoft.com/office/drawing/2014/main" id="{CF205DEA-F4DC-65F2-4A7F-29E8D37BBE91}"/>
              </a:ext>
            </a:extLst>
          </p:cNvPr>
          <p:cNvSpPr txBox="1"/>
          <p:nvPr/>
        </p:nvSpPr>
        <p:spPr>
          <a:xfrm flipH="1">
            <a:off x="1523379" y="2399231"/>
            <a:ext cx="491184" cy="461665"/>
          </a:xfrm>
          <a:prstGeom prst="rect">
            <a:avLst/>
          </a:prstGeom>
          <a:noFill/>
        </p:spPr>
        <p:txBody>
          <a:bodyPr wrap="square" rtlCol="0">
            <a:spAutoFit/>
          </a:bodyPr>
          <a:lstStyle/>
          <a:p>
            <a:r>
              <a:rPr lang="en-US" sz="2400" i="1" dirty="0"/>
              <a:t>5</a:t>
            </a:r>
          </a:p>
        </p:txBody>
      </p:sp>
      <p:sp>
        <p:nvSpPr>
          <p:cNvPr id="23" name="TextBox 22">
            <a:extLst>
              <a:ext uri="{FF2B5EF4-FFF2-40B4-BE49-F238E27FC236}">
                <a16:creationId xmlns:a16="http://schemas.microsoft.com/office/drawing/2014/main" id="{43AF06A2-AB9A-1B33-30FF-D71F9CF226B1}"/>
              </a:ext>
            </a:extLst>
          </p:cNvPr>
          <p:cNvSpPr txBox="1"/>
          <p:nvPr/>
        </p:nvSpPr>
        <p:spPr>
          <a:xfrm>
            <a:off x="4647745" y="3438095"/>
            <a:ext cx="545349" cy="461665"/>
          </a:xfrm>
          <a:prstGeom prst="rect">
            <a:avLst/>
          </a:prstGeom>
          <a:noFill/>
        </p:spPr>
        <p:txBody>
          <a:bodyPr wrap="square" rtlCol="0">
            <a:spAutoFit/>
          </a:bodyPr>
          <a:lstStyle/>
          <a:p>
            <a:r>
              <a:rPr lang="en-US" sz="2400" i="1" dirty="0"/>
              <a:t>17</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6D38468-5FA6-8167-F214-3344EDA79730}"/>
                  </a:ext>
                </a:extLst>
              </p:cNvPr>
              <p:cNvSpPr txBox="1"/>
              <p:nvPr/>
            </p:nvSpPr>
            <p:spPr>
              <a:xfrm>
                <a:off x="4528344" y="2189575"/>
                <a:ext cx="1996657" cy="369332"/>
              </a:xfrm>
              <a:prstGeom prst="rect">
                <a:avLst/>
              </a:prstGeom>
              <a:noFill/>
            </p:spPr>
            <p:txBody>
              <a:bodyPr wrap="square">
                <a:spAutoFit/>
              </a:bodyPr>
              <a:lstStyle/>
              <a:p>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𝐸</m:t>
                        </m:r>
                      </m:e>
                      <m:sup>
                        <m:r>
                          <a:rPr lang="en-US" i="1">
                            <a:latin typeface="Cambria Math" panose="02040503050406030204" pitchFamily="18" charset="0"/>
                          </a:rPr>
                          <m:t>𝑃</m:t>
                        </m:r>
                      </m:sup>
                    </m:sSup>
                    <m:d>
                      <m:dPr>
                        <m:ctrlPr>
                          <a:rPr lang="en-US" i="1">
                            <a:latin typeface="Cambria Math" panose="02040503050406030204" pitchFamily="18" charset="0"/>
                          </a:rPr>
                        </m:ctrlPr>
                      </m:dPr>
                      <m:e>
                        <m:r>
                          <a:rPr lang="en-US" b="0" i="1" smtClean="0">
                            <a:latin typeface="Cambria Math" panose="02040503050406030204" pitchFamily="18" charset="0"/>
                          </a:rPr>
                          <m:t>5</m:t>
                        </m:r>
                        <m:r>
                          <a:rPr lang="en-US" i="1">
                            <a:latin typeface="Cambria Math" panose="02040503050406030204" pitchFamily="18" charset="0"/>
                          </a:rPr>
                          <m:t>,</m:t>
                        </m:r>
                        <m:r>
                          <a:rPr lang="en-US" b="0" i="1" smtClean="0">
                            <a:latin typeface="Cambria Math" panose="02040503050406030204" pitchFamily="18" charset="0"/>
                          </a:rPr>
                          <m:t>17</m:t>
                        </m:r>
                      </m:e>
                    </m:d>
                    <m:r>
                      <a:rPr lang="en-US" b="0" i="1" smtClean="0">
                        <a:latin typeface="Cambria Math" panose="02040503050406030204" pitchFamily="18" charset="0"/>
                      </a:rPr>
                      <m:t>=</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𝟒</m:t>
                    </m:r>
                  </m:oMath>
                </a14:m>
                <a:r>
                  <a:rPr lang="en-US" sz="1800" b="1" dirty="0"/>
                  <a:t> </a:t>
                </a:r>
                <a:endParaRPr lang="en-US" dirty="0"/>
              </a:p>
            </p:txBody>
          </p:sp>
        </mc:Choice>
        <mc:Fallback xmlns="">
          <p:sp>
            <p:nvSpPr>
              <p:cNvPr id="32" name="TextBox 31">
                <a:extLst>
                  <a:ext uri="{FF2B5EF4-FFF2-40B4-BE49-F238E27FC236}">
                    <a16:creationId xmlns:a16="http://schemas.microsoft.com/office/drawing/2014/main" id="{96D38468-5FA6-8167-F214-3344EDA79730}"/>
                  </a:ext>
                </a:extLst>
              </p:cNvPr>
              <p:cNvSpPr txBox="1">
                <a:spLocks noRot="1" noChangeAspect="1" noMove="1" noResize="1" noEditPoints="1" noAdjustHandles="1" noChangeArrowheads="1" noChangeShapeType="1" noTextEdit="1"/>
              </p:cNvSpPr>
              <p:nvPr/>
            </p:nvSpPr>
            <p:spPr>
              <a:xfrm>
                <a:off x="4528344" y="2189575"/>
                <a:ext cx="1996657" cy="369332"/>
              </a:xfrm>
              <a:prstGeom prst="rect">
                <a:avLst/>
              </a:prstGeom>
              <a:blipFill>
                <a:blip r:embed="rId4"/>
                <a:stretch>
                  <a:fillRect/>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DB65D01C-34A1-5458-D92E-373C5485DAB5}"/>
              </a:ext>
            </a:extLst>
          </p:cNvPr>
          <p:cNvSpPr txBox="1"/>
          <p:nvPr/>
        </p:nvSpPr>
        <p:spPr>
          <a:xfrm>
            <a:off x="804398" y="331135"/>
            <a:ext cx="10648664" cy="584775"/>
          </a:xfrm>
          <a:prstGeom prst="rect">
            <a:avLst/>
          </a:prstGeom>
          <a:noFill/>
        </p:spPr>
        <p:txBody>
          <a:bodyPr wrap="square" rtlCol="0">
            <a:spAutoFit/>
          </a:bodyPr>
          <a:lstStyle/>
          <a:p>
            <a:pPr algn="ctr"/>
            <a:r>
              <a:rPr lang="en-US" sz="3200" b="1" dirty="0">
                <a:solidFill>
                  <a:srgbClr val="C00000"/>
                </a:solidFill>
              </a:rPr>
              <a:t>From maximizing base pairs to minimizing free energy</a:t>
            </a:r>
          </a:p>
        </p:txBody>
      </p:sp>
      <p:sp>
        <p:nvSpPr>
          <p:cNvPr id="5" name="TextBox 4">
            <a:extLst>
              <a:ext uri="{FF2B5EF4-FFF2-40B4-BE49-F238E27FC236}">
                <a16:creationId xmlns:a16="http://schemas.microsoft.com/office/drawing/2014/main" id="{7F84704F-1DA4-DAC1-F73A-0368BA710C88}"/>
              </a:ext>
            </a:extLst>
          </p:cNvPr>
          <p:cNvSpPr txBox="1"/>
          <p:nvPr/>
        </p:nvSpPr>
        <p:spPr>
          <a:xfrm>
            <a:off x="192003" y="6437481"/>
            <a:ext cx="6100174" cy="276999"/>
          </a:xfrm>
          <a:prstGeom prst="rect">
            <a:avLst/>
          </a:prstGeom>
          <a:noFill/>
        </p:spPr>
        <p:txBody>
          <a:bodyPr wrap="square">
            <a:spAutoFit/>
          </a:bodyPr>
          <a:lstStyle/>
          <a:p>
            <a:r>
              <a:rPr lang="en-US" sz="1200" dirty="0"/>
              <a:t>Ward et al., </a:t>
            </a:r>
            <a:r>
              <a:rPr lang="en-US" sz="1200" i="1" dirty="0"/>
              <a:t>Briefings in Bioinformatics</a:t>
            </a:r>
            <a:r>
              <a:rPr lang="en-US" sz="1200" dirty="0"/>
              <a:t>, 2025</a:t>
            </a:r>
          </a:p>
        </p:txBody>
      </p:sp>
      <p:pic>
        <p:nvPicPr>
          <p:cNvPr id="8" name="Picture 7" descr="A black and red circle with red dots&#10;&#10;AI-generated content may be incorrect.">
            <a:extLst>
              <a:ext uri="{FF2B5EF4-FFF2-40B4-BE49-F238E27FC236}">
                <a16:creationId xmlns:a16="http://schemas.microsoft.com/office/drawing/2014/main" id="{FA2B3720-BC6E-9F4B-74D6-C470773624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07089" y="1849129"/>
            <a:ext cx="639277" cy="756218"/>
          </a:xfrm>
          <a:prstGeom prst="rect">
            <a:avLst/>
          </a:prstGeom>
        </p:spPr>
      </p:pic>
      <p:pic>
        <p:nvPicPr>
          <p:cNvPr id="9" name="Picture 8" descr="A blue and black logo&#10;&#10;AI-generated content may be incorrect.">
            <a:extLst>
              <a:ext uri="{FF2B5EF4-FFF2-40B4-BE49-F238E27FC236}">
                <a16:creationId xmlns:a16="http://schemas.microsoft.com/office/drawing/2014/main" id="{CB37419E-3440-941E-8EFA-63D1EC691A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58933" y="2749042"/>
            <a:ext cx="594629" cy="667145"/>
          </a:xfrm>
          <a:prstGeom prst="rect">
            <a:avLst/>
          </a:prstGeom>
        </p:spPr>
      </p:pic>
      <p:pic>
        <p:nvPicPr>
          <p:cNvPr id="10" name="Picture 9" descr="A black and blue symbol with black lines and dots&#10;&#10;AI-generated content may be incorrect.">
            <a:extLst>
              <a:ext uri="{FF2B5EF4-FFF2-40B4-BE49-F238E27FC236}">
                <a16:creationId xmlns:a16="http://schemas.microsoft.com/office/drawing/2014/main" id="{89C40B44-0103-ED21-1314-3D88C8F9B95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73267" y="3770495"/>
            <a:ext cx="627178" cy="682927"/>
          </a:xfrm>
          <a:prstGeom prst="rect">
            <a:avLst/>
          </a:prstGeom>
        </p:spPr>
      </p:pic>
      <p:pic>
        <p:nvPicPr>
          <p:cNvPr id="13" name="Picture 12" descr="A black and blue circle with black lines and dots&#10;&#10;AI-generated content may be incorrect.">
            <a:extLst>
              <a:ext uri="{FF2B5EF4-FFF2-40B4-BE49-F238E27FC236}">
                <a16:creationId xmlns:a16="http://schemas.microsoft.com/office/drawing/2014/main" id="{1E260196-7BE8-1531-518A-3AF948C1B34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27108" y="3792481"/>
            <a:ext cx="461094" cy="701382"/>
          </a:xfrm>
          <a:prstGeom prst="rect">
            <a:avLst/>
          </a:prstGeom>
        </p:spPr>
      </p:pic>
      <p:pic>
        <p:nvPicPr>
          <p:cNvPr id="17" name="Picture 16" descr="A purple square with black dots and lines&#10;&#10;AI-generated content may be incorrect.">
            <a:extLst>
              <a:ext uri="{FF2B5EF4-FFF2-40B4-BE49-F238E27FC236}">
                <a16:creationId xmlns:a16="http://schemas.microsoft.com/office/drawing/2014/main" id="{14F73A4C-1693-E412-03B6-BA164F7B85D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08319" y="4764250"/>
            <a:ext cx="1425249" cy="1068937"/>
          </a:xfrm>
          <a:prstGeom prst="rect">
            <a:avLst/>
          </a:prstGeom>
        </p:spPr>
      </p:pic>
      <p:sp>
        <p:nvSpPr>
          <p:cNvPr id="18" name="Left Brace 17">
            <a:extLst>
              <a:ext uri="{FF2B5EF4-FFF2-40B4-BE49-F238E27FC236}">
                <a16:creationId xmlns:a16="http://schemas.microsoft.com/office/drawing/2014/main" id="{B9B3E245-0A01-871D-2B97-0EE9B18C89EB}"/>
              </a:ext>
            </a:extLst>
          </p:cNvPr>
          <p:cNvSpPr/>
          <p:nvPr/>
        </p:nvSpPr>
        <p:spPr>
          <a:xfrm>
            <a:off x="7511258" y="1658316"/>
            <a:ext cx="689892" cy="43385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7D549B9B-D30F-DEB2-5964-24EBA52EDBA4}"/>
              </a:ext>
            </a:extLst>
          </p:cNvPr>
          <p:cNvSpPr txBox="1"/>
          <p:nvPr/>
        </p:nvSpPr>
        <p:spPr>
          <a:xfrm>
            <a:off x="650250" y="5511864"/>
            <a:ext cx="5556813"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t>Fill till E(1,N).</a:t>
            </a:r>
          </a:p>
          <a:p>
            <a:pPr marL="285750" indent="-285750">
              <a:buFont typeface="Arial" panose="020B0604020202020204" pitchFamily="34" charset="0"/>
              <a:buChar char="•"/>
            </a:pPr>
            <a:r>
              <a:rPr lang="en-US" sz="2000" dirty="0"/>
              <a:t>Traceback for MFE structure.</a:t>
            </a:r>
          </a:p>
        </p:txBody>
      </p:sp>
    </p:spTree>
    <p:extLst>
      <p:ext uri="{BB962C8B-B14F-4D97-AF65-F5344CB8AC3E}">
        <p14:creationId xmlns:p14="http://schemas.microsoft.com/office/powerpoint/2010/main" val="203558793"/>
      </p:ext>
    </p:extLst>
  </p:cSld>
  <p:clrMapOvr>
    <a:masterClrMapping/>
  </p:clrMapOvr>
  <mc:AlternateContent xmlns:mc="http://schemas.openxmlformats.org/markup-compatibility/2006" xmlns:p14="http://schemas.microsoft.com/office/powerpoint/2010/main">
    <mc:Choice Requires="p14">
      <p:transition spd="slow" p14:dur="2000" advTm="12877"/>
    </mc:Choice>
    <mc:Fallback xmlns="">
      <p:transition spd="slow" advTm="12877"/>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F8E5D-6311-B25A-70D3-C70FC7C8883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F25CA5-1276-43C7-6199-52A74561B169}"/>
              </a:ext>
            </a:extLst>
          </p:cNvPr>
          <p:cNvSpPr>
            <a:spLocks noGrp="1"/>
          </p:cNvSpPr>
          <p:nvPr>
            <p:ph type="sldNum" sz="quarter" idx="12"/>
          </p:nvPr>
        </p:nvSpPr>
        <p:spPr/>
        <p:txBody>
          <a:bodyPr/>
          <a:lstStyle/>
          <a:p>
            <a:r>
              <a:rPr lang="en-IN" dirty="0"/>
              <a:t>8</a:t>
            </a:r>
          </a:p>
        </p:txBody>
      </p:sp>
      <p:sp>
        <p:nvSpPr>
          <p:cNvPr id="5" name="TextBox 4">
            <a:extLst>
              <a:ext uri="{FF2B5EF4-FFF2-40B4-BE49-F238E27FC236}">
                <a16:creationId xmlns:a16="http://schemas.microsoft.com/office/drawing/2014/main" id="{6161DE87-E2A6-6CD6-8098-6ADCA21BF960}"/>
              </a:ext>
            </a:extLst>
          </p:cNvPr>
          <p:cNvSpPr txBox="1"/>
          <p:nvPr/>
        </p:nvSpPr>
        <p:spPr>
          <a:xfrm>
            <a:off x="800100" y="399751"/>
            <a:ext cx="10910297" cy="584775"/>
          </a:xfrm>
          <a:prstGeom prst="rect">
            <a:avLst/>
          </a:prstGeom>
          <a:noFill/>
        </p:spPr>
        <p:txBody>
          <a:bodyPr wrap="square" rtlCol="0">
            <a:spAutoFit/>
          </a:bodyPr>
          <a:lstStyle/>
          <a:p>
            <a:pPr algn="ctr"/>
            <a:r>
              <a:rPr lang="en-US" sz="3200" b="1" dirty="0">
                <a:solidFill>
                  <a:srgbClr val="C00000"/>
                </a:solidFill>
              </a:rPr>
              <a:t>From maximizing base pairs to minimizing free energy</a:t>
            </a:r>
          </a:p>
        </p:txBody>
      </p:sp>
      <p:sp>
        <p:nvSpPr>
          <p:cNvPr id="6" name="Rectangle 5">
            <a:extLst>
              <a:ext uri="{FF2B5EF4-FFF2-40B4-BE49-F238E27FC236}">
                <a16:creationId xmlns:a16="http://schemas.microsoft.com/office/drawing/2014/main" id="{F4B35361-F5A4-6DAD-33F7-42C5E0FB53DF}"/>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1DBEAF-0D97-9EA2-7B84-94215DEA6119}"/>
                  </a:ext>
                </a:extLst>
              </p:cNvPr>
              <p:cNvSpPr txBox="1"/>
              <p:nvPr/>
            </p:nvSpPr>
            <p:spPr>
              <a:xfrm>
                <a:off x="1187060" y="4180018"/>
                <a:ext cx="1613932" cy="307777"/>
              </a:xfrm>
              <a:prstGeom prst="rect">
                <a:avLst/>
              </a:prstGeom>
              <a:noFill/>
            </p:spPr>
            <p:txBody>
              <a:bodyPr wrap="square" lIns="0" tIns="0" rIns="0" bIns="0" rtlCol="0">
                <a:spAutoFit/>
              </a:bodyPr>
              <a:lstStyle/>
              <a:p>
                <a:r>
                  <a:rPr lang="en-US" sz="2000" b="0" dirty="0"/>
                  <a:t>E</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e>
                    </m:d>
                    <m:r>
                      <a:rPr lang="en-US" sz="2000" b="0" i="1" smtClean="0">
                        <a:latin typeface="Cambria Math" panose="02040503050406030204" pitchFamily="18" charset="0"/>
                      </a:rPr>
                      <m:t>=</m:t>
                    </m:r>
                    <m:r>
                      <a:rPr lang="en-US" sz="2000" b="0" i="1" smtClean="0">
                        <a:latin typeface="Cambria Math" panose="02040503050406030204" pitchFamily="18" charset="0"/>
                      </a:rPr>
                      <m:t>𝑚𝑖𝑛</m:t>
                    </m:r>
                  </m:oMath>
                </a14:m>
                <a:endParaRPr lang="en-US" sz="2000" dirty="0"/>
              </a:p>
            </p:txBody>
          </p:sp>
        </mc:Choice>
        <mc:Fallback xmlns="">
          <p:sp>
            <p:nvSpPr>
              <p:cNvPr id="3" name="TextBox 2">
                <a:extLst>
                  <a:ext uri="{FF2B5EF4-FFF2-40B4-BE49-F238E27FC236}">
                    <a16:creationId xmlns:a16="http://schemas.microsoft.com/office/drawing/2014/main" id="{DC1DBEAF-0D97-9EA2-7B84-94215DEA6119}"/>
                  </a:ext>
                </a:extLst>
              </p:cNvPr>
              <p:cNvSpPr txBox="1">
                <a:spLocks noRot="1" noChangeAspect="1" noMove="1" noResize="1" noEditPoints="1" noAdjustHandles="1" noChangeArrowheads="1" noChangeShapeType="1" noTextEdit="1"/>
              </p:cNvSpPr>
              <p:nvPr/>
            </p:nvSpPr>
            <p:spPr>
              <a:xfrm>
                <a:off x="1187060" y="4180018"/>
                <a:ext cx="1613932" cy="307777"/>
              </a:xfrm>
              <a:prstGeom prst="rect">
                <a:avLst/>
              </a:prstGeom>
              <a:blipFill>
                <a:blip r:embed="rId3"/>
                <a:stretch>
                  <a:fillRect l="-9375" t="-20000" b="-52000"/>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A35E68F6-9B8D-3D6D-CEAA-59D74E177B96}"/>
              </a:ext>
            </a:extLst>
          </p:cNvPr>
          <p:cNvSpPr txBox="1"/>
          <p:nvPr/>
        </p:nvSpPr>
        <p:spPr>
          <a:xfrm>
            <a:off x="598304" y="774526"/>
            <a:ext cx="11464945" cy="625043"/>
          </a:xfrm>
          <a:prstGeom prst="rect">
            <a:avLst/>
          </a:prstGeom>
          <a:noFill/>
        </p:spPr>
        <p:txBody>
          <a:bodyPr wrap="square">
            <a:spAutoFit/>
          </a:bodyPr>
          <a:lstStyle/>
          <a:p>
            <a:pPr marR="0" lvl="0" algn="l" defTabSz="914400" rtl="0" eaLnBrk="0" fontAlgn="base" latinLnBrk="0" hangingPunct="0">
              <a:lnSpc>
                <a:spcPct val="200000"/>
              </a:lnSpc>
              <a:spcBef>
                <a:spcPct val="0"/>
              </a:spcBef>
              <a:spcAft>
                <a:spcPct val="0"/>
              </a:spcAft>
              <a:buClrTx/>
              <a:buSzTx/>
              <a:tabLst/>
            </a:pPr>
            <a:r>
              <a:rPr kumimoji="0" lang="en-US" altLang="en-US" sz="2000" u="none" strike="noStrike" cap="none" normalizeH="0" baseline="0" dirty="0">
                <a:ln>
                  <a:noFill/>
                </a:ln>
                <a:solidFill>
                  <a:srgbClr val="000000"/>
                </a:solidFill>
                <a:effectLst/>
                <a:latin typeface="+mn-lt"/>
              </a:rPr>
              <a:t>Define</a:t>
            </a:r>
            <a:r>
              <a:rPr kumimoji="0" lang="en-US" altLang="en-US" sz="2000" b="1" i="1" u="none" strike="noStrike" cap="none" normalizeH="0" baseline="0" dirty="0">
                <a:ln>
                  <a:noFill/>
                </a:ln>
                <a:solidFill>
                  <a:srgbClr val="000000"/>
                </a:solidFill>
                <a:effectLst/>
                <a:latin typeface="+mn-lt"/>
              </a:rPr>
              <a:t> E(</a:t>
            </a:r>
            <a:r>
              <a:rPr kumimoji="0" lang="en-US" altLang="en-US" sz="2000" b="1" i="1" u="none" strike="noStrike" cap="none" normalizeH="0" baseline="0" dirty="0" err="1">
                <a:ln>
                  <a:noFill/>
                </a:ln>
                <a:solidFill>
                  <a:srgbClr val="000000"/>
                </a:solidFill>
                <a:effectLst/>
                <a:latin typeface="+mn-lt"/>
              </a:rPr>
              <a:t>i,j</a:t>
            </a:r>
            <a:r>
              <a:rPr kumimoji="0" lang="en-US" altLang="en-US" sz="2000" b="1" i="1" u="none" strike="noStrike" cap="none" normalizeH="0" baseline="0" dirty="0">
                <a:ln>
                  <a:noFill/>
                </a:ln>
                <a:solidFill>
                  <a:srgbClr val="000000"/>
                </a:solidFill>
                <a:effectLst/>
                <a:latin typeface="+mn-lt"/>
              </a:rPr>
              <a:t>)</a:t>
            </a:r>
            <a:r>
              <a:rPr kumimoji="0" lang="en-US" altLang="en-US" sz="2000" b="1" i="0" u="none" strike="noStrike" cap="none" normalizeH="0" baseline="0" dirty="0">
                <a:ln>
                  <a:noFill/>
                </a:ln>
                <a:solidFill>
                  <a:srgbClr val="000000"/>
                </a:solidFill>
                <a:effectLst/>
                <a:latin typeface="+mn-lt"/>
              </a:rPr>
              <a:t>: </a:t>
            </a:r>
            <a:r>
              <a:rPr lang="en-US" altLang="en-US" sz="2000" dirty="0">
                <a:solidFill>
                  <a:srgbClr val="000000"/>
                </a:solidFill>
              </a:rPr>
              <a:t>Minimum Free Energy of the structure for</a:t>
            </a:r>
            <a:r>
              <a:rPr kumimoji="0" lang="en-US" altLang="en-US" sz="2000" b="0" i="0" u="none" strike="noStrike" cap="none" normalizeH="0" baseline="0" dirty="0">
                <a:ln>
                  <a:noFill/>
                </a:ln>
                <a:solidFill>
                  <a:srgbClr val="000000"/>
                </a:solidFill>
                <a:effectLst/>
                <a:latin typeface="+mn-lt"/>
              </a:rPr>
              <a:t> the sequence</a:t>
            </a:r>
            <a:r>
              <a:rPr kumimoji="0" lang="en-US" altLang="en-US" sz="2000" b="0" i="1" u="none" strike="noStrike" cap="none" normalizeH="0" baseline="0" dirty="0">
                <a:ln>
                  <a:noFill/>
                </a:ln>
                <a:solidFill>
                  <a:srgbClr val="000000"/>
                </a:solidFill>
                <a:effectLst/>
                <a:latin typeface="+mn-lt"/>
              </a:rPr>
              <a:t> </a:t>
            </a:r>
            <a:r>
              <a:rPr kumimoji="0" lang="en-US" altLang="en-US" sz="2000" b="0" u="none" strike="noStrike" cap="none" normalizeH="0" baseline="0" dirty="0">
                <a:ln>
                  <a:noFill/>
                </a:ln>
                <a:solidFill>
                  <a:srgbClr val="000000"/>
                </a:solidFill>
                <a:effectLst/>
                <a:latin typeface="+mn-lt"/>
              </a:rPr>
              <a:t>starting at</a:t>
            </a:r>
            <a:r>
              <a:rPr kumimoji="0" lang="en-US" altLang="en-US" sz="2000" b="0" i="1" u="none" strike="noStrike" cap="none" normalizeH="0" baseline="0" dirty="0">
                <a:ln>
                  <a:noFill/>
                </a:ln>
                <a:solidFill>
                  <a:srgbClr val="000000"/>
                </a:solidFill>
                <a:effectLst/>
                <a:latin typeface="+mn-lt"/>
              </a:rPr>
              <a:t> </a:t>
            </a:r>
            <a:r>
              <a:rPr kumimoji="0" lang="en-US" altLang="en-US" sz="2000" b="0" i="1" u="none" strike="noStrike" cap="none" normalizeH="0" baseline="0" dirty="0" err="1">
                <a:ln>
                  <a:noFill/>
                </a:ln>
                <a:solidFill>
                  <a:srgbClr val="000000"/>
                </a:solidFill>
                <a:effectLst/>
                <a:latin typeface="+mn-lt"/>
              </a:rPr>
              <a:t>i</a:t>
            </a:r>
            <a:r>
              <a:rPr kumimoji="0" lang="en-US" altLang="en-US" sz="2000" b="0" i="1" u="none" strike="noStrike" cap="none" normalizeH="0" baseline="0" dirty="0">
                <a:ln>
                  <a:noFill/>
                </a:ln>
                <a:solidFill>
                  <a:srgbClr val="000000"/>
                </a:solidFill>
                <a:effectLst/>
                <a:latin typeface="+mn-lt"/>
              </a:rPr>
              <a:t> </a:t>
            </a:r>
            <a:r>
              <a:rPr kumimoji="0" lang="en-US" altLang="en-US" sz="2000" b="0" u="none" strike="noStrike" cap="none" normalizeH="0" baseline="0" dirty="0">
                <a:ln>
                  <a:noFill/>
                </a:ln>
                <a:solidFill>
                  <a:srgbClr val="000000"/>
                </a:solidFill>
                <a:effectLst/>
                <a:latin typeface="+mn-lt"/>
              </a:rPr>
              <a:t>and ending at </a:t>
            </a:r>
            <a:r>
              <a:rPr kumimoji="0" lang="en-US" altLang="en-US" sz="2000" b="0" i="1" u="none" strike="noStrike" cap="none" normalizeH="0" baseline="0" dirty="0">
                <a:ln>
                  <a:noFill/>
                </a:ln>
                <a:solidFill>
                  <a:srgbClr val="000000"/>
                </a:solidFill>
                <a:effectLst/>
                <a:latin typeface="+mn-lt"/>
              </a:rPr>
              <a:t>j (</a:t>
            </a:r>
            <a:r>
              <a:rPr kumimoji="0" lang="en-US" altLang="en-US" sz="2000" b="0" i="1" u="none" strike="noStrike" cap="none" normalizeH="0" baseline="0" dirty="0" err="1">
                <a:ln>
                  <a:noFill/>
                </a:ln>
                <a:solidFill>
                  <a:srgbClr val="000000"/>
                </a:solidFill>
                <a:effectLst/>
                <a:latin typeface="+mn-lt"/>
              </a:rPr>
              <a:t>i</a:t>
            </a:r>
            <a:r>
              <a:rPr kumimoji="0" lang="en-US" altLang="en-US" sz="2000" b="0" i="1" u="none" strike="noStrike" cap="none" normalizeH="0" baseline="0" dirty="0">
                <a:ln>
                  <a:noFill/>
                </a:ln>
                <a:solidFill>
                  <a:srgbClr val="000000"/>
                </a:solidFill>
                <a:effectLst/>
                <a:latin typeface="+mn-lt"/>
              </a:rPr>
              <a:t>&lt;j).</a:t>
            </a:r>
          </a:p>
        </p:txBody>
      </p:sp>
      <p:sp>
        <p:nvSpPr>
          <p:cNvPr id="9" name="TextBox 8">
            <a:extLst>
              <a:ext uri="{FF2B5EF4-FFF2-40B4-BE49-F238E27FC236}">
                <a16:creationId xmlns:a16="http://schemas.microsoft.com/office/drawing/2014/main" id="{9F105B1D-F073-342C-15D3-C9F2BA3A9D9F}"/>
              </a:ext>
            </a:extLst>
          </p:cNvPr>
          <p:cNvSpPr txBox="1"/>
          <p:nvPr/>
        </p:nvSpPr>
        <p:spPr>
          <a:xfrm>
            <a:off x="3441728" y="1370313"/>
            <a:ext cx="4397829" cy="338554"/>
          </a:xfrm>
          <a:prstGeom prst="rect">
            <a:avLst/>
          </a:prstGeom>
          <a:noFill/>
        </p:spPr>
        <p:txBody>
          <a:bodyPr wrap="square" rtlCol="0">
            <a:spAutoFit/>
          </a:bodyPr>
          <a:lstStyle/>
          <a:p>
            <a:r>
              <a:rPr lang="en-US" sz="1600" i="1" u="sng" dirty="0"/>
              <a:t>Cases and free energies associated</a:t>
            </a:r>
          </a:p>
        </p:txBody>
      </p:sp>
      <p:pic>
        <p:nvPicPr>
          <p:cNvPr id="13" name="Picture 12" descr="A group of math equations&#10;&#10;AI-generated content may be incorrect.">
            <a:extLst>
              <a:ext uri="{FF2B5EF4-FFF2-40B4-BE49-F238E27FC236}">
                <a16:creationId xmlns:a16="http://schemas.microsoft.com/office/drawing/2014/main" id="{E18DB4F4-1EBF-8E94-6ED5-2CA9D5797999}"/>
              </a:ext>
            </a:extLst>
          </p:cNvPr>
          <p:cNvPicPr>
            <a:picLocks noChangeAspect="1"/>
          </p:cNvPicPr>
          <p:nvPr/>
        </p:nvPicPr>
        <p:blipFill>
          <a:blip r:embed="rId4">
            <a:extLst>
              <a:ext uri="{28A0092B-C50C-407E-A947-70E740481C1C}">
                <a14:useLocalDpi xmlns:a14="http://schemas.microsoft.com/office/drawing/2010/main" val="0"/>
              </a:ext>
            </a:extLst>
          </a:blip>
          <a:srcRect l="34000" t="4003" r="37873" b="63666"/>
          <a:stretch>
            <a:fillRect/>
          </a:stretch>
        </p:blipFill>
        <p:spPr>
          <a:xfrm>
            <a:off x="1428906" y="4538772"/>
            <a:ext cx="1084533" cy="673554"/>
          </a:xfrm>
          <a:prstGeom prst="rect">
            <a:avLst/>
          </a:prstGeom>
        </p:spPr>
      </p:pic>
      <p:pic>
        <p:nvPicPr>
          <p:cNvPr id="14" name="Picture 13" descr="A group of math equations&#10;&#10;AI-generated content may be incorrect.">
            <a:extLst>
              <a:ext uri="{FF2B5EF4-FFF2-40B4-BE49-F238E27FC236}">
                <a16:creationId xmlns:a16="http://schemas.microsoft.com/office/drawing/2014/main" id="{2A3ADA39-2300-BB20-CE8C-247F11A07DC5}"/>
              </a:ext>
            </a:extLst>
          </p:cNvPr>
          <p:cNvPicPr>
            <a:picLocks noChangeAspect="1"/>
          </p:cNvPicPr>
          <p:nvPr/>
        </p:nvPicPr>
        <p:blipFill>
          <a:blip r:embed="rId4">
            <a:extLst>
              <a:ext uri="{28A0092B-C50C-407E-A947-70E740481C1C}">
                <a14:useLocalDpi xmlns:a14="http://schemas.microsoft.com/office/drawing/2010/main" val="0"/>
              </a:ext>
            </a:extLst>
          </a:blip>
          <a:srcRect t="35591" r="71574" b="28990"/>
          <a:stretch>
            <a:fillRect/>
          </a:stretch>
        </p:blipFill>
        <p:spPr>
          <a:xfrm>
            <a:off x="3282953" y="2055137"/>
            <a:ext cx="1250105" cy="841598"/>
          </a:xfrm>
          <a:prstGeom prst="rect">
            <a:avLst/>
          </a:prstGeom>
        </p:spPr>
      </p:pic>
      <p:pic>
        <p:nvPicPr>
          <p:cNvPr id="15" name="Picture 14" descr="A group of math equations&#10;&#10;AI-generated content may be incorrect.">
            <a:extLst>
              <a:ext uri="{FF2B5EF4-FFF2-40B4-BE49-F238E27FC236}">
                <a16:creationId xmlns:a16="http://schemas.microsoft.com/office/drawing/2014/main" id="{00FD3746-271A-9450-0BA3-EAF0C013A277}"/>
              </a:ext>
            </a:extLst>
          </p:cNvPr>
          <p:cNvPicPr>
            <a:picLocks noChangeAspect="1"/>
          </p:cNvPicPr>
          <p:nvPr/>
        </p:nvPicPr>
        <p:blipFill>
          <a:blip r:embed="rId4">
            <a:extLst>
              <a:ext uri="{28A0092B-C50C-407E-A947-70E740481C1C}">
                <a14:useLocalDpi xmlns:a14="http://schemas.microsoft.com/office/drawing/2010/main" val="0"/>
              </a:ext>
            </a:extLst>
          </a:blip>
          <a:srcRect l="34414" t="72890" r="29447"/>
          <a:stretch>
            <a:fillRect/>
          </a:stretch>
        </p:blipFill>
        <p:spPr>
          <a:xfrm>
            <a:off x="3216528" y="5592274"/>
            <a:ext cx="1966922" cy="797207"/>
          </a:xfrm>
          <a:prstGeom prst="rect">
            <a:avLst/>
          </a:prstGeom>
        </p:spPr>
      </p:pic>
      <p:sp>
        <p:nvSpPr>
          <p:cNvPr id="18" name="Left Brace 17">
            <a:extLst>
              <a:ext uri="{FF2B5EF4-FFF2-40B4-BE49-F238E27FC236}">
                <a16:creationId xmlns:a16="http://schemas.microsoft.com/office/drawing/2014/main" id="{0E1ACE1C-4939-6B16-72B7-9F078C64EC64}"/>
              </a:ext>
            </a:extLst>
          </p:cNvPr>
          <p:cNvSpPr/>
          <p:nvPr/>
        </p:nvSpPr>
        <p:spPr>
          <a:xfrm>
            <a:off x="2707848" y="1907177"/>
            <a:ext cx="380696" cy="468270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2768198-C4D4-7833-9322-E219614A10DD}"/>
                  </a:ext>
                </a:extLst>
              </p:cNvPr>
              <p:cNvSpPr txBox="1"/>
              <p:nvPr/>
            </p:nvSpPr>
            <p:spPr>
              <a:xfrm>
                <a:off x="2106912" y="2751497"/>
                <a:ext cx="5532573"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C00000"/>
                          </a:solidFill>
                          <a:latin typeface="Cambria Math" panose="02040503050406030204" pitchFamily="18" charset="0"/>
                        </a:rPr>
                        <m:t>𝑖</m:t>
                      </m:r>
                      <m:r>
                        <a:rPr lang="en-US" sz="1200" b="0" i="1" smtClean="0">
                          <a:solidFill>
                            <a:srgbClr val="C00000"/>
                          </a:solidFill>
                          <a:latin typeface="Cambria Math" panose="02040503050406030204" pitchFamily="18" charset="0"/>
                        </a:rPr>
                        <m:t>,</m:t>
                      </m:r>
                      <m:r>
                        <a:rPr lang="en-US" sz="1200" b="0" i="1" smtClean="0">
                          <a:solidFill>
                            <a:srgbClr val="C00000"/>
                          </a:solidFill>
                          <a:latin typeface="Cambria Math" panose="02040503050406030204" pitchFamily="18" charset="0"/>
                        </a:rPr>
                        <m:t>𝑗</m:t>
                      </m:r>
                      <m:r>
                        <a:rPr lang="en-US" sz="1200" b="0" i="1" smtClean="0">
                          <a:solidFill>
                            <a:srgbClr val="C00000"/>
                          </a:solidFill>
                          <a:latin typeface="Cambria Math" panose="02040503050406030204" pitchFamily="18" charset="0"/>
                        </a:rPr>
                        <m:t> </m:t>
                      </m:r>
                      <m:r>
                        <a:rPr lang="en-US" sz="1200" b="0" i="1" smtClean="0">
                          <a:solidFill>
                            <a:srgbClr val="C00000"/>
                          </a:solidFill>
                          <a:latin typeface="Cambria Math" panose="02040503050406030204" pitchFamily="18" charset="0"/>
                        </a:rPr>
                        <m:t>𝑎𝑟𝑒</m:t>
                      </m:r>
                      <m:r>
                        <a:rPr lang="en-US" sz="1200" b="0" i="1" smtClean="0">
                          <a:solidFill>
                            <a:srgbClr val="C00000"/>
                          </a:solidFill>
                          <a:latin typeface="Cambria Math" panose="02040503050406030204" pitchFamily="18" charset="0"/>
                        </a:rPr>
                        <m:t> </m:t>
                      </m:r>
                      <m:r>
                        <a:rPr lang="en-US" sz="1200" b="0" i="1" smtClean="0">
                          <a:solidFill>
                            <a:srgbClr val="C00000"/>
                          </a:solidFill>
                          <a:latin typeface="Cambria Math" panose="02040503050406030204" pitchFamily="18" charset="0"/>
                        </a:rPr>
                        <m:t>𝑎</m:t>
                      </m:r>
                      <m:r>
                        <a:rPr lang="en-US" sz="1200" b="0" i="1" smtClean="0">
                          <a:solidFill>
                            <a:srgbClr val="C00000"/>
                          </a:solidFill>
                          <a:latin typeface="Cambria Math" panose="02040503050406030204" pitchFamily="18" charset="0"/>
                        </a:rPr>
                        <m:t> </m:t>
                      </m:r>
                      <m:r>
                        <a:rPr lang="en-US" sz="1200" b="0" i="1" smtClean="0">
                          <a:solidFill>
                            <a:srgbClr val="C00000"/>
                          </a:solidFill>
                          <a:latin typeface="Cambria Math" panose="02040503050406030204" pitchFamily="18" charset="0"/>
                        </a:rPr>
                        <m:t>𝑏𝑎𝑠𝑒</m:t>
                      </m:r>
                      <m:r>
                        <a:rPr lang="en-US" sz="1200" b="0" i="1" smtClean="0">
                          <a:solidFill>
                            <a:srgbClr val="C00000"/>
                          </a:solidFill>
                          <a:latin typeface="Cambria Math" panose="02040503050406030204" pitchFamily="18" charset="0"/>
                        </a:rPr>
                        <m:t> </m:t>
                      </m:r>
                      <m:r>
                        <a:rPr lang="en-US" sz="1200" b="0" i="1" smtClean="0">
                          <a:solidFill>
                            <a:srgbClr val="C00000"/>
                          </a:solidFill>
                          <a:latin typeface="Cambria Math" panose="02040503050406030204" pitchFamily="18" charset="0"/>
                        </a:rPr>
                        <m:t>𝑝𝑎𝑖𝑟</m:t>
                      </m:r>
                    </m:oMath>
                  </m:oMathPara>
                </a14:m>
                <a:endParaRPr lang="en-US" sz="1200" b="0" i="1" dirty="0">
                  <a:solidFill>
                    <a:srgbClr val="C00000"/>
                  </a:solidFill>
                  <a:latin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82768198-C4D4-7833-9322-E219614A10DD}"/>
                  </a:ext>
                </a:extLst>
              </p:cNvPr>
              <p:cNvSpPr txBox="1">
                <a:spLocks noRot="1" noChangeAspect="1" noMove="1" noResize="1" noEditPoints="1" noAdjustHandles="1" noChangeArrowheads="1" noChangeShapeType="1" noTextEdit="1"/>
              </p:cNvSpPr>
              <p:nvPr/>
            </p:nvSpPr>
            <p:spPr>
              <a:xfrm>
                <a:off x="2106912" y="2751497"/>
                <a:ext cx="5532573" cy="276999"/>
              </a:xfrm>
              <a:prstGeom prst="rect">
                <a:avLst/>
              </a:prstGeom>
              <a:blipFill>
                <a:blip r:embed="rId5"/>
                <a:stretch>
                  <a:fillRect b="-8696"/>
                </a:stretch>
              </a:blipFill>
            </p:spPr>
            <p:txBody>
              <a:bodyPr/>
              <a:lstStyle/>
              <a:p>
                <a:r>
                  <a:rPr lang="en-US">
                    <a:noFill/>
                  </a:rPr>
                  <a:t> </a:t>
                </a:r>
              </a:p>
            </p:txBody>
          </p:sp>
        </mc:Fallback>
      </mc:AlternateContent>
      <p:pic>
        <p:nvPicPr>
          <p:cNvPr id="23" name="Picture 22" descr="A group of math equations&#10;&#10;AI-generated content may be incorrect.">
            <a:extLst>
              <a:ext uri="{FF2B5EF4-FFF2-40B4-BE49-F238E27FC236}">
                <a16:creationId xmlns:a16="http://schemas.microsoft.com/office/drawing/2014/main" id="{4321BC6F-F4A4-3EF1-DCDC-0553DF80B26D}"/>
              </a:ext>
            </a:extLst>
          </p:cNvPr>
          <p:cNvPicPr>
            <a:picLocks noChangeAspect="1"/>
          </p:cNvPicPr>
          <p:nvPr/>
        </p:nvPicPr>
        <p:blipFill>
          <a:blip r:embed="rId4">
            <a:extLst>
              <a:ext uri="{28A0092B-C50C-407E-A947-70E740481C1C}">
                <a14:useLocalDpi xmlns:a14="http://schemas.microsoft.com/office/drawing/2010/main" val="0"/>
              </a:ext>
            </a:extLst>
          </a:blip>
          <a:srcRect l="67129" t="35591" r="3668" b="30858"/>
          <a:stretch>
            <a:fillRect/>
          </a:stretch>
        </p:blipFill>
        <p:spPr>
          <a:xfrm>
            <a:off x="3282953" y="4311757"/>
            <a:ext cx="1454336" cy="902737"/>
          </a:xfrm>
          <a:prstGeom prst="rect">
            <a:avLst/>
          </a:prstGeom>
        </p:spPr>
      </p:pic>
      <p:pic>
        <p:nvPicPr>
          <p:cNvPr id="24" name="Picture 23" descr="A group of math equations&#10;&#10;AI-generated content may be incorrect.">
            <a:extLst>
              <a:ext uri="{FF2B5EF4-FFF2-40B4-BE49-F238E27FC236}">
                <a16:creationId xmlns:a16="http://schemas.microsoft.com/office/drawing/2014/main" id="{3702DABC-9097-B6F5-EAA8-435118C4CF25}"/>
              </a:ext>
            </a:extLst>
          </p:cNvPr>
          <p:cNvPicPr>
            <a:picLocks noChangeAspect="1"/>
          </p:cNvPicPr>
          <p:nvPr/>
        </p:nvPicPr>
        <p:blipFill>
          <a:blip r:embed="rId4">
            <a:extLst>
              <a:ext uri="{28A0092B-C50C-407E-A947-70E740481C1C}">
                <a14:useLocalDpi xmlns:a14="http://schemas.microsoft.com/office/drawing/2010/main" val="0"/>
              </a:ext>
            </a:extLst>
          </a:blip>
          <a:srcRect l="33226" t="35591" r="38309" b="33387"/>
          <a:stretch>
            <a:fillRect/>
          </a:stretch>
        </p:blipFill>
        <p:spPr>
          <a:xfrm>
            <a:off x="3352701" y="3110382"/>
            <a:ext cx="1251857" cy="737117"/>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BFD0425-EDD5-C3C2-78FC-4616E957213B}"/>
                  </a:ext>
                </a:extLst>
              </p:cNvPr>
              <p:cNvSpPr txBox="1"/>
              <p:nvPr/>
            </p:nvSpPr>
            <p:spPr>
              <a:xfrm>
                <a:off x="1611878" y="6312879"/>
                <a:ext cx="6259284"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𝑆𝑝𝑙𝑖𝑡</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𝑖𝑛𝑡𝑒𝑟𝑣𝑎𝑙</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𝑖𝑛𝑡𝑜</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𝑡𝑤𝑜</m:t>
                      </m:r>
                    </m:oMath>
                  </m:oMathPara>
                </a14:m>
                <a:endParaRPr lang="en-US" sz="1200" dirty="0"/>
              </a:p>
            </p:txBody>
          </p:sp>
        </mc:Choice>
        <mc:Fallback xmlns="">
          <p:sp>
            <p:nvSpPr>
              <p:cNvPr id="26" name="TextBox 25">
                <a:extLst>
                  <a:ext uri="{FF2B5EF4-FFF2-40B4-BE49-F238E27FC236}">
                    <a16:creationId xmlns:a16="http://schemas.microsoft.com/office/drawing/2014/main" id="{3BFD0425-EDD5-C3C2-78FC-4616E957213B}"/>
                  </a:ext>
                </a:extLst>
              </p:cNvPr>
              <p:cNvSpPr txBox="1">
                <a:spLocks noRot="1" noChangeAspect="1" noMove="1" noResize="1" noEditPoints="1" noAdjustHandles="1" noChangeArrowheads="1" noChangeShapeType="1" noTextEdit="1"/>
              </p:cNvSpPr>
              <p:nvPr/>
            </p:nvSpPr>
            <p:spPr>
              <a:xfrm>
                <a:off x="1611878" y="6312879"/>
                <a:ext cx="6259284" cy="276999"/>
              </a:xfrm>
              <a:prstGeom prst="rect">
                <a:avLst/>
              </a:prstGeom>
              <a:blipFill>
                <a:blip r:embed="rId6"/>
                <a:stretch>
                  <a:fillRect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206C93B-4321-2588-FB26-FC6D0CFB0F26}"/>
                  </a:ext>
                </a:extLst>
              </p:cNvPr>
              <p:cNvSpPr txBox="1"/>
              <p:nvPr/>
            </p:nvSpPr>
            <p:spPr>
              <a:xfrm>
                <a:off x="3615748" y="5020440"/>
                <a:ext cx="27205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brk m:alnAt="7"/>
                        </m:rPr>
                        <a:rPr lang="en-US" sz="1200" b="0" i="1" smtClean="0">
                          <a:solidFill>
                            <a:schemeClr val="tx1"/>
                          </a:solidFill>
                          <a:latin typeface="Cambria Math" panose="02040503050406030204" pitchFamily="18" charset="0"/>
                        </a:rPr>
                        <m:t>𝑗</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𝑖𝑠</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𝑢𝑛𝑝𝑎𝑖𝑟𝑒𝑑</m:t>
                      </m:r>
                    </m:oMath>
                  </m:oMathPara>
                </a14:m>
                <a:endParaRPr lang="en-US" sz="12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𝑎𝑑𝑑𝑒𝑑</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𝑡𝑜</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𝑡h𝑒</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𝑠𝑡𝑟𝑢𝑐𝑡𝑢𝑟𝑒</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𝑓𝑜𝑟</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𝑖</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𝑗</m:t>
                      </m:r>
                      <m:r>
                        <a:rPr lang="en-US" sz="1200" b="0" i="1" smtClean="0">
                          <a:solidFill>
                            <a:schemeClr val="tx1"/>
                          </a:solidFill>
                          <a:latin typeface="Cambria Math" panose="02040503050406030204" pitchFamily="18" charset="0"/>
                        </a:rPr>
                        <m:t>−1</m:t>
                      </m:r>
                    </m:oMath>
                  </m:oMathPara>
                </a14:m>
                <a:endParaRPr lang="en-US" sz="1200" dirty="0"/>
              </a:p>
            </p:txBody>
          </p:sp>
        </mc:Choice>
        <mc:Fallback xmlns="">
          <p:sp>
            <p:nvSpPr>
              <p:cNvPr id="28" name="TextBox 27">
                <a:extLst>
                  <a:ext uri="{FF2B5EF4-FFF2-40B4-BE49-F238E27FC236}">
                    <a16:creationId xmlns:a16="http://schemas.microsoft.com/office/drawing/2014/main" id="{4206C93B-4321-2588-FB26-FC6D0CFB0F26}"/>
                  </a:ext>
                </a:extLst>
              </p:cNvPr>
              <p:cNvSpPr txBox="1">
                <a:spLocks noRot="1" noChangeAspect="1" noMove="1" noResize="1" noEditPoints="1" noAdjustHandles="1" noChangeArrowheads="1" noChangeShapeType="1" noTextEdit="1"/>
              </p:cNvSpPr>
              <p:nvPr/>
            </p:nvSpPr>
            <p:spPr>
              <a:xfrm>
                <a:off x="3615748" y="5020440"/>
                <a:ext cx="2720506" cy="461665"/>
              </a:xfrm>
              <a:prstGeom prst="rect">
                <a:avLst/>
              </a:prstGeom>
              <a:blipFill>
                <a:blip r:embed="rId7"/>
                <a:stretch>
                  <a:fillRect b="-54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847130F-9C2C-929A-87D8-C314E89BAED4}"/>
                  </a:ext>
                </a:extLst>
              </p:cNvPr>
              <p:cNvSpPr txBox="1"/>
              <p:nvPr/>
            </p:nvSpPr>
            <p:spPr>
              <a:xfrm>
                <a:off x="1757535" y="3727699"/>
                <a:ext cx="6096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𝑖</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𝑖𝑠</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𝑢𝑛𝑝𝑎𝑖𝑟𝑒𝑑</m:t>
                      </m:r>
                    </m:oMath>
                  </m:oMathPara>
                </a14:m>
                <a:endParaRPr lang="en-US" sz="12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𝑎𝑑𝑑𝑒𝑑</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𝑡𝑜</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𝑡h𝑒</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𝑠𝑡𝑟𝑢𝑐𝑡𝑢𝑟𝑒</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𝑖</m:t>
                      </m:r>
                      <m:r>
                        <a:rPr lang="en-US" sz="1200" b="0" i="1" smtClean="0">
                          <a:solidFill>
                            <a:schemeClr val="tx1"/>
                          </a:solidFill>
                          <a:latin typeface="Cambria Math" panose="02040503050406030204" pitchFamily="18" charset="0"/>
                        </a:rPr>
                        <m:t>+1…</m:t>
                      </m:r>
                      <m:r>
                        <a:rPr lang="en-US" sz="1200" b="0" i="1" smtClean="0">
                          <a:solidFill>
                            <a:schemeClr val="tx1"/>
                          </a:solidFill>
                          <a:latin typeface="Cambria Math" panose="02040503050406030204" pitchFamily="18" charset="0"/>
                        </a:rPr>
                        <m:t>𝑗</m:t>
                      </m:r>
                    </m:oMath>
                  </m:oMathPara>
                </a14:m>
                <a:endParaRPr lang="en-US" sz="1200" dirty="0"/>
              </a:p>
            </p:txBody>
          </p:sp>
        </mc:Choice>
        <mc:Fallback xmlns="">
          <p:sp>
            <p:nvSpPr>
              <p:cNvPr id="30" name="TextBox 29">
                <a:extLst>
                  <a:ext uri="{FF2B5EF4-FFF2-40B4-BE49-F238E27FC236}">
                    <a16:creationId xmlns:a16="http://schemas.microsoft.com/office/drawing/2014/main" id="{E847130F-9C2C-929A-87D8-C314E89BAED4}"/>
                  </a:ext>
                </a:extLst>
              </p:cNvPr>
              <p:cNvSpPr txBox="1">
                <a:spLocks noRot="1" noChangeAspect="1" noMove="1" noResize="1" noEditPoints="1" noAdjustHandles="1" noChangeArrowheads="1" noChangeShapeType="1" noTextEdit="1"/>
              </p:cNvSpPr>
              <p:nvPr/>
            </p:nvSpPr>
            <p:spPr>
              <a:xfrm>
                <a:off x="1757535" y="3727699"/>
                <a:ext cx="6096000" cy="461665"/>
              </a:xfrm>
              <a:prstGeom prst="rect">
                <a:avLst/>
              </a:prstGeom>
              <a:blipFill>
                <a:blip r:embed="rId8"/>
                <a:stretch>
                  <a:fillRect b="-8108"/>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8C043257-BB79-B376-DFBF-41C57BF204B6}"/>
              </a:ext>
            </a:extLst>
          </p:cNvPr>
          <p:cNvCxnSpPr>
            <a:cxnSpLocks/>
          </p:cNvCxnSpPr>
          <p:nvPr/>
        </p:nvCxnSpPr>
        <p:spPr>
          <a:xfrm>
            <a:off x="4694100" y="1756673"/>
            <a:ext cx="1" cy="2827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927754F-551E-31A7-9034-A08C6D9363D8}"/>
                  </a:ext>
                </a:extLst>
              </p:cNvPr>
              <p:cNvSpPr txBox="1"/>
              <p:nvPr/>
            </p:nvSpPr>
            <p:spPr>
              <a:xfrm>
                <a:off x="4951819" y="2284231"/>
                <a:ext cx="107759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𝐸</m:t>
                          </m:r>
                        </m:e>
                        <m:sup>
                          <m:r>
                            <a:rPr lang="en-US" b="0" i="1" smtClean="0">
                              <a:latin typeface="Cambria Math" panose="02040503050406030204" pitchFamily="18" charset="0"/>
                            </a:rPr>
                            <m:t>𝑃</m:t>
                          </m:r>
                        </m:sup>
                      </m:s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m:oMathPara>
                </a14:m>
                <a:endParaRPr lang="en-US" dirty="0"/>
              </a:p>
            </p:txBody>
          </p:sp>
        </mc:Choice>
        <mc:Fallback xmlns="">
          <p:sp>
            <p:nvSpPr>
              <p:cNvPr id="33" name="TextBox 32">
                <a:extLst>
                  <a:ext uri="{FF2B5EF4-FFF2-40B4-BE49-F238E27FC236}">
                    <a16:creationId xmlns:a16="http://schemas.microsoft.com/office/drawing/2014/main" id="{D927754F-551E-31A7-9034-A08C6D9363D8}"/>
                  </a:ext>
                </a:extLst>
              </p:cNvPr>
              <p:cNvSpPr txBox="1">
                <a:spLocks noRot="1" noChangeAspect="1" noMove="1" noResize="1" noEditPoints="1" noAdjustHandles="1" noChangeArrowheads="1" noChangeShapeType="1" noTextEdit="1"/>
              </p:cNvSpPr>
              <p:nvPr/>
            </p:nvSpPr>
            <p:spPr>
              <a:xfrm>
                <a:off x="4951819" y="2284231"/>
                <a:ext cx="1077596" cy="369332"/>
              </a:xfrm>
              <a:prstGeom prst="rect">
                <a:avLst/>
              </a:prstGeom>
              <a:blipFill>
                <a:blip r:embed="rId9"/>
                <a:stretch>
                  <a:fillRect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1E47FBA-9B37-B3C8-B9DD-5F9F95C88A8D}"/>
                  </a:ext>
                </a:extLst>
              </p:cNvPr>
              <p:cNvSpPr txBox="1"/>
              <p:nvPr/>
            </p:nvSpPr>
            <p:spPr>
              <a:xfrm>
                <a:off x="2474915" y="3396336"/>
                <a:ext cx="6096000" cy="3724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𝐸</m:t>
                          </m:r>
                        </m:e>
                        <m:sup>
                          <m:r>
                            <a:rPr lang="en-US" b="0" i="1" smtClean="0">
                              <a:latin typeface="Cambria Math" panose="02040503050406030204" pitchFamily="18" charset="0"/>
                            </a:rPr>
                            <m:t>5′</m:t>
                          </m:r>
                        </m:sup>
                      </m:s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m:oMathPara>
                </a14:m>
                <a:endParaRPr lang="en-US" dirty="0"/>
              </a:p>
            </p:txBody>
          </p:sp>
        </mc:Choice>
        <mc:Fallback xmlns="">
          <p:sp>
            <p:nvSpPr>
              <p:cNvPr id="35" name="TextBox 34">
                <a:extLst>
                  <a:ext uri="{FF2B5EF4-FFF2-40B4-BE49-F238E27FC236}">
                    <a16:creationId xmlns:a16="http://schemas.microsoft.com/office/drawing/2014/main" id="{11E47FBA-9B37-B3C8-B9DD-5F9F95C88A8D}"/>
                  </a:ext>
                </a:extLst>
              </p:cNvPr>
              <p:cNvSpPr txBox="1">
                <a:spLocks noRot="1" noChangeAspect="1" noMove="1" noResize="1" noEditPoints="1" noAdjustHandles="1" noChangeArrowheads="1" noChangeShapeType="1" noTextEdit="1"/>
              </p:cNvSpPr>
              <p:nvPr/>
            </p:nvSpPr>
            <p:spPr>
              <a:xfrm>
                <a:off x="2474915" y="3396336"/>
                <a:ext cx="6096000" cy="372410"/>
              </a:xfrm>
              <a:prstGeom prst="rect">
                <a:avLst/>
              </a:prstGeom>
              <a:blipFill>
                <a:blip r:embed="rId10"/>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46DD734-1B18-6E8B-2F93-052554960E7C}"/>
                  </a:ext>
                </a:extLst>
              </p:cNvPr>
              <p:cNvSpPr txBox="1"/>
              <p:nvPr/>
            </p:nvSpPr>
            <p:spPr>
              <a:xfrm>
                <a:off x="2474915" y="4561698"/>
                <a:ext cx="6096000" cy="3724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𝐸</m:t>
                          </m:r>
                        </m:e>
                        <m:sup>
                          <m:r>
                            <a:rPr lang="en-US" b="0" i="1" smtClean="0">
                              <a:latin typeface="Cambria Math" panose="02040503050406030204" pitchFamily="18" charset="0"/>
                            </a:rPr>
                            <m:t>3′</m:t>
                          </m:r>
                        </m:sup>
                      </m:s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m:oMathPara>
                </a14:m>
                <a:endParaRPr lang="en-US" dirty="0"/>
              </a:p>
            </p:txBody>
          </p:sp>
        </mc:Choice>
        <mc:Fallback xmlns="">
          <p:sp>
            <p:nvSpPr>
              <p:cNvPr id="36" name="TextBox 35">
                <a:extLst>
                  <a:ext uri="{FF2B5EF4-FFF2-40B4-BE49-F238E27FC236}">
                    <a16:creationId xmlns:a16="http://schemas.microsoft.com/office/drawing/2014/main" id="{546DD734-1B18-6E8B-2F93-052554960E7C}"/>
                  </a:ext>
                </a:extLst>
              </p:cNvPr>
              <p:cNvSpPr txBox="1">
                <a:spLocks noRot="1" noChangeAspect="1" noMove="1" noResize="1" noEditPoints="1" noAdjustHandles="1" noChangeArrowheads="1" noChangeShapeType="1" noTextEdit="1"/>
              </p:cNvSpPr>
              <p:nvPr/>
            </p:nvSpPr>
            <p:spPr>
              <a:xfrm>
                <a:off x="2474915" y="4561698"/>
                <a:ext cx="6096000" cy="372410"/>
              </a:xfrm>
              <a:prstGeom prst="rect">
                <a:avLst/>
              </a:prstGeom>
              <a:blipFill>
                <a:blip r:embed="rId11"/>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8022B8A-FB6F-4E53-10A8-011DB111371F}"/>
                  </a:ext>
                </a:extLst>
              </p:cNvPr>
              <p:cNvSpPr txBox="1"/>
              <p:nvPr/>
            </p:nvSpPr>
            <p:spPr>
              <a:xfrm>
                <a:off x="5197787" y="5722566"/>
                <a:ext cx="1589410" cy="3782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𝐸</m:t>
                          </m:r>
                        </m:e>
                        <m:sup>
                          <m:r>
                            <a:rPr lang="en-US" b="0" i="1" smtClean="0">
                              <a:latin typeface="Cambria Math" panose="02040503050406030204" pitchFamily="18" charset="0"/>
                            </a:rPr>
                            <m:t>𝑠𝑝𝑙𝑖𝑡</m:t>
                          </m:r>
                        </m:sup>
                      </m:s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m:oMathPara>
                </a14:m>
                <a:endParaRPr lang="en-US" dirty="0"/>
              </a:p>
            </p:txBody>
          </p:sp>
        </mc:Choice>
        <mc:Fallback xmlns="">
          <p:sp>
            <p:nvSpPr>
              <p:cNvPr id="37" name="TextBox 36">
                <a:extLst>
                  <a:ext uri="{FF2B5EF4-FFF2-40B4-BE49-F238E27FC236}">
                    <a16:creationId xmlns:a16="http://schemas.microsoft.com/office/drawing/2014/main" id="{D8022B8A-FB6F-4E53-10A8-011DB111371F}"/>
                  </a:ext>
                </a:extLst>
              </p:cNvPr>
              <p:cNvSpPr txBox="1">
                <a:spLocks noRot="1" noChangeAspect="1" noMove="1" noResize="1" noEditPoints="1" noAdjustHandles="1" noChangeArrowheads="1" noChangeShapeType="1" noTextEdit="1"/>
              </p:cNvSpPr>
              <p:nvPr/>
            </p:nvSpPr>
            <p:spPr>
              <a:xfrm>
                <a:off x="5197787" y="5722566"/>
                <a:ext cx="1589410" cy="378245"/>
              </a:xfrm>
              <a:prstGeom prst="rect">
                <a:avLst/>
              </a:prstGeom>
              <a:blipFill>
                <a:blip r:embed="rId12"/>
                <a:stretch>
                  <a:fillRect b="-12903"/>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AAFABEFC-3143-3005-FB4A-2ED34F115D6B}"/>
              </a:ext>
            </a:extLst>
          </p:cNvPr>
          <p:cNvSpPr/>
          <p:nvPr/>
        </p:nvSpPr>
        <p:spPr>
          <a:xfrm>
            <a:off x="3158293" y="2024500"/>
            <a:ext cx="3412313" cy="995936"/>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06C437C-415D-0EBA-F44F-4A2D244AE24E}"/>
              </a:ext>
            </a:extLst>
          </p:cNvPr>
          <p:cNvSpPr/>
          <p:nvPr/>
        </p:nvSpPr>
        <p:spPr>
          <a:xfrm>
            <a:off x="3158293" y="3195217"/>
            <a:ext cx="3412313" cy="1052839"/>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1D57A0B-E0E4-1CA2-A7DC-FFC27C20637D}"/>
              </a:ext>
            </a:extLst>
          </p:cNvPr>
          <p:cNvSpPr/>
          <p:nvPr/>
        </p:nvSpPr>
        <p:spPr>
          <a:xfrm>
            <a:off x="3158292" y="4377986"/>
            <a:ext cx="3411475" cy="1109701"/>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DBD1878-EF30-0574-CF33-8E8EBE7AE16F}"/>
              </a:ext>
            </a:extLst>
          </p:cNvPr>
          <p:cNvSpPr/>
          <p:nvPr/>
        </p:nvSpPr>
        <p:spPr>
          <a:xfrm>
            <a:off x="3157454" y="5526698"/>
            <a:ext cx="3412313" cy="1052839"/>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AEBEEB9B-0165-D553-19BF-70B79D654A28}"/>
              </a:ext>
            </a:extLst>
          </p:cNvPr>
          <p:cNvCxnSpPr>
            <a:cxnSpLocks/>
          </p:cNvCxnSpPr>
          <p:nvPr/>
        </p:nvCxnSpPr>
        <p:spPr>
          <a:xfrm flipV="1">
            <a:off x="6695266" y="2506532"/>
            <a:ext cx="1268951" cy="159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198893A8-0B36-FC50-E415-F2E696D89E8D}"/>
              </a:ext>
            </a:extLst>
          </p:cNvPr>
          <p:cNvSpPr txBox="1"/>
          <p:nvPr/>
        </p:nvSpPr>
        <p:spPr>
          <a:xfrm>
            <a:off x="8088877" y="1756673"/>
            <a:ext cx="3523828" cy="1631216"/>
          </a:xfrm>
          <a:prstGeom prst="rect">
            <a:avLst/>
          </a:prstGeom>
          <a:noFill/>
        </p:spPr>
        <p:txBody>
          <a:bodyPr wrap="square" rtlCol="0">
            <a:spAutoFit/>
          </a:bodyPr>
          <a:lstStyle/>
          <a:p>
            <a:pPr algn="ctr"/>
            <a:r>
              <a:rPr lang="en-US" sz="2000" i="1" dirty="0"/>
              <a:t>Can be (</a:t>
            </a:r>
            <a:r>
              <a:rPr lang="en-US" sz="2000" i="1" dirty="0" err="1"/>
              <a:t>i,j</a:t>
            </a:r>
            <a:r>
              <a:rPr lang="en-US" sz="2000" i="1" dirty="0"/>
              <a:t>) closing a</a:t>
            </a:r>
          </a:p>
          <a:p>
            <a:pPr marL="342900" indent="-342900">
              <a:buFont typeface="Arial" panose="020B0604020202020204" pitchFamily="34" charset="0"/>
              <a:buChar char="•"/>
            </a:pPr>
            <a:r>
              <a:rPr lang="en-US" sz="2000" dirty="0"/>
              <a:t>Hairpin loop</a:t>
            </a:r>
          </a:p>
          <a:p>
            <a:pPr marL="342900" indent="-342900">
              <a:buFont typeface="Arial" panose="020B0604020202020204" pitchFamily="34" charset="0"/>
              <a:buChar char="•"/>
            </a:pPr>
            <a:r>
              <a:rPr lang="en-US" sz="2000" dirty="0"/>
              <a:t>Stacked base pair</a:t>
            </a:r>
          </a:p>
          <a:p>
            <a:pPr marL="342900" indent="-342900">
              <a:buFont typeface="Arial" panose="020B0604020202020204" pitchFamily="34" charset="0"/>
              <a:buChar char="•"/>
            </a:pPr>
            <a:r>
              <a:rPr lang="en-US" sz="2000" dirty="0"/>
              <a:t>Internal or bulge loop</a:t>
            </a:r>
          </a:p>
          <a:p>
            <a:pPr marL="342900" indent="-342900">
              <a:buFont typeface="Arial" panose="020B0604020202020204" pitchFamily="34" charset="0"/>
              <a:buChar char="•"/>
            </a:pPr>
            <a:r>
              <a:rPr lang="en-US" sz="2000" dirty="0"/>
              <a:t>Multibranch loop</a:t>
            </a:r>
          </a:p>
        </p:txBody>
      </p:sp>
    </p:spTree>
    <p:extLst>
      <p:ext uri="{BB962C8B-B14F-4D97-AF65-F5344CB8AC3E}">
        <p14:creationId xmlns:p14="http://schemas.microsoft.com/office/powerpoint/2010/main" val="1727409642"/>
      </p:ext>
    </p:extLst>
  </p:cSld>
  <p:clrMapOvr>
    <a:masterClrMapping/>
  </p:clrMapOvr>
  <mc:AlternateContent xmlns:mc="http://schemas.openxmlformats.org/markup-compatibility/2006" xmlns:p14="http://schemas.microsoft.com/office/powerpoint/2010/main">
    <mc:Choice Requires="p14">
      <p:transition spd="slow" p14:dur="2000" advTm="46284"/>
    </mc:Choice>
    <mc:Fallback xmlns="">
      <p:transition spd="slow" advTm="46284"/>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E1AC2-0ED1-4A00-EE51-1EF6D9B6A9C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DD947C-1682-0379-AC22-A58CFE42421E}"/>
              </a:ext>
            </a:extLst>
          </p:cNvPr>
          <p:cNvSpPr>
            <a:spLocks noGrp="1"/>
          </p:cNvSpPr>
          <p:nvPr>
            <p:ph type="sldNum" sz="quarter" idx="12"/>
          </p:nvPr>
        </p:nvSpPr>
        <p:spPr/>
        <p:txBody>
          <a:bodyPr/>
          <a:lstStyle/>
          <a:p>
            <a:r>
              <a:rPr lang="en-IN" dirty="0"/>
              <a:t>10</a:t>
            </a:r>
          </a:p>
        </p:txBody>
      </p:sp>
      <p:sp>
        <p:nvSpPr>
          <p:cNvPr id="5" name="TextBox 4">
            <a:extLst>
              <a:ext uri="{FF2B5EF4-FFF2-40B4-BE49-F238E27FC236}">
                <a16:creationId xmlns:a16="http://schemas.microsoft.com/office/drawing/2014/main" id="{E700EA06-A05C-4F0F-1BA4-1A97B664D634}"/>
              </a:ext>
            </a:extLst>
          </p:cNvPr>
          <p:cNvSpPr txBox="1"/>
          <p:nvPr/>
        </p:nvSpPr>
        <p:spPr>
          <a:xfrm>
            <a:off x="800100" y="399751"/>
            <a:ext cx="10910297" cy="584775"/>
          </a:xfrm>
          <a:prstGeom prst="rect">
            <a:avLst/>
          </a:prstGeom>
          <a:noFill/>
        </p:spPr>
        <p:txBody>
          <a:bodyPr wrap="square" rtlCol="0">
            <a:spAutoFit/>
          </a:bodyPr>
          <a:lstStyle/>
          <a:p>
            <a:pPr algn="ctr"/>
            <a:r>
              <a:rPr lang="en-US" sz="3200" b="1" dirty="0">
                <a:solidFill>
                  <a:srgbClr val="C00000"/>
                </a:solidFill>
              </a:rPr>
              <a:t>Completing MFE prediction</a:t>
            </a:r>
          </a:p>
        </p:txBody>
      </p:sp>
      <p:sp>
        <p:nvSpPr>
          <p:cNvPr id="6" name="Rectangle 5">
            <a:extLst>
              <a:ext uri="{FF2B5EF4-FFF2-40B4-BE49-F238E27FC236}">
                <a16:creationId xmlns:a16="http://schemas.microsoft.com/office/drawing/2014/main" id="{8CCBF7CA-0574-C05D-4701-B906232B5DFF}"/>
              </a:ext>
            </a:extLst>
          </p:cNvPr>
          <p:cNvSpPr/>
          <p:nvPr/>
        </p:nvSpPr>
        <p:spPr>
          <a:xfrm>
            <a:off x="141890" y="157655"/>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TextBox 11">
            <a:extLst>
              <a:ext uri="{FF2B5EF4-FFF2-40B4-BE49-F238E27FC236}">
                <a16:creationId xmlns:a16="http://schemas.microsoft.com/office/drawing/2014/main" id="{15C98257-6451-ADB4-8705-E4B7BE9F70B9}"/>
              </a:ext>
            </a:extLst>
          </p:cNvPr>
          <p:cNvSpPr txBox="1"/>
          <p:nvPr/>
        </p:nvSpPr>
        <p:spPr>
          <a:xfrm>
            <a:off x="447248" y="921477"/>
            <a:ext cx="10760524" cy="5536772"/>
          </a:xfrm>
          <a:prstGeom prst="rect">
            <a:avLst/>
          </a:prstGeom>
          <a:noFill/>
        </p:spPr>
        <p:txBody>
          <a:bodyPr wrap="square" rtlCol="0">
            <a:spAutoFit/>
          </a:bodyPr>
          <a:lstStyle/>
          <a:p>
            <a:pPr marL="514350" indent="-514350">
              <a:lnSpc>
                <a:spcPct val="200000"/>
              </a:lnSpc>
              <a:buFont typeface="+mj-lt"/>
              <a:buAutoNum type="romanUcPeriod"/>
            </a:pPr>
            <a:r>
              <a:rPr lang="en-US" sz="2000" b="1" dirty="0"/>
              <a:t>Fill the Dynamic Programming table (Bottom-up)</a:t>
            </a:r>
          </a:p>
          <a:p>
            <a:pPr marL="971550" lvl="1" indent="-514350">
              <a:lnSpc>
                <a:spcPct val="200000"/>
              </a:lnSpc>
              <a:buFont typeface="Arial" panose="020B0604020202020204" pitchFamily="34" charset="0"/>
              <a:buChar char="•"/>
            </a:pPr>
            <a:r>
              <a:rPr lang="en-US" altLang="en-US" sz="2000" dirty="0">
                <a:solidFill>
                  <a:srgbClr val="000000"/>
                </a:solidFill>
                <a:latin typeface="-webkit-standard"/>
              </a:rPr>
              <a:t>Compute </a:t>
            </a:r>
            <a:r>
              <a:rPr lang="en-US" altLang="en-US" sz="2000" dirty="0">
                <a:solidFill>
                  <a:srgbClr val="000000"/>
                </a:solidFill>
              </a:rPr>
              <a:t>E(</a:t>
            </a:r>
            <a:r>
              <a:rPr lang="en-US" altLang="en-US" sz="2000" dirty="0" err="1">
                <a:solidFill>
                  <a:srgbClr val="000000"/>
                </a:solidFill>
              </a:rPr>
              <a:t>i,j</a:t>
            </a:r>
            <a:r>
              <a:rPr lang="en-US" altLang="en-US" sz="2000" dirty="0">
                <a:solidFill>
                  <a:srgbClr val="000000"/>
                </a:solidFill>
              </a:rPr>
              <a:t>)</a:t>
            </a:r>
            <a:r>
              <a:rPr lang="en-US" altLang="en-US" sz="2000" dirty="0">
                <a:solidFill>
                  <a:srgbClr val="000000"/>
                </a:solidFill>
                <a:latin typeface="Arial" panose="020B0604020202020204" pitchFamily="34" charset="0"/>
              </a:rPr>
              <a:t>: </a:t>
            </a:r>
            <a:r>
              <a:rPr lang="en-US" altLang="en-US" sz="2000" dirty="0">
                <a:solidFill>
                  <a:srgbClr val="000000"/>
                </a:solidFill>
                <a:latin typeface="-webkit-standard"/>
              </a:rPr>
              <a:t>the </a:t>
            </a:r>
            <a:r>
              <a:rPr lang="en-US" altLang="en-US" sz="2000" dirty="0">
                <a:solidFill>
                  <a:srgbClr val="000000"/>
                </a:solidFill>
              </a:rPr>
              <a:t>minimum free energy</a:t>
            </a:r>
            <a:r>
              <a:rPr lang="en-US" altLang="en-US" sz="2000" dirty="0">
                <a:solidFill>
                  <a:srgbClr val="000000"/>
                </a:solidFill>
                <a:latin typeface="-webkit-standard"/>
              </a:rPr>
              <a:t> for every subsequence </a:t>
            </a:r>
            <a:r>
              <a:rPr lang="en-US" altLang="en-US" sz="2000" dirty="0" err="1">
                <a:solidFill>
                  <a:srgbClr val="000000"/>
                </a:solidFill>
              </a:rPr>
              <a:t>i</a:t>
            </a:r>
            <a:r>
              <a:rPr lang="en-US" altLang="en-US" sz="2000" dirty="0">
                <a:solidFill>
                  <a:srgbClr val="000000"/>
                </a:solidFill>
              </a:rPr>
              <a:t>…j</a:t>
            </a:r>
            <a:r>
              <a:rPr lang="en-US" altLang="en-US" sz="2000" dirty="0">
                <a:solidFill>
                  <a:srgbClr val="000000"/>
                </a:solidFill>
                <a:latin typeface="Arial" panose="020B0604020202020204" pitchFamily="34" charset="0"/>
              </a:rPr>
              <a:t>i…j</a:t>
            </a:r>
            <a:r>
              <a:rPr lang="en-US" altLang="en-US" sz="2000" dirty="0">
                <a:solidFill>
                  <a:srgbClr val="000000"/>
                </a:solidFill>
                <a:latin typeface="-webkit-standard"/>
              </a:rPr>
              <a:t>,</a:t>
            </a:r>
            <a:br>
              <a:rPr lang="en-US" altLang="en-US" sz="2000" dirty="0"/>
            </a:br>
            <a:r>
              <a:rPr lang="en-US" altLang="en-US" sz="2000" dirty="0">
                <a:solidFill>
                  <a:srgbClr val="000000"/>
                </a:solidFill>
                <a:latin typeface="-webkit-standard"/>
              </a:rPr>
              <a:t>from short intervals to longer ones.</a:t>
            </a:r>
            <a:endParaRPr lang="en-US" altLang="en-US" sz="2000" dirty="0">
              <a:latin typeface="Arial" panose="020B0604020202020204" pitchFamily="34" charset="0"/>
            </a:endParaRPr>
          </a:p>
          <a:p>
            <a:pPr marL="514350" lvl="0" indent="-514350" eaLnBrk="0" fontAlgn="base" hangingPunct="0">
              <a:lnSpc>
                <a:spcPct val="200000"/>
              </a:lnSpc>
              <a:spcBef>
                <a:spcPct val="0"/>
              </a:spcBef>
              <a:spcAft>
                <a:spcPct val="0"/>
              </a:spcAft>
              <a:buFont typeface="+mj-lt"/>
              <a:buAutoNum type="romanUcPeriod"/>
            </a:pPr>
            <a:r>
              <a:rPr lang="en-US" altLang="en-US" sz="2000" b="1" dirty="0">
                <a:solidFill>
                  <a:srgbClr val="000000"/>
                </a:solidFill>
                <a:latin typeface="Arial" panose="020B0604020202020204" pitchFamily="34" charset="0"/>
              </a:rPr>
              <a:t>Store the optimal decision at each cell</a:t>
            </a:r>
          </a:p>
          <a:p>
            <a:pPr lvl="1" eaLnBrk="0" fontAlgn="base" hangingPunct="0">
              <a:lnSpc>
                <a:spcPct val="200000"/>
              </a:lnSpc>
              <a:spcBef>
                <a:spcPct val="0"/>
              </a:spcBef>
              <a:spcAft>
                <a:spcPct val="0"/>
              </a:spcAft>
            </a:pPr>
            <a:r>
              <a:rPr lang="en-US" altLang="en-US" sz="2000" dirty="0">
                <a:solidFill>
                  <a:srgbClr val="000000"/>
                </a:solidFill>
                <a:latin typeface="Arial" panose="020B0604020202020204" pitchFamily="34" charset="0"/>
              </a:rPr>
              <a:t>For each (</a:t>
            </a:r>
            <a:r>
              <a:rPr lang="en-US" altLang="en-US" sz="2000" dirty="0" err="1">
                <a:solidFill>
                  <a:srgbClr val="000000"/>
                </a:solidFill>
                <a:latin typeface="Arial" panose="020B0604020202020204" pitchFamily="34" charset="0"/>
              </a:rPr>
              <a:t>i,j</a:t>
            </a:r>
            <a:r>
              <a:rPr lang="en-US" altLang="en-US" sz="2000" dirty="0">
                <a:solidFill>
                  <a:srgbClr val="000000"/>
                </a:solidFill>
                <a:latin typeface="Arial" panose="020B0604020202020204" pitchFamily="34" charset="0"/>
              </a:rPr>
              <a:t>), record which option achieved the minimum (</a:t>
            </a:r>
            <a:r>
              <a:rPr lang="en-US" altLang="en-US" sz="2000" i="1" dirty="0" err="1">
                <a:solidFill>
                  <a:srgbClr val="000000"/>
                </a:solidFill>
                <a:latin typeface="Arial" panose="020B0604020202020204" pitchFamily="34" charset="0"/>
              </a:rPr>
              <a:t>i</a:t>
            </a:r>
            <a:r>
              <a:rPr lang="en-US" altLang="en-US" sz="2000" i="1" dirty="0">
                <a:solidFill>
                  <a:srgbClr val="000000"/>
                </a:solidFill>
                <a:latin typeface="Arial" panose="020B0604020202020204" pitchFamily="34" charset="0"/>
              </a:rPr>
              <a:t>–j </a:t>
            </a:r>
            <a:r>
              <a:rPr lang="en-US" altLang="en-US" sz="2000" dirty="0">
                <a:solidFill>
                  <a:srgbClr val="000000"/>
                </a:solidFill>
                <a:latin typeface="Arial" panose="020B0604020202020204" pitchFamily="34" charset="0"/>
              </a:rPr>
              <a:t>paired with the best case (can be hairpin, stack, other loops), </a:t>
            </a:r>
            <a:r>
              <a:rPr lang="en-US" altLang="en-US" sz="2000" dirty="0" err="1">
                <a:solidFill>
                  <a:srgbClr val="000000"/>
                </a:solidFill>
                <a:latin typeface="Arial" panose="020B0604020202020204" pitchFamily="34" charset="0"/>
              </a:rPr>
              <a:t>i</a:t>
            </a:r>
            <a:r>
              <a:rPr lang="en-US" altLang="en-US" sz="2000" dirty="0">
                <a:solidFill>
                  <a:srgbClr val="000000"/>
                </a:solidFill>
                <a:latin typeface="Arial" panose="020B0604020202020204" pitchFamily="34" charset="0"/>
              </a:rPr>
              <a:t> unpaired, j unpaired, or split at k).</a:t>
            </a:r>
          </a:p>
          <a:p>
            <a:pPr marL="514350" lvl="0" indent="-514350" eaLnBrk="0" fontAlgn="base" hangingPunct="0">
              <a:lnSpc>
                <a:spcPct val="200000"/>
              </a:lnSpc>
              <a:spcBef>
                <a:spcPct val="0"/>
              </a:spcBef>
              <a:spcAft>
                <a:spcPct val="0"/>
              </a:spcAft>
              <a:buFont typeface="+mj-lt"/>
              <a:buAutoNum type="romanUcPeriod"/>
            </a:pPr>
            <a:r>
              <a:rPr lang="en-US" altLang="en-US" sz="2000" b="1" dirty="0">
                <a:solidFill>
                  <a:srgbClr val="000000"/>
                </a:solidFill>
                <a:latin typeface="Arial" panose="020B0604020202020204" pitchFamily="34" charset="0"/>
              </a:rPr>
              <a:t>Traceback to recover base pairs</a:t>
            </a:r>
          </a:p>
          <a:p>
            <a:pPr lvl="1" eaLnBrk="0" fontAlgn="base" hangingPunct="0">
              <a:lnSpc>
                <a:spcPct val="200000"/>
              </a:lnSpc>
              <a:spcBef>
                <a:spcPct val="0"/>
              </a:spcBef>
              <a:spcAft>
                <a:spcPct val="0"/>
              </a:spcAft>
            </a:pPr>
            <a:r>
              <a:rPr lang="en-US" altLang="en-US" sz="2000" dirty="0">
                <a:solidFill>
                  <a:srgbClr val="000000"/>
                </a:solidFill>
                <a:latin typeface="Arial" panose="020B0604020202020204" pitchFamily="34" charset="0"/>
              </a:rPr>
              <a:t>Start at E(1,N) and follow the stored decisions to output the set of base pairs</a:t>
            </a:r>
            <a:br>
              <a:rPr lang="en-US" altLang="en-US" sz="2000" dirty="0">
                <a:solidFill>
                  <a:srgbClr val="000000"/>
                </a:solidFill>
                <a:latin typeface="Arial" panose="020B0604020202020204" pitchFamily="34" charset="0"/>
              </a:rPr>
            </a:br>
            <a:r>
              <a:rPr lang="en-US" altLang="en-US" sz="2000" dirty="0">
                <a:solidFill>
                  <a:srgbClr val="000000"/>
                </a:solidFill>
                <a:latin typeface="Arial" panose="020B0604020202020204" pitchFamily="34" charset="0"/>
              </a:rPr>
              <a:t>that forms the minimum free energy structure.</a:t>
            </a:r>
            <a:endParaRPr lang="en-US" altLang="en-US" sz="2000" dirty="0">
              <a:latin typeface="Arial" panose="020B0604020202020204" pitchFamily="34" charset="0"/>
            </a:endParaRPr>
          </a:p>
        </p:txBody>
      </p:sp>
    </p:spTree>
    <p:extLst>
      <p:ext uri="{BB962C8B-B14F-4D97-AF65-F5344CB8AC3E}">
        <p14:creationId xmlns:p14="http://schemas.microsoft.com/office/powerpoint/2010/main" val="1648412576"/>
      </p:ext>
    </p:extLst>
  </p:cSld>
  <p:clrMapOvr>
    <a:masterClrMapping/>
  </p:clrMapOvr>
  <mc:AlternateContent xmlns:mc="http://schemas.openxmlformats.org/markup-compatibility/2006" xmlns:p14="http://schemas.microsoft.com/office/powerpoint/2010/main">
    <mc:Choice Requires="p14">
      <p:transition spd="slow" p14:dur="2000" advTm="66749"/>
    </mc:Choice>
    <mc:Fallback xmlns="">
      <p:transition spd="slow" advTm="66749"/>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57A96-12B5-C951-5F34-3CF8DB8773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D8F8A-01E5-00F7-BACD-9E28DC40A563}"/>
              </a:ext>
            </a:extLst>
          </p:cNvPr>
          <p:cNvSpPr txBox="1">
            <a:spLocks/>
          </p:cNvSpPr>
          <p:nvPr/>
        </p:nvSpPr>
        <p:spPr>
          <a:xfrm>
            <a:off x="720003" y="379674"/>
            <a:ext cx="11336676" cy="161301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2800" dirty="0"/>
          </a:p>
        </p:txBody>
      </p:sp>
      <p:sp>
        <p:nvSpPr>
          <p:cNvPr id="3" name="Rectangle 2">
            <a:extLst>
              <a:ext uri="{FF2B5EF4-FFF2-40B4-BE49-F238E27FC236}">
                <a16:creationId xmlns:a16="http://schemas.microsoft.com/office/drawing/2014/main" id="{78ECAC6D-3756-135E-2548-FB1A6FBFEE38}"/>
              </a:ext>
            </a:extLst>
          </p:cNvPr>
          <p:cNvSpPr/>
          <p:nvPr/>
        </p:nvSpPr>
        <p:spPr>
          <a:xfrm>
            <a:off x="135320" y="253449"/>
            <a:ext cx="11921359" cy="65426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5" name="Slide Number Placeholder 44">
            <a:extLst>
              <a:ext uri="{FF2B5EF4-FFF2-40B4-BE49-F238E27FC236}">
                <a16:creationId xmlns:a16="http://schemas.microsoft.com/office/drawing/2014/main" id="{83DEA432-C342-3BC6-D685-C82122A14102}"/>
              </a:ext>
            </a:extLst>
          </p:cNvPr>
          <p:cNvSpPr>
            <a:spLocks noGrp="1"/>
          </p:cNvSpPr>
          <p:nvPr>
            <p:ph type="sldNum" sz="quarter" idx="12"/>
          </p:nvPr>
        </p:nvSpPr>
        <p:spPr/>
        <p:txBody>
          <a:bodyPr/>
          <a:lstStyle/>
          <a:p>
            <a:r>
              <a:rPr lang="en-IN" dirty="0"/>
              <a:t>17</a:t>
            </a:r>
          </a:p>
        </p:txBody>
      </p:sp>
      <p:sp>
        <p:nvSpPr>
          <p:cNvPr id="9" name="Rectangle 8">
            <a:extLst>
              <a:ext uri="{FF2B5EF4-FFF2-40B4-BE49-F238E27FC236}">
                <a16:creationId xmlns:a16="http://schemas.microsoft.com/office/drawing/2014/main" id="{B72ADC74-A49A-5A48-6FE4-73C39ED4E1A5}"/>
              </a:ext>
            </a:extLst>
          </p:cNvPr>
          <p:cNvSpPr/>
          <p:nvPr/>
        </p:nvSpPr>
        <p:spPr>
          <a:xfrm>
            <a:off x="9147221" y="1567256"/>
            <a:ext cx="1334944" cy="5187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D658B94-0704-CBDA-D9A5-6A7993CA85AB}"/>
              </a:ext>
            </a:extLst>
          </p:cNvPr>
          <p:cNvSpPr txBox="1"/>
          <p:nvPr/>
        </p:nvSpPr>
        <p:spPr>
          <a:xfrm>
            <a:off x="135320" y="6474142"/>
            <a:ext cx="4141353" cy="276999"/>
          </a:xfrm>
          <a:prstGeom prst="rect">
            <a:avLst/>
          </a:prstGeom>
          <a:noFill/>
        </p:spPr>
        <p:txBody>
          <a:bodyPr wrap="square" rtlCol="0">
            <a:spAutoFit/>
          </a:bodyPr>
          <a:lstStyle/>
          <a:p>
            <a:r>
              <a:rPr lang="en-US" sz="1200" dirty="0"/>
              <a:t>Leonard et al.,</a:t>
            </a:r>
            <a:r>
              <a:rPr lang="en-US" sz="1200" i="1" dirty="0" err="1"/>
              <a:t>Biochem</a:t>
            </a:r>
            <a:r>
              <a:rPr lang="en-US" sz="1200" dirty="0"/>
              <a:t>,  2013</a:t>
            </a:r>
          </a:p>
        </p:txBody>
      </p:sp>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365E56AB-7E27-0DB4-29C3-834F8EB6DAB8}"/>
                  </a:ext>
                </a:extLst>
              </p:cNvPr>
              <p:cNvGraphicFramePr>
                <a:graphicFrameLocks noGrp="1"/>
              </p:cNvGraphicFramePr>
              <p:nvPr>
                <p:extLst>
                  <p:ext uri="{D42A27DB-BD31-4B8C-83A1-F6EECF244321}">
                    <p14:modId xmlns:p14="http://schemas.microsoft.com/office/powerpoint/2010/main" val="1896654127"/>
                  </p:ext>
                </p:extLst>
              </p:nvPr>
            </p:nvGraphicFramePr>
            <p:xfrm>
              <a:off x="508436" y="2103345"/>
              <a:ext cx="6117831" cy="3477619"/>
            </p:xfrm>
            <a:graphic>
              <a:graphicData uri="http://schemas.openxmlformats.org/drawingml/2006/table">
                <a:tbl>
                  <a:tblPr firstRow="1" bandRow="1">
                    <a:tableStyleId>{69CF1AB2-1976-4502-BF36-3FF5EA218861}</a:tableStyleId>
                  </a:tblPr>
                  <a:tblGrid>
                    <a:gridCol w="6117831">
                      <a:extLst>
                        <a:ext uri="{9D8B030D-6E8A-4147-A177-3AD203B41FA5}">
                          <a16:colId xmlns:a16="http://schemas.microsoft.com/office/drawing/2014/main" val="3514254559"/>
                        </a:ext>
                      </a:extLst>
                    </a:gridCol>
                  </a:tblGrid>
                  <a:tr h="10650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t>Compare </a:t>
                          </a:r>
                          <a:r>
                            <a:rPr lang="en-US" sz="2400" b="1" dirty="0">
                              <a:solidFill>
                                <a:schemeClr val="accent5"/>
                              </a:solidFill>
                            </a:rPr>
                            <a:t>Predicted structure, S </a:t>
                          </a:r>
                          <a:r>
                            <a:rPr lang="en-US" sz="2400" b="1" dirty="0"/>
                            <a:t>with </a:t>
                          </a:r>
                          <a:r>
                            <a:rPr lang="en-US" sz="2400" b="1" dirty="0">
                              <a:solidFill>
                                <a:srgbClr val="FF0000"/>
                              </a:solidFill>
                            </a:rPr>
                            <a:t>Accepted structure,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5972360"/>
                      </a:ext>
                    </a:extLst>
                  </a:tr>
                  <a:tr h="21050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Sensitivity = </a:t>
                          </a:r>
                          <a14:m>
                            <m:oMath xmlns:m="http://schemas.openxmlformats.org/officeDocument/2006/math">
                              <m:f>
                                <m:fPr>
                                  <m:ctrlPr>
                                    <a:rPr lang="en-US" sz="2400" b="0" i="1" smtClean="0">
                                      <a:solidFill>
                                        <a:srgbClr val="FF0000"/>
                                      </a:solidFill>
                                      <a:latin typeface="Cambria Math" panose="02040503050406030204" pitchFamily="18" charset="0"/>
                                    </a:rPr>
                                  </m:ctrlPr>
                                </m:fPr>
                                <m:num>
                                  <m:d>
                                    <m:dPr>
                                      <m:begChr m:val="|"/>
                                      <m:endChr m:val="|"/>
                                      <m:ctrlPr>
                                        <a:rPr lang="en-US" sz="2400" b="0" i="1" smtClean="0">
                                          <a:solidFill>
                                            <a:schemeClr val="accent6"/>
                                          </a:solidFill>
                                          <a:latin typeface="Cambria Math" panose="02040503050406030204" pitchFamily="18" charset="0"/>
                                        </a:rPr>
                                      </m:ctrlPr>
                                    </m:dPr>
                                    <m:e>
                                      <m:r>
                                        <a:rPr lang="en-US" sz="2400" b="0" smtClean="0">
                                          <a:solidFill>
                                            <a:schemeClr val="accent6"/>
                                          </a:solidFill>
                                          <a:latin typeface="Cambria Math" panose="02040503050406030204" pitchFamily="18" charset="0"/>
                                        </a:rPr>
                                        <m:t> </m:t>
                                      </m:r>
                                      <m:r>
                                        <m:rPr>
                                          <m:sty m:val="p"/>
                                        </m:rPr>
                                        <a:rPr lang="en-US" sz="2400" b="0" smtClean="0">
                                          <a:solidFill>
                                            <a:schemeClr val="accent6"/>
                                          </a:solidFill>
                                          <a:latin typeface="Cambria Math" panose="02040503050406030204" pitchFamily="18" charset="0"/>
                                        </a:rPr>
                                        <m:t>pairs</m:t>
                                      </m:r>
                                      <m:d>
                                        <m:dPr>
                                          <m:ctrlPr>
                                            <a:rPr lang="en-US" sz="2400" b="0" i="1" smtClean="0">
                                              <a:solidFill>
                                                <a:schemeClr val="accent6"/>
                                              </a:solidFill>
                                              <a:latin typeface="Cambria Math" panose="02040503050406030204" pitchFamily="18" charset="0"/>
                                            </a:rPr>
                                          </m:ctrlPr>
                                        </m:dPr>
                                        <m:e>
                                          <m:r>
                                            <m:rPr>
                                              <m:sty m:val="p"/>
                                            </m:rPr>
                                            <a:rPr lang="en-US" sz="2400" b="0" smtClean="0">
                                              <a:solidFill>
                                                <a:schemeClr val="accent6"/>
                                              </a:solidFill>
                                              <a:latin typeface="Cambria Math" panose="02040503050406030204" pitchFamily="18" charset="0"/>
                                            </a:rPr>
                                            <m:t>S</m:t>
                                          </m:r>
                                        </m:e>
                                      </m:d>
                                      <m:r>
                                        <a:rPr lang="en-US" sz="2400" b="0" smtClean="0">
                                          <a:solidFill>
                                            <a:schemeClr val="accent6"/>
                                          </a:solidFill>
                                          <a:latin typeface="Cambria Math" panose="02040503050406030204" pitchFamily="18" charset="0"/>
                                        </a:rPr>
                                        <m:t>∩ </m:t>
                                      </m:r>
                                      <m:r>
                                        <m:rPr>
                                          <m:sty m:val="p"/>
                                        </m:rPr>
                                        <a:rPr lang="en-US" sz="2400" b="0" smtClean="0">
                                          <a:solidFill>
                                            <a:schemeClr val="accent6"/>
                                          </a:solidFill>
                                          <a:latin typeface="Cambria Math" panose="02040503050406030204" pitchFamily="18" charset="0"/>
                                        </a:rPr>
                                        <m:t>pairs</m:t>
                                      </m:r>
                                      <m:d>
                                        <m:dPr>
                                          <m:ctrlPr>
                                            <a:rPr lang="en-US" sz="2400" b="0" i="1" smtClean="0">
                                              <a:solidFill>
                                                <a:schemeClr val="accent6"/>
                                              </a:solidFill>
                                              <a:latin typeface="Cambria Math" panose="02040503050406030204" pitchFamily="18" charset="0"/>
                                            </a:rPr>
                                          </m:ctrlPr>
                                        </m:dPr>
                                        <m:e>
                                          <m:sSup>
                                            <m:sSupPr>
                                              <m:ctrlPr>
                                                <a:rPr lang="en-US" sz="2400" b="0" i="1" smtClean="0">
                                                  <a:solidFill>
                                                    <a:schemeClr val="accent6"/>
                                                  </a:solidFill>
                                                  <a:latin typeface="Cambria Math" panose="02040503050406030204" pitchFamily="18" charset="0"/>
                                                </a:rPr>
                                              </m:ctrlPr>
                                            </m:sSupPr>
                                            <m:e>
                                              <m:r>
                                                <m:rPr>
                                                  <m:sty m:val="p"/>
                                                </m:rPr>
                                                <a:rPr lang="en-US" sz="2400" b="0" smtClean="0">
                                                  <a:solidFill>
                                                    <a:schemeClr val="accent6"/>
                                                  </a:solidFill>
                                                  <a:latin typeface="Cambria Math" panose="02040503050406030204" pitchFamily="18" charset="0"/>
                                                </a:rPr>
                                                <m:t>S</m:t>
                                              </m:r>
                                            </m:e>
                                            <m:sup>
                                              <m:r>
                                                <a:rPr lang="en-US" sz="2400" b="0" smtClean="0">
                                                  <a:solidFill>
                                                    <a:schemeClr val="accent6"/>
                                                  </a:solidFill>
                                                  <a:latin typeface="Cambria Math" panose="02040503050406030204" pitchFamily="18" charset="0"/>
                                                </a:rPr>
                                                <m:t>∗</m:t>
                                              </m:r>
                                            </m:sup>
                                          </m:sSup>
                                        </m:e>
                                      </m:d>
                                    </m:e>
                                  </m:d>
                                </m:num>
                                <m:den>
                                  <m:r>
                                    <a:rPr lang="en-US" sz="2400" b="0" smtClean="0">
                                      <a:solidFill>
                                        <a:srgbClr val="FF0000"/>
                                      </a:solidFill>
                                      <a:latin typeface="Cambria Math" panose="02040503050406030204" pitchFamily="18" charset="0"/>
                                    </a:rPr>
                                    <m:t>| </m:t>
                                  </m:r>
                                  <m:r>
                                    <m:rPr>
                                      <m:sty m:val="p"/>
                                    </m:rPr>
                                    <a:rPr lang="en-US" sz="2400" b="0" smtClean="0">
                                      <a:solidFill>
                                        <a:srgbClr val="FF0000"/>
                                      </a:solidFill>
                                      <a:latin typeface="Cambria Math" panose="02040503050406030204" pitchFamily="18" charset="0"/>
                                    </a:rPr>
                                    <m:t>pairs</m:t>
                                  </m:r>
                                  <m:r>
                                    <a:rPr lang="en-US" sz="2400" b="0" smtClean="0">
                                      <a:solidFill>
                                        <a:srgbClr val="FF0000"/>
                                      </a:solidFill>
                                      <a:latin typeface="Cambria Math" panose="02040503050406030204" pitchFamily="18" charset="0"/>
                                    </a:rPr>
                                    <m:t> </m:t>
                                  </m:r>
                                  <m:d>
                                    <m:dPr>
                                      <m:ctrlPr>
                                        <a:rPr lang="en-US" sz="2400" b="0" i="1" smtClean="0">
                                          <a:solidFill>
                                            <a:srgbClr val="FF0000"/>
                                          </a:solidFill>
                                          <a:latin typeface="Cambria Math" panose="02040503050406030204" pitchFamily="18" charset="0"/>
                                        </a:rPr>
                                      </m:ctrlPr>
                                    </m:dPr>
                                    <m:e>
                                      <m:sSup>
                                        <m:sSupPr>
                                          <m:ctrlPr>
                                            <a:rPr lang="en-US" sz="2400" b="0" i="1" smtClean="0">
                                              <a:solidFill>
                                                <a:srgbClr val="FF0000"/>
                                              </a:solidFill>
                                              <a:latin typeface="Cambria Math" panose="02040503050406030204" pitchFamily="18" charset="0"/>
                                            </a:rPr>
                                          </m:ctrlPr>
                                        </m:sSupPr>
                                        <m:e>
                                          <m:r>
                                            <m:rPr>
                                              <m:sty m:val="p"/>
                                            </m:rPr>
                                            <a:rPr lang="en-US" sz="2400" b="0" smtClean="0">
                                              <a:solidFill>
                                                <a:srgbClr val="FF0000"/>
                                              </a:solidFill>
                                              <a:latin typeface="Cambria Math" panose="02040503050406030204" pitchFamily="18" charset="0"/>
                                            </a:rPr>
                                            <m:t>S</m:t>
                                          </m:r>
                                        </m:e>
                                        <m:sup>
                                          <m:r>
                                            <a:rPr lang="en-US" sz="2400" b="0" smtClean="0">
                                              <a:solidFill>
                                                <a:srgbClr val="FF0000"/>
                                              </a:solidFill>
                                              <a:latin typeface="Cambria Math" panose="02040503050406030204" pitchFamily="18" charset="0"/>
                                            </a:rPr>
                                            <m:t>∗</m:t>
                                          </m:r>
                                        </m:sup>
                                      </m:sSup>
                                    </m:e>
                                  </m:d>
                                  <m:r>
                                    <a:rPr lang="en-US" sz="2400" b="0" smtClean="0">
                                      <a:solidFill>
                                        <a:srgbClr val="FF0000"/>
                                      </a:solidFill>
                                      <a:latin typeface="Cambria Math" panose="02040503050406030204" pitchFamily="18" charset="0"/>
                                    </a:rPr>
                                    <m:t>|</m:t>
                                  </m:r>
                                </m:den>
                              </m:f>
                            </m:oMath>
                          </a14:m>
                          <a:endParaRPr lang="en-US" sz="240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t>PPV =</a:t>
                          </a:r>
                          <a:r>
                            <a:rPr lang="en-US" sz="2000" b="0" dirty="0">
                              <a:solidFill>
                                <a:srgbClr val="FF0000"/>
                              </a:solidFill>
                            </a:rPr>
                            <a:t> </a:t>
                          </a:r>
                          <a14:m>
                            <m:oMath xmlns:m="http://schemas.openxmlformats.org/officeDocument/2006/math">
                              <m:f>
                                <m:fPr>
                                  <m:ctrlPr>
                                    <a:rPr lang="en-US" sz="2400" i="1" smtClean="0">
                                      <a:solidFill>
                                        <a:schemeClr val="accent5"/>
                                      </a:solidFill>
                                      <a:latin typeface="Cambria Math" panose="02040503050406030204" pitchFamily="18" charset="0"/>
                                    </a:rPr>
                                  </m:ctrlPr>
                                </m:fPr>
                                <m:num>
                                  <m:d>
                                    <m:dPr>
                                      <m:begChr m:val="|"/>
                                      <m:endChr m:val="|"/>
                                      <m:ctrlPr>
                                        <a:rPr lang="en-US" sz="2400" i="1" smtClean="0">
                                          <a:solidFill>
                                            <a:schemeClr val="accent6"/>
                                          </a:solidFill>
                                          <a:latin typeface="Cambria Math" panose="02040503050406030204" pitchFamily="18" charset="0"/>
                                        </a:rPr>
                                      </m:ctrlPr>
                                    </m:dPr>
                                    <m:e>
                                      <m:r>
                                        <a:rPr lang="en-US" sz="2400">
                                          <a:solidFill>
                                            <a:schemeClr val="accent6"/>
                                          </a:solidFill>
                                          <a:latin typeface="Cambria Math" panose="02040503050406030204" pitchFamily="18" charset="0"/>
                                        </a:rPr>
                                        <m:t> </m:t>
                                      </m:r>
                                      <m:r>
                                        <m:rPr>
                                          <m:sty m:val="p"/>
                                        </m:rPr>
                                        <a:rPr lang="en-US" sz="2400">
                                          <a:solidFill>
                                            <a:schemeClr val="accent6"/>
                                          </a:solidFill>
                                          <a:latin typeface="Cambria Math" panose="02040503050406030204" pitchFamily="18" charset="0"/>
                                        </a:rPr>
                                        <m:t>pairs</m:t>
                                      </m:r>
                                      <m:d>
                                        <m:dPr>
                                          <m:ctrlPr>
                                            <a:rPr lang="en-US" sz="2400" i="1">
                                              <a:solidFill>
                                                <a:schemeClr val="accent6"/>
                                              </a:solidFill>
                                              <a:latin typeface="Cambria Math" panose="02040503050406030204" pitchFamily="18" charset="0"/>
                                            </a:rPr>
                                          </m:ctrlPr>
                                        </m:dPr>
                                        <m:e>
                                          <m:r>
                                            <m:rPr>
                                              <m:sty m:val="p"/>
                                            </m:rPr>
                                            <a:rPr lang="en-US" sz="2400">
                                              <a:solidFill>
                                                <a:schemeClr val="accent6"/>
                                              </a:solidFill>
                                              <a:latin typeface="Cambria Math" panose="02040503050406030204" pitchFamily="18" charset="0"/>
                                            </a:rPr>
                                            <m:t>S</m:t>
                                          </m:r>
                                        </m:e>
                                      </m:d>
                                      <m:r>
                                        <a:rPr lang="en-US" sz="2400">
                                          <a:solidFill>
                                            <a:schemeClr val="accent6"/>
                                          </a:solidFill>
                                          <a:latin typeface="Cambria Math" panose="02040503050406030204" pitchFamily="18" charset="0"/>
                                        </a:rPr>
                                        <m:t>∩</m:t>
                                      </m:r>
                                      <m:r>
                                        <a:rPr lang="en-US" sz="2400" b="0" smtClean="0">
                                          <a:solidFill>
                                            <a:schemeClr val="accent6"/>
                                          </a:solidFill>
                                          <a:latin typeface="Cambria Math" panose="02040503050406030204" pitchFamily="18" charset="0"/>
                                        </a:rPr>
                                        <m:t> </m:t>
                                      </m:r>
                                      <m:r>
                                        <m:rPr>
                                          <m:sty m:val="p"/>
                                        </m:rPr>
                                        <a:rPr lang="en-US" sz="2400">
                                          <a:solidFill>
                                            <a:schemeClr val="accent6"/>
                                          </a:solidFill>
                                          <a:latin typeface="Cambria Math" panose="02040503050406030204" pitchFamily="18" charset="0"/>
                                        </a:rPr>
                                        <m:t>pairs</m:t>
                                      </m:r>
                                      <m:d>
                                        <m:dPr>
                                          <m:ctrlPr>
                                            <a:rPr lang="en-US" sz="2400" i="1">
                                              <a:solidFill>
                                                <a:schemeClr val="accent6"/>
                                              </a:solidFill>
                                              <a:latin typeface="Cambria Math" panose="02040503050406030204" pitchFamily="18" charset="0"/>
                                            </a:rPr>
                                          </m:ctrlPr>
                                        </m:dPr>
                                        <m:e>
                                          <m:sSup>
                                            <m:sSupPr>
                                              <m:ctrlPr>
                                                <a:rPr lang="en-US" sz="2400" i="1">
                                                  <a:solidFill>
                                                    <a:schemeClr val="accent6"/>
                                                  </a:solidFill>
                                                  <a:latin typeface="Cambria Math" panose="02040503050406030204" pitchFamily="18" charset="0"/>
                                                </a:rPr>
                                              </m:ctrlPr>
                                            </m:sSupPr>
                                            <m:e>
                                              <m:r>
                                                <m:rPr>
                                                  <m:sty m:val="p"/>
                                                </m:rPr>
                                                <a:rPr lang="en-US" sz="2400">
                                                  <a:solidFill>
                                                    <a:schemeClr val="accent6"/>
                                                  </a:solidFill>
                                                  <a:latin typeface="Cambria Math" panose="02040503050406030204" pitchFamily="18" charset="0"/>
                                                </a:rPr>
                                                <m:t>S</m:t>
                                              </m:r>
                                            </m:e>
                                            <m:sup>
                                              <m:r>
                                                <a:rPr lang="en-US" sz="2400">
                                                  <a:solidFill>
                                                    <a:schemeClr val="accent6"/>
                                                  </a:solidFill>
                                                  <a:latin typeface="Cambria Math" panose="02040503050406030204" pitchFamily="18" charset="0"/>
                                                </a:rPr>
                                                <m:t>∗</m:t>
                                              </m:r>
                                            </m:sup>
                                          </m:sSup>
                                        </m:e>
                                      </m:d>
                                    </m:e>
                                  </m:d>
                                </m:num>
                                <m:den>
                                  <m:r>
                                    <a:rPr lang="en-US" sz="2400" smtClean="0">
                                      <a:solidFill>
                                        <a:schemeClr val="accent5"/>
                                      </a:solidFill>
                                      <a:latin typeface="Cambria Math" panose="02040503050406030204" pitchFamily="18" charset="0"/>
                                    </a:rPr>
                                    <m:t>| </m:t>
                                  </m:r>
                                  <m:r>
                                    <m:rPr>
                                      <m:sty m:val="p"/>
                                    </m:rPr>
                                    <a:rPr lang="en-US" sz="2400" smtClean="0">
                                      <a:solidFill>
                                        <a:schemeClr val="accent5"/>
                                      </a:solidFill>
                                      <a:latin typeface="Cambria Math" panose="02040503050406030204" pitchFamily="18" charset="0"/>
                                    </a:rPr>
                                    <m:t>pairs</m:t>
                                  </m:r>
                                  <m:r>
                                    <a:rPr lang="en-US" sz="2400" smtClean="0">
                                      <a:solidFill>
                                        <a:schemeClr val="accent5"/>
                                      </a:solidFill>
                                      <a:latin typeface="Cambria Math" panose="02040503050406030204" pitchFamily="18" charset="0"/>
                                    </a:rPr>
                                    <m:t> </m:t>
                                  </m:r>
                                  <m:d>
                                    <m:dPr>
                                      <m:ctrlPr>
                                        <a:rPr lang="en-US" sz="2400" i="1">
                                          <a:solidFill>
                                            <a:schemeClr val="accent5"/>
                                          </a:solidFill>
                                          <a:latin typeface="Cambria Math" panose="02040503050406030204" pitchFamily="18" charset="0"/>
                                        </a:rPr>
                                      </m:ctrlPr>
                                    </m:dPr>
                                    <m:e>
                                      <m:r>
                                        <m:rPr>
                                          <m:sty m:val="p"/>
                                        </m:rPr>
                                        <a:rPr lang="en-US" sz="2400" b="0" smtClean="0">
                                          <a:solidFill>
                                            <a:schemeClr val="accent5"/>
                                          </a:solidFill>
                                          <a:latin typeface="Cambria Math" panose="02040503050406030204" pitchFamily="18" charset="0"/>
                                        </a:rPr>
                                        <m:t>S</m:t>
                                      </m:r>
                                    </m:e>
                                  </m:d>
                                  <m:r>
                                    <a:rPr lang="en-US" sz="2400">
                                      <a:solidFill>
                                        <a:schemeClr val="accent5"/>
                                      </a:solidFill>
                                      <a:latin typeface="Cambria Math" panose="02040503050406030204" pitchFamily="18" charset="0"/>
                                    </a:rPr>
                                    <m:t>|</m:t>
                                  </m:r>
                                </m:den>
                              </m:f>
                            </m:oMath>
                          </a14:m>
                          <a:endParaRPr lang="en-US" sz="2400" dirty="0">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Accuracy = </a:t>
                          </a:r>
                          <a14:m>
                            <m:oMath xmlns:m="http://schemas.openxmlformats.org/officeDocument/2006/math">
                              <m:f>
                                <m:fPr>
                                  <m:ctrlPr>
                                    <a:rPr lang="en-US" sz="2400" i="1">
                                      <a:latin typeface="Cambria Math" panose="02040503050406030204" pitchFamily="18" charset="0"/>
                                    </a:rPr>
                                  </m:ctrlPr>
                                </m:fPr>
                                <m:num>
                                  <m:r>
                                    <m:rPr>
                                      <m:sty m:val="p"/>
                                    </m:rPr>
                                    <a:rPr lang="en-US" sz="2400">
                                      <a:latin typeface="Cambria Math" panose="02040503050406030204" pitchFamily="18" charset="0"/>
                                    </a:rPr>
                                    <m:t>Sensitivity</m:t>
                                  </m:r>
                                  <m:r>
                                    <a:rPr lang="en-US" sz="2400">
                                      <a:latin typeface="Cambria Math" panose="02040503050406030204" pitchFamily="18" charset="0"/>
                                    </a:rPr>
                                    <m:t>+</m:t>
                                  </m:r>
                                  <m:r>
                                    <m:rPr>
                                      <m:sty m:val="p"/>
                                    </m:rPr>
                                    <a:rPr lang="en-US" sz="2400">
                                      <a:latin typeface="Cambria Math" panose="02040503050406030204" pitchFamily="18" charset="0"/>
                                    </a:rPr>
                                    <m:t>PPV</m:t>
                                  </m:r>
                                </m:num>
                                <m:den>
                                  <m:r>
                                    <a:rPr lang="en-US" sz="2400">
                                      <a:latin typeface="Cambria Math" panose="02040503050406030204" pitchFamily="18" charset="0"/>
                                    </a:rPr>
                                    <m:t>2</m:t>
                                  </m:r>
                                </m:den>
                              </m:f>
                            </m:oMath>
                          </a14:m>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9296645"/>
                      </a:ext>
                    </a:extLst>
                  </a:tr>
                </a:tbl>
              </a:graphicData>
            </a:graphic>
          </p:graphicFrame>
        </mc:Choice>
        <mc:Fallback xmlns="">
          <p:graphicFrame>
            <p:nvGraphicFramePr>
              <p:cNvPr id="16" name="Table 15">
                <a:extLst>
                  <a:ext uri="{FF2B5EF4-FFF2-40B4-BE49-F238E27FC236}">
                    <a16:creationId xmlns:a16="http://schemas.microsoft.com/office/drawing/2014/main" id="{365E56AB-7E27-0DB4-29C3-834F8EB6DAB8}"/>
                  </a:ext>
                </a:extLst>
              </p:cNvPr>
              <p:cNvGraphicFramePr>
                <a:graphicFrameLocks noGrp="1"/>
              </p:cNvGraphicFramePr>
              <p:nvPr>
                <p:extLst>
                  <p:ext uri="{D42A27DB-BD31-4B8C-83A1-F6EECF244321}">
                    <p14:modId xmlns:p14="http://schemas.microsoft.com/office/powerpoint/2010/main" val="1896654127"/>
                  </p:ext>
                </p:extLst>
              </p:nvPr>
            </p:nvGraphicFramePr>
            <p:xfrm>
              <a:off x="508436" y="2103345"/>
              <a:ext cx="6117831" cy="3477619"/>
            </p:xfrm>
            <a:graphic>
              <a:graphicData uri="http://schemas.openxmlformats.org/drawingml/2006/table">
                <a:tbl>
                  <a:tblPr firstRow="1" bandRow="1">
                    <a:tableStyleId>{69CF1AB2-1976-4502-BF36-3FF5EA218861}</a:tableStyleId>
                  </a:tblPr>
                  <a:tblGrid>
                    <a:gridCol w="6117831">
                      <a:extLst>
                        <a:ext uri="{9D8B030D-6E8A-4147-A177-3AD203B41FA5}">
                          <a16:colId xmlns:a16="http://schemas.microsoft.com/office/drawing/2014/main" val="3514254559"/>
                        </a:ext>
                      </a:extLst>
                    </a:gridCol>
                  </a:tblGrid>
                  <a:tr h="10650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t>Compare </a:t>
                          </a:r>
                          <a:r>
                            <a:rPr lang="en-US" sz="2400" b="1" dirty="0">
                              <a:solidFill>
                                <a:schemeClr val="accent5"/>
                              </a:solidFill>
                            </a:rPr>
                            <a:t>Predicted structure, S </a:t>
                          </a:r>
                          <a:r>
                            <a:rPr lang="en-US" sz="2400" b="1" dirty="0"/>
                            <a:t>with </a:t>
                          </a:r>
                          <a:r>
                            <a:rPr lang="en-US" sz="2400" b="1" dirty="0">
                              <a:solidFill>
                                <a:srgbClr val="FF0000"/>
                              </a:solidFill>
                            </a:rPr>
                            <a:t>Accepted structure,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5972360"/>
                      </a:ext>
                    </a:extLst>
                  </a:tr>
                  <a:tr h="241255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7" t="-44503" r="-415" b="-1571"/>
                          </a:stretch>
                        </a:blipFill>
                      </a:tcPr>
                    </a:tc>
                    <a:extLst>
                      <a:ext uri="{0D108BD9-81ED-4DB2-BD59-A6C34878D82A}">
                        <a16:rowId xmlns:a16="http://schemas.microsoft.com/office/drawing/2014/main" val="1269296645"/>
                      </a:ext>
                    </a:extLst>
                  </a:tr>
                </a:tbl>
              </a:graphicData>
            </a:graphic>
          </p:graphicFrame>
        </mc:Fallback>
      </mc:AlternateContent>
      <p:sp>
        <p:nvSpPr>
          <p:cNvPr id="15" name="Rectangle 14">
            <a:extLst>
              <a:ext uri="{FF2B5EF4-FFF2-40B4-BE49-F238E27FC236}">
                <a16:creationId xmlns:a16="http://schemas.microsoft.com/office/drawing/2014/main" id="{2FB6EDE2-612E-5842-1E80-BD43951E5FA0}"/>
              </a:ext>
            </a:extLst>
          </p:cNvPr>
          <p:cNvSpPr/>
          <p:nvPr/>
        </p:nvSpPr>
        <p:spPr>
          <a:xfrm>
            <a:off x="8707503" y="2773815"/>
            <a:ext cx="312234" cy="276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87D249F-071A-899C-0BD9-03A57B308A44}"/>
              </a:ext>
            </a:extLst>
          </p:cNvPr>
          <p:cNvSpPr txBox="1"/>
          <p:nvPr/>
        </p:nvSpPr>
        <p:spPr>
          <a:xfrm>
            <a:off x="4036286" y="405889"/>
            <a:ext cx="4620945" cy="584775"/>
          </a:xfrm>
          <a:prstGeom prst="rect">
            <a:avLst/>
          </a:prstGeom>
          <a:noFill/>
        </p:spPr>
        <p:txBody>
          <a:bodyPr wrap="none" rtlCol="0">
            <a:spAutoFit/>
          </a:bodyPr>
          <a:lstStyle/>
          <a:p>
            <a:r>
              <a:rPr lang="en-US" sz="3200" b="1" dirty="0">
                <a:solidFill>
                  <a:srgbClr val="C00000"/>
                </a:solidFill>
              </a:rPr>
              <a:t>Prediction performance</a:t>
            </a:r>
          </a:p>
        </p:txBody>
      </p:sp>
      <p:pic>
        <p:nvPicPr>
          <p:cNvPr id="17" name="Picture 16">
            <a:extLst>
              <a:ext uri="{FF2B5EF4-FFF2-40B4-BE49-F238E27FC236}">
                <a16:creationId xmlns:a16="http://schemas.microsoft.com/office/drawing/2014/main" id="{EB5FF162-38B5-545F-3E01-165D9D7BC65A}"/>
              </a:ext>
            </a:extLst>
          </p:cNvPr>
          <p:cNvPicPr>
            <a:picLocks noChangeAspect="1"/>
          </p:cNvPicPr>
          <p:nvPr/>
        </p:nvPicPr>
        <p:blipFill>
          <a:blip r:embed="rId4"/>
          <a:stretch>
            <a:fillRect/>
          </a:stretch>
        </p:blipFill>
        <p:spPr>
          <a:xfrm>
            <a:off x="7136123" y="1771129"/>
            <a:ext cx="4547441" cy="4142049"/>
          </a:xfrm>
          <a:prstGeom prst="rect">
            <a:avLst/>
          </a:prstGeom>
        </p:spPr>
      </p:pic>
    </p:spTree>
    <p:extLst>
      <p:ext uri="{BB962C8B-B14F-4D97-AF65-F5344CB8AC3E}">
        <p14:creationId xmlns:p14="http://schemas.microsoft.com/office/powerpoint/2010/main" val="3444170963"/>
      </p:ext>
    </p:extLst>
  </p:cSld>
  <p:clrMapOvr>
    <a:masterClrMapping/>
  </p:clrMapOvr>
  <mc:AlternateContent xmlns:mc="http://schemas.openxmlformats.org/markup-compatibility/2006">
    <mc:Choice xmlns:p14="http://schemas.microsoft.com/office/powerpoint/2010/main" Requires="p14">
      <p:transition spd="slow" p14:dur="2000" advTm="1069"/>
    </mc:Choice>
    <mc:Fallback>
      <p:transition spd="slow" advTm="1069"/>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18911</TotalTime>
  <Words>3922</Words>
  <Application>Microsoft Macintosh PowerPoint</Application>
  <PresentationFormat>Widescreen</PresentationFormat>
  <Paragraphs>429</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-webkit-standard</vt:lpstr>
      <vt:lpstr>Aptos</vt:lpstr>
      <vt:lpstr>Aptos Display</vt:lpstr>
      <vt:lpstr>Arial</vt:lpstr>
      <vt:lpstr>Cambria Math</vt:lpstr>
      <vt:lpstr>Office Theme</vt:lpstr>
      <vt:lpstr>Minimum Free Energy (MFE) structure prediction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 Amalaruban</dc:creator>
  <cp:lastModifiedBy>Ashwin Amalaruban M</cp:lastModifiedBy>
  <cp:revision>137</cp:revision>
  <dcterms:created xsi:type="dcterms:W3CDTF">2025-05-14T18:44:23Z</dcterms:created>
  <dcterms:modified xsi:type="dcterms:W3CDTF">2026-04-30T22:29:06Z</dcterms:modified>
</cp:coreProperties>
</file>