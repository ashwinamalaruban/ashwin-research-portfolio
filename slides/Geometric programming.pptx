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5" r:id="rId5"/>
    <p:sldId id="266" r:id="rId6"/>
    <p:sldId id="267" r:id="rId7"/>
    <p:sldId id="268" r:id="rId8"/>
    <p:sldId id="272" r:id="rId9"/>
    <p:sldId id="275" r:id="rId10"/>
    <p:sldId id="269" r:id="rId11"/>
    <p:sldId id="271" r:id="rId12"/>
    <p:sldId id="27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0A976-DB80-431F-BA0B-5FBBE5A6A95F}" type="datetimeFigureOut">
              <a:rPr lang="en-IN" smtClean="0"/>
              <a:t>30/04/26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C1CA7D-770A-4383-959F-BFBD1A8920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483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1CA7D-770A-4383-959F-BFBD1A89200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989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71D3F-A3C3-4491-8DFA-A328041E4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1B7127-BE0B-409E-B528-3DD1EE314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0633F-B09C-44D2-85CA-8D5837D82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C20E0-FFD3-41B0-93E2-596BE068BF18}" type="datetimeFigureOut">
              <a:rPr lang="en-IN" smtClean="0"/>
              <a:t>30/04/26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D4A74-8ABE-4F44-AC73-CF7B17A01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E2EA3-1356-427C-8DCE-84C537EA1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FF786-5311-4C78-B1C8-7CEEDD91B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599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D4DCD-70D9-46B6-9D7A-8CD455749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10697-3CFD-4F17-8F14-C0D5C9461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1071E-7B28-4D8F-B55E-71D2B426B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C20E0-FFD3-41B0-93E2-596BE068BF18}" type="datetimeFigureOut">
              <a:rPr lang="en-IN" smtClean="0"/>
              <a:t>30/04/26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51D79-B131-4EC1-BF24-A95AB5F31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CE6D8-0D79-47BE-BA20-1827E129C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FF786-5311-4C78-B1C8-7CEEDD91B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967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013C8-7174-49D4-A32B-1185B0112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9BD40F-B8F0-4C0A-801B-652783296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59451-9248-45F0-B523-17FD993D7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C20E0-FFD3-41B0-93E2-596BE068BF18}" type="datetimeFigureOut">
              <a:rPr lang="en-IN" smtClean="0"/>
              <a:t>30/04/26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9A844-A7D1-4D92-9006-ACED7EEB4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D05DD-5F3B-4AB5-BA99-CDCDEEFA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FF786-5311-4C78-B1C8-7CEEDD91B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270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53488-4F18-4575-91B7-6509C5996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92A23-D8A3-473C-B86C-67B827D4B1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E9229-AD21-4AF4-8206-69C273D4ED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EDA4A-042F-49EF-86DC-C5BAF035E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C20E0-FFD3-41B0-93E2-596BE068BF18}" type="datetimeFigureOut">
              <a:rPr lang="en-IN" smtClean="0"/>
              <a:t>30/04/26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27408A-F376-4E9C-884A-AADB9E649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306E0-6CA3-4030-BBED-29F231EBF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FF786-5311-4C78-B1C8-7CEEDD91B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1446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C5791-10E4-4099-A58E-FEDED33AB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920DDF-EC7D-4C3F-B154-731D7BFFC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0AA18D-C4BF-4C97-B0AE-1F41445899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C0CF8B-CE9F-4A73-812E-C1BE943C53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50E418-74A7-4D53-A97F-E57BAB6864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FBAD9D-5A3F-4F2A-816B-B70D18B09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C20E0-FFD3-41B0-93E2-596BE068BF18}" type="datetimeFigureOut">
              <a:rPr lang="en-IN" smtClean="0"/>
              <a:t>30/04/26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6C0A16-CDF9-4708-883F-9CCCFB398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5783B2-7B2E-4B02-9DC9-79043E7BF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FF786-5311-4C78-B1C8-7CEEDD91B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700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FF3E9-77CD-4D51-A292-5468AFBC6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B4F96B-4C51-4C78-9C5B-C003708F5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C20E0-FFD3-41B0-93E2-596BE068BF18}" type="datetimeFigureOut">
              <a:rPr lang="en-IN" smtClean="0"/>
              <a:t>30/04/26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B097F6-0F03-4A98-B38D-2F4D0AD01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159692-C87F-4C6A-A02D-74138C0FE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FF786-5311-4C78-B1C8-7CEEDD91B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9357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6BF547-E97D-4BD0-979E-6BB8098CA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C20E0-FFD3-41B0-93E2-596BE068BF18}" type="datetimeFigureOut">
              <a:rPr lang="en-IN" smtClean="0"/>
              <a:t>30/04/26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2819F3-5204-4457-A6E9-358612692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4180A1-4FFD-4EAB-9F69-3286CBD35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FF786-5311-4C78-B1C8-7CEEDD91B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283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F3012-87DB-4D43-9F75-1F85E7464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56155-BA8D-4844-BB32-F97B85D62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BA0726-5D8B-4835-8634-0008158B8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05116A-22BA-472D-B23E-9EB6D8FB0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C20E0-FFD3-41B0-93E2-596BE068BF18}" type="datetimeFigureOut">
              <a:rPr lang="en-IN" smtClean="0"/>
              <a:t>30/04/26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33E27-39FF-4CEE-B2D1-9B7DFB123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84F79C-89CC-4195-98C2-27CAAFB2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FF786-5311-4C78-B1C8-7CEEDD91B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690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29AED-517C-487D-B587-31C6225F6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E00692-511A-41C8-8210-449B178293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4E2325-46E6-40B4-8B36-5FA52C53EF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2107F0-0617-4AE2-B0EF-E05390079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C20E0-FFD3-41B0-93E2-596BE068BF18}" type="datetimeFigureOut">
              <a:rPr lang="en-IN" smtClean="0"/>
              <a:t>30/04/26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FFD437-40D5-448F-9C10-981E8E545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53C935-F791-469E-94EB-56E9D1E5F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FF786-5311-4C78-B1C8-7CEEDD91B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592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95D7F-7121-432F-8DFF-A3EC515A7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C4EF9-4F5C-4DF2-8F99-C6E07EBA9D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0EDB9-2B9C-4B67-89CB-00745DCA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C20E0-FFD3-41B0-93E2-596BE068BF18}" type="datetimeFigureOut">
              <a:rPr lang="en-IN" smtClean="0"/>
              <a:t>30/04/26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1E3F-0DB5-49CD-B531-56C256CCB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C3091-3815-46A1-BACD-EC9AB64AF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FF786-5311-4C78-B1C8-7CEEDD91B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9187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FC833C-C6CC-4AE6-BA65-B70EC89EDC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E79C90-8B72-4C91-882F-46AC3B64B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E187F-04FD-46AF-BF5D-9D63A3021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C20E0-FFD3-41B0-93E2-596BE068BF18}" type="datetimeFigureOut">
              <a:rPr lang="en-IN" smtClean="0"/>
              <a:t>30/04/26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7556F-DC06-4AF0-BD0C-ACB862C1F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66EBC-0241-474D-B170-861B33DEE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FF786-5311-4C78-B1C8-7CEEDD91B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574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255878-0304-4F15-BF9A-3DD2F409A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890B3-66B8-405E-9571-035F2C3C2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F7F5E-F99D-4598-8C0A-47B3D828F6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3C20E0-FFD3-41B0-93E2-596BE068BF18}" type="datetimeFigureOut">
              <a:rPr lang="en-IN" smtClean="0"/>
              <a:t>30/04/26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2CDE4-5199-406E-ACDE-0B7A0BB28F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81F33-6C5C-400D-998C-518C38553D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7FF786-5311-4C78-B1C8-7CEEDD91B3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227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3A8C6-AF9C-4DB7-B1B6-5E73E4172F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Geometric Programming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A6D7EB-870C-422C-B796-F28807ED9F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Ashwin Amalaruban (193020020)</a:t>
            </a:r>
          </a:p>
          <a:p>
            <a:r>
              <a:rPr lang="en-US" dirty="0"/>
              <a:t>Date:15-06-2020</a:t>
            </a:r>
          </a:p>
          <a:p>
            <a:r>
              <a:rPr lang="en-US" dirty="0"/>
              <a:t>Instructor: Dr. Mani Bhushan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5621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CE034-3157-4D0B-9FF8-A891F3E3A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2174"/>
            <a:ext cx="10515600" cy="1325563"/>
          </a:xfrm>
        </p:spPr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C007FA-D58F-41A8-A3E6-EC6714F99A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7881" y="1825624"/>
                <a:ext cx="10595919" cy="4700201"/>
              </a:xfrm>
            </p:spPr>
            <p:txBody>
              <a:bodyPr>
                <a:normAutofit/>
              </a:bodyPr>
              <a:lstStyle/>
              <a:p>
                <a:endParaRPr lang="en-US" sz="2000" dirty="0"/>
              </a:p>
              <a:p>
                <a:r>
                  <a:rPr lang="en-US" sz="1800" dirty="0"/>
                  <a:t>Minimize functions in the form of posynomials subject to constraints of the same type.</a:t>
                </a:r>
              </a:p>
              <a:p>
                <a:r>
                  <a:rPr lang="en-US" sz="1800" u="sng" dirty="0"/>
                  <a:t>Origin</a:t>
                </a:r>
                <a:r>
                  <a:rPr lang="en-US" sz="1800" dirty="0"/>
                  <a:t>: Began with study of minimization cost problem for design in engineering.</a:t>
                </a:r>
                <a:endParaRPr lang="en-IN" sz="1800" u="sng" dirty="0"/>
              </a:p>
              <a:p>
                <a:r>
                  <a:rPr lang="en-US" sz="1800" dirty="0"/>
                  <a:t>Objective function given as the sum of its components.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                   U</a:t>
                </a:r>
                <a:r>
                  <a:rPr lang="en-US" sz="1800" baseline="-25000" dirty="0"/>
                  <a:t>i</a:t>
                </a:r>
                <a:r>
                  <a:rPr lang="en-US" sz="1800" dirty="0"/>
                  <a:t>=c</a:t>
                </a:r>
                <a:r>
                  <a:rPr lang="en-US" sz="1800" baseline="-25000" dirty="0"/>
                  <a:t>i</a:t>
                </a:r>
                <a:r>
                  <a:rPr lang="en-US" sz="1800" dirty="0"/>
                  <a:t>  x</a:t>
                </a:r>
                <a:r>
                  <a:rPr lang="en-US" sz="1800" baseline="-25000" dirty="0"/>
                  <a:t>1</a:t>
                </a:r>
                <a:r>
                  <a:rPr lang="en-US" sz="1800" baseline="30000" dirty="0"/>
                  <a:t>a1i</a:t>
                </a:r>
                <a:r>
                  <a:rPr lang="en-US" sz="1800" dirty="0"/>
                  <a:t>  x</a:t>
                </a:r>
                <a:r>
                  <a:rPr lang="en-US" sz="1800" baseline="-25000" dirty="0"/>
                  <a:t>2</a:t>
                </a:r>
                <a:r>
                  <a:rPr lang="en-US" sz="1800" baseline="30000" dirty="0"/>
                  <a:t>a2i</a:t>
                </a:r>
                <a:r>
                  <a:rPr lang="en-US" sz="1800" dirty="0"/>
                  <a:t> … </a:t>
                </a:r>
                <a:r>
                  <a:rPr lang="en-US" sz="1800" dirty="0" err="1"/>
                  <a:t>x</a:t>
                </a:r>
                <a:r>
                  <a:rPr lang="en-US" sz="1800" baseline="-25000" dirty="0" err="1"/>
                  <a:t>n</a:t>
                </a:r>
                <a:r>
                  <a:rPr lang="en-US" sz="1800" baseline="30000" dirty="0" err="1"/>
                  <a:t>ani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                        f(X)=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800" i="0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d>
                          <m:d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</m:oMath>
                </a14:m>
                <a:r>
                  <a:rPr lang="en-US" sz="1800" dirty="0"/>
                  <a:t>   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800" i="0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nary>
                              <m:naryPr>
                                <m:chr m:val="∏"/>
                                <m:limLoc m:val="undOvr"/>
                                <m:grow m:val="on"/>
                                <m:ctrlP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r>
                                  <m:rPr>
                                    <m:nor/>
                                  </m:rPr>
                                  <a:rPr lang="en-US" sz="1800" b="0" i="0" dirty="0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en-US" sz="1800" dirty="0" smtClean="0"/>
                                  <m:t>x</m:t>
                                </m:r>
                              </m:e>
                            </m:nary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𝑎𝑖𝑗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                         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1800" dirty="0"/>
                  <a:t>  </a:t>
                </a:r>
                <a:endParaRPr lang="en-US" sz="1800" baseline="30000" dirty="0"/>
              </a:p>
              <a:p>
                <a:r>
                  <a:rPr lang="en-US" sz="1800" u="sng" dirty="0"/>
                  <a:t>Posy</a:t>
                </a:r>
                <a:r>
                  <a:rPr lang="en-US" sz="1800" dirty="0"/>
                  <a:t>nomials: Because of the positive coefficients and variables and real exponents.</a:t>
                </a:r>
              </a:p>
              <a:p>
                <a:r>
                  <a:rPr lang="en-US" sz="1800" dirty="0"/>
                  <a:t>Instead of finding optimal values of the design variables first, geometric programming first finds the optimal value of the objective function.</a:t>
                </a:r>
              </a:p>
              <a:p>
                <a:r>
                  <a:rPr lang="en-US" sz="1800" dirty="0"/>
                  <a:t>When a maximizing problem is presented, inverse can be done and converted into a minimizing problem.</a:t>
                </a:r>
              </a:p>
              <a:p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C007FA-D58F-41A8-A3E6-EC6714F99A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7881" y="1825624"/>
                <a:ext cx="10595919" cy="4700201"/>
              </a:xfrm>
              <a:blipFill>
                <a:blip r:embed="rId3"/>
                <a:stretch>
                  <a:fillRect l="-3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8275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05C98-7F42-4D7D-9EAE-E6518FE37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125" y="502508"/>
            <a:ext cx="10700951" cy="5832389"/>
          </a:xfrm>
        </p:spPr>
        <p:txBody>
          <a:bodyPr>
            <a:normAutofit/>
          </a:bodyPr>
          <a:lstStyle/>
          <a:p>
            <a:endParaRPr lang="en-US" sz="1600" dirty="0"/>
          </a:p>
          <a:p>
            <a:r>
              <a:rPr lang="en-US" sz="1800" u="sng" dirty="0"/>
              <a:t>Properties of GP</a:t>
            </a:r>
            <a:r>
              <a:rPr lang="en-US" sz="1800" dirty="0"/>
              <a:t>:</a:t>
            </a:r>
          </a:p>
          <a:p>
            <a:pPr lvl="1"/>
            <a:r>
              <a:rPr lang="en-US" sz="1800" dirty="0"/>
              <a:t>Sensitive to the input parameters of the problem.</a:t>
            </a:r>
          </a:p>
          <a:p>
            <a:pPr lvl="1"/>
            <a:r>
              <a:rPr lang="en-IN" sz="1800" dirty="0"/>
              <a:t>Strong duality nature</a:t>
            </a:r>
          </a:p>
          <a:p>
            <a:r>
              <a:rPr lang="en-US" sz="1800" dirty="0"/>
              <a:t>Two approaches </a:t>
            </a:r>
          </a:p>
          <a:p>
            <a:pPr lvl="1"/>
            <a:r>
              <a:rPr lang="en-US" sz="1800" dirty="0"/>
              <a:t>Based on differential calculus.</a:t>
            </a:r>
          </a:p>
          <a:p>
            <a:pPr lvl="1"/>
            <a:r>
              <a:rPr lang="en-US" sz="1800" dirty="0"/>
              <a:t>Based on the concept of geometric inequality.</a:t>
            </a:r>
          </a:p>
          <a:p>
            <a:endParaRPr lang="en-US" sz="1800" dirty="0"/>
          </a:p>
          <a:p>
            <a:r>
              <a:rPr lang="en-US" sz="1800" u="sng" dirty="0"/>
              <a:t>Degree of difficulty</a:t>
            </a:r>
            <a:r>
              <a:rPr lang="en-US" sz="1800" dirty="0"/>
              <a:t>: Difference of no. of </a:t>
            </a:r>
            <a:r>
              <a:rPr lang="en-US" sz="1800"/>
              <a:t>unknown’s and no</a:t>
            </a:r>
            <a:r>
              <a:rPr lang="en-US" sz="1800" dirty="0"/>
              <a:t>. of equations</a:t>
            </a:r>
          </a:p>
          <a:p>
            <a:pPr marL="0" indent="0">
              <a:buNone/>
            </a:pPr>
            <a:r>
              <a:rPr lang="en-US" sz="1800" dirty="0"/>
              <a:t>                                D=N-(n+1)</a:t>
            </a:r>
          </a:p>
          <a:p>
            <a:pPr lvl="1"/>
            <a:r>
              <a:rPr lang="en-US" sz="1800" dirty="0"/>
              <a:t>N=n+1 </a:t>
            </a:r>
            <a:r>
              <a:rPr lang="en-US" sz="1800" dirty="0">
                <a:sym typeface="Wingdings" panose="05000000000000000000" pitchFamily="2" charset="2"/>
              </a:rPr>
              <a:t> Unique solution</a:t>
            </a:r>
          </a:p>
          <a:p>
            <a:pPr lvl="1"/>
            <a:r>
              <a:rPr lang="en-US" sz="1800" dirty="0">
                <a:sym typeface="Wingdings" panose="05000000000000000000" pitchFamily="2" charset="2"/>
              </a:rPr>
              <a:t>When N&gt;n+1  Infinitely many solutions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Geometric programming not applicable for problems with negative D.</a:t>
            </a:r>
          </a:p>
          <a:p>
            <a:r>
              <a:rPr lang="en-US" sz="1800" dirty="0"/>
              <a:t>Feasible unknown vector need NOT lead to an optimal design x*</a:t>
            </a:r>
          </a:p>
          <a:p>
            <a:r>
              <a:rPr lang="en-US" sz="1800" dirty="0"/>
              <a:t>Can solve both constrained and unconstrained problems.</a:t>
            </a:r>
          </a:p>
          <a:p>
            <a:endParaRPr lang="en-US" sz="20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585A91-21A1-4B46-BD03-E8CA0FA3B8A5}"/>
              </a:ext>
            </a:extLst>
          </p:cNvPr>
          <p:cNvSpPr txBox="1"/>
          <p:nvPr/>
        </p:nvSpPr>
        <p:spPr>
          <a:xfrm>
            <a:off x="7001152" y="3418702"/>
            <a:ext cx="41635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N-&gt;total number of terms in all the posynomials</a:t>
            </a:r>
          </a:p>
          <a:p>
            <a:r>
              <a:rPr lang="en-US" dirty="0"/>
              <a:t>n-&gt;number </a:t>
            </a:r>
            <a:r>
              <a:rPr lang="en-IN" dirty="0"/>
              <a:t>of design variables</a:t>
            </a:r>
          </a:p>
        </p:txBody>
      </p:sp>
    </p:spTree>
    <p:extLst>
      <p:ext uri="{BB962C8B-B14F-4D97-AF65-F5344CB8AC3E}">
        <p14:creationId xmlns:p14="http://schemas.microsoft.com/office/powerpoint/2010/main" val="2873270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9271D6-2ADC-4018-82AA-F31CDACA4C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4886" y="502508"/>
                <a:ext cx="10768914" cy="5674455"/>
              </a:xfrm>
            </p:spPr>
            <p:txBody>
              <a:bodyPr>
                <a:normAutofit/>
              </a:bodyPr>
              <a:lstStyle/>
              <a:p>
                <a:r>
                  <a:rPr lang="en-US" sz="2000" u="sng" dirty="0"/>
                  <a:t>Based on differential calculus</a:t>
                </a:r>
                <a:r>
                  <a:rPr lang="en-US" sz="2000" dirty="0"/>
                  <a:t>:</a:t>
                </a:r>
              </a:p>
              <a:p>
                <a:pPr lvl="1"/>
                <a:endParaRPr lang="en-US" sz="1600" dirty="0"/>
              </a:p>
              <a:p>
                <a:pPr lvl="1"/>
                <a:r>
                  <a:rPr lang="en-US" sz="1800" dirty="0"/>
                  <a:t>We define a quantity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1800" dirty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180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180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1800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num>
                      <m:den>
                        <m:sSup>
                          <m:sSupPr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sz="1800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1800" dirty="0"/>
                  <a:t> </a:t>
                </a:r>
              </a:p>
              <a:p>
                <a:pPr lvl="1"/>
                <a:r>
                  <a:rPr lang="en-US" sz="1800" dirty="0"/>
                  <a:t>This relates contribution of the </a:t>
                </a:r>
                <a:r>
                  <a:rPr lang="en-US" sz="1800" dirty="0" err="1"/>
                  <a:t>j</a:t>
                </a:r>
                <a:r>
                  <a:rPr lang="en-US" sz="1800" baseline="30000" dirty="0" err="1"/>
                  <a:t>th</a:t>
                </a:r>
                <a:r>
                  <a:rPr lang="en-US" sz="1800" dirty="0"/>
                  <a:t> term to our optimal objective function.</a:t>
                </a:r>
              </a:p>
              <a:p>
                <a:pPr lvl="1"/>
                <a:r>
                  <a:rPr lang="en-US" sz="1800" dirty="0"/>
                  <a:t>Function to be minimized  </a:t>
                </a:r>
              </a:p>
              <a:p>
                <a:pPr marL="457200" lvl="1" indent="0">
                  <a:buNone/>
                </a:pPr>
                <a:r>
                  <a:rPr lang="en-US" sz="1800" i="1" dirty="0">
                    <a:latin typeface="Cambria Math" panose="02040503050406030204" pitchFamily="18" charset="0"/>
                  </a:rPr>
                  <a:t> 			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180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800" i="1" dirty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8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8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 dirty="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sz="1800" i="1" dirty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lang="en-US" sz="18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800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∆</m:t>
                                        </m:r>
                                      </m:e>
                                      <m:sub>
                                        <m:r>
                                          <a:rPr lang="en-US" sz="1800" i="1" dirty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  <m:sup>
                                        <m:r>
                                          <a:rPr lang="en-US" sz="1800" i="1" dirty="0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d>
                          </m:e>
                          <m:sup>
                            <m:sSubSup>
                              <m:sSubSupPr>
                                <m:ctrlPr>
                                  <a:rPr lang="en-US" sz="18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</m:e>
                              <m:sub>
                                <m:r>
                                  <a:rPr lang="en-US" sz="18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sz="1800" i="1" dirty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sup>
                        </m:sSup>
                      </m:e>
                    </m:nary>
                  </m:oMath>
                </a14:m>
                <a:endParaRPr lang="en-US" sz="1800" dirty="0"/>
              </a:p>
              <a:p>
                <a:pPr lvl="1"/>
                <a:endParaRPr lang="en-IN" sz="1800" dirty="0"/>
              </a:p>
              <a:p>
                <a:pPr lvl="1"/>
                <a:r>
                  <a:rPr lang="en-IN" sz="1800" dirty="0"/>
                  <a:t>Normality and orthogonality conditions:</a:t>
                </a:r>
                <a:endParaRPr lang="en-US" sz="1800" dirty="0"/>
              </a:p>
              <a:p>
                <a:pPr lvl="1"/>
                <a:endParaRPr lang="en-US" sz="1800" dirty="0"/>
              </a:p>
              <a:p>
                <a:pPr lvl="1"/>
                <a:endParaRPr lang="en-US" sz="1800" dirty="0"/>
              </a:p>
              <a:p>
                <a:pPr lvl="1"/>
                <a:r>
                  <a:rPr lang="en-US" sz="1800" dirty="0"/>
                  <a:t>D=0 </a:t>
                </a:r>
                <a:r>
                  <a:rPr lang="en-US" sz="1800" dirty="0">
                    <a:sym typeface="Wingdings" panose="05000000000000000000" pitchFamily="2" charset="2"/>
                  </a:rPr>
                  <a:t></a:t>
                </a:r>
                <a:r>
                  <a:rPr lang="en-US" sz="1800" dirty="0"/>
                  <a:t>Unique solution for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sz="180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18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1800" dirty="0"/>
                  <a:t> </a:t>
                </a:r>
                <a:r>
                  <a:rPr lang="en-US" sz="18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180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800" dirty="0"/>
                  <a:t> </a:t>
                </a:r>
              </a:p>
              <a:p>
                <a:pPr lvl="1"/>
                <a:r>
                  <a:rPr lang="en-US" sz="1800" dirty="0"/>
                  <a:t>To get optimal variables,</a:t>
                </a:r>
              </a:p>
              <a:p>
                <a:pPr lvl="1"/>
                <a:endParaRPr lang="en-US" sz="1800" dirty="0"/>
              </a:p>
              <a:p>
                <a:endParaRPr lang="en-IN" sz="1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9271D6-2ADC-4018-82AA-F31CDACA4C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4886" y="502508"/>
                <a:ext cx="10768914" cy="5674455"/>
              </a:xfrm>
              <a:blipFill>
                <a:blip r:embed="rId2"/>
                <a:stretch>
                  <a:fillRect l="-509" t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38149BF-E3BC-4E07-96A5-EED705D88ED0}"/>
                  </a:ext>
                </a:extLst>
              </p:cNvPr>
              <p:cNvSpPr txBox="1"/>
              <p:nvPr/>
            </p:nvSpPr>
            <p:spPr>
              <a:xfrm>
                <a:off x="5533054" y="3231356"/>
                <a:ext cx="1260073" cy="63280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/>
                              <m:aln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en-IN" sz="14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IN" sz="1400" i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IN" sz="1400" i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nary>
                      <m:r>
                        <a:rPr lang="en-IN" sz="1400" i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38149BF-E3BC-4E07-96A5-EED705D88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3054" y="3231356"/>
                <a:ext cx="1260073" cy="6328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2115D03-557E-44ED-8DEA-11B6F94DE7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6578" y="3170522"/>
            <a:ext cx="1477503" cy="7544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80C316-A581-4337-AF2E-BAED6F2E5E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069" y="5128650"/>
            <a:ext cx="2973133" cy="7562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A1B749-8006-4280-B145-089286755677}"/>
                  </a:ext>
                </a:extLst>
              </p:cNvPr>
              <p:cNvSpPr txBox="1"/>
              <p:nvPr/>
            </p:nvSpPr>
            <p:spPr>
              <a:xfrm>
                <a:off x="8214421" y="5112999"/>
                <a:ext cx="3307491" cy="7562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A1B749-8006-4280-B145-089286755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4421" y="5112999"/>
                <a:ext cx="3307491" cy="75623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Arrow: Right 7">
            <a:extLst>
              <a:ext uri="{FF2B5EF4-FFF2-40B4-BE49-F238E27FC236}">
                <a16:creationId xmlns:a16="http://schemas.microsoft.com/office/drawing/2014/main" id="{3278EE28-83EA-480D-8F52-5934F71F5135}"/>
              </a:ext>
            </a:extLst>
          </p:cNvPr>
          <p:cNvSpPr/>
          <p:nvPr/>
        </p:nvSpPr>
        <p:spPr>
          <a:xfrm>
            <a:off x="4160107" y="5313405"/>
            <a:ext cx="996779" cy="3624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BDD8B4B-5793-4C74-AE41-4E42A7897BD9}"/>
                  </a:ext>
                </a:extLst>
              </p:cNvPr>
              <p:cNvSpPr txBox="1"/>
              <p:nvPr/>
            </p:nvSpPr>
            <p:spPr>
              <a:xfrm>
                <a:off x="4783271" y="5119777"/>
                <a:ext cx="3307491" cy="7562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func>
                        <m:func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i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func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BDD8B4B-5793-4C74-AE41-4E42A7897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3271" y="5119777"/>
                <a:ext cx="3307491" cy="75623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rrow: Right 9">
            <a:extLst>
              <a:ext uri="{FF2B5EF4-FFF2-40B4-BE49-F238E27FC236}">
                <a16:creationId xmlns:a16="http://schemas.microsoft.com/office/drawing/2014/main" id="{036A5632-1FAB-4356-A12F-889397CA29E4}"/>
              </a:ext>
            </a:extLst>
          </p:cNvPr>
          <p:cNvSpPr/>
          <p:nvPr/>
        </p:nvSpPr>
        <p:spPr>
          <a:xfrm>
            <a:off x="7735330" y="5313405"/>
            <a:ext cx="978596" cy="3624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8BC72B-E857-439F-BB49-9A25BECE596E}"/>
              </a:ext>
            </a:extLst>
          </p:cNvPr>
          <p:cNvSpPr txBox="1"/>
          <p:nvPr/>
        </p:nvSpPr>
        <p:spPr>
          <a:xfrm>
            <a:off x="6260757" y="981989"/>
            <a:ext cx="11121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IN" dirty="0">
                <a:sym typeface="Wingdings" panose="05000000000000000000" pitchFamily="2" charset="2"/>
              </a:rPr>
              <a:t>(1)</a:t>
            </a:r>
          </a:p>
          <a:p>
            <a:endParaRPr lang="en-IN" dirty="0">
              <a:sym typeface="Wingdings" panose="05000000000000000000" pitchFamily="2" charset="2"/>
            </a:endParaRPr>
          </a:p>
          <a:p>
            <a:endParaRPr lang="en-IN" dirty="0">
              <a:sym typeface="Wingdings" panose="05000000000000000000" pitchFamily="2" charset="2"/>
            </a:endParaRPr>
          </a:p>
          <a:p>
            <a:endParaRPr lang="en-IN" dirty="0">
              <a:sym typeface="Wingdings" panose="05000000000000000000" pitchFamily="2" charset="2"/>
            </a:endParaRPr>
          </a:p>
          <a:p>
            <a:r>
              <a:rPr lang="en-IN" dirty="0">
                <a:sym typeface="Wingdings" panose="05000000000000000000" pitchFamily="2" charset="2"/>
              </a:rPr>
              <a:t>(2)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73F36C-0BA1-4476-B0E9-9B399556AEF2}"/>
              </a:ext>
            </a:extLst>
          </p:cNvPr>
          <p:cNvSpPr txBox="1"/>
          <p:nvPr/>
        </p:nvSpPr>
        <p:spPr>
          <a:xfrm>
            <a:off x="8837585" y="3339703"/>
            <a:ext cx="12356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ym typeface="Wingdings" panose="05000000000000000000" pitchFamily="2" charset="2"/>
              </a:rPr>
              <a:t>(3)</a:t>
            </a:r>
          </a:p>
          <a:p>
            <a:endParaRPr lang="en-IN" dirty="0">
              <a:sym typeface="Wingdings" panose="05000000000000000000" pitchFamily="2" charset="2"/>
            </a:endParaRPr>
          </a:p>
          <a:p>
            <a:endParaRPr lang="en-IN" dirty="0">
              <a:sym typeface="Wingdings" panose="05000000000000000000" pitchFamily="2" charset="2"/>
            </a:endParaRPr>
          </a:p>
          <a:p>
            <a:endParaRPr lang="en-IN" dirty="0">
              <a:sym typeface="Wingdings" panose="05000000000000000000" pitchFamily="2" charset="2"/>
            </a:endParaRPr>
          </a:p>
          <a:p>
            <a:endParaRPr lang="en-IN" dirty="0">
              <a:sym typeface="Wingdings" panose="05000000000000000000" pitchFamily="2" charset="2"/>
            </a:endParaRPr>
          </a:p>
          <a:p>
            <a:endParaRPr lang="en-IN" dirty="0">
              <a:sym typeface="Wingdings" panose="05000000000000000000" pitchFamily="2" charset="2"/>
            </a:endParaRPr>
          </a:p>
          <a:p>
            <a:endParaRPr lang="en-IN" dirty="0">
              <a:sym typeface="Wingdings" panose="05000000000000000000" pitchFamily="2" charset="2"/>
            </a:endParaRPr>
          </a:p>
          <a:p>
            <a:endParaRPr lang="en-IN" dirty="0">
              <a:sym typeface="Wingdings" panose="05000000000000000000" pitchFamily="2" charset="2"/>
            </a:endParaRP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BDCC9D-1427-42E9-AE40-B41247730B90}"/>
              </a:ext>
            </a:extLst>
          </p:cNvPr>
          <p:cNvSpPr txBox="1"/>
          <p:nvPr/>
        </p:nvSpPr>
        <p:spPr>
          <a:xfrm>
            <a:off x="10974932" y="5336703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(4)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4444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820BCD-F693-4CD5-851F-5E3BDC4F85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7265" y="436605"/>
                <a:ext cx="10686535" cy="574035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u="sng" dirty="0"/>
                  <a:t>Problem statement:</a:t>
                </a:r>
              </a:p>
              <a:p>
                <a:pPr marL="0" indent="0">
                  <a:buNone/>
                </a:pPr>
                <a:r>
                  <a:rPr lang="en-US" sz="1600" dirty="0"/>
                  <a:t>(Problem adapted from Engineering Optimization by SS Rao)</a:t>
                </a:r>
              </a:p>
              <a:p>
                <a:endParaRPr lang="en-US" sz="1600" dirty="0"/>
              </a:p>
              <a:p>
                <a:endParaRPr lang="en-US" sz="1600" dirty="0"/>
              </a:p>
              <a:p>
                <a:pPr algn="just"/>
                <a:r>
                  <a:rPr lang="en-US" sz="1600" dirty="0"/>
                  <a:t>It has been decided to shift grain from a warehouse to a factory in an open rectangular box of length x</a:t>
                </a:r>
                <a:r>
                  <a:rPr lang="en-US" sz="1600" baseline="-25000" dirty="0"/>
                  <a:t>1</a:t>
                </a:r>
                <a:r>
                  <a:rPr lang="en-US" sz="1600" dirty="0"/>
                  <a:t> meters, width x</a:t>
                </a:r>
                <a:r>
                  <a:rPr lang="en-US" sz="1600" baseline="-25000" dirty="0"/>
                  <a:t>2</a:t>
                </a:r>
                <a:r>
                  <a:rPr lang="en-US" sz="1600" dirty="0"/>
                  <a:t> meters, and height x</a:t>
                </a:r>
                <a:r>
                  <a:rPr lang="en-US" sz="1600" baseline="-25000" dirty="0"/>
                  <a:t>3</a:t>
                </a:r>
                <a:r>
                  <a:rPr lang="en-US" sz="1600" dirty="0"/>
                  <a:t> meters. The bottom, sides, and the ends of the box cost, respectively, $80, $10, and $20/m</a:t>
                </a:r>
                <a:r>
                  <a:rPr lang="en-US" sz="1600" baseline="30000" dirty="0"/>
                  <a:t>2</a:t>
                </a:r>
                <a:r>
                  <a:rPr lang="en-US" sz="1600" dirty="0"/>
                  <a:t>. It costs $1 for each round trip of the box. Assuming that the box will have no salvage value, find the minimum cost of transporting 80 m</a:t>
                </a:r>
                <a:r>
                  <a:rPr lang="en-US" sz="1600" baseline="30000" dirty="0"/>
                  <a:t>3</a:t>
                </a:r>
                <a:r>
                  <a:rPr lang="en-US" sz="1600" dirty="0"/>
                  <a:t> of grain. </a:t>
                </a:r>
              </a:p>
              <a:p>
                <a:pPr marL="0" indent="0">
                  <a:buNone/>
                </a:pPr>
                <a:r>
                  <a:rPr lang="en-US" sz="1600" dirty="0"/>
                  <a:t>                                             f(X) =80 x</a:t>
                </a:r>
                <a:r>
                  <a:rPr lang="en-US" sz="1600" baseline="-25000" dirty="0"/>
                  <a:t>1</a:t>
                </a:r>
                <a:r>
                  <a:rPr lang="en-US" sz="1600" dirty="0"/>
                  <a:t> x</a:t>
                </a:r>
                <a:r>
                  <a:rPr lang="en-US" sz="1600" baseline="-25000" dirty="0"/>
                  <a:t>2</a:t>
                </a:r>
                <a:r>
                  <a:rPr lang="en-US" sz="1600" dirty="0"/>
                  <a:t> + 40 x</a:t>
                </a:r>
                <a:r>
                  <a:rPr lang="en-US" sz="1600" baseline="-25000" dirty="0"/>
                  <a:t>2</a:t>
                </a:r>
                <a:r>
                  <a:rPr lang="en-US" sz="1600" dirty="0"/>
                  <a:t> x</a:t>
                </a:r>
                <a:r>
                  <a:rPr lang="en-US" sz="1600" baseline="-25000" dirty="0"/>
                  <a:t>3</a:t>
                </a:r>
                <a:r>
                  <a:rPr lang="en-US" sz="1600" dirty="0"/>
                  <a:t> + 20 x</a:t>
                </a:r>
                <a:r>
                  <a:rPr lang="en-US" sz="1600" baseline="-25000" dirty="0"/>
                  <a:t>1</a:t>
                </a:r>
                <a:r>
                  <a:rPr lang="en-US" sz="1600" dirty="0"/>
                  <a:t> x</a:t>
                </a:r>
                <a:r>
                  <a:rPr lang="en-US" sz="1600" baseline="-25000" dirty="0"/>
                  <a:t>3</a:t>
                </a:r>
                <a:r>
                  <a:rPr lang="en-US" sz="1600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80</m:t>
                        </m:r>
                      </m:num>
                      <m:den>
                        <m:sSub>
                          <m:sSubPr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endParaRPr lang="en-IN" sz="1600" dirty="0"/>
              </a:p>
              <a:p>
                <a:pPr marL="0" indent="0">
                  <a:buNone/>
                </a:pPr>
                <a:r>
                  <a:rPr lang="en-IN" sz="1600" dirty="0"/>
                  <a:t>The problem is to </a:t>
                </a:r>
                <a:r>
                  <a:rPr lang="en-IN" sz="1600" u="sng" dirty="0"/>
                  <a:t>minimize the total cost of transportation</a:t>
                </a:r>
                <a:r>
                  <a:rPr lang="en-IN" sz="1600" dirty="0"/>
                  <a:t>.</a:t>
                </a:r>
              </a:p>
              <a:p>
                <a:pPr marL="0" indent="0">
                  <a:buNone/>
                </a:pPr>
                <a:r>
                  <a:rPr lang="en-IN" sz="1600" dirty="0"/>
                  <a:t>Problem is solved by Geometric programming based on differential calculus.</a:t>
                </a:r>
              </a:p>
              <a:p>
                <a:pPr marL="0" indent="0">
                  <a:buNone/>
                </a:pPr>
                <a:endParaRPr lang="en-IN" sz="1600" dirty="0"/>
              </a:p>
              <a:p>
                <a:pPr marL="0" indent="0">
                  <a:buNone/>
                </a:pPr>
                <a:endParaRPr lang="en-IN" sz="1600" dirty="0"/>
              </a:p>
              <a:p>
                <a:pPr marL="0" indent="0">
                  <a:buNone/>
                </a:pPr>
                <a:endParaRPr lang="en-IN" sz="1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820BCD-F693-4CD5-851F-5E3BDC4F85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7265" y="436605"/>
                <a:ext cx="10686535" cy="5740358"/>
              </a:xfrm>
              <a:blipFill>
                <a:blip r:embed="rId2"/>
                <a:stretch>
                  <a:fillRect l="-855" t="-1488" r="-2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A167A28-FD75-4904-A491-05970F616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1539" y="3692907"/>
            <a:ext cx="3932261" cy="265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847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2E6FB-02BD-4369-8D2C-A31569968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978" y="502508"/>
            <a:ext cx="10661822" cy="56744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Results:</a:t>
            </a:r>
          </a:p>
          <a:p>
            <a:pPr marL="0" indent="0">
              <a:buNone/>
            </a:pPr>
            <a:r>
              <a:rPr lang="en-US" sz="1800" dirty="0"/>
              <a:t>Zero degree of difficulty problem </a:t>
            </a:r>
            <a:r>
              <a:rPr lang="en-US" sz="1800" dirty="0">
                <a:sym typeface="Wingdings" panose="05000000000000000000" pitchFamily="2" charset="2"/>
              </a:rPr>
              <a:t> D = N – (n+1) =0  N=4, n =3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Minimum cost required for transporting 80 m</a:t>
            </a:r>
            <a:r>
              <a:rPr lang="en-US" sz="1800" baseline="30000" dirty="0"/>
              <a:t>3</a:t>
            </a:r>
            <a:r>
              <a:rPr lang="en-US" sz="1800" dirty="0"/>
              <a:t> of grain and the dimensions of the box to get this minimum value are given.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From our calculation it is observed that x</a:t>
            </a:r>
            <a:r>
              <a:rPr lang="en-US" sz="1800" baseline="-25000" dirty="0"/>
              <a:t>2</a:t>
            </a:r>
            <a:r>
              <a:rPr lang="en-US" sz="1800" dirty="0"/>
              <a:t> is the reciprocal of x</a:t>
            </a:r>
            <a:r>
              <a:rPr lang="en-US" sz="1800" baseline="-25000" dirty="0"/>
              <a:t>3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IN" sz="2000" u="sng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849DF80-9BD9-4BB2-AA58-39FA7EEE77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308566"/>
              </p:ext>
            </p:extLst>
          </p:nvPr>
        </p:nvGraphicFramePr>
        <p:xfrm>
          <a:off x="2148017" y="2391951"/>
          <a:ext cx="5109519" cy="18955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636089664"/>
                    </a:ext>
                  </a:extLst>
                </a:gridCol>
                <a:gridCol w="1090370">
                  <a:extLst>
                    <a:ext uri="{9D8B030D-6E8A-4147-A177-3AD203B41FA5}">
                      <a16:colId xmlns:a16="http://schemas.microsoft.com/office/drawing/2014/main" val="831866796"/>
                    </a:ext>
                  </a:extLst>
                </a:gridCol>
                <a:gridCol w="1309816">
                  <a:extLst>
                    <a:ext uri="{9D8B030D-6E8A-4147-A177-3AD203B41FA5}">
                      <a16:colId xmlns:a16="http://schemas.microsoft.com/office/drawing/2014/main" val="265279717"/>
                    </a:ext>
                  </a:extLst>
                </a:gridCol>
              </a:tblGrid>
              <a:tr h="43252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078403"/>
                  </a:ext>
                </a:extLst>
              </a:tr>
              <a:tr h="245397">
                <a:tc>
                  <a:txBody>
                    <a:bodyPr/>
                    <a:lstStyle/>
                    <a:p>
                      <a:r>
                        <a:rPr lang="en-US" dirty="0"/>
                        <a:t>Minimized function value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f(x)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$ 200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435202"/>
                  </a:ext>
                </a:extLst>
              </a:tr>
              <a:tr h="245397">
                <a:tc>
                  <a:txBody>
                    <a:bodyPr/>
                    <a:lstStyle/>
                    <a:p>
                      <a:r>
                        <a:rPr lang="en-US" dirty="0"/>
                        <a:t>Variables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1</a:t>
                      </a:r>
                      <a:endParaRPr lang="en-IN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</a:t>
                      </a:r>
                      <a:r>
                        <a:rPr lang="en-US" dirty="0" err="1"/>
                        <a:t>metre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432267"/>
                  </a:ext>
                </a:extLst>
              </a:tr>
              <a:tr h="24539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2</a:t>
                      </a:r>
                      <a:endParaRPr lang="en-IN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 </a:t>
                      </a:r>
                      <a:r>
                        <a:rPr lang="en-US" dirty="0" err="1"/>
                        <a:t>metre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797454"/>
                  </a:ext>
                </a:extLst>
              </a:tr>
              <a:tr h="24539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r>
                        <a:rPr lang="en-US" baseline="-25000" dirty="0"/>
                        <a:t>3</a:t>
                      </a:r>
                      <a:endParaRPr lang="en-IN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</a:t>
                      </a:r>
                      <a:r>
                        <a:rPr lang="en-US" dirty="0" err="1"/>
                        <a:t>metre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240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708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E9644-68EA-444D-8F55-DEDFF264C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503" y="527222"/>
            <a:ext cx="10678297" cy="5649741"/>
          </a:xfrm>
        </p:spPr>
        <p:txBody>
          <a:bodyPr>
            <a:normAutofit/>
          </a:bodyPr>
          <a:lstStyle/>
          <a:p>
            <a:r>
              <a:rPr lang="en-US" sz="2000" dirty="0"/>
              <a:t>Plot obtained from </a:t>
            </a:r>
            <a:r>
              <a:rPr lang="en-US" sz="2000" dirty="0" err="1"/>
              <a:t>Matlab</a:t>
            </a:r>
            <a:r>
              <a:rPr lang="en-US" sz="2000" dirty="0"/>
              <a:t> and the plot with the one obtained from Excel.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471250-7C96-4322-BFC9-8757C8010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03" y="1673242"/>
            <a:ext cx="5197290" cy="39398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D333CE-C286-4C33-82D1-60A6B32BB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083" y="1746422"/>
            <a:ext cx="5740633" cy="373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44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8807EE-509D-42E9-830B-83B622CD10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07308" y="601362"/>
                <a:ext cx="10546492" cy="557560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u="sng" dirty="0"/>
                  <a:t>Constrained optimization using geometric inequality</a:t>
                </a:r>
                <a:r>
                  <a:rPr lang="en-US" sz="1800" dirty="0"/>
                  <a:t>:</a:t>
                </a:r>
              </a:p>
              <a:p>
                <a:pPr marL="0" indent="0">
                  <a:buNone/>
                </a:pPr>
                <a:endParaRPr lang="en-IN" sz="1800" i="1" dirty="0">
                  <a:latin typeface="Cambria Math" panose="02040503050406030204" pitchFamily="18" charset="0"/>
                </a:endParaRPr>
              </a:p>
              <a:p>
                <a:r>
                  <a:rPr lang="en-US" sz="1800" dirty="0"/>
                  <a:t>Maximum of the dual function equals the minimum of the primal function.</a:t>
                </a:r>
              </a:p>
              <a:p>
                <a:pPr marL="0" indent="0">
                  <a:buNone/>
                </a:pPr>
                <a:r>
                  <a:rPr lang="en-US" sz="1800" dirty="0">
                    <a:sym typeface="Wingdings" panose="05000000000000000000" pitchFamily="2" charset="2"/>
                  </a:rPr>
                  <a:t> 	f(X) ≥ v(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/>
              </a:p>
              <a:p>
                <a:r>
                  <a:rPr lang="en-US" sz="1800" dirty="0"/>
                  <a:t>Degree of difficulty, D= N –(n+1)</a:t>
                </a:r>
              </a:p>
              <a:p>
                <a:r>
                  <a:rPr lang="en-US" sz="1800" dirty="0"/>
                  <a:t>N </a:t>
                </a:r>
                <a:r>
                  <a:rPr lang="en-US" sz="1800" dirty="0">
                    <a:sym typeface="Wingdings" panose="05000000000000000000" pitchFamily="2" charset="2"/>
                  </a:rPr>
                  <a:t> number of posynomial terms in the primal function and constraints.</a:t>
                </a:r>
              </a:p>
              <a:p>
                <a:endParaRPr lang="en-US" sz="1800" dirty="0">
                  <a:sym typeface="Wingdings" panose="05000000000000000000" pitchFamily="2" charset="2"/>
                </a:endParaRPr>
              </a:p>
              <a:p>
                <a:endParaRPr lang="en-US" sz="1800" dirty="0">
                  <a:sym typeface="Wingdings" panose="05000000000000000000" pitchFamily="2" charset="2"/>
                </a:endParaRPr>
              </a:p>
              <a:p>
                <a:endParaRPr lang="en-US" sz="1800" dirty="0"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800" dirty="0"/>
                  <a:t> is either +1 or -1 depending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sz="1800" dirty="0"/>
                  <a:t>.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Dual program</a:t>
                </a:r>
              </a:p>
              <a:p>
                <a:endParaRPr lang="en-IN" sz="1800" dirty="0"/>
              </a:p>
              <a:p>
                <a:endParaRPr lang="en-IN" sz="1800" dirty="0"/>
              </a:p>
              <a:p>
                <a:endParaRPr lang="en-IN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8807EE-509D-42E9-830B-83B622CD1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07308" y="601362"/>
                <a:ext cx="10546492" cy="5575601"/>
              </a:xfrm>
              <a:blipFill>
                <a:blip r:embed="rId2"/>
                <a:stretch>
                  <a:fillRect l="-462" t="-10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C91DABD-F392-4333-9564-581992478339}"/>
                  </a:ext>
                </a:extLst>
              </p:cNvPr>
              <p:cNvSpPr/>
              <p:nvPr/>
            </p:nvSpPr>
            <p:spPr>
              <a:xfrm>
                <a:off x="912340" y="2810271"/>
                <a:ext cx="6096000" cy="100508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dirty="0"/>
                  <a:t>Primal program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     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limLoc m:val="undOvr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sSubSup>
                      <m:sSub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p>
                    </m:sSubSup>
                    <m:sSubSup>
                      <m:sSub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p>
                    </m:sSubSup>
                    <m:r>
                      <a:rPr lang="en-IN" i="1">
                        <a:latin typeface="Cambria Math" panose="02040503050406030204" pitchFamily="18" charset="0"/>
                      </a:rPr>
                      <m:t>...</m:t>
                    </m:r>
                    <m:sSubSup>
                      <m:sSub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𝑛𝑗</m:t>
                            </m:r>
                          </m:sub>
                        </m:sSub>
                      </m:sup>
                    </m:sSubSup>
                  </m:oMath>
                </a14:m>
                <a:endParaRPr lang="en-US" dirty="0"/>
              </a:p>
              <a:p>
                <a:endParaRPr lang="en-IN" dirty="0"/>
              </a:p>
              <a:p>
                <a:r>
                  <a:rPr lang="en-IN" dirty="0"/>
                  <a:t>Constraints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C91DABD-F392-4333-9564-5819924783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340" y="2810271"/>
                <a:ext cx="6096000" cy="1005083"/>
              </a:xfrm>
              <a:prstGeom prst="rect">
                <a:avLst/>
              </a:prstGeom>
              <a:blipFill>
                <a:blip r:embed="rId3"/>
                <a:stretch>
                  <a:fillRect l="-900" t="-38788" b="-103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64D6E90D-DF4E-4CA7-8730-F95976C2EF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330" y="4398254"/>
            <a:ext cx="3426019" cy="10050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7AE23E7-1BF1-4D9F-8698-E4064780222D}"/>
                  </a:ext>
                </a:extLst>
              </p:cNvPr>
              <p:cNvSpPr txBox="1"/>
              <p:nvPr/>
            </p:nvSpPr>
            <p:spPr>
              <a:xfrm>
                <a:off x="6260757" y="4522296"/>
                <a:ext cx="2877065" cy="23357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u="sng" dirty="0"/>
                  <a:t>Orthogonality and normality conditions: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n-IN" i="1" dirty="0">
                  <a:latin typeface="Cambria Math" panose="02040503050406030204" pitchFamily="18" charset="0"/>
                </a:endParaRPr>
              </a:p>
              <a:p>
                <a:endParaRPr lang="en-IN" i="1" dirty="0">
                  <a:latin typeface="Cambria Math" panose="02040503050406030204" pitchFamily="18" charset="0"/>
                </a:endParaRPr>
              </a:p>
              <a:p>
                <a:r>
                  <a:rPr lang="en-IN" i="1" dirty="0">
                    <a:latin typeface="Cambria Math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IN" dirty="0"/>
                  <a:t>=1 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7AE23E7-1BF1-4D9F-8698-E406478022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757" y="4522296"/>
                <a:ext cx="2877065" cy="2335704"/>
              </a:xfrm>
              <a:prstGeom prst="rect">
                <a:avLst/>
              </a:prstGeom>
              <a:blipFill>
                <a:blip r:embed="rId5"/>
                <a:stretch>
                  <a:fillRect l="-2754" t="-1567" r="-1907" b="-1566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F12431-1926-45AB-A3A4-C0D5766A1149}"/>
              </a:ext>
            </a:extLst>
          </p:cNvPr>
          <p:cNvCxnSpPr/>
          <p:nvPr/>
        </p:nvCxnSpPr>
        <p:spPr>
          <a:xfrm flipV="1">
            <a:off x="6096000" y="4250724"/>
            <a:ext cx="0" cy="26072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3C455B9-4708-4C14-8319-E34F4B145D61}"/>
              </a:ext>
            </a:extLst>
          </p:cNvPr>
          <p:cNvCxnSpPr/>
          <p:nvPr/>
        </p:nvCxnSpPr>
        <p:spPr>
          <a:xfrm flipV="1">
            <a:off x="9137822" y="4250724"/>
            <a:ext cx="0" cy="26072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AE13889-AA58-4E91-948B-5753D6F6591C}"/>
              </a:ext>
            </a:extLst>
          </p:cNvPr>
          <p:cNvCxnSpPr>
            <a:cxnSpLocks/>
          </p:cNvCxnSpPr>
          <p:nvPr/>
        </p:nvCxnSpPr>
        <p:spPr>
          <a:xfrm flipH="1">
            <a:off x="6096000" y="4250724"/>
            <a:ext cx="3041822" cy="240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0037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54AFDB-6022-46F7-A46E-A501350A8F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9643" y="659027"/>
                <a:ext cx="10604157" cy="551793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u="sng" dirty="0">
                    <a:latin typeface="Cambria Math" panose="02040503050406030204" pitchFamily="18" charset="0"/>
                  </a:rPr>
                  <a:t>To find optimal variables</a:t>
                </a:r>
                <a:r>
                  <a:rPr lang="en-US" sz="1800" dirty="0">
                    <a:latin typeface="Cambria Math" panose="02040503050406030204" pitchFamily="18" charset="0"/>
                  </a:rPr>
                  <a:t>:</a:t>
                </a:r>
                <a:endParaRPr lang="en-US" sz="1800" b="0" dirty="0">
                  <a:latin typeface="Cambria Math" panose="02040503050406030204" pitchFamily="18" charset="0"/>
                </a:endParaRPr>
              </a:p>
              <a:p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nary>
                          <m:naryPr>
                            <m:chr m:val="∏"/>
                            <m:limLoc m:val="undOvr"/>
                            <m:grow m:val="on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sSub>
                                  <m:sSub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sup>
                            </m:sSup>
                          </m:e>
                        </m:nary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den>
                    </m:f>
                  </m:oMath>
                </a14:m>
                <a:r>
                  <a:rPr lang="en-US" sz="1800" b="0" dirty="0"/>
                  <a:t>,     j=1,2,…,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1800" b="0" dirty="0"/>
              </a:p>
              <a:p>
                <a:endParaRPr lang="en-US" sz="18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num>
                          <m:den>
                            <m:nary>
                              <m:naryPr>
                                <m:chr m:val="∑"/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sz="1800" b="0" i="1" baseline="-2500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𝑘𝑙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</m:nary>
                          </m:den>
                        </m:f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∏"/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𝑘𝑖𝑗</m:t>
                                </m:r>
                              </m:sub>
                            </m:sSub>
                          </m:sup>
                        </m:sSup>
                      </m:e>
                    </m:nary>
                  </m:oMath>
                </a14:m>
                <a:r>
                  <a:rPr lang="en-US" sz="1800" b="0" dirty="0"/>
                  <a:t> , j=1,2,…,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1800" dirty="0"/>
              </a:p>
              <a:p>
                <a:endParaRPr lang="en-US" sz="2000" dirty="0"/>
              </a:p>
              <a:p>
                <a:r>
                  <a:rPr lang="en-US" sz="2000" dirty="0"/>
                  <a:t>Advantage</a:t>
                </a:r>
                <a:r>
                  <a:rPr lang="en-US" sz="1800" dirty="0"/>
                  <a:t>: </a:t>
                </a:r>
              </a:p>
              <a:p>
                <a:pPr lvl="1"/>
                <a:r>
                  <a:rPr lang="en-US" sz="1800" dirty="0"/>
                  <a:t>Reduces a complicated optimization problem to one involving a set of simultaneous linear algebraic equations.</a:t>
                </a:r>
              </a:p>
              <a:p>
                <a:pPr lvl="1"/>
                <a:r>
                  <a:rPr lang="en-US" sz="1800" dirty="0"/>
                  <a:t>No need of initial guesses.</a:t>
                </a:r>
              </a:p>
              <a:p>
                <a:pPr lvl="1"/>
                <a:r>
                  <a:rPr lang="en-US" sz="1800" dirty="0"/>
                  <a:t>Guaranteed convergence</a:t>
                </a:r>
              </a:p>
              <a:p>
                <a:r>
                  <a:rPr lang="en-US" sz="2000" dirty="0"/>
                  <a:t>Disadvantage</a:t>
                </a:r>
                <a:r>
                  <a:rPr lang="en-US" sz="1800" dirty="0"/>
                  <a:t>: </a:t>
                </a:r>
              </a:p>
              <a:p>
                <a:pPr lvl="1"/>
                <a:r>
                  <a:rPr lang="en-US" sz="1800" dirty="0"/>
                  <a:t>Requires the objective function and the constraints in the form of posynomials.</a:t>
                </a:r>
              </a:p>
              <a:p>
                <a:endParaRPr lang="en-US" sz="1800" b="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54AFDB-6022-46F7-A46E-A501350A8F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9643" y="659027"/>
                <a:ext cx="10604157" cy="5517936"/>
              </a:xfrm>
              <a:blipFill>
                <a:blip r:embed="rId2"/>
                <a:stretch>
                  <a:fillRect l="-517" t="-11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3589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5A30CB-6FA4-4BAC-A3B2-0C740A606D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8411" y="436605"/>
                <a:ext cx="10785389" cy="574035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u="sng" dirty="0"/>
              </a:p>
              <a:p>
                <a:pPr marL="0" indent="0">
                  <a:buNone/>
                </a:pPr>
                <a:r>
                  <a:rPr lang="en-US" u="sng" dirty="0"/>
                  <a:t>Sensitivity analysis:</a:t>
                </a:r>
                <a:r>
                  <a:rPr lang="en-US" dirty="0"/>
                  <a:t> 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Sensitivity=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US" sz="2000" u="sng" dirty="0"/>
              </a:p>
              <a:p>
                <a:r>
                  <a:rPr lang="en-IN" sz="1800" dirty="0"/>
                  <a:t>Sensitivity of the solution to the coefficients.</a:t>
                </a:r>
              </a:p>
              <a:p>
                <a:r>
                  <a:rPr lang="en-IN" sz="1800" dirty="0"/>
                  <a:t>For c</a:t>
                </a:r>
                <a:r>
                  <a:rPr lang="en-US" sz="1800" dirty="0" err="1"/>
                  <a:t>ertain</a:t>
                </a:r>
                <a:r>
                  <a:rPr lang="en-US" sz="1800" dirty="0"/>
                  <a:t> problems, coefficients may not be presented in a precise manner. </a:t>
                </a:r>
              </a:p>
              <a:p>
                <a:r>
                  <a:rPr lang="en-US" sz="1800" dirty="0"/>
                  <a:t>If some parameters are uncertain, most liking values usually adopted </a:t>
                </a:r>
                <a:r>
                  <a:rPr lang="en-US" sz="1800" dirty="0">
                    <a:sym typeface="Wingdings" panose="05000000000000000000" pitchFamily="2" charset="2"/>
                  </a:rPr>
                  <a:t> </a:t>
                </a:r>
                <a:r>
                  <a:rPr lang="en-US" sz="1800" dirty="0"/>
                  <a:t>Misleading results. </a:t>
                </a:r>
              </a:p>
              <a:p>
                <a:r>
                  <a:rPr lang="en-US" sz="1800" dirty="0"/>
                  <a:t>Imprecise parameters manipulated via probability distributions. </a:t>
                </a:r>
              </a:p>
              <a:p>
                <a:r>
                  <a:rPr lang="en-US" sz="1800" dirty="0"/>
                  <a:t>Applying interval estimates instead </a:t>
                </a:r>
                <a:r>
                  <a:rPr lang="en-IN" sz="1800" dirty="0"/>
                  <a:t>of single values.</a:t>
                </a:r>
                <a:endParaRPr lang="en-US" sz="1800" u="sng" dirty="0"/>
              </a:p>
              <a:p>
                <a:r>
                  <a:rPr lang="en-IN" sz="1800" dirty="0"/>
                  <a:t>For small changes dc</a:t>
                </a:r>
                <a:r>
                  <a:rPr lang="en-IN" sz="1800" baseline="-25000" dirty="0"/>
                  <a:t>i</a:t>
                </a:r>
                <a:r>
                  <a:rPr lang="en-IN" sz="1800" dirty="0"/>
                  <a:t>, the new dual solutions are obtained.</a:t>
                </a:r>
              </a:p>
              <a:p>
                <a:pPr marL="0" indent="0">
                  <a:buNone/>
                </a:pPr>
                <a:r>
                  <a:rPr lang="en-IN" sz="1800" dirty="0"/>
                  <a:t>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I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IN" sz="1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+ 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and </a:t>
                </a:r>
                <a:r>
                  <a:rPr lang="en-IN" sz="1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v’=v* + dv = v*+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IN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IN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IN" sz="1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IN" sz="1800" dirty="0"/>
                  <a:t>Approximate bounds for allowable change in coefficients obtained by considering 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endParaRPr lang="en-US" sz="1800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IN" sz="1800" dirty="0"/>
                  <a:t>’=0 </a:t>
                </a:r>
              </a:p>
              <a:p>
                <a:endParaRPr lang="en-IN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5A30CB-6FA4-4BAC-A3B2-0C740A606D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8411" y="436605"/>
                <a:ext cx="10785389" cy="5740358"/>
              </a:xfrm>
              <a:blipFill>
                <a:blip r:embed="rId2"/>
                <a:stretch>
                  <a:fillRect l="-11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4437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33372B-C22A-4405-89C0-FB927DEBD6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510746"/>
                <a:ext cx="10744200" cy="5666217"/>
              </a:xfrm>
            </p:spPr>
            <p:txBody>
              <a:bodyPr>
                <a:normAutofit/>
              </a:bodyPr>
              <a:lstStyle/>
              <a:p>
                <a:endParaRPr lang="en-US" sz="1800" u="sng" dirty="0"/>
              </a:p>
              <a:p>
                <a:r>
                  <a:rPr lang="en-US" sz="1800" u="sng" dirty="0"/>
                  <a:t>Termination of sensitivity analysis</a:t>
                </a:r>
                <a:r>
                  <a:rPr lang="en-US" sz="1800" dirty="0"/>
                  <a:t>:</a:t>
                </a:r>
              </a:p>
              <a:p>
                <a:pPr lvl="1"/>
                <a:r>
                  <a:rPr lang="en-US" sz="1800" dirty="0"/>
                  <a:t>Inactive constraints become active.</a:t>
                </a:r>
              </a:p>
              <a:p>
                <a:pPr lvl="1"/>
                <a:r>
                  <a:rPr lang="en-US" sz="1800" dirty="0"/>
                  <a:t>Active constraints become inactive.</a:t>
                </a:r>
              </a:p>
              <a:p>
                <a:pPr lvl="1"/>
                <a:r>
                  <a:rPr lang="en-US" sz="1800" dirty="0"/>
                  <a:t>Maximum limit in the changes exceeded.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                                                                                                                      </a:t>
                </a:r>
              </a:p>
              <a:p>
                <a:r>
                  <a:rPr lang="en-US" sz="1800" dirty="0"/>
                  <a:t>Large bounds, small increment size </a:t>
                </a:r>
                <a:r>
                  <a:rPr lang="en-US" sz="1800" dirty="0">
                    <a:sym typeface="Wingdings" panose="05000000000000000000" pitchFamily="2" charset="2"/>
                  </a:rPr>
                  <a:t> Computational burden.</a:t>
                </a:r>
              </a:p>
              <a:p>
                <a:endParaRPr lang="en-US" sz="1800" dirty="0">
                  <a:sym typeface="Wingdings" panose="05000000000000000000" pitchFamily="2" charset="2"/>
                </a:endParaRPr>
              </a:p>
              <a:p>
                <a:endParaRPr lang="en-US" sz="1800" dirty="0">
                  <a:sym typeface="Wingdings" panose="05000000000000000000" pitchFamily="2" charset="2"/>
                </a:endParaRPr>
              </a:p>
              <a:p>
                <a:r>
                  <a:rPr lang="en-US" sz="1800" u="sng" dirty="0"/>
                  <a:t>Error analysis</a:t>
                </a:r>
                <a:r>
                  <a:rPr lang="en-US" sz="1800" dirty="0"/>
                  <a:t>: Difference between predicted dual and primal function values. (f’ – v’)</a:t>
                </a:r>
              </a:p>
              <a:p>
                <a:pPr lvl="1"/>
                <a:r>
                  <a:rPr lang="en-US" sz="1800" dirty="0"/>
                  <a:t>Changes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/>
                  <a:t>. </a:t>
                </a:r>
              </a:p>
              <a:p>
                <a:pPr marL="457200" lvl="1" indent="0">
                  <a:buNone/>
                </a:pPr>
                <a:r>
                  <a:rPr lang="en-US" sz="1800" dirty="0"/>
                  <a:t>		v’ ≥ v* =f* ≥ f’  </a:t>
                </a:r>
              </a:p>
              <a:p>
                <a:pPr lvl="1"/>
                <a:r>
                  <a:rPr lang="en-US" sz="1800" dirty="0"/>
                  <a:t>Changes in right-hand side of a constraint.</a:t>
                </a:r>
              </a:p>
              <a:p>
                <a:pPr marL="457200" lvl="1" indent="0">
                  <a:buNone/>
                </a:pPr>
                <a:r>
                  <a:rPr lang="en-US" sz="1800" dirty="0"/>
                  <a:t>		v* ≥ v’</a:t>
                </a:r>
              </a:p>
              <a:p>
                <a:pPr lvl="1"/>
                <a:endParaRPr lang="en-US" sz="1800" dirty="0"/>
              </a:p>
              <a:p>
                <a:r>
                  <a:rPr lang="en-IN" sz="1800" dirty="0"/>
                  <a:t>If c</a:t>
                </a:r>
                <a:r>
                  <a:rPr lang="en-IN" sz="1800" baseline="-25000" dirty="0"/>
                  <a:t>i</a:t>
                </a:r>
                <a:r>
                  <a:rPr lang="en-IN" sz="1800" dirty="0"/>
                  <a:t> is decreasing, a lower bound of 0 is set to preserve the posynomial nature.</a:t>
                </a:r>
              </a:p>
              <a:p>
                <a:endParaRPr lang="en-US" sz="2200" dirty="0"/>
              </a:p>
              <a:p>
                <a:pPr lvl="1"/>
                <a:endParaRPr lang="en-US" sz="1800" dirty="0"/>
              </a:p>
              <a:p>
                <a:pPr lvl="1"/>
                <a:endParaRPr lang="en-IN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33372B-C22A-4405-89C0-FB927DEBD6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510746"/>
                <a:ext cx="10744200" cy="5666217"/>
              </a:xfrm>
              <a:blipFill>
                <a:blip r:embed="rId2"/>
                <a:stretch>
                  <a:fillRect l="-3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71F71D1-6870-4E30-9CA9-EFC38F876F07}"/>
                  </a:ext>
                </a:extLst>
              </p:cNvPr>
              <p:cNvSpPr txBox="1"/>
              <p:nvPr/>
            </p:nvSpPr>
            <p:spPr>
              <a:xfrm>
                <a:off x="2323068" y="3008996"/>
                <a:ext cx="3188044" cy="5023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Increment size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71F71D1-6870-4E30-9CA9-EFC38F876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3068" y="3008996"/>
                <a:ext cx="3188044" cy="502382"/>
              </a:xfrm>
              <a:prstGeom prst="rect">
                <a:avLst/>
              </a:prstGeom>
              <a:blipFill>
                <a:blip r:embed="rId3"/>
                <a:stretch>
                  <a:fillRect l="-1530" b="-12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646989E-8C7D-42AA-97D1-0EAEED6B6DDB}"/>
              </a:ext>
            </a:extLst>
          </p:cNvPr>
          <p:cNvCxnSpPr/>
          <p:nvPr/>
        </p:nvCxnSpPr>
        <p:spPr>
          <a:xfrm>
            <a:off x="3262184" y="4250724"/>
            <a:ext cx="60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86C2109-D458-49D4-A701-9D3CBB33779D}"/>
              </a:ext>
            </a:extLst>
          </p:cNvPr>
          <p:cNvCxnSpPr/>
          <p:nvPr/>
        </p:nvCxnSpPr>
        <p:spPr>
          <a:xfrm>
            <a:off x="3262184" y="4600832"/>
            <a:ext cx="60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B7E2FF-790B-464E-AC9C-FCEFF134FFDB}"/>
              </a:ext>
            </a:extLst>
          </p:cNvPr>
          <p:cNvCxnSpPr>
            <a:cxnSpLocks/>
          </p:cNvCxnSpPr>
          <p:nvPr/>
        </p:nvCxnSpPr>
        <p:spPr>
          <a:xfrm flipV="1">
            <a:off x="3875903" y="4267200"/>
            <a:ext cx="0" cy="3336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4251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66F53-6A90-4436-B21A-ABB4E304F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741" y="584886"/>
            <a:ext cx="10670059" cy="559207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References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sz="2000" dirty="0"/>
              <a:t>[1] Rao, </a:t>
            </a:r>
            <a:r>
              <a:rPr lang="en-US" sz="2000" dirty="0" err="1"/>
              <a:t>Singiresu</a:t>
            </a:r>
            <a:r>
              <a:rPr lang="en-US" sz="2000" dirty="0"/>
              <a:t> S. Engineering optimization: theory and practice. John Wiley &amp; Sons, 2019.</a:t>
            </a:r>
          </a:p>
          <a:p>
            <a:pPr marL="0" indent="0">
              <a:buNone/>
            </a:pPr>
            <a:r>
              <a:rPr lang="en-IN" sz="2000" dirty="0"/>
              <a:t>[2] Dinkel, John J., Mary S. </a:t>
            </a:r>
            <a:r>
              <a:rPr lang="en-IN" sz="2000" dirty="0" err="1"/>
              <a:t>Kochenberger</a:t>
            </a:r>
            <a:r>
              <a:rPr lang="en-IN" sz="2000" dirty="0"/>
              <a:t>, and S. N. Wong. "Sensitivity analysis procedures for geometric programs: Computational aspects." ACM Transactions on Mathematical Software (TOMS) 4.1 (1978): 1-14.</a:t>
            </a:r>
          </a:p>
          <a:p>
            <a:pPr marL="0" indent="0">
              <a:buNone/>
            </a:pPr>
            <a:r>
              <a:rPr lang="en-IN" sz="2000" dirty="0"/>
              <a:t>[3] </a:t>
            </a:r>
            <a:r>
              <a:rPr lang="en-IN" sz="2000" dirty="0" err="1"/>
              <a:t>Hoburg</a:t>
            </a:r>
            <a:r>
              <a:rPr lang="en-IN" sz="2000" dirty="0"/>
              <a:t>, Warren Woodrow. Aircraft design optimization as a geometric program. Diss. UC Berkeley, 2013.</a:t>
            </a:r>
          </a:p>
          <a:p>
            <a:pPr marL="0" indent="0">
              <a:buNone/>
            </a:pPr>
            <a:r>
              <a:rPr lang="en-IN" sz="2000" dirty="0"/>
              <a:t>Ojha, </a:t>
            </a:r>
            <a:r>
              <a:rPr lang="en-IN" sz="2000" dirty="0" err="1"/>
              <a:t>Akshay</a:t>
            </a:r>
            <a:r>
              <a:rPr lang="en-IN" sz="2000" dirty="0"/>
              <a:t> K., and K. K. Biswal. "Posynomial geometric programming problems with multiple parameters." </a:t>
            </a:r>
            <a:r>
              <a:rPr lang="en-IN" sz="2000" dirty="0" err="1"/>
              <a:t>arXiv</a:t>
            </a:r>
            <a:r>
              <a:rPr lang="en-IN" sz="2000" dirty="0"/>
              <a:t> preprint arXiv:1001.3493 (2010).</a:t>
            </a:r>
          </a:p>
        </p:txBody>
      </p:sp>
    </p:spTree>
    <p:extLst>
      <p:ext uri="{BB962C8B-B14F-4D97-AF65-F5344CB8AC3E}">
        <p14:creationId xmlns:p14="http://schemas.microsoft.com/office/powerpoint/2010/main" val="2423854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5363</TotalTime>
  <Words>1071</Words>
  <Application>Microsoft Macintosh PowerPoint</Application>
  <PresentationFormat>Widescreen</PresentationFormat>
  <Paragraphs>171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Wingdings</vt:lpstr>
      <vt:lpstr>Office Theme</vt:lpstr>
      <vt:lpstr>Geometric Programming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Geometric Programming</dc:title>
  <dc:creator>Ashwin Amalaruban</dc:creator>
  <cp:lastModifiedBy>Ashwin Amalaruban M</cp:lastModifiedBy>
  <cp:revision>68</cp:revision>
  <dcterms:created xsi:type="dcterms:W3CDTF">2020-06-08T19:32:02Z</dcterms:created>
  <dcterms:modified xsi:type="dcterms:W3CDTF">2026-04-30T22:35:47Z</dcterms:modified>
</cp:coreProperties>
</file>