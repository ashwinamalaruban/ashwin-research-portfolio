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769" r:id="rId3"/>
    <p:sldId id="771" r:id="rId4"/>
    <p:sldId id="772" r:id="rId5"/>
    <p:sldId id="728" r:id="rId6"/>
    <p:sldId id="770" r:id="rId7"/>
    <p:sldId id="734" r:id="rId8"/>
    <p:sldId id="761" r:id="rId9"/>
    <p:sldId id="454" r:id="rId10"/>
    <p:sldId id="741" r:id="rId11"/>
    <p:sldId id="736" r:id="rId12"/>
    <p:sldId id="742" r:id="rId13"/>
    <p:sldId id="762" r:id="rId14"/>
    <p:sldId id="743" r:id="rId15"/>
    <p:sldId id="745" r:id="rId16"/>
    <p:sldId id="747" r:id="rId17"/>
    <p:sldId id="763" r:id="rId18"/>
    <p:sldId id="764" r:id="rId19"/>
    <p:sldId id="765" r:id="rId20"/>
    <p:sldId id="766" r:id="rId21"/>
    <p:sldId id="759" r:id="rId22"/>
    <p:sldId id="767" r:id="rId23"/>
    <p:sldId id="768" r:id="rId24"/>
    <p:sldId id="758" r:id="rId25"/>
    <p:sldId id="76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77"/>
    <p:restoredTop sz="84384"/>
  </p:normalViewPr>
  <p:slideViewPr>
    <p:cSldViewPr snapToGrid="0">
      <p:cViewPr varScale="1">
        <p:scale>
          <a:sx n="102" d="100"/>
          <a:sy n="102" d="100"/>
        </p:scale>
        <p:origin x="1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6E455-BA42-4BD9-A292-7CA61E51EC19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8D7C8-AE32-420C-BA6C-8D10A718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157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8D7C8-AE32-420C-BA6C-8D10A718A65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41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9FCA0-81B6-C6DA-8E09-2F1EE790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1D470-9646-69E3-7440-360A7A9B2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8B2C4-09E8-CC16-3FCE-7E7C93717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predicting RNA structure and function is shifting from predicting a single lowest energy structure to the identification of functional structural features in an ensemble of RNA structures.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sums over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possible secondary structures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weighting each one by its Boltzmann factor, exp(−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G/RT).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connects the free energy of a structure directly to its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equilibrium probability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ensemble.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that partition function we can marginalize over structures and compute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base-pairing probabilities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—for every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 pair we know how often they’re paired across the ensemble. Those probabilities can be used to pick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probable or maximum-expected-accuracy structure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12906-8B6C-8126-1F67-C0CB0549F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00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ECE5-6D71-D543-B837-16BE4A87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367E0-2D79-965F-228A-B807DC5C3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298EC-C751-004D-0AF6-C622CC41F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predicting RNA structure and function is shifting from predicting a single lowest energy structure to the identification of functional structural features in an ensemble of RNA structures.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sums over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possible secondary structures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weighting each one by its Boltzmann factor, exp(−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G/RT).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connects the free energy of a structure directly to its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equilibrium probability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ensemble.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that partition function we can marginalize over structures and compute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base-pairing probabilities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—for every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 pair we know how often they’re paired across the ensemble. Those probabilities can be used to pick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probable or maximum-expected-accuracy structure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F53DD-555B-4838-8120-F162A7F61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596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9931-96F6-D6E7-DA01-ED65B503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E0F48-D25C-9C8D-B28F-D30D2EE94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DCE90-116D-B346-16CD-EFDEF922F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predicting RNA structure and function is shifting from predicting a single lowest energy structure to the identification of functional structural features in an ensemble of RNA structures.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sums over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possible secondary structures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weighting each one by its Boltzmann factor, exp(−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G/RT).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connects the free energy of a structure directly to its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equilibrium probability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ensemble.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that partition function we can marginalize over structures and compute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base-pairing probabilities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—for every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 pair we know how often they’re paired across the ensemble. Those probabilities can be used to pick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probable or maximum-expected-accuracy structure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8AABC-3255-99BA-133E-EBFE377A1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14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A956-A8F5-92F8-7F26-6F8A723B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C279F-67FE-801F-0039-DBF06302F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750E1-6B86-A19E-AFAF-4839A098E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predicting RNA structure and function is shifting from predicting a single lowest energy structure to the identification of functional structural features in an ensemble of RNA structures.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sums over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possible secondary structures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weighting each one by its Boltzmann factor, exp(−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G/RT).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connects the free energy of a structure directly to its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equilibrium probability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ensemble.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that partition function we can marginalize over structures and compute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base-pairing probabilities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—for every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 pair we know how often they’re paired across the ensemble. Those probabilities can be used to pick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probable or maximum-expected-accuracy structure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917CB-FC5A-2047-F274-AC74D2BDB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951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81411-F698-BA75-328C-BACF9A53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0814C-E5F2-207C-7349-9F7B9C31F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9AC28-E1EE-FA9B-3738-23D51E800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predicting RNA structure and function is shifting from predicting a single lowest energy structure to the identification of functional structural features in an ensemble of RNA structures.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sums over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possible secondary structures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weighting each one by its Boltzmann factor, exp(−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G/RT).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connects the free energy of a structure directly to its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equilibrium probability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ensemble.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that partition function we can marginalize over structures and compute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base-pairing probabilities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—for every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 pair we know how often they’re paired across the ensemble. Those probabilities can be used to pick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probable or maximum-expected-accuracy structure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FBBC2-9F7B-DE64-3CBB-DFAD779DE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298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2280C-DB93-E12D-0236-A75F15FE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EDADF-1FB9-6F1E-7845-F98F75CEE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0EB4A-9BBA-A51C-59B4-395D1FF64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5B0F-6089-7DA1-CE63-9A4950EF6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644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D93CB-0EC5-DE93-9D7A-45C8F6F8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91B9B-EA18-82BF-C0A7-41C4A0F74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DDAA1-200E-87C3-5C75-8BF7AF38B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8758A-5A3B-6DEB-8FDF-25FF9CA6E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584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we need is a way to write down the system as a collection of different configurations parts, and some way to describe the probability of observing the system in one or more of these individual configurations.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146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6D77-7EA2-F9ED-9FA4-B28DA30F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E0FFD-9CC1-AE7A-266C-1FBBB6384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B86B6-FA15-BF32-87C5-A4184E757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EE4C3-E3D3-EB2B-C728-C77847280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551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E717-5B04-E337-70AB-B50BF431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7DE98-0A70-B8EE-0C5D-610A70084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87357-AEC0-3A10-73EC-52B2FDE66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F3603-7B4D-78DB-2FFB-F6B2E3E41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54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229D-3C87-1476-B775-CBD98B81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A6439-562D-EBA6-9E1E-5DECE5A7F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EDCBB-432C-FCD3-AB71-D90B87A66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25F76-1205-53C5-4E50-85C4BE22F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20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94D7B-CC52-6072-18D3-7F41BF4D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30C68-3DBF-BDBC-0738-4D592AD73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B0F9A-C9E8-88BF-B70A-C912EE2CF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905F6-2E1F-95E1-6364-82FF58E34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796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22AB-4F66-00B6-0CAF-4BF40AE2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CEAB0-339D-72BA-6D50-81FBBF1C0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F44DF-0E58-CF8D-A11D-14A0FD15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6AF47-25DE-DF7B-D52C-6F9040FE0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305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C051-C8D9-14A5-7AA9-E9A6A44C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5E069-6BE3-C126-FC32-B2A8FF2B6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F41A1-1211-87A2-BFC3-3D2FDB9EE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F48F8-B25D-08E0-1EB0-59D0B5573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54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5DFCC-2F19-703A-F24A-007CBD96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BA318-6BC8-65E3-0DEC-77772169C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72501-3AA0-DDFC-DAE0-EC4E493C0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7259D-2F1C-5B0F-82B4-24C4510B2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565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0F0F-6172-4240-CA4B-D369C69A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DA19F-D621-D468-4492-E803268E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D9FCF-2186-A9A0-1EF5-57396879D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148CB-9848-08BA-9CB8-61F59CEBF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432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6BE00-F6C6-9773-08DF-DE4D9BED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EBA11-CB15-AF59-A395-894FDDADF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4DE22-4085-CE73-83F1-FA28FEF92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50BCC-FF45-F198-F755-BEB7443B7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347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449C-1F13-6BBE-A4D1-0311551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63A86-CB45-5B12-3207-2778E3660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FDAA3-DD78-C689-0A45-B617FE6F1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F6DDF-4E14-47E2-E4BC-30D834904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081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D546-6910-3808-74DE-005F3EE9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53633-AF13-BEFE-C724-7B731E92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9E79B-6B93-43B2-6D31-1326BF32E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B8C2F-C957-AE98-6194-77422E112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652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3EB8A-9562-5730-CFA6-4F6FC389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C040C-8E5D-0AD3-6E6B-855557CB7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002C9-DFC0-B0A7-BFC4-88221ED1C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C3A20-62CC-9BEA-56B1-0FEB13A83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443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E8B4-9E6C-9FED-4806-4F2CAD16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38372-38A5-1C3E-2E47-4CC30C16A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8E37F-ECC1-4C4C-5029-07320BB87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E9E47-E22F-67E5-4897-CE37AB35F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881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671F-742A-ED40-C982-2B9365B61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0AA1F-73D3-532C-BCF4-8A32D42E6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5AF60-B049-D0CB-3B13-CD694F484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6397A-0859-D285-2989-6D1C7FF8C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4485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44A0-38CB-29EE-F7D6-17DDE672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89889-533B-A105-47FA-38CDAFCDE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0828D-93D6-58E0-0CDE-588DD83CB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one ‘best’ structure, we now have a probability distribution over structures.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22E2D-1D3F-C127-E107-A2AAA40CB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23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A80F-DF4D-2129-7A08-82FA4D43E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20E92-D53E-5603-C0E8-830872897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6B39-1287-AD92-208D-599C4DEE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D367-56BB-F545-BFC1-94BD3732DFFA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F4854-0933-0897-3642-DEE4243D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75F7-CEFB-E7AF-2E08-4FDB5141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29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71E7-8CCB-F2EF-C467-B5A6D1E8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2CEB6-9E50-1EBA-BFF3-C4AEA673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4E5B6-9E1F-670C-14B5-E6B150F2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9876-CFBA-CB49-B1F6-F07F32C7B328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1734C-1CA7-6F3B-5AD6-9296DFD1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3C0E-C8F9-C1DD-5B79-BA25CB34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38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B65F-27DB-D0C9-772F-C0A8437E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AB40C-8534-7325-FE28-5636D9F7E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4790E-66EE-B28F-71DE-8C145B1E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C32B-75B4-E244-98BE-93DA3F74EBED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3F097-947A-C12D-7620-C8CA1734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DFAD9-34A1-CB1C-8B6A-7A76FBB2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1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63CB-9957-337A-6599-61B0367F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E04CC-EB55-15AE-24F6-1109087B4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082C5-D2A2-9B4C-AE47-6F49051C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A453C-844E-DAA4-8DED-CE4FC925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7703-9074-3348-8A91-3FEA007ECE4B}" type="datetime1">
              <a:rPr lang="en-US" smtClean="0"/>
              <a:t>4/30/26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CDF67-E63C-0359-75C5-81AA9D3F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4041C-EBC6-458A-59EA-9AA37C10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67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B38C-B162-F071-AE3D-A94C790FD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293AE-4E03-2FB1-997F-FC9CFFF6C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FD60D-95AE-F228-95D0-A7F95CB79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5E253-CA6E-BB95-FFD0-B71581A1E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F1E3C-9370-0452-C882-BEFA3C9A3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2A1189-00A5-F53C-63DE-3B25A51B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E9A50-D41A-5C44-8380-AB9545725B6D}" type="datetime1">
              <a:rPr lang="en-US" smtClean="0"/>
              <a:t>4/30/26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A6A72-131D-81D4-A3DF-0D7B0DF7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C51CA-819F-1EF6-5EC5-42E1FA1D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2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E63A-A0AF-69CD-A4BF-123DAB78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B4144-44DE-0016-EC4E-54D8215B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67E4-03CF-BC4C-A73D-3303351C4FCA}" type="datetime1">
              <a:rPr lang="en-US" smtClean="0"/>
              <a:t>4/30/26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37B95-8BB2-572C-56A3-5FA2F545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4AC2F-407D-03EF-90FE-C3F427D6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545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EBE9F-AB02-1416-B0D8-791D7D2FF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5F907-26EA-1F42-BEF3-02C301F1D609}" type="datetime1">
              <a:rPr lang="en-US" smtClean="0"/>
              <a:t>4/30/26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FFC7B-7833-6415-6D12-570F1BE3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9C552-D988-924B-7CA0-DCC5D1B4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82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179B-1B83-C4BA-E7E0-DBD61DE7C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01296-4387-791E-5E7D-C2B4921C5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DD7C5-3D8B-0803-8CD2-07BE5854B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EDBBA-7BF8-A73F-B644-08A1D04A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BF60-1889-3A46-82C1-5E62D21ADB3B}" type="datetime1">
              <a:rPr lang="en-US" smtClean="0"/>
              <a:t>4/30/26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DCE07-6D85-60DA-44C0-6FA375BD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E0C36-F1B9-89F0-82BF-567CAE08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8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E3D1-5E5A-E298-EE10-B7ED72D9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6063F-AE80-9E31-D99F-78DE1B7D9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A2367-BF6B-7E56-38BC-C9A310E3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505F5-889E-40DD-FF7E-25726D3C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16D4-50BA-2B40-89A1-80F1EEFEFF52}" type="datetime1">
              <a:rPr lang="en-US" smtClean="0"/>
              <a:t>4/30/26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EA51D-12B5-5A0F-4B41-9B586FCF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39957-00D8-5F5D-B948-F5F4B269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4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A85E-80AD-3CAD-F204-9A40AB03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EA485-D14F-7A4F-44E1-15950E4ED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4DE9B-1A2C-BFDC-5831-405796AA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9B21-B5A3-3549-BC87-C4A6A4B40E9F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5DD5E-D3A6-400D-C0C6-8FE6B20F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C2EFC-FE36-47B6-9BB9-B8142C90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0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AEF12-8FB2-DC88-8708-D4464A9F1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96C74-0E14-6505-9351-CF7E03556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515B9-395B-52B8-6A37-43FE3358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BB18-D02D-AA42-9E3D-06A6E281B97E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1D087-7291-B1EB-99A5-2DE1A3E0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81EA-029D-5BDD-11AC-AD550402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46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455EE-DD49-B672-61BD-AA40EBE3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9733B-ED4B-8796-2FEA-6E55E994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22950-6B41-DD64-A802-A8857DCC7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659E5-0BA3-254E-B3A0-4EF152656475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A973-956E-7112-2D78-145B6D2E0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5ABF-29B0-239B-4479-ECC533381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70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4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4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10" Type="http://schemas.openxmlformats.org/officeDocument/2006/relationships/image" Target="../media/image15.png"/><Relationship Id="rId4" Type="http://schemas.openxmlformats.org/officeDocument/2006/relationships/image" Target="../media/image9.emf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00.png"/><Relationship Id="rId12" Type="http://schemas.openxmlformats.org/officeDocument/2006/relationships/image" Target="../media/image150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140.png"/><Relationship Id="rId5" Type="http://schemas.openxmlformats.org/officeDocument/2006/relationships/image" Target="../media/image10.emf"/><Relationship Id="rId15" Type="http://schemas.openxmlformats.org/officeDocument/2006/relationships/image" Target="../media/image18.png"/><Relationship Id="rId10" Type="http://schemas.openxmlformats.org/officeDocument/2006/relationships/image" Target="../media/image130.png"/><Relationship Id="rId4" Type="http://schemas.openxmlformats.org/officeDocument/2006/relationships/image" Target="../media/image9.emf"/><Relationship Id="rId9" Type="http://schemas.openxmlformats.org/officeDocument/2006/relationships/image" Target="../media/image120.pn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4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gi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50.png"/><Relationship Id="rId5" Type="http://schemas.openxmlformats.org/officeDocument/2006/relationships/image" Target="../media/image61.png"/><Relationship Id="rId10" Type="http://schemas.openxmlformats.org/officeDocument/2006/relationships/image" Target="../media/image49.png"/><Relationship Id="rId9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0.png"/><Relationship Id="rId5" Type="http://schemas.openxmlformats.org/officeDocument/2006/relationships/image" Target="../media/image61.png"/><Relationship Id="rId15" Type="http://schemas.openxmlformats.org/officeDocument/2006/relationships/image" Target="../media/image56.png"/><Relationship Id="rId10" Type="http://schemas.openxmlformats.org/officeDocument/2006/relationships/image" Target="../media/image49.png"/><Relationship Id="rId4" Type="http://schemas.openxmlformats.org/officeDocument/2006/relationships/image" Target="../media/image52.png"/><Relationship Id="rId9" Type="http://schemas.openxmlformats.org/officeDocument/2006/relationships/image" Target="../media/image48.png"/><Relationship Id="rId1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732DDB-B8AB-2580-133E-D8D9F0DF74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394"/>
          <a:stretch>
            <a:fillRect/>
          </a:stretch>
        </p:blipFill>
        <p:spPr>
          <a:xfrm>
            <a:off x="511396" y="857595"/>
            <a:ext cx="2780691" cy="5386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D13C4B-3577-8BA4-FCE3-2A3E91B4F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9656"/>
            <a:ext cx="10298654" cy="21746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Partition function and how to compute it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F1E76-AEAC-4156-3046-A6448EF21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258" y="3550745"/>
            <a:ext cx="914400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Ashwin Amalaruban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0D259-3DED-5426-1B3A-186BCF8641C6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E4465-8A59-3B2A-50D0-9050D4E0F32B}"/>
              </a:ext>
            </a:extLst>
          </p:cNvPr>
          <p:cNvSpPr/>
          <p:nvPr/>
        </p:nvSpPr>
        <p:spPr>
          <a:xfrm>
            <a:off x="1146258" y="857595"/>
            <a:ext cx="594860" cy="344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2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72"/>
    </mc:Choice>
    <mc:Fallback xmlns="">
      <p:transition spd="slow" advTm="143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D211C-02EE-A633-D2C2-081B8DF1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BF05F4-15AA-93C1-E9C7-194D8F2E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D92148-050E-CEE5-041D-78692933FE34}"/>
              </a:ext>
            </a:extLst>
          </p:cNvPr>
          <p:cNvSpPr txBox="1">
            <a:spLocks/>
          </p:cNvSpPr>
          <p:nvPr/>
        </p:nvSpPr>
        <p:spPr>
          <a:xfrm>
            <a:off x="1302106" y="320707"/>
            <a:ext cx="9079581" cy="1423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b="1" dirty="0">
                <a:solidFill>
                  <a:srgbClr val="C00000"/>
                </a:solidFill>
              </a:rPr>
              <a:t>What is partition function?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4A33B1-9D96-95D6-5E62-0B17E82CED48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01BD30-7B62-CCDE-3034-0D8075294977}"/>
                  </a:ext>
                </a:extLst>
              </p:cNvPr>
              <p:cNvSpPr txBox="1"/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Consider a system with fixed N (# particles) and fixed T (temp, thermal equilibrium).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particle </a:t>
                </a:r>
                <a:r>
                  <a:rPr lang="en-US" sz="2000" i="1" dirty="0" err="1"/>
                  <a:t>i</a:t>
                </a:r>
                <a:r>
                  <a:rPr lang="en-US" sz="2000" dirty="0"/>
                  <a:t> has an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Total energy (of a 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) is the sum of all energies: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={1,..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01BD30-7B62-CCDE-3034-0D8075294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blipFill>
                <a:blip r:embed="rId3"/>
                <a:stretch>
                  <a:fillRect l="-462" b="-17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E9A251E-8A00-76B5-F0D7-17BFB26CD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587" y="1729551"/>
            <a:ext cx="1022212" cy="9206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31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781B-C890-2633-F35D-83D0430E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F1ADDC-55E1-4FEB-7565-C35D441F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5B7C9D-0E99-EE7C-FC80-35588A07358A}"/>
              </a:ext>
            </a:extLst>
          </p:cNvPr>
          <p:cNvSpPr txBox="1">
            <a:spLocks/>
          </p:cNvSpPr>
          <p:nvPr/>
        </p:nvSpPr>
        <p:spPr>
          <a:xfrm>
            <a:off x="1302106" y="320707"/>
            <a:ext cx="9079581" cy="1423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b="1" dirty="0">
                <a:solidFill>
                  <a:srgbClr val="C00000"/>
                </a:solidFill>
              </a:rPr>
              <a:t>What is partition function?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D96733-1D39-95A8-05D0-8D0D2BFA385D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4E22DC3-D83E-EFC8-CAE9-98FDB1303251}"/>
                  </a:ext>
                </a:extLst>
              </p:cNvPr>
              <p:cNvSpPr txBox="1"/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Consider a system with fixed N (# particles) and fixed T (temp, thermal equilibrium).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particle </a:t>
                </a:r>
                <a:r>
                  <a:rPr lang="en-US" sz="2000" i="1" dirty="0" err="1"/>
                  <a:t>i</a:t>
                </a:r>
                <a:r>
                  <a:rPr lang="en-US" sz="2000" dirty="0"/>
                  <a:t> has an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Total energy (of a 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) is the sum of all energies: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={1,..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4E22DC3-D83E-EFC8-CAE9-98FDB1303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blipFill>
                <a:blip r:embed="rId3"/>
                <a:stretch>
                  <a:fillRect l="-462" b="-17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AB4D1E5-7E75-6090-9007-BBA155558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587" y="1729551"/>
            <a:ext cx="1022212" cy="92064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9F1E41-EBAD-A5FA-E7AE-60B6AC0EEA6C}"/>
                  </a:ext>
                </a:extLst>
              </p:cNvPr>
              <p:cNvSpPr txBox="1"/>
              <p:nvPr/>
            </p:nvSpPr>
            <p:spPr>
              <a:xfrm>
                <a:off x="2560598" y="3146128"/>
                <a:ext cx="254441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Each state is associated with its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9F1E41-EBAD-A5FA-E7AE-60B6AC0EE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598" y="3146128"/>
                <a:ext cx="2544418" cy="1015663"/>
              </a:xfrm>
              <a:prstGeom prst="rect">
                <a:avLst/>
              </a:prstGeom>
              <a:blipFill>
                <a:blip r:embed="rId5"/>
                <a:stretch>
                  <a:fillRect l="-2488" t="-246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FCFBA8E-104A-C099-9691-0E3F5EEE06E1}"/>
              </a:ext>
            </a:extLst>
          </p:cNvPr>
          <p:cNvSpPr txBox="1"/>
          <p:nvPr/>
        </p:nvSpPr>
        <p:spPr>
          <a:xfrm>
            <a:off x="6806456" y="3314517"/>
            <a:ext cx="1701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Properties of the system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33562F-10D8-2EE8-168D-C10FD8BA09D4}"/>
              </a:ext>
            </a:extLst>
          </p:cNvPr>
          <p:cNvCxnSpPr>
            <a:cxnSpLocks/>
          </p:cNvCxnSpPr>
          <p:nvPr/>
        </p:nvCxnSpPr>
        <p:spPr>
          <a:xfrm>
            <a:off x="4830417" y="3639461"/>
            <a:ext cx="18387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F7BE24D-D266-E4B2-D65C-3B6BB2F5901A}"/>
              </a:ext>
            </a:extLst>
          </p:cNvPr>
          <p:cNvSpPr txBox="1"/>
          <p:nvPr/>
        </p:nvSpPr>
        <p:spPr>
          <a:xfrm>
            <a:off x="5097632" y="3408081"/>
            <a:ext cx="186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Statistical thermodynamics</a:t>
            </a:r>
          </a:p>
        </p:txBody>
      </p:sp>
    </p:spTree>
    <p:extLst>
      <p:ext uri="{BB962C8B-B14F-4D97-AF65-F5344CB8AC3E}">
        <p14:creationId xmlns:p14="http://schemas.microsoft.com/office/powerpoint/2010/main" val="27824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9F84-AF67-934B-96FC-39B0F846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16BCD-68BB-C21B-9C1D-5CF010A4D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72F48F-5AFC-268A-1EA4-B9AFE4257205}"/>
              </a:ext>
            </a:extLst>
          </p:cNvPr>
          <p:cNvSpPr txBox="1">
            <a:spLocks/>
          </p:cNvSpPr>
          <p:nvPr/>
        </p:nvSpPr>
        <p:spPr>
          <a:xfrm>
            <a:off x="1302106" y="320707"/>
            <a:ext cx="9079581" cy="1423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b="1" dirty="0">
                <a:solidFill>
                  <a:srgbClr val="C00000"/>
                </a:solidFill>
              </a:rPr>
              <a:t>What is partition function?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7E63ED-8B02-DFB9-E1DC-EB0B413A8DD3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FBED27-AC78-78EA-9F1F-4C75395261F9}"/>
                  </a:ext>
                </a:extLst>
              </p:cNvPr>
              <p:cNvSpPr txBox="1"/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Consider a system with fixed N (# particles) and fixed T (temp, thermal equilibrium).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particle </a:t>
                </a:r>
                <a:r>
                  <a:rPr lang="en-US" sz="2000" i="1" dirty="0" err="1"/>
                  <a:t>i</a:t>
                </a:r>
                <a:r>
                  <a:rPr lang="en-US" sz="2000" dirty="0"/>
                  <a:t> has an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Total energy (of a 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) is the sum of all energies: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={1,..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FBED27-AC78-78EA-9F1F-4C7539526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blipFill>
                <a:blip r:embed="rId3"/>
                <a:stretch>
                  <a:fillRect l="-462" b="-17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ED5D825-1D50-982A-9C02-339C99E10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587" y="1729551"/>
            <a:ext cx="1022212" cy="92064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720DD2-68AA-1B3E-D364-FE622785EFDD}"/>
                  </a:ext>
                </a:extLst>
              </p:cNvPr>
              <p:cNvSpPr txBox="1"/>
              <p:nvPr/>
            </p:nvSpPr>
            <p:spPr>
              <a:xfrm>
                <a:off x="2560598" y="3146128"/>
                <a:ext cx="254441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Each state is associated with its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720DD2-68AA-1B3E-D364-FE622785E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598" y="3146128"/>
                <a:ext cx="2544418" cy="1015663"/>
              </a:xfrm>
              <a:prstGeom prst="rect">
                <a:avLst/>
              </a:prstGeom>
              <a:blipFill>
                <a:blip r:embed="rId5"/>
                <a:stretch>
                  <a:fillRect l="-2488" t="-246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2C0D820-43E6-447C-450D-0D8D2F05F66A}"/>
              </a:ext>
            </a:extLst>
          </p:cNvPr>
          <p:cNvSpPr txBox="1"/>
          <p:nvPr/>
        </p:nvSpPr>
        <p:spPr>
          <a:xfrm>
            <a:off x="6806456" y="3314517"/>
            <a:ext cx="1701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Properties of the system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C700A8-2709-E5D4-07AD-0FA2283647AA}"/>
              </a:ext>
            </a:extLst>
          </p:cNvPr>
          <p:cNvCxnSpPr>
            <a:cxnSpLocks/>
          </p:cNvCxnSpPr>
          <p:nvPr/>
        </p:nvCxnSpPr>
        <p:spPr>
          <a:xfrm>
            <a:off x="4830417" y="3639461"/>
            <a:ext cx="18387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4AFE2B-D2C9-2C32-4260-05D812D7B581}"/>
              </a:ext>
            </a:extLst>
          </p:cNvPr>
          <p:cNvSpPr txBox="1"/>
          <p:nvPr/>
        </p:nvSpPr>
        <p:spPr>
          <a:xfrm>
            <a:off x="5250031" y="5487025"/>
            <a:ext cx="1868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Depends 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8BB55-3302-AB50-F94E-E4CEC16AE214}"/>
              </a:ext>
            </a:extLst>
          </p:cNvPr>
          <p:cNvSpPr txBox="1"/>
          <p:nvPr/>
        </p:nvSpPr>
        <p:spPr>
          <a:xfrm>
            <a:off x="4830417" y="4360573"/>
            <a:ext cx="3866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to account for each state?</a:t>
            </a:r>
          </a:p>
          <a:p>
            <a:r>
              <a:rPr lang="en-US" sz="2000" dirty="0" err="1"/>
              <a:t>i</a:t>
            </a:r>
            <a:r>
              <a:rPr lang="en-US" sz="2000" dirty="0"/>
              <a:t>) Are they equal? NO</a:t>
            </a:r>
          </a:p>
          <a:p>
            <a:r>
              <a:rPr lang="en-US" sz="2000" dirty="0"/>
              <a:t>ii) How to weigh each state?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06188D-90AF-5E59-08AC-074D45CFA69C}"/>
              </a:ext>
            </a:extLst>
          </p:cNvPr>
          <p:cNvCxnSpPr/>
          <p:nvPr/>
        </p:nvCxnSpPr>
        <p:spPr>
          <a:xfrm>
            <a:off x="5640456" y="3867041"/>
            <a:ext cx="0" cy="493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1536C4-BCC9-897F-6F2E-A3904B5A41E0}"/>
                  </a:ext>
                </a:extLst>
              </p:cNvPr>
              <p:cNvSpPr txBox="1"/>
              <p:nvPr/>
            </p:nvSpPr>
            <p:spPr>
              <a:xfrm>
                <a:off x="3054434" y="6061714"/>
                <a:ext cx="7229445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Use Boltzmann weight for each state: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1536C4-BCC9-897F-6F2E-A3904B5A4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34" y="6061714"/>
                <a:ext cx="7229445" cy="475579"/>
              </a:xfrm>
              <a:prstGeom prst="rect">
                <a:avLst/>
              </a:prstGeom>
              <a:blipFill>
                <a:blip r:embed="rId6"/>
                <a:stretch>
                  <a:fillRect l="-1404" t="-5263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ADEC6AB-DBC9-F021-81D8-CE11EE1064EE}"/>
              </a:ext>
            </a:extLst>
          </p:cNvPr>
          <p:cNvSpPr txBox="1"/>
          <p:nvPr/>
        </p:nvSpPr>
        <p:spPr>
          <a:xfrm>
            <a:off x="2456621" y="5565242"/>
            <a:ext cx="3183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 of the system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182146-5B0E-1354-F7A3-0F3974FCC531}"/>
              </a:ext>
            </a:extLst>
          </p:cNvPr>
          <p:cNvCxnSpPr>
            <a:cxnSpLocks/>
          </p:cNvCxnSpPr>
          <p:nvPr/>
        </p:nvCxnSpPr>
        <p:spPr>
          <a:xfrm>
            <a:off x="4982817" y="5765297"/>
            <a:ext cx="18387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654716F-382F-A5DD-58DB-CE9CEC7EC058}"/>
              </a:ext>
            </a:extLst>
          </p:cNvPr>
          <p:cNvSpPr txBox="1"/>
          <p:nvPr/>
        </p:nvSpPr>
        <p:spPr>
          <a:xfrm>
            <a:off x="6966575" y="5548047"/>
            <a:ext cx="183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Temperature 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FCBBC-699C-59D5-C9FE-E273133C5FD7}"/>
              </a:ext>
            </a:extLst>
          </p:cNvPr>
          <p:cNvSpPr txBox="1"/>
          <p:nvPr/>
        </p:nvSpPr>
        <p:spPr>
          <a:xfrm>
            <a:off x="5161528" y="3429933"/>
            <a:ext cx="186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Statistical thermodynamics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E63B88-2195-7930-1166-7682F3E48283}"/>
                  </a:ext>
                </a:extLst>
              </p:cNvPr>
              <p:cNvSpPr txBox="1"/>
              <p:nvPr/>
            </p:nvSpPr>
            <p:spPr>
              <a:xfrm>
                <a:off x="8959908" y="6090383"/>
                <a:ext cx="303287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𝐵𝑜𝑙𝑡𝑧𝑚𝑎𝑛𝑛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E63B88-2195-7930-1166-7682F3E48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908" y="6090383"/>
                <a:ext cx="3032876" cy="261610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59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7439-29C1-F7EB-880A-DF5C3029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40FD2937-5D5F-9F65-C4BD-986B9C8DD898}"/>
              </a:ext>
            </a:extLst>
          </p:cNvPr>
          <p:cNvSpPr/>
          <p:nvPr/>
        </p:nvSpPr>
        <p:spPr>
          <a:xfrm>
            <a:off x="2474842" y="3564121"/>
            <a:ext cx="6490253" cy="15843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88169A-36C5-924D-0538-B4B6630B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314B30-BA8E-5B84-4F06-E77B1D5F2525}"/>
              </a:ext>
            </a:extLst>
          </p:cNvPr>
          <p:cNvSpPr txBox="1">
            <a:spLocks/>
          </p:cNvSpPr>
          <p:nvPr/>
        </p:nvSpPr>
        <p:spPr>
          <a:xfrm>
            <a:off x="1302106" y="320707"/>
            <a:ext cx="9079581" cy="1423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b="1" dirty="0">
                <a:solidFill>
                  <a:srgbClr val="C00000"/>
                </a:solidFill>
              </a:rPr>
              <a:t>What is partition function?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FEC22E-E85F-5231-DC7B-E222FED7C816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BE6845-AACA-66AA-23B9-04E27C42DE1F}"/>
                  </a:ext>
                </a:extLst>
              </p:cNvPr>
              <p:cNvSpPr txBox="1"/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Consider a system with fixed N (# particles) and fixed T (temp, thermal equilibrium).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particle </a:t>
                </a:r>
                <a:r>
                  <a:rPr lang="en-US" sz="2000" i="1" dirty="0" err="1"/>
                  <a:t>i</a:t>
                </a:r>
                <a:r>
                  <a:rPr lang="en-US" sz="2000" dirty="0"/>
                  <a:t> has an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Total energy (of a 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) is the sum of all energies: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={1,..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BE6845-AACA-66AA-23B9-04E27C42D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blipFill>
                <a:blip r:embed="rId3"/>
                <a:stretch>
                  <a:fillRect l="-462" b="-17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8F25EB-6CBE-B103-9990-16F8DF7ECC22}"/>
                  </a:ext>
                </a:extLst>
              </p:cNvPr>
              <p:cNvSpPr txBox="1"/>
              <p:nvPr/>
            </p:nvSpPr>
            <p:spPr>
              <a:xfrm>
                <a:off x="3232702" y="5662002"/>
                <a:ext cx="6097656" cy="64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Probability of any state,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8F25EB-6CBE-B103-9990-16F8DF7EC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702" y="5662002"/>
                <a:ext cx="6097656" cy="642740"/>
              </a:xfrm>
              <a:prstGeom prst="rect">
                <a:avLst/>
              </a:prstGeom>
              <a:blipFill>
                <a:blip r:embed="rId4"/>
                <a:stretch>
                  <a:fillRect l="-1040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72B9A6-5709-3B11-3B0D-2C4143ACFACC}"/>
                  </a:ext>
                </a:extLst>
              </p:cNvPr>
              <p:cNvSpPr txBox="1"/>
              <p:nvPr/>
            </p:nvSpPr>
            <p:spPr>
              <a:xfrm>
                <a:off x="2818001" y="3975145"/>
                <a:ext cx="5908642" cy="478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Partition function,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72B9A6-5709-3B11-3B0D-2C4143ACF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001" y="3975145"/>
                <a:ext cx="5908642" cy="478977"/>
              </a:xfrm>
              <a:prstGeom prst="rect">
                <a:avLst/>
              </a:prstGeom>
              <a:blipFill>
                <a:blip r:embed="rId5"/>
                <a:stretch>
                  <a:fillRect l="-1499" t="-115385" b="-18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2ECD94-2023-6A38-4937-14E33E7AFB96}"/>
                  </a:ext>
                </a:extLst>
              </p:cNvPr>
              <p:cNvSpPr txBox="1"/>
              <p:nvPr/>
            </p:nvSpPr>
            <p:spPr>
              <a:xfrm>
                <a:off x="6180698" y="3570880"/>
                <a:ext cx="3032876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𝐵𝑜𝑙𝑡𝑧𝑚𝑎𝑛𝑛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2ECD94-2023-6A38-4937-14E33E7AF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698" y="3570880"/>
                <a:ext cx="3032876" cy="4380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DD10965C-CA96-60C3-5F64-971428559789}"/>
              </a:ext>
            </a:extLst>
          </p:cNvPr>
          <p:cNvSpPr txBox="1"/>
          <p:nvPr/>
        </p:nvSpPr>
        <p:spPr>
          <a:xfrm>
            <a:off x="4288528" y="4666365"/>
            <a:ext cx="2753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sum runs </a:t>
            </a:r>
            <a:r>
              <a:rPr lang="en-US" sz="1200" u="sng" dirty="0"/>
              <a:t>over all the states</a:t>
            </a:r>
            <a:r>
              <a:rPr lang="en-US" sz="1200" dirty="0"/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7BF51C-A78F-2499-7755-48AFC3C6CDC1}"/>
              </a:ext>
            </a:extLst>
          </p:cNvPr>
          <p:cNvSpPr txBox="1"/>
          <p:nvPr/>
        </p:nvSpPr>
        <p:spPr>
          <a:xfrm>
            <a:off x="7572367" y="3968794"/>
            <a:ext cx="1306098" cy="27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Boltzmann weight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D315642-A890-1A2C-B2C6-488B168D4B22}"/>
              </a:ext>
            </a:extLst>
          </p:cNvPr>
          <p:cNvCxnSpPr/>
          <p:nvPr/>
        </p:nvCxnSpPr>
        <p:spPr>
          <a:xfrm flipV="1">
            <a:off x="6032104" y="4454122"/>
            <a:ext cx="0" cy="227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4617054F-C2E7-36B8-3A11-C318D6956C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1667" y="4104714"/>
            <a:ext cx="530701" cy="13592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6B6B62-32BB-2744-F1D4-49D128CDA2B7}"/>
              </a:ext>
            </a:extLst>
          </p:cNvPr>
          <p:cNvCxnSpPr>
            <a:cxnSpLocks/>
          </p:cNvCxnSpPr>
          <p:nvPr/>
        </p:nvCxnSpPr>
        <p:spPr>
          <a:xfrm>
            <a:off x="5585791" y="5148470"/>
            <a:ext cx="0" cy="450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949C11A-AE1A-6378-8B42-70100784F8C2}"/>
              </a:ext>
            </a:extLst>
          </p:cNvPr>
          <p:cNvSpPr/>
          <p:nvPr/>
        </p:nvSpPr>
        <p:spPr>
          <a:xfrm>
            <a:off x="6281530" y="4002126"/>
            <a:ext cx="760136" cy="4519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B4786-F7F8-4245-D5D0-1A25701BF6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1587" y="1729551"/>
            <a:ext cx="1022212" cy="920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664BE5-589D-DA9F-7647-673AB0563DD3}"/>
              </a:ext>
            </a:extLst>
          </p:cNvPr>
          <p:cNvSpPr txBox="1"/>
          <p:nvPr/>
        </p:nvSpPr>
        <p:spPr>
          <a:xfrm>
            <a:off x="960812" y="2665560"/>
            <a:ext cx="10392987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What is partition function? Sum of Boltzmann factors over all possible states.</a:t>
            </a:r>
            <a:endParaRPr lang="en-US" sz="2400" u="sng" strike="sngStrik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10EE0-4CDB-D028-6DFE-3ECFC03844C8}"/>
              </a:ext>
            </a:extLst>
          </p:cNvPr>
          <p:cNvSpPr txBox="1"/>
          <p:nvPr/>
        </p:nvSpPr>
        <p:spPr>
          <a:xfrm>
            <a:off x="8445707" y="5679295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 other statistical properties</a:t>
            </a:r>
          </a:p>
        </p:txBody>
      </p:sp>
    </p:spTree>
    <p:extLst>
      <p:ext uri="{BB962C8B-B14F-4D97-AF65-F5344CB8AC3E}">
        <p14:creationId xmlns:p14="http://schemas.microsoft.com/office/powerpoint/2010/main" val="119292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ED13-C580-B4FD-D9B3-AE1829D8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B504610-40C6-8900-0559-F542A89E1AED}"/>
              </a:ext>
            </a:extLst>
          </p:cNvPr>
          <p:cNvSpPr/>
          <p:nvPr/>
        </p:nvSpPr>
        <p:spPr>
          <a:xfrm>
            <a:off x="2474842" y="3564121"/>
            <a:ext cx="6490253" cy="15843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08BAF-3FA5-9C3D-24CF-7B24B00C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D07A9A-FB26-CEEB-B219-94125EB22C4C}"/>
              </a:ext>
            </a:extLst>
          </p:cNvPr>
          <p:cNvSpPr txBox="1">
            <a:spLocks/>
          </p:cNvSpPr>
          <p:nvPr/>
        </p:nvSpPr>
        <p:spPr>
          <a:xfrm>
            <a:off x="1302106" y="320707"/>
            <a:ext cx="9079581" cy="1423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b="1" dirty="0">
                <a:solidFill>
                  <a:srgbClr val="C00000"/>
                </a:solidFill>
              </a:rPr>
              <a:t>What is partition function?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B7C61B-307D-8BC6-6A42-26C21D0B2E1F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12E0CBF-CCDE-71F7-1813-FF2CE851B5B5}"/>
                  </a:ext>
                </a:extLst>
              </p:cNvPr>
              <p:cNvSpPr txBox="1"/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Consider a system with fixed N (# particles) and fixed T (temp, thermal equilibrium).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particle </a:t>
                </a:r>
                <a:r>
                  <a:rPr lang="en-US" sz="2000" i="1" dirty="0" err="1"/>
                  <a:t>i</a:t>
                </a:r>
                <a:r>
                  <a:rPr lang="en-US" sz="2000" dirty="0"/>
                  <a:t> has an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Total energy (of a 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) is the sum of all energies: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={1,..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12E0CBF-CCDE-71F7-1813-FF2CE851B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52" y="1178705"/>
                <a:ext cx="10992304" cy="1848135"/>
              </a:xfrm>
              <a:prstGeom prst="rect">
                <a:avLst/>
              </a:prstGeom>
              <a:blipFill>
                <a:blip r:embed="rId3"/>
                <a:stretch>
                  <a:fillRect l="-462" b="-17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8D6AE3-3603-7CBD-B857-868F51F5EB09}"/>
                  </a:ext>
                </a:extLst>
              </p:cNvPr>
              <p:cNvSpPr txBox="1"/>
              <p:nvPr/>
            </p:nvSpPr>
            <p:spPr>
              <a:xfrm>
                <a:off x="3232702" y="5662002"/>
                <a:ext cx="6097656" cy="64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Probability of any state,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8D6AE3-3603-7CBD-B857-868F51F5E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702" y="5662002"/>
                <a:ext cx="6097656" cy="642740"/>
              </a:xfrm>
              <a:prstGeom prst="rect">
                <a:avLst/>
              </a:prstGeom>
              <a:blipFill>
                <a:blip r:embed="rId4"/>
                <a:stretch>
                  <a:fillRect l="-1040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3F9203-A535-403D-C80E-258E07DBB70E}"/>
                  </a:ext>
                </a:extLst>
              </p:cNvPr>
              <p:cNvSpPr txBox="1"/>
              <p:nvPr/>
            </p:nvSpPr>
            <p:spPr>
              <a:xfrm>
                <a:off x="2818001" y="3975145"/>
                <a:ext cx="5908642" cy="478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Partition function,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72B9A6-5709-3B11-3B0D-2C4143ACF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001" y="3975145"/>
                <a:ext cx="5908642" cy="478977"/>
              </a:xfrm>
              <a:prstGeom prst="rect">
                <a:avLst/>
              </a:prstGeom>
              <a:blipFill>
                <a:blip r:embed="rId5"/>
                <a:stretch>
                  <a:fillRect l="-1499" t="-115385" b="-18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91F6D9B-63EE-DAA8-A400-45A81BA1BC4F}"/>
                  </a:ext>
                </a:extLst>
              </p:cNvPr>
              <p:cNvSpPr txBox="1"/>
              <p:nvPr/>
            </p:nvSpPr>
            <p:spPr>
              <a:xfrm>
                <a:off x="6180698" y="3570880"/>
                <a:ext cx="3032876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𝐵𝑜𝑙𝑡𝑧𝑚𝑎𝑛𝑛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2ECD94-2023-6A38-4937-14E33E7AF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698" y="3570880"/>
                <a:ext cx="3032876" cy="4380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CF78B0C7-68C1-4169-813E-80BAAC24FCA5}"/>
              </a:ext>
            </a:extLst>
          </p:cNvPr>
          <p:cNvSpPr txBox="1"/>
          <p:nvPr/>
        </p:nvSpPr>
        <p:spPr>
          <a:xfrm>
            <a:off x="4288528" y="4666365"/>
            <a:ext cx="2753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sum runs </a:t>
            </a:r>
            <a:r>
              <a:rPr lang="en-US" sz="1200" u="sng" dirty="0"/>
              <a:t>over all the states</a:t>
            </a:r>
            <a:r>
              <a:rPr lang="en-US" sz="1200" dirty="0"/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321022-DE76-90EF-F1A6-66233D9C5A6E}"/>
              </a:ext>
            </a:extLst>
          </p:cNvPr>
          <p:cNvSpPr txBox="1"/>
          <p:nvPr/>
        </p:nvSpPr>
        <p:spPr>
          <a:xfrm>
            <a:off x="7572367" y="3968794"/>
            <a:ext cx="1306098" cy="27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Boltzmann weight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A742388-4D2C-CFBF-8D19-2159FA4AB610}"/>
              </a:ext>
            </a:extLst>
          </p:cNvPr>
          <p:cNvCxnSpPr/>
          <p:nvPr/>
        </p:nvCxnSpPr>
        <p:spPr>
          <a:xfrm flipV="1">
            <a:off x="6032104" y="4454122"/>
            <a:ext cx="0" cy="227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095CC517-E058-8A24-B20E-763B8FF5516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1667" y="4104714"/>
            <a:ext cx="530701" cy="13592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0A844A9-8663-A88D-036E-31F2B6347426}"/>
              </a:ext>
            </a:extLst>
          </p:cNvPr>
          <p:cNvCxnSpPr>
            <a:cxnSpLocks/>
          </p:cNvCxnSpPr>
          <p:nvPr/>
        </p:nvCxnSpPr>
        <p:spPr>
          <a:xfrm>
            <a:off x="5585791" y="5148470"/>
            <a:ext cx="0" cy="450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467AE33C-098D-A3A4-DCFB-682831EF40B3}"/>
              </a:ext>
            </a:extLst>
          </p:cNvPr>
          <p:cNvSpPr/>
          <p:nvPr/>
        </p:nvSpPr>
        <p:spPr>
          <a:xfrm>
            <a:off x="6281530" y="4002126"/>
            <a:ext cx="760136" cy="4519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25934-9B30-EAFD-FFA8-DD8CF4934F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1587" y="1729551"/>
            <a:ext cx="1022212" cy="920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D6CF15-ACE0-5F2B-B0EF-6D46C51C6D22}"/>
              </a:ext>
            </a:extLst>
          </p:cNvPr>
          <p:cNvSpPr txBox="1"/>
          <p:nvPr/>
        </p:nvSpPr>
        <p:spPr>
          <a:xfrm>
            <a:off x="960812" y="2665560"/>
            <a:ext cx="10392987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What is partition function? Sum of Boltzmann factors over all possible states.</a:t>
            </a:r>
            <a:endParaRPr lang="en-US" sz="2400" u="sng" strike="sngStrik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07877-B3AC-A6F9-85AA-C7E03B5D1FA7}"/>
              </a:ext>
            </a:extLst>
          </p:cNvPr>
          <p:cNvSpPr txBox="1"/>
          <p:nvPr/>
        </p:nvSpPr>
        <p:spPr>
          <a:xfrm>
            <a:off x="8445707" y="5679295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 other statistical properties</a:t>
            </a:r>
          </a:p>
        </p:txBody>
      </p:sp>
    </p:spTree>
    <p:extLst>
      <p:ext uri="{BB962C8B-B14F-4D97-AF65-F5344CB8AC3E}">
        <p14:creationId xmlns:p14="http://schemas.microsoft.com/office/powerpoint/2010/main" val="57628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2ABDA-A6D2-CAA4-DEA8-8330ACB2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F8B3D4-245C-369C-1EC5-3475DE404DC9}"/>
              </a:ext>
            </a:extLst>
          </p:cNvPr>
          <p:cNvSpPr txBox="1">
            <a:spLocks/>
          </p:cNvSpPr>
          <p:nvPr/>
        </p:nvSpPr>
        <p:spPr>
          <a:xfrm>
            <a:off x="1655278" y="447515"/>
            <a:ext cx="9079581" cy="1423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b="1" dirty="0">
                <a:solidFill>
                  <a:srgbClr val="C00000"/>
                </a:solidFill>
              </a:rPr>
              <a:t>Let us consider a random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3F080-193B-BCE7-C2C3-3BE19E9EC9FD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Slide Number Placeholder 1">
            <a:extLst>
              <a:ext uri="{FF2B5EF4-FFF2-40B4-BE49-F238E27FC236}">
                <a16:creationId xmlns:a16="http://schemas.microsoft.com/office/drawing/2014/main" id="{7BCE3A00-D7A8-64C1-735F-856414E6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IN" dirty="0"/>
              <a:t>2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CC542B8-379A-D658-B2C7-F2C525AB41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98" t="2828" r="5679" b="14664"/>
          <a:stretch>
            <a:fillRect/>
          </a:stretch>
        </p:blipFill>
        <p:spPr>
          <a:xfrm>
            <a:off x="288368" y="1551310"/>
            <a:ext cx="3034365" cy="2386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2BFFCD57-27A7-0C86-A02E-F42F03B9FA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719"/>
          <a:stretch>
            <a:fillRect/>
          </a:stretch>
        </p:blipFill>
        <p:spPr>
          <a:xfrm>
            <a:off x="3681215" y="1553304"/>
            <a:ext cx="3068077" cy="2386424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FC27FDC3-C823-9B4A-FB3C-8C5360A61E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83"/>
          <a:stretch>
            <a:fillRect/>
          </a:stretch>
        </p:blipFill>
        <p:spPr>
          <a:xfrm>
            <a:off x="6922148" y="1551310"/>
            <a:ext cx="3075498" cy="2386423"/>
          </a:xfrm>
          <a:prstGeom prst="rect">
            <a:avLst/>
          </a:prstGeom>
          <a:ln>
            <a:noFill/>
          </a:ln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E0E18577-93C6-13F7-02C9-A67EC6D22D7E}"/>
              </a:ext>
            </a:extLst>
          </p:cNvPr>
          <p:cNvSpPr txBox="1"/>
          <p:nvPr/>
        </p:nvSpPr>
        <p:spPr>
          <a:xfrm>
            <a:off x="10381699" y="2260801"/>
            <a:ext cx="12526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…..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1EB5D0E-B981-2AF0-A77C-39B17B6BFDCB}"/>
              </a:ext>
            </a:extLst>
          </p:cNvPr>
          <p:cNvSpPr txBox="1"/>
          <p:nvPr/>
        </p:nvSpPr>
        <p:spPr>
          <a:xfrm>
            <a:off x="10200412" y="2415496"/>
            <a:ext cx="1616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Many possible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B8BA4CD-5474-FABC-378B-E5AAB872BCB3}"/>
                  </a:ext>
                </a:extLst>
              </p:cNvPr>
              <p:cNvSpPr txBox="1"/>
              <p:nvPr/>
            </p:nvSpPr>
            <p:spPr>
              <a:xfrm>
                <a:off x="1156549" y="4245450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B8BA4CD-5474-FABC-378B-E5AAB872B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549" y="4245450"/>
                <a:ext cx="1054542" cy="400110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D648E8C-E1AE-5F8F-3B5C-FB6039C63663}"/>
                  </a:ext>
                </a:extLst>
              </p:cNvPr>
              <p:cNvSpPr txBox="1"/>
              <p:nvPr/>
            </p:nvSpPr>
            <p:spPr>
              <a:xfrm>
                <a:off x="4573459" y="4227806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D648E8C-E1AE-5F8F-3B5C-FB6039C63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459" y="4227806"/>
                <a:ext cx="1054542" cy="400110"/>
              </a:xfrm>
              <a:prstGeom prst="rect">
                <a:avLst/>
              </a:prstGeom>
              <a:blipFill>
                <a:blip r:embed="rId7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B5FE8D3D-DC26-5E1A-6A22-E86052F62FAF}"/>
                  </a:ext>
                </a:extLst>
              </p:cNvPr>
              <p:cNvSpPr txBox="1"/>
              <p:nvPr/>
            </p:nvSpPr>
            <p:spPr>
              <a:xfrm>
                <a:off x="10667231" y="4251156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B5FE8D3D-DC26-5E1A-6A22-E86052F62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231" y="4251156"/>
                <a:ext cx="1054542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TextBox 184">
            <a:extLst>
              <a:ext uri="{FF2B5EF4-FFF2-40B4-BE49-F238E27FC236}">
                <a16:creationId xmlns:a16="http://schemas.microsoft.com/office/drawing/2014/main" id="{EFD6D93B-07B7-62E5-0464-8101A8428C4E}"/>
              </a:ext>
            </a:extLst>
          </p:cNvPr>
          <p:cNvSpPr txBox="1"/>
          <p:nvPr/>
        </p:nvSpPr>
        <p:spPr>
          <a:xfrm>
            <a:off x="8485697" y="4255642"/>
            <a:ext cx="1252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…..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1616AEC-199D-C6A0-5BC1-9A3A18850640}"/>
                  </a:ext>
                </a:extLst>
              </p:cNvPr>
              <p:cNvSpPr txBox="1"/>
              <p:nvPr/>
            </p:nvSpPr>
            <p:spPr>
              <a:xfrm>
                <a:off x="2926224" y="4227806"/>
                <a:ext cx="924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1616AEC-199D-C6A0-5BC1-9A3A18850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224" y="4227806"/>
                <a:ext cx="92433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526153AF-BE60-B534-10C2-0A8516A0C310}"/>
                  </a:ext>
                </a:extLst>
              </p:cNvPr>
              <p:cNvSpPr txBox="1"/>
              <p:nvPr/>
            </p:nvSpPr>
            <p:spPr>
              <a:xfrm>
                <a:off x="6632428" y="4269798"/>
                <a:ext cx="924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526153AF-BE60-B534-10C2-0A8516A0C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428" y="4269798"/>
                <a:ext cx="92433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44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02F6D-A9F5-A422-37C1-B17142B6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D78542-65C5-09C0-63CA-ED2CD2AC0655}"/>
              </a:ext>
            </a:extLst>
          </p:cNvPr>
          <p:cNvSpPr txBox="1">
            <a:spLocks/>
          </p:cNvSpPr>
          <p:nvPr/>
        </p:nvSpPr>
        <p:spPr>
          <a:xfrm>
            <a:off x="1788049" y="308067"/>
            <a:ext cx="9079581" cy="1423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b="1" dirty="0">
                <a:solidFill>
                  <a:srgbClr val="C00000"/>
                </a:solidFill>
              </a:rPr>
              <a:t>Partition function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9A289F-81F6-084D-7F6E-2FAEF9DA11F9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Slide Number Placeholder 1">
            <a:extLst>
              <a:ext uri="{FF2B5EF4-FFF2-40B4-BE49-F238E27FC236}">
                <a16:creationId xmlns:a16="http://schemas.microsoft.com/office/drawing/2014/main" id="{A1C053AD-D17B-1C60-309C-B8B7BD71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IN" dirty="0"/>
              <a:t>2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5CD56748-0912-4F11-F1C5-3F6B7F6AEF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98" t="2828" r="5679" b="14664"/>
          <a:stretch>
            <a:fillRect/>
          </a:stretch>
        </p:blipFill>
        <p:spPr>
          <a:xfrm>
            <a:off x="367430" y="2094728"/>
            <a:ext cx="3034365" cy="2386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2F1451A5-AA2B-070E-D680-0A7F975F6D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719"/>
          <a:stretch>
            <a:fillRect/>
          </a:stretch>
        </p:blipFill>
        <p:spPr>
          <a:xfrm>
            <a:off x="3831918" y="2090225"/>
            <a:ext cx="3068077" cy="2386424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84B8EC04-A333-CA39-302C-C210CD9D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83"/>
          <a:stretch>
            <a:fillRect/>
          </a:stretch>
        </p:blipFill>
        <p:spPr>
          <a:xfrm>
            <a:off x="7072851" y="2088231"/>
            <a:ext cx="3075498" cy="2386423"/>
          </a:xfrm>
          <a:prstGeom prst="rect">
            <a:avLst/>
          </a:prstGeom>
          <a:ln>
            <a:noFill/>
          </a:ln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79A45ABE-E058-F234-3487-40B9D6827505}"/>
              </a:ext>
            </a:extLst>
          </p:cNvPr>
          <p:cNvSpPr txBox="1"/>
          <p:nvPr/>
        </p:nvSpPr>
        <p:spPr>
          <a:xfrm>
            <a:off x="10532402" y="2797722"/>
            <a:ext cx="12526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…..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302C8C5-E3D0-19D8-7382-2BA262CBDBBA}"/>
              </a:ext>
            </a:extLst>
          </p:cNvPr>
          <p:cNvSpPr txBox="1"/>
          <p:nvPr/>
        </p:nvSpPr>
        <p:spPr>
          <a:xfrm>
            <a:off x="10351115" y="2952417"/>
            <a:ext cx="1616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Many possible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ECF244F-86BA-F906-34C8-59298AB326CB}"/>
                  </a:ext>
                </a:extLst>
              </p:cNvPr>
              <p:cNvSpPr txBox="1"/>
              <p:nvPr/>
            </p:nvSpPr>
            <p:spPr>
              <a:xfrm>
                <a:off x="1307252" y="4782371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B8BA4CD-5474-FABC-378B-E5AAB872B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252" y="4782371"/>
                <a:ext cx="1054542" cy="4001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1E32A83-7E64-D9DA-72D4-DF50244AA013}"/>
                  </a:ext>
                </a:extLst>
              </p:cNvPr>
              <p:cNvSpPr txBox="1"/>
              <p:nvPr/>
            </p:nvSpPr>
            <p:spPr>
              <a:xfrm>
                <a:off x="4724162" y="4764727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D648E8C-E1AE-5F8F-3B5C-FB6039C63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162" y="4764727"/>
                <a:ext cx="1054542" cy="400110"/>
              </a:xfrm>
              <a:prstGeom prst="rect">
                <a:avLst/>
              </a:prstGeom>
              <a:blipFill>
                <a:blip r:embed="rId7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9022DC37-5183-AE17-18FA-9E402733D119}"/>
                  </a:ext>
                </a:extLst>
              </p:cNvPr>
              <p:cNvSpPr txBox="1"/>
              <p:nvPr/>
            </p:nvSpPr>
            <p:spPr>
              <a:xfrm>
                <a:off x="10817934" y="4788077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B5FE8D3D-DC26-5E1A-6A22-E86052F62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7934" y="4788077"/>
                <a:ext cx="1054542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TextBox 184">
            <a:extLst>
              <a:ext uri="{FF2B5EF4-FFF2-40B4-BE49-F238E27FC236}">
                <a16:creationId xmlns:a16="http://schemas.microsoft.com/office/drawing/2014/main" id="{B02C9F1D-28B7-CA6E-144E-3EADD93D671D}"/>
              </a:ext>
            </a:extLst>
          </p:cNvPr>
          <p:cNvSpPr txBox="1"/>
          <p:nvPr/>
        </p:nvSpPr>
        <p:spPr>
          <a:xfrm>
            <a:off x="8636400" y="4792563"/>
            <a:ext cx="1252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…..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2243BCD-BBE9-EDD7-F81E-5F85EE727DAE}"/>
                  </a:ext>
                </a:extLst>
              </p:cNvPr>
              <p:cNvSpPr txBox="1"/>
              <p:nvPr/>
            </p:nvSpPr>
            <p:spPr>
              <a:xfrm>
                <a:off x="3076927" y="4764727"/>
                <a:ext cx="924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1616AEC-199D-C6A0-5BC1-9A3A18850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927" y="4764727"/>
                <a:ext cx="92433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C84241CA-9232-ABDB-A0AB-7980D2CCD113}"/>
                  </a:ext>
                </a:extLst>
              </p:cNvPr>
              <p:cNvSpPr txBox="1"/>
              <p:nvPr/>
            </p:nvSpPr>
            <p:spPr>
              <a:xfrm>
                <a:off x="6783131" y="4806719"/>
                <a:ext cx="924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526153AF-BE60-B534-10C2-0A8516A0C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131" y="4806719"/>
                <a:ext cx="92433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E431528D-B155-8447-6854-C5BB0C299A8F}"/>
                  </a:ext>
                </a:extLst>
              </p:cNvPr>
              <p:cNvSpPr txBox="1"/>
              <p:nvPr/>
            </p:nvSpPr>
            <p:spPr>
              <a:xfrm>
                <a:off x="3194050" y="5323015"/>
                <a:ext cx="5366854" cy="3193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𝑐𝑎𝑠𝑒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𝑐𝑎𝑠𝑒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𝑐𝑎𝑠𝑒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769FE88C-857D-1F90-8437-94FE7F3AE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050" y="5323015"/>
                <a:ext cx="5366854" cy="319318"/>
              </a:xfrm>
              <a:prstGeom prst="rect">
                <a:avLst/>
              </a:prstGeom>
              <a:blipFill>
                <a:blip r:embed="rId11"/>
                <a:stretch>
                  <a:fillRect l="-1182" t="-3846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8231BB0-1A56-2FD3-4323-512602521108}"/>
                  </a:ext>
                </a:extLst>
              </p:cNvPr>
              <p:cNvSpPr txBox="1"/>
              <p:nvPr/>
            </p:nvSpPr>
            <p:spPr>
              <a:xfrm>
                <a:off x="1211082" y="5812491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𝑐𝑎𝑠𝑒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F04C8161-2F03-C315-6DAA-448142429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082" y="5812491"/>
                <a:ext cx="1054542" cy="400110"/>
              </a:xfrm>
              <a:prstGeom prst="rect">
                <a:avLst/>
              </a:prstGeom>
              <a:blipFill>
                <a:blip r:embed="rId12"/>
                <a:stretch>
                  <a:fillRect r="-21429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E9A0B715-1013-6075-29BD-573E166E670B}"/>
                  </a:ext>
                </a:extLst>
              </p:cNvPr>
              <p:cNvSpPr txBox="1"/>
              <p:nvPr/>
            </p:nvSpPr>
            <p:spPr>
              <a:xfrm>
                <a:off x="4617906" y="5837211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𝑐𝑎𝑠𝑒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2)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2C36DCC-2805-13C0-43B2-A6E0A5576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906" y="5837211"/>
                <a:ext cx="1054542" cy="400110"/>
              </a:xfrm>
              <a:prstGeom prst="rect">
                <a:avLst/>
              </a:prstGeom>
              <a:blipFill>
                <a:blip r:embed="rId13"/>
                <a:stretch>
                  <a:fillRect r="-21429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43574520-5A69-D454-64EF-923BCB50D83A}"/>
                  </a:ext>
                </a:extLst>
              </p:cNvPr>
              <p:cNvSpPr txBox="1"/>
              <p:nvPr/>
            </p:nvSpPr>
            <p:spPr>
              <a:xfrm>
                <a:off x="10680767" y="5833386"/>
                <a:ext cx="1054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𝑐𝑎𝑠𝑒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7018307A-0267-E293-B79B-B7F72DF93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767" y="5833386"/>
                <a:ext cx="1054542" cy="400110"/>
              </a:xfrm>
              <a:prstGeom prst="rect">
                <a:avLst/>
              </a:prstGeom>
              <a:blipFill>
                <a:blip r:embed="rId14"/>
                <a:stretch>
                  <a:fillRect r="-22353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19D99370-B2A1-6B3C-9C92-4DDF3D079400}"/>
                  </a:ext>
                </a:extLst>
              </p:cNvPr>
              <p:cNvSpPr txBox="1"/>
              <p:nvPr/>
            </p:nvSpPr>
            <p:spPr>
              <a:xfrm>
                <a:off x="3101541" y="5874773"/>
                <a:ext cx="924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032281E3-3235-241E-78C4-AD2ACEF13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541" y="5874773"/>
                <a:ext cx="924339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951427E0-FD4F-D22C-2A62-6912CFF96A67}"/>
                  </a:ext>
                </a:extLst>
              </p:cNvPr>
              <p:cNvSpPr txBox="1"/>
              <p:nvPr/>
            </p:nvSpPr>
            <p:spPr>
              <a:xfrm>
                <a:off x="6800648" y="5870272"/>
                <a:ext cx="924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6FDAF372-5D17-131A-DD06-DF8E226A7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648" y="5870272"/>
                <a:ext cx="924339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DCEA424E-E798-ED0E-EF35-E0B0738DEFDA}"/>
                  </a:ext>
                </a:extLst>
              </p:cNvPr>
              <p:cNvSpPr txBox="1"/>
              <p:nvPr/>
            </p:nvSpPr>
            <p:spPr>
              <a:xfrm>
                <a:off x="2141961" y="6397385"/>
                <a:ext cx="1140908" cy="283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𝑐𝑎𝑠𝑒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E01E7D81-BF83-3579-8755-7A7DED1DA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961" y="6397385"/>
                <a:ext cx="1140908" cy="283924"/>
              </a:xfrm>
              <a:prstGeom prst="rect">
                <a:avLst/>
              </a:prstGeom>
              <a:blipFill>
                <a:blip r:embed="rId17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9" name="Curved Connector 198">
            <a:extLst>
              <a:ext uri="{FF2B5EF4-FFF2-40B4-BE49-F238E27FC236}">
                <a16:creationId xmlns:a16="http://schemas.microsoft.com/office/drawing/2014/main" id="{FA7BC9EB-3A49-E66A-B043-A5447F48F745}"/>
              </a:ext>
            </a:extLst>
          </p:cNvPr>
          <p:cNvCxnSpPr>
            <a:cxnSpLocks/>
            <a:stCxn id="191" idx="2"/>
          </p:cNvCxnSpPr>
          <p:nvPr/>
        </p:nvCxnSpPr>
        <p:spPr>
          <a:xfrm rot="16200000" flipH="1">
            <a:off x="1837701" y="6113252"/>
            <a:ext cx="248095" cy="4467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959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51E6-77E4-2EDD-0EE1-A2BBF23A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190DBE-4B87-5AA5-D2B8-39ACA24E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8415" y="6354774"/>
            <a:ext cx="2743200" cy="365125"/>
          </a:xfrm>
        </p:spPr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ACD917-B865-08C7-D8B0-B40AEEE123FD}"/>
              </a:ext>
            </a:extLst>
          </p:cNvPr>
          <p:cNvSpPr txBox="1">
            <a:spLocks/>
          </p:cNvSpPr>
          <p:nvPr/>
        </p:nvSpPr>
        <p:spPr>
          <a:xfrm>
            <a:off x="931333" y="341172"/>
            <a:ext cx="10574800" cy="87523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RNA can adopt multiple structures (=states)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3D00D8-DC91-C2BA-6576-3F425B4D4E26}"/>
              </a:ext>
            </a:extLst>
          </p:cNvPr>
          <p:cNvSpPr/>
          <p:nvPr/>
        </p:nvSpPr>
        <p:spPr>
          <a:xfrm>
            <a:off x="71425" y="183142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30978-2738-8B86-7716-D85860D89A5D}"/>
              </a:ext>
            </a:extLst>
          </p:cNvPr>
          <p:cNvSpPr txBox="1"/>
          <p:nvPr/>
        </p:nvSpPr>
        <p:spPr>
          <a:xfrm>
            <a:off x="931333" y="501127"/>
            <a:ext cx="10450874" cy="134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dirty="0"/>
              <a:t>1 </a:t>
            </a:r>
            <a:r>
              <a:rPr lang="en-US" sz="3200" dirty="0"/>
              <a:t> </a:t>
            </a:r>
            <a:r>
              <a:rPr lang="en-US" sz="2400" dirty="0"/>
              <a:t>Free Energy Minimization (single state): One best structure</a:t>
            </a:r>
            <a:r>
              <a:rPr lang="en-US" sz="2800" dirty="0"/>
              <a:t>.</a:t>
            </a:r>
          </a:p>
        </p:txBody>
      </p:sp>
      <p:pic>
        <p:nvPicPr>
          <p:cNvPr id="26" name="Picture 25" descr="A diagram of a molecule&#10;&#10;AI-generated content may be incorrect.">
            <a:extLst>
              <a:ext uri="{FF2B5EF4-FFF2-40B4-BE49-F238E27FC236}">
                <a16:creationId xmlns:a16="http://schemas.microsoft.com/office/drawing/2014/main" id="{48264C06-55AA-8DAC-8382-930783849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006" y="1886171"/>
            <a:ext cx="7772400" cy="1786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A288019-A687-A339-03C7-5F5E59C266C3}"/>
                  </a:ext>
                </a:extLst>
              </p:cNvPr>
              <p:cNvSpPr txBox="1"/>
              <p:nvPr/>
            </p:nvSpPr>
            <p:spPr>
              <a:xfrm>
                <a:off x="4382081" y="1862135"/>
                <a:ext cx="22788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=−32</m:t>
                      </m:r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A288019-A687-A339-03C7-5F5E59C26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081" y="1862135"/>
                <a:ext cx="2278897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FEB356-9ED6-A332-6897-827D56FA1CCB}"/>
                  </a:ext>
                </a:extLst>
              </p:cNvPr>
              <p:cNvSpPr txBox="1"/>
              <p:nvPr/>
            </p:nvSpPr>
            <p:spPr>
              <a:xfrm>
                <a:off x="1700119" y="2210525"/>
                <a:ext cx="87755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=−21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FEB356-9ED6-A332-6897-827D56FA1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119" y="2210525"/>
                <a:ext cx="877557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6EB6E8-8C91-62F5-144A-F3FBEF380074}"/>
                  </a:ext>
                </a:extLst>
              </p:cNvPr>
              <p:cNvSpPr txBox="1"/>
              <p:nvPr/>
            </p:nvSpPr>
            <p:spPr>
              <a:xfrm>
                <a:off x="2546400" y="1915568"/>
                <a:ext cx="94264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=−16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6EB6E8-8C91-62F5-144A-F3FBEF380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400" y="1915568"/>
                <a:ext cx="942642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E673A2-48CA-C466-AFAF-4816CA3D13DF}"/>
                  </a:ext>
                </a:extLst>
              </p:cNvPr>
              <p:cNvSpPr txBox="1"/>
              <p:nvPr/>
            </p:nvSpPr>
            <p:spPr>
              <a:xfrm>
                <a:off x="3742497" y="1927558"/>
                <a:ext cx="71670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=−30.8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E673A2-48CA-C466-AFAF-4816CA3D1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497" y="1927558"/>
                <a:ext cx="716703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2B367CB-B6E3-CF0A-F707-D3B231F4773E}"/>
                  </a:ext>
                </a:extLst>
              </p:cNvPr>
              <p:cNvSpPr txBox="1"/>
              <p:nvPr/>
            </p:nvSpPr>
            <p:spPr>
              <a:xfrm>
                <a:off x="3537790" y="3441996"/>
                <a:ext cx="71805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=−28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2B367CB-B6E3-CF0A-F707-D3B231F47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90" y="3441996"/>
                <a:ext cx="718055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671DA7-1054-4071-86C0-EF1B97FD3781}"/>
                  </a:ext>
                </a:extLst>
              </p:cNvPr>
              <p:cNvSpPr txBox="1"/>
              <p:nvPr/>
            </p:nvSpPr>
            <p:spPr>
              <a:xfrm>
                <a:off x="5830256" y="3489532"/>
                <a:ext cx="7180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=−24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671DA7-1054-4071-86C0-EF1B97FD3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256" y="3489532"/>
                <a:ext cx="718054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D640B1-713D-F851-4F5B-725DE53499ED}"/>
                  </a:ext>
                </a:extLst>
              </p:cNvPr>
              <p:cNvSpPr txBox="1"/>
              <p:nvPr/>
            </p:nvSpPr>
            <p:spPr>
              <a:xfrm>
                <a:off x="7374015" y="3433089"/>
                <a:ext cx="7180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=−31.8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D640B1-713D-F851-4F5B-725DE5349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015" y="3433089"/>
                <a:ext cx="71805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EBE87B-0431-59E3-B493-D23FAB41334C}"/>
                  </a:ext>
                </a:extLst>
              </p:cNvPr>
              <p:cNvSpPr txBox="1"/>
              <p:nvPr/>
            </p:nvSpPr>
            <p:spPr>
              <a:xfrm>
                <a:off x="6695276" y="2013537"/>
                <a:ext cx="7180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=−23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EBE87B-0431-59E3-B493-D23FAB413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276" y="2013537"/>
                <a:ext cx="718054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2BDC78-8A44-0C3E-46F0-97666622784B}"/>
                  </a:ext>
                </a:extLst>
              </p:cNvPr>
              <p:cNvSpPr txBox="1"/>
              <p:nvPr/>
            </p:nvSpPr>
            <p:spPr>
              <a:xfrm>
                <a:off x="8603014" y="3229987"/>
                <a:ext cx="7180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=−29.9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2BDC78-8A44-0C3E-46F0-976666227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014" y="3229987"/>
                <a:ext cx="718054" cy="2154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221B20-F330-CB37-A038-1FFD973AAFC4}"/>
                  </a:ext>
                </a:extLst>
              </p:cNvPr>
              <p:cNvSpPr txBox="1"/>
              <p:nvPr/>
            </p:nvSpPr>
            <p:spPr>
              <a:xfrm>
                <a:off x="7653777" y="1956537"/>
                <a:ext cx="7180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=−26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221B20-F330-CB37-A038-1FFD973AA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777" y="1956537"/>
                <a:ext cx="718054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5B21A9F-ED4C-FBDB-53FD-E3E665F46C64}"/>
                  </a:ext>
                </a:extLst>
              </p:cNvPr>
              <p:cNvSpPr txBox="1"/>
              <p:nvPr/>
            </p:nvSpPr>
            <p:spPr>
              <a:xfrm>
                <a:off x="9413020" y="1807665"/>
                <a:ext cx="26745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ea typeface="Cambria Math" panose="02040503050406030204" pitchFamily="18" charset="0"/>
                  </a:rPr>
                  <a:t>Units of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1200" b="1" dirty="0"/>
                  <a:t> is </a:t>
                </a:r>
                <a:r>
                  <a:rPr lang="en-US" sz="1200" b="1" i="1" dirty="0"/>
                  <a:t>kcal/mole</a:t>
                </a:r>
                <a:r>
                  <a:rPr lang="en-US" sz="1200" b="1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5B21A9F-ED4C-FBDB-53FD-E3E665F46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020" y="1807665"/>
                <a:ext cx="2674550" cy="276999"/>
              </a:xfrm>
              <a:prstGeom prst="rect">
                <a:avLst/>
              </a:prstGeom>
              <a:blipFill>
                <a:blip r:embed="rId1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3FF2FB-A267-4A17-92B6-DF730DFF03DF}"/>
              </a:ext>
            </a:extLst>
          </p:cNvPr>
          <p:cNvSpPr txBox="1"/>
          <p:nvPr/>
        </p:nvSpPr>
        <p:spPr>
          <a:xfrm>
            <a:off x="954128" y="3220401"/>
            <a:ext cx="11038655" cy="121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dirty="0"/>
              <a:t>2 </a:t>
            </a:r>
            <a:r>
              <a:rPr lang="en-US" sz="2800" dirty="0"/>
              <a:t> </a:t>
            </a:r>
            <a:r>
              <a:rPr lang="en-US" sz="2400" dirty="0"/>
              <a:t>But each RNA molecule can adopt multiple structures (not simultaneously).</a:t>
            </a:r>
          </a:p>
        </p:txBody>
      </p:sp>
      <p:pic>
        <p:nvPicPr>
          <p:cNvPr id="10" name="Picture 9" descr="A diagram of a structure&#10;&#10;AI-generated content may be incorrect.">
            <a:extLst>
              <a:ext uri="{FF2B5EF4-FFF2-40B4-BE49-F238E27FC236}">
                <a16:creationId xmlns:a16="http://schemas.microsoft.com/office/drawing/2014/main" id="{90A70F51-4490-39AD-22BD-B1BC3B2988B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119" y="4274851"/>
            <a:ext cx="7772400" cy="1773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47481A-9784-BEA1-EE26-44E8D529B16C}"/>
                  </a:ext>
                </a:extLst>
              </p:cNvPr>
              <p:cNvSpPr txBox="1"/>
              <p:nvPr/>
            </p:nvSpPr>
            <p:spPr>
              <a:xfrm>
                <a:off x="734596" y="6008526"/>
                <a:ext cx="11921359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Each structure, S has a probability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 depending on its ‘</a:t>
                </a:r>
                <a:r>
                  <a:rPr lang="en-US" sz="2000" dirty="0">
                    <a:solidFill>
                      <a:srgbClr val="C00000"/>
                    </a:solidFill>
                  </a:rPr>
                  <a:t>free-energy change</a:t>
                </a:r>
                <a:r>
                  <a:rPr lang="en-US" sz="2000" dirty="0"/>
                  <a:t>’: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47481A-9784-BEA1-EE26-44E8D529B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96" y="6008526"/>
                <a:ext cx="11921359" cy="411651"/>
              </a:xfrm>
              <a:prstGeom prst="rect">
                <a:avLst/>
              </a:prstGeom>
              <a:blipFill>
                <a:blip r:embed="rId16"/>
                <a:stretch>
                  <a:fillRect l="-639" t="-3030" b="-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A6A722F-8E12-2EDD-6AE2-32FE2B9C78D5}"/>
              </a:ext>
            </a:extLst>
          </p:cNvPr>
          <p:cNvSpPr txBox="1"/>
          <p:nvPr/>
        </p:nvSpPr>
        <p:spPr>
          <a:xfrm>
            <a:off x="121077" y="6526592"/>
            <a:ext cx="60976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dirty="0">
                <a:solidFill>
                  <a:srgbClr val="000000"/>
                </a:solidFill>
                <a:effectLst/>
                <a:latin typeface="Helvetica" pitchFamily="2" charset="0"/>
              </a:rPr>
              <a:t>Images from - Yann Ponty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1E0DCA-EBE5-7181-1AD9-871F171C60C1}"/>
                  </a:ext>
                </a:extLst>
              </p:cNvPr>
              <p:cNvSpPr txBox="1"/>
              <p:nvPr/>
            </p:nvSpPr>
            <p:spPr>
              <a:xfrm>
                <a:off x="9581753" y="2453581"/>
                <a:ext cx="2184124" cy="468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𝑜𝑜𝑝𝑠</m:t>
                          </m:r>
                        </m:sub>
                        <m:sup/>
                        <m:e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𝑙𝑜𝑜𝑝</m:t>
                              </m:r>
                            </m:sub>
                          </m:sSub>
                        </m:e>
                      </m:nary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𝑡𝑒𝑚𝑠</m:t>
                          </m:r>
                        </m:sub>
                        <m:sup/>
                        <m:e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𝑠𝑡𝑒𝑚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1E0DCA-EBE5-7181-1AD9-871F171C6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753" y="2453581"/>
                <a:ext cx="2184124" cy="468462"/>
              </a:xfrm>
              <a:prstGeom prst="rect">
                <a:avLst/>
              </a:prstGeom>
              <a:blipFill>
                <a:blip r:embed="rId17"/>
                <a:stretch>
                  <a:fillRect l="-5780" t="-134211" b="-19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99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251"/>
    </mc:Choice>
    <mc:Fallback xmlns="">
      <p:transition spd="slow" advTm="5825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79D1-AD3B-0F9D-196A-248219B6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E6FBD9E-1ACC-4327-C325-43A2223FE581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B6E316C-7850-A508-28DD-F51ECA14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258" y="6341607"/>
            <a:ext cx="2743200" cy="365125"/>
          </a:xfrm>
        </p:spPr>
        <p:txBody>
          <a:bodyPr/>
          <a:lstStyle/>
          <a:p>
            <a:r>
              <a:rPr lang="en-IN" dirty="0"/>
              <a:t>4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AEB77D8-8CB7-8624-9E86-8256753D3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598313-8761-A953-4CD3-9E9B80DD1E05}"/>
                  </a:ext>
                </a:extLst>
              </p:cNvPr>
              <p:cNvSpPr txBox="1"/>
              <p:nvPr/>
            </p:nvSpPr>
            <p:spPr>
              <a:xfrm>
                <a:off x="602815" y="1170138"/>
                <a:ext cx="10986370" cy="1456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altLang="en-US" sz="2000" i="1" dirty="0">
                    <a:solidFill>
                      <a:srgbClr val="000000"/>
                    </a:solidFill>
                  </a:rPr>
                  <a:t>Partition function</a:t>
                </a:r>
                <a:r>
                  <a:rPr lang="en-US" altLang="en-US" sz="2000" dirty="0">
                    <a:solidFill>
                      <a:srgbClr val="000000"/>
                    </a:solidFill>
                  </a:rPr>
                  <a:t>: S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um of Boltzmann weights over all possible structures</a:t>
                </a:r>
                <a:r>
                  <a:rPr kumimoji="0" lang="en-US" altLang="en-US" sz="2000" b="0" i="0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 (states)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.</a:t>
                </a:r>
                <a:r>
                  <a:rPr kumimoji="0" lang="en-US" altLang="en-US" sz="2000" b="0" i="0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                                                  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endParaRPr lang="en-US" sz="2000" dirty="0"/>
              </a:p>
              <a:p>
                <a:pPr marL="342900" indent="-3429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Can be obtained using </a:t>
                </a:r>
                <a:r>
                  <a:rPr lang="en-US" sz="2000" u="sng" dirty="0"/>
                  <a:t>Dynamic Programming </a:t>
                </a:r>
                <a:r>
                  <a:rPr lang="en-US" sz="2000" dirty="0"/>
                  <a:t>similar to Free Energy Minimization.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598313-8761-A953-4CD3-9E9B80DD1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15" y="1170138"/>
                <a:ext cx="10986370" cy="1456937"/>
              </a:xfrm>
              <a:prstGeom prst="rect">
                <a:avLst/>
              </a:prstGeom>
              <a:blipFill>
                <a:blip r:embed="rId4"/>
                <a:stretch>
                  <a:fillRect l="-462" b="-1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65909F9-26CB-12F8-3858-4DEC83BEC8D5}"/>
              </a:ext>
            </a:extLst>
          </p:cNvPr>
          <p:cNvSpPr txBox="1"/>
          <p:nvPr/>
        </p:nvSpPr>
        <p:spPr>
          <a:xfrm>
            <a:off x="734939" y="3684141"/>
            <a:ext cx="45626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lang="en-US" altLang="en-US" sz="2000" dirty="0">
                <a:solidFill>
                  <a:srgbClr val="000000"/>
                </a:solidFill>
              </a:rPr>
              <a:t>Minimum Free Energy of the structure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the sequence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starting at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and ending at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&lt;j).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54B191-BE67-9F93-2A63-85BB6C3C9004}"/>
                  </a:ext>
                </a:extLst>
              </p:cNvPr>
              <p:cNvSpPr txBox="1"/>
              <p:nvPr/>
            </p:nvSpPr>
            <p:spPr>
              <a:xfrm>
                <a:off x="734939" y="5404318"/>
                <a:ext cx="334854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54B191-BE67-9F93-2A63-85BB6C3C9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39" y="5404318"/>
                <a:ext cx="3348546" cy="400110"/>
              </a:xfrm>
              <a:prstGeom prst="rect">
                <a:avLst/>
              </a:prstGeom>
              <a:blipFill>
                <a:blip r:embed="rId5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ECD4A9-34B2-D52B-27DC-A028CE99EB2A}"/>
                  </a:ext>
                </a:extLst>
              </p:cNvPr>
              <p:cNvSpPr txBox="1"/>
              <p:nvPr/>
            </p:nvSpPr>
            <p:spPr>
              <a:xfrm>
                <a:off x="1056401" y="6090935"/>
                <a:ext cx="100541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What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here? Free energies associated with possible structures between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(</a:t>
                </a:r>
                <a:r>
                  <a:rPr lang="en-US" sz="2000" i="1" dirty="0" err="1">
                    <a:solidFill>
                      <a:srgbClr val="C00000"/>
                    </a:solidFill>
                  </a:rPr>
                  <a:t>i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, j).</a:t>
                </a: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ECD4A9-34B2-D52B-27DC-A028CE99E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01" y="6090935"/>
                <a:ext cx="10054186" cy="400110"/>
              </a:xfrm>
              <a:prstGeom prst="rect">
                <a:avLst/>
              </a:prstGeom>
              <a:blipFill>
                <a:blip r:embed="rId6"/>
                <a:stretch>
                  <a:fillRect l="-631" t="-303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1">
            <a:extLst>
              <a:ext uri="{FF2B5EF4-FFF2-40B4-BE49-F238E27FC236}">
                <a16:creationId xmlns:a16="http://schemas.microsoft.com/office/drawing/2014/main" id="{CA5B0AE6-4837-FEA1-E360-4C1EB9E52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059" y="444185"/>
            <a:ext cx="104070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dirty="0">
                <a:solidFill>
                  <a:srgbClr val="C00000"/>
                </a:solidFill>
              </a:rPr>
              <a:t>From Free Energy Minimization to Partition Function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A3F198-54FA-CC3D-80BE-2F5252A865C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046" t="38920" r="19956" b="31533"/>
          <a:stretch>
            <a:fillRect/>
          </a:stretch>
        </p:blipFill>
        <p:spPr>
          <a:xfrm>
            <a:off x="4083485" y="2852477"/>
            <a:ext cx="3591431" cy="43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8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66E1-BDD9-DF7B-381C-975D7433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73B1057-2E41-BFAD-9A3D-3911EAE8ABAB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0034D71-E32A-363E-B9B2-95D486D8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258" y="6341607"/>
            <a:ext cx="2743200" cy="365125"/>
          </a:xfrm>
        </p:spPr>
        <p:txBody>
          <a:bodyPr/>
          <a:lstStyle/>
          <a:p>
            <a:r>
              <a:rPr lang="en-IN" dirty="0"/>
              <a:t>4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123147E-B714-81E8-EBB5-9762F0A08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8E3AC2-2B91-260B-3B23-A883876EF84B}"/>
                  </a:ext>
                </a:extLst>
              </p:cNvPr>
              <p:cNvSpPr txBox="1"/>
              <p:nvPr/>
            </p:nvSpPr>
            <p:spPr>
              <a:xfrm>
                <a:off x="602815" y="1170138"/>
                <a:ext cx="10986370" cy="1456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i="1" dirty="0">
                    <a:solidFill>
                      <a:srgbClr val="000000"/>
                    </a:solidFill>
                  </a:rPr>
                  <a:t>Partition function</a:t>
                </a:r>
                <a:r>
                  <a:rPr lang="en-US" altLang="en-US" sz="2000" dirty="0">
                    <a:solidFill>
                      <a:srgbClr val="000000"/>
                    </a:solidFill>
                  </a:rPr>
                  <a:t>: Sum of Boltzmann weights over all possible structures (states).                                                  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endParaRPr lang="en-US" sz="2000" dirty="0"/>
              </a:p>
              <a:p>
                <a:pPr marL="342900" indent="-3429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Can be obtained using </a:t>
                </a:r>
                <a:r>
                  <a:rPr lang="en-US" sz="2000" u="sng" dirty="0"/>
                  <a:t>Dynamic Programming </a:t>
                </a:r>
                <a:r>
                  <a:rPr lang="en-US" sz="2000" dirty="0"/>
                  <a:t>similar to Free Energy Minimization.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8E3AC2-2B91-260B-3B23-A883876EF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15" y="1170138"/>
                <a:ext cx="10986370" cy="1456937"/>
              </a:xfrm>
              <a:prstGeom prst="rect">
                <a:avLst/>
              </a:prstGeom>
              <a:blipFill>
                <a:blip r:embed="rId4"/>
                <a:stretch>
                  <a:fillRect l="-462" r="-9815" b="-1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DC7A6C3-2CB2-B381-DBD8-135FE8AAC40B}"/>
              </a:ext>
            </a:extLst>
          </p:cNvPr>
          <p:cNvSpPr txBox="1"/>
          <p:nvPr/>
        </p:nvSpPr>
        <p:spPr>
          <a:xfrm>
            <a:off x="734939" y="3684141"/>
            <a:ext cx="4369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lang="en-US" altLang="en-US" sz="2000" dirty="0">
                <a:solidFill>
                  <a:srgbClr val="000000"/>
                </a:solidFill>
              </a:rPr>
              <a:t>Minimum Free Energy of the structure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the sequence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starting at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and ending at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&lt;j).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3EDC51-5A1C-A421-DCE6-0E81A9CB29F3}"/>
                  </a:ext>
                </a:extLst>
              </p:cNvPr>
              <p:cNvSpPr txBox="1"/>
              <p:nvPr/>
            </p:nvSpPr>
            <p:spPr>
              <a:xfrm>
                <a:off x="734939" y="5404318"/>
                <a:ext cx="334854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3EDC51-5A1C-A421-DCE6-0E81A9CB2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39" y="5404318"/>
                <a:ext cx="3348546" cy="400110"/>
              </a:xfrm>
              <a:prstGeom prst="rect">
                <a:avLst/>
              </a:prstGeom>
              <a:blipFill>
                <a:blip r:embed="rId5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2BC266E-B2B3-4F72-A32C-43D9342B781F}"/>
              </a:ext>
            </a:extLst>
          </p:cNvPr>
          <p:cNvSpPr txBox="1"/>
          <p:nvPr/>
        </p:nvSpPr>
        <p:spPr>
          <a:xfrm>
            <a:off x="6083494" y="3702926"/>
            <a:ext cx="55622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i="1" dirty="0">
                <a:solidFill>
                  <a:srgbClr val="000000"/>
                </a:solidFill>
              </a:rPr>
              <a:t>Q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Partition function for the set of all secondary </a:t>
            </a:r>
            <a:r>
              <a:rPr lang="en-US" altLang="en-US" sz="2000" dirty="0">
                <a:solidFill>
                  <a:srgbClr val="000000"/>
                </a:solidFill>
              </a:rPr>
              <a:t>structures on </a:t>
            </a:r>
            <a:r>
              <a:rPr lang="en-US" altLang="en-US" sz="2000" i="1" dirty="0">
                <a:solidFill>
                  <a:srgbClr val="000000"/>
                </a:solidFill>
              </a:rPr>
              <a:t>[</a:t>
            </a:r>
            <a:r>
              <a:rPr lang="en-US" altLang="en-US" sz="2000" i="1" dirty="0" err="1">
                <a:solidFill>
                  <a:srgbClr val="000000"/>
                </a:solidFill>
              </a:rPr>
              <a:t>i,j</a:t>
            </a:r>
            <a:r>
              <a:rPr lang="en-US" altLang="en-US" sz="2000" i="1" dirty="0">
                <a:solidFill>
                  <a:srgbClr val="000000"/>
                </a:solidFill>
              </a:rPr>
              <a:t>]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9F1EA6-3CBD-5F38-F518-3B9924A6270B}"/>
                  </a:ext>
                </a:extLst>
              </p:cNvPr>
              <p:cNvSpPr txBox="1"/>
              <p:nvPr/>
            </p:nvSpPr>
            <p:spPr>
              <a:xfrm>
                <a:off x="6026922" y="5423022"/>
                <a:ext cx="5562263" cy="452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sum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9F1EA6-3CBD-5F38-F518-3B9924A62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922" y="5423022"/>
                <a:ext cx="5562263" cy="452226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1EEA65-E1B1-155D-972F-D4BDDCD21647}"/>
                  </a:ext>
                </a:extLst>
              </p:cNvPr>
              <p:cNvSpPr txBox="1"/>
              <p:nvPr/>
            </p:nvSpPr>
            <p:spPr>
              <a:xfrm>
                <a:off x="1056401" y="6090935"/>
                <a:ext cx="100541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What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here? Free energies associated with possible structures between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(</a:t>
                </a:r>
                <a:r>
                  <a:rPr lang="en-US" sz="2000" i="1" dirty="0" err="1">
                    <a:solidFill>
                      <a:srgbClr val="C00000"/>
                    </a:solidFill>
                  </a:rPr>
                  <a:t>i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, j).</a:t>
                </a: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1EEA65-E1B1-155D-972F-D4BDDCD2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01" y="6090935"/>
                <a:ext cx="10054186" cy="400110"/>
              </a:xfrm>
              <a:prstGeom prst="rect">
                <a:avLst/>
              </a:prstGeom>
              <a:blipFill>
                <a:blip r:embed="rId7"/>
                <a:stretch>
                  <a:fillRect l="-631" t="-303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CF3AA77-9C7C-DE49-3676-22EB88247E65}"/>
              </a:ext>
            </a:extLst>
          </p:cNvPr>
          <p:cNvSpPr txBox="1"/>
          <p:nvPr/>
        </p:nvSpPr>
        <p:spPr>
          <a:xfrm>
            <a:off x="6133430" y="4568466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Replace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with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sum of Boltzmann-weighted contributions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17A8903E-9C92-A842-FE88-A5D9C34B7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059" y="444185"/>
            <a:ext cx="104070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dirty="0">
                <a:solidFill>
                  <a:srgbClr val="C00000"/>
                </a:solidFill>
              </a:rPr>
              <a:t>From Free Energy Minimization to Partition Function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AD9F867-566B-ED45-3916-8C8C8FACB54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9046" t="38920" r="19956" b="31533"/>
          <a:stretch>
            <a:fillRect/>
          </a:stretch>
        </p:blipFill>
        <p:spPr>
          <a:xfrm>
            <a:off x="4083485" y="2852477"/>
            <a:ext cx="3591431" cy="43492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7F0F16-1A45-164B-9DC9-7F7BB5305291}"/>
              </a:ext>
            </a:extLst>
          </p:cNvPr>
          <p:cNvCxnSpPr/>
          <p:nvPr/>
        </p:nvCxnSpPr>
        <p:spPr>
          <a:xfrm>
            <a:off x="5824330" y="3692330"/>
            <a:ext cx="0" cy="2261209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ight Arrow 28">
            <a:extLst>
              <a:ext uri="{FF2B5EF4-FFF2-40B4-BE49-F238E27FC236}">
                <a16:creationId xmlns:a16="http://schemas.microsoft.com/office/drawing/2014/main" id="{B1B9536B-7459-CA98-9823-DB0B3EEEC219}"/>
              </a:ext>
            </a:extLst>
          </p:cNvPr>
          <p:cNvSpPr/>
          <p:nvPr/>
        </p:nvSpPr>
        <p:spPr>
          <a:xfrm>
            <a:off x="5222027" y="3878721"/>
            <a:ext cx="586408" cy="467139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BE55762B-C072-51D8-B019-DF81F114A51F}"/>
              </a:ext>
            </a:extLst>
          </p:cNvPr>
          <p:cNvSpPr/>
          <p:nvPr/>
        </p:nvSpPr>
        <p:spPr>
          <a:xfrm>
            <a:off x="4584679" y="5414496"/>
            <a:ext cx="1223756" cy="467139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7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52D9-CC41-5257-4A58-54A0A7B7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65FCD4-7AC2-7BDF-4803-72AB21720EDD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40EC4C6-58B4-ED08-CB6F-4C95A4AF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5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446A23-BA8E-14A4-9691-309BEB511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2FD77EB-8E2F-5F81-AFA8-E3F0BE076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180964"/>
              </p:ext>
            </p:extLst>
          </p:nvPr>
        </p:nvGraphicFramePr>
        <p:xfrm>
          <a:off x="1929936" y="2946528"/>
          <a:ext cx="2989930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8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976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 Box 5">
            <a:extLst>
              <a:ext uri="{FF2B5EF4-FFF2-40B4-BE49-F238E27FC236}">
                <a16:creationId xmlns:a16="http://schemas.microsoft.com/office/drawing/2014/main" id="{CFECA222-2455-25D6-82BF-0F4AD56C6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35" y="2569701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latin typeface="Times" panose="02020603050405020304" pitchFamily="18" charset="0"/>
                <a:cs typeface="Times" panose="02020603050405020304" pitchFamily="18" charset="0"/>
              </a:rPr>
              <a:t>j</a:t>
            </a: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5978B4CE-7250-3793-5F14-D6BF52F63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482" y="3118939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 err="1"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  <a:endParaRPr lang="en-US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276FA7-B80B-10C0-060A-53E701E7A809}"/>
              </a:ext>
            </a:extLst>
          </p:cNvPr>
          <p:cNvCxnSpPr>
            <a:cxnSpLocks/>
          </p:cNvCxnSpPr>
          <p:nvPr/>
        </p:nvCxnSpPr>
        <p:spPr bwMode="auto">
          <a:xfrm>
            <a:off x="2485495" y="2819398"/>
            <a:ext cx="1943359" cy="0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6B7E042-BA12-C577-F6E7-8631DC5EDA6C}"/>
              </a:ext>
            </a:extLst>
          </p:cNvPr>
          <p:cNvCxnSpPr>
            <a:cxnSpLocks/>
          </p:cNvCxnSpPr>
          <p:nvPr/>
        </p:nvCxnSpPr>
        <p:spPr bwMode="auto">
          <a:xfrm>
            <a:off x="1778012" y="3427138"/>
            <a:ext cx="0" cy="2052173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Freeform 152">
            <a:extLst>
              <a:ext uri="{FF2B5EF4-FFF2-40B4-BE49-F238E27FC236}">
                <a16:creationId xmlns:a16="http://schemas.microsoft.com/office/drawing/2014/main" id="{2E01D5A2-9A65-AA25-3A44-19584279E755}"/>
              </a:ext>
            </a:extLst>
          </p:cNvPr>
          <p:cNvSpPr>
            <a:spLocks/>
          </p:cNvSpPr>
          <p:nvPr/>
        </p:nvSpPr>
        <p:spPr bwMode="auto">
          <a:xfrm flipH="1">
            <a:off x="6117758" y="7724443"/>
            <a:ext cx="1066798" cy="466993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288" y="240"/>
              </a:cxn>
              <a:cxn ang="0">
                <a:pos x="720" y="0"/>
              </a:cxn>
            </a:cxnLst>
            <a:rect l="0" t="0" r="r" b="b"/>
            <a:pathLst>
              <a:path w="720" h="280">
                <a:moveTo>
                  <a:pt x="0" y="240"/>
                </a:moveTo>
                <a:cubicBezTo>
                  <a:pt x="84" y="260"/>
                  <a:pt x="168" y="280"/>
                  <a:pt x="288" y="240"/>
                </a:cubicBezTo>
                <a:cubicBezTo>
                  <a:pt x="408" y="200"/>
                  <a:pt x="564" y="100"/>
                  <a:pt x="720" y="0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9722F-482F-A4E4-CB6F-5BFD34707B83}"/>
              </a:ext>
            </a:extLst>
          </p:cNvPr>
          <p:cNvSpPr txBox="1"/>
          <p:nvPr/>
        </p:nvSpPr>
        <p:spPr>
          <a:xfrm>
            <a:off x="4708663" y="956533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How do we </a:t>
            </a:r>
            <a:r>
              <a:rPr lang="en-US" sz="2400" dirty="0">
                <a:solidFill>
                  <a:srgbClr val="C00000"/>
                </a:solidFill>
              </a:rPr>
              <a:t>start</a:t>
            </a:r>
            <a:r>
              <a:rPr lang="en-US" sz="240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BEB3F-7FFC-D9B9-59AC-969086FD2662}"/>
              </a:ext>
            </a:extLst>
          </p:cNvPr>
          <p:cNvSpPr txBox="1"/>
          <p:nvPr/>
        </p:nvSpPr>
        <p:spPr>
          <a:xfrm>
            <a:off x="675756" y="1615656"/>
            <a:ext cx="10884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i="1" dirty="0">
                <a:solidFill>
                  <a:srgbClr val="000000"/>
                </a:solidFill>
              </a:rPr>
              <a:t>Q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Partition function for all possible </a:t>
            </a:r>
            <a:r>
              <a:rPr lang="en-US" altLang="en-US" sz="2000" dirty="0">
                <a:solidFill>
                  <a:srgbClr val="000000"/>
                </a:solidFill>
              </a:rPr>
              <a:t>structures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the sequence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starting at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and ending at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&lt;j).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BDD10-BF07-A65B-C622-1014A5C67D40}"/>
              </a:ext>
            </a:extLst>
          </p:cNvPr>
          <p:cNvSpPr txBox="1"/>
          <p:nvPr/>
        </p:nvSpPr>
        <p:spPr>
          <a:xfrm>
            <a:off x="1572127" y="2719041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8528B3-DF7D-B6BF-6231-798A50D17FF6}"/>
                  </a:ext>
                </a:extLst>
              </p:cNvPr>
              <p:cNvSpPr txBox="1"/>
              <p:nvPr/>
            </p:nvSpPr>
            <p:spPr>
              <a:xfrm>
                <a:off x="5917053" y="3118939"/>
                <a:ext cx="33305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for all </a:t>
                </a:r>
                <a:r>
                  <a:rPr lang="en-US" sz="2800" i="1" dirty="0" err="1">
                    <a:solidFill>
                      <a:srgbClr val="C00000"/>
                    </a:solidFill>
                  </a:rPr>
                  <a:t>i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8528B3-DF7D-B6BF-6231-798A50D17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3" y="3118939"/>
                <a:ext cx="3330527" cy="430887"/>
              </a:xfrm>
              <a:prstGeom prst="rect">
                <a:avLst/>
              </a:prstGeom>
              <a:blipFill>
                <a:blip r:embed="rId3"/>
                <a:stretch>
                  <a:fillRect l="-5703" t="-25714" r="-5703" b="-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3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01E6-63C1-D81F-8135-AC868164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6FB6C60-BC0A-CE53-3532-247CE4B4D78C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E3E46B2-3A31-19C0-A90C-E91F7836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5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49F043-B8DB-AF0F-1A40-356B42F95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9F0414E-5F08-6A87-AEAB-CADB56D88FB6}"/>
              </a:ext>
            </a:extLst>
          </p:cNvPr>
          <p:cNvGraphicFramePr>
            <a:graphicFrameLocks noGrp="1"/>
          </p:cNvGraphicFramePr>
          <p:nvPr/>
        </p:nvGraphicFramePr>
        <p:xfrm>
          <a:off x="1929936" y="2946528"/>
          <a:ext cx="2989930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8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976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 Box 5">
            <a:extLst>
              <a:ext uri="{FF2B5EF4-FFF2-40B4-BE49-F238E27FC236}">
                <a16:creationId xmlns:a16="http://schemas.microsoft.com/office/drawing/2014/main" id="{28689EC8-3670-4A83-44B8-792AF3673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35" y="2569701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latin typeface="Times" panose="02020603050405020304" pitchFamily="18" charset="0"/>
                <a:cs typeface="Times" panose="02020603050405020304" pitchFamily="18" charset="0"/>
              </a:rPr>
              <a:t>j</a:t>
            </a: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0F0D0299-EDD7-B211-696C-2C9B1862B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482" y="3118939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 err="1"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  <a:endParaRPr lang="en-US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05A9F9-D636-B1E6-54AC-60727B34BC85}"/>
              </a:ext>
            </a:extLst>
          </p:cNvPr>
          <p:cNvCxnSpPr>
            <a:cxnSpLocks/>
          </p:cNvCxnSpPr>
          <p:nvPr/>
        </p:nvCxnSpPr>
        <p:spPr bwMode="auto">
          <a:xfrm>
            <a:off x="2485495" y="2819398"/>
            <a:ext cx="1943359" cy="0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9560A8-D779-1041-0B53-1568C35BC323}"/>
              </a:ext>
            </a:extLst>
          </p:cNvPr>
          <p:cNvCxnSpPr>
            <a:cxnSpLocks/>
          </p:cNvCxnSpPr>
          <p:nvPr/>
        </p:nvCxnSpPr>
        <p:spPr bwMode="auto">
          <a:xfrm>
            <a:off x="1778012" y="3427138"/>
            <a:ext cx="0" cy="2052173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Freeform 152">
            <a:extLst>
              <a:ext uri="{FF2B5EF4-FFF2-40B4-BE49-F238E27FC236}">
                <a16:creationId xmlns:a16="http://schemas.microsoft.com/office/drawing/2014/main" id="{FB8839B8-A1FE-C359-7379-FA71732736C9}"/>
              </a:ext>
            </a:extLst>
          </p:cNvPr>
          <p:cNvSpPr>
            <a:spLocks/>
          </p:cNvSpPr>
          <p:nvPr/>
        </p:nvSpPr>
        <p:spPr bwMode="auto">
          <a:xfrm flipH="1">
            <a:off x="6117758" y="7724443"/>
            <a:ext cx="1066798" cy="466993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288" y="240"/>
              </a:cxn>
              <a:cxn ang="0">
                <a:pos x="720" y="0"/>
              </a:cxn>
            </a:cxnLst>
            <a:rect l="0" t="0" r="r" b="b"/>
            <a:pathLst>
              <a:path w="720" h="280">
                <a:moveTo>
                  <a:pt x="0" y="240"/>
                </a:moveTo>
                <a:cubicBezTo>
                  <a:pt x="84" y="260"/>
                  <a:pt x="168" y="280"/>
                  <a:pt x="288" y="240"/>
                </a:cubicBezTo>
                <a:cubicBezTo>
                  <a:pt x="408" y="200"/>
                  <a:pt x="564" y="100"/>
                  <a:pt x="720" y="0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F20E4-E606-6B94-4BAF-8A7298138867}"/>
              </a:ext>
            </a:extLst>
          </p:cNvPr>
          <p:cNvSpPr txBox="1"/>
          <p:nvPr/>
        </p:nvSpPr>
        <p:spPr>
          <a:xfrm>
            <a:off x="4708663" y="956533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How do we </a:t>
            </a:r>
            <a:r>
              <a:rPr lang="en-US" sz="2400" dirty="0">
                <a:solidFill>
                  <a:srgbClr val="C00000"/>
                </a:solidFill>
              </a:rPr>
              <a:t>start</a:t>
            </a:r>
            <a:r>
              <a:rPr lang="en-US" sz="240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C718E-FD87-B395-22B3-D391D7195CC8}"/>
              </a:ext>
            </a:extLst>
          </p:cNvPr>
          <p:cNvSpPr txBox="1"/>
          <p:nvPr/>
        </p:nvSpPr>
        <p:spPr>
          <a:xfrm>
            <a:off x="675756" y="1615656"/>
            <a:ext cx="10884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i="1" dirty="0">
                <a:solidFill>
                  <a:srgbClr val="000000"/>
                </a:solidFill>
              </a:rPr>
              <a:t>Q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Partition function for all possible </a:t>
            </a:r>
            <a:r>
              <a:rPr lang="en-US" altLang="en-US" sz="2000" dirty="0">
                <a:solidFill>
                  <a:srgbClr val="000000"/>
                </a:solidFill>
              </a:rPr>
              <a:t>structures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the sequence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starting at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and ending at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&lt;j).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39775-ABDD-3097-F1E8-5A321EF7F357}"/>
              </a:ext>
            </a:extLst>
          </p:cNvPr>
          <p:cNvSpPr txBox="1"/>
          <p:nvPr/>
        </p:nvSpPr>
        <p:spPr>
          <a:xfrm>
            <a:off x="1572127" y="2719041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78438E-B6D7-6D28-4F23-21317D60740D}"/>
                  </a:ext>
                </a:extLst>
              </p:cNvPr>
              <p:cNvSpPr txBox="1"/>
              <p:nvPr/>
            </p:nvSpPr>
            <p:spPr>
              <a:xfrm>
                <a:off x="5917053" y="3118939"/>
                <a:ext cx="33305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for all </a:t>
                </a:r>
                <a:r>
                  <a:rPr lang="en-US" sz="2800" i="1" dirty="0" err="1">
                    <a:solidFill>
                      <a:srgbClr val="C00000"/>
                    </a:solidFill>
                  </a:rPr>
                  <a:t>i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8528B3-DF7D-B6BF-6231-798A50D17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3" y="3118939"/>
                <a:ext cx="3330527" cy="430887"/>
              </a:xfrm>
              <a:prstGeom prst="rect">
                <a:avLst/>
              </a:prstGeom>
              <a:blipFill>
                <a:blip r:embed="rId3"/>
                <a:stretch>
                  <a:fillRect l="-5703" t="-25714" r="-5703" b="-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7B3EC2-A31D-1179-F86E-57877DA5A272}"/>
                  </a:ext>
                </a:extLst>
              </p:cNvPr>
              <p:cNvSpPr txBox="1"/>
              <p:nvPr/>
            </p:nvSpPr>
            <p:spPr>
              <a:xfrm>
                <a:off x="6212220" y="3692542"/>
                <a:ext cx="4594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 structure</a:t>
                </a:r>
                <a:r>
                  <a:rPr lang="en-US" sz="2000" dirty="0">
                    <a:sym typeface="Wingdings" pitchFamily="2" charset="2"/>
                  </a:rPr>
                  <a:t></a:t>
                </a:r>
                <a:r>
                  <a:rPr lang="en-US" sz="2000" dirty="0"/>
                  <a:t> 	Zero energy</a:t>
                </a:r>
                <a:r>
                  <a:rPr lang="en-US" sz="2000" dirty="0">
                    <a:sym typeface="Wingdings" pitchFamily="2" charset="2"/>
                  </a:rPr>
                  <a:t>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7B3EC2-A31D-1179-F86E-57877DA5A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220" y="3692542"/>
                <a:ext cx="4594099" cy="400110"/>
              </a:xfrm>
              <a:prstGeom prst="rect">
                <a:avLst/>
              </a:prstGeom>
              <a:blipFill>
                <a:blip r:embed="rId4"/>
                <a:stretch>
                  <a:fillRect l="-1377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93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E6D3-B88E-488A-648C-D56773E3F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FAC3CE5-1F48-2723-AB46-9D29F65B823F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AABAC19-D06E-44CD-5AF9-BE099295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5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6112A9-A673-8A89-F3CE-84573EF8B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9CFAEC8-1A37-FA91-FF56-6670AAEFF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405144"/>
              </p:ext>
            </p:extLst>
          </p:nvPr>
        </p:nvGraphicFramePr>
        <p:xfrm>
          <a:off x="1929936" y="2946528"/>
          <a:ext cx="2989930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8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976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 Box 5">
            <a:extLst>
              <a:ext uri="{FF2B5EF4-FFF2-40B4-BE49-F238E27FC236}">
                <a16:creationId xmlns:a16="http://schemas.microsoft.com/office/drawing/2014/main" id="{0BAE1E07-197F-33EA-EFED-14AA01B40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35" y="2569701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latin typeface="Times" panose="02020603050405020304" pitchFamily="18" charset="0"/>
                <a:cs typeface="Times" panose="02020603050405020304" pitchFamily="18" charset="0"/>
              </a:rPr>
              <a:t>j</a:t>
            </a: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72C2EEF5-D39F-353E-75D9-B515D8F89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482" y="3118939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 err="1"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  <a:endParaRPr lang="en-US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440EDDD-2177-DFA1-0613-5308525EF89F}"/>
              </a:ext>
            </a:extLst>
          </p:cNvPr>
          <p:cNvCxnSpPr>
            <a:cxnSpLocks/>
          </p:cNvCxnSpPr>
          <p:nvPr/>
        </p:nvCxnSpPr>
        <p:spPr bwMode="auto">
          <a:xfrm>
            <a:off x="2485495" y="2819398"/>
            <a:ext cx="1943359" cy="0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AAA87B-DB78-DF71-750C-9432D5CA45A6}"/>
              </a:ext>
            </a:extLst>
          </p:cNvPr>
          <p:cNvCxnSpPr>
            <a:cxnSpLocks/>
          </p:cNvCxnSpPr>
          <p:nvPr/>
        </p:nvCxnSpPr>
        <p:spPr bwMode="auto">
          <a:xfrm>
            <a:off x="1778012" y="3427138"/>
            <a:ext cx="0" cy="2052173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Freeform 152">
            <a:extLst>
              <a:ext uri="{FF2B5EF4-FFF2-40B4-BE49-F238E27FC236}">
                <a16:creationId xmlns:a16="http://schemas.microsoft.com/office/drawing/2014/main" id="{C4CE2A66-6134-C9D1-6A5B-2E618CD7A42C}"/>
              </a:ext>
            </a:extLst>
          </p:cNvPr>
          <p:cNvSpPr>
            <a:spLocks/>
          </p:cNvSpPr>
          <p:nvPr/>
        </p:nvSpPr>
        <p:spPr bwMode="auto">
          <a:xfrm flipH="1">
            <a:off x="6117758" y="7724443"/>
            <a:ext cx="1066798" cy="466993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288" y="240"/>
              </a:cxn>
              <a:cxn ang="0">
                <a:pos x="720" y="0"/>
              </a:cxn>
            </a:cxnLst>
            <a:rect l="0" t="0" r="r" b="b"/>
            <a:pathLst>
              <a:path w="720" h="280">
                <a:moveTo>
                  <a:pt x="0" y="240"/>
                </a:moveTo>
                <a:cubicBezTo>
                  <a:pt x="84" y="260"/>
                  <a:pt x="168" y="280"/>
                  <a:pt x="288" y="240"/>
                </a:cubicBezTo>
                <a:cubicBezTo>
                  <a:pt x="408" y="200"/>
                  <a:pt x="564" y="100"/>
                  <a:pt x="720" y="0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B5307-D5A2-680D-3600-DFD5EDAA1FC2}"/>
              </a:ext>
            </a:extLst>
          </p:cNvPr>
          <p:cNvSpPr txBox="1"/>
          <p:nvPr/>
        </p:nvSpPr>
        <p:spPr>
          <a:xfrm>
            <a:off x="4271341" y="956533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How do we fill cells?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3C009-3B5A-FAE9-18F7-432A401FC4A4}"/>
              </a:ext>
            </a:extLst>
          </p:cNvPr>
          <p:cNvSpPr txBox="1"/>
          <p:nvPr/>
        </p:nvSpPr>
        <p:spPr>
          <a:xfrm>
            <a:off x="675756" y="1615656"/>
            <a:ext cx="10884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i="1" dirty="0">
                <a:solidFill>
                  <a:srgbClr val="000000"/>
                </a:solidFill>
              </a:rPr>
              <a:t>Q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Partition function for all possible </a:t>
            </a:r>
            <a:r>
              <a:rPr lang="en-US" altLang="en-US" sz="2000" dirty="0">
                <a:solidFill>
                  <a:srgbClr val="000000"/>
                </a:solidFill>
              </a:rPr>
              <a:t>structures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the sequence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starting at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and ending at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&lt;j).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4FB07-8272-FD25-9E73-11B0F92DBFF7}"/>
              </a:ext>
            </a:extLst>
          </p:cNvPr>
          <p:cNvSpPr txBox="1"/>
          <p:nvPr/>
        </p:nvSpPr>
        <p:spPr>
          <a:xfrm>
            <a:off x="1572127" y="2719041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4CD399-7145-2745-89FB-6955632F51F0}"/>
                  </a:ext>
                </a:extLst>
              </p:cNvPr>
              <p:cNvSpPr txBox="1"/>
              <p:nvPr/>
            </p:nvSpPr>
            <p:spPr>
              <a:xfrm>
                <a:off x="5917053" y="3118939"/>
                <a:ext cx="5654753" cy="1292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for all </a:t>
                </a:r>
                <a:r>
                  <a:rPr lang="en-US" sz="2800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C00000"/>
                    </a:solidFill>
                  </a:rPr>
                  <a:t>Fill the table diagonally. But how?</a:t>
                </a:r>
              </a:p>
              <a:p>
                <a:r>
                  <a:rPr lang="en-US" sz="2800" dirty="0">
                    <a:solidFill>
                      <a:srgbClr val="C00000"/>
                    </a:solidFill>
                  </a:rPr>
                  <a:t>	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Recursion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4CD399-7145-2745-89FB-6955632F5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3" y="3118939"/>
                <a:ext cx="5654753" cy="1292662"/>
              </a:xfrm>
              <a:prstGeom prst="rect">
                <a:avLst/>
              </a:prstGeom>
              <a:blipFill>
                <a:blip r:embed="rId3"/>
                <a:stretch>
                  <a:fillRect l="-4036" t="-8738" r="-2915" b="-15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C7A7C6-54F6-72B6-6047-066CDF7377CE}"/>
              </a:ext>
            </a:extLst>
          </p:cNvPr>
          <p:cNvCxnSpPr/>
          <p:nvPr/>
        </p:nvCxnSpPr>
        <p:spPr>
          <a:xfrm>
            <a:off x="2645030" y="3427138"/>
            <a:ext cx="2145631" cy="21685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FA1930-8145-4186-CA9D-73E55D85B1A3}"/>
              </a:ext>
            </a:extLst>
          </p:cNvPr>
          <p:cNvCxnSpPr>
            <a:cxnSpLocks/>
          </p:cNvCxnSpPr>
          <p:nvPr/>
        </p:nvCxnSpPr>
        <p:spPr>
          <a:xfrm>
            <a:off x="2914364" y="3368928"/>
            <a:ext cx="1876297" cy="18942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F76B79-83A5-34CF-0022-E1264F4A34D9}"/>
              </a:ext>
            </a:extLst>
          </p:cNvPr>
          <p:cNvSpPr txBox="1"/>
          <p:nvPr/>
        </p:nvSpPr>
        <p:spPr>
          <a:xfrm>
            <a:off x="6703354" y="4685119"/>
            <a:ext cx="3939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like Base Pair Maximization and Free Energy Minimization.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0C8B2-B444-0902-C1F5-C0AD765E7D4A}"/>
              </a:ext>
            </a:extLst>
          </p:cNvPr>
          <p:cNvSpPr txBox="1"/>
          <p:nvPr/>
        </p:nvSpPr>
        <p:spPr>
          <a:xfrm>
            <a:off x="225375" y="6404764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Raden et al., </a:t>
            </a:r>
            <a:r>
              <a:rPr lang="en-US" sz="1000" i="1" dirty="0"/>
              <a:t>NAR</a:t>
            </a:r>
            <a:r>
              <a:rPr lang="en-US" sz="1000" dirty="0"/>
              <a:t>, 2018</a:t>
            </a:r>
          </a:p>
        </p:txBody>
      </p:sp>
    </p:spTree>
    <p:extLst>
      <p:ext uri="{BB962C8B-B14F-4D97-AF65-F5344CB8AC3E}">
        <p14:creationId xmlns:p14="http://schemas.microsoft.com/office/powerpoint/2010/main" val="33500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63825-0C08-2A95-D7A6-37D7E693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6A3665-F885-802C-4906-53EB1CDF44A2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1E5D8FF-7D12-4C04-4733-FC35A66A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5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E83944-B0E6-B719-19E3-38C5E69C9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962AD35-C310-6083-192C-B91629B61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135453"/>
              </p:ext>
            </p:extLst>
          </p:nvPr>
        </p:nvGraphicFramePr>
        <p:xfrm>
          <a:off x="1929936" y="2946528"/>
          <a:ext cx="2989930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8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8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976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7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 Box 5">
            <a:extLst>
              <a:ext uri="{FF2B5EF4-FFF2-40B4-BE49-F238E27FC236}">
                <a16:creationId xmlns:a16="http://schemas.microsoft.com/office/drawing/2014/main" id="{150464F1-BF05-E4C6-9510-4701F20ED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35" y="2569701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latin typeface="Times" panose="02020603050405020304" pitchFamily="18" charset="0"/>
                <a:cs typeface="Times" panose="02020603050405020304" pitchFamily="18" charset="0"/>
              </a:rPr>
              <a:t>j</a:t>
            </a: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B77814F2-7C06-FEA3-7C3B-4AB41874B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482" y="3118939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 err="1"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  <a:endParaRPr lang="en-US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1CD89E-D114-1BFD-2ADE-2C95B72E4921}"/>
              </a:ext>
            </a:extLst>
          </p:cNvPr>
          <p:cNvCxnSpPr>
            <a:cxnSpLocks/>
          </p:cNvCxnSpPr>
          <p:nvPr/>
        </p:nvCxnSpPr>
        <p:spPr bwMode="auto">
          <a:xfrm>
            <a:off x="2485495" y="2819398"/>
            <a:ext cx="1943359" cy="0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350B4AE-7524-7261-B998-D8AFFB01B04F}"/>
              </a:ext>
            </a:extLst>
          </p:cNvPr>
          <p:cNvCxnSpPr>
            <a:cxnSpLocks/>
          </p:cNvCxnSpPr>
          <p:nvPr/>
        </p:nvCxnSpPr>
        <p:spPr bwMode="auto">
          <a:xfrm>
            <a:off x="1778012" y="3427138"/>
            <a:ext cx="0" cy="2052173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Freeform 152">
            <a:extLst>
              <a:ext uri="{FF2B5EF4-FFF2-40B4-BE49-F238E27FC236}">
                <a16:creationId xmlns:a16="http://schemas.microsoft.com/office/drawing/2014/main" id="{9A09F432-7618-2587-4C66-9B40D2D06978}"/>
              </a:ext>
            </a:extLst>
          </p:cNvPr>
          <p:cNvSpPr>
            <a:spLocks/>
          </p:cNvSpPr>
          <p:nvPr/>
        </p:nvSpPr>
        <p:spPr bwMode="auto">
          <a:xfrm flipH="1">
            <a:off x="6117758" y="7724443"/>
            <a:ext cx="1066798" cy="466993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288" y="240"/>
              </a:cxn>
              <a:cxn ang="0">
                <a:pos x="720" y="0"/>
              </a:cxn>
            </a:cxnLst>
            <a:rect l="0" t="0" r="r" b="b"/>
            <a:pathLst>
              <a:path w="720" h="280">
                <a:moveTo>
                  <a:pt x="0" y="240"/>
                </a:moveTo>
                <a:cubicBezTo>
                  <a:pt x="84" y="260"/>
                  <a:pt x="168" y="280"/>
                  <a:pt x="288" y="240"/>
                </a:cubicBezTo>
                <a:cubicBezTo>
                  <a:pt x="408" y="200"/>
                  <a:pt x="564" y="100"/>
                  <a:pt x="720" y="0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CFA6B-E0E2-1BF5-14FD-85B7A1648315}"/>
              </a:ext>
            </a:extLst>
          </p:cNvPr>
          <p:cNvSpPr txBox="1"/>
          <p:nvPr/>
        </p:nvSpPr>
        <p:spPr>
          <a:xfrm>
            <a:off x="675756" y="1615656"/>
            <a:ext cx="10884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i="1" dirty="0">
                <a:solidFill>
                  <a:srgbClr val="000000"/>
                </a:solidFill>
              </a:rPr>
              <a:t>Q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Partition function for all possible </a:t>
            </a:r>
            <a:r>
              <a:rPr lang="en-US" altLang="en-US" sz="2000" dirty="0">
                <a:solidFill>
                  <a:srgbClr val="000000"/>
                </a:solidFill>
              </a:rPr>
              <a:t>structures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the sequence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starting at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and ending at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&lt;j).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7FB25-7E8E-9494-CFCB-1CDC0019E398}"/>
              </a:ext>
            </a:extLst>
          </p:cNvPr>
          <p:cNvSpPr txBox="1"/>
          <p:nvPr/>
        </p:nvSpPr>
        <p:spPr>
          <a:xfrm>
            <a:off x="1572127" y="2719041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933A3D-D78E-544F-379B-0FF6716E231F}"/>
                  </a:ext>
                </a:extLst>
              </p:cNvPr>
              <p:cNvSpPr txBox="1"/>
              <p:nvPr/>
            </p:nvSpPr>
            <p:spPr>
              <a:xfrm>
                <a:off x="5917053" y="3118939"/>
                <a:ext cx="6049660" cy="25237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for all </a:t>
                </a:r>
                <a:r>
                  <a:rPr lang="en-US" sz="2800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Fill the table diagonally. But how?</a:t>
                </a:r>
              </a:p>
              <a:p>
                <a:r>
                  <a:rPr lang="en-US" sz="2800" dirty="0"/>
                  <a:t>	</a:t>
                </a:r>
                <a:r>
                  <a:rPr lang="en-US" sz="2800" b="1" dirty="0"/>
                  <a:t>Recursion</a:t>
                </a:r>
              </a:p>
              <a:p>
                <a:r>
                  <a:rPr lang="en-US" sz="2000" dirty="0">
                    <a:solidFill>
                      <a:srgbClr val="C00000"/>
                    </a:solidFill>
                  </a:rPr>
                  <a:t>New cell entry depends on previous entries.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rgbClr val="C00000"/>
                  </a:solidFill>
                </a:endParaRPr>
              </a:p>
              <a:p>
                <a:r>
                  <a:rPr lang="en-US" sz="2000" dirty="0">
                    <a:solidFill>
                      <a:srgbClr val="C00000"/>
                    </a:solidFill>
                  </a:rPr>
                  <a:t>How can we take into account all possible structures?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933A3D-D78E-544F-379B-0FF6716E2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3" y="3118939"/>
                <a:ext cx="6049660" cy="2523768"/>
              </a:xfrm>
              <a:prstGeom prst="rect">
                <a:avLst/>
              </a:prstGeom>
              <a:blipFill>
                <a:blip r:embed="rId3"/>
                <a:stretch>
                  <a:fillRect l="-3774" t="-4500" b="-5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68B682F-87B6-0D64-A4C2-B87D275C6619}"/>
              </a:ext>
            </a:extLst>
          </p:cNvPr>
          <p:cNvCxnSpPr>
            <a:cxnSpLocks/>
          </p:cNvCxnSpPr>
          <p:nvPr/>
        </p:nvCxnSpPr>
        <p:spPr>
          <a:xfrm>
            <a:off x="2912165" y="3697357"/>
            <a:ext cx="1878496" cy="189837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38DCD3-8BF5-176F-C9E5-FA1DEE2C84C0}"/>
              </a:ext>
            </a:extLst>
          </p:cNvPr>
          <p:cNvSpPr txBox="1"/>
          <p:nvPr/>
        </p:nvSpPr>
        <p:spPr>
          <a:xfrm>
            <a:off x="4271341" y="956533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How do we fill cells? </a:t>
            </a:r>
          </a:p>
        </p:txBody>
      </p:sp>
    </p:spTree>
    <p:extLst>
      <p:ext uri="{BB962C8B-B14F-4D97-AF65-F5344CB8AC3E}">
        <p14:creationId xmlns:p14="http://schemas.microsoft.com/office/powerpoint/2010/main" val="136021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ABDC-3941-A46A-B694-2B0245065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7977828-8B41-4F16-7410-4EDF9AF86CD2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AB58CC-31EE-2AC0-AEED-FAEF8896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8C2107-2881-9FBD-588C-C44950D2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pic>
        <p:nvPicPr>
          <p:cNvPr id="5" name="Picture 4" descr="A green half moon&#10;&#10;AI-generated content may be incorrect.">
            <a:extLst>
              <a:ext uri="{FF2B5EF4-FFF2-40B4-BE49-F238E27FC236}">
                <a16:creationId xmlns:a16="http://schemas.microsoft.com/office/drawing/2014/main" id="{CA515693-DD4D-1A1A-FFEA-9A2FA2EE4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532" y="1588023"/>
            <a:ext cx="6559913" cy="10539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7F31F3-929F-2AD0-5FED-B24E194788FD}"/>
              </a:ext>
            </a:extLst>
          </p:cNvPr>
          <p:cNvSpPr txBox="1"/>
          <p:nvPr/>
        </p:nvSpPr>
        <p:spPr>
          <a:xfrm>
            <a:off x="7184556" y="2686482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 and j paired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D0A62C-9058-4085-7004-B9B9FFEC4C0D}"/>
              </a:ext>
            </a:extLst>
          </p:cNvPr>
          <p:cNvSpPr txBox="1"/>
          <p:nvPr/>
        </p:nvSpPr>
        <p:spPr>
          <a:xfrm>
            <a:off x="5091308" y="2702548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 unpaired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4826F3-0251-A257-BD6A-858B7E9A75BD}"/>
              </a:ext>
            </a:extLst>
          </p:cNvPr>
          <p:cNvSpPr txBox="1"/>
          <p:nvPr/>
        </p:nvSpPr>
        <p:spPr>
          <a:xfrm>
            <a:off x="2229553" y="862790"/>
            <a:ext cx="7502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</a:rPr>
              <a:t>Decomposition of structures for subsequence between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i="1" dirty="0" err="1">
                <a:solidFill>
                  <a:srgbClr val="000000"/>
                </a:solidFill>
              </a:rPr>
              <a:t>i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and</a:t>
            </a:r>
            <a:r>
              <a:rPr lang="en-US" altLang="en-US" sz="2000" i="1" dirty="0">
                <a:solidFill>
                  <a:srgbClr val="000000"/>
                </a:solidFill>
              </a:rPr>
              <a:t> j</a:t>
            </a:r>
            <a:endParaRPr lang="en-US" sz="2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EC66C-8D77-80F0-5FEE-0533F59011F3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</p:spTree>
    <p:extLst>
      <p:ext uri="{BB962C8B-B14F-4D97-AF65-F5344CB8AC3E}">
        <p14:creationId xmlns:p14="http://schemas.microsoft.com/office/powerpoint/2010/main" val="323158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38A7-E3C2-B584-F313-75E8AB2B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CC7436C-EE33-4E49-C11B-724F21F41DDE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96D09AF-8112-9DB5-FE3C-EFA67E84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90537D-288A-4093-0A83-1B63DD079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pic>
        <p:nvPicPr>
          <p:cNvPr id="5" name="Picture 4" descr="A green half moon&#10;&#10;AI-generated content may be incorrect.">
            <a:extLst>
              <a:ext uri="{FF2B5EF4-FFF2-40B4-BE49-F238E27FC236}">
                <a16:creationId xmlns:a16="http://schemas.microsoft.com/office/drawing/2014/main" id="{D86ED9DA-C17A-0F92-391D-252AD8D37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532" y="1588023"/>
            <a:ext cx="6559913" cy="10539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6EFF42-643B-67B5-A59C-C5D6667AECFE}"/>
              </a:ext>
            </a:extLst>
          </p:cNvPr>
          <p:cNvSpPr txBox="1"/>
          <p:nvPr/>
        </p:nvSpPr>
        <p:spPr>
          <a:xfrm>
            <a:off x="7184556" y="2686482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 and j paired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9C5E3-9DFE-428B-728F-261893980E9C}"/>
              </a:ext>
            </a:extLst>
          </p:cNvPr>
          <p:cNvSpPr txBox="1"/>
          <p:nvPr/>
        </p:nvSpPr>
        <p:spPr>
          <a:xfrm>
            <a:off x="5091308" y="2702548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 unpaired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42264C-7159-8B5F-1918-E5299502E132}"/>
              </a:ext>
            </a:extLst>
          </p:cNvPr>
          <p:cNvSpPr txBox="1"/>
          <p:nvPr/>
        </p:nvSpPr>
        <p:spPr>
          <a:xfrm>
            <a:off x="2229553" y="862790"/>
            <a:ext cx="7502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</a:rPr>
              <a:t>Decomposition of structures for subsequence between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i="1" dirty="0" err="1">
                <a:solidFill>
                  <a:srgbClr val="000000"/>
                </a:solidFill>
              </a:rPr>
              <a:t>i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and</a:t>
            </a:r>
            <a:r>
              <a:rPr lang="en-US" altLang="en-US" sz="2000" i="1" dirty="0">
                <a:solidFill>
                  <a:srgbClr val="000000"/>
                </a:solidFill>
              </a:rPr>
              <a:t> j</a:t>
            </a:r>
            <a:endParaRPr lang="en-US" sz="2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5172B-D4D6-EBDC-5C8F-BE1FC1A0C0BD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6E088-B633-61D7-6858-B9874A4B08C7}"/>
                  </a:ext>
                </a:extLst>
              </p:cNvPr>
              <p:cNvSpPr txBox="1"/>
              <p:nvPr/>
            </p:nvSpPr>
            <p:spPr>
              <a:xfrm>
                <a:off x="3616820" y="3157842"/>
                <a:ext cx="5778890" cy="874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𝑏𝑝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6E088-B633-61D7-6858-B9874A4B0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820" y="3157842"/>
                <a:ext cx="5778890" cy="874085"/>
              </a:xfrm>
              <a:prstGeom prst="rect">
                <a:avLst/>
              </a:prstGeom>
              <a:blipFill>
                <a:blip r:embed="rId4"/>
                <a:stretch>
                  <a:fillRect t="-118571" b="-16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95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7BC7-D992-EBBE-6803-0CE87BD0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305480D-5F90-0376-FBF6-3744A8B96DD6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915AA4F-7069-0C5C-90DB-66F6B97E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235816-A152-AA57-345E-FEA25B580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pic>
        <p:nvPicPr>
          <p:cNvPr id="5" name="Picture 4" descr="A green half moon&#10;&#10;AI-generated content may be incorrect.">
            <a:extLst>
              <a:ext uri="{FF2B5EF4-FFF2-40B4-BE49-F238E27FC236}">
                <a16:creationId xmlns:a16="http://schemas.microsoft.com/office/drawing/2014/main" id="{706E84DF-27E3-1F20-569D-1998827BC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532" y="1588023"/>
            <a:ext cx="6559913" cy="10539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A50D4B-F6CA-ED5D-A78A-D8B6A43E3F13}"/>
              </a:ext>
            </a:extLst>
          </p:cNvPr>
          <p:cNvSpPr txBox="1"/>
          <p:nvPr/>
        </p:nvSpPr>
        <p:spPr>
          <a:xfrm>
            <a:off x="7184556" y="2686482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 and j paired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C03D2B-27A7-4108-1D93-9774DFB2931A}"/>
              </a:ext>
            </a:extLst>
          </p:cNvPr>
          <p:cNvSpPr txBox="1"/>
          <p:nvPr/>
        </p:nvSpPr>
        <p:spPr>
          <a:xfrm>
            <a:off x="5091308" y="2702548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 unpaired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1A3363-40B5-7548-3A87-79B02846748F}"/>
              </a:ext>
            </a:extLst>
          </p:cNvPr>
          <p:cNvSpPr txBox="1"/>
          <p:nvPr/>
        </p:nvSpPr>
        <p:spPr>
          <a:xfrm>
            <a:off x="2229553" y="862790"/>
            <a:ext cx="7502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</a:rPr>
              <a:t>Decomposition of structures for subsequence between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i="1" dirty="0" err="1">
                <a:solidFill>
                  <a:srgbClr val="000000"/>
                </a:solidFill>
              </a:rPr>
              <a:t>i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and</a:t>
            </a:r>
            <a:r>
              <a:rPr lang="en-US" altLang="en-US" sz="2000" i="1" dirty="0">
                <a:solidFill>
                  <a:srgbClr val="000000"/>
                </a:solidFill>
              </a:rPr>
              <a:t> j</a:t>
            </a:r>
            <a:endParaRPr lang="en-US" sz="2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30CA8-5969-00F4-4346-98DB2148164B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D0BBB7-8A8A-3FDD-A977-CB225A9303A8}"/>
                  </a:ext>
                </a:extLst>
              </p:cNvPr>
              <p:cNvSpPr txBox="1"/>
              <p:nvPr/>
            </p:nvSpPr>
            <p:spPr>
              <a:xfrm>
                <a:off x="3616820" y="3157842"/>
                <a:ext cx="6080447" cy="874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𝑏𝑝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D0BBB7-8A8A-3FDD-A977-CB225A930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820" y="3157842"/>
                <a:ext cx="6080447" cy="874085"/>
              </a:xfrm>
              <a:prstGeom prst="rect">
                <a:avLst/>
              </a:prstGeom>
              <a:blipFill>
                <a:blip r:embed="rId4"/>
                <a:stretch>
                  <a:fillRect t="-118571" b="-16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4D6107F-632A-A9AE-7997-1FF663E3416F}"/>
              </a:ext>
            </a:extLst>
          </p:cNvPr>
          <p:cNvSpPr txBox="1"/>
          <p:nvPr/>
        </p:nvSpPr>
        <p:spPr>
          <a:xfrm>
            <a:off x="5588264" y="4320491"/>
            <a:ext cx="1282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With j unpaired, zero energy contribution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C123D6-93AB-10C4-BDFB-38FF64B6F831}"/>
              </a:ext>
            </a:extLst>
          </p:cNvPr>
          <p:cNvCxnSpPr/>
          <p:nvPr/>
        </p:nvCxnSpPr>
        <p:spPr>
          <a:xfrm>
            <a:off x="6059557" y="3703936"/>
            <a:ext cx="0" cy="557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46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9A669-2324-0354-4829-7FE7D07A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A2F364-C268-99C6-F867-69F0D0D42E04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21F1BD2-F0EB-AC87-8096-D183663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E9B715-9378-4422-C59A-3AA81527C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pic>
        <p:nvPicPr>
          <p:cNvPr id="5" name="Picture 4" descr="A green half moon&#10;&#10;AI-generated content may be incorrect.">
            <a:extLst>
              <a:ext uri="{FF2B5EF4-FFF2-40B4-BE49-F238E27FC236}">
                <a16:creationId xmlns:a16="http://schemas.microsoft.com/office/drawing/2014/main" id="{CFA99480-0C96-3C0D-03BA-A25A010DA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532" y="1588023"/>
            <a:ext cx="6559913" cy="10539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2666A5-BA0A-C874-19A4-05EE2D8579BB}"/>
              </a:ext>
            </a:extLst>
          </p:cNvPr>
          <p:cNvSpPr txBox="1"/>
          <p:nvPr/>
        </p:nvSpPr>
        <p:spPr>
          <a:xfrm>
            <a:off x="7184556" y="2686482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 and j paired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5AECA8-4254-8B78-A4D1-D56FE89382AE}"/>
              </a:ext>
            </a:extLst>
          </p:cNvPr>
          <p:cNvSpPr txBox="1"/>
          <p:nvPr/>
        </p:nvSpPr>
        <p:spPr>
          <a:xfrm>
            <a:off x="5091308" y="2702548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 unpaired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3B73E4-57D8-C81E-972F-DDD4EC3A98EF}"/>
              </a:ext>
            </a:extLst>
          </p:cNvPr>
          <p:cNvSpPr txBox="1"/>
          <p:nvPr/>
        </p:nvSpPr>
        <p:spPr>
          <a:xfrm>
            <a:off x="2229553" y="862790"/>
            <a:ext cx="7502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</a:rPr>
              <a:t>Decomposition of structures for subsequence between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i="1" dirty="0" err="1">
                <a:solidFill>
                  <a:srgbClr val="000000"/>
                </a:solidFill>
              </a:rPr>
              <a:t>i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and</a:t>
            </a:r>
            <a:r>
              <a:rPr lang="en-US" altLang="en-US" sz="2000" i="1" dirty="0">
                <a:solidFill>
                  <a:srgbClr val="000000"/>
                </a:solidFill>
              </a:rPr>
              <a:t> j</a:t>
            </a:r>
            <a:endParaRPr lang="en-US" sz="2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EBC8F-2362-CB31-2118-A9FEB3F5EF0F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DA5B1A-FF55-CBE7-5E12-ADDE5CF87FB7}"/>
                  </a:ext>
                </a:extLst>
              </p:cNvPr>
              <p:cNvSpPr txBox="1"/>
              <p:nvPr/>
            </p:nvSpPr>
            <p:spPr>
              <a:xfrm>
                <a:off x="3616820" y="3157842"/>
                <a:ext cx="6080447" cy="874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𝑏𝑝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DA5B1A-FF55-CBE7-5E12-ADDE5CF8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820" y="3157842"/>
                <a:ext cx="6080447" cy="874085"/>
              </a:xfrm>
              <a:prstGeom prst="rect">
                <a:avLst/>
              </a:prstGeom>
              <a:blipFill>
                <a:blip r:embed="rId4"/>
                <a:stretch>
                  <a:fillRect t="-118571" b="-16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3B855D2B-2ABD-D638-3BC8-209086F77725}"/>
              </a:ext>
            </a:extLst>
          </p:cNvPr>
          <p:cNvSpPr txBox="1"/>
          <p:nvPr/>
        </p:nvSpPr>
        <p:spPr>
          <a:xfrm>
            <a:off x="7766468" y="4337372"/>
            <a:ext cx="3067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</a:rPr>
              <a:t>Case where </a:t>
            </a:r>
            <a:r>
              <a:rPr lang="en-US" altLang="en-US" sz="1600" i="1" dirty="0">
                <a:solidFill>
                  <a:srgbClr val="000000"/>
                </a:solidFill>
              </a:rPr>
              <a:t>(</a:t>
            </a:r>
            <a:r>
              <a:rPr lang="en-US" altLang="en-US" sz="1600" i="1" dirty="0" err="1">
                <a:solidFill>
                  <a:srgbClr val="000000"/>
                </a:solidFill>
              </a:rPr>
              <a:t>k,j</a:t>
            </a:r>
            <a:r>
              <a:rPr lang="en-US" altLang="en-US" sz="1600" i="1" dirty="0">
                <a:solidFill>
                  <a:srgbClr val="000000"/>
                </a:solidFill>
              </a:rPr>
              <a:t>)</a:t>
            </a:r>
            <a:r>
              <a:rPr lang="en-US" altLang="en-US" sz="1600" dirty="0">
                <a:solidFill>
                  <a:srgbClr val="000000"/>
                </a:solidFill>
              </a:rPr>
              <a:t> is strictly paired.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253A3B-7025-2872-51A9-46C0F54BC2CD}"/>
              </a:ext>
            </a:extLst>
          </p:cNvPr>
          <p:cNvCxnSpPr/>
          <p:nvPr/>
        </p:nvCxnSpPr>
        <p:spPr>
          <a:xfrm>
            <a:off x="8965567" y="3740285"/>
            <a:ext cx="0" cy="557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70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83334-CD54-52D1-CA3D-A44D0707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EBD56D-B3D9-E5A7-AB11-8B31161AF46D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37CC293-E27F-CAA5-CAB3-3DB44A13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A9B554-EB68-3844-92E7-C634A91D6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pic>
        <p:nvPicPr>
          <p:cNvPr id="5" name="Picture 4" descr="A green half moon&#10;&#10;AI-generated content may be incorrect.">
            <a:extLst>
              <a:ext uri="{FF2B5EF4-FFF2-40B4-BE49-F238E27FC236}">
                <a16:creationId xmlns:a16="http://schemas.microsoft.com/office/drawing/2014/main" id="{B9904DA3-5E61-E2BF-2A48-A2F3966D5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532" y="1588023"/>
            <a:ext cx="6559913" cy="10539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BFDD99-4572-697C-44D9-2DC4803A5796}"/>
              </a:ext>
            </a:extLst>
          </p:cNvPr>
          <p:cNvSpPr txBox="1"/>
          <p:nvPr/>
        </p:nvSpPr>
        <p:spPr>
          <a:xfrm>
            <a:off x="7184556" y="2686482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 and j paired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FBD7BE-5CD3-56E4-7B97-D565BAFF7BAF}"/>
              </a:ext>
            </a:extLst>
          </p:cNvPr>
          <p:cNvSpPr txBox="1"/>
          <p:nvPr/>
        </p:nvSpPr>
        <p:spPr>
          <a:xfrm>
            <a:off x="5091308" y="2702548"/>
            <a:ext cx="177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 unpaired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71B0CD-27A4-2C87-2D0C-0C57D89B8623}"/>
              </a:ext>
            </a:extLst>
          </p:cNvPr>
          <p:cNvSpPr txBox="1"/>
          <p:nvPr/>
        </p:nvSpPr>
        <p:spPr>
          <a:xfrm>
            <a:off x="2229553" y="862790"/>
            <a:ext cx="7502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</a:rPr>
              <a:t>Decomposition of structures for subsequence between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i="1" dirty="0" err="1">
                <a:solidFill>
                  <a:srgbClr val="000000"/>
                </a:solidFill>
              </a:rPr>
              <a:t>i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and</a:t>
            </a:r>
            <a:r>
              <a:rPr lang="en-US" altLang="en-US" sz="2000" i="1" dirty="0">
                <a:solidFill>
                  <a:srgbClr val="000000"/>
                </a:solidFill>
              </a:rPr>
              <a:t> j</a:t>
            </a:r>
            <a:endParaRPr lang="en-US" sz="2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76DD3-987D-F2F3-9525-34430747D16F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123DD0-43A1-FA3F-7605-6D4A2279052F}"/>
                  </a:ext>
                </a:extLst>
              </p:cNvPr>
              <p:cNvSpPr txBox="1"/>
              <p:nvPr/>
            </p:nvSpPr>
            <p:spPr>
              <a:xfrm>
                <a:off x="3616820" y="3157842"/>
                <a:ext cx="6080447" cy="874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𝑏𝑝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123DD0-43A1-FA3F-7605-6D4A22790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820" y="3157842"/>
                <a:ext cx="6080447" cy="874085"/>
              </a:xfrm>
              <a:prstGeom prst="rect">
                <a:avLst/>
              </a:prstGeom>
              <a:blipFill>
                <a:blip r:embed="rId4"/>
                <a:stretch>
                  <a:fillRect t="-118571" b="-16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6E42F2-BAFE-CAA9-34B3-708D35512818}"/>
                  </a:ext>
                </a:extLst>
              </p:cNvPr>
              <p:cNvSpPr txBox="1"/>
              <p:nvPr/>
            </p:nvSpPr>
            <p:spPr>
              <a:xfrm>
                <a:off x="7230472" y="4280861"/>
                <a:ext cx="3509946" cy="1211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If a structure decomposes into two independent parts with energies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  <m:r>
                        <a:rPr lang="en-US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  <m:r>
                        <a:rPr lang="en-US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</m:oMath>
                  </m:oMathPara>
                </a14:m>
                <a:endParaRPr lang="en-US" altLang="en-US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6E42F2-BAFE-CAA9-34B3-708D35512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472" y="4280861"/>
                <a:ext cx="3509946" cy="1211807"/>
              </a:xfrm>
              <a:prstGeom prst="rect">
                <a:avLst/>
              </a:prstGeom>
              <a:blipFill>
                <a:blip r:embed="rId5"/>
                <a:stretch>
                  <a:fillRect l="-1444" t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CF0BF8-BA28-E821-F08E-B2BA9A711B27}"/>
              </a:ext>
            </a:extLst>
          </p:cNvPr>
          <p:cNvCxnSpPr/>
          <p:nvPr/>
        </p:nvCxnSpPr>
        <p:spPr>
          <a:xfrm>
            <a:off x="8527774" y="3723767"/>
            <a:ext cx="0" cy="557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84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2645-33B0-587E-CB78-AD50FA05F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9FB285-DF53-A188-B695-962F071870F5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FB2018-D642-FF0A-FEB0-D225978E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955D9D31-3ADB-1133-597E-15B84A810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4286" y="348164"/>
                <a:ext cx="8316572" cy="898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/>
                <a:r>
                  <a:rPr lang="en-US" altLang="en-US" sz="3200" b="1" dirty="0">
                    <a:solidFill>
                      <a:srgbClr val="C00000"/>
                    </a:solidFill>
                  </a:rPr>
                  <a:t>Restricted partition function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𝑏𝑝</m:t>
                        </m:r>
                      </m:sup>
                    </m:sSup>
                    <m:d>
                      <m:dPr>
                        <m:ctrlP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solidFill>
                      <a:srgbClr val="000000"/>
                    </a:solidFill>
                  </a:rPr>
                  <a:t>: Set of all secondary structures on 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en-US" sz="2000" i="1" dirty="0" err="1">
                    <a:solidFill>
                      <a:srgbClr val="000000"/>
                    </a:solidFill>
                  </a:rPr>
                  <a:t>i,j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] with </a:t>
                </a:r>
                <a:r>
                  <a:rPr lang="en-US" altLang="en-US" sz="2000" i="1" dirty="0" err="1">
                    <a:solidFill>
                      <a:srgbClr val="000000"/>
                    </a:solidFill>
                  </a:rPr>
                  <a:t>i,j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 being a base pair</a:t>
                </a:r>
                <a:r>
                  <a:rPr lang="en-US" altLang="en-US" sz="2000" dirty="0">
                    <a:solidFill>
                      <a:srgbClr val="000000"/>
                    </a:solidFill>
                  </a:rPr>
                  <a:t>.</a:t>
                </a:r>
                <a:endParaRPr lang="en-US" altLang="en-US" sz="20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955D9D31-3ADB-1133-597E-15B84A810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4286" y="348164"/>
                <a:ext cx="8316572" cy="898066"/>
              </a:xfrm>
              <a:prstGeom prst="rect">
                <a:avLst/>
              </a:prstGeom>
              <a:blipFill>
                <a:blip r:embed="rId3"/>
                <a:stretch>
                  <a:fillRect l="-305" t="-8451" r="-763" b="-126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2D6131-D432-3BEA-F870-27E8F6015AC7}"/>
              </a:ext>
            </a:extLst>
          </p:cNvPr>
          <p:cNvCxnSpPr>
            <a:cxnSpLocks/>
          </p:cNvCxnSpPr>
          <p:nvPr/>
        </p:nvCxnSpPr>
        <p:spPr>
          <a:xfrm>
            <a:off x="1065888" y="2528336"/>
            <a:ext cx="9524963" cy="143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9F4DF1-EEEB-7205-4291-5AB08709D4B2}"/>
              </a:ext>
            </a:extLst>
          </p:cNvPr>
          <p:cNvCxnSpPr>
            <a:cxnSpLocks/>
          </p:cNvCxnSpPr>
          <p:nvPr/>
        </p:nvCxnSpPr>
        <p:spPr>
          <a:xfrm>
            <a:off x="10590851" y="2542689"/>
            <a:ext cx="7568" cy="613486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A368EE-3DC0-6FB2-6168-DC5E138B70FB}"/>
              </a:ext>
            </a:extLst>
          </p:cNvPr>
          <p:cNvCxnSpPr>
            <a:cxnSpLocks/>
          </p:cNvCxnSpPr>
          <p:nvPr/>
        </p:nvCxnSpPr>
        <p:spPr>
          <a:xfrm>
            <a:off x="1065888" y="2525834"/>
            <a:ext cx="0" cy="1231974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365D8D-57A9-E5FA-8A12-1AF953ACFA3E}"/>
              </a:ext>
            </a:extLst>
          </p:cNvPr>
          <p:cNvCxnSpPr>
            <a:cxnSpLocks/>
          </p:cNvCxnSpPr>
          <p:nvPr/>
        </p:nvCxnSpPr>
        <p:spPr>
          <a:xfrm>
            <a:off x="3732637" y="2533398"/>
            <a:ext cx="0" cy="1118521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427056-F4F4-AF7C-A382-43D4D3FE4101}"/>
                  </a:ext>
                </a:extLst>
              </p:cNvPr>
              <p:cNvSpPr txBox="1"/>
              <p:nvPr/>
            </p:nvSpPr>
            <p:spPr>
              <a:xfrm>
                <a:off x="4497425" y="1436739"/>
                <a:ext cx="2389389" cy="406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𝑏𝑝</m:t>
                          </m:r>
                        </m:sup>
                      </m:sSup>
                      <m:d>
                        <m:dPr>
                          <m:ctrlP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{…}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427056-F4F4-AF7C-A382-43D4D3FE4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425" y="1436739"/>
                <a:ext cx="2389389" cy="40600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8AED41-3C8F-09B9-4402-7CA1C66A3FCB}"/>
              </a:ext>
            </a:extLst>
          </p:cNvPr>
          <p:cNvCxnSpPr>
            <a:cxnSpLocks/>
          </p:cNvCxnSpPr>
          <p:nvPr/>
        </p:nvCxnSpPr>
        <p:spPr>
          <a:xfrm>
            <a:off x="5549760" y="1846614"/>
            <a:ext cx="0" cy="679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A green half moon shaped object&#10;&#10;AI-generated content may be incorrect.">
            <a:extLst>
              <a:ext uri="{FF2B5EF4-FFF2-40B4-BE49-F238E27FC236}">
                <a16:creationId xmlns:a16="http://schemas.microsoft.com/office/drawing/2014/main" id="{1F5D6774-E262-868E-D642-4F14BD6135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68" y="1242654"/>
            <a:ext cx="1640912" cy="898067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7A1EC43-20C7-7B0A-CC76-A58011D34202}"/>
              </a:ext>
            </a:extLst>
          </p:cNvPr>
          <p:cNvSpPr txBox="1"/>
          <p:nvPr/>
        </p:nvSpPr>
        <p:spPr>
          <a:xfrm>
            <a:off x="7653363" y="1416515"/>
            <a:ext cx="3016908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Actual recursions involving loop types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64F54B5-181A-7295-7155-946375B1BB66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</p:spTree>
    <p:extLst>
      <p:ext uri="{BB962C8B-B14F-4D97-AF65-F5344CB8AC3E}">
        <p14:creationId xmlns:p14="http://schemas.microsoft.com/office/powerpoint/2010/main" val="386421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C404-1259-67DE-733E-A9C9E42A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F5253C-26DB-F4EB-0861-5497339EFF23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02A9AA2-CBD8-2E92-5791-AB230C17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A01F1A70-4141-50B5-90E2-FAE6073C1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4286" y="348164"/>
                <a:ext cx="8316572" cy="898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/>
                <a:r>
                  <a:rPr lang="en-US" altLang="en-US" sz="3200" b="1" dirty="0">
                    <a:solidFill>
                      <a:srgbClr val="C00000"/>
                    </a:solidFill>
                  </a:rPr>
                  <a:t>Restricted partition function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𝑏𝑝</m:t>
                        </m:r>
                      </m:sup>
                    </m:sSup>
                    <m:d>
                      <m:dPr>
                        <m:ctrlP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solidFill>
                      <a:srgbClr val="000000"/>
                    </a:solidFill>
                  </a:rPr>
                  <a:t>: Set of all secondary structures on 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en-US" sz="2000" i="1" dirty="0" err="1">
                    <a:solidFill>
                      <a:srgbClr val="000000"/>
                    </a:solidFill>
                  </a:rPr>
                  <a:t>i,j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] with </a:t>
                </a:r>
                <a:r>
                  <a:rPr lang="en-US" altLang="en-US" sz="2000" i="1" dirty="0" err="1">
                    <a:solidFill>
                      <a:srgbClr val="000000"/>
                    </a:solidFill>
                  </a:rPr>
                  <a:t>i,j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 being a base pair</a:t>
                </a:r>
                <a:r>
                  <a:rPr lang="en-US" altLang="en-US" sz="2000" dirty="0">
                    <a:solidFill>
                      <a:srgbClr val="000000"/>
                    </a:solidFill>
                  </a:rPr>
                  <a:t>.</a:t>
                </a:r>
                <a:endParaRPr lang="en-US" altLang="en-US" sz="20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955D9D31-3ADB-1133-597E-15B84A810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4286" y="348164"/>
                <a:ext cx="8316572" cy="898066"/>
              </a:xfrm>
              <a:prstGeom prst="rect">
                <a:avLst/>
              </a:prstGeom>
              <a:blipFill>
                <a:blip r:embed="rId3"/>
                <a:stretch>
                  <a:fillRect l="-305" t="-8451" r="-763" b="-126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5A949F-F44E-FD5E-1393-588C14D68E79}"/>
                  </a:ext>
                </a:extLst>
              </p:cNvPr>
              <p:cNvSpPr txBox="1"/>
              <p:nvPr/>
            </p:nvSpPr>
            <p:spPr>
              <a:xfrm>
                <a:off x="9281812" y="3156175"/>
                <a:ext cx="230956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Multibranch loops</a:t>
                </a:r>
              </a:p>
              <a:p>
                <a:pPr algn="ctr"/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1600" dirty="0"/>
                  <a:t> branches)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DEAC62-CAA5-0979-C07E-F4A7A1431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812" y="3156175"/>
                <a:ext cx="2309564" cy="584775"/>
              </a:xfrm>
              <a:prstGeom prst="rect">
                <a:avLst/>
              </a:prstGeom>
              <a:blipFill>
                <a:blip r:embed="rId5"/>
                <a:stretch>
                  <a:fillRect t="-2128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395904-3D77-C3C7-1D30-F25FE84CFB8A}"/>
              </a:ext>
            </a:extLst>
          </p:cNvPr>
          <p:cNvCxnSpPr>
            <a:cxnSpLocks/>
          </p:cNvCxnSpPr>
          <p:nvPr/>
        </p:nvCxnSpPr>
        <p:spPr>
          <a:xfrm>
            <a:off x="1065888" y="2528336"/>
            <a:ext cx="9524963" cy="143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7A0DB4-B395-4EA2-CC81-3B551A135DC1}"/>
              </a:ext>
            </a:extLst>
          </p:cNvPr>
          <p:cNvCxnSpPr>
            <a:cxnSpLocks/>
          </p:cNvCxnSpPr>
          <p:nvPr/>
        </p:nvCxnSpPr>
        <p:spPr>
          <a:xfrm>
            <a:off x="10590851" y="2542689"/>
            <a:ext cx="7568" cy="613486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A4C809-33A9-7504-E281-82709FB59994}"/>
              </a:ext>
            </a:extLst>
          </p:cNvPr>
          <p:cNvCxnSpPr>
            <a:cxnSpLocks/>
          </p:cNvCxnSpPr>
          <p:nvPr/>
        </p:nvCxnSpPr>
        <p:spPr>
          <a:xfrm>
            <a:off x="1065888" y="2525834"/>
            <a:ext cx="0" cy="1231974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BD47D0-569E-7D91-16FD-413016FD1514}"/>
              </a:ext>
            </a:extLst>
          </p:cNvPr>
          <p:cNvCxnSpPr>
            <a:cxnSpLocks/>
          </p:cNvCxnSpPr>
          <p:nvPr/>
        </p:nvCxnSpPr>
        <p:spPr>
          <a:xfrm>
            <a:off x="3732637" y="2533398"/>
            <a:ext cx="0" cy="1118521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377CCC-65B8-E49D-0F4C-01B479D6916A}"/>
                  </a:ext>
                </a:extLst>
              </p:cNvPr>
              <p:cNvSpPr txBox="1"/>
              <p:nvPr/>
            </p:nvSpPr>
            <p:spPr>
              <a:xfrm>
                <a:off x="4497425" y="1436739"/>
                <a:ext cx="2389389" cy="406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𝑏𝑝</m:t>
                          </m:r>
                        </m:sup>
                      </m:sSup>
                      <m:d>
                        <m:dPr>
                          <m:ctrlP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{…}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427056-F4F4-AF7C-A382-43D4D3FE4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425" y="1436739"/>
                <a:ext cx="2389389" cy="40600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FEFCE9-E918-1A00-6258-77EBD11A1611}"/>
              </a:ext>
            </a:extLst>
          </p:cNvPr>
          <p:cNvCxnSpPr>
            <a:cxnSpLocks/>
          </p:cNvCxnSpPr>
          <p:nvPr/>
        </p:nvCxnSpPr>
        <p:spPr>
          <a:xfrm>
            <a:off x="5549760" y="1846614"/>
            <a:ext cx="0" cy="679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A green half moon shaped object&#10;&#10;AI-generated content may be incorrect.">
            <a:extLst>
              <a:ext uri="{FF2B5EF4-FFF2-40B4-BE49-F238E27FC236}">
                <a16:creationId xmlns:a16="http://schemas.microsoft.com/office/drawing/2014/main" id="{51498246-C65B-8D4E-4A5F-9B516E9920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68" y="1242654"/>
            <a:ext cx="1640912" cy="898067"/>
          </a:xfrm>
          <a:prstGeom prst="rect">
            <a:avLst/>
          </a:prstGeom>
        </p:spPr>
      </p:pic>
      <p:pic>
        <p:nvPicPr>
          <p:cNvPr id="55" name="Picture 54" descr="A black outline of a hat&#10;&#10;AI-generated content may be incorrect.">
            <a:extLst>
              <a:ext uri="{FF2B5EF4-FFF2-40B4-BE49-F238E27FC236}">
                <a16:creationId xmlns:a16="http://schemas.microsoft.com/office/drawing/2014/main" id="{2FF5A820-335F-9FA6-F922-B1FC60C29D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639" y="2868267"/>
            <a:ext cx="1605454" cy="691316"/>
          </a:xfrm>
          <a:prstGeom prst="rect">
            <a:avLst/>
          </a:prstGeom>
        </p:spPr>
      </p:pic>
      <p:pic>
        <p:nvPicPr>
          <p:cNvPr id="66" name="Picture 65" descr="A green and black outline of a half moon&#10;&#10;AI-generated content may be incorrect.">
            <a:extLst>
              <a:ext uri="{FF2B5EF4-FFF2-40B4-BE49-F238E27FC236}">
                <a16:creationId xmlns:a16="http://schemas.microsoft.com/office/drawing/2014/main" id="{3B99627B-DE8A-2768-4D9A-3965F291CE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447" y="2750062"/>
            <a:ext cx="1789690" cy="888167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7E865540-C5EA-07F2-6C3B-732EF1BF18D7}"/>
              </a:ext>
            </a:extLst>
          </p:cNvPr>
          <p:cNvSpPr txBox="1"/>
          <p:nvPr/>
        </p:nvSpPr>
        <p:spPr>
          <a:xfrm>
            <a:off x="7653363" y="1416515"/>
            <a:ext cx="3016908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Actual recursions involving loop types</a:t>
            </a:r>
          </a:p>
        </p:txBody>
      </p:sp>
      <p:pic>
        <p:nvPicPr>
          <p:cNvPr id="77" name="Picture 76" descr="A black and red line drawing&#10;&#10;AI-generated content may be incorrect.">
            <a:extLst>
              <a:ext uri="{FF2B5EF4-FFF2-40B4-BE49-F238E27FC236}">
                <a16:creationId xmlns:a16="http://schemas.microsoft.com/office/drawing/2014/main" id="{7F958231-DB76-B71F-45E0-72BB8A99D6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859" y="3742408"/>
            <a:ext cx="2075571" cy="122405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6A89B003-0E18-603D-7703-F8DE5D80023F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61932-6F80-B637-2793-AAC04C95D222}"/>
              </a:ext>
            </a:extLst>
          </p:cNvPr>
          <p:cNvSpPr txBox="1"/>
          <p:nvPr/>
        </p:nvSpPr>
        <p:spPr>
          <a:xfrm>
            <a:off x="4289032" y="3280288"/>
            <a:ext cx="2059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03585-82FD-8729-2CD6-AAA0B2260D73}"/>
              </a:ext>
            </a:extLst>
          </p:cNvPr>
          <p:cNvSpPr txBox="1"/>
          <p:nvPr/>
        </p:nvSpPr>
        <p:spPr>
          <a:xfrm>
            <a:off x="5528885" y="3294673"/>
            <a:ext cx="2059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C84F8-F961-9096-3006-724F92632F31}"/>
              </a:ext>
            </a:extLst>
          </p:cNvPr>
          <p:cNvSpPr txBox="1"/>
          <p:nvPr/>
        </p:nvSpPr>
        <p:spPr>
          <a:xfrm>
            <a:off x="433497" y="3809322"/>
            <a:ext cx="1976227" cy="350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Hairpin loop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0855E8-0F9B-A914-A978-6822975201E6}"/>
              </a:ext>
            </a:extLst>
          </p:cNvPr>
          <p:cNvSpPr txBox="1"/>
          <p:nvPr/>
        </p:nvSpPr>
        <p:spPr>
          <a:xfrm>
            <a:off x="3404407" y="3808352"/>
            <a:ext cx="424895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00050" indent="-400050">
              <a:buAutoNum type="romanLcParenR"/>
            </a:pPr>
            <a:r>
              <a:rPr lang="en-US" sz="1600" dirty="0"/>
              <a:t>Stacking base pair</a:t>
            </a:r>
          </a:p>
          <a:p>
            <a:pPr marL="400050" indent="-400050">
              <a:buAutoNum type="romanLcParenR"/>
            </a:pPr>
            <a:r>
              <a:rPr lang="en-US" altLang="en-US" sz="1600" dirty="0">
                <a:solidFill>
                  <a:srgbClr val="000000"/>
                </a:solidFill>
              </a:rPr>
              <a:t>Internal loop</a:t>
            </a:r>
          </a:p>
          <a:p>
            <a:pPr marL="400050" indent="-400050">
              <a:buFontTx/>
              <a:buAutoNum type="romanLcParenR"/>
            </a:pPr>
            <a:r>
              <a:rPr lang="en-US" sz="1600" dirty="0"/>
              <a:t>Bulge loop</a:t>
            </a:r>
          </a:p>
        </p:txBody>
      </p:sp>
    </p:spTree>
    <p:extLst>
      <p:ext uri="{BB962C8B-B14F-4D97-AF65-F5344CB8AC3E}">
        <p14:creationId xmlns:p14="http://schemas.microsoft.com/office/powerpoint/2010/main" val="28153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9042-4E00-1438-6E65-FBD6E6CB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03AF979-E7F8-6652-2342-FED331959BE9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61D295C-B327-64E0-89A1-939DA5D5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D787E052-14CC-E136-EEB3-A937A2250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4286" y="348164"/>
                <a:ext cx="8316572" cy="898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/>
                <a:r>
                  <a:rPr lang="en-US" altLang="en-US" sz="3200" b="1" dirty="0">
                    <a:solidFill>
                      <a:srgbClr val="C00000"/>
                    </a:solidFill>
                  </a:rPr>
                  <a:t>Restricted partition function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𝑏𝑝</m:t>
                        </m:r>
                      </m:sup>
                    </m:sSup>
                    <m:d>
                      <m:dPr>
                        <m:ctrlP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solidFill>
                      <a:srgbClr val="000000"/>
                    </a:solidFill>
                  </a:rPr>
                  <a:t>: Set of all secondary structures on 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en-US" sz="2000" i="1" dirty="0" err="1">
                    <a:solidFill>
                      <a:srgbClr val="000000"/>
                    </a:solidFill>
                  </a:rPr>
                  <a:t>i,j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] with </a:t>
                </a:r>
                <a:r>
                  <a:rPr lang="en-US" altLang="en-US" sz="2000" i="1" dirty="0" err="1">
                    <a:solidFill>
                      <a:srgbClr val="000000"/>
                    </a:solidFill>
                  </a:rPr>
                  <a:t>i,j</a:t>
                </a:r>
                <a:r>
                  <a:rPr lang="en-US" altLang="en-US" sz="2000" i="1" dirty="0">
                    <a:solidFill>
                      <a:srgbClr val="000000"/>
                    </a:solidFill>
                  </a:rPr>
                  <a:t> being a base pair</a:t>
                </a:r>
                <a:r>
                  <a:rPr lang="en-US" altLang="en-US" sz="2000" dirty="0">
                    <a:solidFill>
                      <a:srgbClr val="000000"/>
                    </a:solidFill>
                  </a:rPr>
                  <a:t>.</a:t>
                </a:r>
                <a:endParaRPr lang="en-US" altLang="en-US" sz="20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955D9D31-3ADB-1133-597E-15B84A810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4286" y="348164"/>
                <a:ext cx="8316572" cy="898066"/>
              </a:xfrm>
              <a:prstGeom prst="rect">
                <a:avLst/>
              </a:prstGeom>
              <a:blipFill>
                <a:blip r:embed="rId3"/>
                <a:stretch>
                  <a:fillRect l="-305" t="-8451" r="-763" b="-126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CA3547-88DA-55FB-2CB1-8228424E3361}"/>
                  </a:ext>
                </a:extLst>
              </p:cNvPr>
              <p:cNvSpPr txBox="1"/>
              <p:nvPr/>
            </p:nvSpPr>
            <p:spPr>
              <a:xfrm>
                <a:off x="433497" y="3809322"/>
                <a:ext cx="1976227" cy="84260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i="1" dirty="0"/>
                  <a:t>Hairpin loop: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600" i="1" dirty="0"/>
                  <a:t> </a:t>
                </a:r>
              </a:p>
              <a:p>
                <a:r>
                  <a:rPr lang="en-US" sz="1600" dirty="0"/>
                  <a:t>No base pair other than (</a:t>
                </a:r>
                <a:r>
                  <a:rPr lang="en-US" sz="1600" dirty="0" err="1"/>
                  <a:t>i,j</a:t>
                </a:r>
                <a:r>
                  <a:rPr lang="en-US" sz="1600" dirty="0"/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CA3547-88DA-55FB-2CB1-8228424E3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97" y="3809322"/>
                <a:ext cx="1976227" cy="842603"/>
              </a:xfrm>
              <a:prstGeom prst="rect">
                <a:avLst/>
              </a:prstGeom>
              <a:blipFill>
                <a:blip r:embed="rId4"/>
                <a:stretch>
                  <a:fillRect l="-1923" t="-1493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8A24EB-3FCA-59B0-1F7F-2D2A36FEF08A}"/>
                  </a:ext>
                </a:extLst>
              </p:cNvPr>
              <p:cNvSpPr txBox="1"/>
              <p:nvPr/>
            </p:nvSpPr>
            <p:spPr>
              <a:xfrm>
                <a:off x="9281812" y="3156175"/>
                <a:ext cx="230956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Multibranch loops</a:t>
                </a:r>
              </a:p>
              <a:p>
                <a:pPr algn="ctr"/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1600" dirty="0"/>
                  <a:t> branches)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DEAC62-CAA5-0979-C07E-F4A7A1431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812" y="3156175"/>
                <a:ext cx="2309564" cy="584775"/>
              </a:xfrm>
              <a:prstGeom prst="rect">
                <a:avLst/>
              </a:prstGeom>
              <a:blipFill>
                <a:blip r:embed="rId5"/>
                <a:stretch>
                  <a:fillRect t="-2128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853552-7183-9373-B85F-E7ED126EDC15}"/>
                  </a:ext>
                </a:extLst>
              </p:cNvPr>
              <p:cNvSpPr txBox="1"/>
              <p:nvPr/>
            </p:nvSpPr>
            <p:spPr>
              <a:xfrm>
                <a:off x="3404407" y="3808352"/>
                <a:ext cx="4248956" cy="8658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400050" indent="-400050">
                  <a:buAutoNum type="romanLcParenR"/>
                </a:pPr>
                <a:r>
                  <a:rPr lang="en-US" sz="1600" dirty="0"/>
                  <a:t>Stacking base pair: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  <m:r>
                      <a:rPr lang="en-US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𝑏𝑝</m:t>
                        </m:r>
                      </m:sup>
                    </m:sSup>
                    <m:r>
                      <a:rPr lang="en-US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400050" indent="-400050">
                  <a:buFontTx/>
                  <a:buAutoNum type="romanLcParenR"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Internal loop: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𝑏𝑝</m:t>
                        </m:r>
                      </m:sup>
                    </m:sSup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400050" indent="-400050">
                  <a:buAutoNum type="romanLcParenR"/>
                </a:pPr>
                <a:r>
                  <a:rPr lang="en-US" sz="1600" dirty="0"/>
                  <a:t>Bulge loop: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</m:sSup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𝑏𝑝</m:t>
                        </m:r>
                      </m:sup>
                    </m:sSup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853552-7183-9373-B85F-E7ED126ED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07" y="3808352"/>
                <a:ext cx="4248956" cy="865814"/>
              </a:xfrm>
              <a:prstGeom prst="rect">
                <a:avLst/>
              </a:prstGeom>
              <a:blipFill>
                <a:blip r:embed="rId6"/>
                <a:stretch>
                  <a:fillRect l="-893" t="-144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AFAA9F-0C54-1869-9304-E2C49BD156F4}"/>
              </a:ext>
            </a:extLst>
          </p:cNvPr>
          <p:cNvCxnSpPr>
            <a:cxnSpLocks/>
          </p:cNvCxnSpPr>
          <p:nvPr/>
        </p:nvCxnSpPr>
        <p:spPr>
          <a:xfrm>
            <a:off x="1065888" y="2528336"/>
            <a:ext cx="9524963" cy="143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8019ED-A96B-88E3-3972-3698CE81F52B}"/>
              </a:ext>
            </a:extLst>
          </p:cNvPr>
          <p:cNvCxnSpPr>
            <a:cxnSpLocks/>
          </p:cNvCxnSpPr>
          <p:nvPr/>
        </p:nvCxnSpPr>
        <p:spPr>
          <a:xfrm>
            <a:off x="10590851" y="2542689"/>
            <a:ext cx="7568" cy="613486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D4611D-D594-C700-56B2-3D6EE002DCFE}"/>
              </a:ext>
            </a:extLst>
          </p:cNvPr>
          <p:cNvCxnSpPr>
            <a:cxnSpLocks/>
          </p:cNvCxnSpPr>
          <p:nvPr/>
        </p:nvCxnSpPr>
        <p:spPr>
          <a:xfrm>
            <a:off x="1065888" y="2525834"/>
            <a:ext cx="0" cy="1231974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639D31-0929-5CC9-C570-BE84AFEFB337}"/>
              </a:ext>
            </a:extLst>
          </p:cNvPr>
          <p:cNvCxnSpPr>
            <a:cxnSpLocks/>
          </p:cNvCxnSpPr>
          <p:nvPr/>
        </p:nvCxnSpPr>
        <p:spPr>
          <a:xfrm>
            <a:off x="3732637" y="2533398"/>
            <a:ext cx="0" cy="1118521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D366BF-AF90-C17F-AA00-C3B54C64B920}"/>
                  </a:ext>
                </a:extLst>
              </p:cNvPr>
              <p:cNvSpPr txBox="1"/>
              <p:nvPr/>
            </p:nvSpPr>
            <p:spPr>
              <a:xfrm>
                <a:off x="4497425" y="1436739"/>
                <a:ext cx="2389389" cy="406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𝑏𝑝</m:t>
                          </m:r>
                        </m:sup>
                      </m:sSup>
                      <m:d>
                        <m:dPr>
                          <m:ctrlP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{…}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427056-F4F4-AF7C-A382-43D4D3FE4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425" y="1436739"/>
                <a:ext cx="2389389" cy="40600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3F8A25-527F-BBA9-CA74-F8D077A792A2}"/>
              </a:ext>
            </a:extLst>
          </p:cNvPr>
          <p:cNvCxnSpPr>
            <a:cxnSpLocks/>
          </p:cNvCxnSpPr>
          <p:nvPr/>
        </p:nvCxnSpPr>
        <p:spPr>
          <a:xfrm>
            <a:off x="5549760" y="1846614"/>
            <a:ext cx="0" cy="679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A green half moon shaped object&#10;&#10;AI-generated content may be incorrect.">
            <a:extLst>
              <a:ext uri="{FF2B5EF4-FFF2-40B4-BE49-F238E27FC236}">
                <a16:creationId xmlns:a16="http://schemas.microsoft.com/office/drawing/2014/main" id="{2813E876-2B15-A7DA-06C9-2C49F964FB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68" y="1242654"/>
            <a:ext cx="1640912" cy="898067"/>
          </a:xfrm>
          <a:prstGeom prst="rect">
            <a:avLst/>
          </a:prstGeom>
        </p:spPr>
      </p:pic>
      <p:pic>
        <p:nvPicPr>
          <p:cNvPr id="55" name="Picture 54" descr="A black outline of a hat&#10;&#10;AI-generated content may be incorrect.">
            <a:extLst>
              <a:ext uri="{FF2B5EF4-FFF2-40B4-BE49-F238E27FC236}">
                <a16:creationId xmlns:a16="http://schemas.microsoft.com/office/drawing/2014/main" id="{B9B07C82-E2AB-0496-1668-FBC39D0076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639" y="2868267"/>
            <a:ext cx="1605454" cy="691316"/>
          </a:xfrm>
          <a:prstGeom prst="rect">
            <a:avLst/>
          </a:prstGeom>
        </p:spPr>
      </p:pic>
      <p:pic>
        <p:nvPicPr>
          <p:cNvPr id="66" name="Picture 65" descr="A green and black outline of a half moon&#10;&#10;AI-generated content may be incorrect.">
            <a:extLst>
              <a:ext uri="{FF2B5EF4-FFF2-40B4-BE49-F238E27FC236}">
                <a16:creationId xmlns:a16="http://schemas.microsoft.com/office/drawing/2014/main" id="{C7658DBF-7C80-F1D3-5D30-A1D1C58DEE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447" y="2750062"/>
            <a:ext cx="1789690" cy="888167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3F6A485-458A-1493-8F01-5E2457877C75}"/>
              </a:ext>
            </a:extLst>
          </p:cNvPr>
          <p:cNvSpPr txBox="1"/>
          <p:nvPr/>
        </p:nvSpPr>
        <p:spPr>
          <a:xfrm>
            <a:off x="7653363" y="1416515"/>
            <a:ext cx="3016908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Actual recursions involving loop types</a:t>
            </a:r>
          </a:p>
        </p:txBody>
      </p:sp>
      <p:pic>
        <p:nvPicPr>
          <p:cNvPr id="77" name="Picture 76" descr="A black and red line drawing&#10;&#10;AI-generated content may be incorrect.">
            <a:extLst>
              <a:ext uri="{FF2B5EF4-FFF2-40B4-BE49-F238E27FC236}">
                <a16:creationId xmlns:a16="http://schemas.microsoft.com/office/drawing/2014/main" id="{535CEBA4-FBB8-C9FF-94C8-113B4B51D0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859" y="3742408"/>
            <a:ext cx="2075571" cy="122405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FF10B488-FF6F-CB24-090B-14E78B35BE9B}"/>
              </a:ext>
            </a:extLst>
          </p:cNvPr>
          <p:cNvSpPr txBox="1"/>
          <p:nvPr/>
        </p:nvSpPr>
        <p:spPr>
          <a:xfrm>
            <a:off x="864296" y="5486267"/>
            <a:ext cx="10727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Ensure that structures are not double counted.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D1CF443-2BDE-6C4F-CC99-26C99F6A9F9F}"/>
              </a:ext>
            </a:extLst>
          </p:cNvPr>
          <p:cNvSpPr txBox="1"/>
          <p:nvPr/>
        </p:nvSpPr>
        <p:spPr>
          <a:xfrm>
            <a:off x="128751" y="6433326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– MIT lecture notes</a:t>
            </a:r>
          </a:p>
        </p:txBody>
      </p:sp>
      <p:pic>
        <p:nvPicPr>
          <p:cNvPr id="3" name="Picture 2" descr="A black and red circle with red dots&#10;&#10;AI-generated content may be incorrect.">
            <a:extLst>
              <a:ext uri="{FF2B5EF4-FFF2-40B4-BE49-F238E27FC236}">
                <a16:creationId xmlns:a16="http://schemas.microsoft.com/office/drawing/2014/main" id="{6B38063A-88F4-3657-E9F7-7C50875C9E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98" y="4548682"/>
            <a:ext cx="639277" cy="756218"/>
          </a:xfrm>
          <a:prstGeom prst="rect">
            <a:avLst/>
          </a:prstGeom>
        </p:spPr>
      </p:pic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73AB9696-66AF-751C-96CE-A71E51F4DD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83" y="4705812"/>
            <a:ext cx="594629" cy="667145"/>
          </a:xfrm>
          <a:prstGeom prst="rect">
            <a:avLst/>
          </a:prstGeom>
        </p:spPr>
      </p:pic>
      <p:pic>
        <p:nvPicPr>
          <p:cNvPr id="7" name="Picture 6" descr="A black and blue symbol with black lines and dots&#10;&#10;AI-generated content may be incorrect.">
            <a:extLst>
              <a:ext uri="{FF2B5EF4-FFF2-40B4-BE49-F238E27FC236}">
                <a16:creationId xmlns:a16="http://schemas.microsoft.com/office/drawing/2014/main" id="{4CA3E2A6-F79F-A5F4-8050-1C15BD3C80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552" y="4688121"/>
            <a:ext cx="627178" cy="682927"/>
          </a:xfrm>
          <a:prstGeom prst="rect">
            <a:avLst/>
          </a:prstGeom>
        </p:spPr>
      </p:pic>
      <p:pic>
        <p:nvPicPr>
          <p:cNvPr id="11" name="Picture 10" descr="A black and blue circle with black lines and dots&#10;&#10;AI-generated content may be incorrect.">
            <a:extLst>
              <a:ext uri="{FF2B5EF4-FFF2-40B4-BE49-F238E27FC236}">
                <a16:creationId xmlns:a16="http://schemas.microsoft.com/office/drawing/2014/main" id="{718B47CD-90AC-6D55-94E6-A0459A128A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754" y="4688693"/>
            <a:ext cx="461094" cy="7013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BF0E94-7E51-D449-D68C-76F2B27197BF}"/>
              </a:ext>
            </a:extLst>
          </p:cNvPr>
          <p:cNvSpPr txBox="1"/>
          <p:nvPr/>
        </p:nvSpPr>
        <p:spPr>
          <a:xfrm>
            <a:off x="4289032" y="3280288"/>
            <a:ext cx="2059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F37F3-4191-B056-D40F-AEE426299418}"/>
              </a:ext>
            </a:extLst>
          </p:cNvPr>
          <p:cNvSpPr txBox="1"/>
          <p:nvPr/>
        </p:nvSpPr>
        <p:spPr>
          <a:xfrm>
            <a:off x="5528885" y="3294673"/>
            <a:ext cx="2059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06777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3D2C-8318-FC0B-0A53-DB08660E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C7E130-E343-C437-AD06-E40D1A3C9D3A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037670A-1C6E-0EAE-EBF5-79F1B4DD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230" y="6335220"/>
            <a:ext cx="2743200" cy="365125"/>
          </a:xfrm>
        </p:spPr>
        <p:txBody>
          <a:bodyPr/>
          <a:lstStyle/>
          <a:p>
            <a:r>
              <a:rPr lang="en-IN" dirty="0"/>
              <a:t>8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071FD5-65A2-2DEE-838E-2607C3A0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74" y="364263"/>
            <a:ext cx="69525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McCaskill’s algorithm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FC23ABF7-9C39-B2B7-9A34-C0FA9AEAD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482" y="2341103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latin typeface="Times" panose="02020603050405020304" pitchFamily="18" charset="0"/>
                <a:cs typeface="Times" panose="02020603050405020304" pitchFamily="18" charset="0"/>
              </a:rPr>
              <a:t>j</a:t>
            </a: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4D3CB0BF-92D4-FED1-B086-F581F9121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29" y="2890341"/>
            <a:ext cx="458695" cy="369332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 err="1"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  <a:endParaRPr lang="en-US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D21AEAD-1F94-10FA-DA68-E2CECC33453E}"/>
              </a:ext>
            </a:extLst>
          </p:cNvPr>
          <p:cNvCxnSpPr>
            <a:cxnSpLocks/>
          </p:cNvCxnSpPr>
          <p:nvPr/>
        </p:nvCxnSpPr>
        <p:spPr bwMode="auto">
          <a:xfrm>
            <a:off x="1481642" y="2590800"/>
            <a:ext cx="1943359" cy="0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041FD9-1F58-7A08-0365-67B02ABCB61C}"/>
              </a:ext>
            </a:extLst>
          </p:cNvPr>
          <p:cNvCxnSpPr>
            <a:cxnSpLocks/>
          </p:cNvCxnSpPr>
          <p:nvPr/>
        </p:nvCxnSpPr>
        <p:spPr bwMode="auto">
          <a:xfrm>
            <a:off x="774159" y="3198540"/>
            <a:ext cx="0" cy="2052173"/>
          </a:xfrm>
          <a:prstGeom prst="straightConnector1">
            <a:avLst/>
          </a:prstGeom>
          <a:noFill/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Freeform 152">
            <a:extLst>
              <a:ext uri="{FF2B5EF4-FFF2-40B4-BE49-F238E27FC236}">
                <a16:creationId xmlns:a16="http://schemas.microsoft.com/office/drawing/2014/main" id="{CFB1AF18-810C-BAD0-8E73-175EBA4EBD7F}"/>
              </a:ext>
            </a:extLst>
          </p:cNvPr>
          <p:cNvSpPr>
            <a:spLocks/>
          </p:cNvSpPr>
          <p:nvPr/>
        </p:nvSpPr>
        <p:spPr bwMode="auto">
          <a:xfrm flipH="1">
            <a:off x="6117758" y="7724443"/>
            <a:ext cx="1066798" cy="466993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288" y="240"/>
              </a:cxn>
              <a:cxn ang="0">
                <a:pos x="720" y="0"/>
              </a:cxn>
            </a:cxnLst>
            <a:rect l="0" t="0" r="r" b="b"/>
            <a:pathLst>
              <a:path w="720" h="280">
                <a:moveTo>
                  <a:pt x="0" y="240"/>
                </a:moveTo>
                <a:cubicBezTo>
                  <a:pt x="84" y="260"/>
                  <a:pt x="168" y="280"/>
                  <a:pt x="288" y="240"/>
                </a:cubicBezTo>
                <a:cubicBezTo>
                  <a:pt x="408" y="200"/>
                  <a:pt x="564" y="100"/>
                  <a:pt x="720" y="0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F78FF-9698-CC18-0B7D-2B7BE244DF47}"/>
              </a:ext>
            </a:extLst>
          </p:cNvPr>
          <p:cNvSpPr txBox="1"/>
          <p:nvPr/>
        </p:nvSpPr>
        <p:spPr>
          <a:xfrm>
            <a:off x="675756" y="1615656"/>
            <a:ext cx="10884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i="1" dirty="0">
                <a:solidFill>
                  <a:srgbClr val="000000"/>
                </a:solidFill>
              </a:rPr>
              <a:t>Q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i,j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Partition function for all possible </a:t>
            </a:r>
            <a:r>
              <a:rPr lang="en-US" altLang="en-US" sz="2000" dirty="0">
                <a:solidFill>
                  <a:srgbClr val="000000"/>
                </a:solidFill>
              </a:rPr>
              <a:t>structures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the sequence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starting at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and ending at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&lt;j).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2D2C0-8AC8-7AC8-C83A-FD4FAC713318}"/>
              </a:ext>
            </a:extLst>
          </p:cNvPr>
          <p:cNvSpPr txBox="1"/>
          <p:nvPr/>
        </p:nvSpPr>
        <p:spPr>
          <a:xfrm>
            <a:off x="568274" y="2490443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9BF282-AECF-E79A-DF45-332CE8EDA93C}"/>
                  </a:ext>
                </a:extLst>
              </p:cNvPr>
              <p:cNvSpPr txBox="1"/>
              <p:nvPr/>
            </p:nvSpPr>
            <p:spPr>
              <a:xfrm>
                <a:off x="5917053" y="2998580"/>
                <a:ext cx="6049660" cy="2154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for all </a:t>
                </a:r>
                <a:r>
                  <a:rPr lang="en-US" sz="2800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Fill the table diagonally. But how?</a:t>
                </a:r>
              </a:p>
              <a:p>
                <a:r>
                  <a:rPr lang="en-US" sz="2800" dirty="0"/>
                  <a:t>	</a:t>
                </a:r>
                <a:r>
                  <a:rPr lang="en-US" sz="2800" b="1" dirty="0"/>
                  <a:t>Recursion</a:t>
                </a:r>
              </a:p>
              <a:p>
                <a:r>
                  <a:rPr lang="en-US" sz="2800" dirty="0">
                    <a:solidFill>
                      <a:srgbClr val="C00000"/>
                    </a:solidFill>
                  </a:rPr>
                  <a:t>3.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 is the overall partition function.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9BF282-AECF-E79A-DF45-332CE8EDA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3" y="2998580"/>
                <a:ext cx="6049660" cy="2154436"/>
              </a:xfrm>
              <a:prstGeom prst="rect">
                <a:avLst/>
              </a:prstGeom>
              <a:blipFill>
                <a:blip r:embed="rId3"/>
                <a:stretch>
                  <a:fillRect l="-3774" t="-5294" b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FC19065-C0CD-5E92-899A-AD884207C636}"/>
              </a:ext>
            </a:extLst>
          </p:cNvPr>
          <p:cNvSpPr txBox="1"/>
          <p:nvPr/>
        </p:nvSpPr>
        <p:spPr>
          <a:xfrm>
            <a:off x="4135728" y="967406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do we get at the end?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0AF737-E5BD-B1D8-3B1A-9B52036DD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728655"/>
              </p:ext>
            </p:extLst>
          </p:nvPr>
        </p:nvGraphicFramePr>
        <p:xfrm>
          <a:off x="926083" y="2862947"/>
          <a:ext cx="4499392" cy="3400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11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8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   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76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39.5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112.1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638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39.5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31A800E-20A4-6A72-5ED2-F5386D768EC2}"/>
              </a:ext>
            </a:extLst>
          </p:cNvPr>
          <p:cNvSpPr txBox="1"/>
          <p:nvPr/>
        </p:nvSpPr>
        <p:spPr>
          <a:xfrm>
            <a:off x="5893055" y="5311122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Structures with lower free energy contribute more.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477B6-15A5-FCDC-95BC-1B4B1E2A1BC8}"/>
              </a:ext>
            </a:extLst>
          </p:cNvPr>
          <p:cNvSpPr txBox="1"/>
          <p:nvPr/>
        </p:nvSpPr>
        <p:spPr>
          <a:xfrm>
            <a:off x="225375" y="6404764"/>
            <a:ext cx="41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Raden et al., </a:t>
            </a:r>
            <a:r>
              <a:rPr lang="en-US" sz="1000" i="1" dirty="0"/>
              <a:t>NAR</a:t>
            </a:r>
            <a:r>
              <a:rPr lang="en-US" sz="1000" dirty="0"/>
              <a:t>, 2018</a:t>
            </a:r>
          </a:p>
        </p:txBody>
      </p:sp>
    </p:spTree>
    <p:extLst>
      <p:ext uri="{BB962C8B-B14F-4D97-AF65-F5344CB8AC3E}">
        <p14:creationId xmlns:p14="http://schemas.microsoft.com/office/powerpoint/2010/main" val="139020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74"/>
    </mc:Choice>
    <mc:Fallback xmlns="">
      <p:transition spd="slow" advTm="24174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D9858E-D3EE-5A73-8FF8-3F4EAC67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001988-066C-3976-A45E-149CC97794D8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FA1F2-6A89-3150-1FB7-48751E061C52}"/>
              </a:ext>
            </a:extLst>
          </p:cNvPr>
          <p:cNvSpPr txBox="1"/>
          <p:nvPr/>
        </p:nvSpPr>
        <p:spPr>
          <a:xfrm>
            <a:off x="3045913" y="341427"/>
            <a:ext cx="61001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en-US" sz="3200" b="1" dirty="0">
                <a:solidFill>
                  <a:srgbClr val="C00000"/>
                </a:solidFill>
              </a:rPr>
              <a:t>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9E3942-086B-A432-4C79-AE625330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74"/>
          <a:stretch>
            <a:fillRect/>
          </a:stretch>
        </p:blipFill>
        <p:spPr>
          <a:xfrm>
            <a:off x="4110456" y="1586683"/>
            <a:ext cx="4369246" cy="4304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73FB77-9AB0-2371-A89E-034174A0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83"/>
          <a:stretch>
            <a:fillRect/>
          </a:stretch>
        </p:blipFill>
        <p:spPr>
          <a:xfrm>
            <a:off x="1096634" y="1604790"/>
            <a:ext cx="2014330" cy="4304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0527EE-76B0-D209-3310-0076C8716FA5}"/>
              </a:ext>
            </a:extLst>
          </p:cNvPr>
          <p:cNvSpPr txBox="1"/>
          <p:nvPr/>
        </p:nvSpPr>
        <p:spPr>
          <a:xfrm>
            <a:off x="4566901" y="6067021"/>
            <a:ext cx="325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pairs in the MFE structure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2A16CA-2DFF-980C-7FE7-D9C6B2002893}"/>
              </a:ext>
            </a:extLst>
          </p:cNvPr>
          <p:cNvSpPr/>
          <p:nvPr/>
        </p:nvSpPr>
        <p:spPr>
          <a:xfrm rot="1840179">
            <a:off x="6599904" y="4995554"/>
            <a:ext cx="386704" cy="73411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4A3AAD-DF3E-6FA8-3BDD-444C6FA00C20}"/>
              </a:ext>
            </a:extLst>
          </p:cNvPr>
          <p:cNvSpPr/>
          <p:nvPr/>
        </p:nvSpPr>
        <p:spPr>
          <a:xfrm rot="2455876">
            <a:off x="4917472" y="3427449"/>
            <a:ext cx="392578" cy="8851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F2016-B296-C975-51BF-15B2D40175B4}"/>
              </a:ext>
            </a:extLst>
          </p:cNvPr>
          <p:cNvSpPr txBox="1"/>
          <p:nvPr/>
        </p:nvSpPr>
        <p:spPr>
          <a:xfrm>
            <a:off x="1231422" y="158825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MFE structure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33842F-3B18-4AF7-911B-2372B7F0BD98}"/>
              </a:ext>
            </a:extLst>
          </p:cNvPr>
          <p:cNvCxnSpPr>
            <a:stCxn id="9" idx="4"/>
          </p:cNvCxnSpPr>
          <p:nvPr/>
        </p:nvCxnSpPr>
        <p:spPr>
          <a:xfrm flipH="1">
            <a:off x="6551510" y="5678327"/>
            <a:ext cx="54514" cy="388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DCD910-4D49-5270-668A-00F7B2C36F33}"/>
              </a:ext>
            </a:extLst>
          </p:cNvPr>
          <p:cNvCxnSpPr/>
          <p:nvPr/>
        </p:nvCxnSpPr>
        <p:spPr>
          <a:xfrm>
            <a:off x="5040762" y="4159173"/>
            <a:ext cx="511256" cy="1907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56F6F7-5516-7D3D-023A-885D15483FDE}"/>
              </a:ext>
            </a:extLst>
          </p:cNvPr>
          <p:cNvCxnSpPr/>
          <p:nvPr/>
        </p:nvCxnSpPr>
        <p:spPr>
          <a:xfrm>
            <a:off x="6606024" y="2489399"/>
            <a:ext cx="22911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4AEAEB7-70CD-E02F-C3A9-BDA12D8ABF9A}"/>
              </a:ext>
            </a:extLst>
          </p:cNvPr>
          <p:cNvSpPr txBox="1"/>
          <p:nvPr/>
        </p:nvSpPr>
        <p:spPr>
          <a:xfrm>
            <a:off x="9225136" y="2370129"/>
            <a:ext cx="2483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Dot plots that show the probability of base pairing</a:t>
            </a:r>
          </a:p>
          <a:p>
            <a:r>
              <a:rPr lang="en-US" sz="1200" dirty="0"/>
              <a:t>Larger the squares: Higher the probability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5D89E8-7353-46BB-C926-F4A3C9503706}"/>
              </a:ext>
            </a:extLst>
          </p:cNvPr>
          <p:cNvSpPr txBox="1"/>
          <p:nvPr/>
        </p:nvSpPr>
        <p:spPr>
          <a:xfrm>
            <a:off x="1096634" y="1021600"/>
            <a:ext cx="1000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Partition function used to obtain base pair probabilities (To be discussed next week).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7891D9-7910-6668-787C-50F8B1C6DBBB}"/>
              </a:ext>
            </a:extLst>
          </p:cNvPr>
          <p:cNvSpPr txBox="1"/>
          <p:nvPr/>
        </p:nvSpPr>
        <p:spPr>
          <a:xfrm>
            <a:off x="141890" y="6445238"/>
            <a:ext cx="6097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effectLst/>
              </a:rPr>
              <a:t>Bernhart et al., </a:t>
            </a:r>
            <a:r>
              <a:rPr lang="en-US" sz="1000" i="1" dirty="0">
                <a:solidFill>
                  <a:srgbClr val="000000"/>
                </a:solidFill>
                <a:effectLst/>
              </a:rPr>
              <a:t>Algorithms for Molecular Biology</a:t>
            </a:r>
            <a:r>
              <a:rPr lang="en-US" sz="1000" dirty="0">
                <a:solidFill>
                  <a:srgbClr val="000000"/>
                </a:solidFill>
                <a:effectLst/>
              </a:rPr>
              <a:t>, 2006</a:t>
            </a:r>
          </a:p>
        </p:txBody>
      </p:sp>
    </p:spTree>
    <p:extLst>
      <p:ext uri="{BB962C8B-B14F-4D97-AF65-F5344CB8AC3E}">
        <p14:creationId xmlns:p14="http://schemas.microsoft.com/office/powerpoint/2010/main" val="2780171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24484</TotalTime>
  <Words>3334</Words>
  <Application>Microsoft Macintosh PowerPoint</Application>
  <PresentationFormat>Widescreen</PresentationFormat>
  <Paragraphs>558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Courier New</vt:lpstr>
      <vt:lpstr>Helvetica</vt:lpstr>
      <vt:lpstr>Times</vt:lpstr>
      <vt:lpstr>Wingdings</vt:lpstr>
      <vt:lpstr>Office Theme</vt:lpstr>
      <vt:lpstr>Partition function and how to compute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Amalaruban</dc:creator>
  <cp:lastModifiedBy>Ashwin Amalaruban M</cp:lastModifiedBy>
  <cp:revision>223</cp:revision>
  <dcterms:created xsi:type="dcterms:W3CDTF">2025-05-14T18:44:23Z</dcterms:created>
  <dcterms:modified xsi:type="dcterms:W3CDTF">2026-04-30T22:29:50Z</dcterms:modified>
</cp:coreProperties>
</file>