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28"/>
  </p:notesMasterIdLst>
  <p:sldIdLst>
    <p:sldId id="259" r:id="rId2"/>
    <p:sldId id="284" r:id="rId3"/>
    <p:sldId id="278" r:id="rId4"/>
    <p:sldId id="283" r:id="rId5"/>
    <p:sldId id="266" r:id="rId6"/>
    <p:sldId id="269" r:id="rId7"/>
    <p:sldId id="256" r:id="rId8"/>
    <p:sldId id="257" r:id="rId9"/>
    <p:sldId id="264" r:id="rId10"/>
    <p:sldId id="265" r:id="rId11"/>
    <p:sldId id="267" r:id="rId12"/>
    <p:sldId id="271" r:id="rId13"/>
    <p:sldId id="268" r:id="rId14"/>
    <p:sldId id="279" r:id="rId15"/>
    <p:sldId id="282" r:id="rId16"/>
    <p:sldId id="281" r:id="rId17"/>
    <p:sldId id="276" r:id="rId18"/>
    <p:sldId id="258" r:id="rId19"/>
    <p:sldId id="260" r:id="rId20"/>
    <p:sldId id="261" r:id="rId21"/>
    <p:sldId id="287" r:id="rId22"/>
    <p:sldId id="285" r:id="rId23"/>
    <p:sldId id="272" r:id="rId24"/>
    <p:sldId id="273" r:id="rId25"/>
    <p:sldId id="275" r:id="rId26"/>
    <p:sldId id="28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hwin Amalaruban" initials="AA" lastIdx="1" clrIdx="0">
    <p:extLst>
      <p:ext uri="{19B8F6BF-5375-455C-9EA6-DF929625EA0E}">
        <p15:presenceInfo xmlns:p15="http://schemas.microsoft.com/office/powerpoint/2012/main" userId="6ac06e519b128a1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07" autoAdjust="0"/>
    <p:restoredTop sz="94658"/>
  </p:normalViewPr>
  <p:slideViewPr>
    <p:cSldViewPr snapToGrid="0">
      <p:cViewPr varScale="1">
        <p:scale>
          <a:sx n="116" d="100"/>
          <a:sy n="116" d="100"/>
        </p:scale>
        <p:origin x="8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Drag%20coefficient%20for%20various%20structur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887978428028788"/>
          <c:y val="6.4814814814814811E-2"/>
          <c:w val="0.81000966552363129"/>
          <c:h val="0.79905876348789739"/>
        </c:manualLayout>
      </c:layout>
      <c:scatterChart>
        <c:scatterStyle val="smoothMarker"/>
        <c:varyColors val="0"/>
        <c:ser>
          <c:idx val="0"/>
          <c:order val="0"/>
          <c:tx>
            <c:v>Hexagon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hex_crossdata!$K$21:$K$25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</c:numCache>
            </c:numRef>
          </c:xVal>
          <c:yVal>
            <c:numRef>
              <c:f>hex_crossdata!$N$21:$N$25</c:f>
              <c:numCache>
                <c:formatCode>General</c:formatCode>
                <c:ptCount val="5"/>
                <c:pt idx="0">
                  <c:v>3.8169149227280252</c:v>
                </c:pt>
                <c:pt idx="1">
                  <c:v>4.9887097621173133</c:v>
                </c:pt>
                <c:pt idx="2">
                  <c:v>6.099874464583519</c:v>
                </c:pt>
                <c:pt idx="3">
                  <c:v>7.1711418447230342</c:v>
                </c:pt>
                <c:pt idx="4">
                  <c:v>8.2125770067820358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0B2-4B9D-A420-422F797C94B6}"/>
            </c:ext>
          </c:extLst>
        </c:ser>
        <c:ser>
          <c:idx val="1"/>
          <c:order val="1"/>
          <c:tx>
            <c:v>Cross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hex_crossdata!$K$21:$K$25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</c:numCache>
            </c:numRef>
          </c:xVal>
          <c:yVal>
            <c:numRef>
              <c:f>hex_crossdata!$O$21:$O$25</c:f>
              <c:numCache>
                <c:formatCode>General</c:formatCode>
                <c:ptCount val="5"/>
                <c:pt idx="0">
                  <c:v>3.3847290000000001</c:v>
                </c:pt>
                <c:pt idx="1">
                  <c:v>4.3478240000000001</c:v>
                </c:pt>
                <c:pt idx="2">
                  <c:v>5.260548</c:v>
                </c:pt>
                <c:pt idx="3">
                  <c:v>6.1383209999999995</c:v>
                </c:pt>
                <c:pt idx="4">
                  <c:v>6.9897999999999998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0B2-4B9D-A420-422F797C94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26186159"/>
        <c:axId val="1857464607"/>
      </c:scatterChart>
      <c:valAx>
        <c:axId val="1726186159"/>
        <c:scaling>
          <c:orientation val="minMax"/>
          <c:max val="6"/>
          <c:min val="2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>
                    <a:solidFill>
                      <a:sysClr val="windowText" lastClr="000000"/>
                    </a:solidFill>
                  </a:rPr>
                  <a:t>No of spheres in each branch</a:t>
                </a:r>
              </a:p>
            </c:rich>
          </c:tx>
          <c:layout>
            <c:manualLayout>
              <c:xMode val="edge"/>
              <c:yMode val="edge"/>
              <c:x val="0.35423384821228854"/>
              <c:y val="0.9296062992125984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in"/>
        <c:minorTickMark val="in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7464607"/>
        <c:crosses val="autoZero"/>
        <c:crossBetween val="midCat"/>
        <c:majorUnit val="1"/>
      </c:valAx>
      <c:valAx>
        <c:axId val="1857464607"/>
        <c:scaling>
          <c:orientation val="minMax"/>
          <c:min val="3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Drag coefficient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in"/>
        <c:minorTickMark val="in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6186159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legend>
      <c:legendPos val="r"/>
      <c:layout>
        <c:manualLayout>
          <c:xMode val="edge"/>
          <c:yMode val="edge"/>
          <c:x val="0.13993974951723687"/>
          <c:y val="8.3911490230387895E-2"/>
          <c:w val="0.16159791011268235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6-28T18:57:02.681" idx="1">
    <p:pos x="7524" y="275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AF6F6-3B1D-4FB5-A2DF-88497B8DC26D}" type="datetimeFigureOut">
              <a:rPr lang="en-IN" smtClean="0"/>
              <a:t>30/04/26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F0610-D6E4-4CF7-95A4-3A5D343972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166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44796-1335-47A8-B179-770D8E905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2F1104-70A4-4C4B-BEF5-5F8976B64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907D1-7BD1-4CDE-84E1-C06B91242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36C3-89C4-4405-8E02-160E67745447}" type="datetime1">
              <a:rPr lang="en-IN" smtClean="0"/>
              <a:t>30/04/26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AFC70-FE2C-41C9-ADF9-BDA2CBA9E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AE2AB-FE79-4A1B-A7FD-48E4A106A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350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9F95A-B53E-4624-B17F-2C4398111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E4AD8-800C-483F-BCFA-719B72938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117D-C936-4895-A49D-D9698D04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E52D3-FFFD-476C-8965-83D58CFA2AEE}" type="datetime1">
              <a:rPr lang="en-IN" smtClean="0"/>
              <a:t>30/04/26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16BF5-DBD4-4B6F-8AD1-164096E1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56C89-23FB-4031-B41E-90B8B1A4B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36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52F3D-A6AF-4637-BD48-30DF269B2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C765E-CEBA-4DE5-9BF2-5B9A4C197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E2A78-C8D3-4EBE-BDAC-F2666A839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024F6-AA1E-49A4-BCF8-54E0D7571C1D}" type="datetime1">
              <a:rPr lang="en-IN" smtClean="0"/>
              <a:t>30/04/26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709CA-5126-428F-A4AA-51FD85D7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7AA32-30A5-409E-80AB-D454F807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958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FAF92-487B-494E-A0A3-BE11A85B0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B9333-798F-406C-ABAF-4A8215F3E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FD039-1173-4C33-876F-AF79A49C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10BBC-7877-4308-A681-CF0D8E76F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C6045-56C4-40A3-A7FB-1410292A2599}" type="datetime1">
              <a:rPr lang="en-IN" smtClean="0"/>
              <a:t>30/04/26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16F35-0E84-4013-8C4C-14A66270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CFA5F-26AF-4DA7-8772-E4A851D0F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270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31D2E-DBE5-45CF-8D0F-9363EABF3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F53E4-A36B-47EE-8124-9512795E5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FE3EF-A11B-49C4-8915-DC4FB440A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CFDB5-AFF2-46EC-BD43-C38AD4D41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732A6-D662-4C1C-A978-1549118AE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4F4020-CA50-410C-B5D9-2586EAD19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B23CC-CEA5-4055-A876-44F300396445}" type="datetime1">
              <a:rPr lang="en-IN" smtClean="0"/>
              <a:t>30/04/26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8E7BC5-5B31-4040-9096-3F8D2070B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C1F0EB-04CF-4891-9908-F47CA22C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49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2093B-218A-491E-BA20-D976CB4FA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77D134-34D1-4982-8E1B-21A562769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7208-7974-44AD-B013-36EE540579AF}" type="datetime1">
              <a:rPr lang="en-IN" smtClean="0"/>
              <a:t>30/04/26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CAAA9D-FA09-4788-9ADB-17FD4BD65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C1B2DC-C750-4C7E-BD58-7284C016B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070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1B0A89-C914-4851-8D1B-C455BDBE0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CDDC1-DF86-45DC-884D-2244A777DFBA}" type="datetime1">
              <a:rPr lang="en-IN" smtClean="0"/>
              <a:t>30/04/26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68BB6-D3BA-4995-B4B4-869C682FF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BBED5-699C-4285-BD91-56786625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570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95696-01A9-4FB0-BE90-8B639FDA0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97A78-CC43-4BB6-80E5-8C376DA72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5CE995-6E0C-4938-94CE-EB32FB1C7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FBA59-31E3-4823-8D7A-0A1EE9374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E5B7D-A0FA-48F0-96A9-37BDE335FE95}" type="datetime1">
              <a:rPr lang="en-IN" smtClean="0"/>
              <a:t>30/04/26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4EF10-C9C0-4053-B5E1-819595938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90CA7-7773-4AE4-8BB6-BA6471BF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765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270BE-3996-485A-84CF-DA000100D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39929A-89FA-43D4-AF22-57296E7EDD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4A905-A360-431D-8372-D0E9C5AD3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3FE8A-9DA1-44A8-906E-682F94F5B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AF9F5-63FE-48D8-A8D6-CA619564E9A6}" type="datetime1">
              <a:rPr lang="en-IN" smtClean="0"/>
              <a:t>30/04/26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ED628-153E-4BE3-9215-B9DD0A3B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D15AB-E28B-4728-A002-6A686364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558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0E0C4-8819-4A04-8633-9D52422B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698685-4D5A-40A7-8BFA-8A74C40B7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091A9-FE38-4727-9B4A-3BF376C51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DF61-BBA9-4801-9317-6EFAE632723C}" type="datetime1">
              <a:rPr lang="en-IN" smtClean="0"/>
              <a:t>30/04/26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51C77-1EBB-4CD8-AA95-D8BB350FD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2D37D-E6FD-4716-8462-2EC5223D0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491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B2E165-7AA8-4F9E-AD8C-3FA4652E31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E8472E-544E-46ED-AEA3-7D12091A4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7B6A8-595B-4CB1-A767-82E0EC097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BEF20-C94B-43FC-9F77-A3E86E55DF8A}" type="datetime1">
              <a:rPr lang="en-IN" smtClean="0"/>
              <a:t>30/04/26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A6514-4017-45B0-AB24-DBDD8BE1D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3CF93-2B2B-4B62-83A6-27A26C87F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974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5B06D9-DA78-454C-A804-800D8F552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ADDA4-49E7-4199-9F27-2E0D647A3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B41EB-0582-4CC8-9022-579565186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36EE3-2588-40F3-B268-61A387E3B9A0}" type="datetime1">
              <a:rPr lang="en-IN" smtClean="0"/>
              <a:t>30/04/26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9700C-16F2-48EC-BA17-CD3D456C1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9C663-4D8E-4288-8CB5-F5A335F3F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E58D4-405A-440C-A704-BF1BC7FA8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36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24.em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1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68F1A-F843-4D4C-84F8-F3CA665E65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Hydrodynamics of Fractal Aggregates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3A2E5A-9803-48A1-ABE6-55ACD7C9E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9265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By   Ashwin Amalaruban</a:t>
            </a:r>
          </a:p>
          <a:p>
            <a:r>
              <a:rPr lang="en-US" dirty="0"/>
              <a:t>193020020</a:t>
            </a:r>
          </a:p>
          <a:p>
            <a:endParaRPr lang="en-IN" dirty="0"/>
          </a:p>
          <a:p>
            <a:r>
              <a:rPr lang="en-IN" dirty="0"/>
              <a:t>Guided by Prof. Jyoti Seth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8063D-F139-4453-8CD4-023D2E901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82BF9F-9766-4644-832A-4DCF6582254A}"/>
              </a:ext>
            </a:extLst>
          </p:cNvPr>
          <p:cNvSpPr txBox="1"/>
          <p:nvPr/>
        </p:nvSpPr>
        <p:spPr>
          <a:xfrm>
            <a:off x="584886" y="296562"/>
            <a:ext cx="11261125" cy="64249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9488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E7A6E6-DD3A-4195-97A5-6899686F0B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508" y="510746"/>
                <a:ext cx="11063416" cy="6096000"/>
              </a:xfrm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b="1" dirty="0"/>
                  <a:t>Introduction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6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Property of a fluid changes as particles are added to it.</a:t>
                </a:r>
              </a:p>
              <a:p>
                <a:pPr>
                  <a:lnSpc>
                    <a:spcPct val="200000"/>
                  </a:lnSpc>
                </a:pPr>
                <a:r>
                  <a:rPr lang="en-IN" sz="16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Effective viscosity of a suspension </a:t>
                </a:r>
                <a14:m>
                  <m:oMath xmlns:m="http://schemas.openxmlformats.org/officeDocument/2006/math">
                    <m:r>
                      <a:rPr lang="en-IN" sz="160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IN" sz="16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 depends on particle volume fraction </a:t>
                </a:r>
                <a14:m>
                  <m:oMath xmlns:m="http://schemas.openxmlformats.org/officeDocument/2006/math">
                    <m:r>
                      <a:rPr lang="en-IN" sz="16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en-IN" sz="16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200000"/>
                  </a:lnSpc>
                </a:pPr>
                <a:r>
                  <a:rPr lang="en-IN" sz="16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Effective viscosity is almost constant at small values of </a:t>
                </a:r>
                <a14:m>
                  <m:oMath xmlns:m="http://schemas.openxmlformats.org/officeDocument/2006/math">
                    <m:r>
                      <a:rPr lang="en-IN" sz="16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en-IN" sz="16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200000"/>
                  </a:lnSpc>
                </a:pPr>
                <a:r>
                  <a:rPr lang="en-IN" sz="16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At large </a:t>
                </a:r>
                <a14:m>
                  <m:oMath xmlns:m="http://schemas.openxmlformats.org/officeDocument/2006/math">
                    <m:r>
                      <a:rPr lang="en-IN" sz="16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US" sz="1600" b="0" i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IN" sz="16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 Suspension is shear thinning at low shear rates and shear thickening at high shear rates.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1600" dirty="0"/>
                  <a:t>When solid fraction increases, the interactions among </a:t>
                </a:r>
                <a:r>
                  <a:rPr lang="en-US" sz="1600" dirty="0" err="1"/>
                  <a:t>neighbour</a:t>
                </a:r>
                <a:r>
                  <a:rPr lang="en-US" sz="1600" dirty="0"/>
                  <a:t> particles also increase until they become constrained forming an aggregate.</a:t>
                </a:r>
                <a:endParaRPr lang="en-IN" sz="1600" dirty="0">
                  <a:solidFill>
                    <a:srgbClr val="000000"/>
                  </a:solidFill>
                  <a:ea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IN" sz="16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Rheology of concentrated suspensions difficult to predict and there are more theoretical problems.</a:t>
                </a:r>
              </a:p>
              <a:p>
                <a:pPr>
                  <a:lnSpc>
                    <a:spcPct val="200000"/>
                  </a:lnSpc>
                </a:pPr>
                <a:r>
                  <a:rPr lang="en-IN" sz="16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Simulations along with experiments provide a better understanding required for theory development.</a:t>
                </a:r>
                <a:endParaRPr lang="en-IN" sz="1600" dirty="0"/>
              </a:p>
              <a:p>
                <a:pPr marL="0" indent="0" algn="ctr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E7A6E6-DD3A-4195-97A5-6899686F0B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508" y="510746"/>
                <a:ext cx="11063416" cy="6096000"/>
              </a:xfrm>
              <a:blipFill>
                <a:blip r:embed="rId2"/>
                <a:stretch>
                  <a:fillRect l="-16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B6745-23A2-43F0-A6FD-0887A6AB8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22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1AC5A-F253-4023-B5F2-AA2DEEF6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3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DC3EF7-77A2-46DB-88FB-6E300181807F}"/>
              </a:ext>
            </a:extLst>
          </p:cNvPr>
          <p:cNvSpPr txBox="1"/>
          <p:nvPr/>
        </p:nvSpPr>
        <p:spPr>
          <a:xfrm>
            <a:off x="531340" y="428085"/>
            <a:ext cx="11129319" cy="6293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400" b="1" dirty="0"/>
              <a:t>Overview of simulation methods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Few methods for simulating suspensions: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Boundary integral equation method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Lattice Boltzmann Method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Dissipative Particle Dynamics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Collocation technique by </a:t>
            </a:r>
            <a:r>
              <a:rPr lang="en-US" sz="1600" dirty="0" err="1"/>
              <a:t>Ganatos</a:t>
            </a:r>
            <a:endParaRPr lang="en-US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Young’s method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u="sng" dirty="0"/>
              <a:t>Hydrodynamic interactions</a:t>
            </a:r>
            <a:r>
              <a:rPr lang="en-US" sz="1600" dirty="0"/>
              <a:t> between particles in a suspension: Long range interactions and lubrication interactions.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Lubrication interactions are not included in these methods directly.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Lubrication interactions are important as the particle concentration increases. </a:t>
            </a:r>
          </a:p>
          <a:p>
            <a:pPr>
              <a:lnSpc>
                <a:spcPct val="200000"/>
              </a:lnSpc>
            </a:pPr>
            <a:r>
              <a:rPr lang="en-IN" sz="1600" dirty="0">
                <a:solidFill>
                  <a:srgbClr val="000000"/>
                </a:solidFill>
              </a:rPr>
              <a:t>Why </a:t>
            </a:r>
            <a:r>
              <a:rPr lang="en-IN" sz="1600" dirty="0" err="1">
                <a:solidFill>
                  <a:srgbClr val="000000"/>
                </a:solidFill>
              </a:rPr>
              <a:t>Stokesian</a:t>
            </a:r>
            <a:r>
              <a:rPr lang="en-IN" sz="1600" dirty="0">
                <a:solidFill>
                  <a:srgbClr val="000000"/>
                </a:solidFill>
              </a:rPr>
              <a:t> Dynamics? It includes both long-range and short-range interactions.</a:t>
            </a:r>
            <a:endParaRPr lang="en-IN" sz="1600" dirty="0"/>
          </a:p>
          <a:p>
            <a:pPr>
              <a:lnSpc>
                <a:spcPct val="200000"/>
              </a:lnSpc>
            </a:pPr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322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F7493-47C5-479A-B956-5B5AC4EC6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027" y="378941"/>
            <a:ext cx="11013989" cy="6342533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/>
              <a:t>Scope of this project</a:t>
            </a:r>
          </a:p>
          <a:p>
            <a:pPr marL="457200" lvl="1" indent="0" algn="ctr">
              <a:lnSpc>
                <a:spcPct val="200000"/>
              </a:lnSpc>
              <a:buNone/>
            </a:pPr>
            <a:r>
              <a:rPr lang="en-US" sz="1600" dirty="0"/>
              <a:t>To study the method of </a:t>
            </a:r>
            <a:r>
              <a:rPr lang="en-US" sz="1600" dirty="0" err="1"/>
              <a:t>Stokesian</a:t>
            </a:r>
            <a:r>
              <a:rPr lang="en-US" sz="1600" dirty="0"/>
              <a:t> dynamics.</a:t>
            </a:r>
          </a:p>
          <a:p>
            <a:pPr lvl="1">
              <a:lnSpc>
                <a:spcPct val="200000"/>
              </a:lnSpc>
            </a:pPr>
            <a:r>
              <a:rPr lang="en-US" sz="1600" dirty="0"/>
              <a:t>To understand the basics of hydrodynamics.</a:t>
            </a:r>
          </a:p>
          <a:p>
            <a:pPr lvl="1">
              <a:lnSpc>
                <a:spcPct val="200000"/>
              </a:lnSpc>
            </a:pPr>
            <a:r>
              <a:rPr lang="en-IN" sz="1600" dirty="0"/>
              <a:t>Aggregate of any shape is broken down into constitutive spheres.</a:t>
            </a:r>
          </a:p>
          <a:p>
            <a:pPr lvl="1">
              <a:lnSpc>
                <a:spcPct val="150000"/>
              </a:lnSpc>
            </a:pPr>
            <a:r>
              <a:rPr lang="en-IN" sz="1600" dirty="0"/>
              <a:t>Green’s function gives the disturbance velocity field by a point force.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sz="1600" dirty="0"/>
              <a:t> 	- It is integrated over all the particle surfaces to give the velocity field.</a:t>
            </a:r>
          </a:p>
          <a:p>
            <a:pPr lvl="1">
              <a:lnSpc>
                <a:spcPct val="200000"/>
              </a:lnSpc>
            </a:pPr>
            <a:r>
              <a:rPr lang="en-IN" sz="1600" dirty="0" err="1"/>
              <a:t>Faxen’s</a:t>
            </a:r>
            <a:r>
              <a:rPr lang="en-IN" sz="1600" dirty="0"/>
              <a:t> laws gives the velocity of individual particles.</a:t>
            </a:r>
          </a:p>
          <a:p>
            <a:pPr lvl="1">
              <a:lnSpc>
                <a:spcPct val="200000"/>
              </a:lnSpc>
            </a:pPr>
            <a:r>
              <a:rPr lang="en-IN" sz="1600" dirty="0"/>
              <a:t>The force and velocity moments are related using a Resistance matrix and a Mobility matrix.</a:t>
            </a:r>
          </a:p>
          <a:p>
            <a:pPr lvl="1">
              <a:lnSpc>
                <a:spcPct val="200000"/>
              </a:lnSpc>
            </a:pPr>
            <a:r>
              <a:rPr lang="en-IN" sz="1600" dirty="0"/>
              <a:t>The components of these matrices and their properties are studied.</a:t>
            </a:r>
          </a:p>
          <a:p>
            <a:pPr lvl="1">
              <a:lnSpc>
                <a:spcPct val="200000"/>
              </a:lnSpc>
            </a:pPr>
            <a:r>
              <a:rPr lang="en-IN" sz="1600" dirty="0"/>
              <a:t>The study is also extended to infinite domain using Ewald sum.</a:t>
            </a:r>
          </a:p>
          <a:p>
            <a:pPr lvl="1">
              <a:lnSpc>
                <a:spcPct val="200000"/>
              </a:lnSpc>
            </a:pPr>
            <a:endParaRPr lang="en-IN" sz="1600" dirty="0"/>
          </a:p>
          <a:p>
            <a:pPr lvl="1">
              <a:lnSpc>
                <a:spcPct val="200000"/>
              </a:lnSpc>
            </a:pPr>
            <a:endParaRPr lang="en-IN" sz="1600" dirty="0"/>
          </a:p>
          <a:p>
            <a:pPr marL="457200" lvl="1" indent="0">
              <a:lnSpc>
                <a:spcPct val="200000"/>
              </a:lnSpc>
              <a:buNone/>
            </a:pPr>
            <a:endParaRPr lang="en-IN" sz="1600" dirty="0"/>
          </a:p>
          <a:p>
            <a:pPr lvl="1">
              <a:lnSpc>
                <a:spcPct val="200000"/>
              </a:lnSpc>
            </a:pPr>
            <a:endParaRPr lang="en-IN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1ECAE-DE0A-478D-AA47-52FEAACC7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527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841C0E-AD8F-4FF1-9347-B39AFA44BEED}"/>
                  </a:ext>
                </a:extLst>
              </p:cNvPr>
              <p:cNvSpPr txBox="1"/>
              <p:nvPr/>
            </p:nvSpPr>
            <p:spPr>
              <a:xfrm>
                <a:off x="168875" y="1749573"/>
                <a:ext cx="4950941" cy="645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600" smtClean="0">
                          <a:latin typeface="Cambria Math" panose="02040503050406030204" pitchFamily="18" charset="0"/>
                        </a:rPr>
                        <m:t>ρ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en-IN" sz="1600" i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num>
                            <m:den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en-IN" sz="16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den>
                          </m:f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1600" i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en-IN" sz="1600" i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IN" sz="1600" i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</m:d>
                      <m:r>
                        <a:rPr lang="en-IN" sz="160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IN" sz="1600" i="0">
                          <a:latin typeface="Cambria Math" panose="02040503050406030204" pitchFamily="18" charset="0"/>
                        </a:rPr>
                        <m:t>∇P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1600" i="0">
                          <a:latin typeface="Cambria Math" panose="02040503050406030204" pitchFamily="18" charset="0"/>
                        </a:rPr>
                        <m:t>μ</m:t>
                      </m:r>
                      <m:sSup>
                        <m:s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1600" i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IN" sz="1600" i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841C0E-AD8F-4FF1-9347-B39AFA44B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75" y="1749573"/>
                <a:ext cx="4950941" cy="6455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2D1B856-1E1C-4051-B431-8CC6FD0663C9}"/>
              </a:ext>
            </a:extLst>
          </p:cNvPr>
          <p:cNvSpPr txBox="1"/>
          <p:nvPr/>
        </p:nvSpPr>
        <p:spPr>
          <a:xfrm>
            <a:off x="766120" y="1352608"/>
            <a:ext cx="4868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Navier</a:t>
            </a:r>
            <a:r>
              <a:rPr lang="en-US" sz="1600" dirty="0"/>
              <a:t>-Stokes equation and continuity equation</a:t>
            </a:r>
            <a:endParaRPr lang="en-I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AAF99D-816E-449C-93B1-DF10A9600852}"/>
                  </a:ext>
                </a:extLst>
              </p:cNvPr>
              <p:cNvSpPr txBox="1"/>
              <p:nvPr/>
            </p:nvSpPr>
            <p:spPr>
              <a:xfrm>
                <a:off x="1775255" y="2419066"/>
                <a:ext cx="142514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60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.(</m:t>
                      </m:r>
                      <m:r>
                        <m:rPr>
                          <m:sty m:val="p"/>
                        </m:rPr>
                        <a:rPr lang="en-IN" sz="1600" i="0"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AAF99D-816E-449C-93B1-DF10A9600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255" y="2419066"/>
                <a:ext cx="1425146" cy="338554"/>
              </a:xfrm>
              <a:prstGeom prst="rect">
                <a:avLst/>
              </a:prstGeom>
              <a:blipFill>
                <a:blip r:embed="rId3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A8C28FD-A6FC-45B4-8CB2-CCBD3A788FC3}"/>
              </a:ext>
            </a:extLst>
          </p:cNvPr>
          <p:cNvSpPr txBox="1"/>
          <p:nvPr/>
        </p:nvSpPr>
        <p:spPr>
          <a:xfrm>
            <a:off x="955588" y="3049062"/>
            <a:ext cx="103982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u="sng" dirty="0"/>
              <a:t>Assumptions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</a:pPr>
            <a:r>
              <a:rPr lang="en-US" dirty="0"/>
              <a:t>1.Newtonian and Incompressible fluid.</a:t>
            </a:r>
          </a:p>
          <a:p>
            <a:pPr>
              <a:lnSpc>
                <a:spcPct val="150000"/>
              </a:lnSpc>
            </a:pPr>
            <a:r>
              <a:rPr lang="en-US" dirty="0"/>
              <a:t>2.Low Reynolds number flow </a:t>
            </a:r>
            <a:r>
              <a:rPr lang="en-US" dirty="0">
                <a:sym typeface="Wingdings" panose="05000000000000000000" pitchFamily="2" charset="2"/>
              </a:rPr>
              <a:t> Inertial effects are negligible.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3.No explicit time dependence </a:t>
            </a:r>
            <a:r>
              <a:rPr lang="en-US" dirty="0">
                <a:sym typeface="Wingdings" panose="05000000000000000000" pitchFamily="2" charset="2"/>
              </a:rPr>
              <a:t> Quasi-static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Flow is determined by the Boundary conditions - &gt; Particle configuration, external force/torque, no slip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Linearity of the Stokes equation means the ambient velocity field given by principle of superposition.</a:t>
            </a:r>
          </a:p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FE3345-F48D-416E-AF24-9A67EC7F70F1}"/>
                  </a:ext>
                </a:extLst>
              </p:cNvPr>
              <p:cNvSpPr txBox="1"/>
              <p:nvPr/>
            </p:nvSpPr>
            <p:spPr>
              <a:xfrm>
                <a:off x="4992130" y="1934670"/>
                <a:ext cx="60960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n-IN" sz="160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1600" i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𝜇</m:t>
                      </m:r>
                      <m:sSup>
                        <m:s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1600" i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1600" i="1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FE3345-F48D-416E-AF24-9A67EC7F7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130" y="1934670"/>
                <a:ext cx="609600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4574FD5-EB06-40A1-AF2E-E941F6D30EE1}"/>
                  </a:ext>
                </a:extLst>
              </p:cNvPr>
              <p:cNvSpPr txBox="1"/>
              <p:nvPr/>
            </p:nvSpPr>
            <p:spPr>
              <a:xfrm>
                <a:off x="5885935" y="2419066"/>
                <a:ext cx="430839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60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.(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4574FD5-EB06-40A1-AF2E-E941F6D30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935" y="2419066"/>
                <a:ext cx="4308390" cy="338554"/>
              </a:xfrm>
              <a:prstGeom prst="rect">
                <a:avLst/>
              </a:prstGeom>
              <a:blipFill>
                <a:blip r:embed="rId5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01FD7C43-8264-471F-BA9E-A2B72FE25AB5}"/>
              </a:ext>
            </a:extLst>
          </p:cNvPr>
          <p:cNvSpPr txBox="1"/>
          <p:nvPr/>
        </p:nvSpPr>
        <p:spPr>
          <a:xfrm>
            <a:off x="7416113" y="1342201"/>
            <a:ext cx="23889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Stokes equation</a:t>
            </a:r>
            <a:endParaRPr lang="en-IN" sz="16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A693457-2636-4590-BCE9-957AB3E7D815}"/>
              </a:ext>
            </a:extLst>
          </p:cNvPr>
          <p:cNvCxnSpPr/>
          <p:nvPr/>
        </p:nvCxnSpPr>
        <p:spPr>
          <a:xfrm>
            <a:off x="5132172" y="2103947"/>
            <a:ext cx="16393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6136473-2A5E-4A56-AF4D-193F6E257282}"/>
              </a:ext>
            </a:extLst>
          </p:cNvPr>
          <p:cNvSpPr txBox="1"/>
          <p:nvPr/>
        </p:nvSpPr>
        <p:spPr>
          <a:xfrm>
            <a:off x="5519351" y="1765393"/>
            <a:ext cx="1037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 &lt;&lt; 1</a:t>
            </a:r>
            <a:endParaRPr lang="en-IN" sz="1600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62EFE1B-F324-4352-B1C4-535D4CD7A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5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45B93A-B6F6-4AD4-A76F-E400D532B54A}"/>
              </a:ext>
            </a:extLst>
          </p:cNvPr>
          <p:cNvSpPr txBox="1"/>
          <p:nvPr/>
        </p:nvSpPr>
        <p:spPr>
          <a:xfrm>
            <a:off x="4744994" y="495073"/>
            <a:ext cx="38656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Governing equations</a:t>
            </a: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53E90F-01E9-40AF-949C-79AA4A67F1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6721" y="5726574"/>
            <a:ext cx="3086327" cy="3696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E40F06-5BD8-4CA9-9D6D-73499AC91CDD}"/>
              </a:ext>
            </a:extLst>
          </p:cNvPr>
          <p:cNvSpPr txBox="1"/>
          <p:nvPr/>
        </p:nvSpPr>
        <p:spPr>
          <a:xfrm>
            <a:off x="9868930" y="2153312"/>
            <a:ext cx="121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(1)</a:t>
            </a:r>
            <a:endParaRPr lang="en-IN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8109C5-8847-4C6A-9309-B2E8E3AC26A8}"/>
              </a:ext>
            </a:extLst>
          </p:cNvPr>
          <p:cNvSpPr txBox="1"/>
          <p:nvPr/>
        </p:nvSpPr>
        <p:spPr>
          <a:xfrm>
            <a:off x="9868930" y="5726574"/>
            <a:ext cx="121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(2)</a:t>
            </a: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D6B1C7-DEDF-4243-81B0-658703F1A4DF}"/>
              </a:ext>
            </a:extLst>
          </p:cNvPr>
          <p:cNvSpPr txBox="1"/>
          <p:nvPr/>
        </p:nvSpPr>
        <p:spPr>
          <a:xfrm>
            <a:off x="535459" y="354227"/>
            <a:ext cx="11219935" cy="63672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7921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0A94C-5062-43DD-813F-6D7DEA328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168" y="477795"/>
            <a:ext cx="10602097" cy="89792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 </a:t>
            </a:r>
            <a:r>
              <a:rPr lang="en-US" sz="2400" b="1" dirty="0"/>
              <a:t>Green’s function</a:t>
            </a:r>
            <a:endParaRPr lang="en-IN" sz="2400" b="1" dirty="0"/>
          </a:p>
          <a:p>
            <a:pPr marL="0" indent="0" algn="ctr">
              <a:buNone/>
            </a:pPr>
            <a:r>
              <a:rPr lang="en-IN" sz="1600" dirty="0"/>
              <a:t>Velocity disturbance caused by a point force</a:t>
            </a:r>
          </a:p>
          <a:p>
            <a:pPr marL="0" indent="0" algn="ctr">
              <a:buNone/>
            </a:pPr>
            <a:endParaRPr lang="en-IN" sz="16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113F0584-AA1B-413A-8495-8C45DA7BE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6</a:t>
            </a:fld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311E99-0F79-4357-9B35-835FAC232855}"/>
                  </a:ext>
                </a:extLst>
              </p:cNvPr>
              <p:cNvSpPr txBox="1"/>
              <p:nvPr/>
            </p:nvSpPr>
            <p:spPr>
              <a:xfrm>
                <a:off x="2635352" y="1835550"/>
                <a:ext cx="60960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16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∇P</m:t>
                      </m:r>
                      <m:r>
                        <a:rPr lang="en-IN" sz="16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+  </m:t>
                      </m:r>
                      <m:r>
                        <m:rPr>
                          <m:sty m:val="p"/>
                        </m:rPr>
                        <a:rPr lang="en-IN" sz="16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a:rPr lang="en-IN" sz="16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6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IN" sz="16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16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a:rPr lang="en-IN" sz="160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</m:t>
                          </m:r>
                        </m:sub>
                      </m:sSub>
                      <m:r>
                        <a:rPr lang="en-IN" sz="16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 + </m:t>
                      </m:r>
                      <m:r>
                        <m:rPr>
                          <m:sty m:val="p"/>
                        </m:rPr>
                        <a:rPr lang="en-IN" sz="16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μ</m:t>
                      </m:r>
                      <m:sSup>
                        <m:sSup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IN" sz="16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IN" sz="16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u</m:t>
                      </m:r>
                      <m:r>
                        <a:rPr lang="en-IN" sz="160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=0</m:t>
                      </m:r>
                    </m:oMath>
                  </m:oMathPara>
                </a14:m>
                <a:endParaRPr lang="en-IN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311E99-0F79-4357-9B35-835FAC232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352" y="1835550"/>
                <a:ext cx="6096000" cy="338554"/>
              </a:xfrm>
              <a:prstGeom prst="rect">
                <a:avLst/>
              </a:prstGeom>
              <a:blipFill>
                <a:blip r:embed="rId2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3CD5A1B-BD73-4FF1-B6D9-8A2FE841765B}"/>
              </a:ext>
            </a:extLst>
          </p:cNvPr>
          <p:cNvSpPr txBox="1"/>
          <p:nvPr/>
        </p:nvSpPr>
        <p:spPr>
          <a:xfrm>
            <a:off x="1112106" y="1417583"/>
            <a:ext cx="6763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Stokes equation forced with a delta function</a:t>
            </a:r>
            <a:endParaRPr lang="en-I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7277A8-9546-479C-8DB0-F7EF0252F1F4}"/>
                  </a:ext>
                </a:extLst>
              </p:cNvPr>
              <p:cNvSpPr txBox="1"/>
              <p:nvPr/>
            </p:nvSpPr>
            <p:spPr>
              <a:xfrm>
                <a:off x="1779371" y="2565764"/>
                <a:ext cx="6096000" cy="593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IN" sz="16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πμ</m:t>
                          </m:r>
                        </m:den>
                      </m:f>
                      <m:r>
                        <a:rPr lang="en-IN" sz="16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  <m:r>
                        <a:rPr lang="en-IN" sz="16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16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16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IN" sz="16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E7277A8-9546-479C-8DB0-F7EF0252F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371" y="2565764"/>
                <a:ext cx="6096000" cy="5935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07CC8D5-4CE9-4813-93F8-77923844713A}"/>
                  </a:ext>
                </a:extLst>
              </p:cNvPr>
              <p:cNvSpPr txBox="1"/>
              <p:nvPr/>
            </p:nvSpPr>
            <p:spPr>
              <a:xfrm>
                <a:off x="1129448" y="3142576"/>
                <a:ext cx="5942471" cy="46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Delta function found out to be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600" smtClean="0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IN" sz="160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acc>
                      </m:e>
                    </m:d>
                    <m:r>
                      <a:rPr lang="en-IN" sz="1600" i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1600" i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IN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6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1600" i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1600" i="0">
                                <a:latin typeface="Cambria Math" panose="02040503050406030204" pitchFamily="18" charset="0"/>
                              </a:rPr>
                              <m:t>πr</m:t>
                            </m:r>
                          </m:den>
                        </m:f>
                      </m:e>
                    </m:d>
                  </m:oMath>
                </a14:m>
                <a:endParaRPr lang="en-IN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07CC8D5-4CE9-4813-93F8-779238447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448" y="3142576"/>
                <a:ext cx="5942471" cy="460832"/>
              </a:xfrm>
              <a:prstGeom prst="rect">
                <a:avLst/>
              </a:prstGeom>
              <a:blipFill>
                <a:blip r:embed="rId4"/>
                <a:stretch>
                  <a:fillRect l="-410" b="-5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10D4AB-B648-4A28-9B97-CB076D19C65D}"/>
                  </a:ext>
                </a:extLst>
              </p:cNvPr>
              <p:cNvSpPr txBox="1"/>
              <p:nvPr/>
            </p:nvSpPr>
            <p:spPr>
              <a:xfrm>
                <a:off x="2969892" y="4076500"/>
                <a:ext cx="3505918" cy="6455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60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en-IN" sz="1600" i="0"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r>
                        <a:rPr lang="en-IN" sz="16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600" i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IN" sz="1600" i="0"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IN" sz="1600" i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10D4AB-B648-4A28-9B97-CB076D19C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892" y="4076500"/>
                <a:ext cx="3505918" cy="6455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7B7D29-997C-4BD7-8A64-F24AE93ED896}"/>
                  </a:ext>
                </a:extLst>
              </p:cNvPr>
              <p:cNvSpPr txBox="1"/>
              <p:nvPr/>
            </p:nvSpPr>
            <p:spPr>
              <a:xfrm>
                <a:off x="1167540" y="4797995"/>
                <a:ext cx="6096000" cy="470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600" dirty="0"/>
                  <a:t>Solution for (1) 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60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IN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1600" i="0">
                            <a:latin typeface="Cambria Math" panose="02040503050406030204" pitchFamily="18" charset="0"/>
                          </a:rPr>
                          <m:t>μ</m:t>
                        </m:r>
                      </m:den>
                    </m:f>
                    <m:r>
                      <m:rPr>
                        <m:sty m:val="p"/>
                      </m:rPr>
                      <a:rPr lang="en-IN" sz="1600" i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IN" sz="1600" i="0">
                        <a:latin typeface="Cambria Math" panose="02040503050406030204" pitchFamily="18" charset="0"/>
                      </a:rPr>
                      <m:t>.(</m:t>
                    </m:r>
                    <m:r>
                      <m:rPr>
                        <m:sty m:val="p"/>
                      </m:rPr>
                      <a:rPr lang="en-IN" sz="1600" i="0">
                        <a:latin typeface="Cambria Math" panose="02040503050406030204" pitchFamily="18" charset="0"/>
                      </a:rPr>
                      <m:t>∇∇</m:t>
                    </m:r>
                    <m:r>
                      <a:rPr lang="en-IN" sz="1600" i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1600" i="0">
                        <a:latin typeface="Cambria Math" panose="02040503050406030204" pitchFamily="18" charset="0"/>
                      </a:rPr>
                      <m:t>I</m:t>
                    </m:r>
                    <m:sSup>
                      <m:sSup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1600" i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IN" sz="16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1600" i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1600" i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IN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7B7D29-997C-4BD7-8A64-F24AE93ED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540" y="4797995"/>
                <a:ext cx="6096000" cy="470513"/>
              </a:xfrm>
              <a:prstGeom prst="rect">
                <a:avLst/>
              </a:prstGeom>
              <a:blipFill>
                <a:blip r:embed="rId6"/>
                <a:stretch>
                  <a:fillRect l="-400" b="-25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9133E4-DD58-469D-9C09-5148AFCF2C58}"/>
                  </a:ext>
                </a:extLst>
              </p:cNvPr>
              <p:cNvSpPr txBox="1"/>
              <p:nvPr/>
            </p:nvSpPr>
            <p:spPr>
              <a:xfrm>
                <a:off x="6460183" y="4754457"/>
                <a:ext cx="4302064" cy="422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60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1600" i="0">
                            <a:latin typeface="Cambria Math" panose="02040503050406030204" pitchFamily="18" charset="0"/>
                          </a:rPr>
                          <m:t>r</m:t>
                        </m:r>
                      </m:num>
                      <m:den>
                        <m:r>
                          <a:rPr lang="en-IN" sz="1600" i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1600" i="0"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lang="en-IN" sz="1600" dirty="0"/>
                  <a:t>  satisfies forced biharmonic equation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9133E4-DD58-469D-9C09-5148AFCF2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183" y="4754457"/>
                <a:ext cx="4302064" cy="422167"/>
              </a:xfrm>
              <a:prstGeom prst="rect">
                <a:avLst/>
              </a:prstGeom>
              <a:blipFill>
                <a:blip r:embed="rId7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87EDE38-BABF-4418-8B4A-3A0E64FA3F20}"/>
                  </a:ext>
                </a:extLst>
              </p:cNvPr>
              <p:cNvSpPr txBox="1"/>
              <p:nvPr/>
            </p:nvSpPr>
            <p:spPr>
              <a:xfrm>
                <a:off x="3815554" y="5647138"/>
                <a:ext cx="6096000" cy="513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6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IN" sz="16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600" i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1600" i="0">
                            <a:latin typeface="Cambria Math" panose="02040503050406030204" pitchFamily="18" charset="0"/>
                          </a:rPr>
                          <m:t>πμ</m:t>
                        </m:r>
                      </m:den>
                    </m:f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ij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16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den>
                        </m:f>
                        <m:r>
                          <a:rPr lang="en-IN" sz="1600" i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IN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p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I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600" i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600" i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IN" sz="1600" dirty="0">
                    <a:sym typeface="Wingdings" panose="05000000000000000000" pitchFamily="2" charset="2"/>
                  </a:rPr>
                  <a:t>       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en-I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ij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den>
                    </m:f>
                    <m:r>
                      <a:rPr lang="en-I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I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IN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sSub>
                          <m:sSubPr>
                            <m:ctrlP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I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IN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I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p>
                            <m:r>
                              <a:rPr lang="en-I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IN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87EDE38-BABF-4418-8B4A-3A0E64FA3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554" y="5647138"/>
                <a:ext cx="6096000" cy="513539"/>
              </a:xfrm>
              <a:prstGeom prst="rect">
                <a:avLst/>
              </a:prstGeom>
              <a:blipFill>
                <a:blip r:embed="rId8"/>
                <a:stretch>
                  <a:fillRect t="-3529" b="-35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07E768AA-4A6F-4510-9159-06D63B6B1032}"/>
              </a:ext>
            </a:extLst>
          </p:cNvPr>
          <p:cNvSpPr txBox="1"/>
          <p:nvPr/>
        </p:nvSpPr>
        <p:spPr>
          <a:xfrm>
            <a:off x="1112106" y="2283169"/>
            <a:ext cx="6351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Response of a viscous fluid with a single point force</a:t>
            </a:r>
            <a:endParaRPr lang="en-IN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981C71-9D74-450E-8996-2828D77220B3}"/>
              </a:ext>
            </a:extLst>
          </p:cNvPr>
          <p:cNvSpPr txBox="1"/>
          <p:nvPr/>
        </p:nvSpPr>
        <p:spPr>
          <a:xfrm>
            <a:off x="1129448" y="3758693"/>
            <a:ext cx="61899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Balancing the dimension of pressure term with that of the delta function</a:t>
            </a:r>
            <a:endParaRPr lang="en-IN" sz="16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667D3FA-70FB-4CB5-A572-CB3BCB7645DB}"/>
              </a:ext>
            </a:extLst>
          </p:cNvPr>
          <p:cNvCxnSpPr>
            <a:cxnSpLocks/>
          </p:cNvCxnSpPr>
          <p:nvPr/>
        </p:nvCxnSpPr>
        <p:spPr>
          <a:xfrm flipH="1">
            <a:off x="5881892" y="4991163"/>
            <a:ext cx="5939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F014853-47FD-4AF3-B640-705EF252F695}"/>
                  </a:ext>
                </a:extLst>
              </p:cNvPr>
              <p:cNvSpPr txBox="1"/>
              <p:nvPr/>
            </p:nvSpPr>
            <p:spPr>
              <a:xfrm>
                <a:off x="10189827" y="4796263"/>
                <a:ext cx="116397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IN" sz="1600" i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F014853-47FD-4AF3-B640-705EF252F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9827" y="4796263"/>
                <a:ext cx="116397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A8F1C7C-BF19-406A-9086-5ED45D09E8C5}"/>
              </a:ext>
            </a:extLst>
          </p:cNvPr>
          <p:cNvCxnSpPr>
            <a:cxnSpLocks/>
          </p:cNvCxnSpPr>
          <p:nvPr/>
        </p:nvCxnSpPr>
        <p:spPr>
          <a:xfrm>
            <a:off x="4722851" y="5236695"/>
            <a:ext cx="0" cy="410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618F0C7-AD77-4B2F-B3BA-04E7425EDB4C}"/>
              </a:ext>
            </a:extLst>
          </p:cNvPr>
          <p:cNvSpPr txBox="1"/>
          <p:nvPr/>
        </p:nvSpPr>
        <p:spPr>
          <a:xfrm>
            <a:off x="1167540" y="6199508"/>
            <a:ext cx="7702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Linearity allows us to use Green’s function to solve the Stokes equation.</a:t>
            </a:r>
            <a:endParaRPr lang="en-IN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B0CD54-074F-4F38-81C0-482A90B0CB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7081" y="1278444"/>
            <a:ext cx="2095500" cy="17430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294AE3-A90D-4A94-A66C-7D607C050F76}"/>
              </a:ext>
            </a:extLst>
          </p:cNvPr>
          <p:cNvSpPr txBox="1"/>
          <p:nvPr/>
        </p:nvSpPr>
        <p:spPr>
          <a:xfrm>
            <a:off x="8817892" y="1753614"/>
            <a:ext cx="15085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(1)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IN" sz="1600" dirty="0"/>
              <a:t>(2)</a:t>
            </a:r>
          </a:p>
          <a:p>
            <a:endParaRPr lang="en-IN" sz="1600" dirty="0"/>
          </a:p>
          <a:p>
            <a:r>
              <a:rPr lang="en-IN" sz="1600" dirty="0"/>
              <a:t>(3)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r>
              <a:rPr lang="en-IN" sz="1600" dirty="0"/>
              <a:t>(4)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r>
              <a:rPr lang="en-IN" sz="1600" dirty="0"/>
              <a:t>(5)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FBDB88-3480-4380-8DCA-1642D7B22C08}"/>
              </a:ext>
            </a:extLst>
          </p:cNvPr>
          <p:cNvSpPr txBox="1"/>
          <p:nvPr/>
        </p:nvSpPr>
        <p:spPr>
          <a:xfrm>
            <a:off x="499420" y="378941"/>
            <a:ext cx="11330116" cy="63095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6015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D0F7D9-3CE6-4647-A30B-297BCFD495AA}"/>
                  </a:ext>
                </a:extLst>
              </p:cNvPr>
              <p:cNvSpPr txBox="1"/>
              <p:nvPr/>
            </p:nvSpPr>
            <p:spPr>
              <a:xfrm>
                <a:off x="580767" y="258632"/>
                <a:ext cx="10385855" cy="6563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b="1" dirty="0"/>
                  <a:t>Multipole expansion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Presence of particles create a disturbance field.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1600" dirty="0"/>
                  <a:t>Velocity field at any point ‘x’ in the fluid </a:t>
                </a:r>
                <a:r>
                  <a:rPr lang="en-IN" sz="1600" dirty="0">
                    <a:sym typeface="Wingdings" panose="05000000000000000000" pitchFamily="2" charset="2"/>
                  </a:rPr>
                  <a:t></a:t>
                </a:r>
                <a:r>
                  <a:rPr lang="en-IN" sz="1600" dirty="0"/>
                  <a:t> sum of ambient velocity and the disturbance field.</a:t>
                </a:r>
              </a:p>
              <a:p>
                <a:endParaRPr lang="en-IN" sz="14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I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∞</m:t>
                        </m:r>
                      </m:sup>
                    </m:sSubSup>
                    <m:d>
                      <m:d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1600" dirty="0"/>
                  <a:t>+</a:t>
                </a:r>
                <a:r>
                  <a:rPr lang="en-IN" sz="16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IN" sz="1600" dirty="0"/>
              </a:p>
              <a:p>
                <a:pPr algn="ctr"/>
                <a:endParaRPr lang="en-IN" sz="1600" dirty="0"/>
              </a:p>
              <a:p>
                <a:pPr algn="ctr"/>
                <a:r>
                  <a:rPr lang="en-IN" sz="1600" dirty="0"/>
                  <a:t>Disturbance field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  <m:d>
                      <m:d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IN" sz="16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πμ</m:t>
                        </m:r>
                      </m:den>
                    </m:f>
                    <m:sSub>
                      <m:sSubPr>
                        <m:ctrlP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ij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sSub>
                      <m:sSubPr>
                        <m:ctrlP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IN" sz="16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ctr"/>
                <a:r>
                  <a:rPr lang="en-IN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IN" sz="160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∞</m:t>
                          </m:r>
                        </m:sup>
                      </m:sSubSup>
                      <m:d>
                        <m:d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8</m:t>
                          </m:r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πμ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</m:t>
                          </m:r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limLoc m:val="subSup"/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𝑆</m:t>
                              </m:r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𝛼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J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ij</m:t>
                                  </m:r>
                                  <m: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) 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𝑑𝑆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IN" sz="1600" dirty="0"/>
              </a:p>
              <a:p>
                <a:pPr algn="ctr"/>
                <a:endParaRPr lang="en-IN" sz="1400" dirty="0"/>
              </a:p>
              <a:p>
                <a:pPr>
                  <a:lnSpc>
                    <a:spcPct val="200000"/>
                  </a:lnSpc>
                </a:pPr>
                <a:r>
                  <a:rPr lang="en-IN" sz="16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Force at any point on a particle surface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</m:sub>
                    </m:sSub>
                    <m:r>
                      <a:rPr lang="en-IN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IN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IN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sSub>
                      <m:sSubPr>
                        <m:ctrlP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𝑗𝑘</m:t>
                        </m:r>
                      </m:sub>
                    </m:sSub>
                    <m:r>
                      <a:rPr lang="en-IN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IN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IN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sSub>
                      <m:sSubPr>
                        <m:ctrlP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IN" sz="1600" dirty="0"/>
              </a:p>
              <a:p>
                <a:pPr>
                  <a:lnSpc>
                    <a:spcPct val="200000"/>
                  </a:lnSpc>
                </a:pPr>
                <a:r>
                  <a:rPr lang="en-US" sz="1600" dirty="0" err="1">
                    <a:solidFill>
                      <a:srgbClr val="000000"/>
                    </a:solidFill>
                  </a:rPr>
                  <a:t>Oseen</a:t>
                </a:r>
                <a:r>
                  <a:rPr lang="en-US" sz="1600" dirty="0">
                    <a:solidFill>
                      <a:srgbClr val="000000"/>
                    </a:solidFill>
                  </a:rPr>
                  <a:t> tensor</a:t>
                </a:r>
                <a:r>
                  <a:rPr lang="en-US" sz="1600" b="0" i="0" u="none" strike="noStrike" baseline="0" dirty="0">
                    <a:solidFill>
                      <a:srgbClr val="000000"/>
                    </a:solidFill>
                  </a:rPr>
                  <a:t> integrated over the surface area 𝑆</a:t>
                </a:r>
                <a:r>
                  <a:rPr lang="en-US" sz="1600" b="0" i="0" u="none" strike="noStrike" baseline="-25000" dirty="0">
                    <a:solidFill>
                      <a:srgbClr val="000000"/>
                    </a:solidFill>
                  </a:rPr>
                  <a:t>𝛼</a:t>
                </a:r>
                <a:r>
                  <a:rPr lang="en-US" sz="1600" b="0" i="0" u="none" strike="noStrike" baseline="0" dirty="0">
                    <a:solidFill>
                      <a:srgbClr val="000000"/>
                    </a:solidFill>
                  </a:rPr>
                  <a:t> for the particle </a:t>
                </a:r>
                <a14:m>
                  <m:oMath xmlns:m="http://schemas.openxmlformats.org/officeDocument/2006/math">
                    <m:r>
                      <a:rPr lang="en-IN" sz="16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sz="1600" b="0" i="0" u="none" strike="noStrike" baseline="0" dirty="0">
                    <a:solidFill>
                      <a:srgbClr val="000000"/>
                    </a:solidFill>
                  </a:rPr>
                  <a:t> and summed over </a:t>
                </a:r>
                <a:r>
                  <a:rPr lang="en-US" sz="1600" dirty="0">
                    <a:solidFill>
                      <a:srgbClr val="000000"/>
                    </a:solidFill>
                  </a:rPr>
                  <a:t>N </a:t>
                </a:r>
                <a:r>
                  <a:rPr lang="en-US" sz="1600" b="0" i="0" u="none" strike="noStrike" baseline="0" dirty="0">
                    <a:solidFill>
                      <a:srgbClr val="000000"/>
                    </a:solidFill>
                  </a:rPr>
                  <a:t>particles.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1600" b="0" i="0" u="none" strike="noStrike" baseline="0" dirty="0">
                    <a:solidFill>
                      <a:srgbClr val="000000"/>
                    </a:solidFill>
                  </a:rPr>
                  <a:t>Number of unknowns increases as the number of particle</a:t>
                </a:r>
                <a:r>
                  <a:rPr lang="en-US" sz="1600" dirty="0">
                    <a:solidFill>
                      <a:srgbClr val="000000"/>
                    </a:solidFill>
                  </a:rPr>
                  <a:t>s increases.</a:t>
                </a:r>
              </a:p>
              <a:p>
                <a:pPr>
                  <a:lnSpc>
                    <a:spcPct val="200000"/>
                  </a:lnSpc>
                </a:pPr>
                <a:r>
                  <a:rPr lang="en-IN" sz="1600" dirty="0"/>
                  <a:t>Oseen tensor is Taylor expanded about particle centre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en-IN" sz="16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:endParaRPr lang="en-US" sz="1400" b="0" i="0" u="none" strike="noStrike" baseline="0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IN" sz="1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D0F7D9-3CE6-4647-A30B-297BCFD49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767" y="258632"/>
                <a:ext cx="10385855" cy="6563976"/>
              </a:xfrm>
              <a:prstGeom prst="rect">
                <a:avLst/>
              </a:prstGeom>
              <a:blipFill>
                <a:blip r:embed="rId2"/>
                <a:stretch>
                  <a:fillRect l="-2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712929-0EBD-4533-91B9-56CEDCA50DE1}"/>
                  </a:ext>
                </a:extLst>
              </p:cNvPr>
              <p:cNvSpPr txBox="1"/>
              <p:nvPr/>
            </p:nvSpPr>
            <p:spPr>
              <a:xfrm>
                <a:off x="4852087" y="5393667"/>
                <a:ext cx="5951838" cy="1579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ij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ij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</m:e>
                      </m:d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ij</m:t>
                              </m:r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 |</m:t>
                          </m:r>
                        </m:e>
                        <m:sub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US" sz="1600" i="1" dirty="0"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sz="1600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∇∇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ij</m:t>
                              </m:r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 |</m:t>
                          </m:r>
                        </m:e>
                        <m:sub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lang="en-US" sz="1600" i="1" dirty="0"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0" i="1" smtClean="0">
                          <a:effectLst/>
                          <a:latin typeface="Cambria Math" panose="02040503050406030204" pitchFamily="18" charset="0"/>
                        </a:rPr>
                        <m:t>                            +</m:t>
                      </m:r>
                      <m:f>
                        <m:f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⋮</m:t>
                      </m:r>
                      <m:r>
                        <m:rPr>
                          <m:sty m:val="p"/>
                        </m:rP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∇∇∇</m:t>
                      </m:r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ij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]</m:t>
                      </m:r>
                      <m:sSub>
                        <m:sSub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 |</m:t>
                          </m:r>
                        </m:e>
                        <m:sub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</m:sub>
                      </m:sSub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+...</m:t>
                      </m:r>
                    </m:oMath>
                  </m:oMathPara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712929-0EBD-4533-91B9-56CEDCA50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2087" y="5393667"/>
                <a:ext cx="5951838" cy="1579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A9624BF-ED92-4ACC-A0B5-E0316CE0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7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C30A76-B157-4491-B882-566E42AF7222}"/>
              </a:ext>
            </a:extLst>
          </p:cNvPr>
          <p:cNvSpPr txBox="1"/>
          <p:nvPr/>
        </p:nvSpPr>
        <p:spPr>
          <a:xfrm>
            <a:off x="10966622" y="1442841"/>
            <a:ext cx="1289221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IN" sz="1600" dirty="0"/>
              <a:t>(1)</a:t>
            </a:r>
          </a:p>
          <a:p>
            <a:endParaRPr lang="en-IN" sz="1600" dirty="0"/>
          </a:p>
          <a:p>
            <a:r>
              <a:rPr lang="en-IN" sz="1600" dirty="0"/>
              <a:t>(2)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r>
              <a:rPr lang="en-IN" sz="1600" dirty="0"/>
              <a:t>(3)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r>
              <a:rPr lang="en-IN" sz="1600" dirty="0"/>
              <a:t>(4)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FAB63D-E087-4B48-AF1D-5DA1EF2BD718}"/>
              </a:ext>
            </a:extLst>
          </p:cNvPr>
          <p:cNvSpPr txBox="1"/>
          <p:nvPr/>
        </p:nvSpPr>
        <p:spPr>
          <a:xfrm>
            <a:off x="370703" y="395416"/>
            <a:ext cx="11450593" cy="6326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3588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46EB55-ED2F-4847-8688-6929D84184E8}"/>
                  </a:ext>
                </a:extLst>
              </p:cNvPr>
              <p:cNvSpPr txBox="1"/>
              <p:nvPr/>
            </p:nvSpPr>
            <p:spPr>
              <a:xfrm>
                <a:off x="2170670" y="892635"/>
                <a:ext cx="7195752" cy="2050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en-IN" sz="16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𝑆</m:t>
                          </m:r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J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ij</m:t>
                              </m:r>
                              <m:r>
                                <a:rPr lang="en-IN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  <m:sSub>
                            <m:sSub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j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𝑑𝑆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nary>
                            <m:naryPr>
                              <m:limLoc m:val="subSup"/>
                              <m:ctrlPr>
                                <a:rPr lang="en-IN" sz="16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J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ij</m:t>
                                  </m:r>
                                  <m: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𝛼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𝑑𝑆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IN" sz="16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+</m:t>
                              </m:r>
                              <m:nary>
                                <m:naryPr>
                                  <m:limLoc m:val="undOvr"/>
                                  <m:subHide m:val="on"/>
                                  <m:supHide m:val="on"/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(</m:t>
                                  </m:r>
                                  <m:sSubSup>
                                    <m:sSubSupPr>
                                      <m:ctrlP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𝛼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.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J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ij</m:t>
                                  </m:r>
                                  <m: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) 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16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𝑑𝑆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160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sz="16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𝛼</m:t>
                              </m:r>
                            </m:sup>
                          </m:sSubSup>
                        </m:e>
                      </m:nary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)(</m:t>
                      </m:r>
                      <m:sSubSup>
                        <m:sSubSup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ij</m:t>
                          </m:r>
                          <m: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IN" sz="16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sup>
                      </m:sSup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𝑑𝑆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160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p>
                          </m:sSubSup>
                        </m:e>
                      </m:nary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)(</m:t>
                      </m:r>
                      <m:sSubSup>
                        <m:sSubSup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)(</m:t>
                      </m:r>
                      <m:sSubSup>
                        <m:sSubSup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).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ij</m:t>
                          </m:r>
                          <m: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sup>
                      </m:sSup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 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j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𝑑𝑆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46EB55-ED2F-4847-8688-6929D8418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670" y="892635"/>
                <a:ext cx="7195752" cy="20502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D11AC4-7DFB-48F5-9A23-1D4467DE49B6}"/>
                  </a:ext>
                </a:extLst>
              </p:cNvPr>
              <p:cNvSpPr txBox="1"/>
              <p:nvPr/>
            </p:nvSpPr>
            <p:spPr>
              <a:xfrm>
                <a:off x="3048000" y="3251086"/>
                <a:ext cx="4596713" cy="448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/>
                  <a:t>n</a:t>
                </a:r>
                <a:r>
                  <a:rPr lang="en-IN" sz="1600" dirty="0">
                    <a:effectLst/>
                  </a:rPr>
                  <a:t>th moment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...</m:t>
                        </m:r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IN" sz="1600" dirty="0">
                    <a:effectLst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/>
                      <m:e>
                        <m:nary>
                          <m:naryPr>
                            <m:chr m:val="∏"/>
                            <m:limLoc m:val="undOvr"/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...</m:t>
                            </m:r>
                          </m:sub>
                          <m:sup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bSup>
                              </m:e>
                            </m:d>
                          </m:e>
                        </m:nary>
                      </m:e>
                    </m:nary>
                    <m:sSub>
                      <m:sSub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160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1600"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1600">
                        <a:effectLst/>
                        <a:latin typeface="Cambria Math" panose="02040503050406030204" pitchFamily="18" charset="0"/>
                      </a:rPr>
                      <m:t>) </m:t>
                    </m:r>
                    <m:sSub>
                      <m:sSub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𝑑𝑆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N" sz="1600" dirty="0"/>
                  <a:t>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D11AC4-7DFB-48F5-9A23-1D4467DE4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3251086"/>
                <a:ext cx="4596713" cy="448584"/>
              </a:xfrm>
              <a:prstGeom prst="rect">
                <a:avLst/>
              </a:prstGeom>
              <a:blipFill>
                <a:blip r:embed="rId3"/>
                <a:stretch>
                  <a:fillRect l="-663" t="-89189" b="-1527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8D1536-7B62-4FF4-B11E-4983D74CFD18}"/>
                  </a:ext>
                </a:extLst>
              </p:cNvPr>
              <p:cNvSpPr txBox="1"/>
              <p:nvPr/>
            </p:nvSpPr>
            <p:spPr>
              <a:xfrm>
                <a:off x="897924" y="3780275"/>
                <a:ext cx="6137189" cy="2928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IN" sz="1600" dirty="0">
                    <a:effectLst/>
                    <a:latin typeface="Cambria Math" panose="02040503050406030204" pitchFamily="18" charset="0"/>
                  </a:rPr>
                  <a:t>Such moments are</a:t>
                </a: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IN" sz="1600">
                        <a:effectLst/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limLoc m:val="subSup"/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𝑑𝑆</m:t>
                            </m:r>
                          </m:e>
                          <m:sub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sz="1600" dirty="0">
                    <a:effectLst/>
                  </a:rPr>
                  <a:t> =O(f)</a:t>
                </a: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  <m:sup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IN" sz="1600">
                        <a:effectLst/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limLoc m:val="subSup"/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Sup>
                              <m:sSubSup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bSup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sSub>
                              <m:sSub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𝑑𝑆</m:t>
                            </m:r>
                          </m:e>
                          <m:sub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IN" sz="1600" dirty="0">
                    <a:effectLst/>
                  </a:rPr>
                  <a:t> =O(a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600">
                        <a:effectLst/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sz="1600">
                        <a:effectLst/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160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effectLst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𝑘𝑙𝑗</m:t>
                        </m:r>
                      </m:sub>
                      <m:sup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1600">
                        <a:effectLst/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limLoc m:val="subSup"/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/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bSup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)(</m:t>
                        </m:r>
                        <m:sSubSup>
                          <m:sSubSupPr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bSup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− </m:t>
                        </m:r>
                        <m:sSub>
                          <m:sSubPr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sSub>
                      <m:sSub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𝑑𝑆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N" sz="1600" dirty="0">
                    <a:effectLst/>
                  </a:rPr>
                  <a:t> =O(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1600">
                        <a:effectLst/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160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1600" dirty="0">
                    <a:effectLst/>
                  </a:rPr>
                  <a:t> when </a:t>
                </a:r>
                <a:r>
                  <a:rPr lang="en-IN" sz="1600" dirty="0" err="1">
                    <a:effectLst/>
                  </a:rPr>
                  <a:t>k≠l</a:t>
                </a:r>
                <a:endParaRPr lang="en-IN" sz="1600" dirty="0">
                  <a:effectLst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𝑘𝑙𝑚𝑗</m:t>
                          </m:r>
                        </m:sub>
                        <m: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subSup"/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/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)(</m:t>
                          </m:r>
                          <m:sSubSup>
                            <m:sSub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  <m:sSubSup>
                            <m:sSub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sSub>
                        <m:sSub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𝑑𝑆</m:t>
                          </m:r>
                        </m:e>
                        <m:sub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8D1536-7B62-4FF4-B11E-4983D74CF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24" y="3780275"/>
                <a:ext cx="6137189" cy="2928046"/>
              </a:xfrm>
              <a:prstGeom prst="rect">
                <a:avLst/>
              </a:prstGeom>
              <a:blipFill>
                <a:blip r:embed="rId4"/>
                <a:stretch>
                  <a:fillRect l="-4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FFB22C8-5C82-45C0-BCFA-55AAC8A96816}"/>
              </a:ext>
            </a:extLst>
          </p:cNvPr>
          <p:cNvSpPr txBox="1"/>
          <p:nvPr/>
        </p:nvSpPr>
        <p:spPr>
          <a:xfrm>
            <a:off x="790832" y="61973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IN" sz="16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The integral becomes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AD24B9-6CD2-4BA4-987E-5D146E6BBA21}"/>
              </a:ext>
            </a:extLst>
          </p:cNvPr>
          <p:cNvSpPr txBox="1"/>
          <p:nvPr/>
        </p:nvSpPr>
        <p:spPr>
          <a:xfrm>
            <a:off x="939113" y="285055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IN" sz="1600" dirty="0"/>
              <a:t>Green’s function expanded as moments of force distribution.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86CD556-F6A0-4553-A150-C7993EDC7CD7}"/>
                  </a:ext>
                </a:extLst>
              </p:cNvPr>
              <p:cNvSpPr txBox="1"/>
              <p:nvPr/>
            </p:nvSpPr>
            <p:spPr>
              <a:xfrm>
                <a:off x="6590270" y="3915125"/>
                <a:ext cx="5552303" cy="16006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600" dirty="0">
                    <a:latin typeface="Cambria Math" panose="02040503050406030204" pitchFamily="18" charset="0"/>
                  </a:rPr>
                  <a:t>Higher order moments </a:t>
                </a:r>
              </a:p>
              <a:p>
                <a:endParaRPr lang="en-IN" sz="16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𝑘𝑙𝑗</m:t>
                          </m:r>
                        </m:sub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𝑘𝑙</m:t>
                          </m:r>
                        </m:sub>
                      </m:sSub>
                      <m:sSubSup>
                        <m:sSub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IN" sz="16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1600" i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IN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𝑘𝑙𝑚𝑗</m:t>
                              </m:r>
                            </m:sub>
                            <m: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𝑘𝑙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𝑚𝑗</m:t>
                                  </m:r>
                                </m:sub>
                                <m:sup>
                                  <m:r>
                                    <a:rPr lang="en-IN" sz="16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𝑘𝑚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𝑙𝑗</m:t>
                                  </m:r>
                                </m:sub>
                                <m:sup>
                                  <m:r>
                                    <a:rPr lang="en-IN" sz="16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𝑙𝑚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𝑘𝑗</m:t>
                                  </m:r>
                                </m:sub>
                                <m:sup>
                                  <m:r>
                                    <a:rPr lang="en-IN" sz="16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</m:e>
                          </m:d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1600" i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86CD556-F6A0-4553-A150-C7993EDC7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270" y="3915125"/>
                <a:ext cx="5552303" cy="1600631"/>
              </a:xfrm>
              <a:prstGeom prst="rect">
                <a:avLst/>
              </a:prstGeom>
              <a:blipFill>
                <a:blip r:embed="rId5"/>
                <a:stretch>
                  <a:fillRect l="-549" t="-15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782304C-F44A-4E66-9F7C-420E8E9A1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8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F83F0C-E777-407D-8EC5-FB368FFF3661}"/>
              </a:ext>
            </a:extLst>
          </p:cNvPr>
          <p:cNvSpPr txBox="1"/>
          <p:nvPr/>
        </p:nvSpPr>
        <p:spPr>
          <a:xfrm>
            <a:off x="10917194" y="958285"/>
            <a:ext cx="87321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  <a:p>
            <a:r>
              <a:rPr lang="en-IN" sz="1600" dirty="0"/>
              <a:t>(5)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r>
              <a:rPr lang="en-IN" sz="1600" dirty="0"/>
              <a:t>(6)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20B6C-6308-48DB-868C-8B35439895AB}"/>
              </a:ext>
            </a:extLst>
          </p:cNvPr>
          <p:cNvSpPr txBox="1"/>
          <p:nvPr/>
        </p:nvSpPr>
        <p:spPr>
          <a:xfrm>
            <a:off x="494270" y="461319"/>
            <a:ext cx="11368216" cy="62470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0172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AF5B4D-E546-4B2A-8D78-A2CBC31A09CD}"/>
                  </a:ext>
                </a:extLst>
              </p:cNvPr>
              <p:cNvSpPr txBox="1"/>
              <p:nvPr/>
            </p:nvSpPr>
            <p:spPr>
              <a:xfrm>
                <a:off x="724928" y="4743811"/>
                <a:ext cx="11170508" cy="9188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1600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</m:sSubSup>
                      <m:d>
                        <m:d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16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m:rPr>
                              <m:sty m:val="p"/>
                            </m:rPr>
                            <a:rPr lang="en-IN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πμ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 </m:t>
                                  </m:r>
                                  <m:f>
                                    <m:fPr>
                                      <m:ctrlP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160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160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IN" sz="160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60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∇</m:t>
                                      </m:r>
                                    </m:e>
                                    <m:sup>
                                      <m:r>
                                        <a:rPr lang="en-IN" sz="160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IN" sz="16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16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  <m:r>
                                <a:rPr lang="en-IN" sz="16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Sup>
                                <m:sSubSup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bSup>
                              <m:r>
                                <a:rPr lang="en-IN" sz="16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f>
                                <m:f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16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𝑗𝑘𝑙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6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𝑖𝑙</m:t>
                                  </m:r>
                                </m:sub>
                              </m:sSub>
                              <m:r>
                                <a:rPr lang="en-IN" sz="16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16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  <m:r>
                                <a:rPr lang="en-IN" sz="16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Sup>
                                <m:sSubSup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bSup>
                              <m:r>
                                <a:rPr lang="en-IN" sz="16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160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160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IN" sz="160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IN" sz="16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60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∇</m:t>
                                      </m:r>
                                    </m:e>
                                    <m:sup>
                                      <m:r>
                                        <a:rPr lang="en-IN" sz="160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6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IN" sz="16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16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  <m:r>
                                <a:rPr lang="en-IN" sz="16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Sup>
                                <m:sSubSup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𝑗𝑘</m:t>
                                  </m:r>
                                </m:sub>
                                <m:sup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en-US" sz="1600" i="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endParaRPr lang="en-IN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AF5B4D-E546-4B2A-8D78-A2CBC31A0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28" y="4743811"/>
                <a:ext cx="11170508" cy="9188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B70100-D20A-4BFF-A4FC-D0DF7BCE614C}"/>
                  </a:ext>
                </a:extLst>
              </p:cNvPr>
              <p:cNvSpPr txBox="1"/>
              <p:nvPr/>
            </p:nvSpPr>
            <p:spPr>
              <a:xfrm>
                <a:off x="724928" y="3225706"/>
                <a:ext cx="10923373" cy="9989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IN" sz="1600" dirty="0">
                    <a:solidFill>
                      <a:srgbClr val="000000"/>
                    </a:solidFill>
                  </a:rPr>
                  <a:t>Velocity field </a:t>
                </a: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IN" sz="16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sz="1600" dirty="0">
                    <a:solidFill>
                      <a:srgbClr val="000000"/>
                    </a:solidFill>
                    <a:ea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∞</m:t>
                        </m:r>
                      </m:sup>
                    </m:sSubSup>
                    <m:d>
                      <m:d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IN" sz="16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πμ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ij</m:t>
                                </m:r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d>
                            <m:sSubSup>
                              <m:sSubSup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p>
                            </m:sSubSup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ij</m:t>
                                </m:r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d>
                            <m:sSubSup>
                              <m:sSubSup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𝑘𝑗</m:t>
                                </m:r>
                              </m:sub>
                              <m:sup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∇</m:t>
                                    </m:r>
                                  </m:e>
                                  <m:sub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∇</m:t>
                                    </m:r>
                                  </m:e>
                                  <m:sub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ij</m:t>
                                </m:r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d>
                            <m:sSubSup>
                              <m:sSubSup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𝑘𝑙𝑗</m:t>
                                </m:r>
                              </m:sub>
                              <m:sup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IN" sz="1600" smtClean="0">
                                <a:effectLst/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ij</m:t>
                                </m:r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16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d>
                            <m:sSubSup>
                              <m:sSubSupPr>
                                <m:ctrlPr>
                                  <a:rPr lang="en-IN" sz="16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𝑘𝑙𝑚𝑗</m:t>
                                </m:r>
                              </m:sub>
                              <m:sup>
                                <m:r>
                                  <a:rPr lang="en-IN" sz="1600"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+…</m:t>
                            </m:r>
                          </m:e>
                        </m:d>
                      </m:e>
                    </m:nary>
                  </m:oMath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B70100-D20A-4BFF-A4FC-D0DF7BCE6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28" y="3225706"/>
                <a:ext cx="10923373" cy="998928"/>
              </a:xfrm>
              <a:prstGeom prst="rect">
                <a:avLst/>
              </a:prstGeom>
              <a:blipFill>
                <a:blip r:embed="rId3"/>
                <a:stretch>
                  <a:fillRect l="-335" b="-493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024825-B4E1-480D-8559-71005B9F32B3}"/>
                  </a:ext>
                </a:extLst>
              </p:cNvPr>
              <p:cNvSpPr txBox="1"/>
              <p:nvPr/>
            </p:nvSpPr>
            <p:spPr>
              <a:xfrm>
                <a:off x="790833" y="663307"/>
                <a:ext cx="6096000" cy="2228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600" dirty="0"/>
                  <a:t>Zeroth order moment </a:t>
                </a:r>
                <a:r>
                  <a:rPr lang="en-IN" sz="1600" dirty="0">
                    <a:sym typeface="Wingdings" panose="05000000000000000000" pitchFamily="2" charset="2"/>
                  </a:rPr>
                  <a:t>Force acting on the fluid</a:t>
                </a:r>
                <a:endParaRPr lang="en-IN" sz="1600" dirty="0"/>
              </a:p>
              <a:p>
                <a:endParaRPr lang="en-IN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IN" sz="1600" i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subSup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𝑑𝑆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nary>
                      <m:r>
                        <a:rPr lang="en-IN" sz="1600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1600" i="1" dirty="0">
                  <a:latin typeface="Cambria Math" panose="02040503050406030204" pitchFamily="18" charset="0"/>
                </a:endParaRPr>
              </a:p>
              <a:p>
                <a:r>
                  <a:rPr lang="en-IN" sz="1600" dirty="0"/>
                  <a:t>First order moment </a:t>
                </a:r>
                <a:endParaRPr lang="en-US" sz="1600" dirty="0"/>
              </a:p>
              <a:p>
                <a:endParaRPr lang="en-IN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IN" sz="1600" i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subSup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Sup>
                                <m:sSubSup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endChr m:val=""/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b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𝑑𝑆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 = </m:t>
                          </m:r>
                          <m:sSup>
                            <m:s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</m:sSub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  <m:sup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𝑗𝑘𝑙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024825-B4E1-480D-8559-71005B9F3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33" y="663307"/>
                <a:ext cx="6096000" cy="2228174"/>
              </a:xfrm>
              <a:prstGeom prst="rect">
                <a:avLst/>
              </a:prstGeom>
              <a:blipFill>
                <a:blip r:embed="rId4"/>
                <a:stretch>
                  <a:fillRect l="-600" t="-10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5DB360-F21C-41F0-8EA1-D2AC1AA3CA8A}"/>
                  </a:ext>
                </a:extLst>
              </p:cNvPr>
              <p:cNvSpPr txBox="1"/>
              <p:nvPr/>
            </p:nvSpPr>
            <p:spPr>
              <a:xfrm>
                <a:off x="6483177" y="507367"/>
                <a:ext cx="5848866" cy="2384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𝑆</m:t>
                          </m:r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𝑖𝑗𝑘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sSubSup>
                                <m:sSubSup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𝛼</m:t>
                                  </m:r>
                                </m:sup>
                              </m:sSubSup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𝐾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𝑑𝑆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nary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𝑆</m:t>
                          </m:r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sSubSup>
                                    <m:sSubSupPr>
                                      <m:ctrlP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𝛼</m:t>
                                      </m:r>
                                    </m:sup>
                                  </m:sSubSup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)</m:t>
                                  </m:r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sSubSup>
                                    <m:sSubSupPr>
                                      <m:ctrlP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𝛼</m:t>
                                      </m:r>
                                    </m:sup>
                                  </m:sSubSup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)</m:t>
                                  </m:r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sSubSup>
                                    <m:sSubSupPr>
                                      <m:ctrlP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𝛼</m:t>
                                      </m:r>
                                    </m:sup>
                                  </m:sSubSup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 </m:t>
                                  </m:r>
                                  <m:sSub>
                                    <m:sSubPr>
                                      <m:ctrlP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)</m:t>
                                  </m:r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𝑑𝑆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5DB360-F21C-41F0-8EA1-D2AC1AA3C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3177" y="507367"/>
                <a:ext cx="5848866" cy="23841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93D6E4-BE8E-4CA2-A8F6-F71DAC55BFBB}"/>
                  </a:ext>
                </a:extLst>
              </p:cNvPr>
              <p:cNvSpPr txBox="1"/>
              <p:nvPr/>
            </p:nvSpPr>
            <p:spPr>
              <a:xfrm>
                <a:off x="724928" y="4314945"/>
                <a:ext cx="40942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On truncating at O(a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600" i="0">
                        <a:latin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N" sz="1600" dirty="0"/>
                  <a:t>f)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93D6E4-BE8E-4CA2-A8F6-F71DAC55B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28" y="4314945"/>
                <a:ext cx="4094206" cy="338554"/>
              </a:xfrm>
              <a:prstGeom prst="rect">
                <a:avLst/>
              </a:prstGeom>
              <a:blipFill>
                <a:blip r:embed="rId6"/>
                <a:stretch>
                  <a:fillRect l="-893" t="-5455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E8FCC3F-A059-4EC0-9CDE-9E693ABEDC65}"/>
              </a:ext>
            </a:extLst>
          </p:cNvPr>
          <p:cNvCxnSpPr/>
          <p:nvPr/>
        </p:nvCxnSpPr>
        <p:spPr>
          <a:xfrm>
            <a:off x="6400799" y="395416"/>
            <a:ext cx="0" cy="243840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D49FBD-630E-453A-B9E6-3AC2C96957FE}"/>
              </a:ext>
            </a:extLst>
          </p:cNvPr>
          <p:cNvSpPr txBox="1"/>
          <p:nvPr/>
        </p:nvSpPr>
        <p:spPr>
          <a:xfrm>
            <a:off x="724928" y="5562597"/>
            <a:ext cx="9045146" cy="788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Disturbance velocity caused by all the particles .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Depends on force, torque and </a:t>
            </a:r>
            <a:r>
              <a:rPr lang="en-US" sz="1600" dirty="0" err="1"/>
              <a:t>stresslet</a:t>
            </a:r>
            <a:r>
              <a:rPr lang="en-US" sz="1600" dirty="0"/>
              <a:t> on each particle caused by all other particles.</a:t>
            </a:r>
            <a:endParaRPr lang="en-IN" sz="1600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43D5D29-6455-4795-BE8B-B7D96DF8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9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3A2682-C833-4524-ADF6-B4B95B68F5C3}"/>
              </a:ext>
            </a:extLst>
          </p:cNvPr>
          <p:cNvSpPr txBox="1"/>
          <p:nvPr/>
        </p:nvSpPr>
        <p:spPr>
          <a:xfrm>
            <a:off x="7801230" y="929148"/>
            <a:ext cx="4094206" cy="570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5131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C72C3B9-8975-4D19-A167-3EF824C3A09E}"/>
              </a:ext>
            </a:extLst>
          </p:cNvPr>
          <p:cNvSpPr txBox="1"/>
          <p:nvPr/>
        </p:nvSpPr>
        <p:spPr>
          <a:xfrm>
            <a:off x="3336324" y="313038"/>
            <a:ext cx="4448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Faxen’s</a:t>
            </a:r>
            <a:r>
              <a:rPr lang="en-US" sz="2400" b="1" dirty="0"/>
              <a:t> laws</a:t>
            </a:r>
            <a:endParaRPr lang="en-IN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035EA7D-2C6E-40D7-A526-919FE44E8943}"/>
                  </a:ext>
                </a:extLst>
              </p:cNvPr>
              <p:cNvSpPr txBox="1"/>
              <p:nvPr/>
            </p:nvSpPr>
            <p:spPr>
              <a:xfrm>
                <a:off x="673716" y="2490754"/>
                <a:ext cx="5560540" cy="1956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IN" sz="1400" i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400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r>
                        <a:rPr lang="en-IN" sz="1400" i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en-IN" sz="1400" i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</m:num>
                        <m:den>
                          <m:r>
                            <a:rPr lang="en-IN" sz="1400" i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𝜋𝜇</m:t>
                          </m:r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IN" sz="14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400" i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IN" sz="1400" i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IN" sz="14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140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</a:endParaRPr>
              </a:p>
              <a:p>
                <a:endParaRPr lang="en-IN" sz="140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4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𝛺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IN" sz="1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𝛺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</m:sSubSup>
                      <m:r>
                        <a:rPr lang="en-IN" sz="1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  <m: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𝜋𝜇</m:t>
                              </m:r>
                              <m: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IN" sz="14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𝑖𝑗𝑘</m:t>
                          </m:r>
                        </m:sub>
                      </m:sSub>
                      <m:sSub>
                        <m:sSubPr>
                          <m:ctrlP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14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IN" sz="14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1400" dirty="0"/>
              </a:p>
              <a:p>
                <a:endParaRPr lang="en-IN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IN" sz="1400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r>
                        <a:rPr lang="en-IN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</m:num>
                        <m:den>
                          <m:r>
                            <a:rPr lang="en-IN" sz="1400" i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𝜋𝜇</m:t>
                          </m:r>
                          <m:f>
                            <m:fPr>
                              <m:type m:val="lin"/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den>
                      </m:f>
                      <m:r>
                        <a:rPr lang="en-IN" sz="14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400" i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sSup>
                            <m:sSup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1400" i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1400" i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IN" sz="14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14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035EA7D-2C6E-40D7-A526-919FE44E8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16" y="2490754"/>
                <a:ext cx="5560540" cy="19560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CF06DBC-AB34-4620-A4E7-B0B0F415ECC2}"/>
              </a:ext>
            </a:extLst>
          </p:cNvPr>
          <p:cNvSpPr txBox="1"/>
          <p:nvPr/>
        </p:nvSpPr>
        <p:spPr>
          <a:xfrm>
            <a:off x="885566" y="782512"/>
            <a:ext cx="9205785" cy="463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/>
              <a:t>Motion of a single particle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𝞪 immersed in a flow field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60CAF6-F43D-4AC5-B5D6-EC18F39281F7}"/>
              </a:ext>
            </a:extLst>
          </p:cNvPr>
          <p:cNvSpPr txBox="1"/>
          <p:nvPr/>
        </p:nvSpPr>
        <p:spPr>
          <a:xfrm>
            <a:off x="1383957" y="6092572"/>
            <a:ext cx="8097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.</a:t>
            </a:r>
            <a:endParaRPr lang="en-I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0218B9-48CC-4851-A092-11CB37BD7097}"/>
              </a:ext>
            </a:extLst>
          </p:cNvPr>
          <p:cNvSpPr txBox="1"/>
          <p:nvPr/>
        </p:nvSpPr>
        <p:spPr>
          <a:xfrm>
            <a:off x="1029730" y="5339308"/>
            <a:ext cx="880624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</a:t>
            </a:r>
            <a:r>
              <a:rPr lang="en-US" sz="1600" b="0" i="0" u="none" strike="noStrike" baseline="0" dirty="0"/>
              <a:t>articles are rigid, there is no rate of strain </a:t>
            </a:r>
            <a:r>
              <a:rPr lang="en-IN" sz="1600" b="0" i="0" u="none" strike="noStrike" baseline="0" dirty="0"/>
              <a:t>inside the particle.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Truncated expansion along with the </a:t>
            </a:r>
            <a:r>
              <a:rPr lang="en-US" sz="1600" dirty="0" err="1"/>
              <a:t>Faxen’s</a:t>
            </a:r>
            <a:r>
              <a:rPr lang="en-US" sz="1600" dirty="0"/>
              <a:t> laws give us a far-field approximation</a:t>
            </a:r>
            <a:endParaRPr lang="en-IN" sz="1600" dirty="0"/>
          </a:p>
          <a:p>
            <a:pPr algn="l"/>
            <a:endParaRPr lang="en-IN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FD4D6B-4CB2-42A1-9A6F-5BC17740FCA6}"/>
              </a:ext>
            </a:extLst>
          </p:cNvPr>
          <p:cNvSpPr txBox="1"/>
          <p:nvPr/>
        </p:nvSpPr>
        <p:spPr>
          <a:xfrm>
            <a:off x="5585253" y="2594030"/>
            <a:ext cx="5799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Particle translating in an ambient translating field.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5F47EB-6212-469E-974A-F014D07C0D09}"/>
              </a:ext>
            </a:extLst>
          </p:cNvPr>
          <p:cNvSpPr txBox="1"/>
          <p:nvPr/>
        </p:nvSpPr>
        <p:spPr>
          <a:xfrm>
            <a:off x="5671751" y="394706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Stresslet on a particle in a rate of strain field</a:t>
            </a:r>
            <a:endParaRPr lang="en-IN" sz="1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A546202-B945-484D-8008-0A692D31BACB}"/>
              </a:ext>
            </a:extLst>
          </p:cNvPr>
          <p:cNvSpPr txBox="1"/>
          <p:nvPr/>
        </p:nvSpPr>
        <p:spPr>
          <a:xfrm>
            <a:off x="5671751" y="324917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Particle rotating in an ambient rotating field.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961A7D2-BEB6-449A-80BF-B06CD6271F00}"/>
              </a:ext>
            </a:extLst>
          </p:cNvPr>
          <p:cNvCxnSpPr/>
          <p:nvPr/>
        </p:nvCxnSpPr>
        <p:spPr>
          <a:xfrm>
            <a:off x="5560539" y="2594030"/>
            <a:ext cx="0" cy="1687766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15FC2D5-1146-4E61-A3B4-4926EEB878E5}"/>
              </a:ext>
            </a:extLst>
          </p:cNvPr>
          <p:cNvSpPr txBox="1"/>
          <p:nvPr/>
        </p:nvSpPr>
        <p:spPr>
          <a:xfrm>
            <a:off x="1029730" y="1305512"/>
            <a:ext cx="74058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a typeface="Cambria Math" panose="02040503050406030204" pitchFamily="18" charset="0"/>
              </a:rPr>
              <a:t>Correction to Stokes law.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Obtained using Lorentz reciprocal theorem</a:t>
            </a:r>
            <a:r>
              <a:rPr lang="en-US" dirty="0"/>
              <a:t>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85A2A21-9572-4C39-A16D-ABEFAF11214E}"/>
                  </a:ext>
                </a:extLst>
              </p:cNvPr>
              <p:cNvSpPr txBox="1"/>
              <p:nvPr/>
            </p:nvSpPr>
            <p:spPr>
              <a:xfrm>
                <a:off x="3789405" y="1638826"/>
                <a:ext cx="6096000" cy="595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subSup"/>
                          <m:ctrlPr>
                            <a:rPr lang="en-IN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1400" i="0">
                              <a:latin typeface="Cambria Math" panose="020405030504060302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IN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  <m:r>
                        <a:rPr lang="en-IN" sz="1400" i="1"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IN" sz="1400" i="0"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chr m:val="∮"/>
                          <m:limLoc m:val="subSup"/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1400" i="0">
                              <a:latin typeface="Cambria Math" panose="020405030504060302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IN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400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  <m:r>
                        <a:rPr lang="en-IN" sz="14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400" i="1">
                          <a:latin typeface="Cambria Math" panose="02040503050406030204" pitchFamily="18" charset="0"/>
                        </a:rPr>
                        <m:t>𝑑𝑆</m:t>
                      </m:r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85A2A21-9572-4C39-A16D-ABEFAF112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405" y="1638826"/>
                <a:ext cx="6096000" cy="5958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2B78F9F-5E05-4334-9F8D-10827EAA5A51}"/>
                  </a:ext>
                </a:extLst>
              </p:cNvPr>
              <p:cNvSpPr txBox="1"/>
              <p:nvPr/>
            </p:nvSpPr>
            <p:spPr>
              <a:xfrm>
                <a:off x="3110326" y="4858154"/>
                <a:ext cx="2005371" cy="4033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4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1400" i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IN" sz="14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400" i="0" smtClean="0"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2B78F9F-5E05-4334-9F8D-10827EAA5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326" y="4858154"/>
                <a:ext cx="2005371" cy="403316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39E33003-4E81-40F0-86EE-9DD6BE91911F}"/>
              </a:ext>
            </a:extLst>
          </p:cNvPr>
          <p:cNvSpPr txBox="1"/>
          <p:nvPr/>
        </p:nvSpPr>
        <p:spPr>
          <a:xfrm>
            <a:off x="1029730" y="4922916"/>
            <a:ext cx="2940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Rate of strain tensor</a:t>
            </a:r>
            <a:endParaRPr lang="en-IN" sz="1600" dirty="0"/>
          </a:p>
        </p:txBody>
      </p:sp>
      <p:sp>
        <p:nvSpPr>
          <p:cNvPr id="70" name="Slide Number Placeholder 69">
            <a:extLst>
              <a:ext uri="{FF2B5EF4-FFF2-40B4-BE49-F238E27FC236}">
                <a16:creationId xmlns:a16="http://schemas.microsoft.com/office/drawing/2014/main" id="{F420A132-EBB6-4963-98F1-C2998294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10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C0DDCF-22D4-462A-9C9D-7E032C3C2D71}"/>
              </a:ext>
            </a:extLst>
          </p:cNvPr>
          <p:cNvSpPr txBox="1"/>
          <p:nvPr/>
        </p:nvSpPr>
        <p:spPr>
          <a:xfrm>
            <a:off x="354227" y="313038"/>
            <a:ext cx="11368215" cy="63804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8406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31A3E3-CC86-4425-A22E-BAAD8A742446}"/>
              </a:ext>
            </a:extLst>
          </p:cNvPr>
          <p:cNvSpPr txBox="1"/>
          <p:nvPr/>
        </p:nvSpPr>
        <p:spPr>
          <a:xfrm>
            <a:off x="1145058" y="1689855"/>
            <a:ext cx="2982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Resistance problem:</a:t>
            </a:r>
            <a:endParaRPr lang="en-I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204018-4B1A-48B7-9E8F-B596E7C7241F}"/>
                  </a:ext>
                </a:extLst>
              </p:cNvPr>
              <p:cNvSpPr txBox="1"/>
              <p:nvPr/>
            </p:nvSpPr>
            <p:spPr>
              <a:xfrm>
                <a:off x="3830502" y="2054860"/>
                <a:ext cx="2982097" cy="7550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p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p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IN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204018-4B1A-48B7-9E8F-B596E7C72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502" y="2054860"/>
                <a:ext cx="2982097" cy="7550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070920-1E61-4E2A-96C4-042C26F842B2}"/>
                  </a:ext>
                </a:extLst>
              </p:cNvPr>
              <p:cNvSpPr txBox="1"/>
              <p:nvPr/>
            </p:nvSpPr>
            <p:spPr>
              <a:xfrm>
                <a:off x="963734" y="2068801"/>
                <a:ext cx="2866768" cy="7550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IN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p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p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070920-1E61-4E2A-96C4-042C26F84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734" y="2068801"/>
                <a:ext cx="2866768" cy="7550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8AC263A-67E1-4F6C-A5CB-FF19EE7E238D}"/>
              </a:ext>
            </a:extLst>
          </p:cNvPr>
          <p:cNvSpPr txBox="1"/>
          <p:nvPr/>
        </p:nvSpPr>
        <p:spPr>
          <a:xfrm>
            <a:off x="4320745" y="1616626"/>
            <a:ext cx="3377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Mobility problem:</a:t>
            </a:r>
            <a:endParaRPr lang="en-IN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40F011-87EC-420F-9C51-B3AFC0AD20C4}"/>
              </a:ext>
            </a:extLst>
          </p:cNvPr>
          <p:cNvSpPr txBox="1"/>
          <p:nvPr/>
        </p:nvSpPr>
        <p:spPr>
          <a:xfrm>
            <a:off x="864878" y="3082699"/>
            <a:ext cx="6722076" cy="1993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600" u="sng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Properties of the grand resistance matrix, R and grand mobility matrix, M</a:t>
            </a:r>
            <a:r>
              <a:rPr lang="en-IN" sz="16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:</a:t>
            </a:r>
            <a:endParaRPr lang="en-IN" sz="1600" dirty="0">
              <a:effectLst/>
              <a:ea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Aft>
                <a:spcPts val="0"/>
              </a:spcAft>
            </a:pPr>
            <a:r>
              <a:rPr lang="en-IN" sz="1600" dirty="0">
                <a:solidFill>
                  <a:srgbClr val="000000"/>
                </a:solidFill>
                <a:ea typeface="Times New Roman" panose="02020603050405020304" pitchFamily="18" charset="0"/>
              </a:rPr>
              <a:t>	</a:t>
            </a:r>
            <a:r>
              <a:rPr lang="en-IN" sz="16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1.Configuration dependent</a:t>
            </a:r>
          </a:p>
          <a:p>
            <a:pPr>
              <a:lnSpc>
                <a:spcPct val="200000"/>
              </a:lnSpc>
              <a:spcAft>
                <a:spcPts val="0"/>
              </a:spcAft>
            </a:pPr>
            <a:r>
              <a:rPr lang="en-IN" sz="1600" dirty="0">
                <a:solidFill>
                  <a:srgbClr val="000000"/>
                </a:solidFill>
                <a:ea typeface="Times New Roman" panose="02020603050405020304" pitchFamily="18" charset="0"/>
              </a:rPr>
              <a:t>	</a:t>
            </a:r>
            <a:r>
              <a:rPr lang="en-IN" sz="16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2.Symmetric </a:t>
            </a:r>
          </a:p>
          <a:p>
            <a:pPr>
              <a:lnSpc>
                <a:spcPct val="200000"/>
              </a:lnSpc>
              <a:spcAft>
                <a:spcPts val="0"/>
              </a:spcAft>
            </a:pPr>
            <a:r>
              <a:rPr lang="en-IN" sz="1600" dirty="0">
                <a:solidFill>
                  <a:srgbClr val="000000"/>
                </a:solidFill>
                <a:ea typeface="Times New Roman" panose="02020603050405020304" pitchFamily="18" charset="0"/>
              </a:rPr>
              <a:t>	</a:t>
            </a:r>
            <a:r>
              <a:rPr lang="en-IN" sz="16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3.Positive definite.</a:t>
            </a:r>
            <a:endParaRPr lang="en-IN" sz="16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3CE326-4390-42C9-8402-3C4A43F73AB6}"/>
              </a:ext>
            </a:extLst>
          </p:cNvPr>
          <p:cNvSpPr txBox="1"/>
          <p:nvPr/>
        </p:nvSpPr>
        <p:spPr>
          <a:xfrm>
            <a:off x="897829" y="1188346"/>
            <a:ext cx="8789773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Linearity of the Stokes equation gives us a linear relationship of the force and velocity moments.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5E716C-93B3-44A3-9B65-D34E2FC2C477}"/>
              </a:ext>
            </a:extLst>
          </p:cNvPr>
          <p:cNvSpPr txBox="1"/>
          <p:nvPr/>
        </p:nvSpPr>
        <p:spPr>
          <a:xfrm>
            <a:off x="874145" y="5013579"/>
            <a:ext cx="885567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S and E are both symmetric and traceless.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Hydrodynamic force and torque are of d</a:t>
            </a:r>
            <a:r>
              <a:rPr lang="en-US" sz="1600" dirty="0">
                <a:sym typeface="Wingdings" panose="05000000000000000000" pitchFamily="2" charset="2"/>
              </a:rPr>
              <a:t>imension 6N and </a:t>
            </a:r>
            <a:r>
              <a:rPr lang="en-US" sz="1600" dirty="0" err="1">
                <a:sym typeface="Wingdings" panose="05000000000000000000" pitchFamily="2" charset="2"/>
              </a:rPr>
              <a:t>stresslet</a:t>
            </a:r>
            <a:r>
              <a:rPr lang="en-US" sz="1600" dirty="0">
                <a:sym typeface="Wingdings" panose="05000000000000000000" pitchFamily="2" charset="2"/>
              </a:rPr>
              <a:t> has 5N independent vectors.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0" dirty="0"/>
          </a:p>
          <a:p>
            <a:endParaRPr lang="en-IN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25F26ED-9E67-44EB-899B-DA165631F2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035" r="3404" b="4602"/>
          <a:stretch/>
        </p:blipFill>
        <p:spPr>
          <a:xfrm>
            <a:off x="7471717" y="2213999"/>
            <a:ext cx="3674170" cy="139876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36FD6E3-A8DB-4288-B0AD-5A4013793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11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128142-249B-43C9-AC99-15EB9C4B9E5D}"/>
              </a:ext>
            </a:extLst>
          </p:cNvPr>
          <p:cNvSpPr txBox="1"/>
          <p:nvPr/>
        </p:nvSpPr>
        <p:spPr>
          <a:xfrm>
            <a:off x="576649" y="387179"/>
            <a:ext cx="11302313" cy="62689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54E61F-DC3F-4EA7-8DA1-D84DB5EC9F3C}"/>
              </a:ext>
            </a:extLst>
          </p:cNvPr>
          <p:cNvSpPr txBox="1"/>
          <p:nvPr/>
        </p:nvSpPr>
        <p:spPr>
          <a:xfrm>
            <a:off x="3608172" y="681656"/>
            <a:ext cx="5379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Resistance and mobility formulation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050714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B2EABC-1295-49BA-8BB2-B988C68D9DC1}"/>
                  </a:ext>
                </a:extLst>
              </p:cNvPr>
              <p:cNvSpPr txBox="1"/>
              <p:nvPr/>
            </p:nvSpPr>
            <p:spPr>
              <a:xfrm>
                <a:off x="2960475" y="2903629"/>
                <a:ext cx="6096000" cy="6678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subSup"/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IN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  <m:r>
                        <a:rPr lang="en-IN" sz="1600" i="1"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chr m:val="∮"/>
                          <m:limLoc m:val="subSup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IN" sz="16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  <m:r>
                        <a:rPr lang="en-IN" sz="16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𝑑𝑆</m:t>
                      </m:r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4B2EABC-1295-49BA-8BB2-B988C68D9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475" y="2903629"/>
                <a:ext cx="6096000" cy="6678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8139725-FDBB-4A78-A116-27BEE576653E}"/>
              </a:ext>
            </a:extLst>
          </p:cNvPr>
          <p:cNvSpPr txBox="1"/>
          <p:nvPr/>
        </p:nvSpPr>
        <p:spPr>
          <a:xfrm>
            <a:off x="1210962" y="3144627"/>
            <a:ext cx="597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Lorentz reciprocal theorem</a:t>
            </a:r>
            <a:endParaRPr lang="en-I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5B28A0-B4B8-45E0-A7B8-6CB33F8ECDA9}"/>
                  </a:ext>
                </a:extLst>
              </p:cNvPr>
              <p:cNvSpPr txBox="1"/>
              <p:nvPr/>
            </p:nvSpPr>
            <p:spPr>
              <a:xfrm>
                <a:off x="5662485" y="3792456"/>
                <a:ext cx="3393990" cy="910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𝑘𝑖𝑗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</m:sSubSup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∮"/>
                          <m:limLoc m:val="undOvr"/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IN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×</m:t>
                                  </m:r>
                                  <m:d>
                                    <m:dPr>
                                      <m:ctrlP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IN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en-IN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IN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𝑑𝑆</m:t>
                      </m:r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5B28A0-B4B8-45E0-A7B8-6CB33F8EC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485" y="3792456"/>
                <a:ext cx="3393990" cy="9107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CFC59F-A85E-40BA-9C08-EE90A3D9B004}"/>
                  </a:ext>
                </a:extLst>
              </p:cNvPr>
              <p:cNvSpPr txBox="1"/>
              <p:nvPr/>
            </p:nvSpPr>
            <p:spPr>
              <a:xfrm>
                <a:off x="1986150" y="4609648"/>
                <a:ext cx="3154261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𝛺</m:t>
                          </m:r>
                        </m:e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CFC59F-A85E-40BA-9C08-EE90A3D9B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150" y="4609648"/>
                <a:ext cx="3154261" cy="615553"/>
              </a:xfrm>
              <a:prstGeom prst="rect">
                <a:avLst/>
              </a:prstGeom>
              <a:blipFill>
                <a:blip r:embed="rId4"/>
                <a:stretch>
                  <a:fillRect b="-49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0B4C883-53FE-45CF-842D-16C38F59E7F3}"/>
              </a:ext>
            </a:extLst>
          </p:cNvPr>
          <p:cNvSpPr txBox="1"/>
          <p:nvPr/>
        </p:nvSpPr>
        <p:spPr>
          <a:xfrm>
            <a:off x="1210962" y="3616394"/>
            <a:ext cx="6030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Velocity field on two spheres</a:t>
            </a:r>
            <a:endParaRPr lang="en-I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4ECDBF-6EB6-4084-8779-45716EDD44DE}"/>
                  </a:ext>
                </a:extLst>
              </p:cNvPr>
              <p:cNvSpPr txBox="1"/>
              <p:nvPr/>
            </p:nvSpPr>
            <p:spPr>
              <a:xfrm>
                <a:off x="5239265" y="4596366"/>
                <a:ext cx="6096000" cy="910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IN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  <m:r>
                        <a:rPr lang="en-IN" sz="1600" i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IN" sz="16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𝛺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r>
                        <a:rPr lang="en-IN" sz="1600" i="0">
                          <a:latin typeface="Cambria Math" panose="02040503050406030204" pitchFamily="18" charset="0"/>
                        </a:rPr>
                        <m:t>) = </m:t>
                      </m:r>
                      <m:f>
                        <m:f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∮"/>
                          <m:limLoc m:val="undOvr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IN" sz="1600" i="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IN" sz="1600" i="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r>
                                        <a:rPr lang="en-IN" sz="1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IN" sz="16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𝑑𝑆</m:t>
                      </m:r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4ECDBF-6EB6-4084-8779-45716EDD4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265" y="4596366"/>
                <a:ext cx="6096000" cy="9107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25370C-3C9E-44B2-B545-B64D068447EB}"/>
                  </a:ext>
                </a:extLst>
              </p:cNvPr>
              <p:cNvSpPr txBox="1"/>
              <p:nvPr/>
            </p:nvSpPr>
            <p:spPr>
              <a:xfrm>
                <a:off x="2092411" y="1172444"/>
                <a:ext cx="6096000" cy="8850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sz="16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acc>
                                  <m:accPr>
                                    <m:chr m:val="̃"/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̃"/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e>
                                <m:acc>
                                  <m:accPr>
                                    <m:chr m:val="̃"/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IN" sz="160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IN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p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p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25370C-3C9E-44B2-B545-B64D06844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411" y="1172444"/>
                <a:ext cx="6096000" cy="8850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CD0BAC7-8E90-4589-BC33-DFB2CF4428BB}"/>
              </a:ext>
            </a:extLst>
          </p:cNvPr>
          <p:cNvSpPr txBox="1"/>
          <p:nvPr/>
        </p:nvSpPr>
        <p:spPr>
          <a:xfrm>
            <a:off x="1276092" y="1463685"/>
            <a:ext cx="4028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Resistance formulation</a:t>
            </a:r>
            <a:endParaRPr lang="en-I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3BFDE6-8D8D-45F0-AA97-4C4BE7D20505}"/>
                  </a:ext>
                </a:extLst>
              </p:cNvPr>
              <p:cNvSpPr txBox="1"/>
              <p:nvPr/>
            </p:nvSpPr>
            <p:spPr>
              <a:xfrm>
                <a:off x="3886200" y="1968994"/>
                <a:ext cx="6096000" cy="888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sz="160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  <m:r>
                      <a:rPr lang="en-US" sz="1600" b="1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IN" sz="1600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sz="160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r>
                  <a:rPr lang="en-IN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,</a:t>
                </a:r>
                <a:r>
                  <a:rPr lang="en-IN" sz="1600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sz="160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  <m:r>
                      <a:rPr lang="en-IN" sz="160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𝑘𝑖𝑗</m:t>
                        </m:r>
                      </m:sub>
                    </m:sSub>
                    <m:r>
                      <a:rPr lang="en-US" sz="1600" b="1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IN" sz="1600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  <m:r>
                      <a:rPr lang="en-IN" sz="160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𝑘𝑖𝑗</m:t>
                        </m:r>
                      </m:sub>
                    </m:sSub>
                  </m:oMath>
                </a14:m>
                <a:r>
                  <a:rPr lang="en-IN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𝑖𝑗𝑘𝑙</m:t>
                        </m:r>
                      </m:sub>
                    </m:sSub>
                    <m:r>
                      <a:rPr lang="en-IN" sz="160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𝑘𝑙𝑖𝑗</m:t>
                        </m:r>
                      </m:sub>
                    </m:sSub>
                  </m:oMath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3BFDE6-8D8D-45F0-AA97-4C4BE7D20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1968994"/>
                <a:ext cx="6096000" cy="888705"/>
              </a:xfrm>
              <a:prstGeom prst="rect">
                <a:avLst/>
              </a:prstGeom>
              <a:blipFill>
                <a:blip r:embed="rId7"/>
                <a:stretch>
                  <a:fillRect b="-54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A0C304D-9B29-45B9-A6AC-7D68F1A850F6}"/>
                  </a:ext>
                </a:extLst>
              </p:cNvPr>
              <p:cNvSpPr txBox="1"/>
              <p:nvPr/>
            </p:nvSpPr>
            <p:spPr>
              <a:xfrm>
                <a:off x="2157542" y="4108955"/>
                <a:ext cx="226540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1600" i="0">
                          <a:latin typeface="Cambria Math" panose="02040503050406030204" pitchFamily="18" charset="0"/>
                        </a:rPr>
                        <m:t>= −</m:t>
                      </m:r>
                      <m:sSup>
                        <m:s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p>
                      <m:r>
                        <a:rPr lang="en-IN" sz="16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𝑜𝑛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A0C304D-9B29-45B9-A6AC-7D68F1A85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542" y="4108955"/>
                <a:ext cx="2265405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F47E439-7DC5-4FB9-8F8C-9D0835F372A4}"/>
                  </a:ext>
                </a:extLst>
              </p:cNvPr>
              <p:cNvSpPr txBox="1"/>
              <p:nvPr/>
            </p:nvSpPr>
            <p:spPr>
              <a:xfrm>
                <a:off x="3048000" y="5477220"/>
                <a:ext cx="6096000" cy="3784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</m:sSub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𝛺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</m:sSub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𝛺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</m:sSub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𝑘𝑖𝑗</m:t>
                          </m:r>
                        </m:sub>
                      </m:sSub>
                      <m:r>
                        <a:rPr lang="en-IN" sz="1600" i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F47E439-7DC5-4FB9-8F8C-9D0835F37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477220"/>
                <a:ext cx="6096000" cy="378437"/>
              </a:xfrm>
              <a:prstGeom prst="rect">
                <a:avLst/>
              </a:prstGeom>
              <a:blipFill>
                <a:blip r:embed="rId9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37D8B3-8C27-41B0-A738-BF99465E93ED}"/>
                  </a:ext>
                </a:extLst>
              </p:cNvPr>
              <p:cNvSpPr txBox="1"/>
              <p:nvPr/>
            </p:nvSpPr>
            <p:spPr>
              <a:xfrm>
                <a:off x="5479192" y="5910591"/>
                <a:ext cx="1326292" cy="3701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  <m:r>
                      <a:rPr lang="en-IN" sz="160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600">
                                <a:effectLst/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IN" sz="1600">
                            <a:effectLst/>
                            <a:latin typeface="Cambria Math" panose="02040503050406030204" pitchFamily="18" charset="0"/>
                          </a:rPr>
                          <m:t>𝑘𝑖𝑗</m:t>
                        </m:r>
                      </m:sub>
                    </m:sSub>
                  </m:oMath>
                </a14:m>
                <a:r>
                  <a:rPr lang="en-IN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37D8B3-8C27-41B0-A738-BF99465E9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192" y="5910591"/>
                <a:ext cx="1326292" cy="370166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03E05F9-04E4-4DDA-B8F1-A100DA4381C3}"/>
              </a:ext>
            </a:extLst>
          </p:cNvPr>
          <p:cNvCxnSpPr>
            <a:cxnSpLocks/>
          </p:cNvCxnSpPr>
          <p:nvPr/>
        </p:nvCxnSpPr>
        <p:spPr>
          <a:xfrm>
            <a:off x="5029715" y="4326385"/>
            <a:ext cx="4190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3CFDD33-21BE-4656-BC57-FD7E8D9489F9}"/>
              </a:ext>
            </a:extLst>
          </p:cNvPr>
          <p:cNvCxnSpPr>
            <a:cxnSpLocks/>
          </p:cNvCxnSpPr>
          <p:nvPr/>
        </p:nvCxnSpPr>
        <p:spPr>
          <a:xfrm flipV="1">
            <a:off x="5007576" y="5069260"/>
            <a:ext cx="471616" cy="69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A3EE31A9-EB5F-425D-A523-C49D305D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12</a:t>
            </a:fld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C2C649-EC3A-4582-ADD5-6AD74933D750}"/>
              </a:ext>
            </a:extLst>
          </p:cNvPr>
          <p:cNvSpPr txBox="1"/>
          <p:nvPr/>
        </p:nvSpPr>
        <p:spPr>
          <a:xfrm>
            <a:off x="3682314" y="52912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Resistance matrix is symmetric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23696-50D4-40AD-AF24-F63254AA65AB}"/>
              </a:ext>
            </a:extLst>
          </p:cNvPr>
          <p:cNvSpPr txBox="1"/>
          <p:nvPr/>
        </p:nvSpPr>
        <p:spPr>
          <a:xfrm>
            <a:off x="733168" y="436605"/>
            <a:ext cx="10956324" cy="6211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2284CD-D254-4D70-A69C-E86811ECA2F3}"/>
              </a:ext>
            </a:extLst>
          </p:cNvPr>
          <p:cNvSpPr txBox="1"/>
          <p:nvPr/>
        </p:nvSpPr>
        <p:spPr>
          <a:xfrm>
            <a:off x="10205850" y="1350872"/>
            <a:ext cx="14867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(1)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(2)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(3)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(4)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IN" sz="1600" dirty="0"/>
              <a:t>                  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(6)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82231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623A13-BB4F-45AD-92F3-FA75C9D8D38C}"/>
                  </a:ext>
                </a:extLst>
              </p:cNvPr>
              <p:cNvSpPr txBox="1"/>
              <p:nvPr/>
            </p:nvSpPr>
            <p:spPr>
              <a:xfrm>
                <a:off x="951585" y="562478"/>
                <a:ext cx="10608444" cy="55503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600" dirty="0"/>
                  <a:t> if all moments from multipole expansion included.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Mobility matrix is of O(11N x 11N) calculation.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Truncated expansion with </a:t>
                </a:r>
                <a:r>
                  <a:rPr lang="en-US" sz="1600" dirty="0" err="1"/>
                  <a:t>Faxen’s</a:t>
                </a:r>
                <a:r>
                  <a:rPr lang="en-US" sz="1600" dirty="0"/>
                  <a:t> laws gives us only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1600" i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ym typeface="Wingdings" panose="05000000000000000000" pitchFamily="2" charset="2"/>
                  </a:rPr>
                  <a:t>Far-field approximation</a:t>
                </a:r>
                <a:endParaRPr lang="en-US" sz="1600" dirty="0"/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Interactions divided into far-field and near-field. </a:t>
                </a:r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lvl="6">
                  <a:lnSpc>
                    <a:spcPct val="200000"/>
                  </a:lnSpc>
                </a:pPr>
                <a:r>
                  <a:rPr lang="en-US" sz="1600" b="0" dirty="0"/>
                  <a:t> 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𝑓𝑓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+</a:t>
                </a:r>
                <a:r>
                  <a:rPr lang="en-US" sz="16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𝑛𝑓</m:t>
                        </m:r>
                      </m:sup>
                    </m:sSup>
                  </m:oMath>
                </a14:m>
                <a:endParaRPr lang="en-US" sz="1600" dirty="0"/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Far-field resistance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𝑓𝑓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p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1600" dirty="0"/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Near-field interactions are due to the relative motion between the spheres.</a:t>
                </a:r>
              </a:p>
              <a:p>
                <a:pPr marL="742950" lvl="1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𝑛𝑓</m:t>
                        </m:r>
                      </m:sup>
                    </m:sSup>
                  </m:oMath>
                </a14:m>
                <a:r>
                  <a:rPr lang="en-US" sz="1600" b="0" dirty="0"/>
                  <a:t> calculates two body interactions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160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IN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0" dirty="0"/>
                  <a:t>within a cutoff radius, r*.</a:t>
                </a:r>
              </a:p>
              <a:p>
                <a:pPr marL="742950" lvl="1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b="0" dirty="0"/>
                  <a:t>To avoid double counting, remove far-field interactions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sz="16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  <m:sup>
                        <m:r>
                          <a:rPr lang="en-IN" sz="1600" i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lang="en-US" sz="1600" b="0" dirty="0"/>
                  <a:t> within r*.</a:t>
                </a:r>
              </a:p>
              <a:p>
                <a:pPr marL="742950" lvl="1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Grand resistance matrix</a:t>
                </a:r>
                <a:endParaRPr lang="en-IN" sz="1600" dirty="0"/>
              </a:p>
              <a:p>
                <a:pPr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16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en-IN" sz="16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IN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16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IN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IN" sz="16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sz="16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  <m:sup>
                          <m:r>
                            <a:rPr lang="en-IN" sz="16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p>
                    </m:oMath>
                  </m:oMathPara>
                </a14:m>
                <a:endParaRPr lang="en-US" sz="1600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623A13-BB4F-45AD-92F3-FA75C9D8D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585" y="562478"/>
                <a:ext cx="10608444" cy="5550366"/>
              </a:xfrm>
              <a:prstGeom prst="rect">
                <a:avLst/>
              </a:prstGeom>
              <a:blipFill>
                <a:blip r:embed="rId2"/>
                <a:stretch>
                  <a:fillRect l="-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3C48C7-309C-464E-A8F6-E35A4975AAA8}"/>
              </a:ext>
            </a:extLst>
          </p:cNvPr>
          <p:cNvCxnSpPr/>
          <p:nvPr/>
        </p:nvCxnSpPr>
        <p:spPr>
          <a:xfrm>
            <a:off x="2977980" y="3429000"/>
            <a:ext cx="8402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A1FD63-0080-4FA1-A034-6F75D4AEF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13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102DB8-F757-49B4-B5FB-2764216E9657}"/>
              </a:ext>
            </a:extLst>
          </p:cNvPr>
          <p:cNvSpPr txBox="1"/>
          <p:nvPr/>
        </p:nvSpPr>
        <p:spPr>
          <a:xfrm>
            <a:off x="631971" y="436606"/>
            <a:ext cx="10936448" cy="621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3337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B10C2-A91B-4130-83FD-8170D83D3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14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873A06-BC80-4C3B-B1A6-F3E5114DE2C1}"/>
                  </a:ext>
                </a:extLst>
              </p:cNvPr>
              <p:cNvSpPr txBox="1"/>
              <p:nvPr/>
            </p:nvSpPr>
            <p:spPr>
              <a:xfrm>
                <a:off x="2760129" y="1599476"/>
                <a:ext cx="6096000" cy="1261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IN" sz="16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IN" sz="1600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11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21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12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22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IN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sz="16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600" i="0">
                                                    <a:latin typeface="Cambria Math" panose="02040503050406030204" pitchFamily="18" charset="0"/>
                                                  </a:rPr>
                                                  <m:t>11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IN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sz="16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600" i="0">
                                                    <a:latin typeface="Cambria Math" panose="02040503050406030204" pitchFamily="18" charset="0"/>
                                                  </a:rPr>
                                                  <m:t>12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plcHide m:val="on"/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IN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sz="16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600" i="0">
                                                    <a:latin typeface="Cambria Math" panose="02040503050406030204" pitchFamily="18" charset="0"/>
                                                  </a:rPr>
                                                  <m:t>21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IN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sz="16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600" i="0">
                                                    <a:latin typeface="Cambria Math" panose="02040503050406030204" pitchFamily="18" charset="0"/>
                                                  </a:rPr>
                                                  <m:t>22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"/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en-IN" sz="1600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IN" sz="1600" i="0">
                                            <a:latin typeface="Cambria Math" panose="02040503050406030204" pitchFamily="18" charset="0"/>
                                          </a:rPr>
                                          <m:t>∞</m:t>
                                        </m:r>
                                      </m:sup>
                                    </m:sSup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"/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b>
                                        <m:r>
                                          <a:rPr lang="en-IN" sz="16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p>
                                        <m:r>
                                          <a:rPr lang="en-IN" sz="1600" i="0">
                                            <a:latin typeface="Cambria Math" panose="02040503050406030204" pitchFamily="18" charset="0"/>
                                          </a:rPr>
                                          <m:t>∞</m:t>
                                        </m:r>
                                      </m:sup>
                                    </m:sSup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b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IN" sz="16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p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∞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b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IN" sz="1600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1600" i="1">
                                              <a:latin typeface="Cambria Math" panose="020405030504060302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  <m:sup>
                                          <m:r>
                                            <a:rPr lang="en-IN" sz="1600" i="0">
                                              <a:latin typeface="Cambria Math" panose="02040503050406030204" pitchFamily="18" charset="0"/>
                                            </a:rPr>
                                            <m:t>∞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873A06-BC80-4C3B-B1A6-F3E5114DE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129" y="1599476"/>
                <a:ext cx="6096000" cy="12612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AE2311-F8C9-41B8-B041-AB64F84DFBD9}"/>
                  </a:ext>
                </a:extLst>
              </p:cNvPr>
              <p:cNvSpPr txBox="1"/>
              <p:nvPr/>
            </p:nvSpPr>
            <p:spPr>
              <a:xfrm>
                <a:off x="311583" y="4512496"/>
                <a:ext cx="6096000" cy="1634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𝛼𝛽</m:t>
                          </m:r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𝛼𝛽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𝐴</m:t>
                          </m:r>
                        </m:sup>
                      </m:sSubSup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𝛼𝛽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𝛼𝛽</m:t>
                          </m:r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𝛼𝛽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𝐵</m:t>
                          </m:r>
                        </m:sup>
                      </m:sSubSup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𝑖𝑗𝑘</m:t>
                          </m:r>
                        </m:sub>
                      </m:sSub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𝛼𝛽</m:t>
                          </m:r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𝛼𝛽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𝐶</m:t>
                          </m:r>
                        </m:sup>
                      </m:sSubSup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𝛼𝛽</m:t>
                          </m:r>
                        </m:sub>
                        <m:sup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𝐶</m:t>
                          </m:r>
                        </m:sup>
                      </m:sSubSup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AE2311-F8C9-41B8-B041-AB64F84DF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83" y="4512496"/>
                <a:ext cx="6096000" cy="16342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A19A2E-AFC1-4BAD-9DB7-3381FBA5E1B5}"/>
                  </a:ext>
                </a:extLst>
              </p:cNvPr>
              <p:cNvSpPr txBox="1"/>
              <p:nvPr/>
            </p:nvSpPr>
            <p:spPr>
              <a:xfrm>
                <a:off x="7209185" y="4649622"/>
                <a:ext cx="4954946" cy="14268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𝛼𝛽</m:t>
                        </m:r>
                      </m:sub>
                    </m:sSub>
                    <m:r>
                      <a:rPr lang="en-I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𝛼𝛽</m:t>
                            </m:r>
                          </m:sub>
                        </m:sSub>
                      </m:num>
                      <m:den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𝜋</m:t>
                        </m:r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𝛽</m:t>
                            </m:r>
                          </m:sub>
                        </m:sSub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en-I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N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𝐵</m:t>
                            </m:r>
                          </m:e>
                        </m:acc>
                      </m:e>
                      <m:sub>
                        <m: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𝛼𝛽</m:t>
                        </m:r>
                      </m:sub>
                    </m:sSub>
                    <m:r>
                      <a:rPr lang="en-IN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𝛼𝛽</m:t>
                            </m:r>
                          </m:sub>
                        </m:sSub>
                      </m:num>
                      <m:den>
                        <m: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IN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IN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𝛼</m:t>
                                </m:r>
                              </m:sub>
                            </m:sSub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IN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𝛽</m:t>
                                </m:r>
                              </m:sub>
                            </m:sSub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𝛼𝛽</m:t>
                        </m:r>
                      </m:sub>
                    </m:sSub>
                    <m:r>
                      <a:rPr lang="en-IN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𝛼𝛽</m:t>
                            </m:r>
                          </m:sub>
                        </m:sSub>
                      </m:num>
                      <m:den>
                        <m:r>
                          <a:rPr lang="en-IN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𝛼</m:t>
                                </m:r>
                              </m:sub>
                            </m:sSub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𝛽</m:t>
                                </m:r>
                              </m:sub>
                            </m:sSub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A19A2E-AFC1-4BAD-9DB7-3381FBA5E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85" y="4649622"/>
                <a:ext cx="4954946" cy="14268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670E56B-4DC4-4E91-B149-F1773EDB08F1}"/>
              </a:ext>
            </a:extLst>
          </p:cNvPr>
          <p:cNvSpPr txBox="1"/>
          <p:nvPr/>
        </p:nvSpPr>
        <p:spPr>
          <a:xfrm>
            <a:off x="2346329" y="337694"/>
            <a:ext cx="7751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Components of resistance matrix for two spheres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8B2A81-BFDC-404D-A7F9-93245D1BA019}"/>
              </a:ext>
            </a:extLst>
          </p:cNvPr>
          <p:cNvSpPr txBox="1"/>
          <p:nvPr/>
        </p:nvSpPr>
        <p:spPr>
          <a:xfrm>
            <a:off x="963827" y="1079625"/>
            <a:ext cx="6030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F-T version of the linear relationship</a:t>
            </a:r>
            <a:endParaRPr lang="en-I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3F2A53-6DEC-4645-B0D8-AB8C43F9ED14}"/>
                  </a:ext>
                </a:extLst>
              </p:cNvPr>
              <p:cNvSpPr txBox="1"/>
              <p:nvPr/>
            </p:nvSpPr>
            <p:spPr>
              <a:xfrm>
                <a:off x="963827" y="2966808"/>
                <a:ext cx="8946292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Each component tensor P given by three </a:t>
                </a:r>
                <a:r>
                  <a:rPr lang="en-US" sz="1600" dirty="0" err="1"/>
                  <a:t>quantites</a:t>
                </a:r>
                <a:r>
                  <a:rPr lang="en-US" sz="1600" dirty="0"/>
                  <a:t> </a:t>
                </a:r>
                <a:r>
                  <a:rPr lang="en-IN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IN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IN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IN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lang="en-IN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IN" sz="16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3F2A53-6DEC-4645-B0D8-AB8C43F9E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827" y="2966808"/>
                <a:ext cx="8946292" cy="861774"/>
              </a:xfrm>
              <a:prstGeom prst="rect">
                <a:avLst/>
              </a:prstGeom>
              <a:blipFill>
                <a:blip r:embed="rId5"/>
                <a:stretch>
                  <a:fillRect l="-3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BF9C210-AAA6-460D-8B28-AA624392EC03}"/>
                  </a:ext>
                </a:extLst>
              </p:cNvPr>
              <p:cNvSpPr txBox="1"/>
              <p:nvPr/>
            </p:nvSpPr>
            <p:spPr>
              <a:xfrm>
                <a:off x="2388973" y="3541282"/>
                <a:ext cx="6096000" cy="3799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𝛼𝛽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6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600" i="0">
                                      <a:latin typeface="Cambria Math" panose="02040503050406030204" pitchFamily="18" charset="0"/>
                                    </a:rPr>
                                    <m:t>3−</m:t>
                                  </m:r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IN" sz="1600" i="0">
                                      <a:latin typeface="Cambria Math" panose="02040503050406030204" pitchFamily="18" charset="0"/>
                                    </a:rPr>
                                    <m:t>)(3−</m:t>
                                  </m:r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</m:sub>
                          </m:sSub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BF9C210-AAA6-460D-8B28-AA624392E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973" y="3541282"/>
                <a:ext cx="6096000" cy="379912"/>
              </a:xfrm>
              <a:prstGeom prst="rect">
                <a:avLst/>
              </a:prstGeom>
              <a:blipFill>
                <a:blip r:embed="rId6"/>
                <a:stretch>
                  <a:fillRect t="-140323" b="-2129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7223FF2-FC0B-4DFF-8A50-2471C925A693}"/>
              </a:ext>
            </a:extLst>
          </p:cNvPr>
          <p:cNvSpPr txBox="1"/>
          <p:nvPr/>
        </p:nvSpPr>
        <p:spPr>
          <a:xfrm>
            <a:off x="963827" y="3934671"/>
            <a:ext cx="7364627" cy="515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/>
              <a:t>Each tensor P in the matrix contains scalar functions and for axisymmetric particles.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DF3359-26DD-450B-B766-499E3FEF7611}"/>
              </a:ext>
            </a:extLst>
          </p:cNvPr>
          <p:cNvSpPr txBox="1"/>
          <p:nvPr/>
        </p:nvSpPr>
        <p:spPr>
          <a:xfrm>
            <a:off x="4504132" y="6212101"/>
            <a:ext cx="4198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Unit vector along line of </a:t>
            </a:r>
            <a:r>
              <a:rPr lang="en-US" sz="1600" dirty="0" err="1"/>
              <a:t>centres</a:t>
            </a:r>
            <a:r>
              <a:rPr lang="en-US" sz="1600" dirty="0"/>
              <a:t> </a:t>
            </a:r>
            <a:r>
              <a:rPr lang="en-US" sz="1600" b="1" dirty="0"/>
              <a:t>d</a:t>
            </a:r>
            <a:r>
              <a:rPr lang="en-US" sz="1600" dirty="0"/>
              <a:t>=</a:t>
            </a:r>
            <a:r>
              <a:rPr lang="en-US" sz="1600" b="1" dirty="0"/>
              <a:t>r</a:t>
            </a:r>
            <a:r>
              <a:rPr lang="en-US" sz="1600" dirty="0"/>
              <a:t>/r </a:t>
            </a:r>
            <a:endParaRPr lang="en-IN" sz="16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416DA4-038A-48F5-A5C6-A0537A66DDBF}"/>
              </a:ext>
            </a:extLst>
          </p:cNvPr>
          <p:cNvCxnSpPr>
            <a:cxnSpLocks/>
          </p:cNvCxnSpPr>
          <p:nvPr/>
        </p:nvCxnSpPr>
        <p:spPr>
          <a:xfrm>
            <a:off x="4920634" y="5480645"/>
            <a:ext cx="21391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087EDC7-5040-4AEE-AEEB-F3F0846DFB33}"/>
              </a:ext>
            </a:extLst>
          </p:cNvPr>
          <p:cNvSpPr txBox="1"/>
          <p:nvPr/>
        </p:nvSpPr>
        <p:spPr>
          <a:xfrm>
            <a:off x="5069992" y="5175754"/>
            <a:ext cx="2675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Non-</a:t>
            </a:r>
            <a:r>
              <a:rPr lang="en-US" sz="1400" dirty="0" err="1"/>
              <a:t>dimensionalization</a:t>
            </a:r>
            <a:endParaRPr lang="en-IN" sz="1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B8F3D1E-8AC3-476A-82F8-4B6A4644F64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91" t="-264" r="21710" b="6409"/>
          <a:stretch/>
        </p:blipFill>
        <p:spPr>
          <a:xfrm>
            <a:off x="9005487" y="1126428"/>
            <a:ext cx="2063500" cy="356015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349B42A-8A64-433A-82ED-C09F5F2BB764}"/>
              </a:ext>
            </a:extLst>
          </p:cNvPr>
          <p:cNvSpPr txBox="1"/>
          <p:nvPr/>
        </p:nvSpPr>
        <p:spPr>
          <a:xfrm>
            <a:off x="469557" y="307345"/>
            <a:ext cx="11508259" cy="64141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7395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7848A9-EA96-427C-8049-59B853EE13A3}"/>
                  </a:ext>
                </a:extLst>
              </p:cNvPr>
              <p:cNvSpPr txBox="1"/>
              <p:nvPr/>
            </p:nvSpPr>
            <p:spPr>
              <a:xfrm>
                <a:off x="2702710" y="802374"/>
                <a:ext cx="6240162" cy="5986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IN" sz="16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d>
                            <m:dPr>
                              <m:begChr m:val="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6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IN" sz="16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600" i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size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ratio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7848A9-EA96-427C-8049-59B853EE1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710" y="802374"/>
                <a:ext cx="6240162" cy="5986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39F9E29-3FAA-4FAB-80E7-3AE835C4BCB5}"/>
              </a:ext>
            </a:extLst>
          </p:cNvPr>
          <p:cNvSpPr txBox="1"/>
          <p:nvPr/>
        </p:nvSpPr>
        <p:spPr>
          <a:xfrm>
            <a:off x="1015068" y="923530"/>
            <a:ext cx="6165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Non-dimensional variables</a:t>
            </a:r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929549-E678-489C-B18F-E5868D4874BA}"/>
              </a:ext>
            </a:extLst>
          </p:cNvPr>
          <p:cNvSpPr txBox="1"/>
          <p:nvPr/>
        </p:nvSpPr>
        <p:spPr>
          <a:xfrm>
            <a:off x="1015068" y="1582321"/>
            <a:ext cx="4924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Properties of scalar functions</a:t>
            </a:r>
            <a:endParaRPr lang="en-I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3EDDF9-435F-4F00-9638-4605879C936A}"/>
                  </a:ext>
                </a:extLst>
              </p:cNvPr>
              <p:cNvSpPr txBox="1"/>
              <p:nvPr/>
            </p:nvSpPr>
            <p:spPr>
              <a:xfrm>
                <a:off x="3048699" y="1511821"/>
                <a:ext cx="6094602" cy="1433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𝛼𝛽</m:t>
                          </m:r>
                        </m:sub>
                        <m: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𝛽𝛼</m:t>
                          </m:r>
                        </m:sub>
                        <m: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(3−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)(3−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𝛼𝛽</m:t>
                          </m:r>
                        </m:sub>
                        <m: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𝛽𝛼</m:t>
                          </m:r>
                        </m:sub>
                        <m: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d>
                            <m:d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3−</m:t>
                              </m:r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d>
                            <m:d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3−</m:t>
                              </m:r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sub>
                        <m: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𝛼𝛽</m:t>
                          </m:r>
                        </m:sub>
                        <m: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IN" sz="1600">
                          <a:effectLst/>
                          <a:latin typeface="Cambria Math" panose="02040503050406030204" pitchFamily="18" charset="0"/>
                        </a:rPr>
                        <m:t>=−</m:t>
                      </m:r>
                      <m:sSubSup>
                        <m:sSubSup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d>
                            <m:d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3−</m:t>
                              </m:r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d>
                            <m:d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3−</m:t>
                              </m:r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sub>
                        <m:sup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bSup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IN" sz="160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IN" sz="1600"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3EDDF9-435F-4F00-9638-4605879C9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699" y="1511821"/>
                <a:ext cx="6094602" cy="14339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A50B87-8BEB-42B7-8458-2A79056ABFAF}"/>
                  </a:ext>
                </a:extLst>
              </p:cNvPr>
              <p:cNvSpPr txBox="1"/>
              <p:nvPr/>
            </p:nvSpPr>
            <p:spPr>
              <a:xfrm>
                <a:off x="8439325" y="936523"/>
                <a:ext cx="273760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2⩽s ⩽</a:t>
                </a:r>
                <a14:m>
                  <m:oMath xmlns:m="http://schemas.openxmlformats.org/officeDocument/2006/math">
                    <m:r>
                      <a:rPr lang="en-IN" sz="1600" dirty="0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IN" sz="1600" dirty="0"/>
                  <a:t>,</a:t>
                </a:r>
                <a:r>
                  <a: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0⩽</a:t>
                </a:r>
                <a:r>
                  <a:rPr lang="en-IN" sz="1600" dirty="0"/>
                  <a:t> </a:t>
                </a:r>
                <a14:m>
                  <m:oMath xmlns:m="http://schemas.openxmlformats.org/officeDocument/2006/math">
                    <m:r>
                      <a:rPr lang="en-IN" sz="160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I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⩽</a:t>
                </a:r>
                <a14:m>
                  <m:oMath xmlns:m="http://schemas.openxmlformats.org/officeDocument/2006/math">
                    <m:r>
                      <a:rPr lang="en-IN" sz="1600" dirty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IN" sz="1600" dirty="0"/>
                  <a:t> 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A50B87-8BEB-42B7-8458-2A79056AB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325" y="936523"/>
                <a:ext cx="2737607" cy="338554"/>
              </a:xfrm>
              <a:prstGeom prst="rect">
                <a:avLst/>
              </a:prstGeom>
              <a:blipFill>
                <a:blip r:embed="rId4"/>
                <a:stretch>
                  <a:fillRect l="-1114" t="-9091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F3814FD-8AD3-41D0-B5B6-60C578241A63}"/>
              </a:ext>
            </a:extLst>
          </p:cNvPr>
          <p:cNvSpPr txBox="1"/>
          <p:nvPr/>
        </p:nvSpPr>
        <p:spPr>
          <a:xfrm>
            <a:off x="1015068" y="3999108"/>
            <a:ext cx="8003098" cy="1008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Similarly, we have component tensors of mobility matrix and respective scalar function.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Relation between scalar functions of resistance and mobility equations.</a:t>
            </a:r>
            <a:endParaRPr lang="en-I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F2FAB56-7B03-4EA8-AA02-514C69C70544}"/>
                  </a:ext>
                </a:extLst>
              </p:cNvPr>
              <p:cNvSpPr txBox="1"/>
              <p:nvPr/>
            </p:nvSpPr>
            <p:spPr>
              <a:xfrm>
                <a:off x="1258103" y="5199425"/>
                <a:ext cx="8724097" cy="10802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f>
                                      <m:fPr>
                                        <m:ctrlP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6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IN" sz="1600" i="0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den>
                                    </m:f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f>
                                      <m:fPr>
                                        <m:ctrlP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6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IN" sz="1600" i="0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den>
                                    </m:f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  <m:e>
                                <m:f>
                                  <m:f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den>
                                </m:f>
                                <m:sSubSup>
                                  <m:sSub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  <m:e>
                                <m:f>
                                  <m:f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600" i="0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Sup>
                                  <m:sSub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f>
                                      <m:fPr>
                                        <m:ctrlPr>
                                          <a:rPr lang="en-I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d>
                                          <m:dPr>
                                            <m:ctrlPr>
                                              <a:rPr lang="en-IN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sz="1600" i="0">
                                                <a:latin typeface="Cambria Math" panose="02040503050406030204" pitchFamily="18" charset="0"/>
                                              </a:rPr>
                                              <m:t>1+</m:t>
                                            </m:r>
                                            <m:r>
                                              <a:rPr lang="en-IN" sz="1600" i="1">
                                                <a:latin typeface="Cambria Math" panose="020405030504060302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</m:d>
                                      </m:num>
                                      <m:den>
                                        <m:r>
                                          <a:rPr lang="en-IN" sz="16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IN" sz="16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sz="16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F2FAB56-7B03-4EA8-AA02-514C69C70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103" y="5199425"/>
                <a:ext cx="8724097" cy="10802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4999024-5B8C-4CAB-B37A-AE0C695976D4}"/>
              </a:ext>
            </a:extLst>
          </p:cNvPr>
          <p:cNvSpPr txBox="1"/>
          <p:nvPr/>
        </p:nvSpPr>
        <p:spPr>
          <a:xfrm>
            <a:off x="1276865" y="5708822"/>
            <a:ext cx="7866436" cy="494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ABB0D6-9CD1-4E9F-8EDA-FF4EF8ECD9FD}"/>
              </a:ext>
            </a:extLst>
          </p:cNvPr>
          <p:cNvSpPr txBox="1"/>
          <p:nvPr/>
        </p:nvSpPr>
        <p:spPr>
          <a:xfrm>
            <a:off x="1015068" y="2918800"/>
            <a:ext cx="8896865" cy="1006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latin typeface="LatinModernMath-Regular-Identity-H"/>
              </a:rPr>
              <a:t>𝑋</a:t>
            </a:r>
            <a:r>
              <a:rPr lang="en-US" sz="1600" b="0" i="0" u="none" strike="noStrike" baseline="0" dirty="0">
                <a:latin typeface="LMRoman12-Regular-Identity-H"/>
              </a:rPr>
              <a:t>-functions relate to terms that are parallel to the line of </a:t>
            </a:r>
            <a:r>
              <a:rPr lang="en-US" sz="1600" b="0" i="0" u="none" strike="noStrike" baseline="0" dirty="0" err="1">
                <a:latin typeface="LMRoman12-Regular-Identity-H"/>
              </a:rPr>
              <a:t>centres</a:t>
            </a:r>
            <a:r>
              <a:rPr lang="en-US" sz="1600" b="0" i="0" u="none" strike="noStrike" baseline="0" dirty="0">
                <a:latin typeface="LMRoman12-Regular-Identity-H"/>
              </a:rPr>
              <a:t>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latin typeface="LatinModernMath-Regular-Identity-H"/>
              </a:rPr>
              <a:t>𝑌</a:t>
            </a:r>
            <a:r>
              <a:rPr lang="en-US" sz="1600" b="0" i="0" u="none" strike="noStrike" baseline="0" dirty="0">
                <a:latin typeface="LMRoman12-Regular-Identity-H"/>
              </a:rPr>
              <a:t>-functions relate to perpendicular terms.</a:t>
            </a:r>
            <a:endParaRPr lang="en-IN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37D7AD-BE67-4B42-8789-A15C923B2AE6}"/>
              </a:ext>
            </a:extLst>
          </p:cNvPr>
          <p:cNvSpPr txBox="1"/>
          <p:nvPr/>
        </p:nvSpPr>
        <p:spPr>
          <a:xfrm>
            <a:off x="749643" y="395416"/>
            <a:ext cx="11162270" cy="63019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B73723-CC80-4758-9371-0F73AC604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070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E6F03-A9A1-430C-813F-5896263D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16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7C0132-F8D9-4757-8EEC-D28C9B09DEF6}"/>
                  </a:ext>
                </a:extLst>
              </p:cNvPr>
              <p:cNvSpPr txBox="1"/>
              <p:nvPr/>
            </p:nvSpPr>
            <p:spPr>
              <a:xfrm>
                <a:off x="972065" y="683741"/>
                <a:ext cx="9160476" cy="227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Scalar function obtained for three different cases: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	- Widely spaced particles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	- Closely spaced particles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	- Arbitrarily spaced particles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For widely spaced particles, scalar functions are obtained as functions of the size ratio </a:t>
                </a:r>
                <a14:m>
                  <m:oMath xmlns:m="http://schemas.openxmlformats.org/officeDocument/2006/math">
                    <m:r>
                      <a:rPr lang="en-IN" sz="1600" smtClean="0">
                        <a:effectLst/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IN" sz="1600" dirty="0"/>
                  <a:t> and s.</a:t>
                </a:r>
              </a:p>
              <a:p>
                <a:pPr>
                  <a:lnSpc>
                    <a:spcPct val="150000"/>
                  </a:lnSpc>
                </a:pPr>
                <a:endParaRPr lang="en-IN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A7C0132-F8D9-4757-8EEC-D28C9B09D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065" y="683741"/>
                <a:ext cx="9160476" cy="2270109"/>
              </a:xfrm>
              <a:prstGeom prst="rect">
                <a:avLst/>
              </a:prstGeom>
              <a:blipFill>
                <a:blip r:embed="rId2"/>
                <a:stretch>
                  <a:fillRect l="-2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DBB7582-04AE-4E9C-8DB1-CC2D776E1760}"/>
              </a:ext>
            </a:extLst>
          </p:cNvPr>
          <p:cNvSpPr txBox="1"/>
          <p:nvPr/>
        </p:nvSpPr>
        <p:spPr>
          <a:xfrm>
            <a:off x="972065" y="2557459"/>
            <a:ext cx="5659395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u="sng" dirty="0"/>
              <a:t>Closely spaced particles</a:t>
            </a:r>
            <a:r>
              <a:rPr lang="en-US" sz="1600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Any scalar function S for a resistance matrix tensor P</a:t>
            </a:r>
            <a:endParaRPr lang="en-I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5D119D-E1E7-4E36-853B-D8F4AE958848}"/>
                  </a:ext>
                </a:extLst>
              </p:cNvPr>
              <p:cNvSpPr txBox="1"/>
              <p:nvPr/>
            </p:nvSpPr>
            <p:spPr>
              <a:xfrm>
                <a:off x="551935" y="3382952"/>
                <a:ext cx="8305801" cy="585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p>
                          </m:s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p>
                          </m:s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)+</m:t>
                          </m:r>
                          <m:sSup>
                            <m:s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p>
                          </m:s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</m:d>
                    </m:oMath>
                  </m:oMathPara>
                </a14:m>
                <a:endParaRPr lang="en-IN" sz="1600" dirty="0"/>
              </a:p>
              <a:p>
                <a:endParaRPr lang="en-IN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5D119D-E1E7-4E36-853B-D8F4AE958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35" y="3382952"/>
                <a:ext cx="8305801" cy="585610"/>
              </a:xfrm>
              <a:prstGeom prst="rect">
                <a:avLst/>
              </a:prstGeom>
              <a:blipFill>
                <a:blip r:embed="rId3"/>
                <a:stretch>
                  <a:fillRect t="-62500" b="-572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C8D21FB2-4C8B-4974-B8B9-E9E81D05B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0975" y="3991216"/>
            <a:ext cx="2663597" cy="17628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B1BE660-955B-4475-8A34-9A014FFCFB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183" y="3946136"/>
            <a:ext cx="2974832" cy="1762864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BA7CD1-D861-4850-9CF8-69B028425C93}"/>
              </a:ext>
            </a:extLst>
          </p:cNvPr>
          <p:cNvCxnSpPr>
            <a:cxnSpLocks/>
          </p:cNvCxnSpPr>
          <p:nvPr/>
        </p:nvCxnSpPr>
        <p:spPr>
          <a:xfrm flipV="1">
            <a:off x="2644347" y="4734074"/>
            <a:ext cx="1060464" cy="2168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772ACD-9BF1-4E76-9C47-597F56345C2F}"/>
                  </a:ext>
                </a:extLst>
              </p:cNvPr>
              <p:cNvSpPr txBox="1"/>
              <p:nvPr/>
            </p:nvSpPr>
            <p:spPr>
              <a:xfrm>
                <a:off x="2952157" y="4417208"/>
                <a:ext cx="4448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a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endParaRPr lang="en-IN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4772ACD-9BF1-4E76-9C47-597F56345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157" y="4417208"/>
                <a:ext cx="444844" cy="338554"/>
              </a:xfrm>
              <a:prstGeom prst="rect">
                <a:avLst/>
              </a:prstGeom>
              <a:blipFill>
                <a:blip r:embed="rId6"/>
                <a:stretch>
                  <a:fillRect l="-6849" t="-5455" b="-2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38FDDED-940D-46D2-BC93-A3B27E5FFD02}"/>
                  </a:ext>
                </a:extLst>
              </p:cNvPr>
              <p:cNvSpPr txBox="1"/>
              <p:nvPr/>
            </p:nvSpPr>
            <p:spPr>
              <a:xfrm>
                <a:off x="7889737" y="4463374"/>
                <a:ext cx="23334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 smtClean="0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−2 </m:t>
                      </m:r>
                    </m:oMath>
                  </m:oMathPara>
                </a14:m>
                <a:endParaRPr lang="en-I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1600" i="0" smtClean="0">
                          <a:latin typeface="Cambria Math" panose="02040503050406030204" pitchFamily="18" charset="0"/>
                        </a:rPr>
                        <m:t>non</m:t>
                      </m:r>
                      <m:r>
                        <a:rPr lang="en-IN" sz="160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1600" i="0" smtClean="0">
                          <a:latin typeface="Cambria Math" panose="02040503050406030204" pitchFamily="18" charset="0"/>
                        </a:rPr>
                        <m:t>dimensional</m:t>
                      </m:r>
                      <m:r>
                        <a:rPr lang="en-IN" sz="160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1600" i="0" smtClean="0">
                          <a:latin typeface="Cambria Math" panose="02040503050406030204" pitchFamily="18" charset="0"/>
                        </a:rPr>
                        <m:t>gap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38FDDED-940D-46D2-BC93-A3B27E5FF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737" y="4463374"/>
                <a:ext cx="2333420" cy="584775"/>
              </a:xfrm>
              <a:prstGeom prst="rect">
                <a:avLst/>
              </a:prstGeom>
              <a:blipFill>
                <a:blip r:embed="rId7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D41E39DD-0A03-4E99-AC39-FF22A73ED1AD}"/>
              </a:ext>
            </a:extLst>
          </p:cNvPr>
          <p:cNvSpPr txBox="1"/>
          <p:nvPr/>
        </p:nvSpPr>
        <p:spPr>
          <a:xfrm>
            <a:off x="724930" y="345990"/>
            <a:ext cx="11022228" cy="63754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2526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816298-8E95-4FAD-985A-A143B96E67D9}"/>
                  </a:ext>
                </a:extLst>
              </p:cNvPr>
              <p:cNvSpPr txBox="1"/>
              <p:nvPr/>
            </p:nvSpPr>
            <p:spPr>
              <a:xfrm>
                <a:off x="875270" y="339876"/>
                <a:ext cx="10276703" cy="51939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lnSpc>
                    <a:spcPct val="200000"/>
                  </a:lnSpc>
                  <a:spcAft>
                    <a:spcPts val="0"/>
                  </a:spcAft>
                  <a:buSzPts val="1100"/>
                </a:pPr>
                <a:r>
                  <a:rPr lang="en-IN" sz="2400" b="1" dirty="0">
                    <a:effectLst/>
                    <a:ea typeface="Calibri" panose="020F0502020204030204" pitchFamily="34" charset="0"/>
                  </a:rPr>
                  <a:t>Swan’s(2011) code algorithm</a:t>
                </a:r>
              </a:p>
              <a:p>
                <a:pPr lvl="0">
                  <a:lnSpc>
                    <a:spcPct val="200000"/>
                  </a:lnSpc>
                  <a:spcAft>
                    <a:spcPts val="0"/>
                  </a:spcAft>
                  <a:buSzPts val="1100"/>
                </a:pPr>
                <a:r>
                  <a:rPr lang="en-IN" sz="1600" dirty="0">
                    <a:effectLst/>
                    <a:ea typeface="Calibri" panose="020F0502020204030204" pitchFamily="34" charset="0"/>
                  </a:rPr>
                  <a:t>Steps involved:</a:t>
                </a:r>
              </a:p>
              <a:p>
                <a:pPr marL="342900" lvl="0" indent="-342900">
                  <a:lnSpc>
                    <a:spcPct val="200000"/>
                  </a:lnSpc>
                  <a:spcAft>
                    <a:spcPts val="0"/>
                  </a:spcAft>
                  <a:buSzPts val="1100"/>
                  <a:buFont typeface="+mj-lt"/>
                  <a:buAutoNum type="arabicPeriod"/>
                </a:pPr>
                <a:r>
                  <a:rPr lang="en-IN" sz="1600" dirty="0">
                    <a:effectLst/>
                    <a:ea typeface="Calibri" panose="020F0502020204030204" pitchFamily="34" charset="0"/>
                  </a:rPr>
                  <a:t>Initialize all variables.</a:t>
                </a:r>
              </a:p>
              <a:p>
                <a:pPr marL="800100" lvl="1" indent="-342900">
                  <a:lnSpc>
                    <a:spcPct val="200000"/>
                  </a:lnSpc>
                  <a:buSzPts val="1100"/>
                  <a:buFont typeface="+mj-lt"/>
                  <a:buAutoNum type="arabicPeriod"/>
                </a:pPr>
                <a:r>
                  <a:rPr lang="en-IN" sz="1600" dirty="0">
                    <a:ea typeface="Calibri" panose="020F0502020204030204" pitchFamily="34" charset="0"/>
                  </a:rPr>
                  <a:t>No. of particles, hydrodynamic force and torque, time step and simulation run time.</a:t>
                </a:r>
              </a:p>
              <a:p>
                <a:pPr marL="800100" lvl="1" indent="-342900">
                  <a:lnSpc>
                    <a:spcPct val="200000"/>
                  </a:lnSpc>
                  <a:buSzPts val="1100"/>
                  <a:buFont typeface="+mj-lt"/>
                  <a:buAutoNum type="arabicPeriod"/>
                </a:pPr>
                <a:r>
                  <a:rPr lang="en-IN" sz="1600" dirty="0">
                    <a:effectLst/>
                    <a:ea typeface="Calibri" panose="020F0502020204030204" pitchFamily="34" charset="0"/>
                  </a:rPr>
                  <a:t>Initial </a:t>
                </a:r>
                <a:r>
                  <a:rPr lang="en-IN" sz="1600" dirty="0">
                    <a:ea typeface="Calibri" panose="020F0502020204030204" pitchFamily="34" charset="0"/>
                  </a:rPr>
                  <a:t>position of particles.</a:t>
                </a:r>
                <a:endParaRPr lang="en-IN" sz="1600" dirty="0">
                  <a:effectLst/>
                  <a:ea typeface="Calibri" panose="020F0502020204030204" pitchFamily="34" charset="0"/>
                </a:endParaRPr>
              </a:p>
              <a:p>
                <a:pPr marL="342900" lvl="0" indent="-342900">
                  <a:lnSpc>
                    <a:spcPct val="200000"/>
                  </a:lnSpc>
                  <a:spcAft>
                    <a:spcPts val="0"/>
                  </a:spcAft>
                  <a:buSzPts val="1100"/>
                  <a:buFont typeface="+mj-lt"/>
                  <a:buAutoNum type="arabicPeriod"/>
                </a:pPr>
                <a:r>
                  <a:rPr lang="en-IN" sz="1600" dirty="0">
                    <a:effectLst/>
                    <a:ea typeface="Calibri" panose="020F0502020204030204" pitchFamily="34" charset="0"/>
                  </a:rPr>
                  <a:t>Distance between particle pairs computed..</a:t>
                </a:r>
              </a:p>
              <a:p>
                <a:pPr marL="342900" lvl="0" indent="-342900">
                  <a:lnSpc>
                    <a:spcPct val="200000"/>
                  </a:lnSpc>
                  <a:spcAft>
                    <a:spcPts val="0"/>
                  </a:spcAft>
                  <a:buSzPts val="1100"/>
                  <a:buFont typeface="+mj-lt"/>
                  <a:buAutoNum type="arabicPeriod"/>
                </a:pPr>
                <a:r>
                  <a:rPr lang="en-IN" sz="1600" dirty="0">
                    <a:effectLst/>
                    <a:ea typeface="Calibri" panose="020F0502020204030204" pitchFamily="34" charset="0"/>
                  </a:rPr>
                  <a:t>Far-field mobility matrix is generated and inverted.</a:t>
                </a:r>
              </a:p>
              <a:p>
                <a:pPr marL="342900" lvl="0" indent="-342900">
                  <a:lnSpc>
                    <a:spcPct val="200000"/>
                  </a:lnSpc>
                  <a:spcAft>
                    <a:spcPts val="0"/>
                  </a:spcAft>
                  <a:buSzPts val="1100"/>
                  <a:buFont typeface="+mj-lt"/>
                  <a:buAutoNum type="arabicPeriod"/>
                </a:pPr>
                <a:r>
                  <a:rPr lang="en-IN" sz="1600" dirty="0">
                    <a:effectLst/>
                    <a:ea typeface="Calibri" panose="020F0502020204030204" pitchFamily="34" charset="0"/>
                  </a:rPr>
                  <a:t>Lubrication interactions are added to the inverted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1600" i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lang="en-IN" sz="1600" dirty="0">
                    <a:effectLst/>
                    <a:ea typeface="Calibri" panose="020F0502020204030204" pitchFamily="34" charset="0"/>
                  </a:rPr>
                  <a:t>.</a:t>
                </a:r>
              </a:p>
              <a:p>
                <a:pPr marL="342900" lvl="0" indent="-342900">
                  <a:lnSpc>
                    <a:spcPct val="200000"/>
                  </a:lnSpc>
                  <a:spcAft>
                    <a:spcPts val="0"/>
                  </a:spcAft>
                  <a:buSzPts val="1100"/>
                  <a:buFont typeface="+mj-lt"/>
                  <a:buAutoNum type="arabicPeriod"/>
                </a:pPr>
                <a:r>
                  <a:rPr lang="en-IN" sz="1600" dirty="0">
                    <a:effectLst/>
                    <a:ea typeface="Calibri" panose="020F0502020204030204" pitchFamily="34" charset="0"/>
                  </a:rPr>
                  <a:t>Calculation of the velocity of the individual particles, assembly and the connectivity tensor.</a:t>
                </a:r>
              </a:p>
              <a:p>
                <a:pPr marL="342900" lvl="0" indent="-342900">
                  <a:lnSpc>
                    <a:spcPct val="200000"/>
                  </a:lnSpc>
                  <a:spcAft>
                    <a:spcPts val="0"/>
                  </a:spcAft>
                  <a:buSzPts val="1100"/>
                  <a:buFont typeface="+mj-lt"/>
                  <a:buAutoNum type="arabicPeriod"/>
                </a:pPr>
                <a:r>
                  <a:rPr lang="en-IN" sz="1600" dirty="0">
                    <a:effectLst/>
                    <a:ea typeface="Calibri" panose="020F0502020204030204" pitchFamily="34" charset="0"/>
                  </a:rPr>
                  <a:t>New position of the particles obtained.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816298-8E95-4FAD-985A-A143B96E6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270" y="339876"/>
                <a:ext cx="10276703" cy="5193986"/>
              </a:xfrm>
              <a:prstGeom prst="rect">
                <a:avLst/>
              </a:prstGeom>
              <a:blipFill>
                <a:blip r:embed="rId2"/>
                <a:stretch>
                  <a:fillRect l="-356" b="-5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95BA17-60FA-423B-891A-FFB29FE0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17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61277A-49F6-4D62-B490-7671052E637C}"/>
              </a:ext>
            </a:extLst>
          </p:cNvPr>
          <p:cNvSpPr txBox="1"/>
          <p:nvPr/>
        </p:nvSpPr>
        <p:spPr>
          <a:xfrm>
            <a:off x="683741" y="339876"/>
            <a:ext cx="11112843" cy="6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3541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5B1226-278D-4CCF-B694-8D86ECB549D9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4" t="31620" r="7571" b="39999"/>
          <a:stretch/>
        </p:blipFill>
        <p:spPr bwMode="auto">
          <a:xfrm>
            <a:off x="3129196" y="2703727"/>
            <a:ext cx="4305338" cy="11353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4D83203-9752-4ED4-A665-B99BDEF08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18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60D0D9-228D-4C73-9BA7-49419495319F}"/>
              </a:ext>
            </a:extLst>
          </p:cNvPr>
          <p:cNvSpPr txBox="1"/>
          <p:nvPr/>
        </p:nvSpPr>
        <p:spPr>
          <a:xfrm>
            <a:off x="915963" y="267824"/>
            <a:ext cx="1066784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/>
              <a:t>Problem of </a:t>
            </a:r>
            <a:r>
              <a:rPr lang="en-US" sz="2400" b="1" dirty="0" err="1"/>
              <a:t>sedimenting</a:t>
            </a:r>
            <a:r>
              <a:rPr lang="en-US" sz="2400" b="1" dirty="0"/>
              <a:t> particles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 linear chain of seven spheres of unit radii falling vertically.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Spheres placed horizontally with equal </a:t>
            </a:r>
            <a:r>
              <a:rPr lang="en-US" sz="1600" dirty="0" err="1"/>
              <a:t>centre</a:t>
            </a:r>
            <a:r>
              <a:rPr lang="en-US" sz="1600" dirty="0"/>
              <a:t>-to-</a:t>
            </a:r>
            <a:r>
              <a:rPr lang="en-US" sz="1600" dirty="0" err="1"/>
              <a:t>centre</a:t>
            </a:r>
            <a:r>
              <a:rPr lang="en-US" sz="1600" dirty="0"/>
              <a:t> distance.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Unit force is given in a direction perpendicular to the plane of the sphere.</a:t>
            </a:r>
          </a:p>
          <a:p>
            <a:endParaRPr lang="en-US" sz="1800" dirty="0"/>
          </a:p>
          <a:p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9976AF-A63A-4ABC-9679-F959FD852CE3}"/>
                  </a:ext>
                </a:extLst>
              </p:cNvPr>
              <p:cNvSpPr txBox="1"/>
              <p:nvPr/>
            </p:nvSpPr>
            <p:spPr>
              <a:xfrm>
                <a:off x="915963" y="3697903"/>
                <a:ext cx="9316841" cy="2772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Velocity of a sphere varies depending on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1600" dirty="0"/>
                  <a:t>	a. Position of the sphere in this chain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1600" dirty="0"/>
                  <a:t>	b. Centre-to-</a:t>
                </a:r>
                <a:r>
                  <a:rPr lang="en-US" sz="1600" dirty="0" err="1"/>
                  <a:t>centre</a:t>
                </a:r>
                <a:r>
                  <a:rPr lang="en-US" sz="1600" dirty="0"/>
                  <a:t> distance between the spheres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Stokes law,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𝜋𝜇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1600" dirty="0"/>
                  <a:t>  </a:t>
                </a:r>
                <a:r>
                  <a:rPr lang="en-US" sz="1600" dirty="0">
                    <a:sym typeface="Wingdings" panose="05000000000000000000" pitchFamily="2" charset="2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∆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∆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𝜋𝜇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1600" dirty="0"/>
                  <a:t>                     </a:t>
                </a:r>
                <a:r>
                  <a:rPr lang="en-US" sz="1600" dirty="0">
                    <a:sym typeface="Wingdings" panose="05000000000000000000" pitchFamily="2" charset="2"/>
                  </a:rPr>
                  <a:t>  velocity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∆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/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num>
                      <m:den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𝐹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∆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/6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𝜋𝜇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1600" dirty="0"/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sym typeface="Wingdings" panose="05000000000000000000" pitchFamily="2" charset="2"/>
                  </a:rPr>
                  <a:t>Spheres not being forced with each other : Lubrication interactions not needed.</a:t>
                </a:r>
                <a:endParaRPr 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9976AF-A63A-4ABC-9679-F959FD852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963" y="3697903"/>
                <a:ext cx="9316841" cy="2772297"/>
              </a:xfrm>
              <a:prstGeom prst="rect">
                <a:avLst/>
              </a:prstGeom>
              <a:blipFill>
                <a:blip r:embed="rId3"/>
                <a:stretch>
                  <a:fillRect l="-262" b="-22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D45577-3816-41CB-BCFB-3679C21EB42D}"/>
              </a:ext>
            </a:extLst>
          </p:cNvPr>
          <p:cNvCxnSpPr/>
          <p:nvPr/>
        </p:nvCxnSpPr>
        <p:spPr>
          <a:xfrm>
            <a:off x="3129196" y="5684107"/>
            <a:ext cx="6190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B4DFF6-4E43-4931-A965-9725F9817511}"/>
              </a:ext>
            </a:extLst>
          </p:cNvPr>
          <p:cNvCxnSpPr/>
          <p:nvPr/>
        </p:nvCxnSpPr>
        <p:spPr>
          <a:xfrm>
            <a:off x="5014955" y="5684107"/>
            <a:ext cx="6190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E0CDFC7-C988-4C4B-9D0C-244E6828F5AA}"/>
              </a:ext>
            </a:extLst>
          </p:cNvPr>
          <p:cNvSpPr txBox="1"/>
          <p:nvPr/>
        </p:nvSpPr>
        <p:spPr>
          <a:xfrm>
            <a:off x="568411" y="362465"/>
            <a:ext cx="11203459" cy="63590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6611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7BC1-A3AF-4AE4-9571-8E1A03B3D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6539" y="2902926"/>
            <a:ext cx="4615373" cy="3289486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u="sng" dirty="0"/>
              <a:t>Conclusion</a:t>
            </a:r>
            <a:r>
              <a:rPr lang="en-US" sz="1600" dirty="0"/>
              <a:t>: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Drag coefficient at the ends of the chain is more compared to the particles near the center.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Spheres closer together, particles fall faster.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Particles at the center fall faster.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21F8E05-296A-4FE6-99A0-16099E8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19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20DB4-0644-4E50-8FC3-2F58EDA21FE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91980" y="2902925"/>
            <a:ext cx="6359609" cy="31587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33A392-E8CD-4AC5-955D-83AADE62BF84}"/>
                  </a:ext>
                </a:extLst>
              </p:cNvPr>
              <p:cNvSpPr txBox="1"/>
              <p:nvPr/>
            </p:nvSpPr>
            <p:spPr>
              <a:xfrm>
                <a:off x="910281" y="370754"/>
                <a:ext cx="10371438" cy="3081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:r>
                  <a:rPr lang="en-US" sz="2400" b="1" dirty="0"/>
                  <a:t>Comparison of results with </a:t>
                </a:r>
                <a:r>
                  <a:rPr lang="en-US" sz="2400" b="1" dirty="0" err="1"/>
                  <a:t>Durlofsky</a:t>
                </a:r>
                <a:r>
                  <a:rPr lang="en-US" sz="2400" b="1" dirty="0"/>
                  <a:t> et.al</a:t>
                </a:r>
                <a:r>
                  <a:rPr lang="en-US" dirty="0"/>
                  <a:t> </a:t>
                </a:r>
                <a:r>
                  <a:rPr lang="en-US" sz="2400" b="1" dirty="0"/>
                  <a:t>(1987)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Odd number of spheres -&gt; Drag coefficient is symmetric about central sphere</a:t>
                </a:r>
                <a:r>
                  <a:rPr lang="en-US" dirty="0"/>
                  <a:t>.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Dimensionless </a:t>
                </a:r>
                <a:r>
                  <a:rPr lang="en-US" sz="1600" dirty="0" err="1"/>
                  <a:t>centre</a:t>
                </a:r>
                <a:r>
                  <a:rPr lang="en-US" sz="1600" dirty="0"/>
                  <a:t>-to-</a:t>
                </a:r>
                <a:r>
                  <a:rPr lang="en-US" sz="1600" dirty="0" err="1"/>
                  <a:t>centre</a:t>
                </a:r>
                <a:r>
                  <a:rPr lang="en-US" sz="1600" dirty="0"/>
                  <a:t> distance is varied as r=2.005,2.2 and 2.6.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Drag coefficient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Force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velocity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33A392-E8CD-4AC5-955D-83AADE62B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281" y="370754"/>
                <a:ext cx="10371438" cy="3081741"/>
              </a:xfrm>
              <a:prstGeom prst="rect">
                <a:avLst/>
              </a:prstGeom>
              <a:blipFill>
                <a:blip r:embed="rId3"/>
                <a:stretch>
                  <a:fillRect l="-2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9658585-99AB-449A-8B6C-48B3B69AFD5B}"/>
              </a:ext>
            </a:extLst>
          </p:cNvPr>
          <p:cNvSpPr txBox="1"/>
          <p:nvPr/>
        </p:nvSpPr>
        <p:spPr>
          <a:xfrm>
            <a:off x="502508" y="461319"/>
            <a:ext cx="11409404" cy="61783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9522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03495-6EAA-47DC-9F98-1E83F0574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930" y="486032"/>
            <a:ext cx="11017584" cy="595595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600" b="1" dirty="0"/>
              <a:t>Drag coefficient of spheres at the vertices of an equilateral triangle of side L and at the corners of a square of side L.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Distance between spheres varied as L=2 to L=10 and spheres are falling vertically.</a:t>
            </a:r>
          </a:p>
          <a:p>
            <a:pPr>
              <a:lnSpc>
                <a:spcPct val="200000"/>
              </a:lnSpc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AA76B22-4EC8-4E17-B964-300C96BF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20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225AB4-9513-4117-A5A6-B9C69FDB4B3B}"/>
              </a:ext>
            </a:extLst>
          </p:cNvPr>
          <p:cNvPicPr/>
          <p:nvPr/>
        </p:nvPicPr>
        <p:blipFill rotWithShape="1">
          <a:blip r:embed="rId2"/>
          <a:srcRect r="58049"/>
          <a:stretch/>
        </p:blipFill>
        <p:spPr>
          <a:xfrm>
            <a:off x="8582762" y="1136925"/>
            <a:ext cx="2404436" cy="24485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42F475-01E8-4648-80A9-11957A768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71" y="1801286"/>
            <a:ext cx="6477588" cy="30456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54EEA5-DE9F-46E3-B730-52DFA204994C}"/>
              </a:ext>
            </a:extLst>
          </p:cNvPr>
          <p:cNvSpPr txBox="1"/>
          <p:nvPr/>
        </p:nvSpPr>
        <p:spPr>
          <a:xfrm>
            <a:off x="2273111" y="1959104"/>
            <a:ext cx="47614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Triangle                                                                             Square</a:t>
            </a:r>
            <a:endParaRPr lang="en-IN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CC4CBA-51F9-4472-809E-E4C31AF8C184}"/>
              </a:ext>
            </a:extLst>
          </p:cNvPr>
          <p:cNvPicPr/>
          <p:nvPr/>
        </p:nvPicPr>
        <p:blipFill rotWithShape="1">
          <a:blip r:embed="rId2"/>
          <a:srcRect l="46263" t="3488" r="1564" b="3655"/>
          <a:stretch/>
        </p:blipFill>
        <p:spPr>
          <a:xfrm>
            <a:off x="8428076" y="3722803"/>
            <a:ext cx="2990336" cy="22736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DAEAC5-0E3E-462D-8C1E-06DF48376B3C}"/>
                  </a:ext>
                </a:extLst>
              </p:cNvPr>
              <p:cNvSpPr txBox="1"/>
              <p:nvPr/>
            </p:nvSpPr>
            <p:spPr>
              <a:xfrm>
                <a:off x="749089" y="5083466"/>
                <a:ext cx="7436984" cy="10075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Distance between the spheres increases </a:t>
                </a:r>
                <a:r>
                  <a:rPr lang="en-US" sz="1600" dirty="0">
                    <a:sym typeface="Wingdings" panose="05000000000000000000" pitchFamily="2" charset="2"/>
                  </a:rPr>
                  <a:t> Drag coefficient increases.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600" dirty="0"/>
                  <a:t> is smaller for four spheres than for three spheres.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DAEAC5-0E3E-462D-8C1E-06DF48376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089" y="5083466"/>
                <a:ext cx="7436984" cy="1007584"/>
              </a:xfrm>
              <a:prstGeom prst="rect">
                <a:avLst/>
              </a:prstGeom>
              <a:blipFill>
                <a:blip r:embed="rId4"/>
                <a:stretch>
                  <a:fillRect l="-328" b="-72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64F3B3C-5EB4-498D-B2A2-BC29A6C6F67A}"/>
              </a:ext>
            </a:extLst>
          </p:cNvPr>
          <p:cNvCxnSpPr>
            <a:cxnSpLocks/>
          </p:cNvCxnSpPr>
          <p:nvPr/>
        </p:nvCxnSpPr>
        <p:spPr>
          <a:xfrm>
            <a:off x="8034581" y="1644653"/>
            <a:ext cx="0" cy="4351794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744F0D3-C6BB-402A-8BF3-83D0359A7943}"/>
              </a:ext>
            </a:extLst>
          </p:cNvPr>
          <p:cNvSpPr txBox="1"/>
          <p:nvPr/>
        </p:nvSpPr>
        <p:spPr>
          <a:xfrm>
            <a:off x="576649" y="378941"/>
            <a:ext cx="11165865" cy="62525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5287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2">
            <a:extLst>
              <a:ext uri="{FF2B5EF4-FFF2-40B4-BE49-F238E27FC236}">
                <a16:creationId xmlns:a16="http://schemas.microsoft.com/office/drawing/2014/main" id="{AE8477AD-37FC-4AB0-827F-ECCB6B3BEB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35" t="5274" r="31032" b="5812"/>
          <a:stretch/>
        </p:blipFill>
        <p:spPr>
          <a:xfrm>
            <a:off x="2381650" y="3803811"/>
            <a:ext cx="2342293" cy="2510492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B5BD97-4CA7-4373-853C-BC187D87148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04" t="5058" r="14941" b="8044"/>
          <a:stretch/>
        </p:blipFill>
        <p:spPr>
          <a:xfrm>
            <a:off x="5560074" y="3741346"/>
            <a:ext cx="2679139" cy="26354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50A3E3-1B4D-4D14-8358-865BAE9B1C58}"/>
              </a:ext>
            </a:extLst>
          </p:cNvPr>
          <p:cNvSpPr txBox="1"/>
          <p:nvPr/>
        </p:nvSpPr>
        <p:spPr>
          <a:xfrm>
            <a:off x="849408" y="543697"/>
            <a:ext cx="10749467" cy="3094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ym typeface="Wingdings" panose="05000000000000000000" pitchFamily="2" charset="2"/>
              </a:rPr>
              <a:t>Aggregates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u="sng" dirty="0">
                <a:sym typeface="Wingdings" panose="05000000000000000000" pitchFamily="2" charset="2"/>
              </a:rPr>
              <a:t>Hexagonal arrangement</a:t>
            </a:r>
            <a:r>
              <a:rPr lang="en-US" dirty="0">
                <a:sym typeface="Wingdings" panose="05000000000000000000" pitchFamily="2" charset="2"/>
              </a:rPr>
              <a:t>: Six branches of equal number of spheres with a sphere at the </a:t>
            </a:r>
            <a:r>
              <a:rPr lang="en-US" dirty="0" err="1">
                <a:sym typeface="Wingdings" panose="05000000000000000000" pitchFamily="2" charset="2"/>
              </a:rPr>
              <a:t>centre</a:t>
            </a:r>
            <a:r>
              <a:rPr lang="en-US" dirty="0">
                <a:sym typeface="Wingdings" panose="05000000000000000000" pitchFamily="2" charset="2"/>
              </a:rPr>
              <a:t> joining the branches.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Another arrangement of two branches with equal number of spheres and having a sphere at the </a:t>
            </a:r>
            <a:r>
              <a:rPr lang="en-US" dirty="0" err="1">
                <a:sym typeface="Wingdings" panose="05000000000000000000" pitchFamily="2" charset="2"/>
              </a:rPr>
              <a:t>centre</a:t>
            </a:r>
            <a:r>
              <a:rPr lang="en-US" dirty="0">
                <a:sym typeface="Wingdings" panose="05000000000000000000" pitchFamily="2" charset="2"/>
              </a:rPr>
              <a:t> joining the branches.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The number of spheres in each branch, N is increased from N=2 to N=6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Aggregates in these two forms fall vertically in the ‘z’ direction with a unit force given in ‘z’ direction</a:t>
            </a:r>
            <a:r>
              <a:rPr lang="en-US" dirty="0">
                <a:sym typeface="Wingdings" panose="05000000000000000000" pitchFamily="2" charset="2"/>
              </a:rPr>
              <a:t>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318469-43A3-40D5-AED7-B2C02E7057D1}"/>
              </a:ext>
            </a:extLst>
          </p:cNvPr>
          <p:cNvSpPr txBox="1"/>
          <p:nvPr/>
        </p:nvSpPr>
        <p:spPr>
          <a:xfrm>
            <a:off x="362464" y="440043"/>
            <a:ext cx="11467071" cy="61207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7A3551-DD9B-42C9-AB09-474133F8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063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49524-8F20-4C30-8F09-DE5E99CD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22</a:t>
            </a:fld>
            <a:endParaRPr lang="en-IN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ACD78D0-AFFB-4095-8F1F-1E9BF35755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6273518"/>
              </p:ext>
            </p:extLst>
          </p:nvPr>
        </p:nvGraphicFramePr>
        <p:xfrm>
          <a:off x="3282000" y="1419837"/>
          <a:ext cx="487299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D2E6BB1-D494-4D1B-A574-E7752FB2D2CC}"/>
              </a:ext>
            </a:extLst>
          </p:cNvPr>
          <p:cNvSpPr txBox="1"/>
          <p:nvPr/>
        </p:nvSpPr>
        <p:spPr>
          <a:xfrm>
            <a:off x="438947" y="428360"/>
            <a:ext cx="11565925" cy="60971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ym typeface="Wingdings" panose="05000000000000000000" pitchFamily="2" charset="2"/>
              </a:rPr>
              <a:t>Comparison of drag coefficient for cross arrangement and hexagon arrangement.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Drag coefficient of spheres in hexagon arrangement is more than that of cross.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N=4 in hexagon form will give us 25 spheres and N=6 in cross arrangement will give us 25 spheres.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IN" dirty="0">
                <a:solidFill>
                  <a:schemeClr val="tx1"/>
                </a:solidFill>
              </a:rPr>
              <a:t>𝜆=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</a:rPr>
              <a:t>6.1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25 spheres in hexagon and </a:t>
            </a:r>
            <a:r>
              <a:rPr lang="en-IN" dirty="0">
                <a:solidFill>
                  <a:schemeClr val="tx1"/>
                </a:solidFill>
              </a:rPr>
              <a:t>𝜆=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</a:rPr>
              <a:t>7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for 25 spheres in a cross arrangement. Drag coefficient is less for the 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</a:rPr>
              <a:t>hexagonal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arrangement. </a:t>
            </a:r>
            <a:endParaRPr lang="en-IN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IN" u="sng" dirty="0">
                <a:solidFill>
                  <a:srgbClr val="000000"/>
                </a:solidFill>
                <a:latin typeface="Calibri" panose="020F0502020204030204" pitchFamily="34" charset="0"/>
              </a:rPr>
              <a:t>Conclusion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</a:rPr>
              <a:t>: Velocity of spheres in hexagon arrangement higher for the </a:t>
            </a:r>
            <a:r>
              <a:rPr lang="en-IN" u="sng" dirty="0">
                <a:solidFill>
                  <a:srgbClr val="000000"/>
                </a:solidFill>
                <a:latin typeface="Calibri" panose="020F0502020204030204" pitchFamily="34" charset="0"/>
              </a:rPr>
              <a:t>same number of spheres 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</a:rPr>
              <a:t>than the spheres in a cross arrangement.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2782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B5E3D7-E160-4124-BD12-39A55291F0BF}"/>
              </a:ext>
            </a:extLst>
          </p:cNvPr>
          <p:cNvSpPr txBox="1"/>
          <p:nvPr/>
        </p:nvSpPr>
        <p:spPr>
          <a:xfrm>
            <a:off x="4843849" y="411891"/>
            <a:ext cx="3295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Ewald summation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7321D-40C9-4C25-B2A5-68907E1F1810}"/>
              </a:ext>
            </a:extLst>
          </p:cNvPr>
          <p:cNvSpPr txBox="1"/>
          <p:nvPr/>
        </p:nvSpPr>
        <p:spPr>
          <a:xfrm>
            <a:off x="1035876" y="1261751"/>
            <a:ext cx="7430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To model infinite nature of the system using periodic boundary conditions</a:t>
            </a:r>
            <a:r>
              <a:rPr lang="en-US" dirty="0"/>
              <a:t>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F2D58D-1063-4F12-9624-DA2FA95C9805}"/>
                  </a:ext>
                </a:extLst>
              </p:cNvPr>
              <p:cNvSpPr txBox="1"/>
              <p:nvPr/>
            </p:nvSpPr>
            <p:spPr>
              <a:xfrm>
                <a:off x="1077067" y="3555619"/>
                <a:ext cx="9822640" cy="796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𝜋𝜇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  <m:e>
                        <m:nary>
                          <m:nary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𝑗𝑘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1600" b="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𝜋𝜇</m:t>
                        </m:r>
                      </m:den>
                    </m:f>
                    <m:nary>
                      <m:nary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𝛤</m:t>
                            </m:r>
                          </m:sub>
                        </m:sSub>
                      </m:sub>
                      <m:sup/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𝑗𝑘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𝑖𝑗𝑘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16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N" sz="1600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F2D58D-1063-4F12-9624-DA2FA95C9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067" y="3555619"/>
                <a:ext cx="9822640" cy="796693"/>
              </a:xfrm>
              <a:prstGeom prst="rect">
                <a:avLst/>
              </a:prstGeom>
              <a:blipFill>
                <a:blip r:embed="rId2"/>
                <a:stretch>
                  <a:fillRect t="-12977" b="-801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122EF4C4-2CE0-4E31-AD16-9EEC5A3862A0}"/>
              </a:ext>
            </a:extLst>
          </p:cNvPr>
          <p:cNvSpPr txBox="1"/>
          <p:nvPr/>
        </p:nvSpPr>
        <p:spPr>
          <a:xfrm>
            <a:off x="1035876" y="1584667"/>
            <a:ext cx="7926892" cy="1993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u="sng" dirty="0"/>
              <a:t>O’Brien’s renormalization scheme</a:t>
            </a:r>
            <a:r>
              <a:rPr lang="en-US" sz="1600" dirty="0"/>
              <a:t>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To account for the changes in an infinite medium.</a:t>
            </a:r>
            <a:endParaRPr lang="en-IN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Size of the system increases, the sum of long-range interaction converges very slowly.</a:t>
            </a:r>
          </a:p>
          <a:p>
            <a:pPr>
              <a:lnSpc>
                <a:spcPct val="200000"/>
              </a:lnSpc>
            </a:pPr>
            <a:r>
              <a:rPr lang="en-US" sz="1600" dirty="0"/>
              <a:t>Integral representation of Stokes equation: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4B8D73-7F59-4FC6-A62D-D4EC20D10B48}"/>
              </a:ext>
            </a:extLst>
          </p:cNvPr>
          <p:cNvSpPr txBox="1"/>
          <p:nvPr/>
        </p:nvSpPr>
        <p:spPr>
          <a:xfrm>
            <a:off x="1120347" y="4538798"/>
            <a:ext cx="7092778" cy="1993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Why Ewald sum?</a:t>
            </a:r>
          </a:p>
          <a:p>
            <a:pPr lvl="1">
              <a:lnSpc>
                <a:spcPct val="200000"/>
              </a:lnSpc>
            </a:pPr>
            <a:r>
              <a:rPr lang="en-US" sz="1600" dirty="0"/>
              <a:t>Reduce the number of particles needed to model a system.</a:t>
            </a:r>
          </a:p>
          <a:p>
            <a:pPr lvl="1">
              <a:lnSpc>
                <a:spcPct val="200000"/>
              </a:lnSpc>
            </a:pPr>
            <a:r>
              <a:rPr lang="en-US" sz="1600" dirty="0"/>
              <a:t>To accelerate the convergence.</a:t>
            </a:r>
          </a:p>
          <a:p>
            <a:pPr lvl="1">
              <a:lnSpc>
                <a:spcPct val="200000"/>
              </a:lnSpc>
            </a:pPr>
            <a:r>
              <a:rPr lang="en-US" sz="1600" dirty="0"/>
              <a:t>To ensure mobility matrix stays positive definite.</a:t>
            </a:r>
            <a:endParaRPr lang="en-IN" sz="160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FF36FE5-F482-4732-8684-EBE4B30E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23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7F8188-642D-45AF-AF8F-F704B7AD88E6}"/>
              </a:ext>
            </a:extLst>
          </p:cNvPr>
          <p:cNvSpPr txBox="1"/>
          <p:nvPr/>
        </p:nvSpPr>
        <p:spPr>
          <a:xfrm>
            <a:off x="584886" y="411891"/>
            <a:ext cx="11203460" cy="6236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66230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6625D5-07D8-409D-910F-102368DF1374}"/>
                  </a:ext>
                </a:extLst>
              </p:cNvPr>
              <p:cNvSpPr txBox="1"/>
              <p:nvPr/>
            </p:nvSpPr>
            <p:spPr>
              <a:xfrm>
                <a:off x="444845" y="1872248"/>
                <a:ext cx="9234616" cy="10183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en-IN" sz="1600" i="0">
                          <a:latin typeface="Cambria Math" panose="02040503050406030204" pitchFamily="18" charset="0"/>
                        </a:rPr>
                        <m:t>−&lt;</m:t>
                      </m:r>
                      <m:sSup>
                        <m:sSup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p>
                      <m:r>
                        <a:rPr lang="en-IN" sz="16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1600" i="0">
                          <a:latin typeface="Cambria Math" panose="02040503050406030204" pitchFamily="18" charset="0"/>
                        </a:rPr>
                        <m:t>)&gt; = </m:t>
                      </m:r>
                      <m:f>
                        <m:f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𝜋𝜇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IN" sz="16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𝜋𝜇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en-IN" sz="1600" i="0">
                                        <a:latin typeface="Cambria Math" panose="02040503050406030204" pitchFamily="18" charset="0"/>
                                      </a:rPr>
                                      <m:t>≠</m:t>
                                    </m:r>
                                    <m:r>
                                      <a:rPr lang="en-IN" sz="1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mr>
                              </m:m>
                            </m:sub>
                            <m:sup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p>
                              </m:sSup>
                              <m:r>
                                <a:rPr lang="en-IN" sz="1600" i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Sup>
                                <m:sSubSupPr>
                                  <m:ctrlP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IN" sz="16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  <m:r>
                        <a:rPr lang="en-IN" sz="16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𝜋𝜇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N" sz="1600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IN" sz="16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IN" sz="1600" i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IN" sz="1600" i="0">
                          <a:latin typeface="Cambria Math" panose="02040503050406030204" pitchFamily="18" charset="0"/>
                        </a:rPr>
                        <m:t>&gt; 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𝑑𝑉</m:t>
                      </m:r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6625D5-07D8-409D-910F-102368DF1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45" y="1872248"/>
                <a:ext cx="9234616" cy="10183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F79CB24-8643-4DE7-80B0-CA02A80679E9}"/>
              </a:ext>
            </a:extLst>
          </p:cNvPr>
          <p:cNvSpPr txBox="1"/>
          <p:nvPr/>
        </p:nvSpPr>
        <p:spPr>
          <a:xfrm>
            <a:off x="1178010" y="756492"/>
            <a:ext cx="8567353" cy="1008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is assumed to be dilute.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Each sphere feels only zeroth moment interaction of other spheres.</a:t>
            </a:r>
            <a:endParaRPr lang="en-I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C71034-2369-449F-B30B-37D16598B72F}"/>
                  </a:ext>
                </a:extLst>
              </p:cNvPr>
              <p:cNvSpPr txBox="1"/>
              <p:nvPr/>
            </p:nvSpPr>
            <p:spPr>
              <a:xfrm>
                <a:off x="3731742" y="2755409"/>
                <a:ext cx="3361038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2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1600">
                        <a:effectLst/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>
                    <a:effectLst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  <m: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d>
                      <m:d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1600" dirty="0">
                    <a:effectLst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IN" sz="1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1600">
                                <a:effectLst/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  <m:sup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IN" sz="1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effectLst/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C71034-2369-449F-B30B-37D16598B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742" y="2755409"/>
                <a:ext cx="3361038" cy="710194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9CC2993-6F02-468E-9D99-85679C3812EF}"/>
              </a:ext>
            </a:extLst>
          </p:cNvPr>
          <p:cNvSpPr txBox="1"/>
          <p:nvPr/>
        </p:nvSpPr>
        <p:spPr>
          <a:xfrm>
            <a:off x="1178010" y="3105665"/>
            <a:ext cx="46543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Oseen’s</a:t>
            </a:r>
            <a:r>
              <a:rPr lang="en-US" sz="1600" dirty="0"/>
              <a:t> tensor is split into two</a:t>
            </a:r>
            <a:endParaRPr lang="en-IN" sz="1600" dirty="0"/>
          </a:p>
          <a:p>
            <a:endParaRPr lang="en-IN" sz="1600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052BB1-B863-4325-AB4F-0D8F04D26BED}"/>
                  </a:ext>
                </a:extLst>
              </p:cNvPr>
              <p:cNvSpPr txBox="1"/>
              <p:nvPr/>
            </p:nvSpPr>
            <p:spPr>
              <a:xfrm>
                <a:off x="0" y="3429000"/>
                <a:ext cx="6170140" cy="22397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6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6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6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  <m:sup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6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𝑒𝑟𝑓𝑐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600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2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16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  <m:sup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60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IN" sz="1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𝑒𝑟𝑓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1600">
                              <a:effectLst/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600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052BB1-B863-4325-AB4F-0D8F04D26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429000"/>
                <a:ext cx="6170140" cy="22397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6A9050A6-162A-4089-84A5-AA12F09D2532}"/>
              </a:ext>
            </a:extLst>
          </p:cNvPr>
          <p:cNvSpPr txBox="1"/>
          <p:nvPr/>
        </p:nvSpPr>
        <p:spPr>
          <a:xfrm>
            <a:off x="5193958" y="4290774"/>
            <a:ext cx="35711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/>
              <a:t>Converges quickly in real space.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556388-8B51-44A0-B9EC-48E475D35D7E}"/>
              </a:ext>
            </a:extLst>
          </p:cNvPr>
          <p:cNvSpPr txBox="1"/>
          <p:nvPr/>
        </p:nvSpPr>
        <p:spPr>
          <a:xfrm>
            <a:off x="5193958" y="4965328"/>
            <a:ext cx="6170140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/>
              <a:t>Fourier transformed and converges quickly in reciprocal space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3040384-9E08-4AF5-9EBC-38FCFBBC61CE}"/>
                  </a:ext>
                </a:extLst>
              </p:cNvPr>
              <p:cNvSpPr txBox="1"/>
              <p:nvPr/>
            </p:nvSpPr>
            <p:spPr>
              <a:xfrm>
                <a:off x="9728886" y="2107250"/>
                <a:ext cx="24631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&lt;F&gt;=1/N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IN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3040384-9E08-4AF5-9EBC-38FCFBBC6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8886" y="2107250"/>
                <a:ext cx="2463114" cy="369332"/>
              </a:xfrm>
              <a:prstGeom prst="rect">
                <a:avLst/>
              </a:prstGeom>
              <a:blipFill>
                <a:blip r:embed="rId5"/>
                <a:stretch>
                  <a:fillRect l="-2228" t="-121667" b="-18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6F3694F7-B079-422C-AD07-3F435FCE7215}"/>
              </a:ext>
            </a:extLst>
          </p:cNvPr>
          <p:cNvSpPr txBox="1"/>
          <p:nvPr/>
        </p:nvSpPr>
        <p:spPr>
          <a:xfrm>
            <a:off x="1334530" y="5890054"/>
            <a:ext cx="8550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Accurate for far-field interactions in an infinite media.</a:t>
            </a:r>
            <a:endParaRPr lang="en-IN" sz="1600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BD17919-EE6A-4F5C-B3C6-96A55DD2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24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335255-CAD2-4441-A057-345DB8CDA0CD}"/>
              </a:ext>
            </a:extLst>
          </p:cNvPr>
          <p:cNvSpPr txBox="1"/>
          <p:nvPr/>
        </p:nvSpPr>
        <p:spPr>
          <a:xfrm>
            <a:off x="799070" y="395416"/>
            <a:ext cx="11005752" cy="6326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8082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B777F0-6C66-4794-8C57-FAC14AE5D9AF}"/>
                  </a:ext>
                </a:extLst>
              </p:cNvPr>
              <p:cNvSpPr txBox="1"/>
              <p:nvPr/>
            </p:nvSpPr>
            <p:spPr>
              <a:xfrm>
                <a:off x="696097" y="436383"/>
                <a:ext cx="10799805" cy="5043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Recent developments in </a:t>
                </a:r>
                <a:r>
                  <a:rPr lang="en-US" sz="2400" b="1" dirty="0" err="1"/>
                  <a:t>Stokesian</a:t>
                </a:r>
                <a:r>
                  <a:rPr lang="en-US" sz="2400" b="1" dirty="0"/>
                  <a:t> Dynamics</a:t>
                </a:r>
                <a:endParaRPr lang="en-US" dirty="0"/>
              </a:p>
              <a:p>
                <a:endParaRPr lang="en-US" dirty="0"/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Avoid both the costly construction of the far-field mobility matrix of O(N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)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Inversion of the mobility matrix O(N</a:t>
                </a:r>
                <a:r>
                  <a:rPr lang="en-US" sz="1600" baseline="30000" dirty="0"/>
                  <a:t>3</a:t>
                </a:r>
                <a:r>
                  <a:rPr lang="en-US" sz="1600" dirty="0"/>
                  <a:t>) calculations.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Iterative solvers to find required particle velocities by O(N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)</a:t>
                </a:r>
              </a:p>
              <a:p>
                <a:pPr marL="914400" lvl="1" indent="-457200">
                  <a:lnSpc>
                    <a:spcPct val="150000"/>
                  </a:lnSpc>
                  <a:buAutoNum type="arabicParenR"/>
                </a:pPr>
                <a:r>
                  <a:rPr lang="en-US" sz="1600" dirty="0"/>
                  <a:t>Eliminate fluid velocity -&gt; Calculate mobility matrix</a:t>
                </a:r>
              </a:p>
              <a:p>
                <a:pPr marL="914400" lvl="1" indent="-457200">
                  <a:lnSpc>
                    <a:spcPct val="150000"/>
                  </a:lnSpc>
                  <a:buAutoNum type="arabicParenR"/>
                </a:pPr>
                <a:r>
                  <a:rPr lang="en-US" sz="1600" dirty="0"/>
                  <a:t>Calculate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1600" dirty="0"/>
                  <a:t> by iteration.</a:t>
                </a:r>
              </a:p>
              <a:p>
                <a:pPr marL="1371600" lvl="2" indent="-457200">
                  <a:lnSpc>
                    <a:spcPct val="150000"/>
                  </a:lnSpc>
                  <a:buAutoNum type="arabicParenR"/>
                </a:pPr>
                <a:r>
                  <a:rPr lang="en-US" sz="1600" dirty="0"/>
                  <a:t>Initial value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1600" dirty="0"/>
                  <a:t> assumed.</a:t>
                </a:r>
              </a:p>
              <a:p>
                <a:pPr marL="1371600" lvl="2" indent="-457200">
                  <a:lnSpc>
                    <a:spcPct val="150000"/>
                  </a:lnSpc>
                  <a:buAutoNum type="arabicParenR"/>
                </a:pPr>
                <a:r>
                  <a:rPr lang="en-US" sz="1600" dirty="0"/>
                  <a:t>Fluid velocity determined using multipole expansion.</a:t>
                </a:r>
              </a:p>
              <a:p>
                <a:pPr marL="1371600" lvl="2" indent="-457200">
                  <a:lnSpc>
                    <a:spcPct val="150000"/>
                  </a:lnSpc>
                  <a:buAutoNum type="arabicParenR"/>
                </a:pPr>
                <a:r>
                  <a:rPr lang="en-US" sz="1600" dirty="0"/>
                  <a:t>Use corrected value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1600" dirty="0"/>
                  <a:t>.</a:t>
                </a:r>
              </a:p>
              <a:p>
                <a:endParaRPr lang="en-US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Accelerated </a:t>
                </a:r>
                <a:r>
                  <a:rPr lang="en-US" sz="1600" dirty="0" err="1"/>
                  <a:t>Stokesian</a:t>
                </a:r>
                <a:r>
                  <a:rPr lang="en-US" sz="1600" dirty="0"/>
                  <a:t> dynamics with calculations of O(N log N).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	</a:t>
                </a:r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B777F0-6C66-4794-8C57-FAC14AE5D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97" y="436383"/>
                <a:ext cx="10799805" cy="5043945"/>
              </a:xfrm>
              <a:prstGeom prst="rect">
                <a:avLst/>
              </a:prstGeom>
              <a:blipFill>
                <a:blip r:embed="rId2"/>
                <a:stretch>
                  <a:fillRect l="-226" t="-9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48598F-ACCD-4FF1-B9E4-73A65CCF9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25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5F5D8-AFAC-4608-9BB3-8689C6E959BD}"/>
              </a:ext>
            </a:extLst>
          </p:cNvPr>
          <p:cNvSpPr txBox="1"/>
          <p:nvPr/>
        </p:nvSpPr>
        <p:spPr>
          <a:xfrm>
            <a:off x="453081" y="370703"/>
            <a:ext cx="11368215" cy="63507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487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4E0AE-E081-45EA-BF18-C831BC23D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411" y="263611"/>
            <a:ext cx="11038703" cy="3641124"/>
          </a:xfrm>
        </p:spPr>
        <p:txBody>
          <a:bodyPr>
            <a:normAutofit/>
          </a:bodyPr>
          <a:lstStyle/>
          <a:p>
            <a:r>
              <a:rPr lang="en-US" sz="8000" b="1" dirty="0"/>
              <a:t>Thank you</a:t>
            </a:r>
            <a:endParaRPr lang="en-IN" sz="8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AB36B-2F56-4870-A641-AD2931885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E58D4-405A-440C-A704-BF1BC7FA81F1}" type="slidenum">
              <a:rPr lang="en-IN" smtClean="0"/>
              <a:t>26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B1BECA-B54F-4269-B60D-D96FDA547774}"/>
              </a:ext>
            </a:extLst>
          </p:cNvPr>
          <p:cNvSpPr txBox="1"/>
          <p:nvPr/>
        </p:nvSpPr>
        <p:spPr>
          <a:xfrm>
            <a:off x="263611" y="148281"/>
            <a:ext cx="11565924" cy="6573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082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5025</TotalTime>
  <Words>2444</Words>
  <Application>Microsoft Macintosh PowerPoint</Application>
  <PresentationFormat>Widescreen</PresentationFormat>
  <Paragraphs>392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LatinModernMath-Regular-Identity-H</vt:lpstr>
      <vt:lpstr>LMRoman12-Regular-Identity-H</vt:lpstr>
      <vt:lpstr>Times New Roman</vt:lpstr>
      <vt:lpstr>Wingdings</vt:lpstr>
      <vt:lpstr>Office Theme</vt:lpstr>
      <vt:lpstr>Hydrodynamics of Fractal Aggregates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Hydrodynamics of Fractal Aggregates</dc:title>
  <dc:creator>Ashwin Amalaruban</dc:creator>
  <cp:lastModifiedBy>Ashwin Amalaruban M</cp:lastModifiedBy>
  <cp:revision>128</cp:revision>
  <dcterms:created xsi:type="dcterms:W3CDTF">2020-06-26T15:05:53Z</dcterms:created>
  <dcterms:modified xsi:type="dcterms:W3CDTF">2026-04-30T22:38:31Z</dcterms:modified>
</cp:coreProperties>
</file>