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69" r:id="rId2"/>
    <p:sldId id="280" r:id="rId3"/>
    <p:sldId id="256" r:id="rId4"/>
    <p:sldId id="258" r:id="rId5"/>
    <p:sldId id="281" r:id="rId6"/>
    <p:sldId id="268" r:id="rId7"/>
    <p:sldId id="261" r:id="rId8"/>
    <p:sldId id="260" r:id="rId9"/>
    <p:sldId id="271" r:id="rId10"/>
    <p:sldId id="263" r:id="rId11"/>
    <p:sldId id="275" r:id="rId12"/>
    <p:sldId id="276" r:id="rId13"/>
    <p:sldId id="265" r:id="rId14"/>
    <p:sldId id="272" r:id="rId15"/>
    <p:sldId id="274" r:id="rId16"/>
    <p:sldId id="270" r:id="rId17"/>
    <p:sldId id="266" r:id="rId18"/>
    <p:sldId id="277" r:id="rId19"/>
    <p:sldId id="267" r:id="rId20"/>
    <p:sldId id="278" r:id="rId21"/>
    <p:sldId id="279" r:id="rId22"/>
    <p:sldId id="28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62" autoAdjust="0"/>
    <p:restoredTop sz="94291" autoAdjust="0"/>
  </p:normalViewPr>
  <p:slideViewPr>
    <p:cSldViewPr snapToGrid="0">
      <p:cViewPr varScale="1">
        <p:scale>
          <a:sx n="65" d="100"/>
          <a:sy n="65" d="100"/>
        </p:scale>
        <p:origin x="1032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284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A8BFD5-4EE5-4DD0-834C-104630FB78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13CAD0-336F-4148-9C5B-BC1DBDD557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09ABA-FD4E-4A6D-897E-6F97E1A9FEA0}" type="datetimeFigureOut">
              <a:rPr lang="en-IN" smtClean="0"/>
              <a:t>13-05-2021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A53CE4-8D3C-4D34-8825-01CF35C3FF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CB6E0C-7842-44A6-B182-C11E1D68DFA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872958-2437-43B8-A4B3-06ED74EE0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36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94C81-6A78-42C6-AAD6-8E8BC796DF7B}" type="datetimeFigureOut">
              <a:rPr lang="en-IN" smtClean="0"/>
              <a:t>13-05-2021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73D9C-2174-4A68-A007-C868E89B2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212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3D9C-2174-4A68-A007-C868E89B25E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540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AB611-CE6D-4D20-A4DF-B04C4620C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E0FC8-0980-472C-8C26-C33609B2F4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370AB-AE65-4589-9A18-1EF30767F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6853-3F8F-4595-B3E8-63590B13C385}" type="datetime1">
              <a:rPr lang="en-IN" smtClean="0"/>
              <a:t>13-05-2021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E57E4-B54F-4173-959A-CBF2CF44F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5E121-AE98-414F-B01B-2AD9A77CA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206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94B86-DCB7-4981-8E35-E73B3607E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0F81-E375-40A0-AF05-75C07F5B9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C5F40-7805-4006-8904-885002BF7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4BE6-1EB1-4A8D-8138-4518B1C98894}" type="datetime1">
              <a:rPr lang="en-IN" smtClean="0"/>
              <a:t>13-05-2021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8A2CE-1854-460E-B7CD-1080D531C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0F526-7D1E-4122-8E51-983BF011B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481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5FF0-E8A8-41B0-A4CE-3E3BD241C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08F68-09DB-4177-B40C-A63F7E98F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7A398-7335-4F82-A7E4-817EDAFF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F886-F11C-4A39-9661-106F80C9D1B9}" type="datetime1">
              <a:rPr lang="en-IN" smtClean="0"/>
              <a:t>13-05-2021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69FEE-9AE2-4A1C-BBA6-2EDC51794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C6361-2AFF-486B-A1D4-B136E2F7B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165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791F3-0629-4AA7-9DB7-B1F979662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64C29-48F2-42F4-BCBD-3DEA0E6BE0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0CC3C-8992-4196-8244-4BE240A16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B91B6-E68B-43CC-827D-64D0736B3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50EA1-EE71-4E1B-98E1-EB4E90D257AB}" type="datetime1">
              <a:rPr lang="en-IN" smtClean="0"/>
              <a:t>13-05-2021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91671-C1D2-4016-8467-9DEE293A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97F61-CE32-49B1-B1F6-D947EDC16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560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34622-5D34-41D3-A391-3FFFD2035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892F8-B24D-4477-827C-E6D328F08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9B273-DBE7-4BE7-9AEF-EED1E03A4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DB9E3A-87E5-429B-817C-E34589863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574427-20BA-4D35-ADBF-68E9D9F197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D7C6B3-2CC0-40F5-8029-1AF03D01A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CDE4-154C-45B0-8A42-8518C59EF64E}" type="datetime1">
              <a:rPr lang="en-IN" smtClean="0"/>
              <a:t>13-05-2021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0AD6B5-6E16-4582-B637-CB72640C5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305F92-A900-4DA5-92DF-FB2134BD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077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B45DB-6CF7-419C-A6A0-C2284116A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DF911B-2968-43BF-A14D-E6394F07F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37996-DADA-4C24-8113-12FC03BBDAC9}" type="datetime1">
              <a:rPr lang="en-IN" smtClean="0"/>
              <a:t>13-05-2021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5A534D-CE73-4029-9145-53910EC9B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08A033-B70C-4A4C-98B5-4DCCD047E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186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503876-7DBD-4C8E-ADF1-8283046A0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0E6F-1BA6-41EC-A3FD-2D5D34F33BA1}" type="datetime1">
              <a:rPr lang="en-IN" smtClean="0"/>
              <a:t>13-05-2021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F8FA2E-23C9-49A8-A682-EA60915D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AF326-669E-4908-A71A-1F1A0A4D5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515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30256-AE13-4B38-9F1F-1E440CB22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80F99-0E71-4BAE-8348-354F6D07A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0A890-77CB-4041-BA4D-7DE7126BD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59664-CD63-4323-B92E-D99C52E12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A9A7F-D2A0-44F5-AB7A-DCE4B99430B8}" type="datetime1">
              <a:rPr lang="en-IN" smtClean="0"/>
              <a:t>13-05-2021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D60F8-5E6E-49C4-998A-998DBC2A9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BD9A3-1E82-4392-A40C-0CED31F13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897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D48BE-A8C3-4EB5-8452-5D6D574E4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16D50F-099C-4CB0-BAAF-7E01AE0377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AA53C-27E9-44A0-86DA-6459D3785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A20CC-5204-468D-A20A-97655FAE6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A4DD8-32C0-4A39-B019-9F362FAE45EF}" type="datetime1">
              <a:rPr lang="en-IN" smtClean="0"/>
              <a:t>13-05-2021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E7D41-9230-43FF-BFE7-0569C27D9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A6877-F2DD-4B34-AB7A-2D27068F9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92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62A9-04D7-41C2-82B5-E078B43BD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6E1245-4F23-468D-87F8-12A5D19EC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418F1-C22B-42A6-84EA-67063322B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4D70-16A9-4CE6-B683-B2AD7C2B494C}" type="datetime1">
              <a:rPr lang="en-IN" smtClean="0"/>
              <a:t>13-05-2021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1F9F2-05D4-4028-8350-DB76D8816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B4033-76F7-4C07-B494-C57E27163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80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DE75C-FEF0-40B0-891C-653926B39B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5D063-E704-4F43-9AC0-9E9AC9E06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B0C79-CC26-4B2E-9196-09DA0FD0A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CD01-C378-4EB0-B3D8-9F940653462C}" type="datetime1">
              <a:rPr lang="en-IN" smtClean="0"/>
              <a:t>13-05-2021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0C1B6-F887-41DA-8249-6C97625F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7A021-06BB-4BF9-9CA0-56FB19E4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35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B84636-FE88-4413-BE10-090C40944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E059E-A8D4-48AF-85E5-6BA349EC2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50CDF-7BBC-4566-9C6F-862D208F2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03802-8590-41D7-8E3E-FEC9F959B330}" type="datetime1">
              <a:rPr lang="en-IN" smtClean="0"/>
              <a:t>13-05-2021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0B6FC-36FD-454D-8BD9-E666C8F28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E0C2E-08A0-44E9-8BDF-FFC8DC6D9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51650-9D57-45CF-8CE6-DD25302BD2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806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4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42.png"/><Relationship Id="rId4" Type="http://schemas.openxmlformats.org/officeDocument/2006/relationships/image" Target="../media/image2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B075D-1FCE-422C-9FB2-08FE00287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7680"/>
            <a:ext cx="9144000" cy="2387600"/>
          </a:xfrm>
        </p:spPr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DOI-OHTA model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F863E0-0F92-4AAD-9151-E45B2693C9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CL651 Course project by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Ashwin Amalaruban – 193020020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Instructor:Prof. Jyoti Seth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Date: 13-05-2021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B203A-6422-4BAE-9148-0A0141C10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1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7C4750-A084-4408-9F9F-298FDF92432A}"/>
              </a:ext>
            </a:extLst>
          </p:cNvPr>
          <p:cNvSpPr/>
          <p:nvPr/>
        </p:nvSpPr>
        <p:spPr>
          <a:xfrm>
            <a:off x="147484" y="136525"/>
            <a:ext cx="11887200" cy="658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183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373"/>
    </mc:Choice>
    <mc:Fallback>
      <p:transition spd="slow" advTm="637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5B76D2-48E8-45DF-91AA-ABF9013B25F3}"/>
                  </a:ext>
                </a:extLst>
              </p:cNvPr>
              <p:cNvSpPr txBox="1"/>
              <p:nvPr/>
            </p:nvSpPr>
            <p:spPr>
              <a:xfrm>
                <a:off x="838200" y="136525"/>
                <a:ext cx="11177362" cy="5411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:r>
                  <a:rPr lang="en-US" sz="2400" b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Introduction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q"/>
                </a:pP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Mixing two immiscible fluids </a:t>
                </a: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Droplets  Deform, break or coalesce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q"/>
                </a:pP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Various physical states  Different rheological response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q"/>
                </a:pPr>
                <a:r>
                  <a:rPr lang="en-IN" sz="180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Theoretically there weren’t many results to determine stress in such systems.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q"/>
                </a:pPr>
                <a:r>
                  <a:rPr lang="en-US" u="sng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Deformation of a single droplet by Taylor</a:t>
                </a:r>
              </a:p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Pressure difference inside and outside the droplet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  </m:t>
                    </m:r>
                    <m:r>
                      <a:rPr lang="en-IN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∆</m:t>
                    </m:r>
                    <m:r>
                      <a:rPr lang="en-IN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IN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 </m:t>
                    </m:r>
                    <m:r>
                      <m:rPr>
                        <m:sty m:val="p"/>
                      </m:rPr>
                      <a:rPr lang="en-IN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Δ</m:t>
                    </m:r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𝐺</m:t>
                        </m:r>
                      </m:sub>
                    </m:sSub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+</m:t>
                    </m:r>
                    <m:f>
                      <m:f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𝛤</m:t>
                        </m:r>
                      </m:num>
                      <m:den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𝑏</m:t>
                        </m:r>
                      </m:den>
                    </m:f>
                  </m:oMath>
                </a14:m>
                <a:endParaRPr lang="en-US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Breakup characterised by two parameters: </a:t>
                </a:r>
                <a:r>
                  <a:rPr lang="en-IN" sz="180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Capillary number</a:t>
                </a:r>
                <a:r>
                  <a:rPr lang="en-IN">
                    <a:solidFill>
                      <a:srgbClr val="C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and </a:t>
                </a:r>
                <a:r>
                  <a:rPr lang="en-IN" sz="180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viscosity ratio</a:t>
                </a:r>
                <a:r>
                  <a:rPr lang="en-IN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(p)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q"/>
                </a:pPr>
                <a:endParaRPr lang="en-IN" sz="18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q"/>
                </a:pPr>
                <a:endParaRPr lang="en-IN">
                  <a:solidFill>
                    <a:srgbClr val="C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5B76D2-48E8-45DF-91AA-ABF9013B2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6525"/>
                <a:ext cx="11177362" cy="5411225"/>
              </a:xfrm>
              <a:prstGeom prst="rect">
                <a:avLst/>
              </a:prstGeom>
              <a:blipFill>
                <a:blip r:embed="rId2"/>
                <a:stretch>
                  <a:fillRect l="-3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5A06F-B72F-4375-AD14-F2B4648B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2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A044B1-3F82-4F71-8506-BB2AB14D53FB}"/>
              </a:ext>
            </a:extLst>
          </p:cNvPr>
          <p:cNvSpPr/>
          <p:nvPr/>
        </p:nvSpPr>
        <p:spPr>
          <a:xfrm>
            <a:off x="147484" y="136525"/>
            <a:ext cx="11887200" cy="658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F68A8A-5650-4F6B-AF95-4051D0B66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505" y="4646193"/>
            <a:ext cx="2130030" cy="20314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77594A-EAA3-45B6-8633-19D435D278AE}"/>
                  </a:ext>
                </a:extLst>
              </p:cNvPr>
              <p:cNvSpPr txBox="1"/>
              <p:nvPr/>
            </p:nvSpPr>
            <p:spPr>
              <a:xfrm>
                <a:off x="819078" y="4866735"/>
                <a:ext cx="6381911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=2 ×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Water in silicone oil</a:t>
                </a:r>
              </a:p>
              <a:p>
                <a:endParaRPr 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Castor oil in silicone oil</a:t>
                </a:r>
              </a:p>
              <a:p>
                <a:endParaRPr 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=0.7 </m:t>
                    </m:r>
                  </m:oMath>
                </a14:m>
                <a:r>
                  <a: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Castor oil in corn syrup</a:t>
                </a:r>
              </a:p>
              <a:p>
                <a:endParaRPr 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Viscous silicon oil in castor oil</a:t>
                </a:r>
                <a:endParaRPr lang="en-IN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400" b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77594A-EAA3-45B6-8633-19D435D27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78" y="4866735"/>
                <a:ext cx="6381911" cy="1815882"/>
              </a:xfrm>
              <a:prstGeom prst="rect">
                <a:avLst/>
              </a:prstGeom>
              <a:blipFill>
                <a:blip r:embed="rId4"/>
                <a:stretch>
                  <a:fillRect t="-3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3C2AD44-D1F9-4BE7-85DC-28E50C0ED5EC}"/>
              </a:ext>
            </a:extLst>
          </p:cNvPr>
          <p:cNvSpPr txBox="1"/>
          <p:nvPr/>
        </p:nvSpPr>
        <p:spPr>
          <a:xfrm>
            <a:off x="6258234" y="6335982"/>
            <a:ext cx="4850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Fig 1: Droplet shapes in shearing flows</a:t>
            </a:r>
            <a:endParaRPr lang="en-IN" sz="1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C68B7A-17A9-4674-8D32-F80F6960BD7A}"/>
                  </a:ext>
                </a:extLst>
              </p:cNvPr>
              <p:cNvSpPr txBox="1"/>
              <p:nvPr/>
            </p:nvSpPr>
            <p:spPr>
              <a:xfrm>
                <a:off x="6398043" y="4697587"/>
                <a:ext cx="6098458" cy="1115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18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IN" sz="18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≤0.05, </m:t>
                    </m:r>
                  </m:oMath>
                </a14:m>
                <a:r>
                  <a:rPr lang="en-IN" sz="180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droplet deform more before they break. </a:t>
                </a:r>
              </a:p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18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IN" sz="18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≥4</m:t>
                    </m:r>
                  </m:oMath>
                </a14:m>
                <a:r>
                  <a:rPr lang="en-IN" sz="180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no breakup observed.</a:t>
                </a:r>
                <a:endParaRPr lang="en-IN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C68B7A-17A9-4674-8D32-F80F6960B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043" y="4697587"/>
                <a:ext cx="6098458" cy="1115947"/>
              </a:xfrm>
              <a:prstGeom prst="rect">
                <a:avLst/>
              </a:prstGeom>
              <a:blipFill>
                <a:blip r:embed="rId5"/>
                <a:stretch>
                  <a:fillRect l="-700" b="-81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8ABEDF24-9091-4A91-A5F3-2A32788CC45C}"/>
              </a:ext>
            </a:extLst>
          </p:cNvPr>
          <p:cNvCxnSpPr/>
          <p:nvPr/>
        </p:nvCxnSpPr>
        <p:spPr>
          <a:xfrm rot="10800000">
            <a:off x="5899356" y="4866735"/>
            <a:ext cx="648929" cy="20671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E4E9C4FB-3ABA-4CF0-9724-3DE6F7C14394}"/>
              </a:ext>
            </a:extLst>
          </p:cNvPr>
          <p:cNvCxnSpPr>
            <a:cxnSpLocks/>
          </p:cNvCxnSpPr>
          <p:nvPr/>
        </p:nvCxnSpPr>
        <p:spPr>
          <a:xfrm rot="5400000">
            <a:off x="5792122" y="5600189"/>
            <a:ext cx="760458" cy="751868"/>
          </a:xfrm>
          <a:prstGeom prst="curvedConnector3">
            <a:avLst>
              <a:gd name="adj1" fmla="val 9266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928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237"/>
    </mc:Choice>
    <mc:Fallback>
      <p:transition spd="slow" advTm="5623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D6E141-BA46-443E-8745-5E1AE84EE0C5}"/>
                  </a:ext>
                </a:extLst>
              </p:cNvPr>
              <p:cNvSpPr txBox="1"/>
              <p:nvPr/>
            </p:nvSpPr>
            <p:spPr>
              <a:xfrm>
                <a:off x="660463" y="435816"/>
                <a:ext cx="11209530" cy="51635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b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DOI-OHTA Model</a:t>
                </a:r>
              </a:p>
              <a:p>
                <a:pPr algn="ctr">
                  <a:lnSpc>
                    <a:spcPct val="200000"/>
                  </a:lnSpc>
                </a:pPr>
                <a:r>
                  <a:rPr lang="en-US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immiscible Newtonian fluids of equal viscosity and density with 50:50 composition.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Rheology of blend affected by the presence of interfaces.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Batchelor(1970) introduced the shape tensor to quantify the orientation of interface.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αβ</m:t>
                          </m:r>
                        </m:sub>
                      </m:sSub>
                      <m:r>
                        <a:rPr lang="en-IN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𝑑𝑆</m:t>
                          </m:r>
                          <m:d>
                            <m:d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𝛼𝛽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00000"/>
                  </a:lnSpc>
                </a:pP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Isotropic distribution if q=0</a:t>
                </a:r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Surface area also changes with different flow conditions.</a:t>
                </a:r>
                <a:endParaRPr lang="en-IN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80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Constitutive equations</a:t>
                </a: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Interfacial tensor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αβ</m:t>
                        </m:r>
                      </m:sub>
                    </m:sSub>
                  </m:oMath>
                </a14:m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and Q=A/V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8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𝛼𝛽</m:t>
                            </m:r>
                          </m:sub>
                        </m:sSub>
                      </m:num>
                      <m:den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𝛼𝛽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𝑑𝑡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nor/>
                          </m:rPr>
                          <a:rPr lang="en-IN" sz="18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flow</m:t>
                        </m:r>
                        <m:r>
                          <m:rPr>
                            <m:nor/>
                          </m:rPr>
                          <a:rPr lang="en-IN" sz="18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𝛼𝛽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𝑑𝑡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nor/>
                          </m:rPr>
                          <a:rPr lang="en-IN" sz="18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interfacial</m:t>
                        </m:r>
                        <m:r>
                          <m:rPr>
                            <m:nor/>
                          </m:rPr>
                          <a:rPr lang="en-IN" sz="18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18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tension</m:t>
                        </m:r>
                        <m:r>
                          <m:rPr>
                            <m:nor/>
                          </m:rPr>
                          <a:rPr lang="en-IN" sz="18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D6E141-BA46-443E-8745-5E1AE84EE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63" y="435816"/>
                <a:ext cx="11209530" cy="5163593"/>
              </a:xfrm>
              <a:prstGeom prst="rect">
                <a:avLst/>
              </a:prstGeom>
              <a:blipFill>
                <a:blip r:embed="rId2"/>
                <a:stretch>
                  <a:fillRect l="-326" b="-228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14AAFD65-C70C-4D77-A9E9-E80938D3BCC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919452" y="4380502"/>
            <a:ext cx="4612085" cy="158047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79B739F-8F9C-4EAF-A5AC-8640A92C21C0}"/>
              </a:ext>
            </a:extLst>
          </p:cNvPr>
          <p:cNvCxnSpPr/>
          <p:nvPr/>
        </p:nvCxnSpPr>
        <p:spPr>
          <a:xfrm>
            <a:off x="3379840" y="5534791"/>
            <a:ext cx="0" cy="417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4773369-B058-4719-ADD6-543338C38BB6}"/>
              </a:ext>
            </a:extLst>
          </p:cNvPr>
          <p:cNvCxnSpPr/>
          <p:nvPr/>
        </p:nvCxnSpPr>
        <p:spPr>
          <a:xfrm>
            <a:off x="4613281" y="5543702"/>
            <a:ext cx="0" cy="417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745E2F-6488-422C-8E21-23908016DA48}"/>
                  </a:ext>
                </a:extLst>
              </p:cNvPr>
              <p:cNvSpPr txBox="1"/>
              <p:nvPr/>
            </p:nvSpPr>
            <p:spPr>
              <a:xfrm>
                <a:off x="2794821" y="5952066"/>
                <a:ext cx="12388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745E2F-6488-422C-8E21-23908016D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821" y="5952066"/>
                <a:ext cx="123886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7563921-8131-47B3-A81E-204C5D169CA2}"/>
                  </a:ext>
                </a:extLst>
              </p:cNvPr>
              <p:cNvSpPr txBox="1"/>
              <p:nvPr/>
            </p:nvSpPr>
            <p:spPr>
              <a:xfrm>
                <a:off x="4033685" y="5952066"/>
                <a:ext cx="12388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7563921-8131-47B3-A81E-204C5D169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685" y="5952066"/>
                <a:ext cx="123886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3FC4909-737C-4F01-B878-C63324E25FE1}"/>
              </a:ext>
            </a:extLst>
          </p:cNvPr>
          <p:cNvSpPr txBox="1"/>
          <p:nvPr/>
        </p:nvSpPr>
        <p:spPr>
          <a:xfrm>
            <a:off x="6817026" y="5954227"/>
            <a:ext cx="6098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 2: Representation of normal and surface of an interface for blends</a:t>
            </a:r>
            <a:endParaRPr lang="en-IN" sz="1400" i="1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27CD110-93A4-4DB7-A052-5E9A34D20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3</a:t>
            </a:fld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5376EB-3AFC-431A-B726-D2FA814EC5AA}"/>
              </a:ext>
            </a:extLst>
          </p:cNvPr>
          <p:cNvSpPr/>
          <p:nvPr/>
        </p:nvSpPr>
        <p:spPr>
          <a:xfrm>
            <a:off x="147484" y="136525"/>
            <a:ext cx="11887200" cy="658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575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719"/>
    </mc:Choice>
    <mc:Fallback>
      <p:transition spd="slow" advTm="6471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BC846A-A39E-45F5-997E-D21B8B30D18D}"/>
                  </a:ext>
                </a:extLst>
              </p:cNvPr>
              <p:cNvSpPr txBox="1"/>
              <p:nvPr/>
            </p:nvSpPr>
            <p:spPr>
              <a:xfrm>
                <a:off x="838200" y="1215016"/>
                <a:ext cx="11130306" cy="5194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Transformation of surface element of the interface during flow.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Time evolution of interfacial tensor due to flow</a:t>
                </a:r>
                <a:endParaRPr lang="en-IN" sz="1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80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IN" sz="1800" i="1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IN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𝛼𝛽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m:rPr>
                              <m:nor/>
                            </m:rPr>
                            <a:rPr lang="en-IN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flow</m:t>
                          </m:r>
                          <m:r>
                            <m:rPr>
                              <m:nor/>
                            </m:rPr>
                            <a:rPr lang="en-IN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𝛼𝛾</m:t>
                          </m:r>
                        </m:sub>
                      </m:sSub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𝛾𝛽</m:t>
                          </m:r>
                        </m:sub>
                      </m:sSub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𝛽𝛾</m:t>
                          </m:r>
                        </m:sub>
                      </m:sSub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𝛾𝛼</m:t>
                          </m:r>
                        </m:sub>
                      </m:sSub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𝛼𝛽</m:t>
                          </m:r>
                        </m:sub>
                      </m:sSub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𝜇𝜈</m:t>
                          </m:r>
                        </m:sub>
                      </m:sSub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𝜇𝜈</m:t>
                          </m:r>
                        </m:sub>
                      </m:sSub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𝛼𝛽</m:t>
                              </m:r>
                            </m:sub>
                          </m:s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𝛽𝛼</m:t>
                              </m:r>
                            </m:sub>
                          </m:sSub>
                        </m:e>
                      </m:d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𝜇𝜈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𝜇𝜈</m:t>
                              </m:r>
                            </m:sub>
                          </m:sSub>
                        </m:num>
                        <m:den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den>
                      </m:f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𝛼𝛽</m:t>
                          </m:r>
                        </m:sub>
                      </m:sSub>
                    </m:oMath>
                  </m:oMathPara>
                </a14:m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Time evolution of area of interface per unit volume</a:t>
                </a:r>
                <a:endParaRPr lang="en-IN" sz="1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𝑑𝑄</m:t>
                                  </m:r>
                                </m:num>
                                <m:den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m:rPr>
                              <m:nor/>
                            </m:rPr>
                            <a:rPr lang="en-IN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flow</m:t>
                          </m:r>
                          <m:r>
                            <m:rPr>
                              <m:nor/>
                            </m:rPr>
                            <a:rPr lang="en-IN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𝛼𝛽</m:t>
                          </m:r>
                        </m:sub>
                      </m:sSub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𝛼𝛽</m:t>
                          </m:r>
                        </m:sub>
                      </m:sSub>
                    </m:oMath>
                  </m:oMathPara>
                </a14:m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b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Stress tensor</a:t>
                </a: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Stress contributions from isotropic pressure, the flow and interfacial tension.</a:t>
                </a:r>
              </a:p>
              <a:p>
                <a:pPr algn="ctr">
                  <a:lnSpc>
                    <a:spcPct val="200000"/>
                  </a:lnSpc>
                </a:pPr>
                <a:r>
                  <a:rPr lang="en-IN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𝛼𝛽</m:t>
                        </m:r>
                      </m:sub>
                    </m:sSub>
                    <m:r>
                      <a:rPr lang="en-IN" i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  <m:sSub>
                      <m:sSubPr>
                        <m:ctrlPr>
                          <a:rPr lang="en-IN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𝛼𝛽</m:t>
                        </m:r>
                      </m:sub>
                    </m:sSub>
                    <m:r>
                      <a:rPr lang="en-IN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IN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i="0">
                                <a:latin typeface="Cambria Math" panose="02040503050406030204" pitchFamily="18" charset="0"/>
                              </a:rPr>
                              <m:t>κ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i="0">
                                <a:latin typeface="Cambria Math" panose="02040503050406030204" pitchFamily="18" charset="0"/>
                              </a:rPr>
                              <m:t>αβ</m:t>
                            </m:r>
                          </m:sub>
                        </m:sSub>
                        <m:r>
                          <a:rPr lang="en-IN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𝛽𝛼</m:t>
                            </m:r>
                          </m:sub>
                        </m:sSub>
                        <m:r>
                          <a:rPr lang="en-IN" i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IN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𝛤</m:t>
                    </m:r>
                    <m:sSub>
                      <m:sSubPr>
                        <m:ctrlPr>
                          <a:rPr lang="en-I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αβ</m:t>
                        </m:r>
                      </m:sub>
                    </m:sSub>
                  </m:oMath>
                </a14:m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BC846A-A39E-45F5-997E-D21B8B30D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15016"/>
                <a:ext cx="11130306" cy="5194884"/>
              </a:xfrm>
              <a:prstGeom prst="rect">
                <a:avLst/>
              </a:prstGeom>
              <a:blipFill>
                <a:blip r:embed="rId2"/>
                <a:stretch>
                  <a:fillRect l="-4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578FC55-5745-470D-B7A4-DD7F3A7F98C9}"/>
              </a:ext>
            </a:extLst>
          </p:cNvPr>
          <p:cNvSpPr txBox="1"/>
          <p:nvPr/>
        </p:nvSpPr>
        <p:spPr>
          <a:xfrm>
            <a:off x="4599171" y="569588"/>
            <a:ext cx="5461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Deformation by flow</a:t>
            </a:r>
            <a:endParaRPr lang="en-IN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90CFBA-6FDD-4CA8-87E0-4F8F779745F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850810" y="534443"/>
            <a:ext cx="2761169" cy="1538468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DF89F7D-503A-4E7F-8538-9691E2FC5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4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6C558-9737-4BFC-B9AC-3D917427005F}"/>
              </a:ext>
            </a:extLst>
          </p:cNvPr>
          <p:cNvSpPr/>
          <p:nvPr/>
        </p:nvSpPr>
        <p:spPr>
          <a:xfrm>
            <a:off x="147484" y="136525"/>
            <a:ext cx="11887200" cy="658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888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784"/>
    </mc:Choice>
    <mc:Fallback>
      <p:transition spd="slow" advTm="2478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D66B56-A7F8-4231-8A59-C755C4FBF436}"/>
              </a:ext>
            </a:extLst>
          </p:cNvPr>
          <p:cNvSpPr txBox="1"/>
          <p:nvPr/>
        </p:nvSpPr>
        <p:spPr>
          <a:xfrm>
            <a:off x="803031" y="280074"/>
            <a:ext cx="10550769" cy="3735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Relaxation by Interfacial tension</a:t>
            </a:r>
          </a:p>
          <a:p>
            <a:pPr algn="ctr">
              <a:lnSpc>
                <a:spcPct val="15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First order kinetics for the relaxation process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Relaxation of Q: Characterised by a single relaxation rate.</a:t>
            </a:r>
          </a:p>
          <a:p>
            <a:pPr>
              <a:lnSpc>
                <a:spcPct val="150000"/>
              </a:lnSpc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9F851C-0CC0-47D8-BEBC-1848FC4C0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338" y="3691740"/>
            <a:ext cx="659836" cy="2083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F40C19-7261-47AA-B79A-9EB95BF6C225}"/>
                  </a:ext>
                </a:extLst>
              </p:cNvPr>
              <p:cNvSpPr txBox="1"/>
              <p:nvPr/>
            </p:nvSpPr>
            <p:spPr>
              <a:xfrm>
                <a:off x="2451635" y="1675600"/>
                <a:ext cx="6098458" cy="2059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</m:d>
                        </m:e>
                        <m:sub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relax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    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𝑄</m:t>
                      </m:r>
                    </m:oMath>
                  </m:oMathPara>
                </a14:m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𝛼𝛽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𝑄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  <m:sub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relax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𝛼𝛽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F40C19-7261-47AA-B79A-9EB95BF6C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635" y="1675600"/>
                <a:ext cx="6098458" cy="20590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CEAAF5-8296-413E-80A8-41DE2AAD6C5E}"/>
                  </a:ext>
                </a:extLst>
              </p:cNvPr>
              <p:cNvSpPr txBox="1"/>
              <p:nvPr/>
            </p:nvSpPr>
            <p:spPr>
              <a:xfrm>
                <a:off x="5501747" y="1765826"/>
                <a:ext cx="6098458" cy="10756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</m:d>
                        </m:e>
                        <m:sub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relax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𝜆𝜇</m:t>
                      </m:r>
                      <m:sSup>
                        <m:sSup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1800" i="1"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CEAAF5-8296-413E-80A8-41DE2AAD6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1747" y="1765826"/>
                <a:ext cx="6098458" cy="10756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D539A58-1B76-4899-9E21-105934225612}"/>
                  </a:ext>
                </a:extLst>
              </p:cNvPr>
              <p:cNvSpPr txBox="1"/>
              <p:nvPr/>
            </p:nvSpPr>
            <p:spPr>
              <a:xfrm>
                <a:off x="5434063" y="2962058"/>
                <a:ext cx="6098458" cy="7478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𝛼𝛽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relax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𝑄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𝛼𝛽</m:t>
                          </m:r>
                        </m:sub>
                      </m:sSub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D539A58-1B76-4899-9E21-105934225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063" y="2962058"/>
                <a:ext cx="6098458" cy="7478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1A5EB8-6C94-405A-A2F0-059DAE2FE81D}"/>
                  </a:ext>
                </a:extLst>
              </p:cNvPr>
              <p:cNvSpPr txBox="1"/>
              <p:nvPr/>
            </p:nvSpPr>
            <p:spPr>
              <a:xfrm>
                <a:off x="3210113" y="4379065"/>
                <a:ext cx="7926810" cy="949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𝑟𝑒𝑙𝑎𝑥𝑎𝑡𝑖𝑜𝑛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𝑟𝑎𝑡𝑒</m:t>
                          </m:r>
                        </m:num>
                        <m:den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𝑡𝑜𝑡𝑎𝑙</m:t>
                          </m:r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𝑟𝑒𝑙𝑎𝑥𝑎𝑡𝑖𝑜𝑛</m:t>
                          </m:r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𝑟𝑎𝑡𝑒</m:t>
                          </m:r>
                        </m:den>
                      </m:f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1A5EB8-6C94-405A-A2F0-059DAE2FE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0113" y="4379065"/>
                <a:ext cx="7926810" cy="9492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EB2FA5-5D20-4B41-AB80-E7CC7A8E029A}"/>
              </a:ext>
            </a:extLst>
          </p:cNvPr>
          <p:cNvCxnSpPr/>
          <p:nvPr/>
        </p:nvCxnSpPr>
        <p:spPr>
          <a:xfrm>
            <a:off x="5506950" y="2521268"/>
            <a:ext cx="166656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CA182D-E503-4998-8FE7-938E17119FBA}"/>
              </a:ext>
            </a:extLst>
          </p:cNvPr>
          <p:cNvCxnSpPr>
            <a:cxnSpLocks/>
          </p:cNvCxnSpPr>
          <p:nvPr/>
        </p:nvCxnSpPr>
        <p:spPr>
          <a:xfrm>
            <a:off x="5554286" y="3429000"/>
            <a:ext cx="165493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D26FA37-8623-4D11-9953-8A89D57EEB42}"/>
                  </a:ext>
                </a:extLst>
              </p:cNvPr>
              <p:cNvSpPr txBox="1"/>
              <p:nvPr/>
            </p:nvSpPr>
            <p:spPr>
              <a:xfrm>
                <a:off x="2451635" y="1949045"/>
                <a:ext cx="7676534" cy="533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IN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4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en-IN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40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D26FA37-8623-4D11-9953-8A89D57EE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635" y="1949045"/>
                <a:ext cx="7676534" cy="533608"/>
              </a:xfrm>
              <a:prstGeom prst="rect">
                <a:avLst/>
              </a:prstGeom>
              <a:blipFill>
                <a:blip r:embed="rId7"/>
                <a:stretch>
                  <a:fillRect b="-22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F3DC459-087C-47BB-8AB8-C62D691C696B}"/>
                  </a:ext>
                </a:extLst>
              </p:cNvPr>
              <p:cNvSpPr txBox="1"/>
              <p:nvPr/>
            </p:nvSpPr>
            <p:spPr>
              <a:xfrm>
                <a:off x="2451635" y="2839781"/>
                <a:ext cx="7676534" cy="533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IN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4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en-IN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40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F3DC459-087C-47BB-8AB8-C62D691C6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635" y="2839781"/>
                <a:ext cx="7676534" cy="533608"/>
              </a:xfrm>
              <a:prstGeom prst="rect">
                <a:avLst/>
              </a:prstGeom>
              <a:blipFill>
                <a:blip r:embed="rId8"/>
                <a:stretch>
                  <a:fillRect b="-22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EE7ABF7B-ECB0-4F06-B236-ED9C666C36A0}"/>
              </a:ext>
            </a:extLst>
          </p:cNvPr>
          <p:cNvSpPr txBox="1"/>
          <p:nvPr/>
        </p:nvSpPr>
        <p:spPr>
          <a:xfrm>
            <a:off x="803031" y="4071580"/>
            <a:ext cx="9695818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Two ways to relax Q: Droplet becomes spherical. Coagulation to form large droplet.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25E6F38-2739-4C77-B1C1-9EE854993827}"/>
                  </a:ext>
                </a:extLst>
              </p:cNvPr>
              <p:cNvSpPr txBox="1"/>
              <p:nvPr/>
            </p:nvSpPr>
            <p:spPr>
              <a:xfrm>
                <a:off x="839008" y="5332596"/>
                <a:ext cx="10267839" cy="873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00050" indent="-400050">
                  <a:lnSpc>
                    <a:spcPct val="150000"/>
                  </a:lnSpc>
                  <a:buFont typeface="+mj-lt"/>
                  <a:buAutoNum type="romanUcPeriod"/>
                </a:pP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=0, Size relaxation is quick: </a:t>
                </a:r>
                <a:r>
                  <a:rPr lang="en-IN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 is constant</a:t>
                </a: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00050" indent="-400050">
                  <a:lnSpc>
                    <a:spcPct val="150000"/>
                  </a:lnSpc>
                  <a:buFont typeface="+mj-lt"/>
                  <a:buAutoNum type="romanUcPeriod"/>
                </a:pP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=1, Size relaxation is slow.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25E6F38-2739-4C77-B1C1-9EE854993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08" y="5332596"/>
                <a:ext cx="10267839" cy="873572"/>
              </a:xfrm>
              <a:prstGeom prst="rect">
                <a:avLst/>
              </a:prstGeom>
              <a:blipFill>
                <a:blip r:embed="rId9"/>
                <a:stretch>
                  <a:fillRect l="-416" b="-104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95D1C63-0AB8-41C1-A9CC-3E98D202E0AB}"/>
                  </a:ext>
                </a:extLst>
              </p:cNvPr>
              <p:cNvSpPr txBox="1"/>
              <p:nvPr/>
            </p:nvSpPr>
            <p:spPr>
              <a:xfrm>
                <a:off x="10008750" y="2536017"/>
                <a:ext cx="2196194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Γ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95D1C63-0AB8-41C1-A9CC-3E98D202E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8750" y="2536017"/>
                <a:ext cx="2196194" cy="5078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F12AFC3A-C6D1-4B19-9CF7-AC667A154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5</a:t>
            </a:fld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3B5CE5-FD37-4136-934A-1BB6B43A1040}"/>
              </a:ext>
            </a:extLst>
          </p:cNvPr>
          <p:cNvSpPr/>
          <p:nvPr/>
        </p:nvSpPr>
        <p:spPr>
          <a:xfrm>
            <a:off x="147484" y="136525"/>
            <a:ext cx="11887200" cy="658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307F68-0CCF-492A-A289-830380C119A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6154" y="1874216"/>
            <a:ext cx="1485379" cy="192505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DCB0B82-A641-4011-8FB9-165A243E9A5F}"/>
              </a:ext>
            </a:extLst>
          </p:cNvPr>
          <p:cNvSpPr txBox="1"/>
          <p:nvPr/>
        </p:nvSpPr>
        <p:spPr>
          <a:xfrm>
            <a:off x="1091768" y="1712462"/>
            <a:ext cx="61058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endParaRPr lang="en-IN" sz="1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5030F6-2846-4444-814E-517ACC4B1633}"/>
              </a:ext>
            </a:extLst>
          </p:cNvPr>
          <p:cNvSpPr txBox="1"/>
          <p:nvPr/>
        </p:nvSpPr>
        <p:spPr>
          <a:xfrm>
            <a:off x="1018868" y="3745914"/>
            <a:ext cx="61058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232303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1909"/>
    </mc:Choice>
    <mc:Fallback>
      <p:transition spd="slow" advTm="9190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B7C9D7E-F3C9-4A1C-A7C6-73AB40C7AB50}"/>
                  </a:ext>
                </a:extLst>
              </p:cNvPr>
              <p:cNvSpPr txBox="1"/>
              <p:nvPr/>
            </p:nvSpPr>
            <p:spPr>
              <a:xfrm>
                <a:off x="595248" y="523959"/>
                <a:ext cx="7226315" cy="51783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:r>
                  <a:rPr lang="en-IN" sz="2400" b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Scaling laws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𝐪</m:t>
                    </m:r>
                    <m:r>
                      <a:rPr lang="en-IN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IN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Functions of </a:t>
                </a:r>
                <a14:m>
                  <m:oMath xmlns:m="http://schemas.openxmlformats.org/officeDocument/2006/math">
                    <m:r>
                      <a:rPr lang="en-IN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𝜅</m:t>
                    </m:r>
                    <m:d>
                      <m:dPr>
                        <m:ctrlPr>
                          <a:rPr lang="en-IN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→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𝑣𝑒𝑙𝑜𝑐𝑖𝑡𝑦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𝑔𝑟𝑎𝑑𝑖𝑒𝑛𝑡</m:t>
                    </m:r>
                  </m:oMath>
                </a14:m>
                <a:endParaRPr lang="en-IN" sz="1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1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𝐪</m:t>
                      </m:r>
                      <m:r>
                        <a:rPr lang="en-IN" sz="1800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1800" b="1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𝐪</m:t>
                      </m:r>
                      <m:r>
                        <a:rPr lang="en-IN" sz="1800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IN" sz="1800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IN" sz="1800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;[</m:t>
                      </m:r>
                      <m:r>
                        <a:rPr lang="en-IN" sz="1800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𝜅</m:t>
                      </m:r>
                      <m:r>
                        <a:rPr lang="en-IN" sz="1800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IN" sz="1800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IN" sz="1800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)]),</m:t>
                      </m:r>
                      <m:r>
                        <a:rPr lang="en-IN" sz="1800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en-IN" sz="1800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1800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en-IN" sz="1800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IN" sz="1800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IN" sz="1800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;[</m:t>
                      </m:r>
                      <m:r>
                        <a:rPr lang="en-IN" sz="1800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𝜅</m:t>
                      </m:r>
                      <m:r>
                        <a:rPr lang="en-IN" sz="1800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IN" sz="1800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IN" sz="1800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)])</m:t>
                      </m:r>
                    </m:oMath>
                  </m:oMathPara>
                </a14:m>
                <a:endParaRPr lang="en-IN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New velocity gradient at time </a:t>
                </a:r>
                <a:r>
                  <a:rPr lang="en-I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ct,</a:t>
                </a: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IN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IN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𝜿</m:t>
                        </m:r>
                      </m:e>
                    </m:acc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IN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𝜅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𝑐𝑡</m:t>
                    </m:r>
                  </m:oMath>
                </a14:m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𝐪</m:t>
                      </m:r>
                      <m:d>
                        <m:d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;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8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𝜿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IN" sz="18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IN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𝐪</m:t>
                      </m:r>
                      <m:d>
                        <m:d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𝑐𝑡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;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𝜿</m:t>
                              </m:r>
                              <m:d>
                                <m:dPr>
                                  <m:ctrlPr>
                                    <a:rPr lang="en-IN" sz="18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              </m:t>
                      </m:r>
                      <m:r>
                        <a:rPr lang="en-IN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en-IN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IN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IN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;[</m:t>
                      </m:r>
                      <m:acc>
                        <m:accPr>
                          <m:chr m:val="̃"/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𝜿</m:t>
                          </m:r>
                        </m:e>
                      </m:acc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)])=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𝑐𝑄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𝑐𝑡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;[</m:t>
                      </m:r>
                      <m:r>
                        <a:rPr lang="en-IN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𝜿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)]</m:t>
                      </m:r>
                    </m:oMath>
                  </m:oMathPara>
                </a14:m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New stress can be </a:t>
                </a:r>
                <a14:m>
                  <m:oMath xmlns:m="http://schemas.openxmlformats.org/officeDocument/2006/math">
                    <m:r>
                      <a:rPr lang="en-IN" sz="1800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IN" sz="1800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IN" sz="1800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IN" sz="1800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;[</m:t>
                    </m:r>
                    <m:acc>
                      <m:accPr>
                        <m:chr m:val="̃"/>
                        <m:ctrlPr>
                          <a:rPr lang="en-IN" sz="180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IN" sz="180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𝜅</m:t>
                        </m:r>
                      </m:e>
                    </m:acc>
                    <m:r>
                      <a:rPr lang="en-IN" sz="1800" i="1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IN" sz="1800" i="1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IN" sz="1800" i="1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)])=</m:t>
                    </m:r>
                    <m:r>
                      <a:rPr lang="en-IN" sz="1800" i="1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1800" i="1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IN" sz="1800" i="1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IN" sz="1800" i="1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𝑐𝑡</m:t>
                    </m:r>
                    <m:r>
                      <a:rPr lang="en-IN" sz="1800" i="1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;[</m:t>
                    </m:r>
                    <m:r>
                      <a:rPr lang="en-IN" sz="1800" b="1" i="1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𝜿</m:t>
                    </m:r>
                    <m:r>
                      <a:rPr lang="en-IN" sz="1800" i="1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IN" sz="1800" i="1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IN" sz="1800" i="1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)])</m:t>
                    </m:r>
                  </m:oMath>
                </a14:m>
                <a:endParaRPr lang="en-IN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Stress and first normal stress difference are linear in shear rate.</a:t>
                </a: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800" i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𝜎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𝑐</m:t>
                      </m:r>
                      <m:acc>
                        <m:accPr>
                          <m:chr m:val="̇"/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𝛾</m:t>
                          </m:r>
                        </m:e>
                      </m:acc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)=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𝑐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𝜎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(</m:t>
                      </m:r>
                      <m:acc>
                        <m:accPr>
                          <m:chr m:val="̇"/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𝛾</m:t>
                          </m:r>
                        </m:e>
                      </m:acc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 not exactly equal to 1 </a:t>
                </a: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Non-Newtonian effects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B7C9D7E-F3C9-4A1C-A7C6-73AB40C7A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48" y="523959"/>
                <a:ext cx="7226315" cy="5178341"/>
              </a:xfrm>
              <a:prstGeom prst="rect">
                <a:avLst/>
              </a:prstGeom>
              <a:blipFill>
                <a:blip r:embed="rId2"/>
                <a:stretch>
                  <a:fillRect l="-591" b="-10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C67201B-056D-4178-8AF4-5436D12B20C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983595" y="628313"/>
            <a:ext cx="3729431" cy="28001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DAA770-224C-457D-ADCE-5E64894AF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301" y="3393655"/>
            <a:ext cx="3729431" cy="294866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9DB02C1-E94D-46B7-9ABC-CF5C8E9F6EE3}"/>
              </a:ext>
            </a:extLst>
          </p:cNvPr>
          <p:cNvSpPr txBox="1"/>
          <p:nvPr/>
        </p:nvSpPr>
        <p:spPr>
          <a:xfrm>
            <a:off x="7983595" y="6034360"/>
            <a:ext cx="6099716" cy="46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i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Inability to explain </a:t>
            </a:r>
            <a:r>
              <a:rPr lang="en-IN" sz="1400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shear thinning </a:t>
            </a:r>
            <a:r>
              <a:rPr lang="en-IN" sz="1400" i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behaviour</a:t>
            </a:r>
            <a:r>
              <a:rPr lang="en-IN" sz="1400">
                <a:sym typeface="Wingdings" panose="05000000000000000000" pitchFamily="2" charset="2"/>
              </a:rPr>
              <a:t>.</a:t>
            </a:r>
            <a:endParaRPr lang="en-IN" sz="14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3B99E-DDFA-4F30-A158-22D41B79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6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E7F1A5-C8A9-4EAB-87C9-318DC53FD1C3}"/>
              </a:ext>
            </a:extLst>
          </p:cNvPr>
          <p:cNvSpPr/>
          <p:nvPr/>
        </p:nvSpPr>
        <p:spPr>
          <a:xfrm>
            <a:off x="147484" y="136525"/>
            <a:ext cx="11887200" cy="658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6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756"/>
    </mc:Choice>
    <mc:Fallback>
      <p:transition spd="slow" advTm="6475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28C73C6-5F95-4A3A-8228-8CD80307A148}"/>
                  </a:ext>
                </a:extLst>
              </p:cNvPr>
              <p:cNvSpPr txBox="1"/>
              <p:nvPr/>
            </p:nvSpPr>
            <p:spPr>
              <a:xfrm>
                <a:off x="693174" y="392323"/>
                <a:ext cx="11705303" cy="5708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b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Modifications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Changes to the relaxation rate(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Guenther and Baird(1996)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 1:1 mixture, Q </a:t>
                </a:r>
                <a:r>
                  <a:rPr lang="en-US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0 at no flow conditions.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Not 1:1 mixture, Q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0. 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elaxation of Q should stop as drops become spherical. 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</m:d>
                        </m:e>
                        <m:sub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relax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             </m:t>
                      </m:r>
                      <m:sSub>
                        <m:sSubPr>
                          <m:ctrlPr>
                            <a:rPr lang="en-IN" i="1" strike="sngStrike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strike="sngStrike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 strike="sngStrike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trike="sngStrike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strike="sngStrike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strike="sngStrike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strike="sngStrike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IN" i="1" strike="sngStrike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trike="sngStrike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  <m:r>
                            <a:rPr lang="en-US" i="1" strike="sngStrike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en-IN" i="1" strike="sngStrike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trike="sngStrike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i="1" strike="sngStrike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Γ</m:t>
                          </m:r>
                        </m:num>
                        <m:den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∑</m:t>
                              </m:r>
                              <m:sSubSup>
                                <m:sSubSup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𝛼𝛽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As droplets become spherical,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𝛼𝛽</m:t>
                        </m:r>
                      </m:sub>
                    </m:sSub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0</a:t>
                </a: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Relaxation</a:t>
                </a:r>
                <a:r>
                  <a:rPr lang="en-IN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>
                    <a:solidFill>
                      <a:srgbClr val="C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stops.</a:t>
                </a:r>
                <a:endParaRPr lang="en-IN" sz="18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Still fails to explain the shear thinning behaviour of the blend 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caling relationship appears to hold for shear stress.</a:t>
                </a:r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28C73C6-5F95-4A3A-8228-8CD80307A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74" y="392323"/>
                <a:ext cx="11705303" cy="5708229"/>
              </a:xfrm>
              <a:prstGeom prst="rect">
                <a:avLst/>
              </a:prstGeom>
              <a:blipFill>
                <a:blip r:embed="rId2"/>
                <a:stretch>
                  <a:fillRect l="-365" b="-7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615F1-9FBD-4C79-BF18-1C9B3658A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7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2D190-0DE7-42A6-8652-6474BE0EA34F}"/>
              </a:ext>
            </a:extLst>
          </p:cNvPr>
          <p:cNvSpPr/>
          <p:nvPr/>
        </p:nvSpPr>
        <p:spPr>
          <a:xfrm>
            <a:off x="147484" y="136525"/>
            <a:ext cx="11887200" cy="658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053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748"/>
    </mc:Choice>
    <mc:Fallback>
      <p:transition spd="slow" advTm="4374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066E1F-D4B7-47EA-887B-EF6785F5DAA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42026" y="2747412"/>
            <a:ext cx="4226387" cy="29683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76CCDB-4804-4863-8D4E-8C8365F27FE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628212" y="2859866"/>
            <a:ext cx="4226387" cy="28558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3D5B2F-F03A-484C-BD6E-ABD59804A51F}"/>
                  </a:ext>
                </a:extLst>
              </p:cNvPr>
              <p:cNvSpPr txBox="1"/>
              <p:nvPr/>
            </p:nvSpPr>
            <p:spPr>
              <a:xfrm>
                <a:off x="896815" y="343143"/>
                <a:ext cx="10456985" cy="2325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b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Consequence of scaling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Shear stress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different shear rates can be rescaled to a single curve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luids are sheared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</m:e>
                        </m:acc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till steady state and increased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</m:e>
                        </m:acc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=4</m:t>
                    </m:r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</m:e>
                        </m:acc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rescaled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sSubSup>
                      <m:sSubSup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𝑠𝑠</m:t>
                        </m:r>
                      </m:sup>
                    </m:sSubSup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</m:e>
                        </m:acc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plotted against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</m:e>
                        </m:acc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800" i="1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𝑠𝑠</m:t>
                        </m:r>
                      </m:sup>
                    </m:sSubSup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</m:e>
                        </m:acc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for shear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</m:e>
                        </m:acc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at steady state.</a:t>
                </a:r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3D5B2F-F03A-484C-BD6E-ABD59804A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815" y="343143"/>
                <a:ext cx="10456985" cy="2325380"/>
              </a:xfrm>
              <a:prstGeom prst="rect">
                <a:avLst/>
              </a:prstGeom>
              <a:blipFill>
                <a:blip r:embed="rId4"/>
                <a:stretch>
                  <a:fillRect l="-350" b="-31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309C3D-A749-4E7C-B848-8533EFEF42E4}"/>
                  </a:ext>
                </a:extLst>
              </p:cNvPr>
              <p:cNvSpPr txBox="1"/>
              <p:nvPr/>
            </p:nvSpPr>
            <p:spPr>
              <a:xfrm>
                <a:off x="838200" y="5578254"/>
                <a:ext cx="11366923" cy="9366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shear rates for the four curves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e>
                            </m:acc>
                          </m:e>
                          <m: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e>
                            </m:acc>
                          </m:e>
                          <m: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3,12</m:t>
                        </m:r>
                      </m:e>
                    </m:d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d>
                      <m:d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4,16</m:t>
                        </m:r>
                      </m:e>
                    </m:d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d>
                      <m:d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5,20</m:t>
                        </m:r>
                      </m:e>
                    </m:d>
                  </m:oMath>
                </a14:m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(6,24)</m:t>
                    </m:r>
                  </m:oMath>
                </a14:m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sec</a:t>
                </a:r>
                <a:r>
                  <a:rPr lang="en-IN" baseline="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the bottom curve to top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Scaling relations consistent even for different compositions</a:t>
                </a:r>
                <a:endParaRPr lang="en-IN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309C3D-A749-4E7C-B848-8533EFEF4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578254"/>
                <a:ext cx="11366923" cy="936603"/>
              </a:xfrm>
              <a:prstGeom prst="rect">
                <a:avLst/>
              </a:prstGeom>
              <a:blipFill>
                <a:blip r:embed="rId5"/>
                <a:stretch>
                  <a:fillRect l="-376" b="-90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996292-3399-4D1E-AB55-353F36135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8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777C08-5CCD-4B23-A574-D3A33A096A65}"/>
              </a:ext>
            </a:extLst>
          </p:cNvPr>
          <p:cNvSpPr/>
          <p:nvPr/>
        </p:nvSpPr>
        <p:spPr>
          <a:xfrm>
            <a:off x="147484" y="136525"/>
            <a:ext cx="11887200" cy="658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114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496"/>
    </mc:Choice>
    <mc:Fallback>
      <p:transition spd="slow" advTm="3649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6C4920-07F9-46DF-A194-9117E496A93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1202" y="2035514"/>
            <a:ext cx="5077714" cy="32886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6DABB8-D3F7-4AB6-A69B-8815D9AD7A20}"/>
              </a:ext>
            </a:extLst>
          </p:cNvPr>
          <p:cNvSpPr txBox="1"/>
          <p:nvPr/>
        </p:nvSpPr>
        <p:spPr>
          <a:xfrm>
            <a:off x="5532491" y="624134"/>
            <a:ext cx="5897509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Shear stress in steady shear flow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Shearing  Shear stress develops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Sharp undershoot as flow is starting.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Then increases before reaching steady-state value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Stress relaxes as soon as flow is stopped.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Stress developed sensitive to flow history.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Undershoot depth: Depends on time between experiments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B9185-3FEE-4EFB-BACB-DEAE3AB0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9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FD8554-FA5B-4F5F-8798-90DBA9D568EE}"/>
              </a:ext>
            </a:extLst>
          </p:cNvPr>
          <p:cNvSpPr/>
          <p:nvPr/>
        </p:nvSpPr>
        <p:spPr>
          <a:xfrm>
            <a:off x="147484" y="136525"/>
            <a:ext cx="11887200" cy="658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479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317"/>
    </mc:Choice>
    <mc:Fallback>
      <p:transition spd="slow" advTm="2331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B02E38-93F5-47B7-83DF-CD3D68775E5C}"/>
                  </a:ext>
                </a:extLst>
              </p:cNvPr>
              <p:cNvSpPr txBox="1"/>
              <p:nvPr/>
            </p:nvSpPr>
            <p:spPr>
              <a:xfrm>
                <a:off x="953676" y="396164"/>
                <a:ext cx="9222878" cy="53567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b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Lee-Park model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IN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Viscosity ratio </a:t>
                </a:r>
                <a14:m>
                  <m:oMath xmlns:m="http://schemas.openxmlformats.org/officeDocument/2006/math">
                    <m:r>
                      <a:rPr lang="en-IN" sz="2000" smtClean="0">
                        <a:effectLst/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IN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1 and volume fractions different than 1:1</a:t>
                </a:r>
                <a:endPara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Doi-Ohta theory applicable when viscosity ratio </a:t>
                </a:r>
                <a:r>
                  <a:rPr lang="en-IN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0.15 to 2.3</a:t>
                </a:r>
                <a:endParaRPr lang="en-IN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Stress tensor is modified to include the viscosities of both the phases.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>
                              <a:effectLst/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Lee</m:t>
                          </m:r>
                          <m:r>
                            <m:rPr>
                              <m:nor/>
                            </m:rPr>
                            <a:rPr lang="en-IN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IN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Park</m:t>
                          </m:r>
                          <m:r>
                            <m:rPr>
                              <m:nor/>
                            </m:rPr>
                            <a:rPr lang="en-IN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IN" sz="180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>
                              <a:effectLst/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Doi</m:t>
                          </m:r>
                          <m:r>
                            <m:rPr>
                              <m:nor/>
                            </m:rPr>
                            <a:rPr lang="en-IN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IN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Ohta</m:t>
                          </m:r>
                          <m:r>
                            <m:rPr>
                              <m:nor/>
                            </m:rPr>
                            <a:rPr lang="en-IN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IN" sz="180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>
                              <a:effectLst/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800">
                              <a:effectLst/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d>
                        <m:d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>
                              <a:effectLst/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IN" sz="18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>
                                  <a:effectLst/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800">
                                  <a:effectLst/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IN" sz="18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>
                                  <a:effectLst/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800">
                                  <a:effectLst/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1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the volume fraction of the dispersed phase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>
                              <a:effectLst/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IN" sz="1800">
                              <a:effectLst/>
                              <a:latin typeface="Cambria Math" panose="02040503050406030204" pitchFamily="18" charset="0"/>
                            </a:rPr>
                            <m:t>𝛼𝛽</m:t>
                          </m:r>
                        </m:sub>
                      </m:sSub>
                      <m:r>
                        <a:rPr lang="en-IN" sz="1800">
                          <a:effectLst/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IN" sz="1800">
                          <a:effectLst/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>
                              <a:effectLst/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sz="1800">
                              <a:effectLst/>
                              <a:latin typeface="Cambria Math" panose="02040503050406030204" pitchFamily="18" charset="0"/>
                            </a:rPr>
                            <m:t>𝛼𝛽</m:t>
                          </m:r>
                        </m:sub>
                      </m:sSub>
                      <m:r>
                        <a:rPr lang="en-IN" sz="180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>
                              <a:effectLst/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800">
                                  <a:effectLst/>
                                  <a:latin typeface="Cambria Math" panose="02040503050406030204" pitchFamily="18" charset="0"/>
                                </a:rPr>
                                <m:t>3(</m:t>
                              </m:r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IN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180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IN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IN" sz="18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IN" sz="1800">
                                  <a:effectLst/>
                                  <a:latin typeface="Cambria Math" panose="02040503050406030204" pitchFamily="18" charset="0"/>
                                </a:rPr>
                                <m:t>5(</m:t>
                              </m:r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IN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180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IN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IN" sz="18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IN" sz="1800">
                              <a:effectLst/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IN" sz="180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>
                              <a:effectLst/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IN" sz="1800">
                              <a:effectLst/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800">
                                  <a:effectLst/>
                                  <a:latin typeface="Cambria Math" panose="02040503050406030204" pitchFamily="18" charset="0"/>
                                </a:rPr>
                                <m:t>κ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800">
                                  <a:effectLst/>
                                  <a:latin typeface="Cambria Math" panose="02040503050406030204" pitchFamily="18" charset="0"/>
                                </a:rPr>
                                <m:t>αβ</m:t>
                              </m:r>
                            </m:sub>
                          </m:sSub>
                          <m:r>
                            <a:rPr lang="en-IN" sz="180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>
                                  <a:effectLst/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IN" sz="1800">
                                  <a:effectLst/>
                                  <a:latin typeface="Cambria Math" panose="02040503050406030204" pitchFamily="18" charset="0"/>
                                </a:rPr>
                                <m:t>𝛽𝛼</m:t>
                              </m:r>
                            </m:sub>
                          </m:sSub>
                          <m:r>
                            <a:rPr lang="en-IN" sz="180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1800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1800">
                          <a:effectLst/>
                          <a:latin typeface="Cambria Math" panose="02040503050406030204" pitchFamily="18" charset="0"/>
                        </a:rPr>
                        <m:t>𝛤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800">
                              <a:effectLst/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800">
                              <a:effectLst/>
                              <a:latin typeface="Cambria Math" panose="02040503050406030204" pitchFamily="18" charset="0"/>
                            </a:rPr>
                            <m:t>αβ</m:t>
                          </m:r>
                        </m:sub>
                      </m:sSub>
                    </m:oMath>
                  </m:oMathPara>
                </a14:m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Relaxation process: Accounts for breakup of droplets which Doi-Ohta theory fails.</a:t>
                </a:r>
              </a:p>
              <a:p>
                <a:pPr>
                  <a:lnSpc>
                    <a:spcPct val="150000"/>
                  </a:lnSpc>
                </a:pPr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B02E38-93F5-47B7-83DF-CD3D68775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676" y="396164"/>
                <a:ext cx="9222878" cy="5356787"/>
              </a:xfrm>
              <a:prstGeom prst="rect">
                <a:avLst/>
              </a:prstGeom>
              <a:blipFill>
                <a:blip r:embed="rId2"/>
                <a:stretch>
                  <a:fillRect l="-3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74F1129-B340-43FC-BB8C-0DAEC577D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614" y="4953353"/>
            <a:ext cx="2678149" cy="16278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143969-2BDE-4623-9A8E-C340CD18EBBA}"/>
                  </a:ext>
                </a:extLst>
              </p:cNvPr>
              <p:cNvSpPr txBox="1"/>
              <p:nvPr/>
            </p:nvSpPr>
            <p:spPr>
              <a:xfrm>
                <a:off x="2897314" y="5414429"/>
                <a:ext cx="6098458" cy="658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Γ</m:t>
                          </m:r>
                        </m:num>
                        <m:den>
                          <m:sSub>
                            <m:sSub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𝛼𝛽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𝛼𝛽</m:t>
                          </m:r>
                        </m:sub>
                      </m:sSub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143969-2BDE-4623-9A8E-C340CD18E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314" y="5414429"/>
                <a:ext cx="6098458" cy="6583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24779B-7817-42BF-827E-46EC2D9D6E2F}"/>
                  </a:ext>
                </a:extLst>
              </p:cNvPr>
              <p:cNvSpPr txBox="1"/>
              <p:nvPr/>
            </p:nvSpPr>
            <p:spPr>
              <a:xfrm>
                <a:off x="6988213" y="5576974"/>
                <a:ext cx="6098458" cy="495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>
                    <a:sym typeface="Wingdings" panose="05000000000000000000" pitchFamily="2" charset="2"/>
                  </a:rPr>
                  <a:t> </a:t>
                </a: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Another dimensionless parameter,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IN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24779B-7817-42BF-827E-46EC2D9D6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213" y="5576974"/>
                <a:ext cx="6098458" cy="495777"/>
              </a:xfrm>
              <a:prstGeom prst="rect">
                <a:avLst/>
              </a:prstGeom>
              <a:blipFill>
                <a:blip r:embed="rId5"/>
                <a:stretch>
                  <a:fillRect l="-799" t="-12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9A6DB32-A215-497C-9712-D64763B36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10</a:t>
            </a:fld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389520-79FA-4057-8756-0112BF449196}"/>
              </a:ext>
            </a:extLst>
          </p:cNvPr>
          <p:cNvSpPr/>
          <p:nvPr/>
        </p:nvSpPr>
        <p:spPr>
          <a:xfrm>
            <a:off x="147484" y="136525"/>
            <a:ext cx="11887200" cy="658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229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970"/>
    </mc:Choice>
    <mc:Fallback>
      <p:transition spd="slow" advTm="5597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538EE9-BB6F-4D45-9F20-998C7F8BC62C}"/>
              </a:ext>
            </a:extLst>
          </p:cNvPr>
          <p:cNvSpPr/>
          <p:nvPr/>
        </p:nvSpPr>
        <p:spPr>
          <a:xfrm>
            <a:off x="221226" y="206477"/>
            <a:ext cx="11718136" cy="63565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C8A035-C83B-42BE-96C6-5948438472FE}"/>
                  </a:ext>
                </a:extLst>
              </p:cNvPr>
              <p:cNvSpPr txBox="1"/>
              <p:nvPr/>
            </p:nvSpPr>
            <p:spPr>
              <a:xfrm>
                <a:off x="3267321" y="4168662"/>
                <a:ext cx="6092190" cy="21467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IN" sz="1800" b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Changes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</m:d>
                        </m:e>
                        <m:sub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relax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𝜆𝜇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Qq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lang="en-IN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en-IN" sz="1800" i="1"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𝛼𝛽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relax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𝑄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𝛼𝛽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𝜆𝜇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𝛼𝛽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C8A035-C83B-42BE-96C6-594843847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21" y="4168662"/>
                <a:ext cx="6092190" cy="21467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E9F8D4-3D0A-4F30-88C0-B499B1DB4692}"/>
                  </a:ext>
                </a:extLst>
              </p:cNvPr>
              <p:cNvSpPr txBox="1"/>
              <p:nvPr/>
            </p:nvSpPr>
            <p:spPr>
              <a:xfrm>
                <a:off x="1889268" y="239933"/>
                <a:ext cx="9083532" cy="1061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b="1">
                    <a:solidFill>
                      <a:srgbClr val="C00000"/>
                    </a:solidFill>
                  </a:rPr>
                  <a:t>Bousmina’s approach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/>
                  <a:t>Variables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under consideration: u(r),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𝛼𝛽</m:t>
                        </m:r>
                      </m:sub>
                    </m:sSub>
                  </m:oMath>
                </a14:m>
                <a:r>
                  <a:rPr lang="en-IN"/>
                  <a:t> and Q</a:t>
                </a:r>
                <a:endParaRPr lang="en-IN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E9F8D4-3D0A-4F30-88C0-B499B1DB4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268" y="239933"/>
                <a:ext cx="9083532" cy="1061253"/>
              </a:xfrm>
              <a:prstGeom prst="rect">
                <a:avLst/>
              </a:prstGeom>
              <a:blipFill>
                <a:blip r:embed="rId3"/>
                <a:stretch>
                  <a:fillRect b="-63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519BB7-15E0-4A07-AE2F-FD1EA674A60A}"/>
                  </a:ext>
                </a:extLst>
              </p:cNvPr>
              <p:cNvSpPr txBox="1"/>
              <p:nvPr/>
            </p:nvSpPr>
            <p:spPr>
              <a:xfrm>
                <a:off x="7194339" y="5196943"/>
                <a:ext cx="6105832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sup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/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 </m:t>
                              </m:r>
                            </m:e>
                          </m:nary>
                          <m:sSubSup>
                            <m:sSubSup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519BB7-15E0-4A07-AE2F-FD1EA674A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339" y="5196943"/>
                <a:ext cx="6105832" cy="9106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ACAEBF-F0E7-4801-8205-86D365297421}"/>
                  </a:ext>
                </a:extLst>
              </p:cNvPr>
              <p:cNvSpPr txBox="1"/>
              <p:nvPr/>
            </p:nvSpPr>
            <p:spPr>
              <a:xfrm>
                <a:off x="397654" y="4231472"/>
                <a:ext cx="3750590" cy="2285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/>
                  <a:t>Original model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</m:d>
                        </m:e>
                        <m:sub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relax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𝜆𝜇</m:t>
                      </m:r>
                      <m:sSup>
                        <m:sSup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1800" i="1"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𝛼𝛽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relax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𝑄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𝛼𝛽</m:t>
                          </m:r>
                        </m:sub>
                      </m:sSub>
                    </m:oMath>
                  </m:oMathPara>
                </a14:m>
                <a:endParaRPr lang="en-IN"/>
              </a:p>
              <a:p>
                <a:endParaRPr lang="en-IN" b="1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ACAEBF-F0E7-4801-8205-86D365297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54" y="4231472"/>
                <a:ext cx="3750590" cy="2285241"/>
              </a:xfrm>
              <a:prstGeom prst="rect">
                <a:avLst/>
              </a:prstGeom>
              <a:blipFill>
                <a:blip r:embed="rId5"/>
                <a:stretch>
                  <a:fillRect t="-1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164E347C-2F46-43D0-8E5B-3571DCEB51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4332" y="2191950"/>
            <a:ext cx="2221692" cy="16566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BD7CC9B-3169-46E8-965D-2559909E3DE1}"/>
                  </a:ext>
                </a:extLst>
              </p:cNvPr>
              <p:cNvSpPr txBox="1"/>
              <p:nvPr/>
            </p:nvSpPr>
            <p:spPr>
              <a:xfrm>
                <a:off x="1005976" y="1425540"/>
                <a:ext cx="6751676" cy="2516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Functions of  free energy and dissipation potential.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smtClean="0">
                          <a:latin typeface="Cambria Math" panose="02040503050406030204" pitchFamily="18" charset="0"/>
                        </a:rPr>
                        <m:t>𝚽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en-I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nary>
                      <m:r>
                        <a:rPr lang="en-IN" b="0" i="1"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IN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IN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type m:val="lin"/>
                          <m:ctrlPr>
                            <a:rPr lang="en-I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I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num>
                        <m:den>
                          <m:r>
                            <a:rPr lang="en-IN" b="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b="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en-I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nary>
                      <m:r>
                        <a:rPr lang="en-IN" b="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I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IN" b="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en-I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nary>
                      <m:r>
                        <a:rPr lang="en-IN" b="0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IN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I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sSub>
                        <m:sSubPr>
                          <m:ctrlPr>
                            <a:rPr lang="en-IN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I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IN"/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Difference from Doi-Ohta theory</a:t>
                </a: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Free energy included explicitly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b="0" i="0" u="none" strike="noStrike" baseline="0">
                    <a:latin typeface="Times New Roman" panose="02020603050405020304" pitchFamily="18" charset="0"/>
                  </a:rPr>
                  <a:t>Dissipative potential </a:t>
                </a:r>
                <a14:m>
                  <m:oMath xmlns:m="http://schemas.openxmlformats.org/officeDocument/2006/math">
                    <m:r>
                      <a:rPr lang="en-IN" sz="1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𝚿</m:t>
                    </m:r>
                  </m:oMath>
                </a14:m>
                <a:r>
                  <a:rPr lang="en-US" sz="1800" b="0" i="0" u="none" strike="noStrike" baseline="0">
                    <a:latin typeface="Times New Roman" panose="02020603050405020304" pitchFamily="18" charset="0"/>
                  </a:rPr>
                  <a:t> </a:t>
                </a:r>
                <a:r>
                  <a:rPr lang="en-US" sz="1800" b="0" i="0" u="none" strike="noStrike" baseline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sz="1800" b="0" i="0" u="none" strike="noStrike" baseline="0">
                    <a:latin typeface="Times New Roman" panose="02020603050405020304" pitchFamily="18" charset="0"/>
                  </a:rPr>
                  <a:t>function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den>
                    </m:f>
                  </m:oMath>
                </a14:m>
                <a:r>
                  <a:rPr lang="en-IN"/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BD7CC9B-3169-46E8-965D-2559909E3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976" y="1425540"/>
                <a:ext cx="6751676" cy="2516651"/>
              </a:xfrm>
              <a:prstGeom prst="rect">
                <a:avLst/>
              </a:prstGeom>
              <a:blipFill>
                <a:blip r:embed="rId7"/>
                <a:stretch>
                  <a:fillRect l="-542" b="-7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EB005C-A565-466C-984C-65F735FA5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681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432"/>
    </mc:Choice>
    <mc:Fallback>
      <p:transition spd="slow" advTm="5643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FEE70D-EF8E-4445-A903-7D3CB6DA4A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487624" y="3102881"/>
            <a:ext cx="4093047" cy="30739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5488BF-664A-4BFE-A429-98D87A4B439F}"/>
              </a:ext>
            </a:extLst>
          </p:cNvPr>
          <p:cNvSpPr txBox="1"/>
          <p:nvPr/>
        </p:nvSpPr>
        <p:spPr>
          <a:xfrm>
            <a:off x="8020250" y="4296577"/>
            <a:ext cx="6098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Stress developed for different shear rates</a:t>
            </a:r>
            <a:endParaRPr lang="en-IN" sz="1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CE1B5D-8582-4AF9-B827-95E3D225E722}"/>
                  </a:ext>
                </a:extLst>
              </p:cNvPr>
              <p:cNvSpPr txBox="1"/>
              <p:nvPr/>
            </p:nvSpPr>
            <p:spPr>
              <a:xfrm>
                <a:off x="988526" y="698595"/>
                <a:ext cx="10647952" cy="2242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Additional terms in the stress tensor: </a:t>
                </a:r>
                <a:r>
                  <a:rPr lang="en-IN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Non-linear in q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𝛼𝛽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i="0">
                          <a:latin typeface="Cambria Math" panose="02040503050406030204" pitchFamily="18" charset="0"/>
                        </a:rPr>
                        <m:t>Γ</m:t>
                      </m:r>
                      <m:sSub>
                        <m:sSub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𝛼𝛽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IN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𝜇𝜈</m:t>
                                  </m:r>
                                </m:sub>
                                <m:sup>
                                  <m:r>
                                    <a:rPr lang="en-IN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𝛽𝛼</m:t>
                          </m:r>
                        </m:sub>
                      </m:sSub>
                    </m:oMath>
                  </m:oMathPara>
                </a14:m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</a:t>
                </a: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inear relationship </a:t>
                </a:r>
                <a:r>
                  <a:rPr lang="en-IN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ONLY</a:t>
                </a:r>
                <a:r>
                  <a:rPr lang="en-IN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when the shear rate is above its critical value.</a:t>
                </a:r>
                <a:endParaRPr lang="en-IN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CE1B5D-8582-4AF9-B827-95E3D225E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26" y="698595"/>
                <a:ext cx="10647952" cy="2242986"/>
              </a:xfrm>
              <a:prstGeom prst="rect">
                <a:avLst/>
              </a:prstGeom>
              <a:blipFill>
                <a:blip r:embed="rId3"/>
                <a:stretch>
                  <a:fillRect l="-3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838DA-310A-4F5B-B96B-3446995F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12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5D6D5C-1DB4-48B8-AB19-DBE9DD13A162}"/>
              </a:ext>
            </a:extLst>
          </p:cNvPr>
          <p:cNvSpPr/>
          <p:nvPr/>
        </p:nvSpPr>
        <p:spPr>
          <a:xfrm>
            <a:off x="147484" y="136525"/>
            <a:ext cx="11887200" cy="658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821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980"/>
    </mc:Choice>
    <mc:Fallback>
      <p:transition spd="slow" advTm="2598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A79F0D-0B58-49C6-8DC1-9561C49D143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48545" y="2123768"/>
            <a:ext cx="4965123" cy="34953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D030F8-079A-4734-A926-1DD3893E6121}"/>
              </a:ext>
            </a:extLst>
          </p:cNvPr>
          <p:cNvSpPr txBox="1"/>
          <p:nvPr/>
        </p:nvSpPr>
        <p:spPr>
          <a:xfrm>
            <a:off x="5514729" y="1944796"/>
            <a:ext cx="6127663" cy="367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Magnitude of overshoot and </a:t>
            </a:r>
            <a:r>
              <a:rPr lang="en-IN">
                <a:latin typeface="Times New Roman" panose="02020603050405020304" pitchFamily="18" charset="0"/>
                <a:ea typeface="Times New Roman" panose="02020603050405020304" pitchFamily="18" charset="0"/>
              </a:rPr>
              <a:t>steady state stress </a:t>
            </a:r>
            <a:r>
              <a:rPr lang="en-IN" sz="1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underestimated</a:t>
            </a:r>
            <a:r>
              <a:rPr lang="en-IN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by </a:t>
            </a:r>
            <a:r>
              <a:rPr lang="en-IN" sz="180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Doi-Ohta</a:t>
            </a:r>
            <a:r>
              <a:rPr lang="en-IN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</a:t>
            </a:r>
            <a:r>
              <a:rPr lang="en-IN" sz="180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Lee-Park</a:t>
            </a:r>
            <a:r>
              <a:rPr lang="en-IN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models. 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Grmela-Ait Kadi</a:t>
            </a:r>
            <a:r>
              <a:rPr lang="en-IN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model </a:t>
            </a:r>
            <a:r>
              <a:rPr lang="en-IN" sz="1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overestimated</a:t>
            </a:r>
            <a:r>
              <a:rPr lang="en-IN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overshoot, time corresponding to it and the steady state value. 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Bousmina’s model overestimated the overshoot but with small errors. 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IN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teady-state value and the time corresponding to overshoot are obtained accurately.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86377-C93C-4F2F-9DCA-299C6F1203D0}"/>
              </a:ext>
            </a:extLst>
          </p:cNvPr>
          <p:cNvSpPr txBox="1"/>
          <p:nvPr/>
        </p:nvSpPr>
        <p:spPr>
          <a:xfrm>
            <a:off x="549607" y="472579"/>
            <a:ext cx="11061374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experimental results</a:t>
            </a:r>
          </a:p>
          <a:p>
            <a:pPr algn="ctr">
              <a:lnSpc>
                <a:spcPct val="150000"/>
              </a:lnSpc>
            </a:pPr>
            <a:r>
              <a:rPr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Mixture of PDMS</a:t>
            </a:r>
            <a:r>
              <a:rPr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(polydimethylsiloxane)</a:t>
            </a:r>
            <a:r>
              <a:rPr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PIB</a:t>
            </a:r>
            <a:r>
              <a:rPr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(polyisobutene)</a:t>
            </a:r>
            <a:r>
              <a:rPr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ratio 1:1</a:t>
            </a:r>
            <a:r>
              <a:rPr lang="en-IN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/>
          </a:p>
          <a:p>
            <a:pPr algn="ctr">
              <a:lnSpc>
                <a:spcPct val="200000"/>
              </a:lnSpc>
            </a:pPr>
            <a:endParaRPr lang="en-IN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CB8E6-26D0-42F3-92AF-87B6D7B3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13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EE2A02-B4CB-49C6-A2E2-8F5176887CE0}"/>
              </a:ext>
            </a:extLst>
          </p:cNvPr>
          <p:cNvSpPr/>
          <p:nvPr/>
        </p:nvSpPr>
        <p:spPr>
          <a:xfrm>
            <a:off x="147484" y="136525"/>
            <a:ext cx="11887200" cy="658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933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84"/>
    </mc:Choice>
    <mc:Fallback>
      <p:transition spd="slow" advTm="228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07180F-C811-4470-9D90-144E0EAC09A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5067" y="1969092"/>
            <a:ext cx="5257798" cy="32473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AA8BD4-674D-4FC9-8838-D0F89B64563A}"/>
              </a:ext>
            </a:extLst>
          </p:cNvPr>
          <p:cNvSpPr txBox="1"/>
          <p:nvPr/>
        </p:nvSpPr>
        <p:spPr>
          <a:xfrm>
            <a:off x="499089" y="4338505"/>
            <a:ext cx="6098458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E37A3E-B4EA-4370-9273-9C8D5099EA52}"/>
              </a:ext>
            </a:extLst>
          </p:cNvPr>
          <p:cNvSpPr txBox="1"/>
          <p:nvPr/>
        </p:nvSpPr>
        <p:spPr>
          <a:xfrm>
            <a:off x="5461237" y="1906076"/>
            <a:ext cx="6266635" cy="3639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Bousmina’s model better results compared to other models. </a:t>
            </a:r>
          </a:p>
          <a:p>
            <a:pPr marL="285750" indent="-285750" algn="just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Able to capture both the overshoots and undershoots accurately</a:t>
            </a:r>
            <a:endParaRPr lang="en-IN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Value of steady state stress as well as the magnitude of overshoot are close. </a:t>
            </a:r>
          </a:p>
          <a:p>
            <a:pPr marL="285750" indent="-285750" algn="just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Fails</a:t>
            </a:r>
            <a:r>
              <a:rPr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 the time-evolution of stress.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D97D86-A9F9-4962-BC6A-EF38DB4C6777}"/>
              </a:ext>
            </a:extLst>
          </p:cNvPr>
          <p:cNvSpPr txBox="1"/>
          <p:nvPr/>
        </p:nvSpPr>
        <p:spPr>
          <a:xfrm>
            <a:off x="3031065" y="526965"/>
            <a:ext cx="6098458" cy="1058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experimental results</a:t>
            </a:r>
          </a:p>
          <a:p>
            <a:pPr algn="ctr">
              <a:lnSpc>
                <a:spcPct val="150000"/>
              </a:lnSpc>
            </a:pPr>
            <a:r>
              <a:rPr lang="en-IN" sz="2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PP/PS mixture with compositions of 90/10</a:t>
            </a:r>
            <a:endParaRPr lang="en-IN" sz="2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C7C78-C6F5-4FDF-BB8F-810EF5FFA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14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B6E8AC-0714-4C77-86B3-F9BA305E81A0}"/>
              </a:ext>
            </a:extLst>
          </p:cNvPr>
          <p:cNvSpPr/>
          <p:nvPr/>
        </p:nvSpPr>
        <p:spPr>
          <a:xfrm>
            <a:off x="147484" y="136525"/>
            <a:ext cx="11887200" cy="658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861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585"/>
    </mc:Choice>
    <mc:Fallback>
      <p:transition spd="slow" advTm="24585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3D1AB9-EFAE-441C-AA44-661316FD698C}"/>
                  </a:ext>
                </a:extLst>
              </p:cNvPr>
              <p:cNvSpPr txBox="1"/>
              <p:nvPr/>
            </p:nvSpPr>
            <p:spPr>
              <a:xfrm>
                <a:off x="608371" y="136525"/>
                <a:ext cx="10965426" cy="68876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IN" sz="2400" b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Summary of Doi-Ohta model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Assumptions</a:t>
                </a: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Viscosities of both the phases are equal.   </a:t>
                </a: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First order kinetics used for relaxation.  </a:t>
                </a: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Relaxation of Q given by a single rate.</a:t>
                </a:r>
                <a:endParaRPr lang="en-IN" sz="1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Steady shear flow:</a:t>
                </a: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almost proportional to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</m:acc>
                  </m:oMath>
                </a14:m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Transient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I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𝛾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I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𝛾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I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𝛾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universal function of strain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Similar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Modifications required for relaxation equations. </a:t>
                </a: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account for breakup of droplets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                                                                           </a:t>
                </a: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Relaxation to stop as drops are spherical</a:t>
                </a:r>
                <a:endParaRPr lang="en-US"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cs typeface="Times New Roman" panose="02020603050405020304" pitchFamily="18" charset="0"/>
                  </a:rPr>
                  <a:t>But,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observed different than predicted. </a:t>
                </a: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Need to a</a:t>
                </a: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ccount for diff visosity ratios.</a:t>
                </a:r>
              </a:p>
              <a:p>
                <a:pPr>
                  <a:lnSpc>
                    <a:spcPct val="150000"/>
                  </a:lnSpc>
                </a:pPr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3D1AB9-EFAE-441C-AA44-661316FD6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71" y="136525"/>
                <a:ext cx="10965426" cy="6887655"/>
              </a:xfrm>
              <a:prstGeom prst="rect">
                <a:avLst/>
              </a:prstGeom>
              <a:blipFill>
                <a:blip r:embed="rId2"/>
                <a:stretch>
                  <a:fillRect l="-3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3DF04-8297-474D-AF56-16E7C0951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15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683DA1-9C24-496C-9CCF-AEDF4F7CDC0B}"/>
              </a:ext>
            </a:extLst>
          </p:cNvPr>
          <p:cNvSpPr/>
          <p:nvPr/>
        </p:nvSpPr>
        <p:spPr>
          <a:xfrm>
            <a:off x="147484" y="136525"/>
            <a:ext cx="11887200" cy="658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497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605"/>
    </mc:Choice>
    <mc:Fallback>
      <p:transition spd="slow" advTm="38605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B4787-F0E0-49D7-98FC-C0D1263419C6}"/>
              </a:ext>
            </a:extLst>
          </p:cNvPr>
          <p:cNvSpPr txBox="1"/>
          <p:nvPr/>
        </p:nvSpPr>
        <p:spPr>
          <a:xfrm>
            <a:off x="3470031" y="2249598"/>
            <a:ext cx="106211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/>
              <a:t>Thank you</a:t>
            </a:r>
            <a:endParaRPr lang="en-IN" sz="96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551B64-C902-48D4-98DB-E85947705C36}"/>
              </a:ext>
            </a:extLst>
          </p:cNvPr>
          <p:cNvSpPr/>
          <p:nvPr/>
        </p:nvSpPr>
        <p:spPr>
          <a:xfrm>
            <a:off x="221226" y="206477"/>
            <a:ext cx="11718136" cy="63565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44673C-51F8-4BCF-9E6F-CAABF2D03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33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3"/>
    </mc:Choice>
    <mc:Fallback>
      <p:transition spd="slow" advTm="27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F1A4D1-9A8F-4A24-9461-837AFA0059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762571" y="1784554"/>
            <a:ext cx="4208205" cy="27501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C88244-1C5A-4604-A4CB-7AF8E3A5D1C1}"/>
                  </a:ext>
                </a:extLst>
              </p:cNvPr>
              <p:cNvSpPr txBox="1"/>
              <p:nvPr/>
            </p:nvSpPr>
            <p:spPr>
              <a:xfrm>
                <a:off x="447372" y="527371"/>
                <a:ext cx="7283785" cy="49516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IN" sz="24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Structural changes – Single droplet</a:t>
                </a:r>
              </a:p>
              <a:p>
                <a:pPr marL="285750" indent="-285750" algn="just">
                  <a:lnSpc>
                    <a:spcPct val="150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IN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Upon </a:t>
                </a: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deformation, the sphere </a:t>
                </a: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 </a:t>
                </a: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ellipsoid/rod-like structure</a:t>
                </a:r>
              </a:p>
              <a:p>
                <a:pPr marL="342900" indent="-342900" algn="just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lphaLcParenR"/>
                </a:pPr>
                <a:r>
                  <a:rPr lang="en-IN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Drop deforms </a:t>
                </a: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slowly and tends to orient in the flow direction with angle </a:t>
                </a:r>
                <a14:m>
                  <m:oMath xmlns:m="http://schemas.openxmlformats.org/officeDocument/2006/math"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 </a:t>
                </a:r>
              </a:p>
              <a:p>
                <a:pPr marL="342900" indent="-342900" algn="just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lphaLcParenR"/>
                </a:pP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Slight breakup or deformation: Overshoot/Undershoot</a:t>
                </a:r>
              </a:p>
              <a:p>
                <a:pPr marL="342900" indent="-342900" algn="just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lphaLcParenR"/>
                </a:pPr>
                <a:r>
                  <a:rPr lang="en-IN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Later, it</a:t>
                </a: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obtains its maximum orientation and elongates along the major axes.</a:t>
                </a:r>
              </a:p>
              <a:p>
                <a:pPr marL="285750" indent="-285750" algn="just">
                  <a:lnSpc>
                    <a:spcPct val="150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Simple shear decomposed into pure rotation and uniaxial extension. </a:t>
                </a:r>
              </a:p>
              <a:p>
                <a:pPr marL="285750" indent="-285750" algn="just">
                  <a:lnSpc>
                    <a:spcPct val="150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Then when the drops undergo breakup or coalescence, effect of orientation is small. </a:t>
                </a:r>
                <a:endParaRPr lang="en-IN" sz="16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C88244-1C5A-4604-A4CB-7AF8E3A5D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72" y="527371"/>
                <a:ext cx="7283785" cy="4951612"/>
              </a:xfrm>
              <a:prstGeom prst="rect">
                <a:avLst/>
              </a:prstGeom>
              <a:blipFill>
                <a:blip r:embed="rId3"/>
                <a:stretch>
                  <a:fillRect l="-502" r="-753" b="-11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56B30-28A3-4D8B-BD83-E1011C2D6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17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DFA016-AE94-4EA8-8AC8-E055479273BC}"/>
              </a:ext>
            </a:extLst>
          </p:cNvPr>
          <p:cNvSpPr/>
          <p:nvPr/>
        </p:nvSpPr>
        <p:spPr>
          <a:xfrm>
            <a:off x="147484" y="136525"/>
            <a:ext cx="11887200" cy="658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199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4"/>
    </mc:Choice>
    <mc:Fallback>
      <p:transition spd="slow" advTm="424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F7E6C3-1A10-4D31-8299-ACDC02C52A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696159" y="1400594"/>
            <a:ext cx="4083649" cy="43955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36CCD0-797D-47FF-B0D6-954D32152FA4}"/>
              </a:ext>
            </a:extLst>
          </p:cNvPr>
          <p:cNvSpPr txBox="1"/>
          <p:nvPr/>
        </p:nvSpPr>
        <p:spPr>
          <a:xfrm>
            <a:off x="320668" y="294968"/>
            <a:ext cx="7283967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rgbClr val="C00000"/>
                </a:solidFill>
              </a:rPr>
              <a:t>Experimental verification-Lee &amp; Park Model</a:t>
            </a:r>
          </a:p>
          <a:p>
            <a:pPr algn="ctr">
              <a:lnSpc>
                <a:spcPct val="15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Polystyrene(PS) and linear low-density polyethylene(LLDPE)</a:t>
            </a:r>
          </a:p>
          <a:p>
            <a:pPr algn="ctr">
              <a:lnSpc>
                <a:spcPct val="15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Dynamic oscillatory flow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PS more viscous than LLDPE.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PS10: N</a:t>
            </a:r>
            <a:r>
              <a:rPr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changes in the size of droplet.</a:t>
            </a:r>
          </a:p>
          <a:p>
            <a:pPr marL="285750" lvl="0" indent="-285750" algn="just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PS30: Shape of droplets are more irregular: Breakup and coagulation.</a:t>
            </a:r>
          </a:p>
          <a:p>
            <a:pPr marL="285750" lvl="0" indent="-285750" algn="just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PS70: LLDPE forms the lamellar: Larger deformation</a:t>
            </a:r>
          </a:p>
          <a:p>
            <a:pPr marL="285750" lvl="0" indent="-285750" algn="just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PS90: LLDPE droplets experience very high stress creating yet smaller droplets.</a:t>
            </a:r>
            <a:endParaRPr lang="en-IN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PS70, PS90</a:t>
            </a:r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Error in loss moduli at high frequency.</a:t>
            </a:r>
            <a:endParaRPr lang="en-IN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3554E2-303A-4E95-BE36-FCE3593005E5}"/>
              </a:ext>
            </a:extLst>
          </p:cNvPr>
          <p:cNvSpPr txBox="1"/>
          <p:nvPr/>
        </p:nvSpPr>
        <p:spPr>
          <a:xfrm>
            <a:off x="8402893" y="1061883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PS10                         PS70</a:t>
            </a:r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11173A-E54C-40F9-95E5-C61A12F57F16}"/>
              </a:ext>
            </a:extLst>
          </p:cNvPr>
          <p:cNvSpPr txBox="1"/>
          <p:nvPr/>
        </p:nvSpPr>
        <p:spPr>
          <a:xfrm>
            <a:off x="8246916" y="5810242"/>
            <a:ext cx="7248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PS30                           PS90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06166-5C14-4E9F-BB4B-F707FCA3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18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C2808E-DAE3-49CE-8338-08A6A3D21E73}"/>
              </a:ext>
            </a:extLst>
          </p:cNvPr>
          <p:cNvSpPr/>
          <p:nvPr/>
        </p:nvSpPr>
        <p:spPr>
          <a:xfrm>
            <a:off x="147484" y="136525"/>
            <a:ext cx="11887200" cy="658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429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4"/>
    </mc:Choice>
    <mc:Fallback>
      <p:transition spd="slow" advTm="294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9571BD-579F-434F-8DA7-5D54AE8BA4BF}"/>
                  </a:ext>
                </a:extLst>
              </p:cNvPr>
              <p:cNvSpPr txBox="1"/>
              <p:nvPr/>
            </p:nvSpPr>
            <p:spPr>
              <a:xfrm>
                <a:off x="897772" y="474312"/>
                <a:ext cx="10365044" cy="52168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IN" sz="24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Constrained volume model</a:t>
                </a:r>
              </a:p>
              <a:p>
                <a:pPr algn="ctr">
                  <a:lnSpc>
                    <a:spcPct val="200000"/>
                  </a:lnSpc>
                </a:pPr>
                <a:r>
                  <a:rPr lang="en-IN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Droplet volume remains constant when there is no breakup and coagulation taking place.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IN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nterfacial tensor predicted by Doi-Ohta theory does not match exactly with the experimental results.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𝛼𝛽</m:t>
                          </m:r>
                        </m:sub>
                      </m:sSub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IN" sz="1800" i="1" smtClean="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1800" i="1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sub>
                          </m:s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𝛼𝛽</m:t>
                          </m:r>
                        </m:sub>
                      </m:sSub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𝜂</m:t>
                      </m:r>
                      <m:d>
                        <m:d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𝛼𝛽</m:t>
                              </m:r>
                            </m:sub>
                          </m:s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𝛽𝛼</m:t>
                              </m:r>
                            </m:sub>
                          </m:sSub>
                        </m:e>
                      </m:d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𝜙</m:t>
                      </m:r>
                      <m:r>
                        <m:rPr>
                          <m:sty m:val="p"/>
                        </m:rPr>
                        <a:rPr lang="en-IN" sz="18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Γ</m:t>
                      </m:r>
                      <m:d>
                        <m:d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𝛼𝛽</m:t>
                              </m:r>
                            </m:sub>
                          </m:s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den>
                          </m:f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𝛼𝛽</m:t>
                              </m:r>
                            </m:sub>
                          </m:sSub>
                        </m:e>
                      </m:d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𝛼𝛽</m:t>
                          </m:r>
                        </m:sub>
                      </m:sSub>
                    </m:oMath>
                  </m:oMathPara>
                </a14:m>
                <a:endParaRPr lang="en-IN" sz="1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IN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This is attributed to the fact that Doi-Ohta theory does not have an intrinsic length scale. 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Performs excellent for single droplets 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</a:t>
                </a:r>
                <a:r>
                  <a:rPr lang="en-IN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ess satisfactory for concentrated blends when the rates of deformation is high.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9571BD-579F-434F-8DA7-5D54AE8BA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72" y="474312"/>
                <a:ext cx="10365044" cy="5216813"/>
              </a:xfrm>
              <a:prstGeom prst="rect">
                <a:avLst/>
              </a:prstGeom>
              <a:blipFill>
                <a:blip r:embed="rId2"/>
                <a:stretch>
                  <a:fillRect l="-470" b="-9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8B5457-92FB-459E-8808-8F188691A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19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CE7B51-6599-41F1-B48A-9A1ACCF332AD}"/>
              </a:ext>
            </a:extLst>
          </p:cNvPr>
          <p:cNvSpPr/>
          <p:nvPr/>
        </p:nvSpPr>
        <p:spPr>
          <a:xfrm>
            <a:off x="147484" y="136525"/>
            <a:ext cx="11887200" cy="658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452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1"/>
    </mc:Choice>
    <mc:Fallback>
      <p:transition spd="slow" advTm="8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EDAEBB-E9E0-495B-9C72-BF04EC459F5B}"/>
                  </a:ext>
                </a:extLst>
              </p:cNvPr>
              <p:cNvSpPr txBox="1"/>
              <p:nvPr/>
            </p:nvSpPr>
            <p:spPr>
              <a:xfrm>
                <a:off x="410497" y="317143"/>
                <a:ext cx="11371006" cy="7166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IN" sz="2400" b="1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Deformation by flow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 in position vector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𝐫</m:t>
                    </m:r>
                  </m:oMath>
                </a14:m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a result of flow,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IN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𝐫</m:t>
                        </m:r>
                      </m:e>
                      <m:sup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IN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𝐄</m:t>
                    </m:r>
                    <m:d>
                      <m:d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⋅</m:t>
                    </m:r>
                    <m:r>
                      <a:rPr lang="en-IN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𝐫</m:t>
                    </m:r>
                  </m:oMath>
                </a14:m>
                <a:r>
                  <a:rPr lang="en-US" sz="1800" b="1" i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E-&gt; </a:t>
                </a:r>
                <a:r>
                  <a:rPr lang="en-US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Deformation gradient tensor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Volume of the new region after a deformation E changes as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→∆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IN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∆</m:t>
                    </m:r>
                    <m:sSup>
                      <m:sSup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p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=∆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𝑉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.</m:t>
                    </m:r>
                    <m:func>
                      <m:func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IN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𝐄</m:t>
                            </m:r>
                          </m:e>
                        </m:d>
                      </m:e>
                    </m:func>
                  </m:oMath>
                </a14:m>
                <a:endParaRPr lang="en-US" sz="1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Area of the interface after transformation,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Δ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𝑆</m:t>
                    </m:r>
                    <m:f>
                      <m:f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det</m:t>
                        </m:r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⁡(</m:t>
                        </m:r>
                        <m:r>
                          <a:rPr lang="en-IN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𝐄</m:t>
                        </m:r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IN" sz="18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𝐄</m:t>
                                </m:r>
                              </m:e>
                              <m:sup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</m:sup>
                            </m:sSup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IN" sz="18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𝐧</m:t>
                                </m:r>
                              </m:e>
                              <m:sup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endParaRPr lang="en-US" sz="1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en-IN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IN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𝐧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Interface density function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𝑄</m:t>
                      </m:r>
                      <m:r>
                        <a:rPr lang="en-IN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=∫</m:t>
                      </m:r>
                      <m:r>
                        <a:rPr lang="en-IN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𝑑</m:t>
                      </m:r>
                      <m:r>
                        <a:rPr lang="en-IN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𝐧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𝑓</m:t>
                      </m:r>
                      <m:d>
                        <m:d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𝐧</m:t>
                          </m:r>
                        </m:e>
                      </m:d>
                    </m:oMath>
                  </m:oMathPara>
                </a14:m>
                <a:endParaRPr lang="en-IN" sz="1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en-IN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IN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𝐧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IN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𝐧</m:t>
                    </m:r>
                  </m:oMath>
                </a14:m>
                <a:r>
                  <a:rPr lang="en-IN" sz="1800" b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be the area of interface whose normal is the solid angle </a:t>
                </a:r>
                <a14:m>
                  <m:oMath xmlns:m="http://schemas.openxmlformats.org/officeDocument/2006/math"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IN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𝐧</m:t>
                    </m:r>
                  </m:oMath>
                </a14:m>
                <a:r>
                  <a:rPr lang="en-IN" sz="1800" b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8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𝐧</m:t>
                                  </m:r>
                                </m:e>
                                <m:sup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𝐧</m:t>
                              </m:r>
                            </m:e>
                            <m:sup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𝐧</m:t>
                              </m:r>
                            </m:e>
                          </m:d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𝐧</m:t>
                          </m:r>
                        </m:den>
                      </m:f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IN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Δ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IN" sz="1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180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evolution of interface density function,</a:t>
                </a:r>
                <a:r>
                  <a:rPr lang="en-IN" sz="1800">
                    <a:effectLst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𝜕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𝑓</m:t>
                        </m:r>
                      </m:num>
                      <m:den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𝜕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den>
                    </m:f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𝐑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⋅</m:t>
                    </m:r>
                    <m:d>
                      <m:dPr>
                        <m:begChr m:val="["/>
                        <m:endChr m:val="]"/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𝐧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×</m:t>
                        </m:r>
                        <m:d>
                          <m:d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𝜅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⋅</m:t>
                            </m:r>
                            <m:r>
                              <a:rPr lang="en-US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𝐧</m:t>
                            </m:r>
                          </m:e>
                        </m:d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</m:d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𝜅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:</m:t>
                    </m:r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𝐧𝐧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endParaRPr lang="en-IN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Multiplying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𝛼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sz="180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and integrating with respect to </a:t>
                </a:r>
                <a:r>
                  <a:rPr lang="en-US" sz="1800" b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n</a:t>
                </a:r>
                <a:endParaRPr lang="en-IN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𝜕</m:t>
                          </m:r>
                        </m:num>
                        <m:den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𝜕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𝐧</m:t>
                          </m:r>
                        </m:e>
                      </m:nary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𝑓</m:t>
                      </m:r>
                      <m:d>
                        <m:d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𝐧</m:t>
                          </m:r>
                          <m:r>
                            <a:rPr lang="en-US" sz="1800" b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t</m:t>
                          </m:r>
                        </m:e>
                      </m:d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sub>
                      </m:sSub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=∫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𝑑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𝐧</m:t>
                      </m:r>
                      <m:r>
                        <a:rPr lang="en-US" sz="1800" b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sub>
                      </m:sSub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sub>
                      </m:sSub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𝐑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𝐧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𝜅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⋅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𝐧</m:t>
                              </m:r>
                            </m:e>
                          </m:d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𝐧</m:t>
                          </m:r>
                          <m:r>
                            <a:rPr lang="en-US" sz="1800" b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𝜅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: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𝐧𝐧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</m:nary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sub>
                      </m:sSub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sub>
                      </m:sSub>
                    </m:oMath>
                  </m:oMathPara>
                </a14:m>
                <a:endParaRPr lang="en-IN" sz="1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sz="1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EDAEBB-E9E0-495B-9C72-BF04EC459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97" y="317143"/>
                <a:ext cx="11371006" cy="7166449"/>
              </a:xfrm>
              <a:prstGeom prst="rect">
                <a:avLst/>
              </a:prstGeom>
              <a:blipFill>
                <a:blip r:embed="rId2"/>
                <a:stretch>
                  <a:fillRect l="-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940CC-EE34-45CA-8A7A-996773FDD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20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261FAA-E7CC-4449-8CB7-BA9ADBC00EA5}"/>
              </a:ext>
            </a:extLst>
          </p:cNvPr>
          <p:cNvSpPr/>
          <p:nvPr/>
        </p:nvSpPr>
        <p:spPr>
          <a:xfrm>
            <a:off x="147484" y="136525"/>
            <a:ext cx="11887200" cy="658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645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"/>
    </mc:Choice>
    <mc:Fallback>
      <p:transition spd="slow" advTm="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AA1AF3-0A30-46F9-9C31-5BB53CF93EE7}"/>
                  </a:ext>
                </a:extLst>
              </p:cNvPr>
              <p:cNvSpPr txBox="1"/>
              <p:nvPr/>
            </p:nvSpPr>
            <p:spPr>
              <a:xfrm>
                <a:off x="-559824" y="867866"/>
                <a:ext cx="7436875" cy="5120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eqArrPr>
                        <m:e>
                          <m:f>
                            <m:f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𝜕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den>
                          </m:f>
                          <m:acc>
                            <m:accPr>
                              <m:chr m:val="̅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𝛼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𝛽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=&amp;∫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𝐧</m:t>
                          </m:r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𝛽</m:t>
                              </m:r>
                            </m:sub>
                          </m:s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𝐑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𝐧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𝜅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⋅</m:t>
                                  </m:r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𝐧</m:t>
                                  </m:r>
                                </m:e>
                              </m:d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𝛼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𝛽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𝜇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𝜈</m:t>
                                  </m:r>
                                </m:sub>
                              </m:sSub>
                            </m:e>
                          </m:acc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sub>
                          </m:sSub>
                        </m:e>
                        <m:e>
                          <m:r>
                            <m:rPr>
                              <m:sty m:val="p"/>
                            </m:rP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where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... </m:t>
                              </m:r>
                            </m:e>
                          </m:acc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= 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𝐧</m:t>
                              </m:r>
                              <m:r>
                                <a:rPr lang="en-US" sz="18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𝐧</m:t>
                                  </m:r>
                                  <m:r>
                                    <a:rPr lang="en-US" sz="1800" b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𝐭</m:t>
                                  </m:r>
                                </m:e>
                              </m:d>
                              <m:r>
                                <a:rPr lang="en-US" sz="1800" b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…</m:t>
                              </m:r>
                            </m:e>
                          </m:nary>
                        </m:e>
                      </m:eqArr>
                    </m:oMath>
                  </m:oMathPara>
                </a14:m>
                <a:endParaRPr lang="en-IN" sz="1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eqArrPr>
                        <m:e>
                          <m:f>
                            <m:f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𝜕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den>
                          </m:f>
                          <m:acc>
                            <m:accPr>
                              <m:chr m:val="̅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𝛼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𝛽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=&amp;∫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𝐧</m:t>
                          </m:r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𝛽</m:t>
                              </m:r>
                            </m:sub>
                          </m:s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𝐑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𝐧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𝜅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⋅</m:t>
                                  </m:r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𝐧</m:t>
                                  </m:r>
                                </m:e>
                              </m:d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𝛼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𝛽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𝜇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𝜈</m:t>
                                  </m:r>
                                </m:sub>
                              </m:sSub>
                            </m:e>
                          </m:acc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sub>
                          </m:sSub>
                        </m:e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=−</m:t>
                          </m:r>
                          <m:acc>
                            <m:accPr>
                              <m:chr m:val="̅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𝛼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𝛾</m:t>
                                  </m:r>
                                </m:sub>
                              </m:sSub>
                            </m:e>
                          </m:acc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𝛾𝛽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𝛽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𝛾</m:t>
                                  </m:r>
                                </m:sub>
                              </m:sSub>
                            </m:e>
                          </m:acc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𝛾𝛼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𝛼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𝛽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𝜇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𝜈</m:t>
                                  </m:r>
                                </m:sub>
                              </m:sSub>
                            </m:e>
                          </m:acc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𝜇𝜈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 lang="en-IN" sz="1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sz="18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𝛽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𝜈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𝜅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𝜇𝜈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𝛽</m:t>
                              </m:r>
                            </m:sub>
                          </m:sSub>
                        </m:e>
                      </m:acc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⋅</m:t>
                      </m:r>
                      <m:acc>
                        <m:accPr>
                          <m:chr m:val="̅"/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𝜈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𝜅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𝜇𝜈</m:t>
                          </m:r>
                        </m:sub>
                      </m:sSub>
                    </m:oMath>
                  </m:oMathPara>
                </a14:m>
                <a:endParaRPr lang="en-IN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𝛽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𝜈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𝜅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𝜇𝜈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𝑄</m:t>
                          </m:r>
                        </m:den>
                      </m:f>
                      <m:acc>
                        <m:accPr>
                          <m:chr m:val="̅"/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𝛽</m:t>
                              </m:r>
                            </m:sub>
                          </m:sSub>
                        </m:e>
                      </m:acc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⋅</m:t>
                      </m:r>
                      <m:acc>
                        <m:accPr>
                          <m:chr m:val="̅"/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𝜈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𝜅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𝜇𝜈</m:t>
                          </m:r>
                        </m:sub>
                      </m:sSub>
                    </m:oMath>
                  </m:oMathPara>
                </a14:m>
                <a:endParaRPr lang="en-IN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𝛽</m:t>
                              </m:r>
                            </m:sub>
                          </m:sSub>
                        </m:e>
                      </m:acc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𝛼𝛽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𝑄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𝛼𝛽</m:t>
                          </m:r>
                        </m:sub>
                      </m:sSub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AA1AF3-0A30-46F9-9C31-5BB53CF93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59824" y="867866"/>
                <a:ext cx="7436875" cy="51208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BF7F1F-5178-4B3E-BD61-6BAC4C292E26}"/>
                  </a:ext>
                </a:extLst>
              </p:cNvPr>
              <p:cNvSpPr txBox="1"/>
              <p:nvPr/>
            </p:nvSpPr>
            <p:spPr>
              <a:xfrm>
                <a:off x="6096000" y="869245"/>
                <a:ext cx="6098458" cy="44558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Time evolution of interfacial tensor due to flow is</a:t>
                </a:r>
                <a:endParaRPr lang="en-IN" sz="1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𝛼𝛽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m:rPr>
                              <m:nor/>
                            </m:rPr>
                            <a:rPr lang="en-IN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flow</m:t>
                          </m:r>
                          <m:r>
                            <m:rPr>
                              <m:nor/>
                            </m:rPr>
                            <a:rPr lang="en-IN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𝛼𝛾</m:t>
                          </m:r>
                        </m:sub>
                      </m:sSub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𝛾𝛽</m:t>
                          </m:r>
                        </m:sub>
                      </m:sSub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𝛽𝛾</m:t>
                          </m:r>
                        </m:sub>
                      </m:sSub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𝛾𝛼</m:t>
                          </m:r>
                        </m:sub>
                      </m:sSub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𝛼𝛽</m:t>
                          </m:r>
                        </m:sub>
                      </m:sSub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𝜇𝜈</m:t>
                          </m:r>
                        </m:sub>
                      </m:sSub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𝜇𝜈</m:t>
                          </m:r>
                        </m:sub>
                      </m:sSub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𝛼𝛽</m:t>
                              </m:r>
                            </m:sub>
                          </m:s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𝛽𝛼</m:t>
                              </m:r>
                            </m:sub>
                          </m:sSub>
                        </m:e>
                      </m:d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𝜇𝜈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𝜇𝜈</m:t>
                              </m:r>
                            </m:sub>
                          </m:sSub>
                        </m:num>
                        <m:den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den>
                      </m:f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𝛼𝛽</m:t>
                          </m:r>
                        </m:sub>
                      </m:sSub>
                    </m:oMath>
                  </m:oMathPara>
                </a14:m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Time evolution of area of interface per unit volume is</a:t>
                </a:r>
                <a:endParaRPr lang="en-IN" sz="1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𝑑𝑄</m:t>
                                  </m:r>
                                </m:num>
                                <m:den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m:rPr>
                              <m:nor/>
                            </m:rPr>
                            <a:rPr lang="en-IN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flow</m:t>
                          </m:r>
                          <m:r>
                            <m:rPr>
                              <m:nor/>
                            </m:rPr>
                            <a:rPr lang="en-IN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𝛼𝛽</m:t>
                          </m:r>
                        </m:sub>
                      </m:sSub>
                      <m:sSub>
                        <m:sSub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𝛼𝛽</m:t>
                          </m:r>
                        </m:sub>
                      </m:sSub>
                    </m:oMath>
                  </m:oMathPara>
                </a14:m>
                <a:endParaRPr lang="en-I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BF7F1F-5178-4B3E-BD61-6BAC4C292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869245"/>
                <a:ext cx="6098458" cy="4455835"/>
              </a:xfrm>
              <a:prstGeom prst="rect">
                <a:avLst/>
              </a:prstGeom>
              <a:blipFill>
                <a:blip r:embed="rId3"/>
                <a:stretch>
                  <a:fillRect l="-8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34A762-4BB5-47B5-B32D-3C822959326F}"/>
              </a:ext>
            </a:extLst>
          </p:cNvPr>
          <p:cNvCxnSpPr/>
          <p:nvPr/>
        </p:nvCxnSpPr>
        <p:spPr>
          <a:xfrm>
            <a:off x="6080294" y="501445"/>
            <a:ext cx="0" cy="548731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4DEAFEF-4AC1-4763-85B4-908FF2BB4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21</a:t>
            </a:fld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C62251-2F0E-434C-B827-B2CB89AF0AD5}"/>
              </a:ext>
            </a:extLst>
          </p:cNvPr>
          <p:cNvSpPr/>
          <p:nvPr/>
        </p:nvSpPr>
        <p:spPr>
          <a:xfrm>
            <a:off x="147484" y="136525"/>
            <a:ext cx="11887200" cy="658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136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"/>
    </mc:Choice>
    <mc:Fallback>
      <p:transition spd="slow" advTm="6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A9C4DA-5B57-4345-9A8E-F711C9C73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21" y="1214437"/>
            <a:ext cx="6143625" cy="4429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26EFB1-0C24-45B0-BA14-41FF6E2BF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996" y="1473764"/>
            <a:ext cx="4825008" cy="351119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CB556-01EF-40D6-8370-B59D30051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1650-9D57-45CF-8CE6-DD25302BD24C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944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"/>
    </mc:Choice>
    <mc:Fallback>
      <p:transition spd="slow" advTm="7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4731</TotalTime>
  <Words>1732</Words>
  <Application>Microsoft Office PowerPoint</Application>
  <PresentationFormat>Widescreen</PresentationFormat>
  <Paragraphs>217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DOI-OHTA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Ashwin Amalaruban</dc:creator>
  <cp:lastModifiedBy>Ashwin Amalaruban</cp:lastModifiedBy>
  <cp:revision>99</cp:revision>
  <dcterms:created xsi:type="dcterms:W3CDTF">2021-05-07T09:03:46Z</dcterms:created>
  <dcterms:modified xsi:type="dcterms:W3CDTF">2021-05-13T10:00:03Z</dcterms:modified>
</cp:coreProperties>
</file>