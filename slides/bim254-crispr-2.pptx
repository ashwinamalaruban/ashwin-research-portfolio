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2" r:id="rId3"/>
    <p:sldId id="260" r:id="rId4"/>
    <p:sldId id="278" r:id="rId5"/>
    <p:sldId id="271" r:id="rId6"/>
    <p:sldId id="277" r:id="rId7"/>
    <p:sldId id="279" r:id="rId8"/>
    <p:sldId id="282" r:id="rId9"/>
    <p:sldId id="276" r:id="rId10"/>
    <p:sldId id="280" r:id="rId11"/>
    <p:sldId id="281" r:id="rId12"/>
    <p:sldId id="258" r:id="rId13"/>
    <p:sldId id="28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3969" autoAdjust="0"/>
  </p:normalViewPr>
  <p:slideViewPr>
    <p:cSldViewPr snapToGrid="0">
      <p:cViewPr varScale="1">
        <p:scale>
          <a:sx n="65" d="100"/>
          <a:sy n="65" d="100"/>
        </p:scale>
        <p:origin x="85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23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7A5F35-4242-44B8-8727-68EC06095251}" type="datetimeFigureOut">
              <a:rPr lang="en-IN" smtClean="0"/>
              <a:t>16-12-2024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0FA65A-E023-4D6B-BBA9-63DACD08D0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3615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s41467-018-05245-x/figures/6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>
                <a:latin typeface="MgwfqbWarnockPro-Regular"/>
              </a:rPr>
              <a:t>The PAM sequence in the target DNA region is assumed to be responsible for the initial Cas9 recognition but the stability of the Cas9–gRNA–DNA</a:t>
            </a:r>
          </a:p>
          <a:p>
            <a:pPr algn="l"/>
            <a:r>
              <a:rPr lang="en-US" sz="1800" b="0" i="0" u="none" strike="noStrike" baseline="0">
                <a:latin typeface="MgwfqbWarnockPro-Regular"/>
              </a:rPr>
              <a:t>complex is maintained through the RNA–DNA binding.</a:t>
            </a:r>
          </a:p>
          <a:p>
            <a:pPr algn="l"/>
            <a:r>
              <a:rPr lang="en-US" sz="1800" b="0" i="0" u="none" strike="noStrike" baseline="0">
                <a:latin typeface="MgwfqbWarnockPro-Regular"/>
              </a:rPr>
              <a:t>Therefore, we decided to introduce the effect of PAM sequence to the overall binding stability with a parameter</a:t>
            </a:r>
          </a:p>
          <a:p>
            <a:pPr algn="l"/>
            <a:r>
              <a:rPr lang="en-US" sz="1800" b="0" i="1" u="none" strike="noStrike" baseline="0">
                <a:latin typeface="BddrfpRMTMI"/>
              </a:rPr>
              <a:t>δ</a:t>
            </a:r>
            <a:r>
              <a:rPr lang="en-US" sz="1800" b="0" i="1" u="none" strike="noStrike" baseline="0">
                <a:latin typeface="DmyjblWarnockPro-It"/>
              </a:rPr>
              <a:t>PAM </a:t>
            </a:r>
            <a:r>
              <a:rPr lang="en-US" sz="1800" b="0" i="0" u="none" strike="noStrike" baseline="0">
                <a:latin typeface="MgwfqbWarnockPro-Regular"/>
              </a:rPr>
              <a:t>that influence the computed overall binding free energy. Values for </a:t>
            </a:r>
            <a:r>
              <a:rPr lang="en-US" sz="1800" b="0" i="1" u="none" strike="noStrike" baseline="0">
                <a:latin typeface="BddrfpRMTMI"/>
              </a:rPr>
              <a:t>δ</a:t>
            </a:r>
            <a:r>
              <a:rPr lang="en-US" sz="1800" b="0" i="1" u="none" strike="noStrike" baseline="0">
                <a:latin typeface="DmyjblWarnockPro-It"/>
              </a:rPr>
              <a:t>PAM </a:t>
            </a:r>
            <a:r>
              <a:rPr lang="en-US" sz="1800" b="0" i="0" u="none" strike="noStrike" baseline="0">
                <a:latin typeface="MgwfqbWarnockPro-Regular"/>
              </a:rPr>
              <a:t>have been selected arbitrarily for</a:t>
            </a:r>
          </a:p>
          <a:p>
            <a:pPr algn="l"/>
            <a:r>
              <a:rPr lang="en-US" sz="1800" b="0" i="0" u="none" strike="noStrike" baseline="0">
                <a:latin typeface="MgwfqbWarnockPro-Regular"/>
              </a:rPr>
              <a:t>Cas9, as 1.0, 0.9, and 0.8 for the PAM sequences of NGG,</a:t>
            </a:r>
          </a:p>
          <a:p>
            <a:pPr algn="l"/>
            <a:r>
              <a:rPr lang="en-US" sz="1800" b="0" i="0" u="none" strike="noStrike" baseline="0">
                <a:latin typeface="MgwfqbWarnockPro-Regular"/>
              </a:rPr>
              <a:t>NAG, and NGA, respectively. These values solely reflect</a:t>
            </a:r>
          </a:p>
          <a:p>
            <a:pPr algn="l"/>
            <a:r>
              <a:rPr lang="en-US" sz="1800" b="0" i="0" u="none" strike="noStrike" baseline="0">
                <a:latin typeface="MgwfqbWarnockPro-Regular"/>
              </a:rPr>
              <a:t>our observations in the literature for experimentally validated</a:t>
            </a:r>
          </a:p>
          <a:p>
            <a:pPr algn="l"/>
            <a:r>
              <a:rPr lang="en-IN" sz="1800" b="0" i="0" u="none" strike="noStrike" baseline="0">
                <a:latin typeface="MgwfqbWarnockPro-Regular"/>
              </a:rPr>
              <a:t>off-targets of Cas9.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0FA65A-E023-4D6B-BBA9-63DACD08D059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9138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11118-B2EF-113D-516E-4A4BCF2C2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4E8599-AE00-6FC6-2E8B-2E91C214D4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5648E4-FC1D-D7B3-5FBB-78E0340CC8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/>
              <a:t>Base pair stability at different positions impacted by Cas protein conformation.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The </a:t>
            </a:r>
            <a:r>
              <a:rPr lang="en-US" b="1"/>
              <a:t>association rate</a:t>
            </a:r>
            <a:r>
              <a:rPr lang="en-US"/>
              <a:t> of each off-target site ​, which reflects how strongly each off-target site interacts with the gRNA.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Logarithmic scaling compresses large differences, making the range of normalized weights easier to interpret. For instance, if one position has a much higher WiW_iWi​ than others, the logarithmic transformation reduces its dominance while still reflecting its relative importance. Normalization makes the scores more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interpretable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setting the lowest WiW_iWi​ as a baseline and scaling other positions relative to it.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/>
          </a:p>
          <a:p>
            <a:pPr algn="l"/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F0E20B-B953-2EDC-288C-9FB37D20A5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0FA65A-E023-4D6B-BBA9-63DACD08D059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8023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Cas9/dCas9 binds to the PAM and the guide RNA invades into the PAM-adjacent protospacer duplex. During this strand invasion, the guide RNA must displace the complementary strand of the protospacer. Competition between invasion and re-annealing(</a:t>
            </a:r>
            <a:r>
              <a:rPr lang="en-US" b="0" i="0">
                <a:solidFill>
                  <a:srgbClr val="C3C6D6"/>
                </a:solidFill>
                <a:effectLst/>
                <a:latin typeface="Google Sans"/>
              </a:rPr>
              <a:t>break most of its hydrogen bonds</a:t>
            </a:r>
            <a:r>
              <a:rPr lang="en-US"/>
              <a:t>) of the duplex results in a dynamic (‘breathing’) R-loop structure. The stability of the 14th–17th sites of the protospacer-guide RNA interaction, which is dramatically increased by binding at the 19th and 20th sites, promotes a conformational change in the Cas9/dCas9 that authorizes DNA cleavage in Cas9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0FA65A-E023-4D6B-BBA9-63DACD08D059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7353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Aft>
                <a:spcPts val="1800"/>
              </a:spcAft>
            </a:pPr>
            <a:r>
              <a:rPr lang="en-US" b="0" i="0">
                <a:solidFill>
                  <a:srgbClr val="222222"/>
                </a:solidFill>
                <a:effectLst/>
                <a:latin typeface="Harding"/>
              </a:rPr>
              <a:t>AsCas12a RNP first binds dsDNA and then diffuses along it (facilitated target searches including 1D diffusion). When an AsCas12a RNP encounters its target site, PAM-induced local unwinding by AsCas12a mediates DNA–RNA base pairing for checking complementarity (R-loop initiation). If the length of the R-loop is not sufficient (&lt;17 bp), the AsCas12a RNP easily comes off the DNA (low stability under partial R-loop formation). Once a sufficiently long R-loop is formed (≥17 bp), the AsCas12a RNP strongly holds the DNA and is ready for DNA cleavage. After stable R-loop formation, AsCas12a sequentially cleaves the DNA, first the non-target strand and then the target strand, regardless of the presence of a PAM (PAM-independent sequential DNA cleavage). After successful DNA cleavage, AsCas12a quickly releases the PAM-distal DNA fragment but continues to hold the other fragment that contains both the PAM and protospacer</a:t>
            </a:r>
          </a:p>
          <a:p>
            <a:br>
              <a:rPr lang="en-US" b="1" i="0" u="none" strike="noStrike">
                <a:solidFill>
                  <a:srgbClr val="006699"/>
                </a:solidFill>
                <a:effectLst/>
                <a:latin typeface="-apple-system"/>
                <a:hlinkClick r:id="rId3"/>
              </a:rPr>
            </a:b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0FA65A-E023-4D6B-BBA9-63DACD08D059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5019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62F10-2F81-CB52-D73A-99577ECACB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07986C-2C2D-6D37-51FC-4C66F901AF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BD6A2-8BD8-A382-BD74-A7F36FDBD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F13EB-EA4C-4836-BED6-C687119FF429}" type="datetime1">
              <a:rPr lang="en-IN" smtClean="0"/>
              <a:t>16-12-2024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8552C-CF12-8763-F0CB-1FA3BDA49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A8ED4-2E45-E8CE-A224-21142F2E3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6A261-CBDC-45C6-994B-4400E8D683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8593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A11C9-2220-354D-FC6A-5853FE877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14353-7329-04BE-788E-E021A9AB0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4414A-8C97-97E1-040B-FCF966715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D32B8-D3AE-4A16-93C0-F5191A40DA63}" type="datetime1">
              <a:rPr lang="en-IN" smtClean="0"/>
              <a:t>16-12-2024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073B3-C07B-68A4-80BA-399500642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E7AEF-C280-0D52-C234-93108EFA6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6A261-CBDC-45C6-994B-4400E8D683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6953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700B2-6EA9-7713-8F55-1D1C1B7A4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B4D279-DA11-491F-F001-098B99782C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854E7-AF64-985F-09A6-BE1CCDDA6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7A4A7-C4B9-4CDC-BC44-D0974C2B7410}" type="datetime1">
              <a:rPr lang="en-IN" smtClean="0"/>
              <a:t>16-12-2024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F7367-FDB0-2F6E-E1B6-CE10FF200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633CF-5F4F-C755-3532-F914FCF42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6A261-CBDC-45C6-994B-4400E8D683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6099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5A659-068F-947C-F57C-16AC144F7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25DD8-1F06-DB66-C1B6-974B68DEE7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F315C9-DF03-76A8-1B47-58B433DB71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89EEC-A4A3-8C8A-BD02-5984C4161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AD685-5DD3-4B9F-ABAE-12E257D9C0BB}" type="datetime1">
              <a:rPr lang="en-IN" smtClean="0"/>
              <a:t>16-12-2024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487D8-04B3-9087-CE12-8C2F02B9C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EC6053-E1F8-62A4-99DF-4185F80EA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6A261-CBDC-45C6-994B-4400E8D683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9621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391C7-9259-9CEA-C8C8-0ABDEF01E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24C0B1-13EE-C54A-79C9-65D1DA8D2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FC7EE0-4785-DF5E-EA3F-4A7709909F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A0D704-2660-452F-85A6-EF948EA790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8C922E-4683-8F52-D3B1-C1553A3CF3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480816-D8CF-8A2B-2C34-76F6D576C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4238B-FC95-4082-8BCB-763B36FF589C}" type="datetime1">
              <a:rPr lang="en-IN" smtClean="0"/>
              <a:t>16-12-2024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53C4DC-C462-1E08-763F-24F14C69E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0ABD06-3E4D-E3A1-68B3-52AEFBF47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6A261-CBDC-45C6-994B-4400E8D683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898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F3A0E-3C97-EBA9-403B-7F2B279C1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746472-248E-7645-0E6F-ED0F84866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D672E-8677-496C-9550-2C01E1AD2D9B}" type="datetime1">
              <a:rPr lang="en-IN" smtClean="0"/>
              <a:t>16-12-2024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2594C-7355-A6B6-A17D-23A16195A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B5205A-AC25-EA15-D3F3-CE8DE3D43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6A261-CBDC-45C6-994B-4400E8D683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5645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E6FFF6-5E13-1A61-D624-FF92172DA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BD4DB-C2BB-448C-9653-D752F93AF799}" type="datetime1">
              <a:rPr lang="en-IN" smtClean="0"/>
              <a:t>16-12-2024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501CBA-C1D3-F7EB-B82F-31B5DA939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41E201-BAE3-3C25-C7E6-4DC13B9E3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6A261-CBDC-45C6-994B-4400E8D683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554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DA9F8-A92F-5C63-DC33-C4B4001A7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7D3EC-E617-3B5C-85E1-B22BF4FFF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0AC874-4185-9FAD-D709-46172CA3C8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1C0CF7-EAB1-FE9F-2D40-24717CE3D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AAD8D-752C-4776-918D-5B7FF79BEB85}" type="datetime1">
              <a:rPr lang="en-IN" smtClean="0"/>
              <a:t>16-12-2024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7FDE3F-3DB2-F852-53E1-0E59DC97F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E9358F-C200-49DD-F4C4-CDFFEAAAC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6A261-CBDC-45C6-994B-4400E8D683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2734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19868-6BC7-0EE7-1AAB-CD3E0572F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2FE9C0-C36C-E318-1917-CA91200D98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526AB9-D877-AA52-6DBD-C23692E16E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938436-1E62-D6D0-A004-D5D54B361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BD674-3483-4A61-B520-89474856C2F3}" type="datetime1">
              <a:rPr lang="en-IN" smtClean="0"/>
              <a:t>16-12-2024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FE7B69-A480-B379-F509-B33738A94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7914AE-7B8B-12E7-CEA8-C124DD62F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6A261-CBDC-45C6-994B-4400E8D683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2562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7E921-7E12-4E57-1FE6-0B807C165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1866DF-B3D4-515D-E2E1-4206FBC9A8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A60474-4C5C-803B-089A-8DAD15394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7B91A-4E20-4E00-B072-225EFE705D08}" type="datetime1">
              <a:rPr lang="en-IN" smtClean="0"/>
              <a:t>16-12-2024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99BB3-F96C-1BAA-E6F0-7F3C70F23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75F51-2B2C-B421-CBC4-DFDA15AA3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6A261-CBDC-45C6-994B-4400E8D683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516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70F448-2821-9F1A-AD45-8BA818D711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439926-9771-B0BE-F6C0-D9BF61C3A0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D7DEF-C7F7-2FAA-D1F1-4510BC88D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2FABD-9D89-474E-905E-9EA261D38B93}" type="datetime1">
              <a:rPr lang="en-IN" smtClean="0"/>
              <a:t>16-12-2024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9495E-45DF-571C-44A8-09468E760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D640B-C7D4-D167-A0A7-22C2DEA94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6A261-CBDC-45C6-994B-4400E8D683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7557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838DED-AA3D-647C-92A2-741AACB6A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C3DB83-18AC-A2DB-6C0B-A1D28240D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19523-66C6-782C-9C59-5E9936E32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FB3212-64DF-4506-9E57-611830574AD7}" type="datetime1">
              <a:rPr lang="en-IN" smtClean="0"/>
              <a:t>16-12-2024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7C5C2-9532-5EF8-CC1F-F55BEFA04D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EDB55-1AF1-7B39-2075-7CA82D2B2A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26A261-CBDC-45C6-994B-4400E8D683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908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10" Type="http://schemas.openxmlformats.org/officeDocument/2006/relationships/image" Target="../media/image4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19.png"/><Relationship Id="rId4" Type="http://schemas.openxmlformats.org/officeDocument/2006/relationships/image" Target="../media/image14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Wrench and socket on a graphic of DNA">
            <a:extLst>
              <a:ext uri="{FF2B5EF4-FFF2-40B4-BE49-F238E27FC236}">
                <a16:creationId xmlns:a16="http://schemas.microsoft.com/office/drawing/2014/main" id="{C0B00202-1397-304C-8198-A5DDC23D96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4" r="-1" b="-1"/>
          <a:stretch/>
        </p:blipFill>
        <p:spPr bwMode="auto">
          <a:xfrm>
            <a:off x="0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F3A613-8AA4-317F-F3AB-57F2B6D92C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08534" y="800424"/>
            <a:ext cx="4146427" cy="3587014"/>
          </a:xfrm>
          <a:noFill/>
        </p:spPr>
        <p:txBody>
          <a:bodyPr>
            <a:noAutofit/>
          </a:bodyPr>
          <a:lstStyle/>
          <a:p>
            <a:pPr algn="l"/>
            <a:br>
              <a:rPr lang="en-IN" sz="4400" b="1" u="none" strike="noStrike" baseline="0">
                <a:solidFill>
                  <a:srgbClr val="C00000"/>
                </a:solidFill>
              </a:rPr>
            </a:br>
            <a:r>
              <a:rPr lang="en-IN" sz="4400" b="1" u="none" strike="noStrike" baseline="0">
                <a:solidFill>
                  <a:srgbClr val="C00000"/>
                </a:solidFill>
              </a:rPr>
              <a:t>Binding stability of RNA-DNA interactions: CRISPR-Cas system</a:t>
            </a:r>
            <a:endParaRPr lang="en-IN" sz="4400" b="1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752A73-72F3-4BAC-541E-3B12FEE6A7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5403" y="4629234"/>
            <a:ext cx="3879608" cy="1485320"/>
          </a:xfrm>
          <a:noFill/>
        </p:spPr>
        <p:txBody>
          <a:bodyPr>
            <a:noAutofit/>
          </a:bodyPr>
          <a:lstStyle/>
          <a:p>
            <a:pPr algn="l"/>
            <a:r>
              <a:rPr lang="en-US" b="1"/>
              <a:t>Ashwin Amalaruban</a:t>
            </a:r>
          </a:p>
          <a:p>
            <a:pPr algn="l"/>
            <a:r>
              <a:rPr lang="en-US"/>
              <a:t>BIM254 Presentation #2</a:t>
            </a:r>
          </a:p>
          <a:p>
            <a:pPr algn="l"/>
            <a:r>
              <a:rPr lang="en-US"/>
              <a:t>Instructor: Dr.Sharon Aviran</a:t>
            </a:r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C7984DB-CE0D-C4E5-5BFC-AA630E0AE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6A261-CBDC-45C6-994B-4400E8D6835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1792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A10EFD-A9BE-1951-2E83-484421002F1B}"/>
              </a:ext>
            </a:extLst>
          </p:cNvPr>
          <p:cNvSpPr txBox="1"/>
          <p:nvPr/>
        </p:nvSpPr>
        <p:spPr>
          <a:xfrm>
            <a:off x="1564341" y="160438"/>
            <a:ext cx="90633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>
                <a:solidFill>
                  <a:srgbClr val="C00000"/>
                </a:solidFill>
              </a:rPr>
              <a:t>Outline of the presentation</a:t>
            </a:r>
            <a:endParaRPr lang="en-IN" sz="4400" b="1">
              <a:solidFill>
                <a:srgbClr val="C00000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0605539-D5B7-7E9D-216D-3AA7160FCA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433703"/>
              </p:ext>
            </p:extLst>
          </p:nvPr>
        </p:nvGraphicFramePr>
        <p:xfrm>
          <a:off x="1564341" y="1161540"/>
          <a:ext cx="7872957" cy="49631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85508">
                  <a:extLst>
                    <a:ext uri="{9D8B030D-6E8A-4147-A177-3AD203B41FA5}">
                      <a16:colId xmlns:a16="http://schemas.microsoft.com/office/drawing/2014/main" val="3073029130"/>
                    </a:ext>
                  </a:extLst>
                </a:gridCol>
                <a:gridCol w="6087449">
                  <a:extLst>
                    <a:ext uri="{9D8B030D-6E8A-4147-A177-3AD203B41FA5}">
                      <a16:colId xmlns:a16="http://schemas.microsoft.com/office/drawing/2014/main" val="3490033249"/>
                    </a:ext>
                  </a:extLst>
                </a:gridCol>
              </a:tblGrid>
              <a:tr h="12105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/>
                        <a:t>Section</a:t>
                      </a:r>
                      <a:endParaRPr lang="en-IN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/>
                        <a:t>Topic</a:t>
                      </a:r>
                      <a:endParaRPr lang="en-IN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145234"/>
                  </a:ext>
                </a:extLst>
              </a:tr>
              <a:tr h="9883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/>
                        <a:t>A</a:t>
                      </a:r>
                      <a:endParaRPr lang="en-IN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000"/>
                        <a:t>Recap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000"/>
                        <a:t>-Binding energy model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000"/>
                        <a:t>-Off-targeting parameters.</a:t>
                      </a:r>
                      <a:endParaRPr lang="en-IN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5044202"/>
                  </a:ext>
                </a:extLst>
              </a:tr>
              <a:tr h="131594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/>
                        <a:t>B</a:t>
                      </a:r>
                      <a:endParaRPr lang="en-IN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000"/>
                        <a:t>Binding stability and the kinetics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-Mechanism of Cas9,Cas12a binding/unbinding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000"/>
                        <a:t>-</a:t>
                      </a:r>
                      <a:r>
                        <a:rPr lang="en-US" sz="2000" b="1"/>
                        <a:t>Do they matter?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000"/>
                        <a:t>-</a:t>
                      </a:r>
                      <a:r>
                        <a:rPr lang="en-US" sz="2000" b="1"/>
                        <a:t>Cas9 vs Cas12a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8421982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6D0E80B-B949-1AED-ED23-FE82BFE5D204}"/>
              </a:ext>
            </a:extLst>
          </p:cNvPr>
          <p:cNvSpPr/>
          <p:nvPr/>
        </p:nvSpPr>
        <p:spPr>
          <a:xfrm>
            <a:off x="237744" y="160438"/>
            <a:ext cx="11795760" cy="65371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F5C2DA-D97F-0B4F-1E44-00DE6869F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6A261-CBDC-45C6-994B-4400E8D6835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3271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51241BC-A8D4-59BE-5E44-E9388D03B6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282" y="1452441"/>
            <a:ext cx="3859920" cy="254481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17152AD-B1E9-94D1-42D1-379AE16BDF98}"/>
              </a:ext>
            </a:extLst>
          </p:cNvPr>
          <p:cNvSpPr txBox="1"/>
          <p:nvPr/>
        </p:nvSpPr>
        <p:spPr>
          <a:xfrm>
            <a:off x="0" y="199265"/>
            <a:ext cx="120660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>
                <a:solidFill>
                  <a:srgbClr val="C00000"/>
                </a:solidFill>
              </a:rPr>
              <a:t>Binding energy model: </a:t>
            </a:r>
            <a:r>
              <a:rPr lang="en-US" sz="4000" b="1" i="0" u="none" strike="noStrike" baseline="0">
                <a:solidFill>
                  <a:srgbClr val="C00000"/>
                </a:solidFill>
                <a:latin typeface="Aptos" panose="020B0004020202020204" pitchFamily="34" charset="0"/>
              </a:rPr>
              <a:t>Cas9-gRNA-DNA complex</a:t>
            </a:r>
            <a:endParaRPr lang="en-US" sz="4000" b="1">
              <a:solidFill>
                <a:srgbClr val="C00000"/>
              </a:solidFill>
            </a:endParaRPr>
          </a:p>
          <a:p>
            <a:pPr algn="ctr"/>
            <a:r>
              <a:rPr lang="en-US" sz="2400" b="0" i="0" u="none" strike="noStrike" baseline="0">
                <a:solidFill>
                  <a:srgbClr val="000000"/>
                </a:solidFill>
                <a:latin typeface="Aptos" panose="020B0004020202020204" pitchFamily="34" charset="0"/>
              </a:rPr>
              <a:t>Using Energy parameters for </a:t>
            </a:r>
            <a:r>
              <a:rPr lang="en-US" sz="2400" b="0" i="0" u="none" strike="noStrike" baseline="0">
                <a:solidFill>
                  <a:srgbClr val="C00000"/>
                </a:solidFill>
                <a:latin typeface="Aptos" panose="020B0004020202020204" pitchFamily="34" charset="0"/>
              </a:rPr>
              <a:t>RNA-DNA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Aptos" panose="020B0004020202020204" pitchFamily="34" charset="0"/>
              </a:rPr>
              <a:t>, </a:t>
            </a:r>
            <a:r>
              <a:rPr lang="en-US" sz="2400" b="0" i="0" u="none" strike="noStrike" baseline="0">
                <a:solidFill>
                  <a:srgbClr val="002060"/>
                </a:solidFill>
                <a:latin typeface="Aptos" panose="020B0004020202020204" pitchFamily="34" charset="0"/>
              </a:rPr>
              <a:t>RNA-RNA</a:t>
            </a:r>
            <a:r>
              <a:rPr lang="en-US" sz="240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Aptos" panose="020B0004020202020204" pitchFamily="34" charset="0"/>
              </a:rPr>
              <a:t>and</a:t>
            </a:r>
            <a:r>
              <a:rPr lang="en-US" sz="2400" b="0" i="0" u="none" strike="noStrike" baseline="0">
                <a:solidFill>
                  <a:schemeClr val="accent3"/>
                </a:solidFill>
                <a:latin typeface="Aptos" panose="020B0004020202020204" pitchFamily="34" charset="0"/>
              </a:rPr>
              <a:t> DNA-DNA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Aptos" panose="020B0004020202020204" pitchFamily="34" charset="0"/>
              </a:rPr>
              <a:t> duplexes.</a:t>
            </a:r>
          </a:p>
          <a:p>
            <a:pPr algn="ctr"/>
            <a:endParaRPr lang="en-IN" sz="3200" b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C59256B-0452-1C19-B79A-4EF595A85C72}"/>
                  </a:ext>
                </a:extLst>
              </p:cNvPr>
              <p:cNvSpPr txBox="1"/>
              <p:nvPr/>
            </p:nvSpPr>
            <p:spPr>
              <a:xfrm>
                <a:off x="9602003" y="4352192"/>
                <a:ext cx="2249721" cy="143141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N" sz="2000">
                    <a:solidFill>
                      <a:schemeClr val="tx1"/>
                    </a:solidFill>
                  </a:rPr>
                  <a:t>Final energy correction,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𝑃𝐴𝑀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IN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C59256B-0452-1C19-B79A-4EF595A85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2003" y="4352192"/>
                <a:ext cx="2249721" cy="1431417"/>
              </a:xfrm>
              <a:prstGeom prst="rect">
                <a:avLst/>
              </a:prstGeom>
              <a:blipFill>
                <a:blip r:embed="rId4"/>
                <a:stretch>
                  <a:fillRect l="-2426" b="-2532"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25E96434-D856-30DD-0A23-B08E478791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5136444"/>
                  </p:ext>
                </p:extLst>
              </p:nvPr>
            </p:nvGraphicFramePr>
            <p:xfrm>
              <a:off x="9546301" y="2227236"/>
              <a:ext cx="2361126" cy="1797764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1180563">
                      <a:extLst>
                        <a:ext uri="{9D8B030D-6E8A-4147-A177-3AD203B41FA5}">
                          <a16:colId xmlns:a16="http://schemas.microsoft.com/office/drawing/2014/main" val="2329088804"/>
                        </a:ext>
                      </a:extLst>
                    </a:gridCol>
                    <a:gridCol w="1180563">
                      <a:extLst>
                        <a:ext uri="{9D8B030D-6E8A-4147-A177-3AD203B41FA5}">
                          <a16:colId xmlns:a16="http://schemas.microsoft.com/office/drawing/2014/main" val="3439227221"/>
                        </a:ext>
                      </a:extLst>
                    </a:gridCol>
                  </a:tblGrid>
                  <a:tr h="713252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PAM sequence</a:t>
                          </a:r>
                          <a:endParaRPr lang="en-IN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𝜹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𝑷𝑨𝑴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4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88161113"/>
                      </a:ext>
                    </a:extLst>
                  </a:tr>
                  <a:tr h="361504">
                    <a:tc>
                      <a:txBody>
                        <a:bodyPr/>
                        <a:lstStyle/>
                        <a:p>
                          <a:r>
                            <a:rPr lang="en-US" sz="1400" u="sng">
                              <a:solidFill>
                                <a:schemeClr val="tx1"/>
                              </a:solidFill>
                            </a:rPr>
                            <a:t>NGG</a:t>
                          </a:r>
                          <a:endParaRPr lang="en-IN" sz="1400" u="sng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u="sng">
                              <a:solidFill>
                                <a:schemeClr val="tx1"/>
                              </a:solidFill>
                            </a:rPr>
                            <a:t>1.0</a:t>
                          </a:r>
                          <a:endParaRPr lang="en-IN" sz="1400" u="sng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58731093"/>
                      </a:ext>
                    </a:extLst>
                  </a:tr>
                  <a:tr h="361504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NAG</a:t>
                          </a:r>
                          <a:endParaRPr lang="en-IN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0.9</a:t>
                          </a:r>
                          <a:endParaRPr lang="en-IN" sz="14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67569405"/>
                      </a:ext>
                    </a:extLst>
                  </a:tr>
                  <a:tr h="361504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NGA</a:t>
                          </a:r>
                          <a:endParaRPr lang="en-IN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0.8</a:t>
                          </a:r>
                          <a:endParaRPr lang="en-IN" sz="14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91101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25E96434-D856-30DD-0A23-B08E478791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5136444"/>
                  </p:ext>
                </p:extLst>
              </p:nvPr>
            </p:nvGraphicFramePr>
            <p:xfrm>
              <a:off x="9546301" y="2227236"/>
              <a:ext cx="2361126" cy="1797764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1180563">
                      <a:extLst>
                        <a:ext uri="{9D8B030D-6E8A-4147-A177-3AD203B41FA5}">
                          <a16:colId xmlns:a16="http://schemas.microsoft.com/office/drawing/2014/main" val="2329088804"/>
                        </a:ext>
                      </a:extLst>
                    </a:gridCol>
                    <a:gridCol w="1180563">
                      <a:extLst>
                        <a:ext uri="{9D8B030D-6E8A-4147-A177-3AD203B41FA5}">
                          <a16:colId xmlns:a16="http://schemas.microsoft.com/office/drawing/2014/main" val="3439227221"/>
                        </a:ext>
                      </a:extLst>
                    </a:gridCol>
                  </a:tblGrid>
                  <a:tr h="713252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PAM sequence</a:t>
                          </a:r>
                          <a:endParaRPr lang="en-IN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1031" t="-855" r="-1031" b="-15470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88161113"/>
                      </a:ext>
                    </a:extLst>
                  </a:tr>
                  <a:tr h="361504">
                    <a:tc>
                      <a:txBody>
                        <a:bodyPr/>
                        <a:lstStyle/>
                        <a:p>
                          <a:r>
                            <a:rPr lang="en-US" sz="1400" u="sng">
                              <a:solidFill>
                                <a:schemeClr val="tx1"/>
                              </a:solidFill>
                            </a:rPr>
                            <a:t>NGG</a:t>
                          </a:r>
                          <a:endParaRPr lang="en-IN" sz="1400" u="sng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u="sng">
                              <a:solidFill>
                                <a:schemeClr val="tx1"/>
                              </a:solidFill>
                            </a:rPr>
                            <a:t>1.0</a:t>
                          </a:r>
                          <a:endParaRPr lang="en-IN" sz="1400" u="sng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58731093"/>
                      </a:ext>
                    </a:extLst>
                  </a:tr>
                  <a:tr h="361504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NAG</a:t>
                          </a:r>
                          <a:endParaRPr lang="en-IN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0.9</a:t>
                          </a:r>
                          <a:endParaRPr lang="en-IN" sz="14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67569405"/>
                      </a:ext>
                    </a:extLst>
                  </a:tr>
                  <a:tr h="361504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NGA</a:t>
                          </a:r>
                          <a:endParaRPr lang="en-IN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0.8</a:t>
                          </a:r>
                          <a:endParaRPr lang="en-IN" sz="14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91101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BAFA52C-8F89-430E-2A75-2A9A27633F09}"/>
                  </a:ext>
                </a:extLst>
              </p:cNvPr>
              <p:cNvSpPr txBox="1"/>
              <p:nvPr/>
            </p:nvSpPr>
            <p:spPr>
              <a:xfrm>
                <a:off x="317955" y="4363356"/>
                <a:ext cx="3610516" cy="2181623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  <a:prstDash val="dash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/>
                  <a:t>Binding energy between gRNA and (off-)target DNA,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endParaRPr lang="en-US" sz="2000" b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19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𝛤</m:t>
                              </m:r>
                            </m:e>
                            <m:sub>
                              <m:r>
                                <a:rPr lang="en-US" sz="2000" b="0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𝐶𝑎𝑠</m:t>
                              </m:r>
                              <m:r>
                                <a:rPr lang="en-US" sz="2000" b="0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9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×∆</m:t>
                          </m:r>
                          <m:sSubSup>
                            <m:sSub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: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𝑅𝑁𝐴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𝐷𝑁𝐴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2000" b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BAFA52C-8F89-430E-2A75-2A9A27633F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955" y="4363356"/>
                <a:ext cx="3610516" cy="2181623"/>
              </a:xfrm>
              <a:prstGeom prst="rect">
                <a:avLst/>
              </a:prstGeom>
              <a:blipFill>
                <a:blip r:embed="rId6"/>
                <a:stretch>
                  <a:fillRect l="-1515"/>
                </a:stretch>
              </a:blipFill>
              <a:ln>
                <a:solidFill>
                  <a:srgbClr val="C00000"/>
                </a:solidFill>
                <a:prstDash val="dash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30DB18C-A594-DB44-9B61-CF3408614DB9}"/>
                  </a:ext>
                </a:extLst>
              </p:cNvPr>
              <p:cNvSpPr txBox="1"/>
              <p:nvPr/>
            </p:nvSpPr>
            <p:spPr>
              <a:xfrm>
                <a:off x="4060227" y="4363356"/>
                <a:ext cx="2027886" cy="1431417"/>
              </a:xfrm>
              <a:prstGeom prst="rect">
                <a:avLst/>
              </a:prstGeom>
              <a:noFill/>
              <a:ln>
                <a:solidFill>
                  <a:srgbClr val="002060"/>
                </a:solidFill>
                <a:prstDash val="dash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N" sz="2000"/>
                  <a:t>Energy penalty for unfolding the gRNA 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sub>
                    </m:sSub>
                  </m:oMath>
                </a14:m>
                <a:r>
                  <a:rPr lang="en-IN" sz="2000"/>
                  <a:t> 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30DB18C-A594-DB44-9B61-CF3408614D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0227" y="4363356"/>
                <a:ext cx="2027886" cy="1431417"/>
              </a:xfrm>
              <a:prstGeom prst="rect">
                <a:avLst/>
              </a:prstGeom>
              <a:blipFill>
                <a:blip r:embed="rId7"/>
                <a:stretch>
                  <a:fillRect l="-2687" r="-2687" b="-6329"/>
                </a:stretch>
              </a:blipFill>
              <a:ln>
                <a:solidFill>
                  <a:srgbClr val="002060"/>
                </a:solidFill>
                <a:prstDash val="dash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B16B63E-9874-2F40-9281-B189D541DC4E}"/>
                  </a:ext>
                </a:extLst>
              </p:cNvPr>
              <p:cNvSpPr txBox="1"/>
              <p:nvPr/>
            </p:nvSpPr>
            <p:spPr>
              <a:xfrm>
                <a:off x="6297430" y="4352192"/>
                <a:ext cx="3248871" cy="1985544"/>
              </a:xfrm>
              <a:prstGeom prst="rect">
                <a:avLst/>
              </a:prstGeom>
              <a:noFill/>
              <a:ln>
                <a:solidFill>
                  <a:schemeClr val="accent3"/>
                </a:solidFill>
                <a:prstDash val="dash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N" sz="2000"/>
                  <a:t>Penalty for opening the double stranded DNA,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sub>
                    </m:sSub>
                  </m:oMath>
                </a14:m>
                <a:endParaRPr lang="en-IN" sz="2000"/>
              </a:p>
              <a:p>
                <a:pPr>
                  <a:lnSpc>
                    <a:spcPct val="150000"/>
                  </a:lnSpc>
                </a:pPr>
                <a:r>
                  <a:rPr lang="en-IN" sz="200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I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b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19</m:t>
                        </m:r>
                      </m:sup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Sup>
                          <m:sSub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: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𝐷𝑁𝐴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𝐷𝑁𝐴</m:t>
                            </m:r>
                          </m:sup>
                        </m:sSubSup>
                      </m:e>
                    </m:nary>
                  </m:oMath>
                </a14:m>
                <a:endParaRPr lang="en-IN" sz="200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B16B63E-9874-2F40-9281-B189D541DC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7430" y="4352192"/>
                <a:ext cx="3248871" cy="1985544"/>
              </a:xfrm>
              <a:prstGeom prst="rect">
                <a:avLst/>
              </a:prstGeom>
              <a:blipFill>
                <a:blip r:embed="rId8"/>
                <a:stretch>
                  <a:fillRect l="-11215" b="-33841"/>
                </a:stretch>
              </a:blipFill>
              <a:ln>
                <a:solidFill>
                  <a:schemeClr val="accent3"/>
                </a:solidFill>
                <a:prstDash val="dash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6612188-8627-8E02-307A-A32506631E5C}"/>
                  </a:ext>
                </a:extLst>
              </p:cNvPr>
              <p:cNvSpPr txBox="1"/>
              <p:nvPr/>
            </p:nvSpPr>
            <p:spPr>
              <a:xfrm>
                <a:off x="4438157" y="3731987"/>
                <a:ext cx="340690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𝑃𝐴𝑀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−∆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−∆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6612188-8627-8E02-307A-A32506631E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157" y="3731987"/>
                <a:ext cx="3406900" cy="369332"/>
              </a:xfrm>
              <a:prstGeom prst="rect">
                <a:avLst/>
              </a:prstGeom>
              <a:blipFill>
                <a:blip r:embed="rId9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7C0A116E-F2E9-1434-D351-6734A9D2B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6A261-CBDC-45C6-994B-4400E8D6835A}" type="slidenum">
              <a:rPr lang="en-IN" smtClean="0"/>
              <a:t>3</a:t>
            </a:fld>
            <a:endParaRPr lang="en-IN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D5D77FE-3320-2DC8-1A4B-22EA439591A3}"/>
              </a:ext>
            </a:extLst>
          </p:cNvPr>
          <p:cNvSpPr/>
          <p:nvPr/>
        </p:nvSpPr>
        <p:spPr>
          <a:xfrm>
            <a:off x="237744" y="160438"/>
            <a:ext cx="11795760" cy="65371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D7EA1A6D-ADD6-AE6A-CD5F-4D0141A6156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2710" y="2400128"/>
            <a:ext cx="4544700" cy="9659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C7FA5FB-C9B5-F919-1164-AB76CA0004FC}"/>
              </a:ext>
            </a:extLst>
          </p:cNvPr>
          <p:cNvSpPr txBox="1"/>
          <p:nvPr/>
        </p:nvSpPr>
        <p:spPr>
          <a:xfrm>
            <a:off x="9548273" y="6408399"/>
            <a:ext cx="24604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Alkan et al.,2018</a:t>
            </a:r>
            <a:endParaRPr lang="en-IN" sz="1400"/>
          </a:p>
        </p:txBody>
      </p:sp>
    </p:spTree>
    <p:extLst>
      <p:ext uri="{BB962C8B-B14F-4D97-AF65-F5344CB8AC3E}">
        <p14:creationId xmlns:p14="http://schemas.microsoft.com/office/powerpoint/2010/main" val="2614817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02735D-0660-9483-3D97-F6D53D44F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6A261-CBDC-45C6-994B-4400E8D6835A}" type="slidenum">
              <a:rPr lang="en-IN" smtClean="0"/>
              <a:t>4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CE9AC82-FEF7-8CE0-8CBB-D7B8721E992C}"/>
                  </a:ext>
                </a:extLst>
              </p:cNvPr>
              <p:cNvSpPr txBox="1"/>
              <p:nvPr/>
            </p:nvSpPr>
            <p:spPr>
              <a:xfrm>
                <a:off x="461513" y="1251972"/>
                <a:ext cx="3989717" cy="20083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800" b="1" i="0" u="none" strike="noStrike" baseline="0">
                    <a:solidFill>
                      <a:srgbClr val="000000"/>
                    </a:solidFill>
                    <a:latin typeface="Aptos" panose="020B0004020202020204" pitchFamily="34" charset="0"/>
                  </a:rPr>
                  <a:t>CRSIPRoff</a:t>
                </a:r>
                <a:endParaRPr lang="en-US" sz="2800" b="0" i="0" u="none" strike="noStrike" baseline="0">
                  <a:solidFill>
                    <a:srgbClr val="000000"/>
                  </a:solidFill>
                  <a:latin typeface="Aptos" panose="020B00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800">
                    <a:sym typeface="Wingdings" panose="05000000000000000000" pitchFamily="2" charset="2"/>
                  </a:rPr>
                  <a:t>Confidence score assigned to each predicted off-target site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𝐶𝑅𝐼𝑆𝑃𝑅𝑜𝑓𝑓</m:t>
                    </m:r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𝑔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𝑜𝑓𝑓</m:t>
                            </m:r>
                          </m:sub>
                        </m:sSub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=−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∆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𝐺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𝐵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𝑔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𝑜𝑓𝑓</m:t>
                            </m:r>
                          </m:sub>
                        </m:sSub>
                      </m:e>
                    </m:d>
                  </m:oMath>
                </a14:m>
                <a:endParaRPr lang="en-US" sz="1800" b="0">
                  <a:ea typeface="Cambria Math" panose="02040503050406030204" pitchFamily="18" charset="0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CE9AC82-FEF7-8CE0-8CBB-D7B8721E99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513" y="1251972"/>
                <a:ext cx="3989717" cy="2008307"/>
              </a:xfrm>
              <a:prstGeom prst="rect">
                <a:avLst/>
              </a:prstGeom>
              <a:blipFill>
                <a:blip r:embed="rId2"/>
                <a:stretch>
                  <a:fillRect l="-1376" b="-9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DBE5BE2-5247-3457-87AC-7143993D5FC5}"/>
                  </a:ext>
                </a:extLst>
              </p:cNvPr>
              <p:cNvSpPr txBox="1"/>
              <p:nvPr/>
            </p:nvSpPr>
            <p:spPr>
              <a:xfrm>
                <a:off x="4868961" y="1251972"/>
                <a:ext cx="6737977" cy="37374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800" b="1" i="0" u="none" strike="noStrike" baseline="0">
                    <a:solidFill>
                      <a:srgbClr val="000000"/>
                    </a:solidFill>
                    <a:latin typeface="Aptos" panose="020B0004020202020204" pitchFamily="34" charset="0"/>
                  </a:rPr>
                  <a:t>CRISPRspec</a:t>
                </a:r>
                <a:endParaRPr lang="en-US" sz="2800">
                  <a:solidFill>
                    <a:srgbClr val="000000"/>
                  </a:solidFill>
                  <a:latin typeface="Aptos" panose="020B00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000">
                    <a:solidFill>
                      <a:srgbClr val="000000"/>
                    </a:solidFill>
                    <a:latin typeface="Aptos" panose="020B0004020202020204" pitchFamily="34" charset="0"/>
                  </a:rPr>
                  <a:t>S</a:t>
                </a:r>
                <a:r>
                  <a:rPr lang="en-US" sz="2000" b="0" i="0" u="none" strike="noStrike" baseline="0">
                    <a:solidFill>
                      <a:srgbClr val="000000"/>
                    </a:solidFill>
                    <a:latin typeface="Aptos" panose="020B0004020202020204" pitchFamily="34" charset="0"/>
                  </a:rPr>
                  <a:t>pecificity score for a guided RNA using free energies of all possible bindings. </a:t>
                </a:r>
                <a:endParaRPr lang="en-US" sz="2000" b="0" i="1">
                  <a:latin typeface="Cambria Math" panose="02040503050406030204" pitchFamily="18" charset="0"/>
                </a:endParaRPr>
              </a:p>
              <a:p>
                <a:endParaRPr lang="en-US" sz="2000" b="0" i="1">
                  <a:latin typeface="Cambria Math" panose="02040503050406030204" pitchFamily="18" charset="0"/>
                </a:endParaRPr>
              </a:p>
              <a:p>
                <a:endParaRPr lang="en-US" sz="2000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𝐶𝑅𝐼𝑆𝑃𝑅𝑠𝑝𝑒𝑐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sz="2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2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∀</m:t>
                                      </m:r>
                                      <m:r>
                                        <a:rPr lang="en-US" sz="2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∈</m:t>
                                      </m:r>
                                      <m:sSub>
                                        <m:sSubPr>
                                          <m:ctrlPr>
                                            <a:rPr lang="en-US" sz="2000" b="0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0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</m:sub>
                                      </m:sSub>
                                      <m:r>
                                        <a:rPr lang="en-US" sz="2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\</m:t>
                                      </m:r>
                                      <m:r>
                                        <m:rPr>
                                          <m:lit/>
                                        </m:rPr>
                                        <a:rPr lang="en-US" sz="2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[</m:t>
                                      </m:r>
                                      <m:sSub>
                                        <m:sSubPr>
                                          <m:ctrlPr>
                                            <a:rPr lang="en-US" sz="2000" b="0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0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𝑜𝑛</m:t>
                                          </m:r>
                                        </m:sub>
                                      </m:sSub>
                                      <m:r>
                                        <a:rPr lang="en-US" sz="2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]</m:t>
                                      </m:r>
                                    </m:sub>
                                    <m:sup/>
                                    <m:e>
                                      <m:sSup>
                                        <m:sSupPr>
                                          <m:ctrlPr>
                                            <a:rPr lang="en-US" sz="2000" b="0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b="0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lang="en-US" sz="2000" b="0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2000" b="0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  <m:r>
                                            <a:rPr lang="en-US" sz="2000" b="0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∆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000" b="0" i="1" smtClean="0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b="0" i="1" smtClean="0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𝐺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b="0" i="1" smtClean="0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𝐵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begChr m:val="["/>
                                              <m:endChr m:val="]"/>
                                              <m:ctrlPr>
                                                <a:rPr lang="en-US" sz="2000" b="0" i="1" smtClean="0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b="0" i="1" smtClean="0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𝑔</m:t>
                                              </m:r>
                                              <m:r>
                                                <a:rPr lang="en-US" sz="2000" b="0" i="1" smtClean="0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sz="2000" b="0" i="1" smtClean="0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nary>
                                </m:num>
                                <m:den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sz="2000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2000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∀</m:t>
                                      </m:r>
                                      <m:r>
                                        <a:rPr lang="en-US" sz="2000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000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∈</m:t>
                                      </m:r>
                                      <m:sSub>
                                        <m:sSubPr>
                                          <m:ctrlPr>
                                            <a:rPr lang="en-US" sz="2000" b="0" i="1" smtClean="0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0" i="1" smtClean="0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</m:sub>
                                      </m:sSub>
                                    </m:sub>
                                    <m:sup/>
                                    <m:e>
                                      <m:sSup>
                                        <m:sSupPr>
                                          <m:ctrlPr>
                                            <a:rPr lang="en-US" sz="2000" b="0" i="1" smtClean="0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b="0" i="1" smtClean="0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lang="en-US" sz="2000" b="0" i="1" smtClean="0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2000" b="0" i="1" smtClean="0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  <m:r>
                                            <a:rPr lang="en-US" sz="2000" b="0" i="1" smtClean="0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∆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000" b="0" i="1" smtClean="0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b="0" i="1" smtClean="0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𝐺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b="0" i="1" smtClean="0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𝐵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begChr m:val="["/>
                                              <m:endChr m:val="]"/>
                                              <m:ctrlPr>
                                                <a:rPr lang="en-US" sz="2000" b="0" i="1" smtClean="0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b="0" i="1" smtClean="0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𝑔</m:t>
                                              </m:r>
                                              <m:r>
                                                <a:rPr lang="en-US" sz="2000" b="0" i="1" smtClean="0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sz="2000" b="0" i="1" smtClean="0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nary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IN" sz="2000"/>
              </a:p>
              <a:p>
                <a:endParaRPr lang="en-IN" sz="2000"/>
              </a:p>
              <a:p>
                <a:endParaRPr lang="en-IN" sz="200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DBE5BE2-5247-3457-87AC-7143993D5F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8961" y="1251972"/>
                <a:ext cx="6737977" cy="3737433"/>
              </a:xfrm>
              <a:prstGeom prst="rect">
                <a:avLst/>
              </a:prstGeom>
              <a:blipFill>
                <a:blip r:embed="rId3"/>
                <a:stretch>
                  <a:fillRect l="-9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41DAC77E-734D-078E-2A77-A31AF58D5418}"/>
              </a:ext>
            </a:extLst>
          </p:cNvPr>
          <p:cNvSpPr txBox="1"/>
          <p:nvPr/>
        </p:nvSpPr>
        <p:spPr>
          <a:xfrm>
            <a:off x="8785628" y="2667702"/>
            <a:ext cx="2821310" cy="707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>
                <a:solidFill>
                  <a:srgbClr val="C00000"/>
                </a:solidFill>
                <a:sym typeface="Wingdings" panose="05000000000000000000" pitchFamily="2" charset="2"/>
              </a:rPr>
              <a:t>Summed probability of all potential off-target interactions</a:t>
            </a:r>
            <a:r>
              <a:rPr lang="en-US" sz="1400">
                <a:sym typeface="Wingdings" panose="05000000000000000000" pitchFamily="2" charset="2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607403-03DA-CE29-2AC7-3C80D2ED5B1A}"/>
              </a:ext>
            </a:extLst>
          </p:cNvPr>
          <p:cNvSpPr txBox="1"/>
          <p:nvPr/>
        </p:nvSpPr>
        <p:spPr>
          <a:xfrm>
            <a:off x="8938982" y="4245605"/>
            <a:ext cx="2514601" cy="707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>
                <a:solidFill>
                  <a:schemeClr val="tx2"/>
                </a:solidFill>
                <a:sym typeface="Wingdings" panose="05000000000000000000" pitchFamily="2" charset="2"/>
              </a:rPr>
              <a:t>Summed probability of all potential interactions.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37E71E-0549-4CD5-B8C1-775E6D476C89}"/>
              </a:ext>
            </a:extLst>
          </p:cNvPr>
          <p:cNvSpPr txBox="1"/>
          <p:nvPr/>
        </p:nvSpPr>
        <p:spPr>
          <a:xfrm>
            <a:off x="3408872" y="5119851"/>
            <a:ext cx="60988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/>
              <a:t>Low: Bad</a:t>
            </a:r>
          </a:p>
          <a:p>
            <a:r>
              <a:rPr lang="en-IN" sz="3600" b="1"/>
              <a:t>High: Good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9DE58B-EE36-D73C-C1A6-CB7B053F966F}"/>
              </a:ext>
            </a:extLst>
          </p:cNvPr>
          <p:cNvSpPr txBox="1"/>
          <p:nvPr/>
        </p:nvSpPr>
        <p:spPr>
          <a:xfrm>
            <a:off x="0" y="199265"/>
            <a:ext cx="120660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>
                <a:solidFill>
                  <a:srgbClr val="C00000"/>
                </a:solidFill>
              </a:rPr>
              <a:t>CRISPRoff and CRISPRspec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4745C7-7E4A-B52F-1BB3-E8D0318A6487}"/>
              </a:ext>
            </a:extLst>
          </p:cNvPr>
          <p:cNvSpPr/>
          <p:nvPr/>
        </p:nvSpPr>
        <p:spPr>
          <a:xfrm>
            <a:off x="237744" y="160438"/>
            <a:ext cx="11795760" cy="65371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0911C36-225E-2ED5-5AEE-A9460EC2FB90}"/>
              </a:ext>
            </a:extLst>
          </p:cNvPr>
          <p:cNvCxnSpPr>
            <a:cxnSpLocks/>
          </p:cNvCxnSpPr>
          <p:nvPr/>
        </p:nvCxnSpPr>
        <p:spPr>
          <a:xfrm>
            <a:off x="4451230" y="1492614"/>
            <a:ext cx="0" cy="3627237"/>
          </a:xfrm>
          <a:prstGeom prst="line">
            <a:avLst/>
          </a:prstGeom>
          <a:ln w="28575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E3940DE-8C6F-2DD0-7DE3-2B6CBFC3EB3E}"/>
              </a:ext>
            </a:extLst>
          </p:cNvPr>
          <p:cNvSpPr txBox="1"/>
          <p:nvPr/>
        </p:nvSpPr>
        <p:spPr>
          <a:xfrm>
            <a:off x="237744" y="6389785"/>
            <a:ext cx="24604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Alkan et al.,2018</a:t>
            </a:r>
            <a:endParaRPr lang="en-IN" sz="1400"/>
          </a:p>
        </p:txBody>
      </p:sp>
    </p:spTree>
    <p:extLst>
      <p:ext uri="{BB962C8B-B14F-4D97-AF65-F5344CB8AC3E}">
        <p14:creationId xmlns:p14="http://schemas.microsoft.com/office/powerpoint/2010/main" val="282240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CE29E-3E4D-5D8C-D7D5-6701CD54C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6E7020E-F706-4BD7-9B87-2F02FFE62749}"/>
                  </a:ext>
                </a:extLst>
              </p:cNvPr>
              <p:cNvSpPr txBox="1"/>
              <p:nvPr/>
            </p:nvSpPr>
            <p:spPr>
              <a:xfrm>
                <a:off x="0" y="241930"/>
                <a:ext cx="12066076" cy="10686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>
                    <a:solidFill>
                      <a:srgbClr val="C00000"/>
                    </a:solidFill>
                  </a:rPr>
                  <a:t>Binding stability: How is it determined?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0" i="0" smtClean="0"/>
                        <m:t>D</m:t>
                      </m:r>
                      <m:r>
                        <m:rPr>
                          <m:nor/>
                        </m:rPr>
                        <a:rPr lang="en-US" sz="2400" smtClean="0"/>
                        <m:t>ifferent</m:t>
                      </m:r>
                      <m:r>
                        <m:rPr>
                          <m:nor/>
                        </m:rPr>
                        <a:rPr lang="en-US" sz="2400" smtClean="0"/>
                        <m:t> </m:t>
                      </m:r>
                      <m:r>
                        <m:rPr>
                          <m:nor/>
                        </m:rPr>
                        <a:rPr lang="en-US" sz="2400" smtClean="0"/>
                        <m:t>positions</m:t>
                      </m:r>
                      <m:r>
                        <m:rPr>
                          <m:nor/>
                        </m:rPr>
                        <a:rPr lang="en-US" sz="2400" smtClean="0"/>
                        <m:t> </m:t>
                      </m:r>
                      <m:r>
                        <m:rPr>
                          <m:nor/>
                        </m:rPr>
                        <a:rPr lang="en-US" sz="2400" smtClean="0"/>
                        <m:t>influence</m:t>
                      </m:r>
                      <m:r>
                        <m:rPr>
                          <m:nor/>
                        </m:rPr>
                        <a:rPr lang="en-US" sz="2400" smtClean="0"/>
                        <m:t> </m:t>
                      </m:r>
                      <m:r>
                        <m:rPr>
                          <m:nor/>
                        </m:rPr>
                        <a:rPr lang="en-US" sz="2400" smtClean="0"/>
                        <m:t>binding</m:t>
                      </m:r>
                      <m:r>
                        <m:rPr>
                          <m:nor/>
                        </m:rPr>
                        <a:rPr lang="en-US" sz="2400" smtClean="0"/>
                        <m:t> </m:t>
                      </m:r>
                      <m:r>
                        <m:rPr>
                          <m:nor/>
                        </m:rPr>
                        <a:rPr lang="en-US" sz="2400" smtClean="0"/>
                        <m:t>stability</m:t>
                      </m:r>
                      <m:r>
                        <m:rPr>
                          <m:nor/>
                        </m:rPr>
                        <a:rPr lang="en-US" sz="2400" b="0" i="0" smtClean="0"/>
                        <m:t> (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Cas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400" b="0" i="0" smtClean="0"/>
                        <m:t>)</m:t>
                      </m:r>
                    </m:oMath>
                  </m:oMathPara>
                </a14:m>
                <a:endParaRPr lang="en-IN" sz="32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6E7020E-F706-4BD7-9B87-2F02FFE627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41930"/>
                <a:ext cx="12066076" cy="1068690"/>
              </a:xfrm>
              <a:prstGeom prst="rect">
                <a:avLst/>
              </a:prstGeom>
              <a:blipFill>
                <a:blip r:embed="rId3"/>
                <a:stretch>
                  <a:fillRect t="-10286" b="-51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FD80AF5-AA2D-797A-F9D6-D317B70A32E1}"/>
                  </a:ext>
                </a:extLst>
              </p:cNvPr>
              <p:cNvSpPr txBox="1"/>
              <p:nvPr/>
            </p:nvSpPr>
            <p:spPr>
              <a:xfrm>
                <a:off x="3087631" y="3104354"/>
                <a:ext cx="10135429" cy="27865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b="1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𝜞</m:t>
                        </m:r>
                      </m:e>
                      <m:sub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𝑪𝒂𝒔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𝟗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e>
                    </m:d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𝒍𝒐</m:t>
                    </m:r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𝒈</m:t>
                        </m:r>
                      </m:e>
                      <m:sub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𝟏𝟎</m:t>
                        </m:r>
                      </m:sub>
                    </m:sSub>
                    <m:d>
                      <m:d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000" b="1" i="1" smtClean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 smtClean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𝑾</m:t>
                                </m:r>
                              </m:e>
                              <m:sub>
                                <m:r>
                                  <a:rPr lang="en-US" sz="2000" b="1" i="1" smtClean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num>
                          <m:den>
                            <m:func>
                              <m:funcPr>
                                <m:ctrlPr>
                                  <a:rPr lang="en-US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sz="2000" b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𝐦𝐢𝐧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….</m:t>
                                </m:r>
                                <m:sSub>
                                  <m:sSubPr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𝟏𝟗</m:t>
                                    </m:r>
                                  </m:sub>
                                </m:sSub>
                              </m:e>
                            </m:func>
                          </m:den>
                        </m:f>
                      </m:e>
                    </m:d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endParaRPr lang="en-US" sz="2000" b="1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000" b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sup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𝑏𝑖𝑛𝑑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×∆</m:t>
                        </m:r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acc>
                              <m:accPr>
                                <m:chr m:val="̃"/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</m:acc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:</m:t>
                            </m:r>
                            <m:acc>
                              <m:accPr>
                                <m:chr m:val="̃"/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acc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: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𝑅𝑁𝐴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𝐷𝑁𝐴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IN" sz="2000"/>
                  <a:t>        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≤19</m:t>
                    </m:r>
                  </m:oMath>
                </a14:m>
                <a:r>
                  <a:rPr lang="en-IN" sz="2000"/>
                  <a:t>)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IN" sz="2000">
                  <a:sym typeface="Wingdings" panose="05000000000000000000" pitchFamily="2" charset="2"/>
                </a:endParaRPr>
              </a:p>
              <a:p>
                <a:pPr>
                  <a:lnSpc>
                    <a:spcPct val="150000"/>
                  </a:lnSpc>
                </a:pPr>
                <a:endParaRPr lang="en-IN" sz="2000"/>
              </a:p>
              <a:p>
                <a:pPr>
                  <a:lnSpc>
                    <a:spcPct val="150000"/>
                  </a:lnSpc>
                </a:pPr>
                <a:endParaRPr lang="en-IN" sz="200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FD80AF5-AA2D-797A-F9D6-D317B70A3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7631" y="3104354"/>
                <a:ext cx="10135429" cy="27865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C09CD8E-F790-EBBA-BD12-2498E5E50192}"/>
                  </a:ext>
                </a:extLst>
              </p:cNvPr>
              <p:cNvSpPr txBox="1"/>
              <p:nvPr/>
            </p:nvSpPr>
            <p:spPr>
              <a:xfrm>
                <a:off x="5128724" y="4625910"/>
                <a:ext cx="1202248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en-US" sz="1400">
                    <a:solidFill>
                      <a:srgbClr val="C00000"/>
                    </a:solidFill>
                  </a:rPr>
                  <a:t>association rate for off-target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1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acc>
                  </m:oMath>
                </a14:m>
                <a:endParaRPr lang="en-IN" sz="1400">
                  <a:solidFill>
                    <a:srgbClr val="C00000"/>
                  </a:solidFill>
                </a:endParaRPr>
              </a:p>
              <a:p>
                <a:endParaRPr lang="en-IN" sz="140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C09CD8E-F790-EBBA-BD12-2498E5E501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8724" y="4625910"/>
                <a:ext cx="1202248" cy="954107"/>
              </a:xfrm>
              <a:prstGeom prst="rect">
                <a:avLst/>
              </a:prstGeom>
              <a:blipFill>
                <a:blip r:embed="rId5"/>
                <a:stretch>
                  <a:fillRect l="-1515" t="-1282" r="-101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3">
            <a:extLst>
              <a:ext uri="{FF2B5EF4-FFF2-40B4-BE49-F238E27FC236}">
                <a16:creationId xmlns:a16="http://schemas.microsoft.com/office/drawing/2014/main" id="{DB2C58C9-3B19-AB86-50B9-F605491368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490357" y="3914589"/>
            <a:ext cx="3289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021E3BC-A96C-05AB-9173-8D2DFF676CF5}"/>
                  </a:ext>
                </a:extLst>
              </p:cNvPr>
              <p:cNvSpPr txBox="1"/>
              <p:nvPr/>
            </p:nvSpPr>
            <p:spPr>
              <a:xfrm>
                <a:off x="6256717" y="4617944"/>
                <a:ext cx="2524040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0" lang="en-US" altLang="en-US" sz="1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Energy contribution for stacking base-pairs at position </a:t>
                </a:r>
                <a14:m>
                  <m:oMath xmlns:m="http://schemas.openxmlformats.org/officeDocument/2006/math">
                    <m:r>
                      <a:rPr kumimoji="0" lang="en-US" altLang="en-US" sz="1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kumimoji="0" lang="en-US" altLang="en-US" sz="1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and </a:t>
                </a:r>
                <a14:m>
                  <m:oMath xmlns:m="http://schemas.openxmlformats.org/officeDocument/2006/math">
                    <m:r>
                      <a:rPr kumimoji="0" lang="en-US" altLang="en-US" sz="1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𝑖</m:t>
                    </m:r>
                    <m:r>
                      <a:rPr kumimoji="0" lang="en-US" altLang="en-US" sz="1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kumimoji="0" lang="en-US" altLang="en-US" sz="1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021E3BC-A96C-05AB-9173-8D2DFF676C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6717" y="4617944"/>
                <a:ext cx="2524040" cy="738664"/>
              </a:xfrm>
              <a:prstGeom prst="rect">
                <a:avLst/>
              </a:prstGeom>
              <a:blipFill>
                <a:blip r:embed="rId6"/>
                <a:stretch>
                  <a:fillRect l="-725" t="-1653" b="-74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38CA1268-5F1B-2079-3FFA-F7630ED3F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6A261-CBDC-45C6-994B-4400E8D6835A}" type="slidenum">
              <a:rPr lang="en-IN" smtClean="0"/>
              <a:t>5</a:t>
            </a:fld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BBB62B5-987B-B03B-01E2-24AB9100ED40}"/>
              </a:ext>
            </a:extLst>
          </p:cNvPr>
          <p:cNvSpPr/>
          <p:nvPr/>
        </p:nvSpPr>
        <p:spPr>
          <a:xfrm>
            <a:off x="237744" y="160438"/>
            <a:ext cx="11795760" cy="65371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F462B81-A17E-5B4F-7651-B5F8A1407BB2}"/>
                  </a:ext>
                </a:extLst>
              </p:cNvPr>
              <p:cNvSpPr txBox="1"/>
              <p:nvPr/>
            </p:nvSpPr>
            <p:spPr>
              <a:xfrm>
                <a:off x="3087631" y="1489409"/>
                <a:ext cx="722933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/>
                  <a:t>Association curves to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𝑜𝑏𝑠</m:t>
                        </m:r>
                      </m:sub>
                    </m:sSub>
                  </m:oMath>
                </a14:m>
                <a:endParaRPr lang="en-IN" sz="200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)(1−</m:t>
                      </m:r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𝑜𝑏𝑠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IN" sz="200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𝑜𝑏𝑠</m:t>
                        </m:r>
                      </m:sub>
                    </m:sSub>
                  </m:oMath>
                </a14:m>
                <a:r>
                  <a:rPr lang="en-IN" sz="2000"/>
                  <a:t> from different concentrations of Cas9 gives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𝑏𝑖𝑛𝑑</m:t>
                        </m:r>
                      </m:sub>
                    </m:sSub>
                  </m:oMath>
                </a14:m>
                <a:r>
                  <a:rPr lang="en-IN" sz="2000"/>
                  <a:t>.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F462B81-A17E-5B4F-7651-B5F8A1407B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7631" y="1489409"/>
                <a:ext cx="7229330" cy="1477328"/>
              </a:xfrm>
              <a:prstGeom prst="rect">
                <a:avLst/>
              </a:prstGeom>
              <a:blipFill>
                <a:blip r:embed="rId7"/>
                <a:stretch>
                  <a:fillRect l="-759" b="-32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1843F74-ADF0-11C6-AAB4-F65D9FD78881}"/>
                  </a:ext>
                </a:extLst>
              </p:cNvPr>
              <p:cNvSpPr txBox="1"/>
              <p:nvPr/>
            </p:nvSpPr>
            <p:spPr>
              <a:xfrm>
                <a:off x="3435582" y="5537198"/>
                <a:ext cx="7993380" cy="466474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𝜞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𝑪𝒂𝒔</m:t>
                        </m:r>
                        <m:r>
                          <a:rPr lang="en-US" sz="1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𝟗</m:t>
                        </m:r>
                      </m:sub>
                    </m:sSub>
                  </m:oMath>
                </a14:m>
                <a:r>
                  <a:rPr lang="en-IN" sz="1800" b="1"/>
                  <a:t>={1.80, 1.96, 1.90, 2.13, 1.38, 1.46, 1.00, 1.39,…., </a:t>
                </a:r>
                <a:r>
                  <a:rPr lang="en-IN" sz="1800" b="1">
                    <a:solidFill>
                      <a:schemeClr val="tx2"/>
                    </a:solidFill>
                  </a:rPr>
                  <a:t>1.94, 2.15, 2.04, 2.2</a:t>
                </a:r>
                <a:r>
                  <a:rPr lang="en-IN" sz="1800" b="1"/>
                  <a:t>}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1843F74-ADF0-11C6-AAB4-F65D9FD788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5582" y="5537198"/>
                <a:ext cx="7993380" cy="466474"/>
              </a:xfrm>
              <a:prstGeom prst="rect">
                <a:avLst/>
              </a:prstGeom>
              <a:blipFill>
                <a:blip r:embed="rId8"/>
                <a:stretch>
                  <a:fillRect b="-1898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3AA496E2-28DA-8EB0-83D2-C1C2AD5B00F0}"/>
              </a:ext>
            </a:extLst>
          </p:cNvPr>
          <p:cNvSpPr txBox="1"/>
          <p:nvPr/>
        </p:nvSpPr>
        <p:spPr>
          <a:xfrm>
            <a:off x="237744" y="6374769"/>
            <a:ext cx="60932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0" i="0">
                <a:solidFill>
                  <a:srgbClr val="404041"/>
                </a:solidFill>
                <a:effectLst/>
              </a:rPr>
              <a:t>Boyle </a:t>
            </a:r>
            <a:r>
              <a:rPr lang="en-IN" sz="1400" b="0" i="1">
                <a:solidFill>
                  <a:srgbClr val="404041"/>
                </a:solidFill>
                <a:effectLst/>
              </a:rPr>
              <a:t>et al., 2017; Strohkendl et al.,2018</a:t>
            </a:r>
            <a:endParaRPr lang="en-IN" sz="140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B0DAE2FF-E04A-2822-9810-30E37ED8568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2631" y="4126893"/>
            <a:ext cx="2366946" cy="2004694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829C40A3-FF9E-5A40-8A74-88BB1E19466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3177" y="1495450"/>
            <a:ext cx="1937577" cy="2200834"/>
          </a:xfrm>
          <a:prstGeom prst="rect">
            <a:avLst/>
          </a:prstGeom>
        </p:spPr>
      </p:pic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F4BFE95-C37B-9736-0BD6-32DB28456F1C}"/>
              </a:ext>
            </a:extLst>
          </p:cNvPr>
          <p:cNvCxnSpPr>
            <a:stCxn id="37" idx="2"/>
          </p:cNvCxnSpPr>
          <p:nvPr/>
        </p:nvCxnSpPr>
        <p:spPr>
          <a:xfrm flipH="1">
            <a:off x="1581965" y="3696284"/>
            <a:ext cx="1" cy="5016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9E38938-D57D-2F21-5127-59D1E90BCA2C}"/>
                  </a:ext>
                </a:extLst>
              </p:cNvPr>
              <p:cNvSpPr txBox="1"/>
              <p:nvPr/>
            </p:nvSpPr>
            <p:spPr>
              <a:xfrm>
                <a:off x="1616699" y="3754800"/>
                <a:ext cx="6529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𝑜𝑏𝑠</m:t>
                          </m:r>
                        </m:sub>
                      </m:sSub>
                    </m:oMath>
                  </m:oMathPara>
                </a14:m>
                <a:endParaRPr lang="en-IN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9E38938-D57D-2F21-5127-59D1E90BCA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6699" y="3754800"/>
                <a:ext cx="65293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6890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3E4060-97C1-21AC-8247-5B8DE5FFA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6A261-CBDC-45C6-994B-4400E8D6835A}" type="slidenum">
              <a:rPr lang="en-IN" smtClean="0"/>
              <a:t>6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B56114-E685-F8B0-4F23-7893093937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384" b="32812"/>
          <a:stretch/>
        </p:blipFill>
        <p:spPr>
          <a:xfrm>
            <a:off x="331091" y="2668880"/>
            <a:ext cx="6155384" cy="31415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6BC788A-5739-0222-9CBA-E7AE74858160}"/>
                  </a:ext>
                </a:extLst>
              </p:cNvPr>
              <p:cNvSpPr txBox="1"/>
              <p:nvPr/>
            </p:nvSpPr>
            <p:spPr>
              <a:xfrm>
                <a:off x="0" y="241930"/>
                <a:ext cx="12066076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>
                    <a:solidFill>
                      <a:srgbClr val="C00000"/>
                    </a:solidFill>
                  </a:rPr>
                  <a:t>Binding stability: How is it determined?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Cas</m:t>
                        </m:r>
                      </m:sub>
                    </m:sSub>
                  </m:oMath>
                </a14:m>
                <a:r>
                  <a:rPr lang="en-IN" sz="2400" b="1">
                    <a:solidFill>
                      <a:schemeClr val="tx1"/>
                    </a:solidFill>
                  </a:rPr>
                  <a:t> </a:t>
                </a:r>
                <a:r>
                  <a:rPr lang="en-IN" sz="2400">
                    <a:solidFill>
                      <a:schemeClr val="tx1"/>
                    </a:solidFill>
                  </a:rPr>
                  <a:t>from a small subset of data</a:t>
                </a:r>
                <a:endParaRPr lang="en-IN" sz="2400" b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6BC788A-5739-0222-9CBA-E7AE748581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41930"/>
                <a:ext cx="12066076" cy="1077218"/>
              </a:xfrm>
              <a:prstGeom prst="rect">
                <a:avLst/>
              </a:prstGeom>
              <a:blipFill>
                <a:blip r:embed="rId3"/>
                <a:stretch>
                  <a:fillRect t="-10227" b="-125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3F0A2D30-C41B-E603-0D5E-02F41119D9F6}"/>
              </a:ext>
            </a:extLst>
          </p:cNvPr>
          <p:cNvSpPr txBox="1"/>
          <p:nvPr/>
        </p:nvSpPr>
        <p:spPr>
          <a:xfrm>
            <a:off x="2756139" y="1319148"/>
            <a:ext cx="8786003" cy="1147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IN" sz="2400" b="1" i="0" u="none" strike="noStrike" baseline="0"/>
              <a:t>Overall dataset</a:t>
            </a:r>
            <a:r>
              <a:rPr lang="en-IN" sz="2400" b="0" i="0" u="none" strike="noStrike" baseline="0"/>
              <a:t>: 84,554 sequences</a:t>
            </a:r>
            <a:r>
              <a:rPr lang="en-US" sz="2400"/>
              <a:t>.</a:t>
            </a:r>
          </a:p>
          <a:p>
            <a:pPr algn="l">
              <a:lnSpc>
                <a:spcPct val="150000"/>
              </a:lnSpc>
            </a:pPr>
            <a:r>
              <a:rPr lang="en-US" sz="2400" b="1"/>
              <a:t>This subset</a:t>
            </a:r>
            <a:r>
              <a:rPr lang="en-US" sz="2400"/>
              <a:t>: 4 target sequences and 16 off-target sequences.</a:t>
            </a:r>
            <a:endParaRPr lang="en-IN" sz="2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80FE5D-F066-E74D-3EED-692C4E9A75E3}"/>
              </a:ext>
            </a:extLst>
          </p:cNvPr>
          <p:cNvSpPr txBox="1"/>
          <p:nvPr/>
        </p:nvSpPr>
        <p:spPr>
          <a:xfrm>
            <a:off x="331091" y="5991524"/>
            <a:ext cx="11116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Can a small subset reproduce the same binding stability? </a:t>
            </a:r>
            <a:r>
              <a:rPr lang="en-US" sz="2400" b="1">
                <a:solidFill>
                  <a:srgbClr val="FF0000"/>
                </a:solidFill>
              </a:rPr>
              <a:t>To some extent</a:t>
            </a:r>
            <a:r>
              <a:rPr lang="en-US" sz="2400" b="1"/>
              <a:t>.</a:t>
            </a:r>
            <a:endParaRPr lang="en-IN" sz="2400" b="1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1E0199-3A00-5A9E-ACAC-435DA9F84423}"/>
              </a:ext>
            </a:extLst>
          </p:cNvPr>
          <p:cNvSpPr/>
          <p:nvPr/>
        </p:nvSpPr>
        <p:spPr>
          <a:xfrm>
            <a:off x="237744" y="160438"/>
            <a:ext cx="11795760" cy="65371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1137ED-AA85-0AD2-1704-C8340C40BD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4091" y="2786418"/>
            <a:ext cx="4971797" cy="29607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B87E5B4-12B3-1F68-8B51-3E0165A9A7DD}"/>
              </a:ext>
            </a:extLst>
          </p:cNvPr>
          <p:cNvSpPr txBox="1"/>
          <p:nvPr/>
        </p:nvSpPr>
        <p:spPr>
          <a:xfrm>
            <a:off x="237744" y="6374769"/>
            <a:ext cx="60932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0" i="0">
                <a:solidFill>
                  <a:srgbClr val="404041"/>
                </a:solidFill>
                <a:effectLst/>
              </a:rPr>
              <a:t>Pacesa et </a:t>
            </a:r>
            <a:r>
              <a:rPr lang="en-IN" sz="1400" b="0" i="1">
                <a:solidFill>
                  <a:srgbClr val="404041"/>
                </a:solidFill>
                <a:effectLst/>
              </a:rPr>
              <a:t>al.,2022</a:t>
            </a:r>
            <a:endParaRPr lang="en-IN" sz="1400"/>
          </a:p>
        </p:txBody>
      </p:sp>
    </p:spTree>
    <p:extLst>
      <p:ext uri="{BB962C8B-B14F-4D97-AF65-F5344CB8AC3E}">
        <p14:creationId xmlns:p14="http://schemas.microsoft.com/office/powerpoint/2010/main" val="2291782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FE5F8-415A-511C-419F-5154D1903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14D575-2783-AA7F-3F2D-26ADEC450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6A261-CBDC-45C6-994B-4400E8D6835A}" type="slidenum">
              <a:rPr lang="en-IN" smtClean="0"/>
              <a:t>7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8F6C51-8523-711B-37E4-42B34DF115BD}"/>
              </a:ext>
            </a:extLst>
          </p:cNvPr>
          <p:cNvSpPr txBox="1"/>
          <p:nvPr/>
        </p:nvSpPr>
        <p:spPr>
          <a:xfrm>
            <a:off x="0" y="241930"/>
            <a:ext cx="120660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>
                <a:solidFill>
                  <a:srgbClr val="C00000"/>
                </a:solidFill>
              </a:rPr>
              <a:t>Kinetic binding/unbinding for Cas9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5619BA-A8CE-B185-AD8C-189F8C7DE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3714" y="864370"/>
            <a:ext cx="7478486" cy="510101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6D31055-E07A-E18C-80DF-5C163B6B7FCA}"/>
              </a:ext>
            </a:extLst>
          </p:cNvPr>
          <p:cNvSpPr/>
          <p:nvPr/>
        </p:nvSpPr>
        <p:spPr>
          <a:xfrm>
            <a:off x="237744" y="160438"/>
            <a:ext cx="11795760" cy="65371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E1EB58-9E32-9F56-EB7A-48B246E163D8}"/>
              </a:ext>
            </a:extLst>
          </p:cNvPr>
          <p:cNvSpPr txBox="1"/>
          <p:nvPr/>
        </p:nvSpPr>
        <p:spPr>
          <a:xfrm>
            <a:off x="1128669" y="5391867"/>
            <a:ext cx="10526778" cy="1147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/>
              <a:t>Seed region or PAM-Proximal(positions 1 to 7)</a:t>
            </a:r>
          </a:p>
          <a:p>
            <a:pPr>
              <a:lnSpc>
                <a:spcPct val="150000"/>
              </a:lnSpc>
            </a:pPr>
            <a:r>
              <a:rPr lang="en-US" sz="2400"/>
              <a:t>PAM-distal(8 to 20); terminal nucleotides(17 to 20) </a:t>
            </a:r>
            <a:endParaRPr lang="en-IN"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C952B6-2597-1755-D105-489B486F3985}"/>
              </a:ext>
            </a:extLst>
          </p:cNvPr>
          <p:cNvSpPr txBox="1"/>
          <p:nvPr/>
        </p:nvSpPr>
        <p:spPr>
          <a:xfrm>
            <a:off x="237744" y="6389785"/>
            <a:ext cx="24604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Alkan et al.,2018</a:t>
            </a:r>
            <a:endParaRPr lang="en-IN" sz="1400"/>
          </a:p>
        </p:txBody>
      </p:sp>
    </p:spTree>
    <p:extLst>
      <p:ext uri="{BB962C8B-B14F-4D97-AF65-F5344CB8AC3E}">
        <p14:creationId xmlns:p14="http://schemas.microsoft.com/office/powerpoint/2010/main" val="1243509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01006C-ABB3-9B28-DBBD-0402C4771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6A261-CBDC-45C6-994B-4400E8D6835A}" type="slidenum">
              <a:rPr lang="en-IN" smtClean="0"/>
              <a:t>8</a:t>
            </a:fld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0CE331C-2AD7-8FF7-B55F-D4D3955F07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1462"/>
          <a:stretch/>
        </p:blipFill>
        <p:spPr>
          <a:xfrm>
            <a:off x="1397479" y="1259070"/>
            <a:ext cx="9575321" cy="3994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083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AA7AF2-D67A-2E60-4957-D06DAC581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6A261-CBDC-45C6-994B-4400E8D6835A}" type="slidenum">
              <a:rPr lang="en-IN" smtClean="0"/>
              <a:t>9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0BC8CE-55D0-5DA3-AC5E-6B7DC4387B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891" y="1508653"/>
            <a:ext cx="4589254" cy="46133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711AB4A-3A47-8B3E-BC0B-C5DA9B6F78A2}"/>
              </a:ext>
            </a:extLst>
          </p:cNvPr>
          <p:cNvSpPr txBox="1"/>
          <p:nvPr/>
        </p:nvSpPr>
        <p:spPr>
          <a:xfrm>
            <a:off x="0" y="241930"/>
            <a:ext cx="120660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>
                <a:solidFill>
                  <a:srgbClr val="C00000"/>
                </a:solidFill>
              </a:rPr>
              <a:t>Kinetic binding/unbinding for Cas12a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17A701-595D-0469-1365-A6EA057104D0}"/>
              </a:ext>
            </a:extLst>
          </p:cNvPr>
          <p:cNvSpPr txBox="1"/>
          <p:nvPr/>
        </p:nvSpPr>
        <p:spPr>
          <a:xfrm>
            <a:off x="3091655" y="701832"/>
            <a:ext cx="6467851" cy="506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000" b="1"/>
              <a:t>Cas12a</a:t>
            </a:r>
            <a:r>
              <a:rPr lang="en-US" sz="2000"/>
              <a:t>: 1 sequence </a:t>
            </a:r>
            <a:r>
              <a:rPr lang="en-US" sz="2000">
                <a:sym typeface="Wingdings" panose="05000000000000000000" pitchFamily="2" charset="2"/>
              </a:rPr>
              <a:t></a:t>
            </a:r>
            <a:r>
              <a:rPr lang="en-US" sz="2000"/>
              <a:t> and 22 off-target sequences</a:t>
            </a:r>
            <a:endParaRPr lang="en-IN" sz="20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9988CC-9863-037F-9F5D-D4DB024E7995}"/>
              </a:ext>
            </a:extLst>
          </p:cNvPr>
          <p:cNvSpPr/>
          <p:nvPr/>
        </p:nvSpPr>
        <p:spPr>
          <a:xfrm>
            <a:off x="237744" y="160438"/>
            <a:ext cx="11795760" cy="65371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A2DE28-485C-8EBB-0D26-ED5125113FF0}"/>
              </a:ext>
            </a:extLst>
          </p:cNvPr>
          <p:cNvSpPr txBox="1"/>
          <p:nvPr/>
        </p:nvSpPr>
        <p:spPr>
          <a:xfrm>
            <a:off x="5427542" y="5509837"/>
            <a:ext cx="5926258" cy="64633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Cas12a</a:t>
            </a:r>
            <a:r>
              <a:rPr lang="en-US"/>
              <a:t>: Sensitive to mismatches throughout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Cas9</a:t>
            </a:r>
            <a:r>
              <a:rPr lang="en-US"/>
              <a:t>: Sensitive to mismatches in PAM-proximal region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5A6E4EF-96A4-502E-1896-C43918B94A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7259" y="1352247"/>
            <a:ext cx="6546880" cy="38987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AA93C95-48CD-5578-A634-F569058D7336}"/>
              </a:ext>
            </a:extLst>
          </p:cNvPr>
          <p:cNvSpPr txBox="1"/>
          <p:nvPr/>
        </p:nvSpPr>
        <p:spPr>
          <a:xfrm>
            <a:off x="237744" y="6389785"/>
            <a:ext cx="24604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Strohkendl et al.,2018</a:t>
            </a:r>
            <a:endParaRPr lang="en-IN" sz="1400"/>
          </a:p>
        </p:txBody>
      </p:sp>
    </p:spTree>
    <p:extLst>
      <p:ext uri="{BB962C8B-B14F-4D97-AF65-F5344CB8AC3E}">
        <p14:creationId xmlns:p14="http://schemas.microsoft.com/office/powerpoint/2010/main" val="3072664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F5D8C5-6711-490B-ECBE-F537330F6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6A261-CBDC-45C6-994B-4400E8D6835A}" type="slidenum">
              <a:rPr lang="en-IN" smtClean="0"/>
              <a:t>10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447571-EF9E-F4D3-F0E8-83490A81F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69" y="1718535"/>
            <a:ext cx="5143010" cy="37116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4C0DED-DF75-E1A4-2025-C04370CAD4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586" y="1724531"/>
            <a:ext cx="5143010" cy="370562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2A040FF-7C5D-FD8D-BF5F-D5C912EBDD6F}"/>
              </a:ext>
            </a:extLst>
          </p:cNvPr>
          <p:cNvSpPr/>
          <p:nvPr/>
        </p:nvSpPr>
        <p:spPr>
          <a:xfrm>
            <a:off x="237744" y="160438"/>
            <a:ext cx="11795760" cy="65371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F93C78-6F96-A796-92DD-E53E343D8663}"/>
              </a:ext>
            </a:extLst>
          </p:cNvPr>
          <p:cNvSpPr txBox="1"/>
          <p:nvPr/>
        </p:nvSpPr>
        <p:spPr>
          <a:xfrm>
            <a:off x="0" y="241930"/>
            <a:ext cx="120660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>
                <a:solidFill>
                  <a:srgbClr val="C00000"/>
                </a:solidFill>
              </a:rPr>
              <a:t>Effect of binding stability: Cas9</a:t>
            </a:r>
          </a:p>
          <a:p>
            <a:pPr algn="ctr"/>
            <a:endParaRPr lang="en-IN" sz="2400" b="1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A1D26E-71E9-6A18-048C-4FB216238DF0}"/>
              </a:ext>
            </a:extLst>
          </p:cNvPr>
          <p:cNvSpPr txBox="1"/>
          <p:nvPr/>
        </p:nvSpPr>
        <p:spPr>
          <a:xfrm>
            <a:off x="2881222" y="808384"/>
            <a:ext cx="75912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CIRCLE-seq database: 18 gRNAs and total 7200 off-targets.</a:t>
            </a:r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1047605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C62F2-29A8-D818-A445-D50A1430C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8919DC-6A82-F090-20E9-FE426A2B9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6A261-CBDC-45C6-994B-4400E8D6835A}" type="slidenum">
              <a:rPr lang="en-IN" smtClean="0"/>
              <a:t>11</a:t>
            </a:fld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80DF54-70ED-32A7-654E-FAAC91784DAE}"/>
              </a:ext>
            </a:extLst>
          </p:cNvPr>
          <p:cNvSpPr/>
          <p:nvPr/>
        </p:nvSpPr>
        <p:spPr>
          <a:xfrm>
            <a:off x="237744" y="160438"/>
            <a:ext cx="11795760" cy="65371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609961-61A2-0252-0439-9CCA136E36D9}"/>
              </a:ext>
            </a:extLst>
          </p:cNvPr>
          <p:cNvSpPr txBox="1"/>
          <p:nvPr/>
        </p:nvSpPr>
        <p:spPr>
          <a:xfrm>
            <a:off x="0" y="241930"/>
            <a:ext cx="120660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>
                <a:solidFill>
                  <a:srgbClr val="C00000"/>
                </a:solidFill>
              </a:rPr>
              <a:t>Effect of binding stability: Cas9 and Cas12a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88563F-D12C-9343-9E98-44A09C011ACA}"/>
              </a:ext>
            </a:extLst>
          </p:cNvPr>
          <p:cNvSpPr txBox="1"/>
          <p:nvPr/>
        </p:nvSpPr>
        <p:spPr>
          <a:xfrm>
            <a:off x="2283510" y="775789"/>
            <a:ext cx="7591246" cy="971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/>
              <a:t>21 gRNA common for both Cas9 and Cas12a</a:t>
            </a:r>
          </a:p>
          <a:p>
            <a:pPr algn="ctr">
              <a:lnSpc>
                <a:spcPct val="150000"/>
              </a:lnSpc>
            </a:pPr>
            <a:r>
              <a:rPr lang="en-US" sz="2000"/>
              <a:t>400,000 possible off-targets for each (randomly generated)</a:t>
            </a:r>
            <a:endParaRPr lang="en-IN" sz="200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45CE6A9-8A0E-ED5B-6AAB-1B310E030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10" y="2017786"/>
            <a:ext cx="5641298" cy="336415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74D162F-881D-2958-38E8-FF787ACF5EE4}"/>
              </a:ext>
            </a:extLst>
          </p:cNvPr>
          <p:cNvSpPr txBox="1"/>
          <p:nvPr/>
        </p:nvSpPr>
        <p:spPr>
          <a:xfrm>
            <a:off x="3243531" y="5697854"/>
            <a:ext cx="5831458" cy="46166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/>
              <a:t>Cas9 is more target specific than Cas12a</a:t>
            </a:r>
            <a:endParaRPr lang="en-IN" sz="2400" b="1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BA86DE9-6747-4F32-D4ED-856B68DE7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774" y="1942377"/>
            <a:ext cx="5320762" cy="316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968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E255360-5759-41F6-880A-64F935C9BE5E}"/>
              </a:ext>
            </a:extLst>
          </p:cNvPr>
          <p:cNvSpPr txBox="1"/>
          <p:nvPr/>
        </p:nvSpPr>
        <p:spPr>
          <a:xfrm>
            <a:off x="-111820" y="1864677"/>
            <a:ext cx="1206607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>
                <a:solidFill>
                  <a:srgbClr val="C00000"/>
                </a:solidFill>
              </a:rPr>
              <a:t>Questions?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5D1F5-5C3D-72D3-1F1C-33DA693FF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6A261-CBDC-45C6-994B-4400E8D6835A}" type="slidenum">
              <a:rPr lang="en-IN" smtClean="0"/>
              <a:t>12</a:t>
            </a:fld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F754E7-AB40-59F2-C2F1-AFF54DC448EE}"/>
              </a:ext>
            </a:extLst>
          </p:cNvPr>
          <p:cNvSpPr/>
          <p:nvPr/>
        </p:nvSpPr>
        <p:spPr>
          <a:xfrm>
            <a:off x="237744" y="160438"/>
            <a:ext cx="11795760" cy="65371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5790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F3603-3838-3B57-41C1-411BEE4FA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0EC28-784C-0177-8233-B4DB46BFE14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/>
              <a:t>Bulge loops: Few expt</a:t>
            </a:r>
          </a:p>
          <a:p>
            <a:pPr lvl="1"/>
            <a:r>
              <a:rPr lang="en-US"/>
              <a:t>How much less can they be trusted? We are assuming linearity. How confident are we?</a:t>
            </a:r>
          </a:p>
          <a:p>
            <a:r>
              <a:rPr lang="en-US"/>
              <a:t>Multibranch loops: Less agreement. Model not well developed and not studied.</a:t>
            </a:r>
          </a:p>
          <a:p>
            <a:r>
              <a:rPr lang="en-US"/>
              <a:t>Put a maximum on how much the parameter Can get.</a:t>
            </a:r>
          </a:p>
          <a:p>
            <a:r>
              <a:rPr lang="en-US"/>
              <a:t>Not exclude motifs from training set.</a:t>
            </a:r>
          </a:p>
          <a:p>
            <a:r>
              <a:rPr lang="en-US"/>
              <a:t>Github page: For parameters</a:t>
            </a:r>
          </a:p>
          <a:p>
            <a:r>
              <a:rPr lang="en-US"/>
              <a:t>Polymer theory: For hairpin initiation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5CA39F-DD9A-6254-ECD5-9C086C84030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43A09D-678E-2F7E-9507-680C2F65C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6A261-CBDC-45C6-994B-4400E8D6835A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6068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18703</TotalTime>
  <Words>1070</Words>
  <Application>Microsoft Office PowerPoint</Application>
  <PresentationFormat>Widescreen</PresentationFormat>
  <Paragraphs>123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-apple-system</vt:lpstr>
      <vt:lpstr>Aptos</vt:lpstr>
      <vt:lpstr>Aptos Display</vt:lpstr>
      <vt:lpstr>Arial</vt:lpstr>
      <vt:lpstr>BddrfpRMTMI</vt:lpstr>
      <vt:lpstr>Cambria Math</vt:lpstr>
      <vt:lpstr>DmyjblWarnockPro-It</vt:lpstr>
      <vt:lpstr>Google Sans</vt:lpstr>
      <vt:lpstr>Harding</vt:lpstr>
      <vt:lpstr>MgwfqbWarnockPro-Regular</vt:lpstr>
      <vt:lpstr>Wingdings</vt:lpstr>
      <vt:lpstr>Office Theme</vt:lpstr>
      <vt:lpstr> Binding stability of RNA-DNA interactions: CRISPR-Cas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Ashwin Amalaruban</dc:creator>
  <cp:lastModifiedBy>Ashwin Amalaruban</cp:lastModifiedBy>
  <cp:revision>66</cp:revision>
  <dcterms:created xsi:type="dcterms:W3CDTF">2024-11-09T19:30:43Z</dcterms:created>
  <dcterms:modified xsi:type="dcterms:W3CDTF">2024-12-17T03:26:33Z</dcterms:modified>
</cp:coreProperties>
</file>