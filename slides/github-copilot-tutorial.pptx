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6" r:id="rId3"/>
    <p:sldId id="259" r:id="rId4"/>
    <p:sldId id="275" r:id="rId5"/>
    <p:sldId id="278" r:id="rId6"/>
    <p:sldId id="274" r:id="rId7"/>
    <p:sldId id="265" r:id="rId8"/>
    <p:sldId id="272" r:id="rId9"/>
    <p:sldId id="269" r:id="rId10"/>
    <p:sldId id="273" r:id="rId11"/>
    <p:sldId id="267" r:id="rId12"/>
    <p:sldId id="268" r:id="rId13"/>
    <p:sldId id="279" r:id="rId14"/>
    <p:sldId id="280" r:id="rId15"/>
    <p:sldId id="2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35"/>
    <p:restoredTop sz="97013"/>
  </p:normalViewPr>
  <p:slideViewPr>
    <p:cSldViewPr snapToGrid="0">
      <p:cViewPr varScale="1">
        <p:scale>
          <a:sx n="141" d="100"/>
          <a:sy n="141" d="100"/>
        </p:scale>
        <p:origin x="4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0A1FD5-D363-DB49-A5FE-E5E4B1412CC1}" type="datetimeFigureOut">
              <a:rPr lang="en-US" smtClean="0"/>
              <a:t>10/24/25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AE739-63F5-C24F-B762-CFABE22E49FD}" type="slidenum">
              <a:rPr lang="en-US" smtClean="0"/>
              <a:t>‹#›</a:t>
            </a:fld>
            <a:endParaRPr lang="en-US"/>
          </a:p>
        </p:txBody>
      </p:sp>
    </p:spTree>
    <p:extLst>
      <p:ext uri="{BB962C8B-B14F-4D97-AF65-F5344CB8AC3E}">
        <p14:creationId xmlns:p14="http://schemas.microsoft.com/office/powerpoint/2010/main" val="162008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Copilot is like an AI “lab partner” for coding — it suggests, explains, and helps debug code. </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You prompt Copilot with clear requirements on the end result you want. There is also an agent mode  that autonomously uses various tools to get to the end result</a:t>
            </a:r>
            <a:r>
              <a:rPr lang="en-US" sz="1200" b="0" i="0" u="none" strike="noStrike" kern="1200">
                <a:solidFill>
                  <a:schemeClr val="tx1"/>
                </a:solidFill>
                <a:effectLst/>
                <a:latin typeface="+mn-lt"/>
                <a:ea typeface="+mn-ea"/>
                <a:cs typeface="+mn-cs"/>
              </a:rPr>
              <a:t>. </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Copilot </a:t>
            </a:r>
            <a:r>
              <a:rPr lang="en-US" sz="1200" b="0" i="0" u="none" strike="noStrike" kern="1200" dirty="0">
                <a:solidFill>
                  <a:schemeClr val="tx1"/>
                </a:solidFill>
                <a:effectLst/>
                <a:latin typeface="+mn-lt"/>
                <a:ea typeface="+mn-ea"/>
                <a:cs typeface="+mn-cs"/>
              </a:rPr>
              <a:t>parses the question and asks an AI language model how to resolve the task, then begins working.</a:t>
            </a:r>
          </a:p>
          <a:p>
            <a:r>
              <a:rPr lang="en-US" sz="1200" b="0" i="0" u="none" strike="noStrike" kern="1200" dirty="0">
                <a:solidFill>
                  <a:schemeClr val="tx1"/>
                </a:solidFill>
                <a:effectLst/>
                <a:latin typeface="+mn-lt"/>
                <a:ea typeface="+mn-ea"/>
                <a:cs typeface="+mn-cs"/>
              </a:rPr>
              <a:t>Copilot monitors the first iteration for errors and determines how to fix them.</a:t>
            </a:r>
          </a:p>
          <a:p>
            <a:r>
              <a:rPr lang="en-US" sz="1200" b="0" i="0" u="none" strike="noStrike" kern="1200" dirty="0">
                <a:solidFill>
                  <a:schemeClr val="tx1"/>
                </a:solidFill>
                <a:effectLst/>
                <a:latin typeface="+mn-lt"/>
                <a:ea typeface="+mn-ea"/>
                <a:cs typeface="+mn-cs"/>
              </a:rPr>
              <a:t>Based on the results, it then determines how to course-correct, whether that’s by making additional edits, terminal commands, or performing tool calls.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LLM has an ever-expanding set of tools to call—and you’re in charge of which tools you want agent mode to use. These tools allow Copilot to search your workspace, read file contents, run terminal commands, get errors from the editor and apply proposed changes, and more.</a:t>
            </a:r>
            <a:endParaRPr lang="en-US" dirty="0"/>
          </a:p>
          <a:p>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1</a:t>
            </a:fld>
            <a:endParaRPr lang="en-US"/>
          </a:p>
        </p:txBody>
      </p:sp>
    </p:spTree>
    <p:extLst>
      <p:ext uri="{BB962C8B-B14F-4D97-AF65-F5344CB8AC3E}">
        <p14:creationId xmlns:p14="http://schemas.microsoft.com/office/powerpoint/2010/main" val="3847093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1. Learn how Copilot works in your editor.</a:t>
            </a:r>
          </a:p>
          <a:p>
            <a:r>
              <a:rPr lang="en-US" sz="1200" b="0" i="0" u="none" strike="noStrike" kern="1200" dirty="0">
                <a:solidFill>
                  <a:schemeClr val="tx1"/>
                </a:solidFill>
                <a:effectLst/>
                <a:latin typeface="+mn-lt"/>
                <a:ea typeface="+mn-ea"/>
                <a:cs typeface="+mn-cs"/>
              </a:rPr>
              <a:t>2. How to use it on the command line.</a:t>
            </a:r>
          </a:p>
          <a:p>
            <a:r>
              <a:rPr lang="en-US" sz="1200" b="0" i="0" u="none" strike="noStrike" kern="1200" dirty="0">
                <a:solidFill>
                  <a:schemeClr val="tx1"/>
                </a:solidFill>
                <a:effectLst/>
                <a:latin typeface="+mn-lt"/>
                <a:ea typeface="+mn-ea"/>
                <a:cs typeface="+mn-cs"/>
              </a:rPr>
              <a:t>3. Learn how to personalize its behavior.</a:t>
            </a:r>
          </a:p>
          <a:p>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2</a:t>
            </a:fld>
            <a:endParaRPr lang="en-US"/>
          </a:p>
        </p:txBody>
      </p:sp>
    </p:spTree>
    <p:extLst>
      <p:ext uri="{BB962C8B-B14F-4D97-AF65-F5344CB8AC3E}">
        <p14:creationId xmlns:p14="http://schemas.microsoft.com/office/powerpoint/2010/main" val="198593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how Copilot predicts code. It is important to provide clear context -clear variable names, comments, or partially written code improve suggestions.</a:t>
            </a:r>
          </a:p>
          <a:p>
            <a:r>
              <a:rPr lang="en-US" sz="1200" b="0" i="0" u="none" strike="noStrike" kern="1200" dirty="0">
                <a:solidFill>
                  <a:schemeClr val="tx1"/>
                </a:solidFill>
                <a:effectLst/>
                <a:latin typeface="+mn-lt"/>
                <a:ea typeface="+mn-ea"/>
                <a:cs typeface="+mn-cs"/>
              </a:rPr>
              <a:t>Copilot isn’t psychic — it relies on the clues you give in your code.</a:t>
            </a:r>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3</a:t>
            </a:fld>
            <a:endParaRPr lang="en-US"/>
          </a:p>
        </p:txBody>
      </p:sp>
    </p:spTree>
    <p:extLst>
      <p:ext uri="{BB962C8B-B14F-4D97-AF65-F5344CB8AC3E}">
        <p14:creationId xmlns:p14="http://schemas.microsoft.com/office/powerpoint/2010/main" val="1561693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4</a:t>
            </a:fld>
            <a:endParaRPr lang="en-US"/>
          </a:p>
        </p:txBody>
      </p:sp>
    </p:spTree>
    <p:extLst>
      <p:ext uri="{BB962C8B-B14F-4D97-AF65-F5344CB8AC3E}">
        <p14:creationId xmlns:p14="http://schemas.microsoft.com/office/powerpoint/2010/main" val="3880635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 ended questions get open ended answers. It can sometimes over-generate code and more code it writes, more chances for errors </a:t>
            </a:r>
            <a:r>
              <a:rPr lang="en-US" dirty="0">
                <a:sym typeface="Wingdings" pitchFamily="2" charset="2"/>
              </a:rPr>
              <a:t> Hallucinations. Sometimes makes up when it doesn’t know an answer. You will be fixing errors.</a:t>
            </a:r>
            <a:endParaRPr lang="en-US" dirty="0"/>
          </a:p>
          <a:p>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5</a:t>
            </a:fld>
            <a:endParaRPr lang="en-US"/>
          </a:p>
        </p:txBody>
      </p:sp>
    </p:spTree>
    <p:extLst>
      <p:ext uri="{BB962C8B-B14F-4D97-AF65-F5344CB8AC3E}">
        <p14:creationId xmlns:p14="http://schemas.microsoft.com/office/powerpoint/2010/main" val="3437866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AAE739-63F5-C24F-B762-CFABE22E49FD}" type="slidenum">
              <a:rPr lang="en-US" smtClean="0"/>
              <a:t>11</a:t>
            </a:fld>
            <a:endParaRPr lang="en-US"/>
          </a:p>
        </p:txBody>
      </p:sp>
    </p:spTree>
    <p:extLst>
      <p:ext uri="{BB962C8B-B14F-4D97-AF65-F5344CB8AC3E}">
        <p14:creationId xmlns:p14="http://schemas.microsoft.com/office/powerpoint/2010/main" val="1028127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C4D1-9CCD-5FC0-C693-99C173FCB3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1D362-2EEF-7943-4D50-6B002531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51E4F4-A776-38F8-756F-70E75164E01C}"/>
              </a:ext>
            </a:extLst>
          </p:cNvPr>
          <p:cNvSpPr>
            <a:spLocks noGrp="1"/>
          </p:cNvSpPr>
          <p:nvPr>
            <p:ph type="dt" sz="half" idx="10"/>
          </p:nvPr>
        </p:nvSpPr>
        <p:spPr/>
        <p:txBody>
          <a:bodyPr/>
          <a:lstStyle/>
          <a:p>
            <a:fld id="{39CF7DDB-A60D-BA4F-9600-ECC856A0C74E}" type="datetime1">
              <a:rPr lang="en-US" smtClean="0"/>
              <a:t>10/24/25</a:t>
            </a:fld>
            <a:endParaRPr lang="en-US"/>
          </a:p>
        </p:txBody>
      </p:sp>
      <p:sp>
        <p:nvSpPr>
          <p:cNvPr id="5" name="Footer Placeholder 4">
            <a:extLst>
              <a:ext uri="{FF2B5EF4-FFF2-40B4-BE49-F238E27FC236}">
                <a16:creationId xmlns:a16="http://schemas.microsoft.com/office/drawing/2014/main" id="{FDA44930-B107-5D48-10E2-039FF541BA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E68AB5-B96B-4B41-AC84-C5C164FA2952}"/>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200682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FD927-7E8A-C03B-47DE-687C9E404D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60BB96-3EEF-87B7-BBF8-65E3CF9C5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93DF53-A182-D7E9-0082-A3B0BEA27555}"/>
              </a:ext>
            </a:extLst>
          </p:cNvPr>
          <p:cNvSpPr>
            <a:spLocks noGrp="1"/>
          </p:cNvSpPr>
          <p:nvPr>
            <p:ph type="dt" sz="half" idx="10"/>
          </p:nvPr>
        </p:nvSpPr>
        <p:spPr/>
        <p:txBody>
          <a:bodyPr/>
          <a:lstStyle/>
          <a:p>
            <a:fld id="{50137FC5-39B5-7446-B049-D367670D9913}" type="datetime1">
              <a:rPr lang="en-US" smtClean="0"/>
              <a:t>10/24/25</a:t>
            </a:fld>
            <a:endParaRPr lang="en-US"/>
          </a:p>
        </p:txBody>
      </p:sp>
      <p:sp>
        <p:nvSpPr>
          <p:cNvPr id="5" name="Footer Placeholder 4">
            <a:extLst>
              <a:ext uri="{FF2B5EF4-FFF2-40B4-BE49-F238E27FC236}">
                <a16:creationId xmlns:a16="http://schemas.microsoft.com/office/drawing/2014/main" id="{EAF11D9B-48D2-B7FD-DC06-EFDC75553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B585E-0AF4-6740-8A0B-DE261E729166}"/>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1451080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4BB9-EFD8-DB12-4600-C950E6029E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4F8919-C606-7227-9028-CA9F48D3DC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C91CA3-742C-1C39-3B3F-7BE8D6145F8B}"/>
              </a:ext>
            </a:extLst>
          </p:cNvPr>
          <p:cNvSpPr>
            <a:spLocks noGrp="1"/>
          </p:cNvSpPr>
          <p:nvPr>
            <p:ph type="dt" sz="half" idx="10"/>
          </p:nvPr>
        </p:nvSpPr>
        <p:spPr/>
        <p:txBody>
          <a:bodyPr/>
          <a:lstStyle/>
          <a:p>
            <a:fld id="{5D5EFA8B-E494-9A43-B785-BA651F3FCE46}" type="datetime1">
              <a:rPr lang="en-US" smtClean="0"/>
              <a:t>10/24/25</a:t>
            </a:fld>
            <a:endParaRPr lang="en-US"/>
          </a:p>
        </p:txBody>
      </p:sp>
      <p:sp>
        <p:nvSpPr>
          <p:cNvPr id="5" name="Footer Placeholder 4">
            <a:extLst>
              <a:ext uri="{FF2B5EF4-FFF2-40B4-BE49-F238E27FC236}">
                <a16:creationId xmlns:a16="http://schemas.microsoft.com/office/drawing/2014/main" id="{9A01939D-0520-5880-9666-7FF0A1C2F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692BAD-DEF0-4DEC-9652-D0A05F97EAD4}"/>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361155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6EC50-40A4-68A3-12E9-FFEF577ECF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DB04EF-DD6D-5E7E-507E-2293796F27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54A9C6-4F2A-200B-C85A-8F3E1E8015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659EC3-1A2E-6220-A225-56D3DF79AA5A}"/>
              </a:ext>
            </a:extLst>
          </p:cNvPr>
          <p:cNvSpPr>
            <a:spLocks noGrp="1"/>
          </p:cNvSpPr>
          <p:nvPr>
            <p:ph type="dt" sz="half" idx="10"/>
          </p:nvPr>
        </p:nvSpPr>
        <p:spPr/>
        <p:txBody>
          <a:bodyPr/>
          <a:lstStyle/>
          <a:p>
            <a:fld id="{59412A26-1B01-114F-9D90-14D6B5AF3CEB}" type="datetime1">
              <a:rPr lang="en-US" smtClean="0"/>
              <a:t>10/24/25</a:t>
            </a:fld>
            <a:endParaRPr lang="en-US"/>
          </a:p>
        </p:txBody>
      </p:sp>
      <p:sp>
        <p:nvSpPr>
          <p:cNvPr id="6" name="Footer Placeholder 5">
            <a:extLst>
              <a:ext uri="{FF2B5EF4-FFF2-40B4-BE49-F238E27FC236}">
                <a16:creationId xmlns:a16="http://schemas.microsoft.com/office/drawing/2014/main" id="{7F02A004-64EF-8A86-E27E-45F657452F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695594-BB7B-51A2-25FC-FE1D1A4CBD39}"/>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2326230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F85A-B2D6-7E69-A4DC-761AD2B10F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6D8692-12DD-06B9-E30B-EFD5DE6CB9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080A9B-7175-B7C7-DCE8-0E4199AF9B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7AF0E7-2D61-FA90-FDDC-4783DEA080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D7F246-8C92-A1A9-CCCE-3F894343BA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6E46BD-8D46-AB39-0E1D-3AF3954C614C}"/>
              </a:ext>
            </a:extLst>
          </p:cNvPr>
          <p:cNvSpPr>
            <a:spLocks noGrp="1"/>
          </p:cNvSpPr>
          <p:nvPr>
            <p:ph type="dt" sz="half" idx="10"/>
          </p:nvPr>
        </p:nvSpPr>
        <p:spPr/>
        <p:txBody>
          <a:bodyPr/>
          <a:lstStyle/>
          <a:p>
            <a:fld id="{3FCDF86E-147F-3747-8FE9-630F0FF9E34E}" type="datetime1">
              <a:rPr lang="en-US" smtClean="0"/>
              <a:t>10/24/25</a:t>
            </a:fld>
            <a:endParaRPr lang="en-US"/>
          </a:p>
        </p:txBody>
      </p:sp>
      <p:sp>
        <p:nvSpPr>
          <p:cNvPr id="8" name="Footer Placeholder 7">
            <a:extLst>
              <a:ext uri="{FF2B5EF4-FFF2-40B4-BE49-F238E27FC236}">
                <a16:creationId xmlns:a16="http://schemas.microsoft.com/office/drawing/2014/main" id="{C0A4CC02-1136-2700-E13F-BDE5DE609F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72DBD4-DF83-1DDE-95A9-B32432753C7B}"/>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1611869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4183-B081-2C60-EBAF-4C2384B2EC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0C1C96-1B06-C3D5-C51E-0A800F17F2CD}"/>
              </a:ext>
            </a:extLst>
          </p:cNvPr>
          <p:cNvSpPr>
            <a:spLocks noGrp="1"/>
          </p:cNvSpPr>
          <p:nvPr>
            <p:ph type="dt" sz="half" idx="10"/>
          </p:nvPr>
        </p:nvSpPr>
        <p:spPr/>
        <p:txBody>
          <a:bodyPr/>
          <a:lstStyle/>
          <a:p>
            <a:fld id="{C95684BF-A762-E144-B851-83F4C63F8F16}" type="datetime1">
              <a:rPr lang="en-US" smtClean="0"/>
              <a:t>10/24/25</a:t>
            </a:fld>
            <a:endParaRPr lang="en-US"/>
          </a:p>
        </p:txBody>
      </p:sp>
      <p:sp>
        <p:nvSpPr>
          <p:cNvPr id="4" name="Footer Placeholder 3">
            <a:extLst>
              <a:ext uri="{FF2B5EF4-FFF2-40B4-BE49-F238E27FC236}">
                <a16:creationId xmlns:a16="http://schemas.microsoft.com/office/drawing/2014/main" id="{1876CE46-52C5-2300-80B0-1378C8A835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AA65C7-6764-7769-FD1F-5BC354D31BF6}"/>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2377784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33B5EB-5FAB-683C-3F4C-28E8FB8DC7B4}"/>
              </a:ext>
            </a:extLst>
          </p:cNvPr>
          <p:cNvSpPr>
            <a:spLocks noGrp="1"/>
          </p:cNvSpPr>
          <p:nvPr>
            <p:ph type="dt" sz="half" idx="10"/>
          </p:nvPr>
        </p:nvSpPr>
        <p:spPr/>
        <p:txBody>
          <a:bodyPr/>
          <a:lstStyle/>
          <a:p>
            <a:fld id="{CC85FF62-ED7F-764A-846D-E2E8D5B35ADA}" type="datetime1">
              <a:rPr lang="en-US" smtClean="0"/>
              <a:t>10/24/25</a:t>
            </a:fld>
            <a:endParaRPr lang="en-US"/>
          </a:p>
        </p:txBody>
      </p:sp>
      <p:sp>
        <p:nvSpPr>
          <p:cNvPr id="3" name="Footer Placeholder 2">
            <a:extLst>
              <a:ext uri="{FF2B5EF4-FFF2-40B4-BE49-F238E27FC236}">
                <a16:creationId xmlns:a16="http://schemas.microsoft.com/office/drawing/2014/main" id="{9489D9FC-77A0-1095-1F3F-3CA42CA62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48747B-DF4C-D301-653C-BDE4C0DAC7F4}"/>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311041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61AF-0BC9-DC8B-40BD-B5EADC26CF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8D7FDB-CDCA-0D70-77F3-EB0AE3DED0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A21AF2-F744-E565-5427-43C763D27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644BC-F122-93D1-16DC-B6123C342C5B}"/>
              </a:ext>
            </a:extLst>
          </p:cNvPr>
          <p:cNvSpPr>
            <a:spLocks noGrp="1"/>
          </p:cNvSpPr>
          <p:nvPr>
            <p:ph type="dt" sz="half" idx="10"/>
          </p:nvPr>
        </p:nvSpPr>
        <p:spPr/>
        <p:txBody>
          <a:bodyPr/>
          <a:lstStyle/>
          <a:p>
            <a:fld id="{32A79B57-034E-0D40-AC83-D5552C1714D5}" type="datetime1">
              <a:rPr lang="en-US" smtClean="0"/>
              <a:t>10/24/25</a:t>
            </a:fld>
            <a:endParaRPr lang="en-US"/>
          </a:p>
        </p:txBody>
      </p:sp>
      <p:sp>
        <p:nvSpPr>
          <p:cNvPr id="6" name="Footer Placeholder 5">
            <a:extLst>
              <a:ext uri="{FF2B5EF4-FFF2-40B4-BE49-F238E27FC236}">
                <a16:creationId xmlns:a16="http://schemas.microsoft.com/office/drawing/2014/main" id="{4650B24A-7B35-554E-F272-90CE79C988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7CF79-071F-FC22-4E4B-C070752641A1}"/>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815226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970DD-79AC-6D38-B559-A86B25B5A9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BFBD9C-4179-2DAD-A3CB-208E93ECC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685BF9-E7F3-6F24-F7AC-3F225BDED0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1DDD4A-4C72-F89B-EF56-4A30B31F7473}"/>
              </a:ext>
            </a:extLst>
          </p:cNvPr>
          <p:cNvSpPr>
            <a:spLocks noGrp="1"/>
          </p:cNvSpPr>
          <p:nvPr>
            <p:ph type="dt" sz="half" idx="10"/>
          </p:nvPr>
        </p:nvSpPr>
        <p:spPr/>
        <p:txBody>
          <a:bodyPr/>
          <a:lstStyle/>
          <a:p>
            <a:fld id="{2773131F-CA08-3845-B2CF-58938BEEB1D3}" type="datetime1">
              <a:rPr lang="en-US" smtClean="0"/>
              <a:t>10/24/25</a:t>
            </a:fld>
            <a:endParaRPr lang="en-US"/>
          </a:p>
        </p:txBody>
      </p:sp>
      <p:sp>
        <p:nvSpPr>
          <p:cNvPr id="6" name="Footer Placeholder 5">
            <a:extLst>
              <a:ext uri="{FF2B5EF4-FFF2-40B4-BE49-F238E27FC236}">
                <a16:creationId xmlns:a16="http://schemas.microsoft.com/office/drawing/2014/main" id="{4403191B-3024-FA9D-F11A-26800F58B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9B056-844E-527E-10C2-F7ACB52FEA76}"/>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1630794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54C1B-F642-5F27-6EDB-0826BBCF2E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50FFCC-FE2F-D046-2FFD-A8F1B3B879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EA3823-9C4D-AE8A-E93F-90F667BAEA8D}"/>
              </a:ext>
            </a:extLst>
          </p:cNvPr>
          <p:cNvSpPr>
            <a:spLocks noGrp="1"/>
          </p:cNvSpPr>
          <p:nvPr>
            <p:ph type="dt" sz="half" idx="10"/>
          </p:nvPr>
        </p:nvSpPr>
        <p:spPr/>
        <p:txBody>
          <a:bodyPr/>
          <a:lstStyle/>
          <a:p>
            <a:fld id="{40251226-D88E-FD43-AE57-285A522E8457}" type="datetime1">
              <a:rPr lang="en-US" smtClean="0"/>
              <a:t>10/24/25</a:t>
            </a:fld>
            <a:endParaRPr lang="en-US"/>
          </a:p>
        </p:txBody>
      </p:sp>
      <p:sp>
        <p:nvSpPr>
          <p:cNvPr id="5" name="Footer Placeholder 4">
            <a:extLst>
              <a:ext uri="{FF2B5EF4-FFF2-40B4-BE49-F238E27FC236}">
                <a16:creationId xmlns:a16="http://schemas.microsoft.com/office/drawing/2014/main" id="{5347BECF-904E-D547-6DBA-ADB4C983F8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C47AE-AED9-46DF-D1EE-8E3C2D550AFD}"/>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702683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E5A5A9-F0A0-198D-8B95-E4D17DE991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51A019-1632-AF63-B786-F5F4DF80B4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D6701-8490-94E3-1C8E-0FD31EAB66E7}"/>
              </a:ext>
            </a:extLst>
          </p:cNvPr>
          <p:cNvSpPr>
            <a:spLocks noGrp="1"/>
          </p:cNvSpPr>
          <p:nvPr>
            <p:ph type="dt" sz="half" idx="10"/>
          </p:nvPr>
        </p:nvSpPr>
        <p:spPr/>
        <p:txBody>
          <a:bodyPr/>
          <a:lstStyle/>
          <a:p>
            <a:fld id="{7E362D8F-0974-EC4E-B6C1-E36ABCA5A0D7}" type="datetime1">
              <a:rPr lang="en-US" smtClean="0"/>
              <a:t>10/24/25</a:t>
            </a:fld>
            <a:endParaRPr lang="en-US"/>
          </a:p>
        </p:txBody>
      </p:sp>
      <p:sp>
        <p:nvSpPr>
          <p:cNvPr id="5" name="Footer Placeholder 4">
            <a:extLst>
              <a:ext uri="{FF2B5EF4-FFF2-40B4-BE49-F238E27FC236}">
                <a16:creationId xmlns:a16="http://schemas.microsoft.com/office/drawing/2014/main" id="{575F05CA-F822-BDC7-43FC-9A904322B5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14129-5B6A-95A2-1B21-04D0FC9756CA}"/>
              </a:ext>
            </a:extLst>
          </p:cNvPr>
          <p:cNvSpPr>
            <a:spLocks noGrp="1"/>
          </p:cNvSpPr>
          <p:nvPr>
            <p:ph type="sldNum" sz="quarter" idx="12"/>
          </p:nvPr>
        </p:nvSpPr>
        <p:spPr/>
        <p:txBody>
          <a:bodyPr/>
          <a:lstStyle/>
          <a:p>
            <a:fld id="{56CEE286-4F09-9B46-BB67-7B45305F5676}" type="slidenum">
              <a:rPr lang="en-US" smtClean="0"/>
              <a:t>‹#›</a:t>
            </a:fld>
            <a:endParaRPr lang="en-US"/>
          </a:p>
        </p:txBody>
      </p:sp>
    </p:spTree>
    <p:extLst>
      <p:ext uri="{BB962C8B-B14F-4D97-AF65-F5344CB8AC3E}">
        <p14:creationId xmlns:p14="http://schemas.microsoft.com/office/powerpoint/2010/main" val="985498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ADE8A-854F-9AD7-4C55-489FFC9BD1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592B21-9372-A99A-0147-2ED24C5144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752E3-F266-AC57-0E0A-407D9C4B9D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526590-C06D-754A-B916-2FC599186621}" type="datetime1">
              <a:rPr lang="en-US" smtClean="0"/>
              <a:t>10/24/25</a:t>
            </a:fld>
            <a:endParaRPr lang="en-US"/>
          </a:p>
        </p:txBody>
      </p:sp>
      <p:sp>
        <p:nvSpPr>
          <p:cNvPr id="5" name="Footer Placeholder 4">
            <a:extLst>
              <a:ext uri="{FF2B5EF4-FFF2-40B4-BE49-F238E27FC236}">
                <a16:creationId xmlns:a16="http://schemas.microsoft.com/office/drawing/2014/main" id="{FBE9E0F4-6574-845A-E0FA-6C3FBFE6AA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2921B6-87B9-D3BC-5E52-47E42DBFF8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CEE286-4F09-9B46-BB67-7B45305F5676}" type="slidenum">
              <a:rPr lang="en-US" smtClean="0"/>
              <a:t>‹#›</a:t>
            </a:fld>
            <a:endParaRPr lang="en-US"/>
          </a:p>
        </p:txBody>
      </p:sp>
    </p:spTree>
    <p:extLst>
      <p:ext uri="{BB962C8B-B14F-4D97-AF65-F5344CB8AC3E}">
        <p14:creationId xmlns:p14="http://schemas.microsoft.com/office/powerpoint/2010/main" val="4168465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6284-A171-0E05-4FA2-628D2D6A030F}"/>
              </a:ext>
            </a:extLst>
          </p:cNvPr>
          <p:cNvSpPr>
            <a:spLocks noGrp="1"/>
          </p:cNvSpPr>
          <p:nvPr>
            <p:ph type="ctrTitle"/>
          </p:nvPr>
        </p:nvSpPr>
        <p:spPr>
          <a:xfrm>
            <a:off x="1609060" y="-784121"/>
            <a:ext cx="9144000" cy="2387600"/>
          </a:xfrm>
        </p:spPr>
        <p:txBody>
          <a:bodyPr>
            <a:normAutofit/>
          </a:bodyPr>
          <a:lstStyle/>
          <a:p>
            <a:r>
              <a:rPr lang="en-US" b="1" dirty="0">
                <a:solidFill>
                  <a:srgbClr val="C00000"/>
                </a:solidFill>
              </a:rPr>
              <a:t>GitHub Copilot 101</a:t>
            </a:r>
          </a:p>
        </p:txBody>
      </p:sp>
      <p:sp>
        <p:nvSpPr>
          <p:cNvPr id="3" name="Subtitle 2">
            <a:extLst>
              <a:ext uri="{FF2B5EF4-FFF2-40B4-BE49-F238E27FC236}">
                <a16:creationId xmlns:a16="http://schemas.microsoft.com/office/drawing/2014/main" id="{7C9DF9FD-0201-AAEF-F06B-E976DA7AD3F5}"/>
              </a:ext>
            </a:extLst>
          </p:cNvPr>
          <p:cNvSpPr>
            <a:spLocks noGrp="1"/>
          </p:cNvSpPr>
          <p:nvPr>
            <p:ph type="subTitle" idx="1"/>
          </p:nvPr>
        </p:nvSpPr>
        <p:spPr>
          <a:xfrm>
            <a:off x="1417675" y="1796082"/>
            <a:ext cx="9144000" cy="1655762"/>
          </a:xfrm>
        </p:spPr>
        <p:txBody>
          <a:bodyPr/>
          <a:lstStyle/>
          <a:p>
            <a:r>
              <a:rPr lang="en-US" dirty="0"/>
              <a:t>Ashwin Amalaruban</a:t>
            </a:r>
          </a:p>
          <a:p>
            <a:r>
              <a:rPr lang="en-US" dirty="0"/>
              <a:t>BIM189C Fall 2025</a:t>
            </a:r>
          </a:p>
          <a:p>
            <a:r>
              <a:rPr lang="en-US" dirty="0"/>
              <a:t>Instructor: Dr. Sharon Aviran</a:t>
            </a:r>
          </a:p>
        </p:txBody>
      </p:sp>
      <p:sp>
        <p:nvSpPr>
          <p:cNvPr id="4" name="Rectangle 3">
            <a:extLst>
              <a:ext uri="{FF2B5EF4-FFF2-40B4-BE49-F238E27FC236}">
                <a16:creationId xmlns:a16="http://schemas.microsoft.com/office/drawing/2014/main" id="{D231B70C-FA4F-89E8-FFE9-3E3AE73D131B}"/>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descr="Flowchart diagram illustrating how a user interacts with Copilot, which communicates with a machine, workspace, and tools, all connected through a loop involving a large language model (LLM).">
            <a:extLst>
              <a:ext uri="{FF2B5EF4-FFF2-40B4-BE49-F238E27FC236}">
                <a16:creationId xmlns:a16="http://schemas.microsoft.com/office/drawing/2014/main" id="{CDE751F7-326B-7677-9F7A-1085D706EDAE}"/>
              </a:ext>
            </a:extLst>
          </p:cNvPr>
          <p:cNvPicPr>
            <a:picLocks noChangeAspect="1"/>
          </p:cNvPicPr>
          <p:nvPr/>
        </p:nvPicPr>
        <p:blipFill>
          <a:blip r:embed="rId3">
            <a:alphaModFix amt="80000"/>
          </a:blip>
          <a:stretch>
            <a:fillRect/>
          </a:stretch>
        </p:blipFill>
        <p:spPr>
          <a:xfrm>
            <a:off x="2503780" y="3333306"/>
            <a:ext cx="6457035" cy="3115015"/>
          </a:xfrm>
          <a:prstGeom prst="rect">
            <a:avLst/>
          </a:prstGeom>
        </p:spPr>
      </p:pic>
      <p:sp>
        <p:nvSpPr>
          <p:cNvPr id="7" name="Slide Number Placeholder 6">
            <a:extLst>
              <a:ext uri="{FF2B5EF4-FFF2-40B4-BE49-F238E27FC236}">
                <a16:creationId xmlns:a16="http://schemas.microsoft.com/office/drawing/2014/main" id="{429F0A84-34B6-1C15-DC0D-1E2810FD887E}"/>
              </a:ext>
            </a:extLst>
          </p:cNvPr>
          <p:cNvSpPr>
            <a:spLocks noGrp="1"/>
          </p:cNvSpPr>
          <p:nvPr>
            <p:ph type="sldNum" sz="quarter" idx="12"/>
          </p:nvPr>
        </p:nvSpPr>
        <p:spPr/>
        <p:txBody>
          <a:bodyPr/>
          <a:lstStyle/>
          <a:p>
            <a:fld id="{56CEE286-4F09-9B46-BB67-7B45305F5676}" type="slidenum">
              <a:rPr lang="en-US" smtClean="0"/>
              <a:t>1</a:t>
            </a:fld>
            <a:endParaRPr lang="en-US"/>
          </a:p>
        </p:txBody>
      </p:sp>
    </p:spTree>
    <p:extLst>
      <p:ext uri="{BB962C8B-B14F-4D97-AF65-F5344CB8AC3E}">
        <p14:creationId xmlns:p14="http://schemas.microsoft.com/office/powerpoint/2010/main" val="4213865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8EC0-5F02-8C38-31FB-1C7D796E9DCA}"/>
              </a:ext>
            </a:extLst>
          </p:cNvPr>
          <p:cNvSpPr>
            <a:spLocks noGrp="1"/>
          </p:cNvSpPr>
          <p:nvPr>
            <p:ph type="title"/>
          </p:nvPr>
        </p:nvSpPr>
        <p:spPr/>
        <p:txBody>
          <a:bodyPr/>
          <a:lstStyle/>
          <a:p>
            <a:pPr algn="ctr"/>
            <a:r>
              <a:rPr lang="en-US" b="1" dirty="0">
                <a:solidFill>
                  <a:srgbClr val="C00000"/>
                </a:solidFill>
              </a:rPr>
              <a:t>Agenda</a:t>
            </a:r>
          </a:p>
        </p:txBody>
      </p:sp>
      <p:sp>
        <p:nvSpPr>
          <p:cNvPr id="4" name="TextBox 3">
            <a:extLst>
              <a:ext uri="{FF2B5EF4-FFF2-40B4-BE49-F238E27FC236}">
                <a16:creationId xmlns:a16="http://schemas.microsoft.com/office/drawing/2014/main" id="{387A4E3A-07AD-A396-C7F9-319C94BD1955}"/>
              </a:ext>
            </a:extLst>
          </p:cNvPr>
          <p:cNvSpPr txBox="1"/>
          <p:nvPr/>
        </p:nvSpPr>
        <p:spPr>
          <a:xfrm>
            <a:off x="1824081" y="1269477"/>
            <a:ext cx="4827407" cy="7223324"/>
          </a:xfrm>
          <a:prstGeom prst="rect">
            <a:avLst/>
          </a:prstGeom>
          <a:noFill/>
        </p:spPr>
        <p:txBody>
          <a:bodyPr wrap="square" rtlCol="0">
            <a:spAutoFit/>
          </a:bodyPr>
          <a:lstStyle/>
          <a:p>
            <a:pPr marL="514350" indent="-514350">
              <a:lnSpc>
                <a:spcPct val="300000"/>
              </a:lnSpc>
              <a:buFont typeface="+mj-lt"/>
              <a:buAutoNum type="arabicPeriod"/>
            </a:pPr>
            <a:r>
              <a:rPr lang="en-US" sz="3200" dirty="0"/>
              <a:t>Copilot Basics</a:t>
            </a:r>
          </a:p>
          <a:p>
            <a:pPr marL="514350" indent="-514350">
              <a:lnSpc>
                <a:spcPct val="300000"/>
              </a:lnSpc>
              <a:buFont typeface="+mj-lt"/>
              <a:buAutoNum type="arabicPeriod"/>
            </a:pPr>
            <a:r>
              <a:rPr lang="en-US" sz="3200" dirty="0"/>
              <a:t>On the Terminal</a:t>
            </a:r>
          </a:p>
          <a:p>
            <a:pPr marL="514350" indent="-514350">
              <a:lnSpc>
                <a:spcPct val="300000"/>
              </a:lnSpc>
              <a:buFont typeface="+mj-lt"/>
              <a:buAutoNum type="arabicPeriod"/>
            </a:pPr>
            <a:r>
              <a:rPr lang="en-US" sz="3200" dirty="0"/>
              <a:t>Custom Instructions</a:t>
            </a:r>
          </a:p>
          <a:p>
            <a:pPr marL="514350" indent="-514350">
              <a:lnSpc>
                <a:spcPct val="300000"/>
              </a:lnSpc>
              <a:buFont typeface="+mj-lt"/>
              <a:buAutoNum type="arabicPeriod"/>
            </a:pPr>
            <a:endParaRPr lang="en-US" sz="3200" dirty="0"/>
          </a:p>
          <a:p>
            <a:pPr marL="514350" indent="-514350">
              <a:lnSpc>
                <a:spcPct val="300000"/>
              </a:lnSpc>
              <a:buFont typeface="+mj-lt"/>
              <a:buAutoNum type="arabicPeriod"/>
            </a:pPr>
            <a:endParaRPr lang="en-US" sz="3200" dirty="0"/>
          </a:p>
        </p:txBody>
      </p:sp>
      <p:sp>
        <p:nvSpPr>
          <p:cNvPr id="8" name="Rectangle 7">
            <a:extLst>
              <a:ext uri="{FF2B5EF4-FFF2-40B4-BE49-F238E27FC236}">
                <a16:creationId xmlns:a16="http://schemas.microsoft.com/office/drawing/2014/main" id="{D9144D9D-A1D9-2818-B077-0B7EBD5D30CD}"/>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Picture 8" descr="A black background with white text&#10;&#10;AI-generated content may be incorrect.">
            <a:extLst>
              <a:ext uri="{FF2B5EF4-FFF2-40B4-BE49-F238E27FC236}">
                <a16:creationId xmlns:a16="http://schemas.microsoft.com/office/drawing/2014/main" id="{2B925CDE-D9B2-A4F4-D69C-3442BB013472}"/>
              </a:ext>
            </a:extLst>
          </p:cNvPr>
          <p:cNvPicPr>
            <a:picLocks noChangeAspect="1"/>
          </p:cNvPicPr>
          <p:nvPr/>
        </p:nvPicPr>
        <p:blipFill>
          <a:blip r:embed="rId3"/>
          <a:srcRect r="12238"/>
          <a:stretch>
            <a:fillRect/>
          </a:stretch>
        </p:blipFill>
        <p:spPr>
          <a:xfrm>
            <a:off x="7002467" y="4617637"/>
            <a:ext cx="1914048" cy="1001310"/>
          </a:xfrm>
          <a:prstGeom prst="rect">
            <a:avLst/>
          </a:prstGeom>
        </p:spPr>
      </p:pic>
      <p:pic>
        <p:nvPicPr>
          <p:cNvPr id="10" name="Content Placeholder 9" descr="A blue and white pixelated text&#10;&#10;AI-generated content may be incorrect.">
            <a:extLst>
              <a:ext uri="{FF2B5EF4-FFF2-40B4-BE49-F238E27FC236}">
                <a16:creationId xmlns:a16="http://schemas.microsoft.com/office/drawing/2014/main" id="{9FBF0E57-79AC-E8B1-18B3-36D0AA605509}"/>
              </a:ext>
            </a:extLst>
          </p:cNvPr>
          <p:cNvPicPr>
            <a:picLocks noGrp="1" noChangeAspect="1"/>
          </p:cNvPicPr>
          <p:nvPr>
            <p:ph idx="1"/>
          </p:nvPr>
        </p:nvPicPr>
        <p:blipFill>
          <a:blip r:embed="rId4"/>
          <a:stretch>
            <a:fillRect/>
          </a:stretch>
        </p:blipFill>
        <p:spPr>
          <a:xfrm>
            <a:off x="7002467" y="3193283"/>
            <a:ext cx="3145070" cy="827352"/>
          </a:xfrm>
        </p:spPr>
      </p:pic>
      <p:pic>
        <p:nvPicPr>
          <p:cNvPr id="12" name="Picture 11" descr="A screen shot of a phone&#10;&#10;AI-generated content may be incorrect.">
            <a:extLst>
              <a:ext uri="{FF2B5EF4-FFF2-40B4-BE49-F238E27FC236}">
                <a16:creationId xmlns:a16="http://schemas.microsoft.com/office/drawing/2014/main" id="{B7A081C9-6D29-0B22-F75C-9F80F719A22E}"/>
              </a:ext>
            </a:extLst>
          </p:cNvPr>
          <p:cNvPicPr>
            <a:picLocks noChangeAspect="1"/>
          </p:cNvPicPr>
          <p:nvPr/>
        </p:nvPicPr>
        <p:blipFill>
          <a:blip r:embed="rId5"/>
          <a:srcRect l="22632" b="56257"/>
          <a:stretch>
            <a:fillRect/>
          </a:stretch>
        </p:blipFill>
        <p:spPr>
          <a:xfrm>
            <a:off x="7002467" y="1895721"/>
            <a:ext cx="1391185" cy="655471"/>
          </a:xfrm>
          <a:prstGeom prst="rect">
            <a:avLst/>
          </a:prstGeom>
        </p:spPr>
      </p:pic>
      <p:sp>
        <p:nvSpPr>
          <p:cNvPr id="15" name="TextBox 14">
            <a:extLst>
              <a:ext uri="{FF2B5EF4-FFF2-40B4-BE49-F238E27FC236}">
                <a16:creationId xmlns:a16="http://schemas.microsoft.com/office/drawing/2014/main" id="{AFFBC267-B191-04E0-0855-33BEB5B4A027}"/>
              </a:ext>
            </a:extLst>
          </p:cNvPr>
          <p:cNvSpPr txBox="1"/>
          <p:nvPr/>
        </p:nvSpPr>
        <p:spPr>
          <a:xfrm>
            <a:off x="3525520" y="2551192"/>
            <a:ext cx="1971040" cy="369332"/>
          </a:xfrm>
          <a:prstGeom prst="rect">
            <a:avLst/>
          </a:prstGeom>
          <a:noFill/>
        </p:spPr>
        <p:txBody>
          <a:bodyPr wrap="square" rtlCol="0">
            <a:spAutoFit/>
          </a:bodyPr>
          <a:lstStyle/>
          <a:p>
            <a:r>
              <a:rPr lang="en-US" dirty="0"/>
              <a:t>4 slides</a:t>
            </a:r>
          </a:p>
        </p:txBody>
      </p:sp>
      <p:sp>
        <p:nvSpPr>
          <p:cNvPr id="16" name="TextBox 15">
            <a:extLst>
              <a:ext uri="{FF2B5EF4-FFF2-40B4-BE49-F238E27FC236}">
                <a16:creationId xmlns:a16="http://schemas.microsoft.com/office/drawing/2014/main" id="{111E4222-07EB-E637-13F8-C16934E80FE5}"/>
              </a:ext>
            </a:extLst>
          </p:cNvPr>
          <p:cNvSpPr txBox="1"/>
          <p:nvPr/>
        </p:nvSpPr>
        <p:spPr>
          <a:xfrm>
            <a:off x="3525520" y="4052711"/>
            <a:ext cx="1971040" cy="369332"/>
          </a:xfrm>
          <a:prstGeom prst="rect">
            <a:avLst/>
          </a:prstGeom>
          <a:noFill/>
        </p:spPr>
        <p:txBody>
          <a:bodyPr wrap="square" rtlCol="0">
            <a:spAutoFit/>
          </a:bodyPr>
          <a:lstStyle/>
          <a:p>
            <a:r>
              <a:rPr lang="en-US" dirty="0"/>
              <a:t>6 slides</a:t>
            </a:r>
          </a:p>
        </p:txBody>
      </p:sp>
      <p:sp>
        <p:nvSpPr>
          <p:cNvPr id="17" name="TextBox 16">
            <a:extLst>
              <a:ext uri="{FF2B5EF4-FFF2-40B4-BE49-F238E27FC236}">
                <a16:creationId xmlns:a16="http://schemas.microsoft.com/office/drawing/2014/main" id="{AFA516CB-1FFF-827C-A20E-7D028FDB4F59}"/>
              </a:ext>
            </a:extLst>
          </p:cNvPr>
          <p:cNvSpPr txBox="1"/>
          <p:nvPr/>
        </p:nvSpPr>
        <p:spPr>
          <a:xfrm>
            <a:off x="3525520" y="5434281"/>
            <a:ext cx="1971040" cy="369332"/>
          </a:xfrm>
          <a:prstGeom prst="rect">
            <a:avLst/>
          </a:prstGeom>
          <a:noFill/>
        </p:spPr>
        <p:txBody>
          <a:bodyPr wrap="square" rtlCol="0">
            <a:spAutoFit/>
          </a:bodyPr>
          <a:lstStyle/>
          <a:p>
            <a:r>
              <a:rPr lang="en-US" dirty="0"/>
              <a:t>3 slides</a:t>
            </a:r>
          </a:p>
        </p:txBody>
      </p:sp>
      <p:sp>
        <p:nvSpPr>
          <p:cNvPr id="18" name="Slide Number Placeholder 17">
            <a:extLst>
              <a:ext uri="{FF2B5EF4-FFF2-40B4-BE49-F238E27FC236}">
                <a16:creationId xmlns:a16="http://schemas.microsoft.com/office/drawing/2014/main" id="{A6487C6B-280C-C7A9-5907-954EDED31325}"/>
              </a:ext>
            </a:extLst>
          </p:cNvPr>
          <p:cNvSpPr>
            <a:spLocks noGrp="1"/>
          </p:cNvSpPr>
          <p:nvPr>
            <p:ph type="sldNum" sz="quarter" idx="12"/>
          </p:nvPr>
        </p:nvSpPr>
        <p:spPr/>
        <p:txBody>
          <a:bodyPr/>
          <a:lstStyle/>
          <a:p>
            <a:fld id="{56CEE286-4F09-9B46-BB67-7B45305F5676}" type="slidenum">
              <a:rPr lang="en-US" smtClean="0"/>
              <a:t>2</a:t>
            </a:fld>
            <a:endParaRPr lang="en-US"/>
          </a:p>
        </p:txBody>
      </p:sp>
    </p:spTree>
    <p:extLst>
      <p:ext uri="{BB962C8B-B14F-4D97-AF65-F5344CB8AC3E}">
        <p14:creationId xmlns:p14="http://schemas.microsoft.com/office/powerpoint/2010/main" val="2516354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06A0F-B013-3809-F3CC-863CA1644EB4}"/>
              </a:ext>
            </a:extLst>
          </p:cNvPr>
          <p:cNvSpPr>
            <a:spLocks noGrp="1"/>
          </p:cNvSpPr>
          <p:nvPr>
            <p:ph type="title"/>
          </p:nvPr>
        </p:nvSpPr>
        <p:spPr>
          <a:xfrm>
            <a:off x="838200" y="157655"/>
            <a:ext cx="10515600" cy="1325563"/>
          </a:xfrm>
        </p:spPr>
        <p:txBody>
          <a:bodyPr/>
          <a:lstStyle/>
          <a:p>
            <a:pPr algn="ctr"/>
            <a:r>
              <a:rPr lang="en-US" b="1" dirty="0">
                <a:solidFill>
                  <a:srgbClr val="C00000"/>
                </a:solidFill>
              </a:rPr>
              <a:t> Basics</a:t>
            </a:r>
          </a:p>
        </p:txBody>
      </p:sp>
      <p:sp>
        <p:nvSpPr>
          <p:cNvPr id="4" name="Rectangle 3">
            <a:extLst>
              <a:ext uri="{FF2B5EF4-FFF2-40B4-BE49-F238E27FC236}">
                <a16:creationId xmlns:a16="http://schemas.microsoft.com/office/drawing/2014/main" id="{182B6B00-710F-C197-2CE1-F39154A95FA1}"/>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descr="A black screen with white text&#10;&#10;AI-generated content may be incorrect.">
            <a:extLst>
              <a:ext uri="{FF2B5EF4-FFF2-40B4-BE49-F238E27FC236}">
                <a16:creationId xmlns:a16="http://schemas.microsoft.com/office/drawing/2014/main" id="{0BC7418D-8D06-4C1D-C42C-E0EFA1E2079B}"/>
              </a:ext>
            </a:extLst>
          </p:cNvPr>
          <p:cNvPicPr>
            <a:picLocks noChangeAspect="1"/>
          </p:cNvPicPr>
          <p:nvPr/>
        </p:nvPicPr>
        <p:blipFill>
          <a:blip r:embed="rId3"/>
          <a:srcRect l="900" r="780" b="24625"/>
          <a:stretch>
            <a:fillRect/>
          </a:stretch>
        </p:blipFill>
        <p:spPr>
          <a:xfrm>
            <a:off x="2176702" y="2568139"/>
            <a:ext cx="8153124" cy="2366006"/>
          </a:xfrm>
          <a:prstGeom prst="rect">
            <a:avLst/>
          </a:prstGeom>
        </p:spPr>
      </p:pic>
      <p:sp>
        <p:nvSpPr>
          <p:cNvPr id="8" name="TextBox 7">
            <a:extLst>
              <a:ext uri="{FF2B5EF4-FFF2-40B4-BE49-F238E27FC236}">
                <a16:creationId xmlns:a16="http://schemas.microsoft.com/office/drawing/2014/main" id="{ED9B01B9-2148-78B9-3B05-4F81579B198E}"/>
              </a:ext>
            </a:extLst>
          </p:cNvPr>
          <p:cNvSpPr txBox="1"/>
          <p:nvPr/>
        </p:nvSpPr>
        <p:spPr>
          <a:xfrm>
            <a:off x="4502913" y="1012750"/>
            <a:ext cx="6096000" cy="461665"/>
          </a:xfrm>
          <a:prstGeom prst="rect">
            <a:avLst/>
          </a:prstGeom>
          <a:noFill/>
        </p:spPr>
        <p:txBody>
          <a:bodyPr wrap="square">
            <a:spAutoFit/>
          </a:bodyPr>
          <a:lstStyle/>
          <a:p>
            <a:pPr marL="0" indent="0">
              <a:buNone/>
            </a:pPr>
            <a:r>
              <a:rPr lang="en-US" sz="2400" dirty="0"/>
              <a:t>Ghost Text commands</a:t>
            </a:r>
          </a:p>
        </p:txBody>
      </p:sp>
      <p:pic>
        <p:nvPicPr>
          <p:cNvPr id="10" name="Picture 9" descr="A screenshot of a computer program&#10;&#10;AI-generated content may be incorrect.">
            <a:extLst>
              <a:ext uri="{FF2B5EF4-FFF2-40B4-BE49-F238E27FC236}">
                <a16:creationId xmlns:a16="http://schemas.microsoft.com/office/drawing/2014/main" id="{73BDB387-5066-E476-CB41-7AFE44E42857}"/>
              </a:ext>
            </a:extLst>
          </p:cNvPr>
          <p:cNvPicPr>
            <a:picLocks noChangeAspect="1"/>
          </p:cNvPicPr>
          <p:nvPr/>
        </p:nvPicPr>
        <p:blipFill>
          <a:blip r:embed="rId4"/>
          <a:srcRect l="8585" r="985" b="41356"/>
          <a:stretch>
            <a:fillRect/>
          </a:stretch>
        </p:blipFill>
        <p:spPr>
          <a:xfrm>
            <a:off x="7635444" y="1519481"/>
            <a:ext cx="2694382" cy="773139"/>
          </a:xfrm>
          <a:prstGeom prst="rect">
            <a:avLst/>
          </a:prstGeom>
        </p:spPr>
      </p:pic>
      <p:sp>
        <p:nvSpPr>
          <p:cNvPr id="11" name="TextBox 10">
            <a:extLst>
              <a:ext uri="{FF2B5EF4-FFF2-40B4-BE49-F238E27FC236}">
                <a16:creationId xmlns:a16="http://schemas.microsoft.com/office/drawing/2014/main" id="{C1D9C85D-BC08-5DD8-76A6-3B5F2BFD9EFD}"/>
              </a:ext>
            </a:extLst>
          </p:cNvPr>
          <p:cNvSpPr txBox="1"/>
          <p:nvPr/>
        </p:nvSpPr>
        <p:spPr>
          <a:xfrm>
            <a:off x="1616928" y="1751763"/>
            <a:ext cx="6770254" cy="400110"/>
          </a:xfrm>
          <a:prstGeom prst="rect">
            <a:avLst/>
          </a:prstGeom>
          <a:noFill/>
        </p:spPr>
        <p:txBody>
          <a:bodyPr wrap="square" rtlCol="0">
            <a:spAutoFit/>
          </a:bodyPr>
          <a:lstStyle/>
          <a:p>
            <a:r>
              <a:rPr lang="en-US" sz="2000" dirty="0"/>
              <a:t>Providing context helps generate code on its own.</a:t>
            </a:r>
          </a:p>
        </p:txBody>
      </p:sp>
      <p:pic>
        <p:nvPicPr>
          <p:cNvPr id="13" name="Picture 12">
            <a:extLst>
              <a:ext uri="{FF2B5EF4-FFF2-40B4-BE49-F238E27FC236}">
                <a16:creationId xmlns:a16="http://schemas.microsoft.com/office/drawing/2014/main" id="{FB4DA445-B591-6228-0B87-0F986EC2CC23}"/>
              </a:ext>
            </a:extLst>
          </p:cNvPr>
          <p:cNvPicPr>
            <a:picLocks noChangeAspect="1"/>
          </p:cNvPicPr>
          <p:nvPr/>
        </p:nvPicPr>
        <p:blipFill>
          <a:blip r:embed="rId5"/>
          <a:stretch>
            <a:fillRect/>
          </a:stretch>
        </p:blipFill>
        <p:spPr>
          <a:xfrm>
            <a:off x="8264925" y="5990924"/>
            <a:ext cx="2064901" cy="369332"/>
          </a:xfrm>
          <a:prstGeom prst="rect">
            <a:avLst/>
          </a:prstGeom>
        </p:spPr>
      </p:pic>
      <p:sp>
        <p:nvSpPr>
          <p:cNvPr id="14" name="TextBox 13">
            <a:extLst>
              <a:ext uri="{FF2B5EF4-FFF2-40B4-BE49-F238E27FC236}">
                <a16:creationId xmlns:a16="http://schemas.microsoft.com/office/drawing/2014/main" id="{5322F442-C80A-90EF-AAEA-63C0399D845C}"/>
              </a:ext>
            </a:extLst>
          </p:cNvPr>
          <p:cNvSpPr txBox="1"/>
          <p:nvPr/>
        </p:nvSpPr>
        <p:spPr>
          <a:xfrm>
            <a:off x="946713" y="5999727"/>
            <a:ext cx="8110683"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Copilot gives an array based on the name of the variable.</a:t>
            </a:r>
          </a:p>
        </p:txBody>
      </p:sp>
      <p:pic>
        <p:nvPicPr>
          <p:cNvPr id="16" name="Picture 15" descr="A computer screen with text and numbers&#10;&#10;AI-generated content may be incorrect.">
            <a:extLst>
              <a:ext uri="{FF2B5EF4-FFF2-40B4-BE49-F238E27FC236}">
                <a16:creationId xmlns:a16="http://schemas.microsoft.com/office/drawing/2014/main" id="{51A01311-CF7D-C582-5AFF-B5AAB0F4E6C5}"/>
              </a:ext>
            </a:extLst>
          </p:cNvPr>
          <p:cNvPicPr>
            <a:picLocks noChangeAspect="1"/>
          </p:cNvPicPr>
          <p:nvPr/>
        </p:nvPicPr>
        <p:blipFill>
          <a:blip r:embed="rId6"/>
          <a:srcRect r="50425" b="86535"/>
          <a:stretch>
            <a:fillRect/>
          </a:stretch>
        </p:blipFill>
        <p:spPr>
          <a:xfrm>
            <a:off x="7311995" y="5315602"/>
            <a:ext cx="3017831" cy="306478"/>
          </a:xfrm>
          <a:prstGeom prst="rect">
            <a:avLst/>
          </a:prstGeom>
        </p:spPr>
      </p:pic>
      <p:sp>
        <p:nvSpPr>
          <p:cNvPr id="17" name="TextBox 16">
            <a:extLst>
              <a:ext uri="{FF2B5EF4-FFF2-40B4-BE49-F238E27FC236}">
                <a16:creationId xmlns:a16="http://schemas.microsoft.com/office/drawing/2014/main" id="{9FFE2DB4-A76B-3DD6-B109-43A0D8800F0F}"/>
              </a:ext>
            </a:extLst>
          </p:cNvPr>
          <p:cNvSpPr txBox="1"/>
          <p:nvPr/>
        </p:nvSpPr>
        <p:spPr>
          <a:xfrm>
            <a:off x="956426" y="5248032"/>
            <a:ext cx="5795098"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t>For auto-completion, better to have related files open in tab.</a:t>
            </a:r>
          </a:p>
        </p:txBody>
      </p:sp>
      <p:sp>
        <p:nvSpPr>
          <p:cNvPr id="18" name="TextBox 17">
            <a:extLst>
              <a:ext uri="{FF2B5EF4-FFF2-40B4-BE49-F238E27FC236}">
                <a16:creationId xmlns:a16="http://schemas.microsoft.com/office/drawing/2014/main" id="{7DE4F10B-2C2A-8B18-BA99-E7C1D1398AE9}"/>
              </a:ext>
            </a:extLst>
          </p:cNvPr>
          <p:cNvSpPr txBox="1"/>
          <p:nvPr/>
        </p:nvSpPr>
        <p:spPr>
          <a:xfrm>
            <a:off x="5140960" y="4933406"/>
            <a:ext cx="3921760" cy="276999"/>
          </a:xfrm>
          <a:prstGeom prst="rect">
            <a:avLst/>
          </a:prstGeom>
          <a:noFill/>
        </p:spPr>
        <p:txBody>
          <a:bodyPr wrap="square" rtlCol="0">
            <a:spAutoFit/>
          </a:bodyPr>
          <a:lstStyle/>
          <a:p>
            <a:r>
              <a:rPr lang="en-US" sz="1200" i="1" dirty="0"/>
              <a:t>Fig: Commands to aid auto-completion</a:t>
            </a:r>
          </a:p>
        </p:txBody>
      </p:sp>
      <p:sp>
        <p:nvSpPr>
          <p:cNvPr id="19" name="Slide Number Placeholder 18">
            <a:extLst>
              <a:ext uri="{FF2B5EF4-FFF2-40B4-BE49-F238E27FC236}">
                <a16:creationId xmlns:a16="http://schemas.microsoft.com/office/drawing/2014/main" id="{8CEE817D-4F82-CAA4-F33E-CF099AD97416}"/>
              </a:ext>
            </a:extLst>
          </p:cNvPr>
          <p:cNvSpPr>
            <a:spLocks noGrp="1"/>
          </p:cNvSpPr>
          <p:nvPr>
            <p:ph type="sldNum" sz="quarter" idx="12"/>
          </p:nvPr>
        </p:nvSpPr>
        <p:spPr/>
        <p:txBody>
          <a:bodyPr/>
          <a:lstStyle/>
          <a:p>
            <a:fld id="{56CEE286-4F09-9B46-BB67-7B45305F5676}" type="slidenum">
              <a:rPr lang="en-US" smtClean="0"/>
              <a:t>3</a:t>
            </a:fld>
            <a:endParaRPr lang="en-US"/>
          </a:p>
        </p:txBody>
      </p:sp>
    </p:spTree>
    <p:extLst>
      <p:ext uri="{BB962C8B-B14F-4D97-AF65-F5344CB8AC3E}">
        <p14:creationId xmlns:p14="http://schemas.microsoft.com/office/powerpoint/2010/main" val="142000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293EF-8781-4036-C895-C1EB683D4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C564-D2B7-9EB1-FB22-40133641F714}"/>
              </a:ext>
            </a:extLst>
          </p:cNvPr>
          <p:cNvSpPr>
            <a:spLocks noGrp="1"/>
          </p:cNvSpPr>
          <p:nvPr>
            <p:ph type="title"/>
          </p:nvPr>
        </p:nvSpPr>
        <p:spPr>
          <a:xfrm>
            <a:off x="627283" y="282287"/>
            <a:ext cx="10515600" cy="1325563"/>
          </a:xfrm>
        </p:spPr>
        <p:txBody>
          <a:bodyPr/>
          <a:lstStyle/>
          <a:p>
            <a:pPr algn="ctr"/>
            <a:r>
              <a:rPr lang="en-US" b="1" dirty="0">
                <a:solidFill>
                  <a:srgbClr val="C00000"/>
                </a:solidFill>
              </a:rPr>
              <a:t> Basics</a:t>
            </a:r>
            <a:br>
              <a:rPr lang="en-US" b="1" dirty="0">
                <a:solidFill>
                  <a:srgbClr val="C00000"/>
                </a:solidFill>
              </a:rPr>
            </a:br>
            <a:r>
              <a:rPr lang="en-US" sz="2400" dirty="0"/>
              <a:t>Chat options</a:t>
            </a:r>
          </a:p>
        </p:txBody>
      </p:sp>
      <p:sp>
        <p:nvSpPr>
          <p:cNvPr id="4" name="Rectangle 3">
            <a:extLst>
              <a:ext uri="{FF2B5EF4-FFF2-40B4-BE49-F238E27FC236}">
                <a16:creationId xmlns:a16="http://schemas.microsoft.com/office/drawing/2014/main" id="{F92964D0-CB28-A08D-4AC2-A8DC29342923}"/>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7" name="Picture 16" descr="A screenshot of a computer&#10;&#10;AI-generated content may be incorrect.">
            <a:extLst>
              <a:ext uri="{FF2B5EF4-FFF2-40B4-BE49-F238E27FC236}">
                <a16:creationId xmlns:a16="http://schemas.microsoft.com/office/drawing/2014/main" id="{414F3A79-E52A-81C1-2A5C-E842F725E29C}"/>
              </a:ext>
            </a:extLst>
          </p:cNvPr>
          <p:cNvPicPr>
            <a:picLocks noChangeAspect="1"/>
          </p:cNvPicPr>
          <p:nvPr/>
        </p:nvPicPr>
        <p:blipFill>
          <a:blip r:embed="rId3"/>
          <a:stretch>
            <a:fillRect/>
          </a:stretch>
        </p:blipFill>
        <p:spPr>
          <a:xfrm>
            <a:off x="7054389" y="2141349"/>
            <a:ext cx="3711966" cy="1054015"/>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6D3529A0-4920-E204-F482-377FC5DC78A7}"/>
              </a:ext>
            </a:extLst>
          </p:cNvPr>
          <p:cNvPicPr>
            <a:picLocks noChangeAspect="1"/>
          </p:cNvPicPr>
          <p:nvPr/>
        </p:nvPicPr>
        <p:blipFill>
          <a:blip r:embed="rId4"/>
          <a:stretch>
            <a:fillRect/>
          </a:stretch>
        </p:blipFill>
        <p:spPr>
          <a:xfrm>
            <a:off x="4617393" y="3647405"/>
            <a:ext cx="2901007" cy="1622597"/>
          </a:xfrm>
          <a:prstGeom prst="rect">
            <a:avLst/>
          </a:prstGeom>
        </p:spPr>
      </p:pic>
      <p:sp>
        <p:nvSpPr>
          <p:cNvPr id="20" name="TextBox 19">
            <a:extLst>
              <a:ext uri="{FF2B5EF4-FFF2-40B4-BE49-F238E27FC236}">
                <a16:creationId xmlns:a16="http://schemas.microsoft.com/office/drawing/2014/main" id="{0CF050FE-4299-898E-398F-B83660F0F2E9}"/>
              </a:ext>
            </a:extLst>
          </p:cNvPr>
          <p:cNvSpPr txBox="1"/>
          <p:nvPr/>
        </p:nvSpPr>
        <p:spPr>
          <a:xfrm>
            <a:off x="1049117" y="1645558"/>
            <a:ext cx="4174836" cy="369332"/>
          </a:xfrm>
          <a:prstGeom prst="rect">
            <a:avLst/>
          </a:prstGeom>
          <a:noFill/>
        </p:spPr>
        <p:txBody>
          <a:bodyPr wrap="square" rtlCol="0">
            <a:spAutoFit/>
          </a:bodyPr>
          <a:lstStyle/>
          <a:p>
            <a:r>
              <a:rPr lang="en-US" dirty="0"/>
              <a:t>Chat sidebar has three modes</a:t>
            </a:r>
          </a:p>
        </p:txBody>
      </p:sp>
      <p:pic>
        <p:nvPicPr>
          <p:cNvPr id="21" name="Picture 20" descr="A screen shot of a computer&#10;&#10;AI-generated content may be incorrect.">
            <a:extLst>
              <a:ext uri="{FF2B5EF4-FFF2-40B4-BE49-F238E27FC236}">
                <a16:creationId xmlns:a16="http://schemas.microsoft.com/office/drawing/2014/main" id="{C8006117-C0EE-9C68-886E-686CA2145376}"/>
              </a:ext>
            </a:extLst>
          </p:cNvPr>
          <p:cNvPicPr>
            <a:picLocks noChangeAspect="1"/>
          </p:cNvPicPr>
          <p:nvPr/>
        </p:nvPicPr>
        <p:blipFill>
          <a:blip r:embed="rId5"/>
          <a:stretch>
            <a:fillRect/>
          </a:stretch>
        </p:blipFill>
        <p:spPr>
          <a:xfrm>
            <a:off x="1813126" y="2166144"/>
            <a:ext cx="1993900" cy="1054100"/>
          </a:xfrm>
          <a:prstGeom prst="rect">
            <a:avLst/>
          </a:prstGeom>
        </p:spPr>
      </p:pic>
      <p:sp>
        <p:nvSpPr>
          <p:cNvPr id="22" name="TextBox 21">
            <a:extLst>
              <a:ext uri="{FF2B5EF4-FFF2-40B4-BE49-F238E27FC236}">
                <a16:creationId xmlns:a16="http://schemas.microsoft.com/office/drawing/2014/main" id="{34617D84-3E71-C857-166F-2B0E714BC672}"/>
              </a:ext>
            </a:extLst>
          </p:cNvPr>
          <p:cNvSpPr txBox="1"/>
          <p:nvPr/>
        </p:nvSpPr>
        <p:spPr>
          <a:xfrm>
            <a:off x="6961390" y="1489698"/>
            <a:ext cx="3711965" cy="646331"/>
          </a:xfrm>
          <a:prstGeom prst="rect">
            <a:avLst/>
          </a:prstGeom>
          <a:noFill/>
        </p:spPr>
        <p:txBody>
          <a:bodyPr wrap="square" rtlCol="0">
            <a:spAutoFit/>
          </a:bodyPr>
          <a:lstStyle/>
          <a:p>
            <a:r>
              <a:rPr lang="en-US" dirty="0"/>
              <a:t>Helps us get more specific about what we want</a:t>
            </a:r>
          </a:p>
        </p:txBody>
      </p:sp>
      <p:sp>
        <p:nvSpPr>
          <p:cNvPr id="23" name="TextBox 22">
            <a:extLst>
              <a:ext uri="{FF2B5EF4-FFF2-40B4-BE49-F238E27FC236}">
                <a16:creationId xmlns:a16="http://schemas.microsoft.com/office/drawing/2014/main" id="{151C78B1-E748-F18A-3FE5-F3523DBD448C}"/>
              </a:ext>
            </a:extLst>
          </p:cNvPr>
          <p:cNvSpPr txBox="1"/>
          <p:nvPr/>
        </p:nvSpPr>
        <p:spPr>
          <a:xfrm>
            <a:off x="5747013" y="3310185"/>
            <a:ext cx="1930400" cy="369332"/>
          </a:xfrm>
          <a:prstGeom prst="rect">
            <a:avLst/>
          </a:prstGeom>
          <a:noFill/>
        </p:spPr>
        <p:txBody>
          <a:bodyPr wrap="square" rtlCol="0">
            <a:spAutoFit/>
          </a:bodyPr>
          <a:lstStyle/>
          <a:p>
            <a:r>
              <a:rPr lang="en-US" b="1" dirty="0"/>
              <a:t>Where?</a:t>
            </a:r>
          </a:p>
        </p:txBody>
      </p:sp>
      <p:sp>
        <p:nvSpPr>
          <p:cNvPr id="24" name="TextBox 23">
            <a:extLst>
              <a:ext uri="{FF2B5EF4-FFF2-40B4-BE49-F238E27FC236}">
                <a16:creationId xmlns:a16="http://schemas.microsoft.com/office/drawing/2014/main" id="{89E13143-2C4D-1C9C-03DB-A543F7DF5672}"/>
              </a:ext>
            </a:extLst>
          </p:cNvPr>
          <p:cNvSpPr txBox="1"/>
          <p:nvPr/>
        </p:nvSpPr>
        <p:spPr>
          <a:xfrm>
            <a:off x="1587151" y="3310185"/>
            <a:ext cx="1930400" cy="369332"/>
          </a:xfrm>
          <a:prstGeom prst="rect">
            <a:avLst/>
          </a:prstGeom>
          <a:noFill/>
        </p:spPr>
        <p:txBody>
          <a:bodyPr wrap="square" rtlCol="0">
            <a:spAutoFit/>
          </a:bodyPr>
          <a:lstStyle/>
          <a:p>
            <a:r>
              <a:rPr lang="en-US" b="1" dirty="0"/>
              <a:t>What?</a:t>
            </a:r>
          </a:p>
        </p:txBody>
      </p:sp>
      <p:sp>
        <p:nvSpPr>
          <p:cNvPr id="25" name="TextBox 24">
            <a:extLst>
              <a:ext uri="{FF2B5EF4-FFF2-40B4-BE49-F238E27FC236}">
                <a16:creationId xmlns:a16="http://schemas.microsoft.com/office/drawing/2014/main" id="{5CCE60DE-3A97-1126-78DC-E1B8435DBFC7}"/>
              </a:ext>
            </a:extLst>
          </p:cNvPr>
          <p:cNvSpPr txBox="1"/>
          <p:nvPr/>
        </p:nvSpPr>
        <p:spPr>
          <a:xfrm>
            <a:off x="9017000" y="3353576"/>
            <a:ext cx="3175000" cy="369332"/>
          </a:xfrm>
          <a:prstGeom prst="rect">
            <a:avLst/>
          </a:prstGeom>
          <a:noFill/>
        </p:spPr>
        <p:txBody>
          <a:bodyPr wrap="square" rtlCol="0">
            <a:spAutoFit/>
          </a:bodyPr>
          <a:lstStyle/>
          <a:p>
            <a:r>
              <a:rPr lang="en-US" b="1" dirty="0"/>
              <a:t>Slash commands</a:t>
            </a:r>
          </a:p>
        </p:txBody>
      </p:sp>
      <p:pic>
        <p:nvPicPr>
          <p:cNvPr id="27" name="Picture 26" descr="A screenshot of a computer&#10;&#10;AI-generated content may be incorrect.">
            <a:extLst>
              <a:ext uri="{FF2B5EF4-FFF2-40B4-BE49-F238E27FC236}">
                <a16:creationId xmlns:a16="http://schemas.microsoft.com/office/drawing/2014/main" id="{CF0BEF42-C15C-0C05-8122-602933BE608D}"/>
              </a:ext>
            </a:extLst>
          </p:cNvPr>
          <p:cNvPicPr>
            <a:picLocks noChangeAspect="1"/>
          </p:cNvPicPr>
          <p:nvPr/>
        </p:nvPicPr>
        <p:blipFill>
          <a:blip r:embed="rId6"/>
          <a:stretch>
            <a:fillRect/>
          </a:stretch>
        </p:blipFill>
        <p:spPr>
          <a:xfrm>
            <a:off x="635191" y="3669766"/>
            <a:ext cx="2956978" cy="1691546"/>
          </a:xfrm>
          <a:prstGeom prst="rect">
            <a:avLst/>
          </a:prstGeom>
        </p:spPr>
      </p:pic>
      <p:pic>
        <p:nvPicPr>
          <p:cNvPr id="29" name="Picture 28" descr="A screenshot of a computer&#10;&#10;AI-generated content may be incorrect.">
            <a:extLst>
              <a:ext uri="{FF2B5EF4-FFF2-40B4-BE49-F238E27FC236}">
                <a16:creationId xmlns:a16="http://schemas.microsoft.com/office/drawing/2014/main" id="{AE0740FB-5F24-7C70-DAAB-1C45B3A8F71D}"/>
              </a:ext>
            </a:extLst>
          </p:cNvPr>
          <p:cNvPicPr>
            <a:picLocks noChangeAspect="1"/>
          </p:cNvPicPr>
          <p:nvPr/>
        </p:nvPicPr>
        <p:blipFill>
          <a:blip r:embed="rId7"/>
          <a:stretch>
            <a:fillRect/>
          </a:stretch>
        </p:blipFill>
        <p:spPr>
          <a:xfrm>
            <a:off x="8817373" y="3709466"/>
            <a:ext cx="2739436" cy="1612146"/>
          </a:xfrm>
          <a:prstGeom prst="rect">
            <a:avLst/>
          </a:prstGeom>
        </p:spPr>
      </p:pic>
      <p:pic>
        <p:nvPicPr>
          <p:cNvPr id="32" name="Picture 31" descr="A screenshot of a computer&#10;&#10;AI-generated content may be incorrect.">
            <a:extLst>
              <a:ext uri="{FF2B5EF4-FFF2-40B4-BE49-F238E27FC236}">
                <a16:creationId xmlns:a16="http://schemas.microsoft.com/office/drawing/2014/main" id="{1B79349C-9AB9-DF53-AE90-A575F12838FA}"/>
              </a:ext>
            </a:extLst>
          </p:cNvPr>
          <p:cNvPicPr>
            <a:picLocks noChangeAspect="1"/>
          </p:cNvPicPr>
          <p:nvPr/>
        </p:nvPicPr>
        <p:blipFill>
          <a:blip r:embed="rId8"/>
          <a:stretch>
            <a:fillRect/>
          </a:stretch>
        </p:blipFill>
        <p:spPr>
          <a:xfrm>
            <a:off x="3545736" y="5594611"/>
            <a:ext cx="2745032" cy="882332"/>
          </a:xfrm>
          <a:prstGeom prst="rect">
            <a:avLst/>
          </a:prstGeom>
        </p:spPr>
      </p:pic>
      <p:sp>
        <p:nvSpPr>
          <p:cNvPr id="33" name="TextBox 32">
            <a:extLst>
              <a:ext uri="{FF2B5EF4-FFF2-40B4-BE49-F238E27FC236}">
                <a16:creationId xmlns:a16="http://schemas.microsoft.com/office/drawing/2014/main" id="{26AE27E9-1A79-8B57-DF97-EE0CF08ED3CA}"/>
              </a:ext>
            </a:extLst>
          </p:cNvPr>
          <p:cNvSpPr txBox="1"/>
          <p:nvPr/>
        </p:nvSpPr>
        <p:spPr>
          <a:xfrm>
            <a:off x="897634" y="5869006"/>
            <a:ext cx="2927927" cy="369332"/>
          </a:xfrm>
          <a:prstGeom prst="rect">
            <a:avLst/>
          </a:prstGeom>
          <a:noFill/>
        </p:spPr>
        <p:txBody>
          <a:bodyPr wrap="square" rtlCol="0">
            <a:spAutoFit/>
          </a:bodyPr>
          <a:lstStyle/>
          <a:p>
            <a:r>
              <a:rPr lang="en-US" dirty="0"/>
              <a:t>Getting more specific</a:t>
            </a:r>
          </a:p>
        </p:txBody>
      </p:sp>
      <p:sp>
        <p:nvSpPr>
          <p:cNvPr id="37" name="TextBox 36">
            <a:extLst>
              <a:ext uri="{FF2B5EF4-FFF2-40B4-BE49-F238E27FC236}">
                <a16:creationId xmlns:a16="http://schemas.microsoft.com/office/drawing/2014/main" id="{DEC303CD-EA5E-D8F3-ECCE-D7996EB9610F}"/>
              </a:ext>
            </a:extLst>
          </p:cNvPr>
          <p:cNvSpPr txBox="1"/>
          <p:nvPr/>
        </p:nvSpPr>
        <p:spPr>
          <a:xfrm>
            <a:off x="6879745" y="5405213"/>
            <a:ext cx="9354127" cy="369332"/>
          </a:xfrm>
          <a:prstGeom prst="rect">
            <a:avLst/>
          </a:prstGeom>
          <a:noFill/>
        </p:spPr>
        <p:txBody>
          <a:bodyPr wrap="square" rtlCol="0">
            <a:spAutoFit/>
          </a:bodyPr>
          <a:lstStyle/>
          <a:p>
            <a:r>
              <a:rPr lang="en-US" b="1" dirty="0"/>
              <a:t>Terminal output</a:t>
            </a:r>
          </a:p>
        </p:txBody>
      </p:sp>
      <p:pic>
        <p:nvPicPr>
          <p:cNvPr id="38" name="Picture 37">
            <a:extLst>
              <a:ext uri="{FF2B5EF4-FFF2-40B4-BE49-F238E27FC236}">
                <a16:creationId xmlns:a16="http://schemas.microsoft.com/office/drawing/2014/main" id="{4F42C553-FB3F-28EF-D1BC-C6350660047F}"/>
              </a:ext>
            </a:extLst>
          </p:cNvPr>
          <p:cNvPicPr>
            <a:picLocks noChangeAspect="1"/>
          </p:cNvPicPr>
          <p:nvPr/>
        </p:nvPicPr>
        <p:blipFill>
          <a:blip r:embed="rId9"/>
          <a:stretch>
            <a:fillRect/>
          </a:stretch>
        </p:blipFill>
        <p:spPr>
          <a:xfrm>
            <a:off x="6473663" y="5764809"/>
            <a:ext cx="2897096" cy="335895"/>
          </a:xfrm>
          <a:prstGeom prst="rect">
            <a:avLst/>
          </a:prstGeom>
        </p:spPr>
      </p:pic>
      <p:pic>
        <p:nvPicPr>
          <p:cNvPr id="39" name="Picture 38">
            <a:extLst>
              <a:ext uri="{FF2B5EF4-FFF2-40B4-BE49-F238E27FC236}">
                <a16:creationId xmlns:a16="http://schemas.microsoft.com/office/drawing/2014/main" id="{5F310D86-5684-B1A9-5C57-694CE73390B2}"/>
              </a:ext>
            </a:extLst>
          </p:cNvPr>
          <p:cNvPicPr>
            <a:picLocks noChangeAspect="1"/>
          </p:cNvPicPr>
          <p:nvPr/>
        </p:nvPicPr>
        <p:blipFill>
          <a:blip r:embed="rId10"/>
          <a:stretch>
            <a:fillRect/>
          </a:stretch>
        </p:blipFill>
        <p:spPr>
          <a:xfrm>
            <a:off x="7113633" y="6125988"/>
            <a:ext cx="1575033" cy="300849"/>
          </a:xfrm>
          <a:prstGeom prst="rect">
            <a:avLst/>
          </a:prstGeom>
        </p:spPr>
      </p:pic>
      <p:sp>
        <p:nvSpPr>
          <p:cNvPr id="40" name="Slide Number Placeholder 39">
            <a:extLst>
              <a:ext uri="{FF2B5EF4-FFF2-40B4-BE49-F238E27FC236}">
                <a16:creationId xmlns:a16="http://schemas.microsoft.com/office/drawing/2014/main" id="{9BD928CA-5C70-E029-CC91-B57066E2C699}"/>
              </a:ext>
            </a:extLst>
          </p:cNvPr>
          <p:cNvSpPr>
            <a:spLocks noGrp="1"/>
          </p:cNvSpPr>
          <p:nvPr>
            <p:ph type="sldNum" sz="quarter" idx="12"/>
          </p:nvPr>
        </p:nvSpPr>
        <p:spPr/>
        <p:txBody>
          <a:bodyPr/>
          <a:lstStyle/>
          <a:p>
            <a:fld id="{56CEE286-4F09-9B46-BB67-7B45305F5676}" type="slidenum">
              <a:rPr lang="en-US" smtClean="0"/>
              <a:t>4</a:t>
            </a:fld>
            <a:endParaRPr lang="en-US"/>
          </a:p>
        </p:txBody>
      </p:sp>
    </p:spTree>
    <p:extLst>
      <p:ext uri="{BB962C8B-B14F-4D97-AF65-F5344CB8AC3E}">
        <p14:creationId xmlns:p14="http://schemas.microsoft.com/office/powerpoint/2010/main" val="326721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B250AB-740D-613F-0727-0EE7DBFC48DA}"/>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D3BA3B63-D76E-42E8-5FCC-E6A6FF652578}"/>
              </a:ext>
            </a:extLst>
          </p:cNvPr>
          <p:cNvPicPr>
            <a:picLocks noChangeAspect="1"/>
          </p:cNvPicPr>
          <p:nvPr/>
        </p:nvPicPr>
        <p:blipFill>
          <a:blip r:embed="rId3"/>
          <a:srcRect l="18632" t="-122"/>
          <a:stretch>
            <a:fillRect/>
          </a:stretch>
        </p:blipFill>
        <p:spPr>
          <a:xfrm>
            <a:off x="2758571" y="1661939"/>
            <a:ext cx="6674858" cy="426931"/>
          </a:xfrm>
          <a:prstGeom prst="rect">
            <a:avLst/>
          </a:prstGeom>
        </p:spPr>
      </p:pic>
      <p:sp>
        <p:nvSpPr>
          <p:cNvPr id="6" name="Title 1">
            <a:extLst>
              <a:ext uri="{FF2B5EF4-FFF2-40B4-BE49-F238E27FC236}">
                <a16:creationId xmlns:a16="http://schemas.microsoft.com/office/drawing/2014/main" id="{D75AEF25-073E-E431-0FB7-5B4BDA7E8913}"/>
              </a:ext>
            </a:extLst>
          </p:cNvPr>
          <p:cNvSpPr>
            <a:spLocks noGrp="1"/>
          </p:cNvSpPr>
          <p:nvPr>
            <p:ph type="title"/>
          </p:nvPr>
        </p:nvSpPr>
        <p:spPr>
          <a:xfrm>
            <a:off x="627283" y="282287"/>
            <a:ext cx="10515600" cy="1325563"/>
          </a:xfrm>
        </p:spPr>
        <p:txBody>
          <a:bodyPr/>
          <a:lstStyle/>
          <a:p>
            <a:pPr algn="ctr"/>
            <a:r>
              <a:rPr lang="en-US" b="1" dirty="0">
                <a:solidFill>
                  <a:srgbClr val="C00000"/>
                </a:solidFill>
              </a:rPr>
              <a:t> Basics</a:t>
            </a:r>
            <a:br>
              <a:rPr lang="en-US" b="1" dirty="0">
                <a:solidFill>
                  <a:srgbClr val="C00000"/>
                </a:solidFill>
              </a:rPr>
            </a:br>
            <a:r>
              <a:rPr lang="en-US" sz="2400" dirty="0"/>
              <a:t>Some example: Too much code</a:t>
            </a:r>
          </a:p>
        </p:txBody>
      </p:sp>
      <p:pic>
        <p:nvPicPr>
          <p:cNvPr id="8" name="Picture 7" descr="A screenshot of a computer&#10;&#10;AI-generated content may be incorrect.">
            <a:extLst>
              <a:ext uri="{FF2B5EF4-FFF2-40B4-BE49-F238E27FC236}">
                <a16:creationId xmlns:a16="http://schemas.microsoft.com/office/drawing/2014/main" id="{3F69A614-0528-54C8-C4C6-21BACDA55AF4}"/>
              </a:ext>
            </a:extLst>
          </p:cNvPr>
          <p:cNvPicPr>
            <a:picLocks noChangeAspect="1"/>
          </p:cNvPicPr>
          <p:nvPr/>
        </p:nvPicPr>
        <p:blipFill>
          <a:blip r:embed="rId4"/>
          <a:stretch>
            <a:fillRect/>
          </a:stretch>
        </p:blipFill>
        <p:spPr>
          <a:xfrm>
            <a:off x="4039556" y="2620609"/>
            <a:ext cx="1698336" cy="1019002"/>
          </a:xfrm>
          <a:prstGeom prst="rect">
            <a:avLst/>
          </a:prstGeom>
        </p:spPr>
      </p:pic>
      <p:sp>
        <p:nvSpPr>
          <p:cNvPr id="9" name="TextBox 8">
            <a:extLst>
              <a:ext uri="{FF2B5EF4-FFF2-40B4-BE49-F238E27FC236}">
                <a16:creationId xmlns:a16="http://schemas.microsoft.com/office/drawing/2014/main" id="{F6AD86B5-A309-9866-4FD5-1B2E8B53E605}"/>
              </a:ext>
            </a:extLst>
          </p:cNvPr>
          <p:cNvSpPr txBox="1"/>
          <p:nvPr/>
        </p:nvSpPr>
        <p:spPr>
          <a:xfrm>
            <a:off x="1048326" y="2782669"/>
            <a:ext cx="2290619" cy="646331"/>
          </a:xfrm>
          <a:prstGeom prst="rect">
            <a:avLst/>
          </a:prstGeom>
          <a:noFill/>
        </p:spPr>
        <p:txBody>
          <a:bodyPr wrap="square" rtlCol="0">
            <a:spAutoFit/>
          </a:bodyPr>
          <a:lstStyle/>
          <a:p>
            <a:r>
              <a:rPr lang="en-US" b="1" dirty="0"/>
              <a:t>Generates too many lines of code</a:t>
            </a:r>
          </a:p>
        </p:txBody>
      </p:sp>
      <p:pic>
        <p:nvPicPr>
          <p:cNvPr id="11" name="Picture 10" descr="A screen shot of a computer program&#10;&#10;AI-generated content may be incorrect.">
            <a:extLst>
              <a:ext uri="{FF2B5EF4-FFF2-40B4-BE49-F238E27FC236}">
                <a16:creationId xmlns:a16="http://schemas.microsoft.com/office/drawing/2014/main" id="{5A503506-760D-1787-B7C6-8EE0E546710C}"/>
              </a:ext>
            </a:extLst>
          </p:cNvPr>
          <p:cNvPicPr>
            <a:picLocks noChangeAspect="1"/>
          </p:cNvPicPr>
          <p:nvPr/>
        </p:nvPicPr>
        <p:blipFill>
          <a:blip r:embed="rId5"/>
          <a:stretch>
            <a:fillRect/>
          </a:stretch>
        </p:blipFill>
        <p:spPr>
          <a:xfrm>
            <a:off x="7082711" y="2296140"/>
            <a:ext cx="1967045" cy="1498983"/>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2C1C1FA8-F509-E631-A50C-DE4E5F5A9B3F}"/>
              </a:ext>
            </a:extLst>
          </p:cNvPr>
          <p:cNvPicPr>
            <a:picLocks noChangeAspect="1"/>
          </p:cNvPicPr>
          <p:nvPr/>
        </p:nvPicPr>
        <p:blipFill>
          <a:blip r:embed="rId6"/>
          <a:stretch>
            <a:fillRect/>
          </a:stretch>
        </p:blipFill>
        <p:spPr>
          <a:xfrm>
            <a:off x="4039556" y="4520549"/>
            <a:ext cx="4944160" cy="1907469"/>
          </a:xfrm>
          <a:prstGeom prst="rect">
            <a:avLst/>
          </a:prstGeom>
        </p:spPr>
      </p:pic>
      <p:sp>
        <p:nvSpPr>
          <p:cNvPr id="14" name="Down Arrow 13">
            <a:extLst>
              <a:ext uri="{FF2B5EF4-FFF2-40B4-BE49-F238E27FC236}">
                <a16:creationId xmlns:a16="http://schemas.microsoft.com/office/drawing/2014/main" id="{EF70C56A-A23E-FE22-D328-52C1A4A55DED}"/>
              </a:ext>
            </a:extLst>
          </p:cNvPr>
          <p:cNvSpPr/>
          <p:nvPr/>
        </p:nvSpPr>
        <p:spPr>
          <a:xfrm>
            <a:off x="6511636" y="3837710"/>
            <a:ext cx="387928" cy="600787"/>
          </a:xfrm>
          <a:prstGeom prst="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BECABCC-3159-6C53-A938-607D58A76214}"/>
              </a:ext>
            </a:extLst>
          </p:cNvPr>
          <p:cNvSpPr txBox="1"/>
          <p:nvPr/>
        </p:nvSpPr>
        <p:spPr>
          <a:xfrm>
            <a:off x="1048326" y="5109711"/>
            <a:ext cx="2794001" cy="923330"/>
          </a:xfrm>
          <a:prstGeom prst="rect">
            <a:avLst/>
          </a:prstGeom>
          <a:noFill/>
        </p:spPr>
        <p:txBody>
          <a:bodyPr wrap="square" rtlCol="0">
            <a:spAutoFit/>
          </a:bodyPr>
          <a:lstStyle/>
          <a:p>
            <a:r>
              <a:rPr lang="en-US" b="1" dirty="0"/>
              <a:t>We can do this instead </a:t>
            </a:r>
            <a:r>
              <a:rPr lang="en-US" dirty="0"/>
              <a:t>(Ctrl + I) on</a:t>
            </a:r>
          </a:p>
          <a:p>
            <a:r>
              <a:rPr lang="en-US" dirty="0"/>
              <a:t>Selected lines of code</a:t>
            </a:r>
          </a:p>
        </p:txBody>
      </p:sp>
      <p:sp>
        <p:nvSpPr>
          <p:cNvPr id="16" name="TextBox 15">
            <a:extLst>
              <a:ext uri="{FF2B5EF4-FFF2-40B4-BE49-F238E27FC236}">
                <a16:creationId xmlns:a16="http://schemas.microsoft.com/office/drawing/2014/main" id="{1E1495E9-8D4C-978A-3975-E11627FE87D0}"/>
              </a:ext>
            </a:extLst>
          </p:cNvPr>
          <p:cNvSpPr txBox="1"/>
          <p:nvPr/>
        </p:nvSpPr>
        <p:spPr>
          <a:xfrm>
            <a:off x="9644595" y="1625716"/>
            <a:ext cx="1679188" cy="400110"/>
          </a:xfrm>
          <a:prstGeom prst="rect">
            <a:avLst/>
          </a:prstGeom>
          <a:noFill/>
        </p:spPr>
        <p:txBody>
          <a:bodyPr wrap="square" rtlCol="0">
            <a:spAutoFit/>
          </a:bodyPr>
          <a:lstStyle/>
          <a:p>
            <a:r>
              <a:rPr lang="en-US" sz="1000" dirty="0"/>
              <a:t>Matrices A, B and operations on them.</a:t>
            </a:r>
          </a:p>
        </p:txBody>
      </p:sp>
      <p:sp>
        <p:nvSpPr>
          <p:cNvPr id="17" name="TextBox 16">
            <a:extLst>
              <a:ext uri="{FF2B5EF4-FFF2-40B4-BE49-F238E27FC236}">
                <a16:creationId xmlns:a16="http://schemas.microsoft.com/office/drawing/2014/main" id="{C89D02C9-2B56-9E68-F8CD-58A4E8AB49F0}"/>
              </a:ext>
            </a:extLst>
          </p:cNvPr>
          <p:cNvSpPr txBox="1"/>
          <p:nvPr/>
        </p:nvSpPr>
        <p:spPr>
          <a:xfrm>
            <a:off x="1048326" y="1719538"/>
            <a:ext cx="1907310" cy="369332"/>
          </a:xfrm>
          <a:prstGeom prst="rect">
            <a:avLst/>
          </a:prstGeom>
          <a:noFill/>
        </p:spPr>
        <p:txBody>
          <a:bodyPr wrap="square" rtlCol="0">
            <a:spAutoFit/>
          </a:bodyPr>
          <a:lstStyle/>
          <a:p>
            <a:r>
              <a:rPr lang="en-US" b="1" dirty="0"/>
              <a:t>On the chat</a:t>
            </a:r>
          </a:p>
        </p:txBody>
      </p:sp>
      <p:sp>
        <p:nvSpPr>
          <p:cNvPr id="19" name="Slide Number Placeholder 18">
            <a:extLst>
              <a:ext uri="{FF2B5EF4-FFF2-40B4-BE49-F238E27FC236}">
                <a16:creationId xmlns:a16="http://schemas.microsoft.com/office/drawing/2014/main" id="{A48D3D2D-B560-531C-6F81-C50FF856AC58}"/>
              </a:ext>
            </a:extLst>
          </p:cNvPr>
          <p:cNvSpPr>
            <a:spLocks noGrp="1"/>
          </p:cNvSpPr>
          <p:nvPr>
            <p:ph type="sldNum" sz="quarter" idx="12"/>
          </p:nvPr>
        </p:nvSpPr>
        <p:spPr/>
        <p:txBody>
          <a:bodyPr/>
          <a:lstStyle/>
          <a:p>
            <a:fld id="{56CEE286-4F09-9B46-BB67-7B45305F5676}" type="slidenum">
              <a:rPr lang="en-US" smtClean="0"/>
              <a:t>5</a:t>
            </a:fld>
            <a:endParaRPr lang="en-US"/>
          </a:p>
        </p:txBody>
      </p:sp>
    </p:spTree>
    <p:extLst>
      <p:ext uri="{BB962C8B-B14F-4D97-AF65-F5344CB8AC3E}">
        <p14:creationId xmlns:p14="http://schemas.microsoft.com/office/powerpoint/2010/main" val="1023119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8A4FB-F7FB-0C13-A999-41095512C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52BB2-AEEF-1507-45A5-9424F6E97B50}"/>
              </a:ext>
            </a:extLst>
          </p:cNvPr>
          <p:cNvSpPr>
            <a:spLocks noGrp="1"/>
          </p:cNvSpPr>
          <p:nvPr>
            <p:ph type="title"/>
          </p:nvPr>
        </p:nvSpPr>
        <p:spPr/>
        <p:txBody>
          <a:bodyPr/>
          <a:lstStyle/>
          <a:p>
            <a:pPr algn="ctr"/>
            <a:r>
              <a:rPr lang="en-US" b="1" dirty="0">
                <a:solidFill>
                  <a:srgbClr val="C00000"/>
                </a:solidFill>
              </a:rPr>
              <a:t> Basics</a:t>
            </a:r>
          </a:p>
        </p:txBody>
      </p:sp>
      <p:sp>
        <p:nvSpPr>
          <p:cNvPr id="4" name="Rectangle 3">
            <a:extLst>
              <a:ext uri="{FF2B5EF4-FFF2-40B4-BE49-F238E27FC236}">
                <a16:creationId xmlns:a16="http://schemas.microsoft.com/office/drawing/2014/main" id="{83FB9808-BE3A-9944-0AD1-A6FF313A7F8B}"/>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D002408F-4AC3-4AC7-AED0-A2CB11A6C8B3}"/>
              </a:ext>
            </a:extLst>
          </p:cNvPr>
          <p:cNvSpPr txBox="1"/>
          <p:nvPr/>
        </p:nvSpPr>
        <p:spPr>
          <a:xfrm>
            <a:off x="3980874" y="1229023"/>
            <a:ext cx="6096000" cy="461665"/>
          </a:xfrm>
          <a:prstGeom prst="rect">
            <a:avLst/>
          </a:prstGeom>
          <a:noFill/>
        </p:spPr>
        <p:txBody>
          <a:bodyPr wrap="square">
            <a:spAutoFit/>
          </a:bodyPr>
          <a:lstStyle/>
          <a:p>
            <a:pPr marL="0" indent="0">
              <a:buNone/>
            </a:pPr>
            <a:r>
              <a:rPr lang="en-US" sz="2400" dirty="0"/>
              <a:t>Inline chat &amp; Slash commands</a:t>
            </a:r>
          </a:p>
        </p:txBody>
      </p:sp>
      <p:pic>
        <p:nvPicPr>
          <p:cNvPr id="5" name="Picture 4" descr="A screenshot of a computer program&#10;&#10;AI-generated content may be incorrect.">
            <a:extLst>
              <a:ext uri="{FF2B5EF4-FFF2-40B4-BE49-F238E27FC236}">
                <a16:creationId xmlns:a16="http://schemas.microsoft.com/office/drawing/2014/main" id="{2C0819BF-09FC-1C5E-A737-B789F4FFD734}"/>
              </a:ext>
            </a:extLst>
          </p:cNvPr>
          <p:cNvPicPr>
            <a:picLocks noChangeAspect="1"/>
          </p:cNvPicPr>
          <p:nvPr/>
        </p:nvPicPr>
        <p:blipFill>
          <a:blip r:embed="rId2"/>
          <a:stretch>
            <a:fillRect/>
          </a:stretch>
        </p:blipFill>
        <p:spPr>
          <a:xfrm>
            <a:off x="1629063" y="2214285"/>
            <a:ext cx="3912756" cy="2649445"/>
          </a:xfrm>
          <a:prstGeom prst="rect">
            <a:avLst/>
          </a:prstGeom>
        </p:spPr>
      </p:pic>
      <p:sp>
        <p:nvSpPr>
          <p:cNvPr id="7" name="TextBox 6">
            <a:extLst>
              <a:ext uri="{FF2B5EF4-FFF2-40B4-BE49-F238E27FC236}">
                <a16:creationId xmlns:a16="http://schemas.microsoft.com/office/drawing/2014/main" id="{61AA75B2-91CE-F7CC-D70E-156C91237DBF}"/>
              </a:ext>
            </a:extLst>
          </p:cNvPr>
          <p:cNvSpPr txBox="1"/>
          <p:nvPr/>
        </p:nvSpPr>
        <p:spPr>
          <a:xfrm>
            <a:off x="1302327" y="1787208"/>
            <a:ext cx="5883564" cy="369332"/>
          </a:xfrm>
          <a:prstGeom prst="rect">
            <a:avLst/>
          </a:prstGeom>
          <a:noFill/>
        </p:spPr>
        <p:txBody>
          <a:bodyPr wrap="square" rtlCol="0">
            <a:spAutoFit/>
          </a:bodyPr>
          <a:lstStyle/>
          <a:p>
            <a:r>
              <a:rPr lang="en-US" b="1" dirty="0"/>
              <a:t>Ctrl + I (or Command + I) on selected code.</a:t>
            </a:r>
          </a:p>
        </p:txBody>
      </p:sp>
      <p:sp>
        <p:nvSpPr>
          <p:cNvPr id="9" name="TextBox 8">
            <a:extLst>
              <a:ext uri="{FF2B5EF4-FFF2-40B4-BE49-F238E27FC236}">
                <a16:creationId xmlns:a16="http://schemas.microsoft.com/office/drawing/2014/main" id="{CEB64EF0-7113-5E82-CA61-E1EEA2AA7ACD}"/>
              </a:ext>
            </a:extLst>
          </p:cNvPr>
          <p:cNvSpPr txBox="1"/>
          <p:nvPr/>
        </p:nvSpPr>
        <p:spPr>
          <a:xfrm>
            <a:off x="1521691" y="5275034"/>
            <a:ext cx="4269509" cy="707886"/>
          </a:xfrm>
          <a:prstGeom prst="rect">
            <a:avLst/>
          </a:prstGeom>
          <a:noFill/>
        </p:spPr>
        <p:txBody>
          <a:bodyPr wrap="square" rtlCol="0">
            <a:spAutoFit/>
          </a:bodyPr>
          <a:lstStyle/>
          <a:p>
            <a:r>
              <a:rPr lang="en-US" sz="2000" b="1" dirty="0"/>
              <a:t>Be more specific</a:t>
            </a:r>
            <a:r>
              <a:rPr lang="en-US" sz="2000" dirty="0"/>
              <a:t>: </a:t>
            </a:r>
            <a:r>
              <a:rPr lang="en-US" sz="2000" dirty="0">
                <a:solidFill>
                  <a:srgbClr val="0070C0"/>
                </a:solidFill>
              </a:rPr>
              <a:t>‘/fix the --- error’ </a:t>
            </a:r>
            <a:r>
              <a:rPr lang="en-US" sz="2000" dirty="0"/>
              <a:t>instead of just using </a:t>
            </a:r>
            <a:r>
              <a:rPr lang="en-US" sz="2000" dirty="0">
                <a:solidFill>
                  <a:srgbClr val="C00000"/>
                </a:solidFill>
              </a:rPr>
              <a:t>‘/fix’</a:t>
            </a:r>
            <a:r>
              <a:rPr lang="en-US" sz="2000" dirty="0"/>
              <a:t>.</a:t>
            </a:r>
          </a:p>
        </p:txBody>
      </p:sp>
      <p:pic>
        <p:nvPicPr>
          <p:cNvPr id="11" name="Picture 10" descr="A screenshot of a computer program&#10;&#10;AI-generated content may be incorrect.">
            <a:extLst>
              <a:ext uri="{FF2B5EF4-FFF2-40B4-BE49-F238E27FC236}">
                <a16:creationId xmlns:a16="http://schemas.microsoft.com/office/drawing/2014/main" id="{B24FA8D4-8A7E-134B-7957-71979F754F54}"/>
              </a:ext>
            </a:extLst>
          </p:cNvPr>
          <p:cNvPicPr>
            <a:picLocks noChangeAspect="1"/>
          </p:cNvPicPr>
          <p:nvPr/>
        </p:nvPicPr>
        <p:blipFill>
          <a:blip r:embed="rId3"/>
          <a:stretch>
            <a:fillRect/>
          </a:stretch>
        </p:blipFill>
        <p:spPr>
          <a:xfrm>
            <a:off x="7508008" y="2183333"/>
            <a:ext cx="4071679" cy="4189888"/>
          </a:xfrm>
          <a:prstGeom prst="rect">
            <a:avLst/>
          </a:prstGeom>
        </p:spPr>
      </p:pic>
      <p:sp>
        <p:nvSpPr>
          <p:cNvPr id="12" name="TextBox 11">
            <a:extLst>
              <a:ext uri="{FF2B5EF4-FFF2-40B4-BE49-F238E27FC236}">
                <a16:creationId xmlns:a16="http://schemas.microsoft.com/office/drawing/2014/main" id="{05CF684A-89D4-8EA6-989A-A1AA855BD831}"/>
              </a:ext>
            </a:extLst>
          </p:cNvPr>
          <p:cNvSpPr txBox="1"/>
          <p:nvPr/>
        </p:nvSpPr>
        <p:spPr>
          <a:xfrm>
            <a:off x="7421417" y="1814001"/>
            <a:ext cx="5883564" cy="369332"/>
          </a:xfrm>
          <a:prstGeom prst="rect">
            <a:avLst/>
          </a:prstGeom>
          <a:noFill/>
        </p:spPr>
        <p:txBody>
          <a:bodyPr wrap="square" rtlCol="0">
            <a:spAutoFit/>
          </a:bodyPr>
          <a:lstStyle/>
          <a:p>
            <a:r>
              <a:rPr lang="en-US" b="1" dirty="0"/>
              <a:t>/doc </a:t>
            </a:r>
            <a:r>
              <a:rPr lang="en-US" dirty="0"/>
              <a:t>without context on a random function</a:t>
            </a:r>
          </a:p>
        </p:txBody>
      </p:sp>
      <p:sp>
        <p:nvSpPr>
          <p:cNvPr id="14" name="Slide Number Placeholder 13">
            <a:extLst>
              <a:ext uri="{FF2B5EF4-FFF2-40B4-BE49-F238E27FC236}">
                <a16:creationId xmlns:a16="http://schemas.microsoft.com/office/drawing/2014/main" id="{AA9E8788-DC94-B8E6-919A-EE85AB418D08}"/>
              </a:ext>
            </a:extLst>
          </p:cNvPr>
          <p:cNvSpPr>
            <a:spLocks noGrp="1"/>
          </p:cNvSpPr>
          <p:nvPr>
            <p:ph type="sldNum" sz="quarter" idx="12"/>
          </p:nvPr>
        </p:nvSpPr>
        <p:spPr/>
        <p:txBody>
          <a:bodyPr/>
          <a:lstStyle/>
          <a:p>
            <a:fld id="{56CEE286-4F09-9B46-BB67-7B45305F5676}" type="slidenum">
              <a:rPr lang="en-US" smtClean="0"/>
              <a:t>6</a:t>
            </a:fld>
            <a:endParaRPr lang="en-US"/>
          </a:p>
        </p:txBody>
      </p:sp>
    </p:spTree>
    <p:extLst>
      <p:ext uri="{BB962C8B-B14F-4D97-AF65-F5344CB8AC3E}">
        <p14:creationId xmlns:p14="http://schemas.microsoft.com/office/powerpoint/2010/main" val="386137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214FDEF-FACB-955E-7F1A-994D3BA93AFE}"/>
              </a:ext>
            </a:extLst>
          </p:cNvPr>
          <p:cNvSpPr txBox="1"/>
          <p:nvPr/>
        </p:nvSpPr>
        <p:spPr>
          <a:xfrm>
            <a:off x="1717431" y="4865013"/>
            <a:ext cx="9636369" cy="1524000"/>
          </a:xfrm>
          <a:prstGeom prst="rect">
            <a:avLst/>
          </a:prstGeom>
          <a:noFill/>
          <a:ln>
            <a:solidFill>
              <a:schemeClr val="tx1"/>
            </a:solidFill>
          </a:ln>
        </p:spPr>
        <p:txBody>
          <a:bodyPr wrap="square" rtlCol="0">
            <a:spAutoFit/>
          </a:bodyPr>
          <a:lstStyle/>
          <a:p>
            <a:endParaRPr lang="en-US" dirty="0"/>
          </a:p>
        </p:txBody>
      </p:sp>
      <p:sp>
        <p:nvSpPr>
          <p:cNvPr id="16" name="TextBox 15">
            <a:extLst>
              <a:ext uri="{FF2B5EF4-FFF2-40B4-BE49-F238E27FC236}">
                <a16:creationId xmlns:a16="http://schemas.microsoft.com/office/drawing/2014/main" id="{112ADF1F-DBA2-7A11-FE5D-9DFBA315C74D}"/>
              </a:ext>
            </a:extLst>
          </p:cNvPr>
          <p:cNvSpPr txBox="1"/>
          <p:nvPr/>
        </p:nvSpPr>
        <p:spPr>
          <a:xfrm>
            <a:off x="1828800" y="1898158"/>
            <a:ext cx="7526216" cy="2301846"/>
          </a:xfrm>
          <a:prstGeom prst="rect">
            <a:avLst/>
          </a:prstGeom>
          <a:noFill/>
          <a:ln>
            <a:solidFill>
              <a:schemeClr val="tx1"/>
            </a:solidFill>
          </a:ln>
        </p:spPr>
        <p:txBody>
          <a:bodyPr wrap="square" rtlCol="0">
            <a:spAutoFit/>
          </a:bodyPr>
          <a:lstStyle/>
          <a:p>
            <a:endParaRPr lang="en-US" dirty="0"/>
          </a:p>
        </p:txBody>
      </p:sp>
      <p:sp>
        <p:nvSpPr>
          <p:cNvPr id="2" name="Title 1">
            <a:extLst>
              <a:ext uri="{FF2B5EF4-FFF2-40B4-BE49-F238E27FC236}">
                <a16:creationId xmlns:a16="http://schemas.microsoft.com/office/drawing/2014/main" id="{FD6BA2A1-9822-2C99-5361-65631C0F2FE1}"/>
              </a:ext>
            </a:extLst>
          </p:cNvPr>
          <p:cNvSpPr>
            <a:spLocks noGrp="1"/>
          </p:cNvSpPr>
          <p:nvPr>
            <p:ph type="title"/>
          </p:nvPr>
        </p:nvSpPr>
        <p:spPr/>
        <p:txBody>
          <a:bodyPr/>
          <a:lstStyle/>
          <a:p>
            <a:pPr algn="ctr"/>
            <a:r>
              <a:rPr lang="en-US" b="1" dirty="0">
                <a:solidFill>
                  <a:srgbClr val="C00000"/>
                </a:solidFill>
              </a:rPr>
              <a:t>Copilot CLI on Terminal</a:t>
            </a:r>
            <a:endParaRPr lang="en-US" dirty="0"/>
          </a:p>
        </p:txBody>
      </p:sp>
      <p:pic>
        <p:nvPicPr>
          <p:cNvPr id="10" name="Content Placeholder 9" descr="A blue and white pixelated text&#10;&#10;AI-generated content may be incorrect.">
            <a:extLst>
              <a:ext uri="{FF2B5EF4-FFF2-40B4-BE49-F238E27FC236}">
                <a16:creationId xmlns:a16="http://schemas.microsoft.com/office/drawing/2014/main" id="{2717B3FB-9DF0-D1AE-8674-DE25CC41D95D}"/>
              </a:ext>
            </a:extLst>
          </p:cNvPr>
          <p:cNvPicPr>
            <a:picLocks noGrp="1" noChangeAspect="1"/>
          </p:cNvPicPr>
          <p:nvPr>
            <p:ph idx="1"/>
          </p:nvPr>
        </p:nvPicPr>
        <p:blipFill>
          <a:blip r:embed="rId2"/>
          <a:stretch>
            <a:fillRect/>
          </a:stretch>
        </p:blipFill>
        <p:spPr>
          <a:xfrm>
            <a:off x="7558228" y="5110680"/>
            <a:ext cx="3795572" cy="998475"/>
          </a:xfrm>
        </p:spPr>
      </p:pic>
      <p:sp>
        <p:nvSpPr>
          <p:cNvPr id="8" name="Rectangle 7">
            <a:extLst>
              <a:ext uri="{FF2B5EF4-FFF2-40B4-BE49-F238E27FC236}">
                <a16:creationId xmlns:a16="http://schemas.microsoft.com/office/drawing/2014/main" id="{5C7E8098-1BC4-278F-9789-5728725E21CF}"/>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2" name="Picture 11" descr="A black background with green lights&#10;&#10;AI-generated content may be incorrect.">
            <a:extLst>
              <a:ext uri="{FF2B5EF4-FFF2-40B4-BE49-F238E27FC236}">
                <a16:creationId xmlns:a16="http://schemas.microsoft.com/office/drawing/2014/main" id="{3778D417-1247-43B1-FBD6-79764917C0D2}"/>
              </a:ext>
            </a:extLst>
          </p:cNvPr>
          <p:cNvPicPr>
            <a:picLocks noChangeAspect="1"/>
          </p:cNvPicPr>
          <p:nvPr/>
        </p:nvPicPr>
        <p:blipFill>
          <a:blip r:embed="rId3"/>
          <a:srcRect t="30506" r="59979" b="42438"/>
          <a:stretch>
            <a:fillRect/>
          </a:stretch>
        </p:blipFill>
        <p:spPr>
          <a:xfrm>
            <a:off x="4091861" y="2070904"/>
            <a:ext cx="3555983" cy="654292"/>
          </a:xfrm>
          <a:prstGeom prst="rect">
            <a:avLst/>
          </a:prstGeom>
        </p:spPr>
      </p:pic>
      <p:pic>
        <p:nvPicPr>
          <p:cNvPr id="14" name="Picture 13">
            <a:extLst>
              <a:ext uri="{FF2B5EF4-FFF2-40B4-BE49-F238E27FC236}">
                <a16:creationId xmlns:a16="http://schemas.microsoft.com/office/drawing/2014/main" id="{6FDBD0AE-98DB-733D-2A06-0E60A83C01FF}"/>
              </a:ext>
            </a:extLst>
          </p:cNvPr>
          <p:cNvPicPr>
            <a:picLocks noChangeAspect="1"/>
          </p:cNvPicPr>
          <p:nvPr/>
        </p:nvPicPr>
        <p:blipFill>
          <a:blip r:embed="rId4"/>
          <a:stretch>
            <a:fillRect/>
          </a:stretch>
        </p:blipFill>
        <p:spPr>
          <a:xfrm>
            <a:off x="6020779" y="3357228"/>
            <a:ext cx="2944937" cy="599412"/>
          </a:xfrm>
          <a:prstGeom prst="rect">
            <a:avLst/>
          </a:prstGeom>
        </p:spPr>
      </p:pic>
      <p:pic>
        <p:nvPicPr>
          <p:cNvPr id="15" name="Picture 14" descr="A black background with green lights&#10;&#10;AI-generated content may be incorrect.">
            <a:extLst>
              <a:ext uri="{FF2B5EF4-FFF2-40B4-BE49-F238E27FC236}">
                <a16:creationId xmlns:a16="http://schemas.microsoft.com/office/drawing/2014/main" id="{738F71BC-F19C-DFDD-F702-49E9FD774413}"/>
              </a:ext>
            </a:extLst>
          </p:cNvPr>
          <p:cNvPicPr>
            <a:picLocks noChangeAspect="1"/>
          </p:cNvPicPr>
          <p:nvPr/>
        </p:nvPicPr>
        <p:blipFill>
          <a:blip r:embed="rId3"/>
          <a:srcRect r="59979" b="65698"/>
          <a:stretch>
            <a:fillRect/>
          </a:stretch>
        </p:blipFill>
        <p:spPr>
          <a:xfrm>
            <a:off x="2128471" y="3321800"/>
            <a:ext cx="2804745" cy="654292"/>
          </a:xfrm>
          <a:prstGeom prst="rect">
            <a:avLst/>
          </a:prstGeom>
        </p:spPr>
      </p:pic>
      <p:sp>
        <p:nvSpPr>
          <p:cNvPr id="17" name="TextBox 16">
            <a:extLst>
              <a:ext uri="{FF2B5EF4-FFF2-40B4-BE49-F238E27FC236}">
                <a16:creationId xmlns:a16="http://schemas.microsoft.com/office/drawing/2014/main" id="{0503011C-6E5A-C2F5-F16B-97100F2A124D}"/>
              </a:ext>
            </a:extLst>
          </p:cNvPr>
          <p:cNvSpPr txBox="1"/>
          <p:nvPr/>
        </p:nvSpPr>
        <p:spPr>
          <a:xfrm>
            <a:off x="2128471" y="3044801"/>
            <a:ext cx="2705831" cy="276999"/>
          </a:xfrm>
          <a:prstGeom prst="rect">
            <a:avLst/>
          </a:prstGeom>
          <a:noFill/>
        </p:spPr>
        <p:txBody>
          <a:bodyPr wrap="square" rtlCol="0">
            <a:spAutoFit/>
          </a:bodyPr>
          <a:lstStyle/>
          <a:p>
            <a:r>
              <a:rPr lang="en-US" sz="1200" b="1" dirty="0" err="1"/>
              <a:t>npm</a:t>
            </a:r>
            <a:r>
              <a:rPr lang="en-US" sz="1200" b="1" dirty="0"/>
              <a:t> on </a:t>
            </a:r>
            <a:r>
              <a:rPr lang="en-US" sz="1200" b="1" dirty="0" err="1"/>
              <a:t>MacOs</a:t>
            </a:r>
            <a:endParaRPr lang="en-US" sz="1200" b="1" dirty="0"/>
          </a:p>
        </p:txBody>
      </p:sp>
      <p:sp>
        <p:nvSpPr>
          <p:cNvPr id="18" name="TextBox 17">
            <a:extLst>
              <a:ext uri="{FF2B5EF4-FFF2-40B4-BE49-F238E27FC236}">
                <a16:creationId xmlns:a16="http://schemas.microsoft.com/office/drawing/2014/main" id="{06D13195-8D90-994D-DAEA-156378C09CDF}"/>
              </a:ext>
            </a:extLst>
          </p:cNvPr>
          <p:cNvSpPr txBox="1"/>
          <p:nvPr/>
        </p:nvSpPr>
        <p:spPr>
          <a:xfrm>
            <a:off x="6069989" y="3044801"/>
            <a:ext cx="2705831" cy="276999"/>
          </a:xfrm>
          <a:prstGeom prst="rect">
            <a:avLst/>
          </a:prstGeom>
          <a:noFill/>
        </p:spPr>
        <p:txBody>
          <a:bodyPr wrap="square" rtlCol="0">
            <a:spAutoFit/>
          </a:bodyPr>
          <a:lstStyle/>
          <a:p>
            <a:r>
              <a:rPr lang="en-US" sz="1200" b="1" dirty="0" err="1"/>
              <a:t>npm</a:t>
            </a:r>
            <a:r>
              <a:rPr lang="en-US" sz="1200" b="1" dirty="0"/>
              <a:t> on Linux</a:t>
            </a:r>
          </a:p>
        </p:txBody>
      </p:sp>
      <p:sp>
        <p:nvSpPr>
          <p:cNvPr id="19" name="TextBox 18">
            <a:extLst>
              <a:ext uri="{FF2B5EF4-FFF2-40B4-BE49-F238E27FC236}">
                <a16:creationId xmlns:a16="http://schemas.microsoft.com/office/drawing/2014/main" id="{594D8A57-0806-8B0E-4B99-D25EC74EBC46}"/>
              </a:ext>
            </a:extLst>
          </p:cNvPr>
          <p:cNvSpPr txBox="1"/>
          <p:nvPr/>
        </p:nvSpPr>
        <p:spPr>
          <a:xfrm>
            <a:off x="923924" y="1369024"/>
            <a:ext cx="4009292" cy="461665"/>
          </a:xfrm>
          <a:prstGeom prst="rect">
            <a:avLst/>
          </a:prstGeom>
          <a:noFill/>
        </p:spPr>
        <p:txBody>
          <a:bodyPr wrap="square" rtlCol="0">
            <a:spAutoFit/>
          </a:bodyPr>
          <a:lstStyle/>
          <a:p>
            <a:r>
              <a:rPr lang="en-US" sz="2400" b="1" dirty="0"/>
              <a:t>Installation</a:t>
            </a:r>
          </a:p>
        </p:txBody>
      </p:sp>
      <p:pic>
        <p:nvPicPr>
          <p:cNvPr id="21" name="Picture 20">
            <a:extLst>
              <a:ext uri="{FF2B5EF4-FFF2-40B4-BE49-F238E27FC236}">
                <a16:creationId xmlns:a16="http://schemas.microsoft.com/office/drawing/2014/main" id="{F5483EA8-4E7B-6691-3ECE-BB2702D7FDE3}"/>
              </a:ext>
            </a:extLst>
          </p:cNvPr>
          <p:cNvPicPr>
            <a:picLocks noChangeAspect="1"/>
          </p:cNvPicPr>
          <p:nvPr/>
        </p:nvPicPr>
        <p:blipFill>
          <a:blip r:embed="rId5"/>
          <a:stretch>
            <a:fillRect/>
          </a:stretch>
        </p:blipFill>
        <p:spPr>
          <a:xfrm>
            <a:off x="1828800" y="5179336"/>
            <a:ext cx="5211821" cy="998475"/>
          </a:xfrm>
          <a:prstGeom prst="rect">
            <a:avLst/>
          </a:prstGeom>
        </p:spPr>
      </p:pic>
      <p:pic>
        <p:nvPicPr>
          <p:cNvPr id="23" name="Picture 22">
            <a:extLst>
              <a:ext uri="{FF2B5EF4-FFF2-40B4-BE49-F238E27FC236}">
                <a16:creationId xmlns:a16="http://schemas.microsoft.com/office/drawing/2014/main" id="{46EEB113-AB4F-6C9C-4689-5261F3E92F90}"/>
              </a:ext>
            </a:extLst>
          </p:cNvPr>
          <p:cNvPicPr>
            <a:picLocks noChangeAspect="1"/>
          </p:cNvPicPr>
          <p:nvPr/>
        </p:nvPicPr>
        <p:blipFill>
          <a:blip r:embed="rId6"/>
          <a:stretch>
            <a:fillRect/>
          </a:stretch>
        </p:blipFill>
        <p:spPr>
          <a:xfrm>
            <a:off x="1828800" y="5008245"/>
            <a:ext cx="3022600" cy="228600"/>
          </a:xfrm>
          <a:prstGeom prst="rect">
            <a:avLst/>
          </a:prstGeom>
        </p:spPr>
      </p:pic>
      <p:cxnSp>
        <p:nvCxnSpPr>
          <p:cNvPr id="25" name="Straight Arrow Connector 24">
            <a:extLst>
              <a:ext uri="{FF2B5EF4-FFF2-40B4-BE49-F238E27FC236}">
                <a16:creationId xmlns:a16="http://schemas.microsoft.com/office/drawing/2014/main" id="{01E2B718-6353-27A0-9511-C19F916908A4}"/>
              </a:ext>
            </a:extLst>
          </p:cNvPr>
          <p:cNvCxnSpPr/>
          <p:nvPr/>
        </p:nvCxnSpPr>
        <p:spPr>
          <a:xfrm>
            <a:off x="7040621" y="5582661"/>
            <a:ext cx="3538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56185CAD-1F9A-5F7D-53D7-B1D7F2EE1386}"/>
              </a:ext>
            </a:extLst>
          </p:cNvPr>
          <p:cNvSpPr txBox="1"/>
          <p:nvPr/>
        </p:nvSpPr>
        <p:spPr>
          <a:xfrm>
            <a:off x="825010" y="4288776"/>
            <a:ext cx="4009292" cy="461665"/>
          </a:xfrm>
          <a:prstGeom prst="rect">
            <a:avLst/>
          </a:prstGeom>
          <a:noFill/>
        </p:spPr>
        <p:txBody>
          <a:bodyPr wrap="square" rtlCol="0">
            <a:spAutoFit/>
          </a:bodyPr>
          <a:lstStyle/>
          <a:p>
            <a:r>
              <a:rPr lang="en-US" sz="2400" b="1" dirty="0"/>
              <a:t>Login using </a:t>
            </a:r>
            <a:r>
              <a:rPr lang="en-US" sz="2400" b="1" dirty="0" err="1"/>
              <a:t>github</a:t>
            </a:r>
            <a:r>
              <a:rPr lang="en-US" sz="2400" b="1" dirty="0"/>
              <a:t> account</a:t>
            </a:r>
          </a:p>
        </p:txBody>
      </p:sp>
      <p:sp>
        <p:nvSpPr>
          <p:cNvPr id="30" name="Slide Number Placeholder 29">
            <a:extLst>
              <a:ext uri="{FF2B5EF4-FFF2-40B4-BE49-F238E27FC236}">
                <a16:creationId xmlns:a16="http://schemas.microsoft.com/office/drawing/2014/main" id="{9EDFBA22-4976-862D-C3D1-036100D60291}"/>
              </a:ext>
            </a:extLst>
          </p:cNvPr>
          <p:cNvSpPr>
            <a:spLocks noGrp="1"/>
          </p:cNvSpPr>
          <p:nvPr>
            <p:ph type="sldNum" sz="quarter" idx="12"/>
          </p:nvPr>
        </p:nvSpPr>
        <p:spPr/>
        <p:txBody>
          <a:bodyPr/>
          <a:lstStyle/>
          <a:p>
            <a:fld id="{56CEE286-4F09-9B46-BB67-7B45305F5676}" type="slidenum">
              <a:rPr lang="en-US" smtClean="0"/>
              <a:t>7</a:t>
            </a:fld>
            <a:endParaRPr lang="en-US"/>
          </a:p>
        </p:txBody>
      </p:sp>
    </p:spTree>
    <p:extLst>
      <p:ext uri="{BB962C8B-B14F-4D97-AF65-F5344CB8AC3E}">
        <p14:creationId xmlns:p14="http://schemas.microsoft.com/office/powerpoint/2010/main" val="131342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CC0EDA-9570-5C49-BBA5-F447BDBCF441}"/>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6EEE4FF7-B3A8-6C9C-C331-D820A7FDEA38}"/>
              </a:ext>
            </a:extLst>
          </p:cNvPr>
          <p:cNvSpPr txBox="1"/>
          <p:nvPr/>
        </p:nvSpPr>
        <p:spPr>
          <a:xfrm>
            <a:off x="762000" y="1492956"/>
            <a:ext cx="10667999" cy="2787751"/>
          </a:xfrm>
          <a:prstGeom prst="rect">
            <a:avLst/>
          </a:prstGeom>
          <a:solidFill>
            <a:schemeClr val="accent2">
              <a:lumMod val="20000"/>
              <a:lumOff val="80000"/>
            </a:schemeClr>
          </a:solidFill>
          <a:ln>
            <a:solidFill>
              <a:schemeClr val="tx1"/>
            </a:solidFill>
          </a:ln>
        </p:spPr>
        <p:txBody>
          <a:bodyPr wrap="square">
            <a:spAutoFit/>
          </a:bodyPr>
          <a:lstStyle/>
          <a:p>
            <a:pPr algn="ctr"/>
            <a:r>
              <a:rPr lang="en-US" sz="3600" i="0" u="none" strike="noStrike" dirty="0">
                <a:effectLst/>
              </a:rPr>
              <a:t>Warning</a:t>
            </a:r>
          </a:p>
          <a:p>
            <a:pPr marL="285750" indent="-285750" algn="l" rtl="0">
              <a:lnSpc>
                <a:spcPct val="200000"/>
              </a:lnSpc>
              <a:buFont typeface="Arial" panose="020B0604020202020204" pitchFamily="34" charset="0"/>
              <a:buChar char="•"/>
            </a:pPr>
            <a:r>
              <a:rPr lang="en-US" dirty="0">
                <a:solidFill>
                  <a:srgbClr val="1F2328"/>
                </a:solidFill>
              </a:rPr>
              <a:t>O</a:t>
            </a:r>
            <a:r>
              <a:rPr lang="en-US" b="0" i="0" u="none" strike="noStrike" dirty="0">
                <a:solidFill>
                  <a:srgbClr val="1F2328"/>
                </a:solidFill>
                <a:effectLst/>
              </a:rPr>
              <a:t>nly launch Copilot CLI from directories that you trust. </a:t>
            </a:r>
          </a:p>
          <a:p>
            <a:pPr marL="285750" indent="-285750" algn="l" rtl="0">
              <a:lnSpc>
                <a:spcPct val="200000"/>
              </a:lnSpc>
              <a:buFont typeface="Arial" panose="020B0604020202020204" pitchFamily="34" charset="0"/>
              <a:buChar char="•"/>
            </a:pPr>
            <a:r>
              <a:rPr lang="en-US" b="0" i="0" u="none" strike="noStrike" dirty="0">
                <a:solidFill>
                  <a:srgbClr val="1F2328"/>
                </a:solidFill>
                <a:effectLst/>
              </a:rPr>
              <a:t>CLI from a directory  with sensitive or confidential data, or files you don't want to be changed, you could expose those files to risk. </a:t>
            </a:r>
          </a:p>
          <a:p>
            <a:pPr marL="285750" indent="-285750" algn="l" rtl="0">
              <a:lnSpc>
                <a:spcPct val="200000"/>
              </a:lnSpc>
              <a:buFont typeface="Arial" panose="020B0604020202020204" pitchFamily="34" charset="0"/>
              <a:buChar char="•"/>
            </a:pPr>
            <a:r>
              <a:rPr lang="en-US" b="1" i="0" u="none" strike="noStrike" dirty="0">
                <a:effectLst/>
              </a:rPr>
              <a:t>Should not launch Copilot CLI from your home directory.</a:t>
            </a:r>
          </a:p>
        </p:txBody>
      </p:sp>
      <p:pic>
        <p:nvPicPr>
          <p:cNvPr id="6" name="Content Placeholder 4" descr="A screenshot of a computer&#10;&#10;AI-generated content may be incorrect.">
            <a:extLst>
              <a:ext uri="{FF2B5EF4-FFF2-40B4-BE49-F238E27FC236}">
                <a16:creationId xmlns:a16="http://schemas.microsoft.com/office/drawing/2014/main" id="{7E030F50-283E-9BC7-7AAA-A20728DBB26B}"/>
              </a:ext>
            </a:extLst>
          </p:cNvPr>
          <p:cNvPicPr>
            <a:picLocks noGrp="1" noChangeAspect="1"/>
          </p:cNvPicPr>
          <p:nvPr>
            <p:ph idx="1"/>
          </p:nvPr>
        </p:nvPicPr>
        <p:blipFill>
          <a:blip r:embed="rId2"/>
          <a:stretch>
            <a:fillRect/>
          </a:stretch>
        </p:blipFill>
        <p:spPr>
          <a:xfrm>
            <a:off x="762000" y="4920588"/>
            <a:ext cx="10667999" cy="1496931"/>
          </a:xfrm>
        </p:spPr>
      </p:pic>
      <p:sp>
        <p:nvSpPr>
          <p:cNvPr id="12" name="TextBox 11">
            <a:extLst>
              <a:ext uri="{FF2B5EF4-FFF2-40B4-BE49-F238E27FC236}">
                <a16:creationId xmlns:a16="http://schemas.microsoft.com/office/drawing/2014/main" id="{67F64207-B0BF-FB25-9763-B739A9D5C00F}"/>
              </a:ext>
            </a:extLst>
          </p:cNvPr>
          <p:cNvSpPr txBox="1"/>
          <p:nvPr/>
        </p:nvSpPr>
        <p:spPr>
          <a:xfrm>
            <a:off x="2882588" y="557564"/>
            <a:ext cx="8547411" cy="769441"/>
          </a:xfrm>
          <a:prstGeom prst="rect">
            <a:avLst/>
          </a:prstGeom>
          <a:noFill/>
        </p:spPr>
        <p:txBody>
          <a:bodyPr wrap="square">
            <a:spAutoFit/>
          </a:bodyPr>
          <a:lstStyle/>
          <a:p>
            <a:r>
              <a:rPr lang="en-US" sz="4400" b="1" dirty="0">
                <a:solidFill>
                  <a:srgbClr val="C00000"/>
                </a:solidFill>
              </a:rPr>
              <a:t>Copilot CLI: Trusted directories </a:t>
            </a:r>
          </a:p>
        </p:txBody>
      </p:sp>
      <p:sp>
        <p:nvSpPr>
          <p:cNvPr id="14" name="Slide Number Placeholder 13">
            <a:extLst>
              <a:ext uri="{FF2B5EF4-FFF2-40B4-BE49-F238E27FC236}">
                <a16:creationId xmlns:a16="http://schemas.microsoft.com/office/drawing/2014/main" id="{0E5E8227-AA06-998D-1791-97E8DA88BC74}"/>
              </a:ext>
            </a:extLst>
          </p:cNvPr>
          <p:cNvSpPr>
            <a:spLocks noGrp="1"/>
          </p:cNvSpPr>
          <p:nvPr>
            <p:ph type="sldNum" sz="quarter" idx="12"/>
          </p:nvPr>
        </p:nvSpPr>
        <p:spPr/>
        <p:txBody>
          <a:bodyPr/>
          <a:lstStyle/>
          <a:p>
            <a:fld id="{56CEE286-4F09-9B46-BB67-7B45305F5676}" type="slidenum">
              <a:rPr lang="en-US" smtClean="0"/>
              <a:t>8</a:t>
            </a:fld>
            <a:endParaRPr lang="en-US"/>
          </a:p>
        </p:txBody>
      </p:sp>
    </p:spTree>
    <p:extLst>
      <p:ext uri="{BB962C8B-B14F-4D97-AF65-F5344CB8AC3E}">
        <p14:creationId xmlns:p14="http://schemas.microsoft.com/office/powerpoint/2010/main" val="168324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7B7B-66CF-F215-095B-4C2CAED52C71}"/>
              </a:ext>
            </a:extLst>
          </p:cNvPr>
          <p:cNvSpPr>
            <a:spLocks noGrp="1"/>
          </p:cNvSpPr>
          <p:nvPr>
            <p:ph type="title"/>
          </p:nvPr>
        </p:nvSpPr>
        <p:spPr>
          <a:xfrm>
            <a:off x="838200" y="481332"/>
            <a:ext cx="10515600" cy="1325563"/>
          </a:xfrm>
        </p:spPr>
        <p:txBody>
          <a:bodyPr>
            <a:normAutofit fontScale="90000"/>
          </a:bodyPr>
          <a:lstStyle/>
          <a:p>
            <a:pPr algn="ctr"/>
            <a:r>
              <a:rPr lang="en-US" b="1" dirty="0">
                <a:solidFill>
                  <a:srgbClr val="C00000"/>
                </a:solidFill>
              </a:rPr>
              <a:t>Copilot CLI : Allowed Tools</a:t>
            </a:r>
            <a:br>
              <a:rPr lang="en-US" b="1" dirty="0">
                <a:solidFill>
                  <a:srgbClr val="C00000"/>
                </a:solidFill>
              </a:rPr>
            </a:br>
            <a:r>
              <a:rPr lang="en-US" sz="2200" b="0" i="0" u="none" strike="noStrike" dirty="0">
                <a:solidFill>
                  <a:srgbClr val="1F2328"/>
                </a:solidFill>
                <a:effectLst/>
                <a:latin typeface="-apple-system"/>
              </a:rPr>
              <a:t>Copilot asks for permission first time a tool is used.</a:t>
            </a:r>
            <a:br>
              <a:rPr lang="en-US" dirty="0"/>
            </a:br>
            <a:endParaRPr lang="en-US" b="1" dirty="0">
              <a:solidFill>
                <a:srgbClr val="C00000"/>
              </a:solidFill>
            </a:endParaRPr>
          </a:p>
        </p:txBody>
      </p:sp>
      <p:pic>
        <p:nvPicPr>
          <p:cNvPr id="7" name="Picture 6">
            <a:extLst>
              <a:ext uri="{FF2B5EF4-FFF2-40B4-BE49-F238E27FC236}">
                <a16:creationId xmlns:a16="http://schemas.microsoft.com/office/drawing/2014/main" id="{2FF2ED0A-9F82-4DBF-5A64-9D590EA61840}"/>
              </a:ext>
            </a:extLst>
          </p:cNvPr>
          <p:cNvPicPr>
            <a:picLocks noChangeAspect="1"/>
          </p:cNvPicPr>
          <p:nvPr/>
        </p:nvPicPr>
        <p:blipFill>
          <a:blip r:embed="rId2"/>
          <a:stretch>
            <a:fillRect/>
          </a:stretch>
        </p:blipFill>
        <p:spPr>
          <a:xfrm>
            <a:off x="605401" y="2902657"/>
            <a:ext cx="4714744" cy="3043296"/>
          </a:xfrm>
          <a:prstGeom prst="rect">
            <a:avLst/>
          </a:prstGeom>
          <a:ln>
            <a:solidFill>
              <a:schemeClr val="tx1"/>
            </a:solidFill>
          </a:ln>
        </p:spPr>
      </p:pic>
      <p:sp>
        <p:nvSpPr>
          <p:cNvPr id="8" name="Rectangle 7">
            <a:extLst>
              <a:ext uri="{FF2B5EF4-FFF2-40B4-BE49-F238E27FC236}">
                <a16:creationId xmlns:a16="http://schemas.microsoft.com/office/drawing/2014/main" id="{2F8633C6-3B1B-420D-293B-41F03114171E}"/>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4" name="Picture 13" descr="A screenshot of a computer program&#10;&#10;AI-generated content may be incorrect.">
            <a:extLst>
              <a:ext uri="{FF2B5EF4-FFF2-40B4-BE49-F238E27FC236}">
                <a16:creationId xmlns:a16="http://schemas.microsoft.com/office/drawing/2014/main" id="{8E764458-F441-3161-997F-6E5E0AC35F3B}"/>
              </a:ext>
            </a:extLst>
          </p:cNvPr>
          <p:cNvPicPr>
            <a:picLocks noChangeAspect="1"/>
          </p:cNvPicPr>
          <p:nvPr/>
        </p:nvPicPr>
        <p:blipFill>
          <a:blip r:embed="rId3"/>
          <a:stretch>
            <a:fillRect/>
          </a:stretch>
        </p:blipFill>
        <p:spPr>
          <a:xfrm>
            <a:off x="6017133" y="2878104"/>
            <a:ext cx="5842357" cy="3092402"/>
          </a:xfrm>
          <a:prstGeom prst="rect">
            <a:avLst/>
          </a:prstGeom>
          <a:ln>
            <a:solidFill>
              <a:schemeClr val="tx1"/>
            </a:solidFill>
          </a:ln>
        </p:spPr>
      </p:pic>
      <p:sp>
        <p:nvSpPr>
          <p:cNvPr id="17" name="TextBox 16">
            <a:extLst>
              <a:ext uri="{FF2B5EF4-FFF2-40B4-BE49-F238E27FC236}">
                <a16:creationId xmlns:a16="http://schemas.microsoft.com/office/drawing/2014/main" id="{A73A9FEC-4D21-5DA7-7AED-81531C46E202}"/>
              </a:ext>
            </a:extLst>
          </p:cNvPr>
          <p:cNvSpPr txBox="1"/>
          <p:nvPr/>
        </p:nvSpPr>
        <p:spPr>
          <a:xfrm>
            <a:off x="1995054" y="1464724"/>
            <a:ext cx="9864436" cy="369332"/>
          </a:xfrm>
          <a:prstGeom prst="rect">
            <a:avLst/>
          </a:prstGeom>
          <a:noFill/>
        </p:spPr>
        <p:txBody>
          <a:bodyPr wrap="square" rtlCol="0">
            <a:spAutoFit/>
          </a:bodyPr>
          <a:lstStyle/>
          <a:p>
            <a:r>
              <a:rPr lang="en-US" dirty="0">
                <a:solidFill>
                  <a:srgbClr val="C00000"/>
                </a:solidFill>
              </a:rPr>
              <a:t>Caution when running Yes, and approve ’tool’ for the rest of the running session</a:t>
            </a:r>
          </a:p>
        </p:txBody>
      </p:sp>
      <p:sp>
        <p:nvSpPr>
          <p:cNvPr id="18" name="TextBox 17">
            <a:extLst>
              <a:ext uri="{FF2B5EF4-FFF2-40B4-BE49-F238E27FC236}">
                <a16:creationId xmlns:a16="http://schemas.microsoft.com/office/drawing/2014/main" id="{466CB0C6-75FD-03ED-D08B-BF595A64461A}"/>
              </a:ext>
            </a:extLst>
          </p:cNvPr>
          <p:cNvSpPr txBox="1"/>
          <p:nvPr/>
        </p:nvSpPr>
        <p:spPr>
          <a:xfrm>
            <a:off x="1422400" y="2424917"/>
            <a:ext cx="3897745" cy="378900"/>
          </a:xfrm>
          <a:prstGeom prst="rect">
            <a:avLst/>
          </a:prstGeom>
          <a:noFill/>
        </p:spPr>
        <p:txBody>
          <a:bodyPr wrap="square" rtlCol="0">
            <a:spAutoFit/>
          </a:bodyPr>
          <a:lstStyle/>
          <a:p>
            <a:r>
              <a:rPr lang="en-US" dirty="0"/>
              <a:t>Creates and runs a python script</a:t>
            </a:r>
          </a:p>
        </p:txBody>
      </p:sp>
      <p:sp>
        <p:nvSpPr>
          <p:cNvPr id="19" name="TextBox 18">
            <a:extLst>
              <a:ext uri="{FF2B5EF4-FFF2-40B4-BE49-F238E27FC236}">
                <a16:creationId xmlns:a16="http://schemas.microsoft.com/office/drawing/2014/main" id="{9EDE7EB7-A651-4142-6A9C-D426F565B3F6}"/>
              </a:ext>
            </a:extLst>
          </p:cNvPr>
          <p:cNvSpPr txBox="1"/>
          <p:nvPr/>
        </p:nvSpPr>
        <p:spPr>
          <a:xfrm>
            <a:off x="7657225" y="2408741"/>
            <a:ext cx="3897745" cy="378900"/>
          </a:xfrm>
          <a:prstGeom prst="rect">
            <a:avLst/>
          </a:prstGeom>
          <a:noFill/>
        </p:spPr>
        <p:txBody>
          <a:bodyPr wrap="square" rtlCol="0">
            <a:spAutoFit/>
          </a:bodyPr>
          <a:lstStyle/>
          <a:p>
            <a:r>
              <a:rPr lang="en-US" dirty="0"/>
              <a:t>Remove some file</a:t>
            </a:r>
          </a:p>
        </p:txBody>
      </p:sp>
      <p:sp>
        <p:nvSpPr>
          <p:cNvPr id="20" name="TextBox 19">
            <a:extLst>
              <a:ext uri="{FF2B5EF4-FFF2-40B4-BE49-F238E27FC236}">
                <a16:creationId xmlns:a16="http://schemas.microsoft.com/office/drawing/2014/main" id="{77E01DBF-79E7-CB27-9DB5-F4AB98F8EBC8}"/>
              </a:ext>
            </a:extLst>
          </p:cNvPr>
          <p:cNvSpPr txBox="1"/>
          <p:nvPr/>
        </p:nvSpPr>
        <p:spPr>
          <a:xfrm>
            <a:off x="4035894" y="1931240"/>
            <a:ext cx="5458691" cy="369332"/>
          </a:xfrm>
          <a:prstGeom prst="rect">
            <a:avLst/>
          </a:prstGeom>
          <a:noFill/>
        </p:spPr>
        <p:txBody>
          <a:bodyPr wrap="square" rtlCol="0">
            <a:spAutoFit/>
          </a:bodyPr>
          <a:lstStyle/>
          <a:p>
            <a:r>
              <a:rPr lang="en-US" b="1" dirty="0"/>
              <a:t>Some examples on first time usage</a:t>
            </a:r>
          </a:p>
        </p:txBody>
      </p:sp>
      <p:sp>
        <p:nvSpPr>
          <p:cNvPr id="22" name="Slide Number Placeholder 21">
            <a:extLst>
              <a:ext uri="{FF2B5EF4-FFF2-40B4-BE49-F238E27FC236}">
                <a16:creationId xmlns:a16="http://schemas.microsoft.com/office/drawing/2014/main" id="{916FBDFE-1F86-10FE-0FA1-27BF289D8ED6}"/>
              </a:ext>
            </a:extLst>
          </p:cNvPr>
          <p:cNvSpPr>
            <a:spLocks noGrp="1"/>
          </p:cNvSpPr>
          <p:nvPr>
            <p:ph type="sldNum" sz="quarter" idx="12"/>
          </p:nvPr>
        </p:nvSpPr>
        <p:spPr/>
        <p:txBody>
          <a:bodyPr/>
          <a:lstStyle/>
          <a:p>
            <a:fld id="{56CEE286-4F09-9B46-BB67-7B45305F5676}" type="slidenum">
              <a:rPr lang="en-US" smtClean="0"/>
              <a:t>9</a:t>
            </a:fld>
            <a:endParaRPr lang="en-US"/>
          </a:p>
        </p:txBody>
      </p:sp>
    </p:spTree>
    <p:extLst>
      <p:ext uri="{BB962C8B-B14F-4D97-AF65-F5344CB8AC3E}">
        <p14:creationId xmlns:p14="http://schemas.microsoft.com/office/powerpoint/2010/main" val="2999414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E05F99B-799B-0911-80A4-FF5A53762D8E}"/>
              </a:ext>
            </a:extLst>
          </p:cNvPr>
          <p:cNvSpPr txBox="1">
            <a:spLocks/>
          </p:cNvSpPr>
          <p:nvPr/>
        </p:nvSpPr>
        <p:spPr>
          <a:xfrm>
            <a:off x="990600" y="517525"/>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00000"/>
                </a:solidFill>
              </a:rPr>
              <a:t>Copilot CLI: Slash commands</a:t>
            </a:r>
            <a:br>
              <a:rPr lang="en-US" b="1" dirty="0">
                <a:solidFill>
                  <a:srgbClr val="C00000"/>
                </a:solidFill>
              </a:rPr>
            </a:br>
            <a:endParaRPr lang="en-US" b="1" dirty="0">
              <a:solidFill>
                <a:srgbClr val="C00000"/>
              </a:solidFill>
            </a:endParaRPr>
          </a:p>
        </p:txBody>
      </p:sp>
      <p:sp>
        <p:nvSpPr>
          <p:cNvPr id="5" name="Rectangle 4">
            <a:extLst>
              <a:ext uri="{FF2B5EF4-FFF2-40B4-BE49-F238E27FC236}">
                <a16:creationId xmlns:a16="http://schemas.microsoft.com/office/drawing/2014/main" id="{2578F3CC-2EDF-157B-5218-7B0F37205512}"/>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descr="A screenshot of a computer program&#10;&#10;AI-generated content may be incorrect.">
            <a:extLst>
              <a:ext uri="{FF2B5EF4-FFF2-40B4-BE49-F238E27FC236}">
                <a16:creationId xmlns:a16="http://schemas.microsoft.com/office/drawing/2014/main" id="{19418AB4-3638-86DB-6286-8E62E7D46FBC}"/>
              </a:ext>
            </a:extLst>
          </p:cNvPr>
          <p:cNvPicPr>
            <a:picLocks noChangeAspect="1"/>
          </p:cNvPicPr>
          <p:nvPr/>
        </p:nvPicPr>
        <p:blipFill>
          <a:blip r:embed="rId2"/>
          <a:stretch>
            <a:fillRect/>
          </a:stretch>
        </p:blipFill>
        <p:spPr>
          <a:xfrm>
            <a:off x="2336800" y="1440102"/>
            <a:ext cx="7112000" cy="2578100"/>
          </a:xfrm>
          <a:prstGeom prst="rect">
            <a:avLst/>
          </a:prstGeom>
          <a:ln>
            <a:solidFill>
              <a:schemeClr val="tx1"/>
            </a:solidFill>
          </a:ln>
        </p:spPr>
      </p:pic>
      <p:pic>
        <p:nvPicPr>
          <p:cNvPr id="7" name="Picture 6" descr="A close-up of a sign&#10;&#10;AI-generated content may be incorrect.">
            <a:extLst>
              <a:ext uri="{FF2B5EF4-FFF2-40B4-BE49-F238E27FC236}">
                <a16:creationId xmlns:a16="http://schemas.microsoft.com/office/drawing/2014/main" id="{904EE31F-32F0-DA6B-E1A5-BD0F5833C003}"/>
              </a:ext>
            </a:extLst>
          </p:cNvPr>
          <p:cNvPicPr>
            <a:picLocks noChangeAspect="1"/>
          </p:cNvPicPr>
          <p:nvPr/>
        </p:nvPicPr>
        <p:blipFill>
          <a:blip r:embed="rId3"/>
          <a:stretch>
            <a:fillRect/>
          </a:stretch>
        </p:blipFill>
        <p:spPr>
          <a:xfrm>
            <a:off x="4604904" y="4766209"/>
            <a:ext cx="2575791" cy="1430996"/>
          </a:xfrm>
          <a:prstGeom prst="rect">
            <a:avLst/>
          </a:prstGeom>
          <a:ln>
            <a:solidFill>
              <a:schemeClr val="tx1"/>
            </a:solidFill>
          </a:ln>
        </p:spPr>
      </p:pic>
      <p:sp>
        <p:nvSpPr>
          <p:cNvPr id="8" name="TextBox 7">
            <a:extLst>
              <a:ext uri="{FF2B5EF4-FFF2-40B4-BE49-F238E27FC236}">
                <a16:creationId xmlns:a16="http://schemas.microsoft.com/office/drawing/2014/main" id="{7777FF61-C4F8-1E12-7EFC-DBC36D104452}"/>
              </a:ext>
            </a:extLst>
          </p:cNvPr>
          <p:cNvSpPr txBox="1"/>
          <p:nvPr/>
        </p:nvSpPr>
        <p:spPr>
          <a:xfrm>
            <a:off x="2216726" y="4351541"/>
            <a:ext cx="5652655" cy="369332"/>
          </a:xfrm>
          <a:prstGeom prst="rect">
            <a:avLst/>
          </a:prstGeom>
          <a:noFill/>
        </p:spPr>
        <p:txBody>
          <a:bodyPr wrap="square" rtlCol="0">
            <a:spAutoFit/>
          </a:bodyPr>
          <a:lstStyle/>
          <a:p>
            <a:r>
              <a:rPr lang="en-US" b="1" dirty="0"/>
              <a:t>This is how I run my commands</a:t>
            </a:r>
          </a:p>
        </p:txBody>
      </p:sp>
      <p:sp>
        <p:nvSpPr>
          <p:cNvPr id="10" name="Slide Number Placeholder 9">
            <a:extLst>
              <a:ext uri="{FF2B5EF4-FFF2-40B4-BE49-F238E27FC236}">
                <a16:creationId xmlns:a16="http://schemas.microsoft.com/office/drawing/2014/main" id="{B7DF7826-9E11-C0BA-F45E-06812C3C93A1}"/>
              </a:ext>
            </a:extLst>
          </p:cNvPr>
          <p:cNvSpPr>
            <a:spLocks noGrp="1"/>
          </p:cNvSpPr>
          <p:nvPr>
            <p:ph type="sldNum" sz="quarter" idx="12"/>
          </p:nvPr>
        </p:nvSpPr>
        <p:spPr/>
        <p:txBody>
          <a:bodyPr/>
          <a:lstStyle/>
          <a:p>
            <a:fld id="{56CEE286-4F09-9B46-BB67-7B45305F5676}" type="slidenum">
              <a:rPr lang="en-US" smtClean="0"/>
              <a:t>10</a:t>
            </a:fld>
            <a:endParaRPr lang="en-US"/>
          </a:p>
        </p:txBody>
      </p:sp>
    </p:spTree>
    <p:extLst>
      <p:ext uri="{BB962C8B-B14F-4D97-AF65-F5344CB8AC3E}">
        <p14:creationId xmlns:p14="http://schemas.microsoft.com/office/powerpoint/2010/main" val="1802852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06F2B-0FB9-BC98-3E8D-27192DFAC733}"/>
              </a:ext>
            </a:extLst>
          </p:cNvPr>
          <p:cNvSpPr>
            <a:spLocks noGrp="1"/>
          </p:cNvSpPr>
          <p:nvPr>
            <p:ph type="title"/>
          </p:nvPr>
        </p:nvSpPr>
        <p:spPr/>
        <p:txBody>
          <a:bodyPr/>
          <a:lstStyle/>
          <a:p>
            <a:pPr algn="ctr"/>
            <a:r>
              <a:rPr lang="en-US" b="1" dirty="0">
                <a:solidFill>
                  <a:srgbClr val="C00000"/>
                </a:solidFill>
              </a:rPr>
              <a:t>Copilot CLI on Anvil</a:t>
            </a:r>
          </a:p>
        </p:txBody>
      </p:sp>
      <p:pic>
        <p:nvPicPr>
          <p:cNvPr id="4" name="Content Placeholder 4" descr="A screenshot of a computer&#10;&#10;AI-generated content may be incorrect.">
            <a:extLst>
              <a:ext uri="{FF2B5EF4-FFF2-40B4-BE49-F238E27FC236}">
                <a16:creationId xmlns:a16="http://schemas.microsoft.com/office/drawing/2014/main" id="{DF41C3A8-005E-670C-E244-08F3535103FB}"/>
              </a:ext>
            </a:extLst>
          </p:cNvPr>
          <p:cNvPicPr>
            <a:picLocks noChangeAspect="1"/>
          </p:cNvPicPr>
          <p:nvPr/>
        </p:nvPicPr>
        <p:blipFill>
          <a:blip r:embed="rId3"/>
          <a:srcRect r="22536" b="4096"/>
          <a:stretch>
            <a:fillRect/>
          </a:stretch>
        </p:blipFill>
        <p:spPr>
          <a:xfrm>
            <a:off x="949569" y="1879591"/>
            <a:ext cx="6302329" cy="3169168"/>
          </a:xfrm>
          <a:prstGeom prst="rect">
            <a:avLst/>
          </a:prstGeom>
        </p:spPr>
      </p:pic>
      <p:pic>
        <p:nvPicPr>
          <p:cNvPr id="6" name="Picture 5">
            <a:extLst>
              <a:ext uri="{FF2B5EF4-FFF2-40B4-BE49-F238E27FC236}">
                <a16:creationId xmlns:a16="http://schemas.microsoft.com/office/drawing/2014/main" id="{E258532F-4CD2-2917-2338-4928AFE74675}"/>
              </a:ext>
            </a:extLst>
          </p:cNvPr>
          <p:cNvPicPr>
            <a:picLocks noChangeAspect="1"/>
          </p:cNvPicPr>
          <p:nvPr/>
        </p:nvPicPr>
        <p:blipFill>
          <a:blip r:embed="rId4"/>
          <a:srcRect r="30349" b="-8352"/>
          <a:stretch>
            <a:fillRect/>
          </a:stretch>
        </p:blipFill>
        <p:spPr>
          <a:xfrm>
            <a:off x="2888027" y="5409082"/>
            <a:ext cx="3207973" cy="64848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AE036FA-F3DA-38EC-FC30-1671498195CA}"/>
              </a:ext>
            </a:extLst>
          </p:cNvPr>
          <p:cNvPicPr>
            <a:picLocks noChangeAspect="1"/>
          </p:cNvPicPr>
          <p:nvPr/>
        </p:nvPicPr>
        <p:blipFill>
          <a:blip r:embed="rId5"/>
          <a:stretch>
            <a:fillRect/>
          </a:stretch>
        </p:blipFill>
        <p:spPr>
          <a:xfrm>
            <a:off x="6406923" y="5153778"/>
            <a:ext cx="4537739" cy="1200568"/>
          </a:xfrm>
          <a:prstGeom prst="rect">
            <a:avLst/>
          </a:prstGeom>
        </p:spPr>
      </p:pic>
      <p:sp>
        <p:nvSpPr>
          <p:cNvPr id="9" name="Rectangle 8">
            <a:extLst>
              <a:ext uri="{FF2B5EF4-FFF2-40B4-BE49-F238E27FC236}">
                <a16:creationId xmlns:a16="http://schemas.microsoft.com/office/drawing/2014/main" id="{369A99C8-8C0A-7BF9-CA9D-D2A116C9A6D9}"/>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4C41D15D-36EC-333E-CE64-EE3396EDC9A8}"/>
              </a:ext>
            </a:extLst>
          </p:cNvPr>
          <p:cNvSpPr txBox="1"/>
          <p:nvPr/>
        </p:nvSpPr>
        <p:spPr>
          <a:xfrm>
            <a:off x="949569" y="1389645"/>
            <a:ext cx="3540369" cy="461665"/>
          </a:xfrm>
          <a:prstGeom prst="rect">
            <a:avLst/>
          </a:prstGeom>
          <a:noFill/>
        </p:spPr>
        <p:txBody>
          <a:bodyPr wrap="square" rtlCol="0">
            <a:spAutoFit/>
          </a:bodyPr>
          <a:lstStyle/>
          <a:p>
            <a:r>
              <a:rPr lang="en-US" sz="2400" b="1" dirty="0"/>
              <a:t>Installation</a:t>
            </a:r>
          </a:p>
        </p:txBody>
      </p:sp>
      <p:sp>
        <p:nvSpPr>
          <p:cNvPr id="11" name="TextBox 10">
            <a:extLst>
              <a:ext uri="{FF2B5EF4-FFF2-40B4-BE49-F238E27FC236}">
                <a16:creationId xmlns:a16="http://schemas.microsoft.com/office/drawing/2014/main" id="{006E2BDC-C7DF-C307-EC5A-09D6FE432CD1}"/>
              </a:ext>
            </a:extLst>
          </p:cNvPr>
          <p:cNvSpPr txBox="1"/>
          <p:nvPr/>
        </p:nvSpPr>
        <p:spPr>
          <a:xfrm>
            <a:off x="2719753" y="5153779"/>
            <a:ext cx="8224909" cy="1200568"/>
          </a:xfrm>
          <a:prstGeom prst="rect">
            <a:avLst/>
          </a:prstGeom>
          <a:noFill/>
          <a:ln>
            <a:solidFill>
              <a:schemeClr val="tx1"/>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C199AFE7-2576-B9CD-867F-8E020D0ABE15}"/>
              </a:ext>
            </a:extLst>
          </p:cNvPr>
          <p:cNvSpPr txBox="1"/>
          <p:nvPr/>
        </p:nvSpPr>
        <p:spPr>
          <a:xfrm>
            <a:off x="562708" y="5597985"/>
            <a:ext cx="3540369" cy="461665"/>
          </a:xfrm>
          <a:prstGeom prst="rect">
            <a:avLst/>
          </a:prstGeom>
          <a:noFill/>
        </p:spPr>
        <p:txBody>
          <a:bodyPr wrap="square" rtlCol="0">
            <a:spAutoFit/>
          </a:bodyPr>
          <a:lstStyle/>
          <a:p>
            <a:r>
              <a:rPr lang="en-US" sz="2400" b="1" dirty="0"/>
              <a:t>To get started</a:t>
            </a:r>
          </a:p>
        </p:txBody>
      </p:sp>
      <p:sp>
        <p:nvSpPr>
          <p:cNvPr id="15" name="TextBox 14">
            <a:extLst>
              <a:ext uri="{FF2B5EF4-FFF2-40B4-BE49-F238E27FC236}">
                <a16:creationId xmlns:a16="http://schemas.microsoft.com/office/drawing/2014/main" id="{534FD9D7-CD73-FAC0-2B4A-9F9150B623C4}"/>
              </a:ext>
            </a:extLst>
          </p:cNvPr>
          <p:cNvSpPr txBox="1"/>
          <p:nvPr/>
        </p:nvSpPr>
        <p:spPr>
          <a:xfrm>
            <a:off x="7421882" y="1898158"/>
            <a:ext cx="4537739" cy="1908215"/>
          </a:xfrm>
          <a:prstGeom prst="rect">
            <a:avLst/>
          </a:prstGeom>
          <a:noFill/>
        </p:spPr>
        <p:txBody>
          <a:bodyPr wrap="square">
            <a:spAutoFit/>
          </a:bodyPr>
          <a:lstStyle/>
          <a:p>
            <a:pPr algn="ctr">
              <a:spcAft>
                <a:spcPts val="1200"/>
              </a:spcAft>
              <a:buNone/>
            </a:pPr>
            <a:r>
              <a:rPr lang="en-US" sz="2000" b="1" dirty="0" err="1"/>
              <a:t>npm</a:t>
            </a:r>
            <a:r>
              <a:rPr lang="en-US" sz="2000" b="1" dirty="0"/>
              <a:t> (&amp;Node.js) to install </a:t>
            </a:r>
            <a:r>
              <a:rPr lang="en-US" sz="2000" b="1" dirty="0" err="1"/>
              <a:t>github</a:t>
            </a:r>
            <a:r>
              <a:rPr lang="en-US" sz="2000" b="1" dirty="0"/>
              <a:t> copilot.</a:t>
            </a:r>
          </a:p>
          <a:p>
            <a:pPr algn="ctr">
              <a:spcAft>
                <a:spcPts val="1200"/>
              </a:spcAft>
              <a:buNone/>
            </a:pPr>
            <a:r>
              <a:rPr lang="en-US" sz="1600" i="0" dirty="0">
                <a:solidFill>
                  <a:srgbClr val="C00000"/>
                </a:solidFill>
                <a:effectLst/>
              </a:rPr>
              <a:t>System Node.js is too old</a:t>
            </a:r>
          </a:p>
          <a:p>
            <a:pPr>
              <a:buFont typeface="Arial" panose="020B0604020202020204" pitchFamily="34" charset="0"/>
              <a:buChar char="•"/>
            </a:pPr>
            <a:r>
              <a:rPr lang="en-US" sz="1400" b="0" i="0" dirty="0">
                <a:effectLst/>
              </a:rPr>
              <a:t>Cluster has Node.js v10.24.0 </a:t>
            </a:r>
            <a:endParaRPr lang="en-US" sz="1400" dirty="0"/>
          </a:p>
          <a:p>
            <a:pPr>
              <a:buFont typeface="Arial" panose="020B0604020202020204" pitchFamily="34" charset="0"/>
              <a:buChar char="•"/>
            </a:pPr>
            <a:r>
              <a:rPr lang="en-US" sz="1400" b="0" i="0" dirty="0">
                <a:effectLst/>
              </a:rPr>
              <a:t>GitHub Copilot CLI requires Node.js ≥22.</a:t>
            </a:r>
          </a:p>
          <a:p>
            <a:pPr>
              <a:buFont typeface="Arial" panose="020B0604020202020204" pitchFamily="34" charset="0"/>
              <a:buChar char="•"/>
            </a:pPr>
            <a:r>
              <a:rPr lang="en-US" sz="1400" dirty="0"/>
              <a:t>NVM to resolve this.</a:t>
            </a:r>
            <a:endParaRPr lang="en-US" sz="1400" b="0" i="0" dirty="0">
              <a:effectLst/>
            </a:endParaRPr>
          </a:p>
        </p:txBody>
      </p:sp>
      <p:sp>
        <p:nvSpPr>
          <p:cNvPr id="17" name="Slide Number Placeholder 16">
            <a:extLst>
              <a:ext uri="{FF2B5EF4-FFF2-40B4-BE49-F238E27FC236}">
                <a16:creationId xmlns:a16="http://schemas.microsoft.com/office/drawing/2014/main" id="{0E2E37D6-A227-9518-F97F-216D4C2EE0F5}"/>
              </a:ext>
            </a:extLst>
          </p:cNvPr>
          <p:cNvSpPr>
            <a:spLocks noGrp="1"/>
          </p:cNvSpPr>
          <p:nvPr>
            <p:ph type="sldNum" sz="quarter" idx="12"/>
          </p:nvPr>
        </p:nvSpPr>
        <p:spPr/>
        <p:txBody>
          <a:bodyPr/>
          <a:lstStyle/>
          <a:p>
            <a:fld id="{56CEE286-4F09-9B46-BB67-7B45305F5676}" type="slidenum">
              <a:rPr lang="en-US" smtClean="0"/>
              <a:t>11</a:t>
            </a:fld>
            <a:endParaRPr lang="en-US"/>
          </a:p>
        </p:txBody>
      </p:sp>
    </p:spTree>
    <p:extLst>
      <p:ext uri="{BB962C8B-B14F-4D97-AF65-F5344CB8AC3E}">
        <p14:creationId xmlns:p14="http://schemas.microsoft.com/office/powerpoint/2010/main" val="110792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AI-generated content may be incorrect.">
            <a:extLst>
              <a:ext uri="{FF2B5EF4-FFF2-40B4-BE49-F238E27FC236}">
                <a16:creationId xmlns:a16="http://schemas.microsoft.com/office/drawing/2014/main" id="{46D62335-D6F1-AB64-641E-95F1C103C90A}"/>
              </a:ext>
            </a:extLst>
          </p:cNvPr>
          <p:cNvPicPr>
            <a:picLocks noGrp="1" noChangeAspect="1"/>
          </p:cNvPicPr>
          <p:nvPr>
            <p:ph idx="1"/>
          </p:nvPr>
        </p:nvPicPr>
        <p:blipFill>
          <a:blip r:embed="rId2"/>
          <a:stretch>
            <a:fillRect/>
          </a:stretch>
        </p:blipFill>
        <p:spPr>
          <a:xfrm>
            <a:off x="518654" y="2196494"/>
            <a:ext cx="10791697" cy="3782275"/>
          </a:xfrm>
        </p:spPr>
      </p:pic>
      <p:sp>
        <p:nvSpPr>
          <p:cNvPr id="7" name="Title 1">
            <a:extLst>
              <a:ext uri="{FF2B5EF4-FFF2-40B4-BE49-F238E27FC236}">
                <a16:creationId xmlns:a16="http://schemas.microsoft.com/office/drawing/2014/main" id="{ECB4080F-6F10-45D5-76B8-DFA1300D49CC}"/>
              </a:ext>
            </a:extLst>
          </p:cNvPr>
          <p:cNvSpPr txBox="1">
            <a:spLocks/>
          </p:cNvSpPr>
          <p:nvPr/>
        </p:nvSpPr>
        <p:spPr>
          <a:xfrm>
            <a:off x="990599" y="24381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00000"/>
                </a:solidFill>
              </a:rPr>
              <a:t>Copilot CLI on Terminal</a:t>
            </a:r>
          </a:p>
          <a:p>
            <a:pPr algn="ctr"/>
            <a:r>
              <a:rPr lang="en-US" sz="2400" dirty="0"/>
              <a:t>Example: run cd-hit-est</a:t>
            </a:r>
          </a:p>
        </p:txBody>
      </p:sp>
      <p:sp>
        <p:nvSpPr>
          <p:cNvPr id="8" name="Rectangle 7">
            <a:extLst>
              <a:ext uri="{FF2B5EF4-FFF2-40B4-BE49-F238E27FC236}">
                <a16:creationId xmlns:a16="http://schemas.microsoft.com/office/drawing/2014/main" id="{E5169370-3DFF-C28D-483C-2B205C7517A6}"/>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Slide Number Placeholder 9">
            <a:extLst>
              <a:ext uri="{FF2B5EF4-FFF2-40B4-BE49-F238E27FC236}">
                <a16:creationId xmlns:a16="http://schemas.microsoft.com/office/drawing/2014/main" id="{68EBA861-A7A3-D88E-519C-A5A671FB01A9}"/>
              </a:ext>
            </a:extLst>
          </p:cNvPr>
          <p:cNvSpPr>
            <a:spLocks noGrp="1"/>
          </p:cNvSpPr>
          <p:nvPr>
            <p:ph type="sldNum" sz="quarter" idx="12"/>
          </p:nvPr>
        </p:nvSpPr>
        <p:spPr/>
        <p:txBody>
          <a:bodyPr/>
          <a:lstStyle/>
          <a:p>
            <a:fld id="{56CEE286-4F09-9B46-BB67-7B45305F5676}" type="slidenum">
              <a:rPr lang="en-US" smtClean="0"/>
              <a:t>12</a:t>
            </a:fld>
            <a:endParaRPr lang="en-US"/>
          </a:p>
        </p:txBody>
      </p:sp>
    </p:spTree>
    <p:extLst>
      <p:ext uri="{BB962C8B-B14F-4D97-AF65-F5344CB8AC3E}">
        <p14:creationId xmlns:p14="http://schemas.microsoft.com/office/powerpoint/2010/main" val="3758467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664B76-C8A2-1A3D-EFA3-B583D6DFD0C7}"/>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itle 1">
            <a:extLst>
              <a:ext uri="{FF2B5EF4-FFF2-40B4-BE49-F238E27FC236}">
                <a16:creationId xmlns:a16="http://schemas.microsoft.com/office/drawing/2014/main" id="{5795DFF1-AE32-3F1B-5EFD-280D211D1A67}"/>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00000"/>
                </a:solidFill>
              </a:rPr>
              <a:t>Custom Instructions</a:t>
            </a:r>
            <a:br>
              <a:rPr lang="en-US" dirty="0"/>
            </a:br>
            <a:r>
              <a:rPr lang="en-US" sz="2000" dirty="0"/>
              <a:t>and why you should use it</a:t>
            </a:r>
          </a:p>
        </p:txBody>
      </p:sp>
      <p:pic>
        <p:nvPicPr>
          <p:cNvPr id="8" name="Picture 7">
            <a:extLst>
              <a:ext uri="{FF2B5EF4-FFF2-40B4-BE49-F238E27FC236}">
                <a16:creationId xmlns:a16="http://schemas.microsoft.com/office/drawing/2014/main" id="{B53FC762-BFA6-6AA5-95A3-F871078726C4}"/>
              </a:ext>
            </a:extLst>
          </p:cNvPr>
          <p:cNvPicPr>
            <a:picLocks noChangeAspect="1"/>
          </p:cNvPicPr>
          <p:nvPr/>
        </p:nvPicPr>
        <p:blipFill>
          <a:blip r:embed="rId2">
            <a:alphaModFix amt="73000"/>
          </a:blip>
          <a:stretch>
            <a:fillRect/>
          </a:stretch>
        </p:blipFill>
        <p:spPr>
          <a:xfrm>
            <a:off x="1530504" y="2202958"/>
            <a:ext cx="9435792" cy="3892265"/>
          </a:xfrm>
          <a:prstGeom prst="rect">
            <a:avLst/>
          </a:prstGeom>
        </p:spPr>
      </p:pic>
      <p:sp>
        <p:nvSpPr>
          <p:cNvPr id="9" name="TextBox 8">
            <a:extLst>
              <a:ext uri="{FF2B5EF4-FFF2-40B4-BE49-F238E27FC236}">
                <a16:creationId xmlns:a16="http://schemas.microsoft.com/office/drawing/2014/main" id="{20B85C7C-B801-0220-9640-73F333B3635E}"/>
              </a:ext>
            </a:extLst>
          </p:cNvPr>
          <p:cNvSpPr txBox="1"/>
          <p:nvPr/>
        </p:nvSpPr>
        <p:spPr>
          <a:xfrm>
            <a:off x="3637765" y="1723195"/>
            <a:ext cx="6949068" cy="400110"/>
          </a:xfrm>
          <a:prstGeom prst="rect">
            <a:avLst/>
          </a:prstGeom>
          <a:noFill/>
        </p:spPr>
        <p:txBody>
          <a:bodyPr wrap="square" rtlCol="0">
            <a:spAutoFit/>
          </a:bodyPr>
          <a:lstStyle/>
          <a:p>
            <a:r>
              <a:rPr lang="en-US" sz="2000" b="1" dirty="0">
                <a:solidFill>
                  <a:srgbClr val="C00000"/>
                </a:solidFill>
              </a:rPr>
              <a:t>YOU DON’T HAVE TO REPEAT EVERYTIME.</a:t>
            </a:r>
          </a:p>
        </p:txBody>
      </p:sp>
      <p:sp>
        <p:nvSpPr>
          <p:cNvPr id="11" name="Slide Number Placeholder 10">
            <a:extLst>
              <a:ext uri="{FF2B5EF4-FFF2-40B4-BE49-F238E27FC236}">
                <a16:creationId xmlns:a16="http://schemas.microsoft.com/office/drawing/2014/main" id="{D10BFA1E-C356-B43E-11DF-EFED7581C594}"/>
              </a:ext>
            </a:extLst>
          </p:cNvPr>
          <p:cNvSpPr>
            <a:spLocks noGrp="1"/>
          </p:cNvSpPr>
          <p:nvPr>
            <p:ph type="sldNum" sz="quarter" idx="12"/>
          </p:nvPr>
        </p:nvSpPr>
        <p:spPr/>
        <p:txBody>
          <a:bodyPr/>
          <a:lstStyle/>
          <a:p>
            <a:fld id="{56CEE286-4F09-9B46-BB67-7B45305F5676}" type="slidenum">
              <a:rPr lang="en-US" smtClean="0"/>
              <a:t>13</a:t>
            </a:fld>
            <a:endParaRPr lang="en-US"/>
          </a:p>
        </p:txBody>
      </p:sp>
    </p:spTree>
    <p:extLst>
      <p:ext uri="{BB962C8B-B14F-4D97-AF65-F5344CB8AC3E}">
        <p14:creationId xmlns:p14="http://schemas.microsoft.com/office/powerpoint/2010/main" val="3329013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4C4ED8-E4A3-6BEA-A593-6B07A279658C}"/>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itle 1">
            <a:extLst>
              <a:ext uri="{FF2B5EF4-FFF2-40B4-BE49-F238E27FC236}">
                <a16:creationId xmlns:a16="http://schemas.microsoft.com/office/drawing/2014/main" id="{F34424AC-52A3-C84C-C3A1-D56C522158BC}"/>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00000"/>
                </a:solidFill>
              </a:rPr>
              <a:t>Custom Instructions</a:t>
            </a:r>
            <a:br>
              <a:rPr lang="en-US" dirty="0"/>
            </a:br>
            <a:r>
              <a:rPr lang="en-US" sz="2000" dirty="0"/>
              <a:t>and why you should use it</a:t>
            </a:r>
          </a:p>
        </p:txBody>
      </p:sp>
      <p:pic>
        <p:nvPicPr>
          <p:cNvPr id="6" name="Picture 5" descr="A screenshot of a computer screen&#10;&#10;AI-generated content may be incorrect.">
            <a:extLst>
              <a:ext uri="{FF2B5EF4-FFF2-40B4-BE49-F238E27FC236}">
                <a16:creationId xmlns:a16="http://schemas.microsoft.com/office/drawing/2014/main" id="{A2F9D770-2F60-A935-924F-31F77D4D5D17}"/>
              </a:ext>
            </a:extLst>
          </p:cNvPr>
          <p:cNvPicPr>
            <a:picLocks noChangeAspect="1"/>
          </p:cNvPicPr>
          <p:nvPr/>
        </p:nvPicPr>
        <p:blipFill>
          <a:blip r:embed="rId2"/>
          <a:stretch>
            <a:fillRect/>
          </a:stretch>
        </p:blipFill>
        <p:spPr>
          <a:xfrm>
            <a:off x="1474087" y="2525191"/>
            <a:ext cx="3281173" cy="2892408"/>
          </a:xfrm>
          <a:prstGeom prst="rect">
            <a:avLst/>
          </a:prstGeom>
        </p:spPr>
      </p:pic>
      <p:sp>
        <p:nvSpPr>
          <p:cNvPr id="7" name="TextBox 6">
            <a:extLst>
              <a:ext uri="{FF2B5EF4-FFF2-40B4-BE49-F238E27FC236}">
                <a16:creationId xmlns:a16="http://schemas.microsoft.com/office/drawing/2014/main" id="{B2CEC52C-9E19-66A2-46E6-CB837FA7BC33}"/>
              </a:ext>
            </a:extLst>
          </p:cNvPr>
          <p:cNvSpPr txBox="1"/>
          <p:nvPr/>
        </p:nvSpPr>
        <p:spPr>
          <a:xfrm>
            <a:off x="836341" y="1843644"/>
            <a:ext cx="4547838" cy="646331"/>
          </a:xfrm>
          <a:prstGeom prst="rect">
            <a:avLst/>
          </a:prstGeom>
          <a:noFill/>
        </p:spPr>
        <p:txBody>
          <a:bodyPr wrap="square" rtlCol="0">
            <a:spAutoFit/>
          </a:bodyPr>
          <a:lstStyle/>
          <a:p>
            <a:r>
              <a:rPr lang="en-US" b="1" dirty="0" err="1"/>
              <a:t>SHAPE_PROCESSING_INSTRUCTIONS.md</a:t>
            </a:r>
            <a:r>
              <a:rPr lang="en-US" b="1" dirty="0"/>
              <a:t> to handle SHAPE preprocessing</a:t>
            </a:r>
          </a:p>
        </p:txBody>
      </p:sp>
      <p:pic>
        <p:nvPicPr>
          <p:cNvPr id="9" name="Picture 8" descr="A black screen with white text&#10;&#10;AI-generated content may be incorrect.">
            <a:extLst>
              <a:ext uri="{FF2B5EF4-FFF2-40B4-BE49-F238E27FC236}">
                <a16:creationId xmlns:a16="http://schemas.microsoft.com/office/drawing/2014/main" id="{6B33BFBA-ABDF-5B5B-4D93-5191FF811CD1}"/>
              </a:ext>
            </a:extLst>
          </p:cNvPr>
          <p:cNvPicPr>
            <a:picLocks noChangeAspect="1"/>
          </p:cNvPicPr>
          <p:nvPr/>
        </p:nvPicPr>
        <p:blipFill>
          <a:blip r:embed="rId3"/>
          <a:stretch>
            <a:fillRect/>
          </a:stretch>
        </p:blipFill>
        <p:spPr>
          <a:xfrm>
            <a:off x="1474087" y="5488031"/>
            <a:ext cx="3281173" cy="1108707"/>
          </a:xfrm>
          <a:prstGeom prst="rect">
            <a:avLst/>
          </a:prstGeom>
        </p:spPr>
      </p:pic>
      <p:sp>
        <p:nvSpPr>
          <p:cNvPr id="10" name="TextBox 9">
            <a:extLst>
              <a:ext uri="{FF2B5EF4-FFF2-40B4-BE49-F238E27FC236}">
                <a16:creationId xmlns:a16="http://schemas.microsoft.com/office/drawing/2014/main" id="{CAC20543-C187-A9E8-C711-258A62E08CE6}"/>
              </a:ext>
            </a:extLst>
          </p:cNvPr>
          <p:cNvSpPr txBox="1"/>
          <p:nvPr/>
        </p:nvSpPr>
        <p:spPr>
          <a:xfrm>
            <a:off x="5384179" y="3120355"/>
            <a:ext cx="6313450" cy="18945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Let Copilot generate </a:t>
            </a:r>
            <a:r>
              <a:rPr lang="en-US" sz="2000" dirty="0" err="1"/>
              <a:t>instructions.md</a:t>
            </a:r>
            <a:r>
              <a:rPr lang="en-US" sz="2000" dirty="0"/>
              <a:t> </a:t>
            </a:r>
            <a:r>
              <a:rPr lang="en-US" sz="2000" dirty="0">
                <a:sym typeface="Wingdings" pitchFamily="2" charset="2"/>
              </a:rPr>
              <a:t> Make changes to it and remove unwanted instructions.</a:t>
            </a:r>
            <a:endParaRPr lang="en-US" sz="2000" dirty="0"/>
          </a:p>
          <a:p>
            <a:pPr marL="285750" indent="-285750">
              <a:lnSpc>
                <a:spcPct val="150000"/>
              </a:lnSpc>
              <a:buFont typeface="Arial" panose="020B0604020202020204" pitchFamily="34" charset="0"/>
              <a:buChar char="•"/>
            </a:pPr>
            <a:r>
              <a:rPr lang="en-US" sz="2000" dirty="0"/>
              <a:t>When needed, direct towards #file: </a:t>
            </a:r>
            <a:r>
              <a:rPr lang="en-US" sz="2000" dirty="0" err="1"/>
              <a:t>INSTRUCTIONS.md</a:t>
            </a:r>
            <a:endParaRPr lang="en-US" sz="2000" dirty="0"/>
          </a:p>
        </p:txBody>
      </p:sp>
      <p:sp>
        <p:nvSpPr>
          <p:cNvPr id="12" name="Slide Number Placeholder 11">
            <a:extLst>
              <a:ext uri="{FF2B5EF4-FFF2-40B4-BE49-F238E27FC236}">
                <a16:creationId xmlns:a16="http://schemas.microsoft.com/office/drawing/2014/main" id="{423E0ADD-0B9C-8203-E478-1213F4ADE2B8}"/>
              </a:ext>
            </a:extLst>
          </p:cNvPr>
          <p:cNvSpPr>
            <a:spLocks noGrp="1"/>
          </p:cNvSpPr>
          <p:nvPr>
            <p:ph type="sldNum" sz="quarter" idx="12"/>
          </p:nvPr>
        </p:nvSpPr>
        <p:spPr/>
        <p:txBody>
          <a:bodyPr/>
          <a:lstStyle/>
          <a:p>
            <a:fld id="{56CEE286-4F09-9B46-BB67-7B45305F5676}" type="slidenum">
              <a:rPr lang="en-US" smtClean="0"/>
              <a:t>14</a:t>
            </a:fld>
            <a:endParaRPr lang="en-US"/>
          </a:p>
        </p:txBody>
      </p:sp>
    </p:spTree>
    <p:extLst>
      <p:ext uri="{BB962C8B-B14F-4D97-AF65-F5344CB8AC3E}">
        <p14:creationId xmlns:p14="http://schemas.microsoft.com/office/powerpoint/2010/main" val="242442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EADF5-B650-6D99-1EF6-D97AA0AEE243}"/>
              </a:ext>
            </a:extLst>
          </p:cNvPr>
          <p:cNvSpPr>
            <a:spLocks noGrp="1"/>
          </p:cNvSpPr>
          <p:nvPr>
            <p:ph type="title"/>
          </p:nvPr>
        </p:nvSpPr>
        <p:spPr/>
        <p:txBody>
          <a:bodyPr/>
          <a:lstStyle/>
          <a:p>
            <a:pPr algn="ctr"/>
            <a:r>
              <a:rPr lang="en-US" b="1" dirty="0">
                <a:solidFill>
                  <a:srgbClr val="C00000"/>
                </a:solidFill>
              </a:rPr>
              <a:t>Custom Instructions</a:t>
            </a:r>
            <a:br>
              <a:rPr lang="en-US" dirty="0"/>
            </a:br>
            <a:r>
              <a:rPr lang="en-US" sz="2000" dirty="0"/>
              <a:t>Example: </a:t>
            </a:r>
            <a:r>
              <a:rPr lang="en-US" sz="2000" dirty="0" err="1"/>
              <a:t>SpanSeq</a:t>
            </a:r>
            <a:r>
              <a:rPr lang="en-US" sz="2000" dirty="0"/>
              <a:t> installation</a:t>
            </a:r>
          </a:p>
        </p:txBody>
      </p:sp>
      <p:sp>
        <p:nvSpPr>
          <p:cNvPr id="5" name="Rectangle 4">
            <a:extLst>
              <a:ext uri="{FF2B5EF4-FFF2-40B4-BE49-F238E27FC236}">
                <a16:creationId xmlns:a16="http://schemas.microsoft.com/office/drawing/2014/main" id="{83109091-B95E-CA92-8B1D-C3FA7106CC04}"/>
              </a:ext>
            </a:extLst>
          </p:cNvPr>
          <p:cNvSpPr/>
          <p:nvPr/>
        </p:nvSpPr>
        <p:spPr>
          <a:xfrm>
            <a:off x="139960" y="157655"/>
            <a:ext cx="11923290" cy="658837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7" name="Picture 6" descr="A screenshot of a computer program&#10;&#10;AI-generated content may be incorrect.">
            <a:extLst>
              <a:ext uri="{FF2B5EF4-FFF2-40B4-BE49-F238E27FC236}">
                <a16:creationId xmlns:a16="http://schemas.microsoft.com/office/drawing/2014/main" id="{A8DFBDF0-A4D3-EB1E-90DA-AF194540068D}"/>
              </a:ext>
            </a:extLst>
          </p:cNvPr>
          <p:cNvPicPr>
            <a:picLocks noChangeAspect="1"/>
          </p:cNvPicPr>
          <p:nvPr/>
        </p:nvPicPr>
        <p:blipFill>
          <a:blip r:embed="rId2"/>
          <a:stretch>
            <a:fillRect/>
          </a:stretch>
        </p:blipFill>
        <p:spPr>
          <a:xfrm>
            <a:off x="5168764" y="1690688"/>
            <a:ext cx="6689641" cy="4758705"/>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334CB0D6-6736-0E93-998A-CC21969B1429}"/>
              </a:ext>
            </a:extLst>
          </p:cNvPr>
          <p:cNvPicPr>
            <a:picLocks noChangeAspect="1"/>
          </p:cNvPicPr>
          <p:nvPr/>
        </p:nvPicPr>
        <p:blipFill>
          <a:blip r:embed="rId3"/>
          <a:stretch>
            <a:fillRect/>
          </a:stretch>
        </p:blipFill>
        <p:spPr>
          <a:xfrm>
            <a:off x="493985" y="1690688"/>
            <a:ext cx="4469934" cy="4758705"/>
          </a:xfrm>
          <a:prstGeom prst="rect">
            <a:avLst/>
          </a:prstGeom>
        </p:spPr>
      </p:pic>
      <p:sp>
        <p:nvSpPr>
          <p:cNvPr id="12" name="Slide Number Placeholder 11">
            <a:extLst>
              <a:ext uri="{FF2B5EF4-FFF2-40B4-BE49-F238E27FC236}">
                <a16:creationId xmlns:a16="http://schemas.microsoft.com/office/drawing/2014/main" id="{1E160B42-09D8-F724-4D8B-4B1EA1476B68}"/>
              </a:ext>
            </a:extLst>
          </p:cNvPr>
          <p:cNvSpPr>
            <a:spLocks noGrp="1"/>
          </p:cNvSpPr>
          <p:nvPr>
            <p:ph type="sldNum" sz="quarter" idx="12"/>
          </p:nvPr>
        </p:nvSpPr>
        <p:spPr/>
        <p:txBody>
          <a:bodyPr/>
          <a:lstStyle/>
          <a:p>
            <a:fld id="{56CEE286-4F09-9B46-BB67-7B45305F5676}" type="slidenum">
              <a:rPr lang="en-US" smtClean="0"/>
              <a:t>15</a:t>
            </a:fld>
            <a:endParaRPr lang="en-US"/>
          </a:p>
        </p:txBody>
      </p:sp>
    </p:spTree>
    <p:extLst>
      <p:ext uri="{BB962C8B-B14F-4D97-AF65-F5344CB8AC3E}">
        <p14:creationId xmlns:p14="http://schemas.microsoft.com/office/powerpoint/2010/main" val="3987375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1485</TotalTime>
  <Words>747</Words>
  <Application>Microsoft Macintosh PowerPoint</Application>
  <PresentationFormat>Widescreen</PresentationFormat>
  <Paragraphs>106</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Aptos</vt:lpstr>
      <vt:lpstr>Aptos Display</vt:lpstr>
      <vt:lpstr>Arial</vt:lpstr>
      <vt:lpstr>Wingdings</vt:lpstr>
      <vt:lpstr>Office Theme</vt:lpstr>
      <vt:lpstr>GitHub Copilot 101</vt:lpstr>
      <vt:lpstr>Agenda</vt:lpstr>
      <vt:lpstr> Basics</vt:lpstr>
      <vt:lpstr> Basics Chat options</vt:lpstr>
      <vt:lpstr> Basics Some example: Too much code</vt:lpstr>
      <vt:lpstr> Basics</vt:lpstr>
      <vt:lpstr>Copilot CLI on Terminal</vt:lpstr>
      <vt:lpstr>PowerPoint Presentation</vt:lpstr>
      <vt:lpstr>Copilot CLI : Allowed Tools Copilot asks for permission first time a tool is used. </vt:lpstr>
      <vt:lpstr>PowerPoint Presentation</vt:lpstr>
      <vt:lpstr>Copilot CLI on Anvil</vt:lpstr>
      <vt:lpstr>PowerPoint Presentation</vt:lpstr>
      <vt:lpstr>PowerPoint Presentation</vt:lpstr>
      <vt:lpstr>PowerPoint Presentation</vt:lpstr>
      <vt:lpstr>Custom Instructions Example: SpanSeq installation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Amalaruban M</dc:creator>
  <cp:lastModifiedBy>Ashwin Amalaruban M</cp:lastModifiedBy>
  <cp:revision>18</cp:revision>
  <dcterms:created xsi:type="dcterms:W3CDTF">2025-10-23T08:46:30Z</dcterms:created>
  <dcterms:modified xsi:type="dcterms:W3CDTF">2025-10-24T17:18:10Z</dcterms:modified>
</cp:coreProperties>
</file>