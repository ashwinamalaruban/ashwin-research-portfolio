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62" r:id="rId3"/>
    <p:sldId id="263" r:id="rId4"/>
    <p:sldId id="258" r:id="rId5"/>
    <p:sldId id="261" r:id="rId6"/>
    <p:sldId id="260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969" autoAdjust="0"/>
    <p:restoredTop sz="94658"/>
  </p:normalViewPr>
  <p:slideViewPr>
    <p:cSldViewPr snapToGrid="0">
      <p:cViewPr varScale="1">
        <p:scale>
          <a:sx n="116" d="100"/>
          <a:sy n="116" d="100"/>
        </p:scale>
        <p:origin x="584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file:///D:\Aviran%20Lab\MCMC\Time%20and%20CPUs.xlsb.xlsx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ysClr val="windowText" lastClr="000000"/>
                </a:solidFill>
                <a:latin typeface="+mn-lt"/>
                <a:ea typeface="+mn-ea"/>
                <a:cs typeface="+mn-cs"/>
              </a:defRPr>
            </a:pPr>
            <a:r>
              <a:rPr lang="en-IN" dirty="0"/>
              <a:t>Comparison between </a:t>
            </a:r>
            <a:r>
              <a:rPr lang="en-IN" dirty="0" err="1"/>
              <a:t>cuda</a:t>
            </a:r>
            <a:r>
              <a:rPr lang="en-IN" dirty="0"/>
              <a:t> and batch-</a:t>
            </a:r>
            <a:r>
              <a:rPr lang="en-IN" dirty="0" err="1"/>
              <a:t>cuda</a:t>
            </a:r>
            <a:endParaRPr lang="en-IN" dirty="0"/>
          </a:p>
          <a:p>
            <a:pPr>
              <a:defRPr/>
            </a:pPr>
            <a:r>
              <a:rPr lang="en-IN" dirty="0"/>
              <a:t>for</a:t>
            </a:r>
            <a:r>
              <a:rPr lang="en-IN" baseline="0" dirty="0"/>
              <a:t> all the kernel functions used in partition function calculation</a:t>
            </a:r>
            <a:endParaRPr lang="en-IN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ysClr val="windowText" lastClr="000000"/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'My code'!$W$1</c:f>
              <c:strCache>
                <c:ptCount val="1"/>
                <c:pt idx="0">
                  <c:v>partition-cuda(1 FLUC)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'My code'!$V$2:$V$12</c:f>
              <c:strCache>
                <c:ptCount val="11"/>
                <c:pt idx="0">
                  <c:v>CPU to GPU</c:v>
                </c:pt>
                <c:pt idx="1">
                  <c:v>hairpin/stack/ext/mbranch</c:v>
                </c:pt>
                <c:pt idx="2">
                  <c:v>internal</c:v>
                </c:pt>
                <c:pt idx="3">
                  <c:v>coaxial</c:v>
                </c:pt>
                <c:pt idx="4">
                  <c:v>w1</c:v>
                </c:pt>
                <c:pt idx="5">
                  <c:v>x1</c:v>
                </c:pt>
                <c:pt idx="6">
                  <c:v>z</c:v>
                </c:pt>
                <c:pt idx="7">
                  <c:v>x</c:v>
                </c:pt>
                <c:pt idx="8">
                  <c:v>w3,w5</c:v>
                </c:pt>
                <c:pt idx="9">
                  <c:v>Total to fill</c:v>
                </c:pt>
                <c:pt idx="10">
                  <c:v>GPU to CPU</c:v>
                </c:pt>
              </c:strCache>
            </c:strRef>
          </c:cat>
          <c:val>
            <c:numRef>
              <c:f>'My code'!$W$2:$W$12</c:f>
              <c:numCache>
                <c:formatCode>General</c:formatCode>
                <c:ptCount val="11"/>
                <c:pt idx="0">
                  <c:v>2</c:v>
                </c:pt>
                <c:pt idx="1">
                  <c:v>21.9</c:v>
                </c:pt>
                <c:pt idx="2">
                  <c:v>40.700000000000003</c:v>
                </c:pt>
                <c:pt idx="3">
                  <c:v>199.7</c:v>
                </c:pt>
                <c:pt idx="4">
                  <c:v>21.2</c:v>
                </c:pt>
                <c:pt idx="5">
                  <c:v>68</c:v>
                </c:pt>
                <c:pt idx="6">
                  <c:v>227.3</c:v>
                </c:pt>
                <c:pt idx="7">
                  <c:v>18.5</c:v>
                </c:pt>
                <c:pt idx="8">
                  <c:v>41.8</c:v>
                </c:pt>
                <c:pt idx="9">
                  <c:v>770.3</c:v>
                </c:pt>
                <c:pt idx="10">
                  <c:v>3.6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D223-4538-A26F-4A27969DCBF2}"/>
            </c:ext>
          </c:extLst>
        </c:ser>
        <c:ser>
          <c:idx val="1"/>
          <c:order val="1"/>
          <c:tx>
            <c:strRef>
              <c:f>'My code'!$X$1</c:f>
              <c:strCache>
                <c:ptCount val="1"/>
                <c:pt idx="0">
                  <c:v>partition-batch-cuda(1 FLUC)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'My code'!$V$2:$V$12</c:f>
              <c:strCache>
                <c:ptCount val="11"/>
                <c:pt idx="0">
                  <c:v>CPU to GPU</c:v>
                </c:pt>
                <c:pt idx="1">
                  <c:v>hairpin/stack/ext/mbranch</c:v>
                </c:pt>
                <c:pt idx="2">
                  <c:v>internal</c:v>
                </c:pt>
                <c:pt idx="3">
                  <c:v>coaxial</c:v>
                </c:pt>
                <c:pt idx="4">
                  <c:v>w1</c:v>
                </c:pt>
                <c:pt idx="5">
                  <c:v>x1</c:v>
                </c:pt>
                <c:pt idx="6">
                  <c:v>z</c:v>
                </c:pt>
                <c:pt idx="7">
                  <c:v>x</c:v>
                </c:pt>
                <c:pt idx="8">
                  <c:v>w3,w5</c:v>
                </c:pt>
                <c:pt idx="9">
                  <c:v>Total to fill</c:v>
                </c:pt>
                <c:pt idx="10">
                  <c:v>GPU to CPU</c:v>
                </c:pt>
              </c:strCache>
            </c:strRef>
          </c:cat>
          <c:val>
            <c:numRef>
              <c:f>'My code'!$X$2:$X$12</c:f>
              <c:numCache>
                <c:formatCode>General</c:formatCode>
                <c:ptCount val="11"/>
                <c:pt idx="0">
                  <c:v>1.8</c:v>
                </c:pt>
                <c:pt idx="1">
                  <c:v>43.4</c:v>
                </c:pt>
                <c:pt idx="2">
                  <c:v>62.5</c:v>
                </c:pt>
                <c:pt idx="3">
                  <c:v>212.8</c:v>
                </c:pt>
                <c:pt idx="4">
                  <c:v>35.5</c:v>
                </c:pt>
                <c:pt idx="5">
                  <c:v>88.5</c:v>
                </c:pt>
                <c:pt idx="6">
                  <c:v>239.3</c:v>
                </c:pt>
                <c:pt idx="7">
                  <c:v>33.1</c:v>
                </c:pt>
                <c:pt idx="8">
                  <c:v>62.4</c:v>
                </c:pt>
                <c:pt idx="9">
                  <c:v>934.1</c:v>
                </c:pt>
                <c:pt idx="10">
                  <c:v>3.7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D223-4538-A26F-4A27969DCBF2}"/>
            </c:ext>
          </c:extLst>
        </c:ser>
        <c:ser>
          <c:idx val="2"/>
          <c:order val="2"/>
          <c:tx>
            <c:strRef>
              <c:f>'My code'!$Y$1</c:f>
              <c:strCache>
                <c:ptCount val="1"/>
                <c:pt idx="0">
                  <c:v>partition-batch-cuda(10 FLUC)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cat>
            <c:strRef>
              <c:f>'My code'!$V$2:$V$12</c:f>
              <c:strCache>
                <c:ptCount val="11"/>
                <c:pt idx="0">
                  <c:v>CPU to GPU</c:v>
                </c:pt>
                <c:pt idx="1">
                  <c:v>hairpin/stack/ext/mbranch</c:v>
                </c:pt>
                <c:pt idx="2">
                  <c:v>internal</c:v>
                </c:pt>
                <c:pt idx="3">
                  <c:v>coaxial</c:v>
                </c:pt>
                <c:pt idx="4">
                  <c:v>w1</c:v>
                </c:pt>
                <c:pt idx="5">
                  <c:v>x1</c:v>
                </c:pt>
                <c:pt idx="6">
                  <c:v>z</c:v>
                </c:pt>
                <c:pt idx="7">
                  <c:v>x</c:v>
                </c:pt>
                <c:pt idx="8">
                  <c:v>w3,w5</c:v>
                </c:pt>
                <c:pt idx="9">
                  <c:v>Total to fill</c:v>
                </c:pt>
                <c:pt idx="10">
                  <c:v>GPU to CPU</c:v>
                </c:pt>
              </c:strCache>
            </c:strRef>
          </c:cat>
          <c:val>
            <c:numRef>
              <c:f>'My code'!$Y$2:$Y$12</c:f>
              <c:numCache>
                <c:formatCode>General</c:formatCode>
                <c:ptCount val="11"/>
                <c:pt idx="0">
                  <c:v>12.5</c:v>
                </c:pt>
                <c:pt idx="1">
                  <c:v>77.599999999999994</c:v>
                </c:pt>
                <c:pt idx="2">
                  <c:v>160.6</c:v>
                </c:pt>
                <c:pt idx="3">
                  <c:v>932.1</c:v>
                </c:pt>
                <c:pt idx="4">
                  <c:v>75.2</c:v>
                </c:pt>
                <c:pt idx="5">
                  <c:v>443.8</c:v>
                </c:pt>
                <c:pt idx="6">
                  <c:v>1842</c:v>
                </c:pt>
                <c:pt idx="7">
                  <c:v>74</c:v>
                </c:pt>
                <c:pt idx="8">
                  <c:v>91</c:v>
                </c:pt>
                <c:pt idx="9">
                  <c:v>3851.4</c:v>
                </c:pt>
                <c:pt idx="10">
                  <c:v>28.8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D223-4538-A26F-4A27969DCBF2}"/>
            </c:ext>
          </c:extLst>
        </c:ser>
        <c:ser>
          <c:idx val="3"/>
          <c:order val="3"/>
          <c:tx>
            <c:strRef>
              <c:f>'My code'!$Z$1</c:f>
              <c:strCache>
                <c:ptCount val="1"/>
                <c:pt idx="0">
                  <c:v>partition-batch-cuda(39 FLUC)</c:v>
                </c:pt>
              </c:strCache>
            </c:strRef>
          </c:tx>
          <c:spPr>
            <a:solidFill>
              <a:schemeClr val="accent4"/>
            </a:solidFill>
            <a:ln>
              <a:noFill/>
            </a:ln>
            <a:effectLst/>
          </c:spPr>
          <c:invertIfNegative val="0"/>
          <c:cat>
            <c:strRef>
              <c:f>'My code'!$V$2:$V$12</c:f>
              <c:strCache>
                <c:ptCount val="11"/>
                <c:pt idx="0">
                  <c:v>CPU to GPU</c:v>
                </c:pt>
                <c:pt idx="1">
                  <c:v>hairpin/stack/ext/mbranch</c:v>
                </c:pt>
                <c:pt idx="2">
                  <c:v>internal</c:v>
                </c:pt>
                <c:pt idx="3">
                  <c:v>coaxial</c:v>
                </c:pt>
                <c:pt idx="4">
                  <c:v>w1</c:v>
                </c:pt>
                <c:pt idx="5">
                  <c:v>x1</c:v>
                </c:pt>
                <c:pt idx="6">
                  <c:v>z</c:v>
                </c:pt>
                <c:pt idx="7">
                  <c:v>x</c:v>
                </c:pt>
                <c:pt idx="8">
                  <c:v>w3,w5</c:v>
                </c:pt>
                <c:pt idx="9">
                  <c:v>Total to fill</c:v>
                </c:pt>
                <c:pt idx="10">
                  <c:v>GPU to CPU</c:v>
                </c:pt>
              </c:strCache>
            </c:strRef>
          </c:cat>
          <c:val>
            <c:numRef>
              <c:f>'My code'!$Z$2:$Z$12</c:f>
              <c:numCache>
                <c:formatCode>General</c:formatCode>
                <c:ptCount val="11"/>
                <c:pt idx="0">
                  <c:v>54.7</c:v>
                </c:pt>
                <c:pt idx="1">
                  <c:v>278</c:v>
                </c:pt>
                <c:pt idx="2">
                  <c:v>562.9</c:v>
                </c:pt>
                <c:pt idx="3">
                  <c:v>3458</c:v>
                </c:pt>
                <c:pt idx="4">
                  <c:v>279.8</c:v>
                </c:pt>
                <c:pt idx="5">
                  <c:v>1655.8</c:v>
                </c:pt>
                <c:pt idx="6">
                  <c:v>7178.9</c:v>
                </c:pt>
                <c:pt idx="7">
                  <c:v>278.7</c:v>
                </c:pt>
                <c:pt idx="8">
                  <c:v>275.10000000000002</c:v>
                </c:pt>
                <c:pt idx="9">
                  <c:v>14120.2</c:v>
                </c:pt>
                <c:pt idx="10">
                  <c:v>128.30000000000001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D223-4538-A26F-4A27969DCBF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1193371456"/>
        <c:axId val="1193388736"/>
      </c:barChart>
      <c:catAx>
        <c:axId val="119337145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ysClr val="windowText" lastClr="000000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193388736"/>
        <c:crosses val="autoZero"/>
        <c:auto val="1"/>
        <c:lblAlgn val="ctr"/>
        <c:lblOffset val="100"/>
        <c:noMultiLvlLbl val="0"/>
      </c:catAx>
      <c:valAx>
        <c:axId val="1193388736"/>
        <c:scaling>
          <c:logBase val="10"/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00" b="0" i="0" u="none" strike="noStrike" kern="1200" baseline="0">
                <a:solidFill>
                  <a:sysClr val="windowText" lastClr="000000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193371456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ysClr val="windowText" lastClr="000000"/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>
          <a:solidFill>
            <a:sysClr val="windowText" lastClr="000000"/>
          </a:solidFill>
        </a:defRPr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38C71A-5909-CF86-1D4C-C80081E69FD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A063BE8-3C39-8FB3-F291-5D4BCFFCBC7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CFCB15A-C04C-D734-9AE9-FB0507910A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82F6CF-691D-4136-B8B0-FFE3382DCECE}" type="datetimeFigureOut">
              <a:rPr lang="en-IN" smtClean="0"/>
              <a:t>29/04/26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21326AB-2F48-DB93-E439-2EEEC0EADE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D32468-B245-2CC3-E751-16C232ACAA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083160-B98A-48A2-AAE1-974EDB0FCD6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595419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F1607C-ADC5-8B6C-677B-9F4E97751C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72E660-D6E0-41B5-22DA-E91E3EF7163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E1738D3-7A47-F7C9-1E2F-1713797765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82F6CF-691D-4136-B8B0-FFE3382DCECE}" type="datetimeFigureOut">
              <a:rPr lang="en-IN" smtClean="0"/>
              <a:t>29/04/26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6BE436-8DDE-C8B0-03D3-388E183FE2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B5E63B2-2EAC-47CD-1EC8-80C7C17634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083160-B98A-48A2-AAE1-974EDB0FCD6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344730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7A5AD9-3916-E141-A532-2D6899D175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71C1D18-3AB0-3A41-C183-9197C3AA6EA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AA356A-9407-930E-7ED0-8FDD7A81B4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82F6CF-691D-4136-B8B0-FFE3382DCECE}" type="datetimeFigureOut">
              <a:rPr lang="en-IN" smtClean="0"/>
              <a:t>29/04/26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AD46DB-3925-60D1-9176-65AE5BB57B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FE52CA-EC56-A77E-5541-5682CB1442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083160-B98A-48A2-AAE1-974EDB0FCD6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130216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0E81C4-ECC2-D79C-D545-E0F390C48C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F41606-A62B-2FEA-E521-4D6AE2094DD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2967B6E-3886-1554-3554-EADD7BAFEE1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19316E6-7997-0FBF-06AC-B4AD6052C8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82F6CF-691D-4136-B8B0-FFE3382DCECE}" type="datetimeFigureOut">
              <a:rPr lang="en-IN" smtClean="0"/>
              <a:t>29/04/26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8AEA6D5-9EEC-404C-DD6C-95338A5BAB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7466DE6-21DE-AD42-2774-DB40A8741C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083160-B98A-48A2-AAE1-974EDB0FCD6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144431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4CF8D3-B189-2C3D-E328-D4A416CDA6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07BCBBC-9FB1-34EA-5A54-21A79757A3F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71A0905-142A-1673-97FA-DDEBD2FBEB3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A982D15-9707-6707-601C-7BA32B4D8C2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43CC274-1C8B-7112-0D38-30C88F1BC29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7BD9790-7223-A360-346B-BE4A755478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82F6CF-691D-4136-B8B0-FFE3382DCECE}" type="datetimeFigureOut">
              <a:rPr lang="en-IN" smtClean="0"/>
              <a:t>29/04/26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7476B2B-C416-25C1-C0CB-E611D4B607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CAF6EB0-4D6C-26D8-890E-2A5C7204E3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083160-B98A-48A2-AAE1-974EDB0FCD6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937285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1A761D-ECF6-B056-9CF4-F1175ECA7E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5EEEC89-25A0-248C-C16B-7BB1B97190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82F6CF-691D-4136-B8B0-FFE3382DCECE}" type="datetimeFigureOut">
              <a:rPr lang="en-IN" smtClean="0"/>
              <a:t>29/04/26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501EECA-A92E-61E4-1276-2F7F5629B1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35C1A0D-21F4-EEB4-4B64-83596D9848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083160-B98A-48A2-AAE1-974EDB0FCD6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681957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431B74E-8C6C-0EE1-72A6-F6D3DE1CA3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82F6CF-691D-4136-B8B0-FFE3382DCECE}" type="datetimeFigureOut">
              <a:rPr lang="en-IN" smtClean="0"/>
              <a:t>29/04/26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8EA80B6-9D8D-0ACD-5D6B-A805234FD2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A6C6681-92CA-17DF-160E-BB883D495B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083160-B98A-48A2-AAE1-974EDB0FCD6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696640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BF25E2-0A1B-31B7-9149-4CD7753643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27547C-7435-059E-BA88-46E672A3CE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CF1B1E1-3CAD-4E2C-9C1A-51A668C3BDD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C1CA28C-9A64-BC6B-2846-6F4447FC13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82F6CF-691D-4136-B8B0-FFE3382DCECE}" type="datetimeFigureOut">
              <a:rPr lang="en-IN" smtClean="0"/>
              <a:t>29/04/26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8D94A9B-093E-D91A-4FC7-2DD1581A83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7CB0C0E-184D-E2A3-2BA0-F95469CF15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083160-B98A-48A2-AAE1-974EDB0FCD6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944634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821E70-821C-1B58-3E27-CFC21EB42D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BF1589B-5683-8D54-A9D3-0F2159C41E3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5628F4D-CD77-BC28-7058-2B102BD7529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6382971-C7C2-74AA-A5B8-419BF25AA7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82F6CF-691D-4136-B8B0-FFE3382DCECE}" type="datetimeFigureOut">
              <a:rPr lang="en-IN" smtClean="0"/>
              <a:t>29/04/26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EE3E5AE-5062-7E08-F6C2-A25DA40B30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890E80C-A34C-977D-847A-933CAEE643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083160-B98A-48A2-AAE1-974EDB0FCD6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236342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CEA39C-AD25-C23C-7D14-AAE05C8AD7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64DD3CB-2DA1-E853-22EA-54980E0B547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698642E-DEE8-6ED9-0566-3D85F8AF2B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82F6CF-691D-4136-B8B0-FFE3382DCECE}" type="datetimeFigureOut">
              <a:rPr lang="en-IN" smtClean="0"/>
              <a:t>29/04/26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DB9C3A0-3B27-C9A1-A834-9B979C6F8F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6A9C6AE-F66B-69A3-E343-87707C479A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083160-B98A-48A2-AAE1-974EDB0FCD6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543857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A30B950-B7EB-0F0D-E55D-47ECC91E564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18BF852-AFC4-BDBD-91D9-116106FEA6B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51B90E3-DBA7-0A29-4E6E-4607AF29EF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82F6CF-691D-4136-B8B0-FFE3382DCECE}" type="datetimeFigureOut">
              <a:rPr lang="en-IN" smtClean="0"/>
              <a:t>29/04/26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0EE26B-65EE-A73B-32E9-3D8BCEF004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09721DD-578A-345E-73AE-C10A9841BB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083160-B98A-48A2-AAE1-974EDB0FCD6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83232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AC5785C-D100-FAB4-F3C4-3EB1EA9509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40D4AE3-8B0B-1A62-2767-97B47A94A9A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54C16E-9AEC-4255-6B24-534E7FCD9A7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B82F6CF-691D-4136-B8B0-FFE3382DCECE}" type="datetimeFigureOut">
              <a:rPr lang="en-IN" smtClean="0"/>
              <a:t>29/04/26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9F4A14A-8ACA-6E33-7740-D0964CC51D6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864BE8-74D1-0C89-ADC9-EA9E612EC28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7083160-B98A-48A2-AAE1-974EDB0FCD6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096660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A5B03FD8-0699-3635-05BF-06D39E95A948}"/>
              </a:ext>
            </a:extLst>
          </p:cNvPr>
          <p:cNvSpPr txBox="1"/>
          <p:nvPr/>
        </p:nvSpPr>
        <p:spPr>
          <a:xfrm>
            <a:off x="0" y="1510534"/>
            <a:ext cx="4521995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C00000"/>
                </a:solidFill>
              </a:rPr>
              <a:t>partition-</a:t>
            </a:r>
            <a:r>
              <a:rPr lang="en-US" sz="3200" b="1" dirty="0" err="1">
                <a:solidFill>
                  <a:srgbClr val="C00000"/>
                </a:solidFill>
              </a:rPr>
              <a:t>cuda</a:t>
            </a:r>
            <a:r>
              <a:rPr lang="en-US" sz="3200" b="1" dirty="0">
                <a:solidFill>
                  <a:srgbClr val="C00000"/>
                </a:solidFill>
              </a:rPr>
              <a:t> </a:t>
            </a:r>
          </a:p>
          <a:p>
            <a:pPr algn="ctr"/>
            <a:r>
              <a:rPr lang="en-US" sz="3200" b="1" dirty="0">
                <a:solidFill>
                  <a:srgbClr val="C00000"/>
                </a:solidFill>
              </a:rPr>
              <a:t>vs </a:t>
            </a:r>
          </a:p>
          <a:p>
            <a:pPr algn="ctr"/>
            <a:r>
              <a:rPr lang="en-US" sz="3200" b="1" dirty="0">
                <a:solidFill>
                  <a:srgbClr val="C00000"/>
                </a:solidFill>
              </a:rPr>
              <a:t>partition-batch-</a:t>
            </a:r>
            <a:r>
              <a:rPr lang="en-US" sz="3200" b="1" dirty="0" err="1">
                <a:solidFill>
                  <a:srgbClr val="C00000"/>
                </a:solidFill>
              </a:rPr>
              <a:t>cuda</a:t>
            </a:r>
            <a:r>
              <a:rPr lang="en-US" sz="3200" b="1" dirty="0">
                <a:solidFill>
                  <a:srgbClr val="C00000"/>
                </a:solidFill>
              </a:rPr>
              <a:t> (My code)</a:t>
            </a:r>
            <a:endParaRPr lang="en-IN" sz="3200" b="1" dirty="0">
              <a:solidFill>
                <a:srgbClr val="C00000"/>
              </a:solidFill>
            </a:endParaRPr>
          </a:p>
        </p:txBody>
      </p:sp>
      <p:pic>
        <p:nvPicPr>
          <p:cNvPr id="1030" name="Picture 6">
            <a:extLst>
              <a:ext uri="{FF2B5EF4-FFF2-40B4-BE49-F238E27FC236}">
                <a16:creationId xmlns:a16="http://schemas.microsoft.com/office/drawing/2014/main" id="{9659CE1A-2F50-3010-55EE-07B34221391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52101" y="162859"/>
            <a:ext cx="8089963" cy="66951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4068466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1D4BAC60-84D8-3A14-1323-25EB706D6BF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8541"/>
          <a:stretch>
            <a:fillRect/>
          </a:stretch>
        </p:blipFill>
        <p:spPr>
          <a:xfrm>
            <a:off x="335113" y="1542247"/>
            <a:ext cx="10193173" cy="1435609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AF13CEA9-8C2B-109D-584D-C011997F0DBB}"/>
              </a:ext>
            </a:extLst>
          </p:cNvPr>
          <p:cNvSpPr txBox="1"/>
          <p:nvPr/>
        </p:nvSpPr>
        <p:spPr>
          <a:xfrm>
            <a:off x="2915950" y="979780"/>
            <a:ext cx="159105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/>
              <a:t>Time taken to start</a:t>
            </a:r>
            <a:endParaRPr lang="en-IN" sz="140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80F3229-2841-5F68-D26F-7AFD82B9C773}"/>
              </a:ext>
            </a:extLst>
          </p:cNvPr>
          <p:cNvSpPr txBox="1"/>
          <p:nvPr/>
        </p:nvSpPr>
        <p:spPr>
          <a:xfrm>
            <a:off x="4803157" y="1085080"/>
            <a:ext cx="307913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>
                <a:solidFill>
                  <a:schemeClr val="accent4"/>
                </a:solidFill>
              </a:rPr>
              <a:t>Partition func calculation</a:t>
            </a:r>
            <a:endParaRPr lang="en-IN" sz="1400">
              <a:solidFill>
                <a:schemeClr val="accent4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57F4AB2-6D51-0E8A-565D-433BA33B68D0}"/>
              </a:ext>
            </a:extLst>
          </p:cNvPr>
          <p:cNvSpPr txBox="1"/>
          <p:nvPr/>
        </p:nvSpPr>
        <p:spPr>
          <a:xfrm>
            <a:off x="7882293" y="941930"/>
            <a:ext cx="280252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/>
              <a:t>Processing to obtain probabilities output</a:t>
            </a:r>
            <a:endParaRPr lang="en-IN" sz="140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CD64781-889D-D1CA-413E-6FD44A1BC3C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373" b="40435"/>
          <a:stretch>
            <a:fillRect/>
          </a:stretch>
        </p:blipFill>
        <p:spPr>
          <a:xfrm>
            <a:off x="445745" y="3755766"/>
            <a:ext cx="10193173" cy="1435608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49AB0AE9-4943-63A0-FE50-53F50D9903D2}"/>
              </a:ext>
            </a:extLst>
          </p:cNvPr>
          <p:cNvSpPr txBox="1"/>
          <p:nvPr/>
        </p:nvSpPr>
        <p:spPr>
          <a:xfrm>
            <a:off x="3025420" y="3281855"/>
            <a:ext cx="68051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partition-batch-</a:t>
            </a:r>
            <a:r>
              <a:rPr lang="en-US" b="1" dirty="0" err="1"/>
              <a:t>cuda</a:t>
            </a:r>
            <a:r>
              <a:rPr lang="en-US" b="1" dirty="0"/>
              <a:t>: 39 RNAs (</a:t>
            </a:r>
            <a:r>
              <a:rPr lang="en-US" b="1" dirty="0" err="1"/>
              <a:t>fluc</a:t>
            </a:r>
            <a:r>
              <a:rPr lang="en-US" b="1" dirty="0"/>
              <a:t> </a:t>
            </a:r>
            <a:r>
              <a:rPr lang="en-US" b="1" dirty="0">
                <a:solidFill>
                  <a:srgbClr val="C00000"/>
                </a:solidFill>
              </a:rPr>
              <a:t>~1916 </a:t>
            </a:r>
            <a:r>
              <a:rPr lang="en-US" b="1" dirty="0" err="1">
                <a:solidFill>
                  <a:srgbClr val="C00000"/>
                </a:solidFill>
              </a:rPr>
              <a:t>nts</a:t>
            </a:r>
            <a:r>
              <a:rPr lang="en-US" b="1" dirty="0"/>
              <a:t>)</a:t>
            </a:r>
            <a:endParaRPr lang="en-IN" b="1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7AB7B78-4F33-01EA-99B5-E14D795FDE06}"/>
              </a:ext>
            </a:extLst>
          </p:cNvPr>
          <p:cNvSpPr txBox="1"/>
          <p:nvPr/>
        </p:nvSpPr>
        <p:spPr>
          <a:xfrm>
            <a:off x="3534612" y="395005"/>
            <a:ext cx="51227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partition-</a:t>
            </a:r>
            <a:r>
              <a:rPr lang="en-US" b="1" dirty="0" err="1"/>
              <a:t>cuda</a:t>
            </a:r>
            <a:r>
              <a:rPr lang="en-US" b="1" dirty="0"/>
              <a:t>: Single RNA (</a:t>
            </a:r>
            <a:r>
              <a:rPr lang="en-US" b="1" dirty="0" err="1"/>
              <a:t>fluc</a:t>
            </a:r>
            <a:r>
              <a:rPr lang="en-US" b="1" dirty="0"/>
              <a:t> </a:t>
            </a:r>
            <a:r>
              <a:rPr lang="en-US" b="1" dirty="0">
                <a:solidFill>
                  <a:srgbClr val="C00000"/>
                </a:solidFill>
              </a:rPr>
              <a:t>~1916 </a:t>
            </a:r>
            <a:r>
              <a:rPr lang="en-US" b="1" dirty="0" err="1">
                <a:solidFill>
                  <a:srgbClr val="C00000"/>
                </a:solidFill>
              </a:rPr>
              <a:t>nts</a:t>
            </a:r>
            <a:r>
              <a:rPr lang="en-US" b="1" dirty="0"/>
              <a:t>)</a:t>
            </a:r>
            <a:endParaRPr lang="en-IN" b="1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30B2DAD7-E23C-982D-C1C2-B4928DC440D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5113" y="5593754"/>
            <a:ext cx="5380614" cy="905256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510BFE2B-E76E-E492-8726-52354626E1F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70673" y="5646831"/>
            <a:ext cx="5255379" cy="905256"/>
          </a:xfrm>
          <a:prstGeom prst="rect">
            <a:avLst/>
          </a:prstGeom>
        </p:spPr>
      </p:pic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116A2F66-6F34-23E2-1FE8-F417C44FE429}"/>
              </a:ext>
            </a:extLst>
          </p:cNvPr>
          <p:cNvCxnSpPr/>
          <p:nvPr/>
        </p:nvCxnSpPr>
        <p:spPr>
          <a:xfrm flipH="1">
            <a:off x="335113" y="4334256"/>
            <a:ext cx="3376365" cy="1259498"/>
          </a:xfrm>
          <a:prstGeom prst="line">
            <a:avLst/>
          </a:prstGeom>
          <a:ln>
            <a:prstDash val="dash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E49D50C8-9F80-831B-C688-BC98A2E55FD9}"/>
              </a:ext>
            </a:extLst>
          </p:cNvPr>
          <p:cNvCxnSpPr>
            <a:cxnSpLocks/>
          </p:cNvCxnSpPr>
          <p:nvPr/>
        </p:nvCxnSpPr>
        <p:spPr>
          <a:xfrm>
            <a:off x="9847038" y="4301208"/>
            <a:ext cx="1879014" cy="1345623"/>
          </a:xfrm>
          <a:prstGeom prst="line">
            <a:avLst/>
          </a:prstGeom>
          <a:ln>
            <a:prstDash val="dash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086867AE-8C86-D74A-4A5C-305ACE5E6459}"/>
              </a:ext>
            </a:extLst>
          </p:cNvPr>
          <p:cNvSpPr txBox="1"/>
          <p:nvPr/>
        </p:nvSpPr>
        <p:spPr>
          <a:xfrm>
            <a:off x="3711478" y="5191375"/>
            <a:ext cx="53806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>
                <a:highlight>
                  <a:srgbClr val="FFFF00"/>
                </a:highlight>
              </a:rPr>
              <a:t>Cuda streams to process multiple RNAs</a:t>
            </a:r>
          </a:p>
        </p:txBody>
      </p:sp>
    </p:spTree>
    <p:extLst>
      <p:ext uri="{BB962C8B-B14F-4D97-AF65-F5344CB8AC3E}">
        <p14:creationId xmlns:p14="http://schemas.microsoft.com/office/powerpoint/2010/main" val="251123134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" name="Chart 9">
            <a:extLst>
              <a:ext uri="{FF2B5EF4-FFF2-40B4-BE49-F238E27FC236}">
                <a16:creationId xmlns:a16="http://schemas.microsoft.com/office/drawing/2014/main" id="{A5D0ABBD-CCC6-6E3A-F008-45F596FD54CE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00085851"/>
              </p:ext>
            </p:extLst>
          </p:nvPr>
        </p:nvGraphicFramePr>
        <p:xfrm>
          <a:off x="446532" y="1243585"/>
          <a:ext cx="6832092" cy="477316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0B6FD478-C810-CD51-2259-687A5BB0CD27}"/>
              </a:ext>
            </a:extLst>
          </p:cNvPr>
          <p:cNvSpPr txBox="1"/>
          <p:nvPr/>
        </p:nvSpPr>
        <p:spPr>
          <a:xfrm>
            <a:off x="7729728" y="1408177"/>
            <a:ext cx="4462272" cy="18857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3200" b="1">
                <a:solidFill>
                  <a:srgbClr val="C00000"/>
                </a:solidFill>
              </a:rPr>
              <a:t>Total time(~1916 nts) </a:t>
            </a:r>
          </a:p>
          <a:p>
            <a:pPr>
              <a:lnSpc>
                <a:spcPct val="150000"/>
              </a:lnSpc>
            </a:pPr>
            <a:r>
              <a:rPr lang="en-US" sz="2400" b="1">
                <a:solidFill>
                  <a:srgbClr val="C00000"/>
                </a:solidFill>
              </a:rPr>
              <a:t>-1 RNA: 770 ms</a:t>
            </a:r>
          </a:p>
          <a:p>
            <a:pPr>
              <a:lnSpc>
                <a:spcPct val="150000"/>
              </a:lnSpc>
            </a:pPr>
            <a:r>
              <a:rPr lang="en-IN" sz="2400" b="1">
                <a:solidFill>
                  <a:srgbClr val="C00000"/>
                </a:solidFill>
              </a:rPr>
              <a:t>-39 RNAs: 13800 ms(18x</a:t>
            </a:r>
            <a:r>
              <a:rPr lang="en-IN" b="1">
                <a:solidFill>
                  <a:srgbClr val="C00000"/>
                </a:solidFill>
              </a:rPr>
              <a:t>)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782B718-9601-0333-B82B-35B6620A194C}"/>
              </a:ext>
            </a:extLst>
          </p:cNvPr>
          <p:cNvSpPr txBox="1"/>
          <p:nvPr/>
        </p:nvSpPr>
        <p:spPr>
          <a:xfrm>
            <a:off x="7729728" y="4023360"/>
            <a:ext cx="40157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Number of SMs: 108</a:t>
            </a:r>
          </a:p>
          <a:p>
            <a:r>
              <a:rPr lang="en-US"/>
              <a:t>NVIDIA A100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5295439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0C6E256-6525-27F5-89CA-E46FCC66032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8924" y="1307778"/>
            <a:ext cx="10193173" cy="1762371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1849BF74-8E59-185F-81E9-73D2805597B7}"/>
              </a:ext>
            </a:extLst>
          </p:cNvPr>
          <p:cNvSpPr txBox="1"/>
          <p:nvPr/>
        </p:nvSpPr>
        <p:spPr>
          <a:xfrm>
            <a:off x="4309708" y="102618"/>
            <a:ext cx="910775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/>
              <a:t>For one </a:t>
            </a:r>
            <a:r>
              <a:rPr lang="en-US" sz="3200" b="1" dirty="0" err="1"/>
              <a:t>fluc</a:t>
            </a:r>
            <a:r>
              <a:rPr lang="en-US" sz="3200" b="1" dirty="0"/>
              <a:t> RNA</a:t>
            </a:r>
            <a:endParaRPr lang="en-IN" sz="3200" b="1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E96A770-A506-2665-D0EA-C99DB65FD4F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8632" y="3787852"/>
            <a:ext cx="9507277" cy="1981477"/>
          </a:xfrm>
          <a:prstGeom prst="rect">
            <a:avLst/>
          </a:prstGeom>
        </p:spPr>
      </p:pic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967F2734-CD6B-27F6-EF0C-125CD357A4B6}"/>
              </a:ext>
            </a:extLst>
          </p:cNvPr>
          <p:cNvCxnSpPr/>
          <p:nvPr/>
        </p:nvCxnSpPr>
        <p:spPr>
          <a:xfrm>
            <a:off x="9994956" y="4186165"/>
            <a:ext cx="338094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C53EFCE0-B8E5-60C5-8B0B-BF7715DA8EDE}"/>
              </a:ext>
            </a:extLst>
          </p:cNvPr>
          <p:cNvSpPr txBox="1"/>
          <p:nvPr/>
        </p:nvSpPr>
        <p:spPr>
          <a:xfrm>
            <a:off x="10333050" y="4001499"/>
            <a:ext cx="20787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GPU utilisation</a:t>
            </a:r>
            <a:endParaRPr lang="en-IN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EA3720D-FCD7-F2D9-7067-8C9C2D31C60F}"/>
              </a:ext>
            </a:extLst>
          </p:cNvPr>
          <p:cNvSpPr txBox="1"/>
          <p:nvPr/>
        </p:nvSpPr>
        <p:spPr>
          <a:xfrm>
            <a:off x="2980944" y="687393"/>
            <a:ext cx="159105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/>
              <a:t>Time taken to start</a:t>
            </a:r>
            <a:endParaRPr lang="en-IN" sz="140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EE3AB75-1956-90E7-B037-93CFA955117A}"/>
              </a:ext>
            </a:extLst>
          </p:cNvPr>
          <p:cNvSpPr txBox="1"/>
          <p:nvPr/>
        </p:nvSpPr>
        <p:spPr>
          <a:xfrm>
            <a:off x="4803157" y="825892"/>
            <a:ext cx="307913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>
                <a:solidFill>
                  <a:schemeClr val="accent4"/>
                </a:solidFill>
              </a:rPr>
              <a:t>Partition func calculation</a:t>
            </a:r>
            <a:endParaRPr lang="en-IN" sz="1400">
              <a:solidFill>
                <a:schemeClr val="accent4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CBFBC1E-C297-1C7B-830A-0BEF727171C0}"/>
              </a:ext>
            </a:extLst>
          </p:cNvPr>
          <p:cNvSpPr txBox="1"/>
          <p:nvPr/>
        </p:nvSpPr>
        <p:spPr>
          <a:xfrm>
            <a:off x="7882293" y="665349"/>
            <a:ext cx="280252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/>
              <a:t>Processing to obtain probabilities output</a:t>
            </a:r>
            <a:endParaRPr lang="en-IN" sz="1400"/>
          </a:p>
        </p:txBody>
      </p:sp>
    </p:spTree>
    <p:extLst>
      <p:ext uri="{BB962C8B-B14F-4D97-AF65-F5344CB8AC3E}">
        <p14:creationId xmlns:p14="http://schemas.microsoft.com/office/powerpoint/2010/main" val="299858109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Picture 18">
            <a:extLst>
              <a:ext uri="{FF2B5EF4-FFF2-40B4-BE49-F238E27FC236}">
                <a16:creationId xmlns:a16="http://schemas.microsoft.com/office/drawing/2014/main" id="{5A2B3A85-67F4-AC8B-5EDA-C292B957D6D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180" y="1792352"/>
            <a:ext cx="6035566" cy="1933725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4A7032FC-A123-3E12-7785-80B3FCF86A2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00" y="1718876"/>
            <a:ext cx="5872920" cy="2007201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4814EA86-25A1-829A-C15F-22A734EE58B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01106" y="4564788"/>
            <a:ext cx="6633499" cy="1964395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D5C93794-FBDC-DCAD-91D5-FF0CF0B3BE9C}"/>
              </a:ext>
            </a:extLst>
          </p:cNvPr>
          <p:cNvSpPr txBox="1"/>
          <p:nvPr/>
        </p:nvSpPr>
        <p:spPr>
          <a:xfrm>
            <a:off x="953788" y="225312"/>
            <a:ext cx="9996978" cy="8925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Progress from d=0 to d=n-1</a:t>
            </a:r>
          </a:p>
          <a:p>
            <a:pPr algn="ctr"/>
            <a:r>
              <a:rPr lang="en-US" sz="2000" dirty="0"/>
              <a:t>d is the subsequence length (or location in the matrix with d=0 indicating the diagonal)</a:t>
            </a:r>
            <a:endParaRPr lang="en-IN" sz="20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CC3F2DE-3898-477E-BD8F-0DEA224B49FE}"/>
              </a:ext>
            </a:extLst>
          </p:cNvPr>
          <p:cNvSpPr txBox="1"/>
          <p:nvPr/>
        </p:nvSpPr>
        <p:spPr>
          <a:xfrm>
            <a:off x="2319880" y="1423020"/>
            <a:ext cx="25999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Around 400 </a:t>
            </a:r>
            <a:r>
              <a:rPr lang="en-US" dirty="0" err="1"/>
              <a:t>ms</a:t>
            </a: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1B55FA8-CEB7-EF70-DA67-8FDF60BFBC5D}"/>
              </a:ext>
            </a:extLst>
          </p:cNvPr>
          <p:cNvSpPr txBox="1"/>
          <p:nvPr/>
        </p:nvSpPr>
        <p:spPr>
          <a:xfrm>
            <a:off x="8572130" y="1331035"/>
            <a:ext cx="25999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Around 600 </a:t>
            </a:r>
            <a:r>
              <a:rPr lang="en-US" dirty="0" err="1"/>
              <a:t>ms</a:t>
            </a:r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453D913-D1F8-2B7B-0A97-659F49FD0FF6}"/>
              </a:ext>
            </a:extLst>
          </p:cNvPr>
          <p:cNvSpPr txBox="1"/>
          <p:nvPr/>
        </p:nvSpPr>
        <p:spPr>
          <a:xfrm>
            <a:off x="4817864" y="4132427"/>
            <a:ext cx="25999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Around 1000 </a:t>
            </a:r>
            <a:r>
              <a:rPr lang="en-US" dirty="0" err="1"/>
              <a:t>ms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4627428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A51B653-C097-7228-DE49-6604AE6DFF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3739" y="1709492"/>
            <a:ext cx="10278909" cy="981212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7148CA8C-05CD-60E2-3C11-D81EA5680FE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2791" y="3346508"/>
            <a:ext cx="10259857" cy="100979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0B0EABD-69C6-52AF-37F7-05873595260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2791" y="5267486"/>
            <a:ext cx="10288436" cy="1009791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D9E29FD6-0953-F5A2-BC55-D4AF03B633EF}"/>
              </a:ext>
            </a:extLst>
          </p:cNvPr>
          <p:cNvSpPr txBox="1"/>
          <p:nvPr/>
        </p:nvSpPr>
        <p:spPr>
          <a:xfrm>
            <a:off x="5272401" y="1294386"/>
            <a:ext cx="25999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Around 400 </a:t>
            </a:r>
            <a:r>
              <a:rPr lang="en-US" dirty="0" err="1"/>
              <a:t>ms</a:t>
            </a: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3DE3258-AF5B-6EE4-D7BD-8BD5B63826B8}"/>
              </a:ext>
            </a:extLst>
          </p:cNvPr>
          <p:cNvSpPr txBox="1"/>
          <p:nvPr/>
        </p:nvSpPr>
        <p:spPr>
          <a:xfrm>
            <a:off x="5013682" y="2977176"/>
            <a:ext cx="25999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Around 600 </a:t>
            </a:r>
            <a:r>
              <a:rPr lang="en-US" dirty="0" err="1"/>
              <a:t>ms</a:t>
            </a:r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CFE5ECB-A8EC-F6C3-C428-E66E29DE1950}"/>
              </a:ext>
            </a:extLst>
          </p:cNvPr>
          <p:cNvSpPr txBox="1"/>
          <p:nvPr/>
        </p:nvSpPr>
        <p:spPr>
          <a:xfrm>
            <a:off x="4696678" y="4771405"/>
            <a:ext cx="25999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Around 1000 </a:t>
            </a:r>
            <a:r>
              <a:rPr lang="en-US" dirty="0" err="1"/>
              <a:t>ms</a:t>
            </a:r>
            <a:endParaRPr 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4DBA7C7-3224-4966-7927-D9B3A54AF6D0}"/>
              </a:ext>
            </a:extLst>
          </p:cNvPr>
          <p:cNvSpPr txBox="1"/>
          <p:nvPr/>
        </p:nvSpPr>
        <p:spPr>
          <a:xfrm>
            <a:off x="2593937" y="361583"/>
            <a:ext cx="788310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600" b="1" dirty="0"/>
              <a:t>Better GPU utilization later.</a:t>
            </a:r>
          </a:p>
        </p:txBody>
      </p:sp>
    </p:spTree>
    <p:extLst>
      <p:ext uri="{BB962C8B-B14F-4D97-AF65-F5344CB8AC3E}">
        <p14:creationId xmlns:p14="http://schemas.microsoft.com/office/powerpoint/2010/main" val="329118583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4850</TotalTime>
  <Words>157</Words>
  <Application>Microsoft Macintosh PowerPoint</Application>
  <PresentationFormat>Widescreen</PresentationFormat>
  <Paragraphs>30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Ashwin Amalaruban</dc:creator>
  <cp:lastModifiedBy>Ashwin Amalaruban M</cp:lastModifiedBy>
  <cp:revision>10</cp:revision>
  <dcterms:created xsi:type="dcterms:W3CDTF">2025-07-19T02:24:35Z</dcterms:created>
  <dcterms:modified xsi:type="dcterms:W3CDTF">2026-04-29T18:02:22Z</dcterms:modified>
</cp:coreProperties>
</file>