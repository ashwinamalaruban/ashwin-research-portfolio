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6" r:id="rId3"/>
    <p:sldId id="284" r:id="rId4"/>
    <p:sldId id="285" r:id="rId5"/>
    <p:sldId id="283" r:id="rId6"/>
    <p:sldId id="282" r:id="rId7"/>
    <p:sldId id="286" r:id="rId8"/>
    <p:sldId id="287" r:id="rId9"/>
    <p:sldId id="289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08" autoAdjust="0"/>
    <p:restoredTop sz="94658" autoAdjust="0"/>
  </p:normalViewPr>
  <p:slideViewPr>
    <p:cSldViewPr>
      <p:cViewPr varScale="1">
        <p:scale>
          <a:sx n="87" d="100"/>
          <a:sy n="87" d="100"/>
        </p:scale>
        <p:origin x="107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40A2C-1BD6-B4BF-6A58-69D4448B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F2ABA9-5BE7-D8F0-B181-553CB1EC63DB}"/>
              </a:ext>
            </a:extLst>
          </p:cNvPr>
          <p:cNvSpPr txBox="1"/>
          <p:nvPr/>
        </p:nvSpPr>
        <p:spPr>
          <a:xfrm>
            <a:off x="406400" y="552271"/>
            <a:ext cx="154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What happens to asphaltene-laden interfaces of water-oil emulsion</a:t>
            </a:r>
          </a:p>
          <a:p>
            <a:pPr algn="ctr"/>
            <a:r>
              <a:rPr lang="en-US" sz="3200" dirty="0"/>
              <a:t>Demulsification mechanism by </a:t>
            </a:r>
            <a:r>
              <a:rPr lang="en-US" sz="3200" dirty="0" err="1"/>
              <a:t>demulsifiers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1484D-1798-324D-9F6A-63341A2AEEAA}"/>
              </a:ext>
            </a:extLst>
          </p:cNvPr>
          <p:cNvSpPr txBox="1"/>
          <p:nvPr/>
        </p:nvSpPr>
        <p:spPr>
          <a:xfrm>
            <a:off x="203200" y="8611394"/>
            <a:ext cx="474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Sun et al., </a:t>
            </a:r>
            <a:r>
              <a:rPr lang="en-US" i="1" dirty="0"/>
              <a:t>Processes</a:t>
            </a:r>
            <a:r>
              <a:rPr lang="en-US" dirty="0"/>
              <a:t>,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E8873E-085D-4B4F-593B-07E78959D1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205"/>
          <a:stretch>
            <a:fillRect/>
          </a:stretch>
        </p:blipFill>
        <p:spPr>
          <a:xfrm>
            <a:off x="2557616" y="2163097"/>
            <a:ext cx="10210800" cy="4572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25C74E7-8E1A-2AE3-C0CF-CC42FD912820}"/>
              </a:ext>
            </a:extLst>
          </p:cNvPr>
          <p:cNvSpPr/>
          <p:nvPr/>
        </p:nvSpPr>
        <p:spPr>
          <a:xfrm>
            <a:off x="2515828" y="3543696"/>
            <a:ext cx="2183172" cy="3314303"/>
          </a:xfrm>
          <a:prstGeom prst="rect">
            <a:avLst/>
          </a:prstGeom>
          <a:noFill/>
          <a:ln w="57150"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AC6F1-F77B-74A2-2B8A-9208F5873F1C}"/>
              </a:ext>
            </a:extLst>
          </p:cNvPr>
          <p:cNvSpPr txBox="1"/>
          <p:nvPr/>
        </p:nvSpPr>
        <p:spPr>
          <a:xfrm>
            <a:off x="1574800" y="7073721"/>
            <a:ext cx="1165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Attempted to do this using MD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A3FF9A-90B9-EC1F-47A0-154631D319EC}"/>
              </a:ext>
            </a:extLst>
          </p:cNvPr>
          <p:cNvSpPr/>
          <p:nvPr/>
        </p:nvSpPr>
        <p:spPr>
          <a:xfrm>
            <a:off x="12116210" y="2383612"/>
            <a:ext cx="6858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97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9B3603-09A7-69CC-4AA5-07EF1B60040F}"/>
              </a:ext>
            </a:extLst>
          </p:cNvPr>
          <p:cNvSpPr txBox="1"/>
          <p:nvPr/>
        </p:nvSpPr>
        <p:spPr>
          <a:xfrm>
            <a:off x="573263" y="161312"/>
            <a:ext cx="14546187" cy="1824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200" b="1" dirty="0">
                <a:latin typeface="+mj-lt"/>
                <a:ea typeface="+mj-ea"/>
                <a:cs typeface="+mj-cs"/>
              </a:rPr>
              <a:t>Adsorption of asphaltene molecules on water-oil interface using MD(</a:t>
            </a:r>
            <a:r>
              <a:rPr lang="en-US" sz="6200" b="1" dirty="0" err="1">
                <a:latin typeface="+mj-lt"/>
                <a:ea typeface="+mj-ea"/>
                <a:cs typeface="+mj-cs"/>
              </a:rPr>
              <a:t>gromacs</a:t>
            </a:r>
            <a:r>
              <a:rPr lang="en-US" sz="6200" b="1" dirty="0"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B0DFC-BE00-4D08-7588-D3CFCC7B9F1C}"/>
              </a:ext>
            </a:extLst>
          </p:cNvPr>
          <p:cNvSpPr txBox="1"/>
          <p:nvPr/>
        </p:nvSpPr>
        <p:spPr>
          <a:xfrm>
            <a:off x="621655" y="2270171"/>
            <a:ext cx="76730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Water-Hexane-water(W-O-W)</a:t>
            </a:r>
          </a:p>
          <a:p>
            <a:r>
              <a:rPr lang="en-US" sz="2800" dirty="0"/>
              <a:t>#molecules: 4000 W-3000 O-4000 W</a:t>
            </a:r>
          </a:p>
          <a:p>
            <a:r>
              <a:rPr lang="en-US" sz="2800" dirty="0"/>
              <a:t>Box dimensions(in A): 70 x 70 x 200 </a:t>
            </a:r>
          </a:p>
          <a:p>
            <a:r>
              <a:rPr lang="en-US" sz="2800" dirty="0" err="1"/>
              <a:t>i</a:t>
            </a:r>
            <a:r>
              <a:rPr lang="en-US" sz="2800" dirty="0"/>
              <a:t>) 10 asphaltene molecules dispersed in oil</a:t>
            </a:r>
          </a:p>
          <a:p>
            <a:r>
              <a:rPr lang="en-US" sz="2800" dirty="0"/>
              <a:t>ii) 20 asphaltene molecules dispersed in oil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228DEB-41A6-05BC-3574-5B43BC2F62B0}"/>
              </a:ext>
            </a:extLst>
          </p:cNvPr>
          <p:cNvSpPr txBox="1"/>
          <p:nvPr/>
        </p:nvSpPr>
        <p:spPr>
          <a:xfrm>
            <a:off x="7873710" y="2290158"/>
            <a:ext cx="81263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Water-</a:t>
            </a:r>
            <a:r>
              <a:rPr lang="en-US" sz="2800" b="1" dirty="0" err="1"/>
              <a:t>Decane</a:t>
            </a:r>
            <a:r>
              <a:rPr lang="en-US" sz="2800" b="1" dirty="0"/>
              <a:t>-Water(W-O-W)</a:t>
            </a:r>
          </a:p>
          <a:p>
            <a:r>
              <a:rPr lang="en-US" sz="2800" dirty="0"/>
              <a:t>#molecules: 4000 W-3000 O-4000 W</a:t>
            </a:r>
          </a:p>
          <a:p>
            <a:r>
              <a:rPr lang="en-US" sz="2800" dirty="0"/>
              <a:t>Box dimensions(in A): 80 x 80 x 200 </a:t>
            </a:r>
          </a:p>
          <a:p>
            <a:r>
              <a:rPr lang="en-US" sz="2800" dirty="0" err="1"/>
              <a:t>i</a:t>
            </a:r>
            <a:r>
              <a:rPr lang="en-US" sz="2800" dirty="0"/>
              <a:t>) 40 asphaltene molecules dispersed in oil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63DE90-6FC8-FE4B-C3FB-AA348F1FC5BD}"/>
              </a:ext>
            </a:extLst>
          </p:cNvPr>
          <p:cNvSpPr txBox="1"/>
          <p:nvPr/>
        </p:nvSpPr>
        <p:spPr>
          <a:xfrm>
            <a:off x="5156200" y="1835656"/>
            <a:ext cx="8399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Systems considered for 50 ns simulations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A61A57-9E73-5EF1-FE50-8A470C40D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08400" y="4675364"/>
            <a:ext cx="1951939" cy="43343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32809C-8ECD-97C4-37AB-F99118A23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581" y="4749102"/>
            <a:ext cx="2851599" cy="41992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E3AF2E-FDCA-ADB3-D98E-15E4A30237EB}"/>
              </a:ext>
            </a:extLst>
          </p:cNvPr>
          <p:cNvSpPr txBox="1"/>
          <p:nvPr/>
        </p:nvSpPr>
        <p:spPr>
          <a:xfrm>
            <a:off x="889000" y="6336268"/>
            <a:ext cx="503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Systems that start like this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B5702F-6C2F-DC6E-040C-9333FC84A192}"/>
              </a:ext>
            </a:extLst>
          </p:cNvPr>
          <p:cNvSpPr txBox="1"/>
          <p:nvPr/>
        </p:nvSpPr>
        <p:spPr>
          <a:xfrm>
            <a:off x="12365941" y="5505271"/>
            <a:ext cx="30010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And end up with &gt;50% of asphaltene molecules getting adsorbed in a 50ns simulation (2 fs timestep)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264596E-E3DC-EBCF-82A3-E81643AECA6C}"/>
              </a:ext>
            </a:extLst>
          </p:cNvPr>
          <p:cNvSpPr/>
          <p:nvPr/>
        </p:nvSpPr>
        <p:spPr>
          <a:xfrm>
            <a:off x="4684369" y="6553200"/>
            <a:ext cx="319431" cy="304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80ED336-403D-7763-0475-31A2E8A2E9BF}"/>
              </a:ext>
            </a:extLst>
          </p:cNvPr>
          <p:cNvSpPr/>
          <p:nvPr/>
        </p:nvSpPr>
        <p:spPr>
          <a:xfrm>
            <a:off x="4394201" y="7086600"/>
            <a:ext cx="457199" cy="304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C6FA935-C26C-1FFF-7639-99A7A1657569}"/>
              </a:ext>
            </a:extLst>
          </p:cNvPr>
          <p:cNvSpPr/>
          <p:nvPr/>
        </p:nvSpPr>
        <p:spPr>
          <a:xfrm>
            <a:off x="4836769" y="6705600"/>
            <a:ext cx="319431" cy="304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BFC7A23-B659-7DFE-2B9A-68224F7A35DF}"/>
              </a:ext>
            </a:extLst>
          </p:cNvPr>
          <p:cNvSpPr/>
          <p:nvPr/>
        </p:nvSpPr>
        <p:spPr>
          <a:xfrm flipV="1">
            <a:off x="11099800" y="8000998"/>
            <a:ext cx="457200" cy="38100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2F500C-FA52-3BD3-E7FD-74C7CC49EDCC}"/>
              </a:ext>
            </a:extLst>
          </p:cNvPr>
          <p:cNvSpPr/>
          <p:nvPr/>
        </p:nvSpPr>
        <p:spPr>
          <a:xfrm>
            <a:off x="10566400" y="5225046"/>
            <a:ext cx="533400" cy="52102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E8EB28-44E4-CDFE-F5A7-3B82F463C2F4}"/>
              </a:ext>
            </a:extLst>
          </p:cNvPr>
          <p:cNvSpPr txBox="1"/>
          <p:nvPr/>
        </p:nvSpPr>
        <p:spPr>
          <a:xfrm>
            <a:off x="6346140" y="6809601"/>
            <a:ext cx="3624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Asphaltene molecules shown in circles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0A0E31-ED3F-00D5-A041-B20A378C2323}"/>
              </a:ext>
            </a:extLst>
          </p:cNvPr>
          <p:cNvSpPr txBox="1"/>
          <p:nvPr/>
        </p:nvSpPr>
        <p:spPr>
          <a:xfrm>
            <a:off x="6346140" y="5496407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Representative figures at t=0ns and t=50ns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A7238-6AC0-4E2C-B0F8-A59EC2180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9CB74CA-15A4-A83A-AA54-4859626A8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479" y="3392489"/>
            <a:ext cx="3612810" cy="5359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8892FA-C736-5246-0DC2-41934F9C4608}"/>
              </a:ext>
            </a:extLst>
          </p:cNvPr>
          <p:cNvSpPr txBox="1"/>
          <p:nvPr/>
        </p:nvSpPr>
        <p:spPr>
          <a:xfrm>
            <a:off x="1878164" y="2574786"/>
            <a:ext cx="5038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t=0 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51CD16-C6E4-3411-454A-7A293F0A9D26}"/>
              </a:ext>
            </a:extLst>
          </p:cNvPr>
          <p:cNvSpPr txBox="1"/>
          <p:nvPr/>
        </p:nvSpPr>
        <p:spPr>
          <a:xfrm>
            <a:off x="9441553" y="2548592"/>
            <a:ext cx="5038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t=50 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96A9E2-D6B1-F929-9140-95BA9D0D7E49}"/>
              </a:ext>
            </a:extLst>
          </p:cNvPr>
          <p:cNvSpPr txBox="1"/>
          <p:nvPr/>
        </p:nvSpPr>
        <p:spPr>
          <a:xfrm>
            <a:off x="7151231" y="3129116"/>
            <a:ext cx="2290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Only asphaltene molecules shown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49443C-96D6-DAD4-8692-4091455E4C12}"/>
              </a:ext>
            </a:extLst>
          </p:cNvPr>
          <p:cNvSpPr txBox="1"/>
          <p:nvPr/>
        </p:nvSpPr>
        <p:spPr>
          <a:xfrm>
            <a:off x="14074941" y="5181600"/>
            <a:ext cx="21810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/>
              <a:t>Adsorbed asphaltene molecules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2C0888-32C0-2D0E-67B4-24095E248074}"/>
              </a:ext>
            </a:extLst>
          </p:cNvPr>
          <p:cNvCxnSpPr>
            <a:cxnSpLocks/>
          </p:cNvCxnSpPr>
          <p:nvPr/>
        </p:nvCxnSpPr>
        <p:spPr>
          <a:xfrm flipH="1" flipV="1">
            <a:off x="11960598" y="4419600"/>
            <a:ext cx="2519045" cy="114300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6F4A6A-D923-B09A-1F7F-306AE2214146}"/>
              </a:ext>
            </a:extLst>
          </p:cNvPr>
          <p:cNvCxnSpPr>
            <a:cxnSpLocks/>
          </p:cNvCxnSpPr>
          <p:nvPr/>
        </p:nvCxnSpPr>
        <p:spPr>
          <a:xfrm flipH="1">
            <a:off x="13577299" y="5937250"/>
            <a:ext cx="902344" cy="1735138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FD39CFD-0F39-8536-EB12-27466572E9F9}"/>
              </a:ext>
            </a:extLst>
          </p:cNvPr>
          <p:cNvSpPr txBox="1"/>
          <p:nvPr/>
        </p:nvSpPr>
        <p:spPr>
          <a:xfrm>
            <a:off x="4775200" y="466188"/>
            <a:ext cx="76730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Water-Hexane-water(W-O-W)</a:t>
            </a:r>
          </a:p>
          <a:p>
            <a:r>
              <a:rPr lang="en-US" sz="2800" dirty="0"/>
              <a:t>#molecules: 4000 W-3000 O-4000 W</a:t>
            </a:r>
          </a:p>
          <a:p>
            <a:r>
              <a:rPr lang="en-US" sz="2800" dirty="0"/>
              <a:t>Box dimensions(in A): 70 x 70 x 200 </a:t>
            </a:r>
          </a:p>
          <a:p>
            <a:r>
              <a:rPr lang="en-US" sz="2800" dirty="0"/>
              <a:t>10 asphaltene molecules dispersed in oil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5E36E1-D575-C754-CA70-4AC9CA70D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705" y="3147481"/>
            <a:ext cx="3568700" cy="566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4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291295-C798-E697-1CC0-A38AEA1A1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330143"/>
            <a:ext cx="7772400" cy="84837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77DD68-5E41-5C2F-213E-F344BF9A669F}"/>
              </a:ext>
            </a:extLst>
          </p:cNvPr>
          <p:cNvSpPr txBox="1"/>
          <p:nvPr/>
        </p:nvSpPr>
        <p:spPr>
          <a:xfrm>
            <a:off x="693994" y="724062"/>
            <a:ext cx="6400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Distance of COM(y-axis; in nm) for all 10 asphaltene molecules(10 subplots) with the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top</a:t>
            </a:r>
            <a:r>
              <a:rPr lang="en-US" sz="2800" b="1" dirty="0"/>
              <a:t> and </a:t>
            </a:r>
            <a:r>
              <a:rPr lang="en-US" sz="2800" b="1" dirty="0">
                <a:solidFill>
                  <a:srgbClr val="0070C0"/>
                </a:solidFill>
              </a:rPr>
              <a:t>bottom</a:t>
            </a:r>
            <a:r>
              <a:rPr lang="en-US" sz="2800" b="1" dirty="0"/>
              <a:t> oil-water interface with time(x-axis; 0 to 50000 </a:t>
            </a:r>
            <a:r>
              <a:rPr lang="en-US" sz="2800" b="1" dirty="0" err="1"/>
              <a:t>ps</a:t>
            </a:r>
            <a:r>
              <a:rPr lang="en-US" sz="2800" b="1" dirty="0"/>
              <a:t> or 50 ns)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347FA8-9429-4C3E-E7AE-10200B7F7E3A}"/>
              </a:ext>
            </a:extLst>
          </p:cNvPr>
          <p:cNvCxnSpPr>
            <a:cxnSpLocks/>
          </p:cNvCxnSpPr>
          <p:nvPr/>
        </p:nvCxnSpPr>
        <p:spPr>
          <a:xfrm>
            <a:off x="6375400" y="5562600"/>
            <a:ext cx="1981200" cy="2286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FAC9C6-D39F-BB03-E816-7937F018AF21}"/>
              </a:ext>
            </a:extLst>
          </p:cNvPr>
          <p:cNvSpPr txBox="1"/>
          <p:nvPr/>
        </p:nvSpPr>
        <p:spPr>
          <a:xfrm>
            <a:off x="3403600" y="4593104"/>
            <a:ext cx="31311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Sticking to either ends of y-axis shows asphaltene molecules being adsorbed at that particular time.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5135FA-0282-C949-5339-23C7E0616967}"/>
              </a:ext>
            </a:extLst>
          </p:cNvPr>
          <p:cNvSpPr/>
          <p:nvPr/>
        </p:nvSpPr>
        <p:spPr>
          <a:xfrm>
            <a:off x="7594600" y="2209800"/>
            <a:ext cx="8001000" cy="1676400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2B57A-D30B-157C-741B-F2142F158D5B}"/>
              </a:ext>
            </a:extLst>
          </p:cNvPr>
          <p:cNvSpPr txBox="1"/>
          <p:nvPr/>
        </p:nvSpPr>
        <p:spPr>
          <a:xfrm>
            <a:off x="3366319" y="3004005"/>
            <a:ext cx="3313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 molecules not adsorbed at the water interface; still drifting.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43D17C-213A-D1F5-6F44-E5390AFE8192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6375400" y="3048000"/>
            <a:ext cx="1219200" cy="22222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78F3BCE-A732-3E12-F5FF-28B7B98AD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33" y="3604169"/>
            <a:ext cx="1303867" cy="28956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E65ADB6-636B-8C01-3357-AEE4EB708C90}"/>
              </a:ext>
            </a:extLst>
          </p:cNvPr>
          <p:cNvCxnSpPr>
            <a:cxnSpLocks/>
          </p:cNvCxnSpPr>
          <p:nvPr/>
        </p:nvCxnSpPr>
        <p:spPr>
          <a:xfrm flipV="1">
            <a:off x="1498600" y="4097593"/>
            <a:ext cx="0" cy="91440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7B5837-2491-5301-8148-15F0ED56B436}"/>
              </a:ext>
            </a:extLst>
          </p:cNvPr>
          <p:cNvCxnSpPr>
            <a:cxnSpLocks/>
          </p:cNvCxnSpPr>
          <p:nvPr/>
        </p:nvCxnSpPr>
        <p:spPr>
          <a:xfrm>
            <a:off x="1498600" y="5129980"/>
            <a:ext cx="0" cy="93160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CF57DD0-36D1-A34D-5E78-C062AB2CEA59}"/>
              </a:ext>
            </a:extLst>
          </p:cNvPr>
          <p:cNvSpPr txBox="1"/>
          <p:nvPr/>
        </p:nvSpPr>
        <p:spPr>
          <a:xfrm>
            <a:off x="1914423" y="4204334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Distance of COM from the top interface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E34195-0725-E50A-A59A-67314817547A}"/>
              </a:ext>
            </a:extLst>
          </p:cNvPr>
          <p:cNvSpPr txBox="1"/>
          <p:nvPr/>
        </p:nvSpPr>
        <p:spPr>
          <a:xfrm>
            <a:off x="1898855" y="526855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Distance of COM from the bottom interface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6A9E2D-60CF-ED05-A67A-5B5ED735AF01}"/>
              </a:ext>
            </a:extLst>
          </p:cNvPr>
          <p:cNvSpPr txBox="1"/>
          <p:nvPr/>
        </p:nvSpPr>
        <p:spPr>
          <a:xfrm>
            <a:off x="222455" y="8629190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Considering PBC</a:t>
            </a:r>
          </a:p>
        </p:txBody>
      </p:sp>
    </p:spTree>
    <p:extLst>
      <p:ext uri="{BB962C8B-B14F-4D97-AF65-F5344CB8AC3E}">
        <p14:creationId xmlns:p14="http://schemas.microsoft.com/office/powerpoint/2010/main" val="403529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7E4C4-C069-EDFD-2302-64C08697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2C1D22F-87D0-F1FA-B115-2FBF99F82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7857" y="3066345"/>
            <a:ext cx="3733800" cy="565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1E8BCB-B2E7-C94B-47AE-E6B585A618EB}"/>
              </a:ext>
            </a:extLst>
          </p:cNvPr>
          <p:cNvSpPr txBox="1"/>
          <p:nvPr/>
        </p:nvSpPr>
        <p:spPr>
          <a:xfrm>
            <a:off x="554355" y="2543125"/>
            <a:ext cx="5038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t=0 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3B1D3-C78E-D8AB-8E03-6FB2C2F00A47}"/>
              </a:ext>
            </a:extLst>
          </p:cNvPr>
          <p:cNvSpPr txBox="1"/>
          <p:nvPr/>
        </p:nvSpPr>
        <p:spPr>
          <a:xfrm>
            <a:off x="4904334" y="4686850"/>
            <a:ext cx="1376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Only asphaltene molecules shown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8E6B74-DCF5-A542-1676-08A118F76452}"/>
              </a:ext>
            </a:extLst>
          </p:cNvPr>
          <p:cNvSpPr txBox="1"/>
          <p:nvPr/>
        </p:nvSpPr>
        <p:spPr>
          <a:xfrm>
            <a:off x="14074941" y="5181600"/>
            <a:ext cx="21810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/>
              <a:t>Adsorbed asphaltene molecules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DD7D26-A5C6-E14E-DEDD-36492B4F4AF3}"/>
              </a:ext>
            </a:extLst>
          </p:cNvPr>
          <p:cNvCxnSpPr/>
          <p:nvPr/>
        </p:nvCxnSpPr>
        <p:spPr>
          <a:xfrm flipH="1" flipV="1">
            <a:off x="13385800" y="3962400"/>
            <a:ext cx="1093843" cy="160020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56C269-B84A-6824-86E3-B58A946CA3BB}"/>
              </a:ext>
            </a:extLst>
          </p:cNvPr>
          <p:cNvCxnSpPr>
            <a:cxnSpLocks/>
          </p:cNvCxnSpPr>
          <p:nvPr/>
        </p:nvCxnSpPr>
        <p:spPr>
          <a:xfrm flipH="1">
            <a:off x="13385800" y="5937250"/>
            <a:ext cx="1093843" cy="168275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D57776-0C2C-656B-1C13-A9215B9FBF40}"/>
              </a:ext>
            </a:extLst>
          </p:cNvPr>
          <p:cNvSpPr txBox="1"/>
          <p:nvPr/>
        </p:nvSpPr>
        <p:spPr>
          <a:xfrm>
            <a:off x="4775200" y="466188"/>
            <a:ext cx="76730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Water-Hexane-water(W-O-W)</a:t>
            </a:r>
          </a:p>
          <a:p>
            <a:r>
              <a:rPr lang="en-US" sz="2800" dirty="0"/>
              <a:t>#molecules: 4000 W-3000 O-4000 W</a:t>
            </a:r>
          </a:p>
          <a:p>
            <a:r>
              <a:rPr lang="en-US" sz="2800" dirty="0"/>
              <a:t>Box dimensions(in A): 70 x 70 x 200 </a:t>
            </a:r>
          </a:p>
          <a:p>
            <a:r>
              <a:rPr lang="en-US" sz="2800" dirty="0"/>
              <a:t>20 asphaltene molecules dispersed in oil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7F4097-4D5D-F367-CFD6-E685D22CE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241802"/>
            <a:ext cx="3403600" cy="54483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2C21E03-A0CC-F5BE-B3C9-454E0B8B7C58}"/>
              </a:ext>
            </a:extLst>
          </p:cNvPr>
          <p:cNvSpPr txBox="1"/>
          <p:nvPr/>
        </p:nvSpPr>
        <p:spPr>
          <a:xfrm>
            <a:off x="9728200" y="2470218"/>
            <a:ext cx="5038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t=100 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2E4E191-E5E7-F2F2-F4FF-AE4634484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3327400"/>
            <a:ext cx="3441700" cy="52197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8B13EF6-3DEC-DDC0-A51A-7D35C07E0765}"/>
              </a:ext>
            </a:extLst>
          </p:cNvPr>
          <p:cNvSpPr txBox="1"/>
          <p:nvPr/>
        </p:nvSpPr>
        <p:spPr>
          <a:xfrm>
            <a:off x="5396106" y="2543125"/>
            <a:ext cx="5038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t=50 ns</a:t>
            </a:r>
          </a:p>
        </p:txBody>
      </p:sp>
    </p:spTree>
    <p:extLst>
      <p:ext uri="{BB962C8B-B14F-4D97-AF65-F5344CB8AC3E}">
        <p14:creationId xmlns:p14="http://schemas.microsoft.com/office/powerpoint/2010/main" val="1143753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DA0764-AF3A-1E1C-7E4C-C143021BDB7A}"/>
              </a:ext>
            </a:extLst>
          </p:cNvPr>
          <p:cNvSpPr txBox="1"/>
          <p:nvPr/>
        </p:nvSpPr>
        <p:spPr>
          <a:xfrm>
            <a:off x="3556000" y="609600"/>
            <a:ext cx="9525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Water-</a:t>
            </a:r>
            <a:r>
              <a:rPr lang="en-US" sz="3600" b="1" dirty="0" err="1"/>
              <a:t>Decane</a:t>
            </a:r>
            <a:r>
              <a:rPr lang="en-US" sz="3600" b="1" dirty="0"/>
              <a:t>-Water(W-O-W)</a:t>
            </a:r>
          </a:p>
          <a:p>
            <a:pPr algn="ctr"/>
            <a:r>
              <a:rPr lang="en-US" sz="2800" dirty="0"/>
              <a:t>#molecules: 4000 W-3000 O-4000 W</a:t>
            </a:r>
          </a:p>
          <a:p>
            <a:pPr algn="ctr"/>
            <a:r>
              <a:rPr lang="en-US" sz="2800" dirty="0"/>
              <a:t>Box dimensions(in A): 80 x 80 x 200 </a:t>
            </a:r>
          </a:p>
          <a:p>
            <a:pPr algn="ctr"/>
            <a:r>
              <a:rPr lang="en-US" sz="2800" dirty="0"/>
              <a:t>40 asphaltene molecules dispersed in oil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2D65B4-293F-6867-D38B-6D0477395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059" y="3124200"/>
            <a:ext cx="4178300" cy="5626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C35C3E-3211-F6CA-77BB-BF388A191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198" y="3115212"/>
            <a:ext cx="4368800" cy="5562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2D4EB0-AC29-E20C-11AD-3F22F9DB03C8}"/>
              </a:ext>
            </a:extLst>
          </p:cNvPr>
          <p:cNvSpPr txBox="1"/>
          <p:nvPr/>
        </p:nvSpPr>
        <p:spPr>
          <a:xfrm>
            <a:off x="1878164" y="2574786"/>
            <a:ext cx="5038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t=0 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E4DDF2-AA9E-85C6-66BA-B474CE39D5B8}"/>
              </a:ext>
            </a:extLst>
          </p:cNvPr>
          <p:cNvSpPr txBox="1"/>
          <p:nvPr/>
        </p:nvSpPr>
        <p:spPr>
          <a:xfrm>
            <a:off x="9441553" y="2548592"/>
            <a:ext cx="5038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t=50 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FBBC15-746D-AB3E-D453-6D4304514E18}"/>
              </a:ext>
            </a:extLst>
          </p:cNvPr>
          <p:cNvSpPr txBox="1"/>
          <p:nvPr/>
        </p:nvSpPr>
        <p:spPr>
          <a:xfrm>
            <a:off x="7151231" y="3129116"/>
            <a:ext cx="2290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Only asphaltene molecules shown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177C00-4EA6-D1B2-F14F-ACA927523BEC}"/>
              </a:ext>
            </a:extLst>
          </p:cNvPr>
          <p:cNvSpPr txBox="1"/>
          <p:nvPr/>
        </p:nvSpPr>
        <p:spPr>
          <a:xfrm>
            <a:off x="14074941" y="5181600"/>
            <a:ext cx="21810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/>
              <a:t>Adsorbed asphaltene molecules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859F6FE-65DC-B536-9FD1-46668A348D24}"/>
              </a:ext>
            </a:extLst>
          </p:cNvPr>
          <p:cNvCxnSpPr/>
          <p:nvPr/>
        </p:nvCxnSpPr>
        <p:spPr>
          <a:xfrm flipH="1" flipV="1">
            <a:off x="13385800" y="3962400"/>
            <a:ext cx="1093843" cy="160020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2AB685-D06A-F9DA-ADB8-C236DC478123}"/>
              </a:ext>
            </a:extLst>
          </p:cNvPr>
          <p:cNvCxnSpPr>
            <a:cxnSpLocks/>
          </p:cNvCxnSpPr>
          <p:nvPr/>
        </p:nvCxnSpPr>
        <p:spPr>
          <a:xfrm flipH="1">
            <a:off x="13462000" y="5937250"/>
            <a:ext cx="1017643" cy="191135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C145CCD-D3EE-65B4-FC96-87F22E28FC2A}"/>
              </a:ext>
            </a:extLst>
          </p:cNvPr>
          <p:cNvSpPr txBox="1"/>
          <p:nvPr/>
        </p:nvSpPr>
        <p:spPr>
          <a:xfrm>
            <a:off x="584200" y="1387304"/>
            <a:ext cx="4572000" cy="9541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More asphaltene molecules considered, so need to run longer.</a:t>
            </a:r>
          </a:p>
          <a:p>
            <a:r>
              <a:rPr lang="en-US" sz="1400" b="1" dirty="0"/>
              <a:t>But expect asphaltene to diffuse relatively slow compared to hexane(even with same number of molecules).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39A156-410C-3682-1308-3BCEA62E6CC2}"/>
              </a:ext>
            </a:extLst>
          </p:cNvPr>
          <p:cNvCxnSpPr>
            <a:cxnSpLocks/>
          </p:cNvCxnSpPr>
          <p:nvPr/>
        </p:nvCxnSpPr>
        <p:spPr>
          <a:xfrm flipH="1">
            <a:off x="4397209" y="990600"/>
            <a:ext cx="987591" cy="341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74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B3781-3A55-9922-90CE-541D81B3C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5"/>
          <a:stretch>
            <a:fillRect/>
          </a:stretch>
        </p:blipFill>
        <p:spPr>
          <a:xfrm>
            <a:off x="1880547" y="5715000"/>
            <a:ext cx="6247453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804CC0-F94F-9DF4-89F3-B05905AFEA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314" y="2007854"/>
            <a:ext cx="6537886" cy="3505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0E011D-32D8-1264-21D4-1C1C3D5DA6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2133215"/>
            <a:ext cx="6242438" cy="335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2857D1-B5BB-4021-80D6-F3DE88AB4115}"/>
              </a:ext>
            </a:extLst>
          </p:cNvPr>
          <p:cNvSpPr txBox="1"/>
          <p:nvPr/>
        </p:nvSpPr>
        <p:spPr>
          <a:xfrm>
            <a:off x="8585200" y="6215912"/>
            <a:ext cx="6400800" cy="220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Water-</a:t>
            </a:r>
            <a:r>
              <a:rPr lang="en-US" b="1" dirty="0" err="1"/>
              <a:t>Decane</a:t>
            </a:r>
            <a:r>
              <a:rPr lang="en-US" b="1" dirty="0"/>
              <a:t>-Water(W-O-W)</a:t>
            </a:r>
          </a:p>
          <a:p>
            <a:pPr algn="ctr"/>
            <a:r>
              <a:rPr lang="en-US" dirty="0"/>
              <a:t>#molecules: 4000 W-3000 O-4000 W</a:t>
            </a:r>
          </a:p>
          <a:p>
            <a:pPr algn="ctr"/>
            <a:r>
              <a:rPr lang="en-US" dirty="0"/>
              <a:t>Box dimensions(in A): 80 x 80 x 200 </a:t>
            </a:r>
          </a:p>
          <a:p>
            <a:pPr algn="ctr"/>
            <a:r>
              <a:rPr lang="en-US" dirty="0"/>
              <a:t>40 asphaltene molecules dispersed in oil</a:t>
            </a:r>
          </a:p>
          <a:p>
            <a:pPr algn="ctr"/>
            <a:r>
              <a:rPr lang="en-US" sz="3200" b="1" dirty="0"/>
              <a:t>More asphaltene molecules remain dispersed in the oil phase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0C607-9C43-7237-A8FC-2D0081904A86}"/>
              </a:ext>
            </a:extLst>
          </p:cNvPr>
          <p:cNvSpPr txBox="1"/>
          <p:nvPr/>
        </p:nvSpPr>
        <p:spPr>
          <a:xfrm>
            <a:off x="5992459" y="871743"/>
            <a:ext cx="3659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Water-Hexane-water(W-O-W)</a:t>
            </a:r>
          </a:p>
          <a:p>
            <a:r>
              <a:rPr lang="en-US" dirty="0"/>
              <a:t>#molecules: 4000 W-3000 O-4000 W</a:t>
            </a:r>
          </a:p>
          <a:p>
            <a:r>
              <a:rPr lang="en-US" dirty="0"/>
              <a:t>Box dimensions(in A): 70 x 70 x 200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B11111-AFB9-9433-13D2-7CA59B228E6E}"/>
              </a:ext>
            </a:extLst>
          </p:cNvPr>
          <p:cNvSpPr txBox="1"/>
          <p:nvPr/>
        </p:nvSpPr>
        <p:spPr>
          <a:xfrm>
            <a:off x="10337800" y="1721804"/>
            <a:ext cx="812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20 asphaltene molecules dispersed in oil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59E007-8428-40D2-46FB-404F050615CB}"/>
              </a:ext>
            </a:extLst>
          </p:cNvPr>
          <p:cNvSpPr txBox="1"/>
          <p:nvPr/>
        </p:nvSpPr>
        <p:spPr>
          <a:xfrm>
            <a:off x="1855021" y="1823188"/>
            <a:ext cx="812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10 asphaltene molecules dispersed in oil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67223-D2D3-7DE7-8388-4CAA678BA415}"/>
              </a:ext>
            </a:extLst>
          </p:cNvPr>
          <p:cNvSpPr txBox="1"/>
          <p:nvPr/>
        </p:nvSpPr>
        <p:spPr>
          <a:xfrm>
            <a:off x="1337702" y="303249"/>
            <a:ext cx="141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Density plots across z-axis (</a:t>
            </a:r>
            <a:r>
              <a:rPr lang="en-US" sz="2800" b="1" dirty="0">
                <a:solidFill>
                  <a:schemeClr val="accent1"/>
                </a:solidFill>
              </a:rPr>
              <a:t>Water</a:t>
            </a:r>
            <a:r>
              <a:rPr lang="en-US" sz="2800" b="1" dirty="0"/>
              <a:t>-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</a:rPr>
              <a:t>Oil</a:t>
            </a:r>
            <a:r>
              <a:rPr lang="en-US" sz="2800" b="1" dirty="0"/>
              <a:t>-</a:t>
            </a:r>
            <a:r>
              <a:rPr lang="en-US" sz="2800" b="1" dirty="0">
                <a:solidFill>
                  <a:schemeClr val="accent1"/>
                </a:solidFill>
              </a:rPr>
              <a:t>Water</a:t>
            </a:r>
            <a:r>
              <a:rPr lang="en-US" sz="2800" b="1" dirty="0"/>
              <a:t>) with </a:t>
            </a:r>
            <a:r>
              <a:rPr lang="en-US" sz="2800" b="1" dirty="0">
                <a:solidFill>
                  <a:srgbClr val="C00000"/>
                </a:solidFill>
              </a:rPr>
              <a:t>asphaltene molecule </a:t>
            </a:r>
            <a:r>
              <a:rPr lang="en-US" sz="2800" b="1" dirty="0"/>
              <a:t>adsorbed at t= 50 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C9C095-B5C7-2500-2A17-22C6B8FE5F76}"/>
              </a:ext>
            </a:extLst>
          </p:cNvPr>
          <p:cNvCxnSpPr/>
          <p:nvPr/>
        </p:nvCxnSpPr>
        <p:spPr>
          <a:xfrm flipH="1" flipV="1">
            <a:off x="4546600" y="7391400"/>
            <a:ext cx="4191000" cy="228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97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A296B9-E0B9-0D1C-E1A6-BBC34FE7F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0" y="1066800"/>
            <a:ext cx="11150600" cy="72730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6079F7-9F82-0F66-BAF5-E4A360956816}"/>
              </a:ext>
            </a:extLst>
          </p:cNvPr>
          <p:cNvSpPr txBox="1"/>
          <p:nvPr/>
        </p:nvSpPr>
        <p:spPr>
          <a:xfrm>
            <a:off x="2794000" y="304800"/>
            <a:ext cx="1226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Fraction of molecules adsorbed over time for all three cases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DBEDB2-3371-2108-0A72-98BD3DA0E68E}"/>
              </a:ext>
            </a:extLst>
          </p:cNvPr>
          <p:cNvSpPr txBox="1"/>
          <p:nvPr/>
        </p:nvSpPr>
        <p:spPr>
          <a:xfrm>
            <a:off x="12623800" y="6172200"/>
            <a:ext cx="31261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00B050"/>
                </a:solidFill>
              </a:rPr>
              <a:t>More asphaltene molecules remain dispersed in the oil 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C77BD-5CAC-7F71-1F0E-22999A99687B}"/>
              </a:ext>
            </a:extLst>
          </p:cNvPr>
          <p:cNvSpPr txBox="1"/>
          <p:nvPr/>
        </p:nvSpPr>
        <p:spPr>
          <a:xfrm>
            <a:off x="12801600" y="2362200"/>
            <a:ext cx="226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Around 80% of molecules get adsorbed with 50 ns.</a:t>
            </a:r>
          </a:p>
        </p:txBody>
      </p:sp>
    </p:spTree>
    <p:extLst>
      <p:ext uri="{BB962C8B-B14F-4D97-AF65-F5344CB8AC3E}">
        <p14:creationId xmlns:p14="http://schemas.microsoft.com/office/powerpoint/2010/main" val="3671186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94D1A-0ED8-932D-547C-55A210A6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53BB5D-5686-DCB6-F3CE-BE441DE5D0B5}"/>
              </a:ext>
            </a:extLst>
          </p:cNvPr>
          <p:cNvSpPr txBox="1"/>
          <p:nvPr/>
        </p:nvSpPr>
        <p:spPr>
          <a:xfrm>
            <a:off x="406400" y="552271"/>
            <a:ext cx="154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What happens to asphaltene-laden interfaces of water-oil emulsion</a:t>
            </a:r>
          </a:p>
          <a:p>
            <a:pPr algn="ctr"/>
            <a:r>
              <a:rPr lang="en-US" sz="3200" dirty="0"/>
              <a:t>Demulsification mechanism by </a:t>
            </a:r>
            <a:r>
              <a:rPr lang="en-US" sz="3200" dirty="0" err="1"/>
              <a:t>demulsifiers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E373D-B9A0-6721-AB1C-C9DEC31556F5}"/>
              </a:ext>
            </a:extLst>
          </p:cNvPr>
          <p:cNvSpPr txBox="1"/>
          <p:nvPr/>
        </p:nvSpPr>
        <p:spPr>
          <a:xfrm>
            <a:off x="203200" y="8611394"/>
            <a:ext cx="474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Sun et al., </a:t>
            </a:r>
            <a:r>
              <a:rPr lang="en-US" i="1" dirty="0"/>
              <a:t>Processes</a:t>
            </a:r>
            <a:r>
              <a:rPr lang="en-US" dirty="0"/>
              <a:t>,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FDA7BD-F772-2B54-943C-672F3A4FC2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34366" r="83812"/>
          <a:stretch>
            <a:fillRect/>
          </a:stretch>
        </p:blipFill>
        <p:spPr>
          <a:xfrm>
            <a:off x="1574800" y="1951826"/>
            <a:ext cx="2209800" cy="30007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BD87A2-B338-5AB3-D81C-64D9F0FE3999}"/>
              </a:ext>
            </a:extLst>
          </p:cNvPr>
          <p:cNvSpPr txBox="1"/>
          <p:nvPr/>
        </p:nvSpPr>
        <p:spPr>
          <a:xfrm>
            <a:off x="9118600" y="1888831"/>
            <a:ext cx="2397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What next?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A9CCA9-82C2-B75F-BE6D-E9A1E2E32CEF}"/>
              </a:ext>
            </a:extLst>
          </p:cNvPr>
          <p:cNvSpPr txBox="1"/>
          <p:nvPr/>
        </p:nvSpPr>
        <p:spPr>
          <a:xfrm>
            <a:off x="4531032" y="2467854"/>
            <a:ext cx="591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Crude oil: Initial setup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Heptane/Hexane vs </a:t>
            </a:r>
            <a:r>
              <a:rPr lang="en-US" sz="2400" dirty="0" err="1"/>
              <a:t>Decane</a:t>
            </a:r>
            <a:r>
              <a:rPr lang="en-US" sz="2400" dirty="0"/>
              <a:t>/Toluene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Dectol</a:t>
            </a:r>
            <a:r>
              <a:rPr lang="en-US" sz="2400" dirty="0"/>
              <a:t> (60%Decane and 40% Toluene; Chang et al., 2018)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78F4D9-B2FA-3E92-79CA-EF407C27A1A7}"/>
              </a:ext>
            </a:extLst>
          </p:cNvPr>
          <p:cNvSpPr txBox="1"/>
          <p:nvPr/>
        </p:nvSpPr>
        <p:spPr>
          <a:xfrm>
            <a:off x="10185400" y="2394056"/>
            <a:ext cx="591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Asphaltene molecules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HTHBC from Costa et al., 2016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C7 asphaltene (Chang et al., 2018) used to study aged asphaltene film.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ctr">
              <a:buAutoNum type="arabicPeriod"/>
            </a:pPr>
            <a:endParaRPr lang="en-US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A050A2-C667-DE9A-5B83-F932B1E44E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86" t="37689" r="57522" b="2311"/>
          <a:stretch>
            <a:fillRect/>
          </a:stretch>
        </p:blipFill>
        <p:spPr>
          <a:xfrm>
            <a:off x="406400" y="5257800"/>
            <a:ext cx="3657600" cy="27432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DAF57D-894F-FE29-57D3-CE4BE4503340}"/>
              </a:ext>
            </a:extLst>
          </p:cNvPr>
          <p:cNvSpPr txBox="1"/>
          <p:nvPr/>
        </p:nvSpPr>
        <p:spPr>
          <a:xfrm>
            <a:off x="5566697" y="7377257"/>
            <a:ext cx="96421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Weighted Ensemble here? </a:t>
            </a:r>
          </a:p>
          <a:p>
            <a:pPr algn="ctr"/>
            <a:r>
              <a:rPr lang="en-US" sz="3200" dirty="0"/>
              <a:t>Identify potential coordinate variables with longer runs.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DD9449-8ED5-FA6F-570D-1B6679BAE021}"/>
              </a:ext>
            </a:extLst>
          </p:cNvPr>
          <p:cNvSpPr txBox="1"/>
          <p:nvPr/>
        </p:nvSpPr>
        <p:spPr>
          <a:xfrm>
            <a:off x="5156200" y="4230953"/>
            <a:ext cx="937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Longer simulations with increasing concentration of asphaltene </a:t>
            </a:r>
            <a:r>
              <a:rPr lang="en-US" sz="2400" dirty="0">
                <a:sym typeface="Wingdings" pitchFamily="2" charset="2"/>
              </a:rPr>
              <a:t> More interactions that stabilize the emulsion.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D6A9870-D49B-22C5-8815-DB1FF1CB599F}"/>
                  </a:ext>
                </a:extLst>
              </p:cNvPr>
              <p:cNvSpPr txBox="1"/>
              <p:nvPr/>
            </p:nvSpPr>
            <p:spPr>
              <a:xfrm>
                <a:off x="5613400" y="5111659"/>
                <a:ext cx="10058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 just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stacking at the interface, Van der Waals interactions, H-bonds, role of heteroatoms, steric interactions with varying orientation of the asphaltene molecules.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D6A9870-D49B-22C5-8815-DB1FF1CB5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400" y="5111659"/>
                <a:ext cx="10058400" cy="646331"/>
              </a:xfrm>
              <a:prstGeom prst="rect">
                <a:avLst/>
              </a:prstGeom>
              <a:blipFill>
                <a:blip r:embed="rId3"/>
                <a:stretch>
                  <a:fillRect l="-631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E9CD4C6-5DC0-F423-4015-4D7AE5E6F68A}"/>
              </a:ext>
            </a:extLst>
          </p:cNvPr>
          <p:cNvSpPr txBox="1"/>
          <p:nvPr/>
        </p:nvSpPr>
        <p:spPr>
          <a:xfrm>
            <a:off x="5156200" y="5988300"/>
            <a:ext cx="1005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Competitive adsorption</a:t>
            </a:r>
            <a:r>
              <a:rPr lang="en-US" sz="2400" dirty="0"/>
              <a:t>: More experimental papers that speculate how </a:t>
            </a:r>
            <a:r>
              <a:rPr lang="en-US" sz="2400" dirty="0" err="1"/>
              <a:t>demulsifiers</a:t>
            </a:r>
            <a:r>
              <a:rPr lang="en-US" sz="2400" dirty="0"/>
              <a:t> weaken the asphaltene laden interface.</a:t>
            </a:r>
          </a:p>
        </p:txBody>
      </p:sp>
    </p:spTree>
    <p:extLst>
      <p:ext uri="{BB962C8B-B14F-4D97-AF65-F5344CB8AC3E}">
        <p14:creationId xmlns:p14="http://schemas.microsoft.com/office/powerpoint/2010/main" val="3651539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19468</TotalTime>
  <Words>665</Words>
  <Application>Microsoft Macintosh PowerPoint</Application>
  <PresentationFormat>Custom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Ashwin Amalaruban M</cp:lastModifiedBy>
  <cp:revision>24</cp:revision>
  <dcterms:created xsi:type="dcterms:W3CDTF">2006-08-16T00:00:00Z</dcterms:created>
  <dcterms:modified xsi:type="dcterms:W3CDTF">2026-04-19T04:28:01Z</dcterms:modified>
</cp:coreProperties>
</file>