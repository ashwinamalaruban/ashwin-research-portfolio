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theme/themeOverride1.xml" ContentType="application/vnd.openxmlformats-officedocument.themeOverride+xml"/>
  <Override PartName="/ppt/drawings/drawing1.xml" ContentType="application/vnd.openxmlformats-officedocument.drawingml.chartshap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1"/>
  </p:notesMasterIdLst>
  <p:sldIdLst>
    <p:sldId id="256" r:id="rId2"/>
    <p:sldId id="293" r:id="rId3"/>
    <p:sldId id="311" r:id="rId4"/>
    <p:sldId id="313" r:id="rId5"/>
    <p:sldId id="314" r:id="rId6"/>
    <p:sldId id="372" r:id="rId7"/>
    <p:sldId id="266" r:id="rId8"/>
    <p:sldId id="351" r:id="rId9"/>
    <p:sldId id="352" r:id="rId10"/>
    <p:sldId id="265" r:id="rId11"/>
    <p:sldId id="345" r:id="rId12"/>
    <p:sldId id="283" r:id="rId13"/>
    <p:sldId id="315" r:id="rId14"/>
    <p:sldId id="263" r:id="rId15"/>
    <p:sldId id="346" r:id="rId16"/>
    <p:sldId id="358" r:id="rId17"/>
    <p:sldId id="359" r:id="rId18"/>
    <p:sldId id="275" r:id="rId19"/>
    <p:sldId id="323" r:id="rId20"/>
    <p:sldId id="324" r:id="rId21"/>
    <p:sldId id="268" r:id="rId22"/>
    <p:sldId id="361" r:id="rId23"/>
    <p:sldId id="277" r:id="rId24"/>
    <p:sldId id="342" r:id="rId25"/>
    <p:sldId id="363" r:id="rId26"/>
    <p:sldId id="343" r:id="rId27"/>
    <p:sldId id="354" r:id="rId28"/>
    <p:sldId id="329" r:id="rId29"/>
    <p:sldId id="355" r:id="rId30"/>
    <p:sldId id="258" r:id="rId31"/>
    <p:sldId id="273" r:id="rId32"/>
    <p:sldId id="269" r:id="rId33"/>
    <p:sldId id="312" r:id="rId34"/>
    <p:sldId id="336" r:id="rId35"/>
    <p:sldId id="331" r:id="rId36"/>
    <p:sldId id="337" r:id="rId37"/>
    <p:sldId id="356" r:id="rId38"/>
    <p:sldId id="365" r:id="rId39"/>
    <p:sldId id="371" r:id="rId40"/>
    <p:sldId id="298" r:id="rId41"/>
    <p:sldId id="299" r:id="rId42"/>
    <p:sldId id="357" r:id="rId43"/>
    <p:sldId id="370" r:id="rId44"/>
    <p:sldId id="369" r:id="rId45"/>
    <p:sldId id="373" r:id="rId46"/>
    <p:sldId id="281" r:id="rId47"/>
    <p:sldId id="274" r:id="rId48"/>
    <p:sldId id="260" r:id="rId49"/>
    <p:sldId id="290" r:id="rId50"/>
    <p:sldId id="360" r:id="rId51"/>
    <p:sldId id="305" r:id="rId52"/>
    <p:sldId id="325" r:id="rId53"/>
    <p:sldId id="303" r:id="rId54"/>
    <p:sldId id="338" r:id="rId55"/>
    <p:sldId id="328" r:id="rId56"/>
    <p:sldId id="289" r:id="rId57"/>
    <p:sldId id="364" r:id="rId58"/>
    <p:sldId id="367" r:id="rId59"/>
    <p:sldId id="368" r:id="rId6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D0E1ADCB-D533-48FA-A244-5726134C23A1}">
          <p14:sldIdLst>
            <p14:sldId id="256"/>
            <p14:sldId id="293"/>
            <p14:sldId id="311"/>
          </p14:sldIdLst>
        </p14:section>
        <p14:section name="Fractals" id="{3F14FAC2-4FB8-4B5D-B5DF-5E300D8A645B}">
          <p14:sldIdLst>
            <p14:sldId id="313"/>
            <p14:sldId id="314"/>
            <p14:sldId id="372"/>
          </p14:sldIdLst>
        </p14:section>
        <p14:section name="Stokesian Dynamics" id="{464E94FA-2E45-4208-B267-DCB618559B6D}">
          <p14:sldIdLst>
            <p14:sldId id="266"/>
            <p14:sldId id="351"/>
            <p14:sldId id="352"/>
            <p14:sldId id="265"/>
            <p14:sldId id="345"/>
            <p14:sldId id="283"/>
          </p14:sldIdLst>
        </p14:section>
        <p14:section name="Aggregation Models" id="{06E7657E-7ABA-43FA-BD87-4BA98E8F565E}">
          <p14:sldIdLst>
            <p14:sldId id="315"/>
            <p14:sldId id="263"/>
            <p14:sldId id="346"/>
            <p14:sldId id="358"/>
            <p14:sldId id="359"/>
            <p14:sldId id="275"/>
          </p14:sldIdLst>
        </p14:section>
        <p14:section name="Hydrodynamics" id="{118F0404-AA14-46A5-BCC6-7650531EAC02}">
          <p14:sldIdLst>
            <p14:sldId id="323"/>
            <p14:sldId id="324"/>
            <p14:sldId id="268"/>
            <p14:sldId id="361"/>
            <p14:sldId id="277"/>
            <p14:sldId id="342"/>
            <p14:sldId id="363"/>
            <p14:sldId id="343"/>
          </p14:sldIdLst>
        </p14:section>
        <p14:section name="Velocity studies" id="{E0B54700-A661-46DC-A8C3-3B8B2D4817A9}">
          <p14:sldIdLst>
            <p14:sldId id="354"/>
            <p14:sldId id="329"/>
            <p14:sldId id="355"/>
            <p14:sldId id="258"/>
            <p14:sldId id="273"/>
            <p14:sldId id="269"/>
            <p14:sldId id="312"/>
            <p14:sldId id="336"/>
            <p14:sldId id="331"/>
            <p14:sldId id="337"/>
            <p14:sldId id="356"/>
            <p14:sldId id="365"/>
            <p14:sldId id="371"/>
            <p14:sldId id="298"/>
            <p14:sldId id="299"/>
            <p14:sldId id="357"/>
            <p14:sldId id="370"/>
          </p14:sldIdLst>
        </p14:section>
        <p14:section name="Deformable" id="{442CC310-26EA-4DE4-8240-5C529A5A0EEA}">
          <p14:sldIdLst>
            <p14:sldId id="369"/>
            <p14:sldId id="373"/>
          </p14:sldIdLst>
        </p14:section>
        <p14:section name="Extras" id="{CFD5A884-C6CD-4958-A554-F163B3F9EADC}">
          <p14:sldIdLst>
            <p14:sldId id="281"/>
            <p14:sldId id="274"/>
            <p14:sldId id="260"/>
            <p14:sldId id="290"/>
            <p14:sldId id="360"/>
            <p14:sldId id="305"/>
            <p14:sldId id="325"/>
            <p14:sldId id="303"/>
            <p14:sldId id="338"/>
            <p14:sldId id="328"/>
            <p14:sldId id="289"/>
            <p14:sldId id="364"/>
            <p14:sldId id="367"/>
            <p14:sldId id="36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4C1A8A3-306A-4EB7-A6B1-4F7E0EB9C5D6}" styleName="Medium Style 3 - Accent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46F890A9-2807-4EBB-B81D-B2AA78EC7F39}" styleName="Dark Style 2 - Accent 5/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91EBBBCC-DAD2-459C-BE2E-F6DE35CF9A28}" styleName="Dark Style 2 - Accent 3/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0660B408-B3CF-4A94-85FC-2B1E0A45F4A2}" styleName="Dark Style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AF606853-7671-496A-8E4F-DF71F8EC918B}" styleName="Dark Style 1 - Accent 6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wholeTbl>
    <a:band1H>
      <a:tcStyle>
        <a:tcBdr/>
        <a:fill>
          <a:solidFill>
            <a:schemeClr val="accent6">
              <a:shade val="60000"/>
            </a:schemeClr>
          </a:solidFill>
        </a:fill>
      </a:tcStyle>
    </a:band1H>
    <a:band1V>
      <a:tcStyle>
        <a:tcBdr/>
        <a:fill>
          <a:solidFill>
            <a:schemeClr val="accent6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6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6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6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8FD4443E-F989-4FC4-A0C8-D5A2AF1F390B}" styleName="Dark Style 1 - Accent 5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wholeTbl>
    <a:band1H>
      <a:tcStyle>
        <a:tcBdr/>
        <a:fill>
          <a:solidFill>
            <a:schemeClr val="accent5">
              <a:shade val="60000"/>
            </a:schemeClr>
          </a:solidFill>
        </a:fill>
      </a:tcStyle>
    </a:band1H>
    <a:band1V>
      <a:tcStyle>
        <a:tcBdr/>
        <a:fill>
          <a:solidFill>
            <a:schemeClr val="accent5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5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5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5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882" autoAdjust="0"/>
    <p:restoredTop sz="94291" autoAdjust="0"/>
  </p:normalViewPr>
  <p:slideViewPr>
    <p:cSldViewPr snapToGrid="0">
      <p:cViewPr varScale="1">
        <p:scale>
          <a:sx n="65" d="100"/>
          <a:sy n="65" d="100"/>
        </p:scale>
        <p:origin x="618" y="60"/>
      </p:cViewPr>
      <p:guideLst/>
    </p:cSldViewPr>
  </p:slideViewPr>
  <p:outlineViewPr>
    <p:cViewPr>
      <p:scale>
        <a:sx n="33" d="100"/>
        <a:sy n="33" d="100"/>
      </p:scale>
      <p:origin x="0" y="-5586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2964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5" Type="http://schemas.openxmlformats.org/officeDocument/2006/relationships/slide" Target="slides/slide4.xml"/><Relationship Id="rId61" Type="http://schemas.openxmlformats.org/officeDocument/2006/relationships/notesMaster" Target="notesMasters/notesMaster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Admin\Documents\vel_fractals%20-%20dla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1.xml"/><Relationship Id="rId2" Type="http://schemas.microsoft.com/office/2011/relationships/chartColorStyle" Target="colors2.xml"/><Relationship Id="rId1" Type="http://schemas.microsoft.com/office/2011/relationships/chartStyle" Target="style2.xml"/><Relationship Id="rId5" Type="http://schemas.openxmlformats.org/officeDocument/2006/relationships/chartUserShapes" Target="../drawings/drawing1.xml"/><Relationship Id="rId4" Type="http://schemas.openxmlformats.org/officeDocument/2006/relationships/oleObject" Target="file:///D:\Plot%20data\-5.csv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scatterChart>
        <c:scatterStyle val="lineMarker"/>
        <c:varyColors val="0"/>
        <c:ser>
          <c:idx val="0"/>
          <c:order val="0"/>
          <c:spPr>
            <a:ln w="19050" cap="rnd">
              <a:solidFill>
                <a:schemeClr val="accent2"/>
              </a:solidFill>
              <a:prstDash val="sysDash"/>
              <a:round/>
            </a:ln>
            <a:effectLst/>
          </c:spPr>
          <c:marker>
            <c:symbol val="circle"/>
            <c:size val="5"/>
            <c:spPr>
              <a:solidFill>
                <a:schemeClr val="accent2"/>
              </a:solidFill>
              <a:ln w="9525">
                <a:solidFill>
                  <a:schemeClr val="accent2"/>
                </a:solidFill>
              </a:ln>
              <a:effectLst/>
            </c:spPr>
          </c:marker>
          <c:xVal>
            <c:numRef>
              <c:f>'100'!$BD$7:$BD$16</c:f>
              <c:numCache>
                <c:formatCode>General</c:formatCode>
                <c:ptCount val="10"/>
                <c:pt idx="0">
                  <c:v>1</c:v>
                </c:pt>
                <c:pt idx="1">
                  <c:v>0.5</c:v>
                </c:pt>
                <c:pt idx="2">
                  <c:v>0.33333000000000002</c:v>
                </c:pt>
                <c:pt idx="3">
                  <c:v>0.25</c:v>
                </c:pt>
                <c:pt idx="4">
                  <c:v>0.2</c:v>
                </c:pt>
                <c:pt idx="5">
                  <c:v>0.16667000000000001</c:v>
                </c:pt>
                <c:pt idx="6">
                  <c:v>0.14285999999999999</c:v>
                </c:pt>
                <c:pt idx="7">
                  <c:v>0.125</c:v>
                </c:pt>
                <c:pt idx="8">
                  <c:v>0.11111</c:v>
                </c:pt>
                <c:pt idx="9">
                  <c:v>0.1</c:v>
                </c:pt>
              </c:numCache>
            </c:numRef>
          </c:xVal>
          <c:yVal>
            <c:numRef>
              <c:f>'100'!$BE$7:$BE$16</c:f>
              <c:numCache>
                <c:formatCode>General</c:formatCode>
                <c:ptCount val="10"/>
                <c:pt idx="0">
                  <c:v>1</c:v>
                </c:pt>
                <c:pt idx="1">
                  <c:v>0.40625</c:v>
                </c:pt>
                <c:pt idx="2">
                  <c:v>0.25925999999999999</c:v>
                </c:pt>
                <c:pt idx="3">
                  <c:v>0.19141</c:v>
                </c:pt>
                <c:pt idx="4">
                  <c:v>0.152</c:v>
                </c:pt>
                <c:pt idx="5">
                  <c:v>0.12615999999999999</c:v>
                </c:pt>
                <c:pt idx="6">
                  <c:v>0.10786999999999999</c:v>
                </c:pt>
                <c:pt idx="7">
                  <c:v>9.4240000000000004E-2</c:v>
                </c:pt>
                <c:pt idx="8">
                  <c:v>8.3680000000000004E-2</c:v>
                </c:pt>
                <c:pt idx="9">
                  <c:v>7.5249999999999997E-2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11DE-4608-AFF7-017EA57F144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857191776"/>
        <c:axId val="857189696"/>
      </c:scatterChart>
      <c:valAx>
        <c:axId val="857191776"/>
        <c:scaling>
          <c:orientation val="maxMin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IN"/>
                  <a:t>1/r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in"/>
        <c:minorTickMark val="in"/>
        <c:tickLblPos val="nextTo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857189696"/>
        <c:crosses val="autoZero"/>
        <c:crossBetween val="midCat"/>
      </c:valAx>
      <c:valAx>
        <c:axId val="857189696"/>
        <c:scaling>
          <c:orientation val="minMax"/>
        </c:scaling>
        <c:delete val="0"/>
        <c:axPos val="r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IN"/>
                  <a:t>velocity disturbance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in"/>
        <c:minorTickMark val="in"/>
        <c:tickLblPos val="nextTo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857191776"/>
        <c:crosses val="autoZero"/>
        <c:crossBetween val="midCat"/>
        <c:minorUnit val="0.1"/>
      </c:valAx>
      <c:spPr>
        <a:noFill/>
        <a:ln>
          <a:solidFill>
            <a:sysClr val="windowText" lastClr="000000"/>
          </a:solidFill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>
          <a:solidFill>
            <a:schemeClr val="tx1"/>
          </a:solidFill>
        </a:defRPr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900" b="0" i="0" u="none" strike="noStrike" kern="1200" spc="0" baseline="0">
                <a:solidFill>
                  <a:sysClr val="windowText" lastClr="000000"/>
                </a:solidFill>
                <a:latin typeface="+mn-lt"/>
                <a:ea typeface="+mn-ea"/>
                <a:cs typeface="+mn-cs"/>
              </a:defRPr>
            </a:pPr>
            <a:r>
              <a:rPr lang="en-IN" sz="900">
                <a:solidFill>
                  <a:sysClr val="windowText" lastClr="000000"/>
                </a:solidFill>
              </a:rPr>
              <a:t>Durlofsky's</a:t>
            </a:r>
            <a:r>
              <a:rPr lang="en-IN" sz="900" baseline="0">
                <a:solidFill>
                  <a:sysClr val="windowText" lastClr="000000"/>
                </a:solidFill>
              </a:rPr>
              <a:t> F-T-S results</a:t>
            </a:r>
            <a:endParaRPr lang="en-IN" sz="900">
              <a:solidFill>
                <a:sysClr val="windowText" lastClr="000000"/>
              </a:solidFill>
            </a:endParaRPr>
          </a:p>
        </c:rich>
      </c:tx>
      <c:layout>
        <c:manualLayout>
          <c:xMode val="edge"/>
          <c:yMode val="edge"/>
          <c:x val="0.73575746346434445"/>
          <c:y val="0.21065191175427395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spc="0" baseline="0">
              <a:solidFill>
                <a:sysClr val="windowText" lastClr="000000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0.15472237533872199"/>
          <c:y val="5.0766829821947933E-2"/>
          <c:w val="0.81807573476619511"/>
          <c:h val="0.83168191813861103"/>
        </c:manualLayout>
      </c:layout>
      <c:scatterChart>
        <c:scatterStyle val="lineMarker"/>
        <c:varyColors val="0"/>
        <c:ser>
          <c:idx val="0"/>
          <c:order val="0"/>
          <c:spPr>
            <a:ln w="19050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chemeClr val="bg1">
                  <a:lumMod val="50000"/>
                </a:schemeClr>
              </a:solidFill>
              <a:ln w="1270">
                <a:solidFill>
                  <a:schemeClr val="bg1">
                    <a:lumMod val="65000"/>
                  </a:schemeClr>
                </a:solidFill>
              </a:ln>
              <a:effectLst/>
            </c:spPr>
          </c:marker>
          <c:xVal>
            <c:numRef>
              <c:f>'-5,0,7eu0.25'!$J$1:$J$122</c:f>
              <c:numCache>
                <c:formatCode>General</c:formatCode>
                <c:ptCount val="122"/>
                <c:pt idx="0">
                  <c:v>-5</c:v>
                </c:pt>
                <c:pt idx="1">
                  <c:v>-4.9336603665863201</c:v>
                </c:pt>
                <c:pt idx="2">
                  <c:v>-4.9335388932360598</c:v>
                </c:pt>
                <c:pt idx="3">
                  <c:v>-4.8998148543686302</c:v>
                </c:pt>
                <c:pt idx="4">
                  <c:v>-4.8493578615021597</c:v>
                </c:pt>
                <c:pt idx="5">
                  <c:v>-4.7653134872873002</c:v>
                </c:pt>
                <c:pt idx="6">
                  <c:v>-4.6645209749046197</c:v>
                </c:pt>
                <c:pt idx="7">
                  <c:v>-4.5133777588369304</c:v>
                </c:pt>
                <c:pt idx="8">
                  <c:v>-4.3119445757593802</c:v>
                </c:pt>
                <c:pt idx="9">
                  <c:v>-4.1104354718379197</c:v>
                </c:pt>
                <c:pt idx="10">
                  <c:v>-3.89213267724227</c:v>
                </c:pt>
                <c:pt idx="11">
                  <c:v>-3.6403639746485101</c:v>
                </c:pt>
                <c:pt idx="12">
                  <c:v>-3.4556637455700199</c:v>
                </c:pt>
                <c:pt idx="13">
                  <c:v>-3.2206279969753102</c:v>
                </c:pt>
                <c:pt idx="14">
                  <c:v>-2.8847997359979201</c:v>
                </c:pt>
                <c:pt idx="15">
                  <c:v>-3.0191188930538502</c:v>
                </c:pt>
                <c:pt idx="16">
                  <c:v>-2.8007705459518499</c:v>
                </c:pt>
                <c:pt idx="17">
                  <c:v>-2.7502680005790201</c:v>
                </c:pt>
                <c:pt idx="18">
                  <c:v>-2.6828199228441698</c:v>
                </c:pt>
                <c:pt idx="19">
                  <c:v>-2.68271363366269</c:v>
                </c:pt>
                <c:pt idx="20">
                  <c:v>-2.6825314236372901</c:v>
                </c:pt>
                <c:pt idx="21">
                  <c:v>-2.7494025029583802</c:v>
                </c:pt>
                <c:pt idx="22">
                  <c:v>-2.8499368844717501</c:v>
                </c:pt>
                <c:pt idx="23">
                  <c:v>-2.7159821474666201</c:v>
                </c:pt>
                <c:pt idx="24">
                  <c:v>-2.9337079436485101</c:v>
                </c:pt>
                <c:pt idx="25">
                  <c:v>-3.0510056474985099</c:v>
                </c:pt>
                <c:pt idx="26">
                  <c:v>-3.1515552131806701</c:v>
                </c:pt>
                <c:pt idx="27">
                  <c:v>-3.3527302653889</c:v>
                </c:pt>
                <c:pt idx="28">
                  <c:v>-3.5204090412614599</c:v>
                </c:pt>
                <c:pt idx="29">
                  <c:v>-3.7383777841438799</c:v>
                </c:pt>
                <c:pt idx="30">
                  <c:v>-3.92281988235306</c:v>
                </c:pt>
                <c:pt idx="31">
                  <c:v>-4.0233694480352202</c:v>
                </c:pt>
                <c:pt idx="32">
                  <c:v>-4.1574456583906203</c:v>
                </c:pt>
                <c:pt idx="33">
                  <c:v>-4.2579952240727801</c:v>
                </c:pt>
                <c:pt idx="34">
                  <c:v>-4.2410648758795402</c:v>
                </c:pt>
                <c:pt idx="35">
                  <c:v>-4.2241952643614402</c:v>
                </c:pt>
                <c:pt idx="36">
                  <c:v>-4.2240434226736099</c:v>
                </c:pt>
                <c:pt idx="37">
                  <c:v>-4.1400294167963203</c:v>
                </c:pt>
                <c:pt idx="38">
                  <c:v>-4.0392065360760601</c:v>
                </c:pt>
                <c:pt idx="39">
                  <c:v>-3.8880785041771602</c:v>
                </c:pt>
                <c:pt idx="40">
                  <c:v>-3.72017196577286</c:v>
                </c:pt>
                <c:pt idx="41">
                  <c:v>-3.55225024319977</c:v>
                </c:pt>
                <c:pt idx="42">
                  <c:v>-3.38432852062668</c:v>
                </c:pt>
                <c:pt idx="43">
                  <c:v>-3.1157509431899499</c:v>
                </c:pt>
                <c:pt idx="44">
                  <c:v>-2.7800289713940298</c:v>
                </c:pt>
                <c:pt idx="45">
                  <c:v>-2.5114817622948702</c:v>
                </c:pt>
                <c:pt idx="46">
                  <c:v>-2.1757901588365298</c:v>
                </c:pt>
                <c:pt idx="47">
                  <c:v>-1.89043407489439</c:v>
                </c:pt>
                <c:pt idx="48">
                  <c:v>-1.6050172542771199</c:v>
                </c:pt>
                <c:pt idx="49">
                  <c:v>-1.36996632151364</c:v>
                </c:pt>
                <c:pt idx="50">
                  <c:v>-1.2355864277825701</c:v>
                </c:pt>
                <c:pt idx="51">
                  <c:v>-1.06767988937826</c:v>
                </c:pt>
                <c:pt idx="52">
                  <c:v>-0.96690256116436402</c:v>
                </c:pt>
                <c:pt idx="53">
                  <c:v>-0.933148153959374</c:v>
                </c:pt>
                <c:pt idx="54">
                  <c:v>-1.31776314923709</c:v>
                </c:pt>
                <c:pt idx="55">
                  <c:v>-1.2675491030711501</c:v>
                </c:pt>
                <c:pt idx="56">
                  <c:v>-1.23415911591695</c:v>
                </c:pt>
                <c:pt idx="57">
                  <c:v>-1.2007539445939801</c:v>
                </c:pt>
                <c:pt idx="58">
                  <c:v>-1.1337917602601899</c:v>
                </c:pt>
                <c:pt idx="59">
                  <c:v>-1.0668295759264099</c:v>
                </c:pt>
                <c:pt idx="60">
                  <c:v>-0.99986739159262705</c:v>
                </c:pt>
                <c:pt idx="61">
                  <c:v>-0.93289002309006097</c:v>
                </c:pt>
                <c:pt idx="62">
                  <c:v>-0.91627854244127205</c:v>
                </c:pt>
                <c:pt idx="63">
                  <c:v>-1.26729097220183</c:v>
                </c:pt>
                <c:pt idx="64">
                  <c:v>-1.06579705244915</c:v>
                </c:pt>
                <c:pt idx="65">
                  <c:v>-0.83071575134810205</c:v>
                </c:pt>
                <c:pt idx="66">
                  <c:v>-0.39435310885733199</c:v>
                </c:pt>
                <c:pt idx="67">
                  <c:v>5.88184084764087E-2</c:v>
                </c:pt>
                <c:pt idx="68">
                  <c:v>0.57907358349419902</c:v>
                </c:pt>
                <c:pt idx="69">
                  <c:v>1.11613763335495</c:v>
                </c:pt>
                <c:pt idx="70">
                  <c:v>1.6196143018673399</c:v>
                </c:pt>
                <c:pt idx="71">
                  <c:v>2.1566783517280999</c:v>
                </c:pt>
                <c:pt idx="72">
                  <c:v>2.6601246519029198</c:v>
                </c:pt>
                <c:pt idx="73">
                  <c:v>3.09654803106883</c:v>
                </c:pt>
                <c:pt idx="74">
                  <c:v>3.5664676865704101</c:v>
                </c:pt>
                <c:pt idx="75">
                  <c:v>3.9692733160503701</c:v>
                </c:pt>
                <c:pt idx="76">
                  <c:v>4.4056966952162702</c:v>
                </c:pt>
                <c:pt idx="77">
                  <c:v>4.6742742726530002</c:v>
                </c:pt>
                <c:pt idx="78">
                  <c:v>4.9596303565951398</c:v>
                </c:pt>
                <c:pt idx="79">
                  <c:v>5.1443761381799797</c:v>
                </c:pt>
                <c:pt idx="80">
                  <c:v>5.3458396895950901</c:v>
                </c:pt>
                <c:pt idx="81">
                  <c:v>5.46341070848319</c:v>
                </c:pt>
                <c:pt idx="82">
                  <c:v>5.6313476152250601</c:v>
                </c:pt>
                <c:pt idx="83">
                  <c:v>5.7321401276077504</c:v>
                </c:pt>
                <c:pt idx="84">
                  <c:v>5.7825971204742199</c:v>
                </c:pt>
                <c:pt idx="85">
                  <c:v>5.8666263105202896</c:v>
                </c:pt>
                <c:pt idx="86">
                  <c:v>5.8835414745447503</c:v>
                </c:pt>
                <c:pt idx="87">
                  <c:v>5.9172503292433802</c:v>
                </c:pt>
                <c:pt idx="88">
                  <c:v>5.9174021709312203</c:v>
                </c:pt>
                <c:pt idx="89">
                  <c:v>5.9175236442814798</c:v>
                </c:pt>
                <c:pt idx="90">
                  <c:v>5.9344539924747197</c:v>
                </c:pt>
                <c:pt idx="91">
                  <c:v>5.9177969593195803</c:v>
                </c:pt>
                <c:pt idx="92">
                  <c:v>5.9178880643322804</c:v>
                </c:pt>
                <c:pt idx="93">
                  <c:v>5.8844525246717403</c:v>
                </c:pt>
                <c:pt idx="94">
                  <c:v>5.8510169850111904</c:v>
                </c:pt>
                <c:pt idx="95">
                  <c:v>5.8511384583614596</c:v>
                </c:pt>
                <c:pt idx="96">
                  <c:v>5.85129030004929</c:v>
                </c:pt>
                <c:pt idx="97">
                  <c:v>5.81788512872631</c:v>
                </c:pt>
                <c:pt idx="98">
                  <c:v>5.7508622077174003</c:v>
                </c:pt>
                <c:pt idx="99">
                  <c:v>5.7174418522256403</c:v>
                </c:pt>
                <c:pt idx="100">
                  <c:v>5.6840822334090104</c:v>
                </c:pt>
                <c:pt idx="101">
                  <c:v>5.6842037067592797</c:v>
                </c:pt>
                <c:pt idx="102">
                  <c:v>5.6172111540879301</c:v>
                </c:pt>
                <c:pt idx="103">
                  <c:v>5.6173326274381896</c:v>
                </c:pt>
                <c:pt idx="104">
                  <c:v>5.5838970877776504</c:v>
                </c:pt>
                <c:pt idx="105">
                  <c:v>5.5169045351063</c:v>
                </c:pt>
                <c:pt idx="106">
                  <c:v>5.5002626861199397</c:v>
                </c:pt>
                <c:pt idx="107">
                  <c:v>5.4668726989657497</c:v>
                </c:pt>
                <c:pt idx="108">
                  <c:v>5.4166282844622398</c:v>
                </c:pt>
                <c:pt idx="109">
                  <c:v>5.3496661001284496</c:v>
                </c:pt>
                <c:pt idx="110">
                  <c:v>5.3497875734787197</c:v>
                </c:pt>
                <c:pt idx="111">
                  <c:v>5.3163520338181698</c:v>
                </c:pt>
                <c:pt idx="112">
                  <c:v>5.3500305201792502</c:v>
                </c:pt>
                <c:pt idx="113">
                  <c:v>5.31659498051871</c:v>
                </c:pt>
                <c:pt idx="114">
                  <c:v>5.2496024278473499</c:v>
                </c:pt>
                <c:pt idx="115">
                  <c:v>5.2161820723555898</c:v>
                </c:pt>
                <c:pt idx="116">
                  <c:v>5.1827617168638396</c:v>
                </c:pt>
                <c:pt idx="117">
                  <c:v>5.18289837438288</c:v>
                </c:pt>
                <c:pt idx="118">
                  <c:v>5.1662565253965296</c:v>
                </c:pt>
                <c:pt idx="119">
                  <c:v>5.1160272950617998</c:v>
                </c:pt>
                <c:pt idx="120">
                  <c:v>5.0994006302442303</c:v>
                </c:pt>
                <c:pt idx="121">
                  <c:v>-2.7165591458803799</c:v>
                </c:pt>
              </c:numCache>
            </c:numRef>
          </c:xVal>
          <c:yVal>
            <c:numRef>
              <c:f>'-5,0,7eu0.25'!$K$1:$K$122</c:f>
              <c:numCache>
                <c:formatCode>General</c:formatCode>
                <c:ptCount val="122"/>
                <c:pt idx="0">
                  <c:v>0</c:v>
                </c:pt>
                <c:pt idx="1">
                  <c:v>5.0208984777839298E-2</c:v>
                </c:pt>
                <c:pt idx="2">
                  <c:v>-5.7416403558749396</c:v>
                </c:pt>
                <c:pt idx="3">
                  <c:v>-13.7038135546023</c:v>
                </c:pt>
                <c:pt idx="4">
                  <c:v>-19.493233428249798</c:v>
                </c:pt>
                <c:pt idx="5">
                  <c:v>-26.728995992390299</c:v>
                </c:pt>
                <c:pt idx="6">
                  <c:v>-32.5159863990324</c:v>
                </c:pt>
                <c:pt idx="7">
                  <c:v>-39.024528506250903</c:v>
                </c:pt>
                <c:pt idx="8">
                  <c:v>-43.358697643719204</c:v>
                </c:pt>
                <c:pt idx="9">
                  <c:v>-51.312772619095597</c:v>
                </c:pt>
                <c:pt idx="10">
                  <c:v>-59.990018939718503</c:v>
                </c:pt>
                <c:pt idx="11">
                  <c:v>-64.321758610181504</c:v>
                </c:pt>
                <c:pt idx="12">
                  <c:v>-70.828681072729793</c:v>
                </c:pt>
                <c:pt idx="13">
                  <c:v>-77.333174068272797</c:v>
                </c:pt>
                <c:pt idx="14">
                  <c:v>-89.624657470457905</c:v>
                </c:pt>
                <c:pt idx="15">
                  <c:v>-85.287249043649098</c:v>
                </c:pt>
                <c:pt idx="16">
                  <c:v>-96.136438867016693</c:v>
                </c:pt>
                <c:pt idx="17">
                  <c:v>-104.09780224340901</c:v>
                </c:pt>
                <c:pt idx="18">
                  <c:v>-120.02214864086299</c:v>
                </c:pt>
                <c:pt idx="19">
                  <c:v>-125.09001681393499</c:v>
                </c:pt>
                <c:pt idx="20">
                  <c:v>-133.77779082491401</c:v>
                </c:pt>
                <c:pt idx="21">
                  <c:v>-145.36472879556001</c:v>
                </c:pt>
                <c:pt idx="22">
                  <c:v>-151.885418237805</c:v>
                </c:pt>
                <c:pt idx="23">
                  <c:v>-138.847278642655</c:v>
                </c:pt>
                <c:pt idx="24">
                  <c:v>-157.681316690133</c:v>
                </c:pt>
                <c:pt idx="25">
                  <c:v>-164.926797122295</c:v>
                </c:pt>
                <c:pt idx="26">
                  <c:v>-170.72350539695799</c:v>
                </c:pt>
                <c:pt idx="27">
                  <c:v>-178.697016108377</c:v>
                </c:pt>
                <c:pt idx="28">
                  <c:v>-183.77298250479899</c:v>
                </c:pt>
                <c:pt idx="29">
                  <c:v>-191.02332187097099</c:v>
                </c:pt>
                <c:pt idx="30">
                  <c:v>-196.82407925730999</c:v>
                </c:pt>
                <c:pt idx="31">
                  <c:v>-202.620787531974</c:v>
                </c:pt>
                <c:pt idx="32">
                  <c:v>-209.86707778647099</c:v>
                </c:pt>
                <c:pt idx="33">
                  <c:v>-215.663786061134</c:v>
                </c:pt>
                <c:pt idx="34">
                  <c:v>-222.902787914615</c:v>
                </c:pt>
                <c:pt idx="35">
                  <c:v>-227.24586509776901</c:v>
                </c:pt>
                <c:pt idx="36">
                  <c:v>-234.485676773585</c:v>
                </c:pt>
                <c:pt idx="37">
                  <c:v>-240.273477002563</c:v>
                </c:pt>
                <c:pt idx="38">
                  <c:v>-247.50842974436799</c:v>
                </c:pt>
                <c:pt idx="39">
                  <c:v>-253.29299068400499</c:v>
                </c:pt>
                <c:pt idx="40">
                  <c:v>-259.07674180130698</c:v>
                </c:pt>
                <c:pt idx="41">
                  <c:v>-265.58447408619003</c:v>
                </c:pt>
                <c:pt idx="42">
                  <c:v>-272.09220637107302</c:v>
                </c:pt>
                <c:pt idx="43">
                  <c:v>-277.87109855436501</c:v>
                </c:pt>
                <c:pt idx="44">
                  <c:v>-285.09471378347803</c:v>
                </c:pt>
                <c:pt idx="45">
                  <c:v>-289.42564363160602</c:v>
                </c:pt>
                <c:pt idx="46">
                  <c:v>-295.20129652555698</c:v>
                </c:pt>
                <c:pt idx="47">
                  <c:v>-300.97937888651302</c:v>
                </c:pt>
                <c:pt idx="48">
                  <c:v>-309.65338591779602</c:v>
                </c:pt>
                <c:pt idx="49">
                  <c:v>-316.88186008091998</c:v>
                </c:pt>
                <c:pt idx="50">
                  <c:v>-324.11519317805499</c:v>
                </c:pt>
                <c:pt idx="51">
                  <c:v>-329.89894429535701</c:v>
                </c:pt>
                <c:pt idx="52">
                  <c:v>-334.961953534418</c:v>
                </c:pt>
                <c:pt idx="53">
                  <c:v>-344.37208906830801</c:v>
                </c:pt>
                <c:pt idx="54">
                  <c:v>-405.92911422645102</c:v>
                </c:pt>
                <c:pt idx="55">
                  <c:v>-400.13483541879299</c:v>
                </c:pt>
                <c:pt idx="56">
                  <c:v>-392.169422930726</c:v>
                </c:pt>
                <c:pt idx="57">
                  <c:v>-384.92799161023902</c:v>
                </c:pt>
                <c:pt idx="58">
                  <c:v>-377.68494064508297</c:v>
                </c:pt>
                <c:pt idx="59">
                  <c:v>-370.44188967992699</c:v>
                </c:pt>
                <c:pt idx="60">
                  <c:v>-363.19883871476998</c:v>
                </c:pt>
                <c:pt idx="61">
                  <c:v>-356.67976891719502</c:v>
                </c:pt>
                <c:pt idx="62">
                  <c:v>-348.71516625146302</c:v>
                </c:pt>
                <c:pt idx="63">
                  <c:v>-412.44251526768102</c:v>
                </c:pt>
                <c:pt idx="64">
                  <c:v>-419.67260907547501</c:v>
                </c:pt>
                <c:pt idx="65">
                  <c:v>-428.34904557376302</c:v>
                </c:pt>
                <c:pt idx="66">
                  <c:v>-434.11983953370299</c:v>
                </c:pt>
                <c:pt idx="67">
                  <c:v>-441.33778600647099</c:v>
                </c:pt>
                <c:pt idx="68">
                  <c:v>-447.10453085473603</c:v>
                </c:pt>
                <c:pt idx="69">
                  <c:v>-454.31842821582899</c:v>
                </c:pt>
                <c:pt idx="70">
                  <c:v>-460.08598288642798</c:v>
                </c:pt>
                <c:pt idx="71">
                  <c:v>-467.299880247521</c:v>
                </c:pt>
                <c:pt idx="72">
                  <c:v>-471.619472582958</c:v>
                </c:pt>
                <c:pt idx="73">
                  <c:v>-480.28619121322401</c:v>
                </c:pt>
                <c:pt idx="74">
                  <c:v>-486.05536552849401</c:v>
                </c:pt>
                <c:pt idx="75">
                  <c:v>-491.827779133104</c:v>
                </c:pt>
                <c:pt idx="76">
                  <c:v>-500.49449776337099</c:v>
                </c:pt>
                <c:pt idx="77">
                  <c:v>-506.27338994666201</c:v>
                </c:pt>
                <c:pt idx="78">
                  <c:v>-512.05147230761804</c:v>
                </c:pt>
                <c:pt idx="79">
                  <c:v>-520.73033827291101</c:v>
                </c:pt>
                <c:pt idx="80">
                  <c:v>-526.51246974554294</c:v>
                </c:pt>
                <c:pt idx="81">
                  <c:v>-532.29865032985003</c:v>
                </c:pt>
                <c:pt idx="82">
                  <c:v>-539.53036378231502</c:v>
                </c:pt>
                <c:pt idx="83">
                  <c:v>-545.31735418895698</c:v>
                </c:pt>
                <c:pt idx="84">
                  <c:v>-551.10677406260402</c:v>
                </c:pt>
                <c:pt idx="85">
                  <c:v>-557.61855545916296</c:v>
                </c:pt>
                <c:pt idx="86">
                  <c:v>-564.13357614506299</c:v>
                </c:pt>
                <c:pt idx="87">
                  <c:v>-571.371768176209</c:v>
                </c:pt>
                <c:pt idx="88">
                  <c:v>-578.61157985202397</c:v>
                </c:pt>
                <c:pt idx="89">
                  <c:v>-584.40342919267698</c:v>
                </c:pt>
                <c:pt idx="90">
                  <c:v>-591.64243104615798</c:v>
                </c:pt>
                <c:pt idx="91">
                  <c:v>-597.43509020914598</c:v>
                </c:pt>
                <c:pt idx="92">
                  <c:v>-601.77897721463603</c:v>
                </c:pt>
                <c:pt idx="93">
                  <c:v>-607.57244619995902</c:v>
                </c:pt>
                <c:pt idx="94">
                  <c:v>-613.36591518528201</c:v>
                </c:pt>
                <c:pt idx="95">
                  <c:v>-619.157764525934</c:v>
                </c:pt>
                <c:pt idx="96">
                  <c:v>-626.39757620174998</c:v>
                </c:pt>
                <c:pt idx="97">
                  <c:v>-633.63900752223697</c:v>
                </c:pt>
                <c:pt idx="98">
                  <c:v>-637.98613381706696</c:v>
                </c:pt>
                <c:pt idx="99">
                  <c:v>-644.50358396997103</c:v>
                </c:pt>
                <c:pt idx="100">
                  <c:v>-653.91695879320196</c:v>
                </c:pt>
                <c:pt idx="101">
                  <c:v>-659.70880813385497</c:v>
                </c:pt>
                <c:pt idx="102">
                  <c:v>-665.50389676384805</c:v>
                </c:pt>
                <c:pt idx="103">
                  <c:v>-671.29574610450095</c:v>
                </c:pt>
                <c:pt idx="104">
                  <c:v>-677.08921508982405</c:v>
                </c:pt>
                <c:pt idx="105">
                  <c:v>-682.88430371981701</c:v>
                </c:pt>
                <c:pt idx="106">
                  <c:v>-689.40094405038701</c:v>
                </c:pt>
                <c:pt idx="107">
                  <c:v>-697.36635653845406</c:v>
                </c:pt>
                <c:pt idx="108">
                  <c:v>-701.71267301094895</c:v>
                </c:pt>
                <c:pt idx="109">
                  <c:v>-708.95572397610601</c:v>
                </c:pt>
                <c:pt idx="110">
                  <c:v>-714.74757331675903</c:v>
                </c:pt>
                <c:pt idx="111">
                  <c:v>-720.54104230208202</c:v>
                </c:pt>
                <c:pt idx="112">
                  <c:v>-726.33127199806404</c:v>
                </c:pt>
                <c:pt idx="113">
                  <c:v>-732.12474098338703</c:v>
                </c:pt>
                <c:pt idx="114">
                  <c:v>-737.91982961337999</c:v>
                </c:pt>
                <c:pt idx="115">
                  <c:v>-744.43727976628497</c:v>
                </c:pt>
                <c:pt idx="116">
                  <c:v>-750.95472991918905</c:v>
                </c:pt>
                <c:pt idx="117">
                  <c:v>-757.47056042742395</c:v>
                </c:pt>
                <c:pt idx="118">
                  <c:v>-763.98720075799304</c:v>
                </c:pt>
                <c:pt idx="119">
                  <c:v>-769.05749839807004</c:v>
                </c:pt>
                <c:pt idx="120">
                  <c:v>-776.29811989622101</c:v>
                </c:pt>
                <c:pt idx="121">
                  <c:v>-111.335994274554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BC5B-442F-9404-227AAD586656}"/>
            </c:ext>
          </c:extLst>
        </c:ser>
        <c:ser>
          <c:idx val="1"/>
          <c:order val="1"/>
          <c:spPr>
            <a:ln w="19050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chemeClr val="bg1">
                  <a:lumMod val="65000"/>
                </a:schemeClr>
              </a:solidFill>
              <a:ln w="9525">
                <a:noFill/>
              </a:ln>
              <a:effectLst/>
            </c:spPr>
          </c:marker>
          <c:xVal>
            <c:numRef>
              <c:f>'-5,0,7eu0.25'!$L$1:$L$122</c:f>
              <c:numCache>
                <c:formatCode>General</c:formatCode>
                <c:ptCount val="122"/>
                <c:pt idx="0">
                  <c:v>0</c:v>
                </c:pt>
                <c:pt idx="1">
                  <c:v>4.61509182412633E-2</c:v>
                </c:pt>
                <c:pt idx="2">
                  <c:v>4.6269989514445997E-2</c:v>
                </c:pt>
                <c:pt idx="3">
                  <c:v>4.6416176028058503E-2</c:v>
                </c:pt>
                <c:pt idx="4">
                  <c:v>4.6623666563508602E-2</c:v>
                </c:pt>
                <c:pt idx="5">
                  <c:v>6.1265896394678103E-2</c:v>
                </c:pt>
                <c:pt idx="6">
                  <c:v>4.6864166956870699E-2</c:v>
                </c:pt>
                <c:pt idx="7">
                  <c:v>4.70056377764951E-2</c:v>
                </c:pt>
                <c:pt idx="8">
                  <c:v>3.2603908338687697E-2</c:v>
                </c:pt>
                <c:pt idx="9">
                  <c:v>9.0946474351968107E-2</c:v>
                </c:pt>
                <c:pt idx="10">
                  <c:v>0.120174345686459</c:v>
                </c:pt>
                <c:pt idx="11">
                  <c:v>0.19306011195717299</c:v>
                </c:pt>
                <c:pt idx="12">
                  <c:v>0.29503227874275401</c:v>
                </c:pt>
                <c:pt idx="13">
                  <c:v>0.38242823541298698</c:v>
                </c:pt>
                <c:pt idx="14">
                  <c:v>0.48801262379298799</c:v>
                </c:pt>
                <c:pt idx="15">
                  <c:v>0.626379337850556</c:v>
                </c:pt>
                <c:pt idx="16">
                  <c:v>0.80466675935925303</c:v>
                </c:pt>
                <c:pt idx="17">
                  <c:v>0.97934313819703001</c:v>
                </c:pt>
                <c:pt idx="18">
                  <c:v>1.1685297074343199</c:v>
                </c:pt>
                <c:pt idx="19">
                  <c:v>1.4038169010933601</c:v>
                </c:pt>
                <c:pt idx="20">
                  <c:v>1.67059549920089</c:v>
                </c:pt>
                <c:pt idx="21">
                  <c:v>1.9009689397249701</c:v>
                </c:pt>
                <c:pt idx="22">
                  <c:v>2.1799376067901699</c:v>
                </c:pt>
                <c:pt idx="23">
                  <c:v>2.4709077150535501</c:v>
                </c:pt>
                <c:pt idx="24">
                  <c:v>2.7982594024304399</c:v>
                </c:pt>
                <c:pt idx="25">
                  <c:v>3.1619926689208602</c:v>
                </c:pt>
                <c:pt idx="26">
                  <c:v>3.4772603904547998</c:v>
                </c:pt>
                <c:pt idx="27">
                  <c:v>3.86519695633603</c:v>
                </c:pt>
                <c:pt idx="28">
                  <c:v>4.26528822347003</c:v>
                </c:pt>
                <c:pt idx="29">
                  <c:v>4.6290509630478702</c:v>
                </c:pt>
                <c:pt idx="30">
                  <c:v>5.0472858627987502</c:v>
                </c:pt>
                <c:pt idx="31">
                  <c:v>5.3564762337063101</c:v>
                </c:pt>
                <c:pt idx="32">
                  <c:v>5.7323170445096201</c:v>
                </c:pt>
                <c:pt idx="33">
                  <c:v>6.0354300647907904</c:v>
                </c:pt>
                <c:pt idx="34">
                  <c:v>6.3022204521332901</c:v>
                </c:pt>
                <c:pt idx="35">
                  <c:v>6.5931905603966596</c:v>
                </c:pt>
                <c:pt idx="36">
                  <c:v>6.8356833344685999</c:v>
                </c:pt>
                <c:pt idx="37">
                  <c:v>6.9933643521754396</c:v>
                </c:pt>
                <c:pt idx="38">
                  <c:v>7.1146991584736803</c:v>
                </c:pt>
                <c:pt idx="39">
                  <c:v>7.2481768767897101</c:v>
                </c:pt>
                <c:pt idx="40">
                  <c:v>7.2846645590179397</c:v>
                </c:pt>
                <c:pt idx="41">
                  <c:v>7.3150866798547698</c:v>
                </c:pt>
                <c:pt idx="42">
                  <c:v>7.2606852550915297</c:v>
                </c:pt>
                <c:pt idx="43">
                  <c:v>7.1638602682933099</c:v>
                </c:pt>
                <c:pt idx="44">
                  <c:v>7.0549277371821804</c:v>
                </c:pt>
                <c:pt idx="45">
                  <c:v>6.8127002208970504</c:v>
                </c:pt>
                <c:pt idx="46">
                  <c:v>6.58253898660241</c:v>
                </c:pt>
                <c:pt idx="47">
                  <c:v>6.2433450126994199</c:v>
                </c:pt>
                <c:pt idx="48">
                  <c:v>5.9284073897446001</c:v>
                </c:pt>
                <c:pt idx="49">
                  <c:v>5.5467898538066098</c:v>
                </c:pt>
                <c:pt idx="50">
                  <c:v>5.26814539070305</c:v>
                </c:pt>
                <c:pt idx="51">
                  <c:v>4.89868255601783</c:v>
                </c:pt>
                <c:pt idx="52">
                  <c:v>4.64432391694986</c:v>
                </c:pt>
                <c:pt idx="53">
                  <c:v>4.2687837316382602</c:v>
                </c:pt>
                <c:pt idx="54">
                  <c:v>3.8932553355616202</c:v>
                </c:pt>
                <c:pt idx="55">
                  <c:v>3.6146285563105098</c:v>
                </c:pt>
                <c:pt idx="56">
                  <c:v>3.28757749442532</c:v>
                </c:pt>
                <c:pt idx="57">
                  <c:v>2.9665507316091499</c:v>
                </c:pt>
                <c:pt idx="58">
                  <c:v>2.6637265475847101</c:v>
                </c:pt>
                <c:pt idx="59">
                  <c:v>2.4033553986826899</c:v>
                </c:pt>
                <c:pt idx="60">
                  <c:v>2.1732118482405101</c:v>
                </c:pt>
                <c:pt idx="61">
                  <c:v>1.9552347882860599</c:v>
                </c:pt>
                <c:pt idx="62">
                  <c:v>1.8341947128620499</c:v>
                </c:pt>
                <c:pt idx="63">
                  <c:v>1.8283354630825801</c:v>
                </c:pt>
                <c:pt idx="64">
                  <c:v>1.87695426809365</c:v>
                </c:pt>
                <c:pt idx="65">
                  <c:v>2.1134345323315298</c:v>
                </c:pt>
                <c:pt idx="66">
                  <c:v>2.5256687114833301</c:v>
                </c:pt>
                <c:pt idx="67">
                  <c:v>2.9863861194440502</c:v>
                </c:pt>
                <c:pt idx="68">
                  <c:v>3.56828507364841</c:v>
                </c:pt>
                <c:pt idx="69">
                  <c:v>4.2592403459310697</c:v>
                </c:pt>
                <c:pt idx="70">
                  <c:v>4.8714317393876003</c:v>
                </c:pt>
                <c:pt idx="71">
                  <c:v>5.4472592375830597</c:v>
                </c:pt>
                <c:pt idx="72">
                  <c:v>5.8655589781262698</c:v>
                </c:pt>
                <c:pt idx="73">
                  <c:v>6.2474712449384802</c:v>
                </c:pt>
                <c:pt idx="74">
                  <c:v>6.4960649481067296</c:v>
                </c:pt>
                <c:pt idx="75">
                  <c:v>6.5871308936227404</c:v>
                </c:pt>
                <c:pt idx="76">
                  <c:v>6.5388539764257603</c:v>
                </c:pt>
                <c:pt idx="77">
                  <c:v>6.4662499728708003</c:v>
                </c:pt>
                <c:pt idx="78">
                  <c:v>6.2725233692470397</c:v>
                </c:pt>
                <c:pt idx="79">
                  <c:v>6.0848328539272796</c:v>
                </c:pt>
                <c:pt idx="80">
                  <c:v>5.8547246711899996</c:v>
                </c:pt>
                <c:pt idx="81">
                  <c:v>5.61858629476622</c:v>
                </c:pt>
                <c:pt idx="82">
                  <c:v>5.3642217610807696</c:v>
                </c:pt>
                <c:pt idx="83">
                  <c:v>5.0855714033597197</c:v>
                </c:pt>
                <c:pt idx="84">
                  <c:v>4.8433733601620101</c:v>
                </c:pt>
                <c:pt idx="85">
                  <c:v>4.5647583701458601</c:v>
                </c:pt>
                <c:pt idx="86">
                  <c:v>4.3346442927910998</c:v>
                </c:pt>
                <c:pt idx="87">
                  <c:v>4.05608824894981</c:v>
                </c:pt>
                <c:pt idx="88">
                  <c:v>3.7653657146207702</c:v>
                </c:pt>
                <c:pt idx="89">
                  <c:v>3.5473709708138701</c:v>
                </c:pt>
                <c:pt idx="90">
                  <c:v>3.3657106491806199</c:v>
                </c:pt>
                <c:pt idx="91">
                  <c:v>3.1537284152077798</c:v>
                </c:pt>
                <c:pt idx="92">
                  <c:v>2.9297447400367602</c:v>
                </c:pt>
                <c:pt idx="93">
                  <c:v>2.7844070513421801</c:v>
                </c:pt>
                <c:pt idx="94">
                  <c:v>2.6027703081788598</c:v>
                </c:pt>
                <c:pt idx="95">
                  <c:v>2.4635512324330602</c:v>
                </c:pt>
                <c:pt idx="96">
                  <c:v>2.3000581218866198</c:v>
                </c:pt>
                <c:pt idx="97">
                  <c:v>2.1850659240015702</c:v>
                </c:pt>
                <c:pt idx="98">
                  <c:v>2.0397753922468702</c:v>
                </c:pt>
                <c:pt idx="99">
                  <c:v>1.8883898260133301</c:v>
                </c:pt>
                <c:pt idx="100">
                  <c:v>1.77948676798962</c:v>
                </c:pt>
                <c:pt idx="101">
                  <c:v>1.64025000839137</c:v>
                </c:pt>
                <c:pt idx="102">
                  <c:v>1.51316205542839</c:v>
                </c:pt>
                <c:pt idx="103">
                  <c:v>1.39211019076941</c:v>
                </c:pt>
                <c:pt idx="104">
                  <c:v>1.3073927482840699</c:v>
                </c:pt>
                <c:pt idx="105">
                  <c:v>1.2347946393465901</c:v>
                </c:pt>
                <c:pt idx="106">
                  <c:v>1.1137545639225801</c:v>
                </c:pt>
                <c:pt idx="107">
                  <c:v>1.0169413663593201</c:v>
                </c:pt>
                <c:pt idx="108">
                  <c:v>0.92616425710005601</c:v>
                </c:pt>
                <c:pt idx="109">
                  <c:v>0.829351059536794</c:v>
                </c:pt>
                <c:pt idx="110">
                  <c:v>0.72646051134714895</c:v>
                </c:pt>
                <c:pt idx="111">
                  <c:v>0.65392724320200202</c:v>
                </c:pt>
                <c:pt idx="112">
                  <c:v>0.52074425576018601</c:v>
                </c:pt>
                <c:pt idx="113">
                  <c:v>0.43602681327485099</c:v>
                </c:pt>
                <c:pt idx="114">
                  <c:v>0.35133294925945002</c:v>
                </c:pt>
                <c:pt idx="115">
                  <c:v>0.23031645230537501</c:v>
                </c:pt>
                <c:pt idx="116">
                  <c:v>0.16984946615072599</c:v>
                </c:pt>
                <c:pt idx="117">
                  <c:v>3.6648794856461102E-2</c:v>
                </c:pt>
                <c:pt idx="118">
                  <c:v>-5.6332963589120696E-3</c:v>
                </c:pt>
                <c:pt idx="119">
                  <c:v>-0.108506160696101</c:v>
                </c:pt>
                <c:pt idx="120">
                  <c:v>-0.25380848168577402</c:v>
                </c:pt>
                <c:pt idx="121">
                  <c:v>-0.37482497863984998</c:v>
                </c:pt>
              </c:numCache>
            </c:numRef>
          </c:xVal>
          <c:yVal>
            <c:numRef>
              <c:f>'-5,0,7eu0.25'!$M$1:$M$122</c:f>
              <c:numCache>
                <c:formatCode>General</c:formatCode>
                <c:ptCount val="122"/>
                <c:pt idx="0">
                  <c:v>0</c:v>
                </c:pt>
                <c:pt idx="1">
                  <c:v>-2.5712509440662998</c:v>
                </c:pt>
                <c:pt idx="2">
                  <c:v>-7.8357888357852801</c:v>
                </c:pt>
                <c:pt idx="3">
                  <c:v>-14.299181890965</c:v>
                </c:pt>
                <c:pt idx="4">
                  <c:v>-23.473030098316801</c:v>
                </c:pt>
                <c:pt idx="5">
                  <c:v>-27.850703140787701</c:v>
                </c:pt>
                <c:pt idx="6">
                  <c:v>-34.1063541568383</c:v>
                </c:pt>
                <c:pt idx="7">
                  <c:v>-40.361250661851003</c:v>
                </c:pt>
                <c:pt idx="8">
                  <c:v>-46.616901677901602</c:v>
                </c:pt>
                <c:pt idx="9">
                  <c:v>-54.119759439764799</c:v>
                </c:pt>
                <c:pt idx="10">
                  <c:v>-60.373146922701402</c:v>
                </c:pt>
                <c:pt idx="11">
                  <c:v>-67.875250173526595</c:v>
                </c:pt>
                <c:pt idx="12">
                  <c:v>-75.375844402275803</c:v>
                </c:pt>
                <c:pt idx="13">
                  <c:v>-81.417717290893293</c:v>
                </c:pt>
                <c:pt idx="14">
                  <c:v>-87.875640141047597</c:v>
                </c:pt>
                <c:pt idx="15">
                  <c:v>-96.990196355996702</c:v>
                </c:pt>
                <c:pt idx="16">
                  <c:v>-102.870981138001</c:v>
                </c:pt>
                <c:pt idx="17">
                  <c:v>-109.846561436142</c:v>
                </c:pt>
                <c:pt idx="18">
                  <c:v>-115.36191137207599</c:v>
                </c:pt>
                <c:pt idx="19">
                  <c:v>-122.95983752472701</c:v>
                </c:pt>
                <c:pt idx="20">
                  <c:v>-129.722142702794</c:v>
                </c:pt>
                <c:pt idx="21">
                  <c:v>-134.40136865678599</c:v>
                </c:pt>
                <c:pt idx="22">
                  <c:v>-144.29049332816101</c:v>
                </c:pt>
                <c:pt idx="23">
                  <c:v>-148.96657548616</c:v>
                </c:pt>
                <c:pt idx="24">
                  <c:v>-154.6832541174</c:v>
                </c:pt>
                <c:pt idx="25">
                  <c:v>-161.44052922188001</c:v>
                </c:pt>
                <c:pt idx="26">
                  <c:v>-168.72156073857201</c:v>
                </c:pt>
                <c:pt idx="27">
                  <c:v>-173.91385419840199</c:v>
                </c:pt>
                <c:pt idx="28">
                  <c:v>-180.66924302528801</c:v>
                </c:pt>
                <c:pt idx="29">
                  <c:v>-188.72962156831301</c:v>
                </c:pt>
                <c:pt idx="30">
                  <c:v>-193.92034313014699</c:v>
                </c:pt>
                <c:pt idx="31">
                  <c:v>-200.41982696331101</c:v>
                </c:pt>
                <c:pt idx="32">
                  <c:v>-206.655231933176</c:v>
                </c:pt>
                <c:pt idx="33">
                  <c:v>-212.37316808281199</c:v>
                </c:pt>
                <c:pt idx="34">
                  <c:v>-219.65671463629701</c:v>
                </c:pt>
                <c:pt idx="35">
                  <c:v>-224.332796794297</c:v>
                </c:pt>
                <c:pt idx="36">
                  <c:v>-229.01139398908899</c:v>
                </c:pt>
                <c:pt idx="37">
                  <c:v>-234.73687524910599</c:v>
                </c:pt>
                <c:pt idx="38">
                  <c:v>-240.98548416213501</c:v>
                </c:pt>
                <c:pt idx="39">
                  <c:v>-248.27594706680199</c:v>
                </c:pt>
                <c:pt idx="40">
                  <c:v>-254.00771591880201</c:v>
                </c:pt>
                <c:pt idx="41">
                  <c:v>-259.479178462692</c:v>
                </c:pt>
                <c:pt idx="42">
                  <c:v>-265.47628369638801</c:v>
                </c:pt>
                <c:pt idx="43">
                  <c:v>-271.21496889957001</c:v>
                </c:pt>
                <c:pt idx="44">
                  <c:v>-277.47552423736698</c:v>
                </c:pt>
                <c:pt idx="45">
                  <c:v>-284.52485798947299</c:v>
                </c:pt>
                <c:pt idx="46">
                  <c:v>-289.22797679300101</c:v>
                </c:pt>
                <c:pt idx="47">
                  <c:v>-295.76109924327602</c:v>
                </c:pt>
                <c:pt idx="48">
                  <c:v>-303.07482623828099</c:v>
                </c:pt>
                <c:pt idx="49">
                  <c:v>-309.34952865804098</c:v>
                </c:pt>
                <c:pt idx="50">
                  <c:v>-313.79454181065302</c:v>
                </c:pt>
                <c:pt idx="51">
                  <c:v>-321.63233959746799</c:v>
                </c:pt>
                <c:pt idx="52">
                  <c:v>-328.16106073335402</c:v>
                </c:pt>
                <c:pt idx="53">
                  <c:v>-335.21731083664201</c:v>
                </c:pt>
                <c:pt idx="54">
                  <c:v>-342.794802315347</c:v>
                </c:pt>
                <c:pt idx="55">
                  <c:v>-348.02167753108603</c:v>
                </c:pt>
                <c:pt idx="56">
                  <c:v>-355.59665397299801</c:v>
                </c:pt>
                <c:pt idx="57">
                  <c:v>-361.60759190905799</c:v>
                </c:pt>
                <c:pt idx="58">
                  <c:v>-368.66006945715498</c:v>
                </c:pt>
                <c:pt idx="59">
                  <c:v>-377.274070474312</c:v>
                </c:pt>
                <c:pt idx="60">
                  <c:v>-382.75905134096598</c:v>
                </c:pt>
                <c:pt idx="61">
                  <c:v>-390.32836895009302</c:v>
                </c:pt>
                <c:pt idx="62">
                  <c:v>-397.11079442250701</c:v>
                </c:pt>
                <c:pt idx="63">
                  <c:v>-405.97221218420702</c:v>
                </c:pt>
                <c:pt idx="64">
                  <c:v>-412.22459365242599</c:v>
                </c:pt>
                <c:pt idx="65">
                  <c:v>-418.98847072848901</c:v>
                </c:pt>
                <c:pt idx="66">
                  <c:v>-426.78571354701199</c:v>
                </c:pt>
                <c:pt idx="67">
                  <c:v>-434.84106201645</c:v>
                </c:pt>
                <c:pt idx="68">
                  <c:v>-442.368881518487</c:v>
                </c:pt>
                <c:pt idx="69">
                  <c:v>-449.10918012461201</c:v>
                </c:pt>
                <c:pt idx="70">
                  <c:v>-456.37480704094401</c:v>
                </c:pt>
                <c:pt idx="71">
                  <c:v>-463.38169954716301</c:v>
                </c:pt>
                <c:pt idx="72">
                  <c:v>-471.43924867379502</c:v>
                </c:pt>
                <c:pt idx="73">
                  <c:v>-478.19558063947801</c:v>
                </c:pt>
                <c:pt idx="74">
                  <c:v>-484.698208268634</c:v>
                </c:pt>
                <c:pt idx="75">
                  <c:v>-492.25149251820301</c:v>
                </c:pt>
                <c:pt idx="76">
                  <c:v>-501.115110937098</c:v>
                </c:pt>
                <c:pt idx="77">
                  <c:v>-506.07067655875602</c:v>
                </c:pt>
                <c:pt idx="78">
                  <c:v>-514.15997802490404</c:v>
                </c:pt>
                <c:pt idx="79">
                  <c:v>-521.20648236061697</c:v>
                </c:pt>
                <c:pt idx="80">
                  <c:v>-528.255187353525</c:v>
                </c:pt>
                <c:pt idx="81">
                  <c:v>-536.60731016457601</c:v>
                </c:pt>
                <c:pt idx="82">
                  <c:v>-542.87541061275397</c:v>
                </c:pt>
                <c:pt idx="83">
                  <c:v>-547.05980307765697</c:v>
                </c:pt>
                <c:pt idx="84">
                  <c:v>-555.41224026830696</c:v>
                </c:pt>
                <c:pt idx="85">
                  <c:v>-561.16035685946395</c:v>
                </c:pt>
                <c:pt idx="86">
                  <c:v>-567.94844116466197</c:v>
                </c:pt>
                <c:pt idx="87">
                  <c:v>-576.30276463290795</c:v>
                </c:pt>
                <c:pt idx="88">
                  <c:v>-582.57275135867997</c:v>
                </c:pt>
                <c:pt idx="89">
                  <c:v>-589.36020690468104</c:v>
                </c:pt>
                <c:pt idx="90">
                  <c:v>-595.10329342224998</c:v>
                </c:pt>
                <c:pt idx="91">
                  <c:v>-599.80546908698102</c:v>
                </c:pt>
                <c:pt idx="92">
                  <c:v>-609.72068726508701</c:v>
                </c:pt>
                <c:pt idx="93">
                  <c:v>-613.89816337880802</c:v>
                </c:pt>
                <c:pt idx="94">
                  <c:v>-620.68373264721401</c:v>
                </c:pt>
                <c:pt idx="95">
                  <c:v>-627.46710125842503</c:v>
                </c:pt>
                <c:pt idx="96">
                  <c:v>-632.68800326177995</c:v>
                </c:pt>
                <c:pt idx="97">
                  <c:v>-638.94887297917705</c:v>
                </c:pt>
                <c:pt idx="98">
                  <c:v>-645.21131459456899</c:v>
                </c:pt>
                <c:pt idx="99">
                  <c:v>-649.91034646330797</c:v>
                </c:pt>
                <c:pt idx="100">
                  <c:v>-657.47400523964996</c:v>
                </c:pt>
                <c:pt idx="101">
                  <c:v>-663.47551178773404</c:v>
                </c:pt>
                <c:pt idx="102">
                  <c:v>-670.77949301516503</c:v>
                </c:pt>
                <c:pt idx="103">
                  <c:v>-677.04067711216101</c:v>
                </c:pt>
                <c:pt idx="104">
                  <c:v>-682.25749218072599</c:v>
                </c:pt>
                <c:pt idx="105">
                  <c:v>-687.47367849009299</c:v>
                </c:pt>
                <c:pt idx="106">
                  <c:v>-694.25610396250704</c:v>
                </c:pt>
                <c:pt idx="107">
                  <c:v>-700.51603054110706</c:v>
                </c:pt>
                <c:pt idx="108">
                  <c:v>-705.73315998927103</c:v>
                </c:pt>
                <c:pt idx="109">
                  <c:v>-711.99308656787002</c:v>
                </c:pt>
                <c:pt idx="110">
                  <c:v>-717.471465462943</c:v>
                </c:pt>
                <c:pt idx="111">
                  <c:v>-725.55447933710695</c:v>
                </c:pt>
                <c:pt idx="112">
                  <c:v>-731.29505081788398</c:v>
                </c:pt>
                <c:pt idx="113">
                  <c:v>-736.51186588644896</c:v>
                </c:pt>
                <c:pt idx="114">
                  <c:v>-742.77116370584997</c:v>
                </c:pt>
                <c:pt idx="115">
                  <c:v>-750.59607192909903</c:v>
                </c:pt>
                <c:pt idx="116">
                  <c:v>-756.33287085468601</c:v>
                </c:pt>
                <c:pt idx="117">
                  <c:v>-761.29158027233598</c:v>
                </c:pt>
                <c:pt idx="118">
                  <c:v>-767.28805674683394</c:v>
                </c:pt>
                <c:pt idx="119">
                  <c:v>-773.54829770503204</c:v>
                </c:pt>
                <c:pt idx="120">
                  <c:v>-779.28949794500704</c:v>
                </c:pt>
                <c:pt idx="121">
                  <c:v>-787.11440616825598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BC5B-442F-9404-227AAD586656}"/>
            </c:ext>
          </c:extLst>
        </c:ser>
        <c:ser>
          <c:idx val="2"/>
          <c:order val="2"/>
          <c:spPr>
            <a:ln w="19050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chemeClr val="accent3"/>
              </a:solidFill>
              <a:ln w="9525">
                <a:solidFill>
                  <a:schemeClr val="accent3"/>
                </a:solidFill>
              </a:ln>
              <a:effectLst/>
            </c:spPr>
          </c:marker>
          <c:xVal>
            <c:numRef>
              <c:f>'-5,0,7eu0.25'!$N$1:$N$122</c:f>
              <c:numCache>
                <c:formatCode>General</c:formatCode>
                <c:ptCount val="122"/>
                <c:pt idx="0">
                  <c:v>7</c:v>
                </c:pt>
                <c:pt idx="1">
                  <c:v>7.0276109694638196</c:v>
                </c:pt>
                <c:pt idx="2">
                  <c:v>7.0276109694638196</c:v>
                </c:pt>
                <c:pt idx="3">
                  <c:v>6.9984894062742198</c:v>
                </c:pt>
                <c:pt idx="4">
                  <c:v>6.8674423719210296</c:v>
                </c:pt>
                <c:pt idx="5">
                  <c:v>6.7800776823522302</c:v>
                </c:pt>
                <c:pt idx="6">
                  <c:v>6.5907875216198404</c:v>
                </c:pt>
                <c:pt idx="7">
                  <c:v>6.3141326713186503</c:v>
                </c:pt>
                <c:pt idx="8">
                  <c:v>6.0884405565992603</c:v>
                </c:pt>
                <c:pt idx="9">
                  <c:v>5.81178570629808</c:v>
                </c:pt>
                <c:pt idx="10">
                  <c:v>5.5132896836046896</c:v>
                </c:pt>
                <c:pt idx="11">
                  <c:v>5.1492701437347099</c:v>
                </c:pt>
                <c:pt idx="12">
                  <c:v>4.7706898222699197</c:v>
                </c:pt>
                <c:pt idx="13">
                  <c:v>4.4212310639947399</c:v>
                </c:pt>
                <c:pt idx="14">
                  <c:v>4.0717723057195601</c:v>
                </c:pt>
                <c:pt idx="15">
                  <c:v>3.69319198425478</c:v>
                </c:pt>
                <c:pt idx="16">
                  <c:v>3.31461166279</c:v>
                </c:pt>
                <c:pt idx="17">
                  <c:v>3.0015548585018101</c:v>
                </c:pt>
                <c:pt idx="18">
                  <c:v>2.6739372726188302</c:v>
                </c:pt>
                <c:pt idx="19">
                  <c:v>2.3681608591280399</c:v>
                </c:pt>
                <c:pt idx="20">
                  <c:v>2.0623844456372602</c:v>
                </c:pt>
                <c:pt idx="21">
                  <c:v>1.77116881374127</c:v>
                </c:pt>
                <c:pt idx="22">
                  <c:v>1.47995318184528</c:v>
                </c:pt>
                <c:pt idx="23">
                  <c:v>1.2324198947336999</c:v>
                </c:pt>
                <c:pt idx="24">
                  <c:v>0.984886607622112</c:v>
                </c:pt>
                <c:pt idx="25">
                  <c:v>0.77375527449752102</c:v>
                </c:pt>
                <c:pt idx="26">
                  <c:v>0.64998863094172699</c:v>
                </c:pt>
                <c:pt idx="27">
                  <c:v>0.46069847020933702</c:v>
                </c:pt>
                <c:pt idx="28">
                  <c:v>0.30052987266654402</c:v>
                </c:pt>
                <c:pt idx="29">
                  <c:v>0.20588479230034901</c:v>
                </c:pt>
                <c:pt idx="30">
                  <c:v>0.15492205671855</c:v>
                </c:pt>
                <c:pt idx="31">
                  <c:v>0.10395932113675201</c:v>
                </c:pt>
                <c:pt idx="32">
                  <c:v>8.2118148744553907E-2</c:v>
                </c:pt>
                <c:pt idx="33">
                  <c:v>0.16948283831334901</c:v>
                </c:pt>
                <c:pt idx="34">
                  <c:v>0.22772596469254699</c:v>
                </c:pt>
                <c:pt idx="35">
                  <c:v>0.32965143585614198</c:v>
                </c:pt>
                <c:pt idx="36">
                  <c:v>0.431576907019737</c:v>
                </c:pt>
                <c:pt idx="37">
                  <c:v>0.52622198738593196</c:v>
                </c:pt>
                <c:pt idx="38">
                  <c:v>0.67911019413132501</c:v>
                </c:pt>
                <c:pt idx="39">
                  <c:v>0.81015722848451999</c:v>
                </c:pt>
                <c:pt idx="40">
                  <c:v>0.92664348124291396</c:v>
                </c:pt>
                <c:pt idx="41">
                  <c:v>1.0868120787857001</c:v>
                </c:pt>
                <c:pt idx="42">
                  <c:v>1.1741767683544999</c:v>
                </c:pt>
                <c:pt idx="43">
                  <c:v>1.2324198947336999</c:v>
                </c:pt>
                <c:pt idx="44">
                  <c:v>1.34890614749209</c:v>
                </c:pt>
                <c:pt idx="45">
                  <c:v>1.39258849227649</c:v>
                </c:pt>
                <c:pt idx="46">
                  <c:v>1.5017943542374801</c:v>
                </c:pt>
                <c:pt idx="47">
                  <c:v>1.5309159174270801</c:v>
                </c:pt>
                <c:pt idx="48">
                  <c:v>1.5673178714140801</c:v>
                </c:pt>
                <c:pt idx="49">
                  <c:v>1.6328413885906801</c:v>
                </c:pt>
                <c:pt idx="50">
                  <c:v>1.70564529656467</c:v>
                </c:pt>
                <c:pt idx="51">
                  <c:v>1.73476685975427</c:v>
                </c:pt>
                <c:pt idx="52">
                  <c:v>1.80029037693087</c:v>
                </c:pt>
                <c:pt idx="53">
                  <c:v>1.90221584809446</c:v>
                </c:pt>
                <c:pt idx="54">
                  <c:v>1.9750197560684599</c:v>
                </c:pt>
                <c:pt idx="55">
                  <c:v>2.1351883536112499</c:v>
                </c:pt>
                <c:pt idx="56">
                  <c:v>2.2662353879644499</c:v>
                </c:pt>
                <c:pt idx="57">
                  <c:v>2.4555255486968401</c:v>
                </c:pt>
                <c:pt idx="58">
                  <c:v>2.6739372726188302</c:v>
                </c:pt>
                <c:pt idx="59">
                  <c:v>2.96515290451481</c:v>
                </c:pt>
                <c:pt idx="60">
                  <c:v>3.2709293180055998</c:v>
                </c:pt>
                <c:pt idx="61">
                  <c:v>3.6058272946859802</c:v>
                </c:pt>
                <c:pt idx="62">
                  <c:v>3.9844076161507598</c:v>
                </c:pt>
                <c:pt idx="63">
                  <c:v>4.4794741903739403</c:v>
                </c:pt>
                <c:pt idx="64">
                  <c:v>4.9599799830023201</c:v>
                </c:pt>
                <c:pt idx="65">
                  <c:v>5.4550465572254998</c:v>
                </c:pt>
                <c:pt idx="66">
                  <c:v>5.9865150854356699</c:v>
                </c:pt>
                <c:pt idx="67">
                  <c:v>6.5325443952406399</c:v>
                </c:pt>
                <c:pt idx="68">
                  <c:v>7.1149756590326199</c:v>
                </c:pt>
                <c:pt idx="69">
                  <c:v>7.5954814516609899</c:v>
                </c:pt>
                <c:pt idx="70">
                  <c:v>8.1196695890737693</c:v>
                </c:pt>
                <c:pt idx="71">
                  <c:v>8.5856146001073395</c:v>
                </c:pt>
                <c:pt idx="72">
                  <c:v>9.0078772663565196</c:v>
                </c:pt>
                <c:pt idx="73">
                  <c:v>9.2845321166577097</c:v>
                </c:pt>
                <c:pt idx="74">
                  <c:v>9.5029438405797002</c:v>
                </c:pt>
                <c:pt idx="75">
                  <c:v>9.5320654037693</c:v>
                </c:pt>
                <c:pt idx="76">
                  <c:v>9.5757477485536899</c:v>
                </c:pt>
                <c:pt idx="77">
                  <c:v>9.5320654037693</c:v>
                </c:pt>
                <c:pt idx="78">
                  <c:v>9.4447007142005006</c:v>
                </c:pt>
                <c:pt idx="79">
                  <c:v>9.3573360246317101</c:v>
                </c:pt>
                <c:pt idx="80">
                  <c:v>9.2335693810759096</c:v>
                </c:pt>
                <c:pt idx="81">
                  <c:v>9.1170831283175193</c:v>
                </c:pt>
                <c:pt idx="82">
                  <c:v>9.0078772663565196</c:v>
                </c:pt>
                <c:pt idx="83">
                  <c:v>8.8913910135981293</c:v>
                </c:pt>
                <c:pt idx="84">
                  <c:v>8.7457831976501392</c:v>
                </c:pt>
                <c:pt idx="85">
                  <c:v>8.6147361632969393</c:v>
                </c:pt>
                <c:pt idx="86">
                  <c:v>8.5273714737281399</c:v>
                </c:pt>
                <c:pt idx="87">
                  <c:v>8.4254460025645503</c:v>
                </c:pt>
                <c:pt idx="88">
                  <c:v>8.3380813129957492</c:v>
                </c:pt>
                <c:pt idx="89">
                  <c:v>8.2288754510347601</c:v>
                </c:pt>
                <c:pt idx="90">
                  <c:v>8.1560715430607598</c:v>
                </c:pt>
                <c:pt idx="91">
                  <c:v>8.0759872442893705</c:v>
                </c:pt>
                <c:pt idx="92">
                  <c:v>7.9886225547205703</c:v>
                </c:pt>
                <c:pt idx="93">
                  <c:v>7.9376598191387799</c:v>
                </c:pt>
                <c:pt idx="94">
                  <c:v>7.9012578651517797</c:v>
                </c:pt>
                <c:pt idx="95">
                  <c:v>7.8357343479751798</c:v>
                </c:pt>
                <c:pt idx="96">
                  <c:v>7.8284539571777803</c:v>
                </c:pt>
                <c:pt idx="97">
                  <c:v>7.8284539571777803</c:v>
                </c:pt>
                <c:pt idx="98">
                  <c:v>7.80661278478558</c:v>
                </c:pt>
                <c:pt idx="99">
                  <c:v>7.8211735663803799</c:v>
                </c:pt>
                <c:pt idx="100">
                  <c:v>7.8284539571777803</c:v>
                </c:pt>
                <c:pt idx="101">
                  <c:v>7.8430147387725802</c:v>
                </c:pt>
                <c:pt idx="102">
                  <c:v>7.8575755203673801</c:v>
                </c:pt>
                <c:pt idx="103">
                  <c:v>7.8866970835569798</c:v>
                </c:pt>
                <c:pt idx="104">
                  <c:v>7.9158186467465796</c:v>
                </c:pt>
                <c:pt idx="105">
                  <c:v>8.0031833363153702</c:v>
                </c:pt>
                <c:pt idx="106">
                  <c:v>8.03230489950497</c:v>
                </c:pt>
                <c:pt idx="107">
                  <c:v>8.0759872442893705</c:v>
                </c:pt>
                <c:pt idx="108">
                  <c:v>8.1342303706685701</c:v>
                </c:pt>
                <c:pt idx="109">
                  <c:v>8.1924734970477608</c:v>
                </c:pt>
                <c:pt idx="110">
                  <c:v>8.2725577958191607</c:v>
                </c:pt>
                <c:pt idx="111">
                  <c:v>8.35264209459055</c:v>
                </c:pt>
                <c:pt idx="112">
                  <c:v>8.4327263933619498</c:v>
                </c:pt>
                <c:pt idx="113">
                  <c:v>8.53465186452555</c:v>
                </c:pt>
                <c:pt idx="114">
                  <c:v>8.6147361632969393</c:v>
                </c:pt>
                <c:pt idx="115">
                  <c:v>8.7312224160553402</c:v>
                </c:pt>
                <c:pt idx="116">
                  <c:v>8.8622694504085295</c:v>
                </c:pt>
                <c:pt idx="117">
                  <c:v>8.9496341399773307</c:v>
                </c:pt>
                <c:pt idx="118">
                  <c:v>9.0661203927357299</c:v>
                </c:pt>
                <c:pt idx="119">
                  <c:v>9.1534850823045204</c:v>
                </c:pt>
                <c:pt idx="120">
                  <c:v>9.2554105534681099</c:v>
                </c:pt>
                <c:pt idx="121">
                  <c:v>9.4010183694161107</c:v>
                </c:pt>
              </c:numCache>
            </c:numRef>
          </c:xVal>
          <c:yVal>
            <c:numRef>
              <c:f>'-5,0,7eu0.25'!$O$1:$O$122</c:f>
              <c:numCache>
                <c:formatCode>General</c:formatCode>
                <c:ptCount val="122"/>
                <c:pt idx="0">
                  <c:v>0</c:v>
                </c:pt>
                <c:pt idx="1">
                  <c:v>-1.2189160203965399</c:v>
                </c:pt>
                <c:pt idx="2">
                  <c:v>-8.7321091875981498</c:v>
                </c:pt>
                <c:pt idx="3">
                  <c:v>-13.1163175192642</c:v>
                </c:pt>
                <c:pt idx="4">
                  <c:v>-19.071067538558999</c:v>
                </c:pt>
                <c:pt idx="5">
                  <c:v>-23.771350220455702</c:v>
                </c:pt>
                <c:pt idx="6">
                  <c:v>-32.5465723123815</c:v>
                </c:pt>
                <c:pt idx="7">
                  <c:v>-36.943635342501899</c:v>
                </c:pt>
                <c:pt idx="8">
                  <c:v>-45.094648400659104</c:v>
                </c:pt>
                <c:pt idx="9">
                  <c:v>-49.491711430779603</c:v>
                </c:pt>
                <c:pt idx="10">
                  <c:v>-55.1421075601993</c:v>
                </c:pt>
                <c:pt idx="11">
                  <c:v>-62.674204695716199</c:v>
                </c:pt>
                <c:pt idx="12">
                  <c:v>-68.015709982865104</c:v>
                </c:pt>
                <c:pt idx="13">
                  <c:v>-75.234001244349201</c:v>
                </c:pt>
                <c:pt idx="14">
                  <c:v>-82.765342221133494</c:v>
                </c:pt>
                <c:pt idx="15">
                  <c:v>-88.419897223582495</c:v>
                </c:pt>
                <c:pt idx="16">
                  <c:v>-95.326651087231795</c:v>
                </c:pt>
                <c:pt idx="17">
                  <c:v>-100.038654229483</c:v>
                </c:pt>
                <c:pt idx="18">
                  <c:v>-107.881910683469</c:v>
                </c:pt>
                <c:pt idx="19">
                  <c:v>-113.53268489225501</c:v>
                </c:pt>
                <c:pt idx="20">
                  <c:v>-121.374807108141</c:v>
                </c:pt>
                <c:pt idx="21">
                  <c:v>-127.963974304095</c:v>
                </c:pt>
                <c:pt idx="22">
                  <c:v>-134.86619121534801</c:v>
                </c:pt>
                <c:pt idx="23">
                  <c:v>-141.766139650404</c:v>
                </c:pt>
                <c:pt idx="24">
                  <c:v>-148.66608808545999</c:v>
                </c:pt>
                <c:pt idx="25">
                  <c:v>-155.564146123684</c:v>
                </c:pt>
                <c:pt idx="26">
                  <c:v>-161.83156777891301</c:v>
                </c:pt>
                <c:pt idx="27">
                  <c:v>-170.60678987083901</c:v>
                </c:pt>
                <c:pt idx="28">
                  <c:v>-175.623903061698</c:v>
                </c:pt>
                <c:pt idx="29">
                  <c:v>-183.768110691262</c:v>
                </c:pt>
                <c:pt idx="30">
                  <c:v>-188.779552691627</c:v>
                </c:pt>
                <c:pt idx="31">
                  <c:v>-196.921491844993</c:v>
                </c:pt>
                <c:pt idx="32">
                  <c:v>-203.18362038909399</c:v>
                </c:pt>
                <c:pt idx="33">
                  <c:v>-207.561779450899</c:v>
                </c:pt>
                <c:pt idx="34">
                  <c:v>-216.32414684437001</c:v>
                </c:pt>
                <c:pt idx="35">
                  <c:v>-221.327649178043</c:v>
                </c:pt>
                <c:pt idx="36">
                  <c:v>-228.835549234116</c:v>
                </c:pt>
                <c:pt idx="37">
                  <c:v>-235.40467822365599</c:v>
                </c:pt>
                <c:pt idx="38">
                  <c:v>-242.28383229356501</c:v>
                </c:pt>
                <c:pt idx="39">
                  <c:v>-248.224971455673</c:v>
                </c:pt>
                <c:pt idx="40">
                  <c:v>-254.79296620711301</c:v>
                </c:pt>
                <c:pt idx="41">
                  <c:v>-260.732593051756</c:v>
                </c:pt>
                <c:pt idx="42">
                  <c:v>-266.67600069006102</c:v>
                </c:pt>
                <c:pt idx="43">
                  <c:v>-272.62092064583197</c:v>
                </c:pt>
                <c:pt idx="44">
                  <c:v>-281.38026340437301</c:v>
                </c:pt>
                <c:pt idx="45">
                  <c:v>-286.38679037297698</c:v>
                </c:pt>
                <c:pt idx="46">
                  <c:v>-294.20736206498401</c:v>
                </c:pt>
                <c:pt idx="47">
                  <c:v>-298.90159547701899</c:v>
                </c:pt>
                <c:pt idx="48">
                  <c:v>-306.41289824738999</c:v>
                </c:pt>
                <c:pt idx="49">
                  <c:v>-312.98353955439399</c:v>
                </c:pt>
                <c:pt idx="50">
                  <c:v>-320.49295192793301</c:v>
                </c:pt>
                <c:pt idx="51">
                  <c:v>-328.31768249296903</c:v>
                </c:pt>
                <c:pt idx="52">
                  <c:v>-334.57527408467399</c:v>
                </c:pt>
                <c:pt idx="53">
                  <c:v>-343.335373001947</c:v>
                </c:pt>
                <c:pt idx="54">
                  <c:v>-350.53173566018597</c:v>
                </c:pt>
                <c:pt idx="55">
                  <c:v>-356.78441222012901</c:v>
                </c:pt>
                <c:pt idx="56">
                  <c:v>-362.72555138223601</c:v>
                </c:pt>
                <c:pt idx="57">
                  <c:v>-368.97671562471402</c:v>
                </c:pt>
                <c:pt idx="58">
                  <c:v>-377.73076527212697</c:v>
                </c:pt>
                <c:pt idx="59">
                  <c:v>-382.72443754227498</c:v>
                </c:pt>
                <c:pt idx="60">
                  <c:v>-390.84785080669201</c:v>
                </c:pt>
                <c:pt idx="61">
                  <c:v>-396.46535403124398</c:v>
                </c:pt>
                <c:pt idx="62">
                  <c:v>-404.89803621729698</c:v>
                </c:pt>
                <c:pt idx="63">
                  <c:v>-410.82027141109</c:v>
                </c:pt>
                <c:pt idx="64">
                  <c:v>-417.682411909515</c:v>
                </c:pt>
                <c:pt idx="65">
                  <c:v>-424.23074653390802</c:v>
                </c:pt>
                <c:pt idx="66">
                  <c:v>-430.464141046169</c:v>
                </c:pt>
                <c:pt idx="67">
                  <c:v>-438.575077691498</c:v>
                </c:pt>
                <c:pt idx="68">
                  <c:v>-443.86667650229498</c:v>
                </c:pt>
                <c:pt idx="69">
                  <c:v>-450.10271757011998</c:v>
                </c:pt>
                <c:pt idx="70">
                  <c:v>-456.96258959234802</c:v>
                </c:pt>
                <c:pt idx="71">
                  <c:v>-465.077685110706</c:v>
                </c:pt>
                <c:pt idx="72">
                  <c:v>-471.31675081346202</c:v>
                </c:pt>
                <c:pt idx="73">
                  <c:v>-478.81557696474403</c:v>
                </c:pt>
                <c:pt idx="74">
                  <c:v>-485.06522888975599</c:v>
                </c:pt>
                <c:pt idx="75">
                  <c:v>-492.57690973949201</c:v>
                </c:pt>
                <c:pt idx="76">
                  <c:v>-498.52258585399602</c:v>
                </c:pt>
                <c:pt idx="77">
                  <c:v>-508.22939550449598</c:v>
                </c:pt>
                <c:pt idx="78">
                  <c:v>-515.12102619349298</c:v>
                </c:pt>
                <c:pt idx="79">
                  <c:v>-520.76045802128999</c:v>
                </c:pt>
                <c:pt idx="80">
                  <c:v>-527.65397910711795</c:v>
                </c:pt>
                <c:pt idx="81">
                  <c:v>-533.29492325238004</c:v>
                </c:pt>
                <c:pt idx="82">
                  <c:v>-542.06598647127703</c:v>
                </c:pt>
                <c:pt idx="83">
                  <c:v>-547.70693061653901</c:v>
                </c:pt>
                <c:pt idx="84">
                  <c:v>-553.97548650986596</c:v>
                </c:pt>
                <c:pt idx="85">
                  <c:v>-561.18243539036098</c:v>
                </c:pt>
                <c:pt idx="86">
                  <c:v>-569.01321522525905</c:v>
                </c:pt>
                <c:pt idx="87">
                  <c:v>-574.65340321178803</c:v>
                </c:pt>
                <c:pt idx="88">
                  <c:v>-581.54503390078503</c:v>
                </c:pt>
                <c:pt idx="89">
                  <c:v>-587.49864968198096</c:v>
                </c:pt>
                <c:pt idx="90">
                  <c:v>-595.64172307344597</c:v>
                </c:pt>
                <c:pt idx="91">
                  <c:v>-601.59382653717705</c:v>
                </c:pt>
                <c:pt idx="92">
                  <c:v>-607.85935779557406</c:v>
                </c:pt>
                <c:pt idx="93">
                  <c:v>-613.80994894183902</c:v>
                </c:pt>
                <c:pt idx="94">
                  <c:v>-621.01198279057201</c:v>
                </c:pt>
                <c:pt idx="95">
                  <c:v>-628.52857867207001</c:v>
                </c:pt>
                <c:pt idx="96">
                  <c:v>-633.53775219623799</c:v>
                </c:pt>
                <c:pt idx="97">
                  <c:v>-641.05094536343904</c:v>
                </c:pt>
                <c:pt idx="98">
                  <c:v>-646.06087504633899</c:v>
                </c:pt>
                <c:pt idx="99">
                  <c:v>-651.69501376300798</c:v>
                </c:pt>
                <c:pt idx="100">
                  <c:v>-658.89477913554299</c:v>
                </c:pt>
                <c:pt idx="101">
                  <c:v>-664.84196756751203</c:v>
                </c:pt>
                <c:pt idx="102">
                  <c:v>-671.728305145381</c:v>
                </c:pt>
                <c:pt idx="103">
                  <c:v>-677.36168770331699</c:v>
                </c:pt>
                <c:pt idx="104">
                  <c:v>-684.24726912245296</c:v>
                </c:pt>
                <c:pt idx="105">
                  <c:v>-688.625428184258</c:v>
                </c:pt>
                <c:pt idx="106">
                  <c:v>-694.25881074219399</c:v>
                </c:pt>
                <c:pt idx="107">
                  <c:v>-701.14363600259799</c:v>
                </c:pt>
                <c:pt idx="108">
                  <c:v>-707.401605673669</c:v>
                </c:pt>
                <c:pt idx="109">
                  <c:v>-713.03347591414001</c:v>
                </c:pt>
                <c:pt idx="110">
                  <c:v>-718.66421191651102</c:v>
                </c:pt>
                <c:pt idx="111">
                  <c:v>-726.17324621068406</c:v>
                </c:pt>
                <c:pt idx="112">
                  <c:v>-732.43008164365597</c:v>
                </c:pt>
                <c:pt idx="113">
                  <c:v>-736.80748454672801</c:v>
                </c:pt>
                <c:pt idx="114">
                  <c:v>-742.43822054910004</c:v>
                </c:pt>
                <c:pt idx="115">
                  <c:v>-749.63231473114104</c:v>
                </c:pt>
                <c:pt idx="116">
                  <c:v>-754.94735446264895</c:v>
                </c:pt>
                <c:pt idx="117">
                  <c:v>-761.82991124685395</c:v>
                </c:pt>
                <c:pt idx="118">
                  <c:v>-767.45875685239503</c:v>
                </c:pt>
                <c:pt idx="119">
                  <c:v>-774.96741306720003</c:v>
                </c:pt>
                <c:pt idx="120">
                  <c:v>-779.97091540087297</c:v>
                </c:pt>
                <c:pt idx="121">
                  <c:v>-786.22434811954895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2-BC5B-442F-9404-227AAD586656}"/>
            </c:ext>
          </c:extLst>
        </c:ser>
        <c:ser>
          <c:idx val="3"/>
          <c:order val="3"/>
          <c:spPr>
            <a:ln w="25400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rgbClr val="7030A0"/>
              </a:solidFill>
              <a:ln w="1270">
                <a:solidFill>
                  <a:schemeClr val="tx1"/>
                </a:solidFill>
              </a:ln>
              <a:effectLst/>
            </c:spPr>
          </c:marker>
          <c:xVal>
            <c:numRef>
              <c:f>'-5,0,7eu0.25'!$A$2:$A$122</c:f>
              <c:numCache>
                <c:formatCode>General</c:formatCode>
                <c:ptCount val="121"/>
                <c:pt idx="0">
                  <c:v>-5</c:v>
                </c:pt>
                <c:pt idx="1">
                  <c:v>-4.988029633341319</c:v>
                </c:pt>
                <c:pt idx="2">
                  <c:v>-4.9517485068083236</c:v>
                </c:pt>
                <c:pt idx="3">
                  <c:v>-4.8902646515391597</c:v>
                </c:pt>
                <c:pt idx="4">
                  <c:v>-4.8022084255073691</c:v>
                </c:pt>
                <c:pt idx="5">
                  <c:v>-4.6859839959941771</c:v>
                </c:pt>
                <c:pt idx="6">
                  <c:v>-4.5402794284537604</c:v>
                </c:pt>
                <c:pt idx="7">
                  <c:v>-4.3649845595064853</c:v>
                </c:pt>
                <c:pt idx="8">
                  <c:v>-4.1625847614697031</c:v>
                </c:pt>
                <c:pt idx="9">
                  <c:v>-3.93972062100304</c:v>
                </c:pt>
                <c:pt idx="10">
                  <c:v>-3.7078960494909023</c:v>
                </c:pt>
                <c:pt idx="11">
                  <c:v>-3.4819945954018099</c:v>
                </c:pt>
                <c:pt idx="12">
                  <c:v>-3.2765446508746043</c:v>
                </c:pt>
                <c:pt idx="13">
                  <c:v>-3.1018804574753083</c:v>
                </c:pt>
                <c:pt idx="14">
                  <c:v>-2.962550360549062</c:v>
                </c:pt>
                <c:pt idx="15">
                  <c:v>-2.8581726851903717</c:v>
                </c:pt>
                <c:pt idx="16">
                  <c:v>-2.785365952375944</c:v>
                </c:pt>
                <c:pt idx="17">
                  <c:v>-2.7395676971488223</c:v>
                </c:pt>
                <c:pt idx="18">
                  <c:v>-2.716325564352577</c:v>
                </c:pt>
                <c:pt idx="19">
                  <c:v>-2.712098820569071</c:v>
                </c:pt>
                <c:pt idx="20">
                  <c:v>-2.724718295592941</c:v>
                </c:pt>
                <c:pt idx="21">
                  <c:v>-2.7536159179958135</c:v>
                </c:pt>
                <c:pt idx="22">
                  <c:v>-2.7998641569092491</c:v>
                </c:pt>
                <c:pt idx="23">
                  <c:v>-2.8659901199224964</c:v>
                </c:pt>
                <c:pt idx="24">
                  <c:v>-2.9554483569780512</c:v>
                </c:pt>
                <c:pt idx="25">
                  <c:v>-3.0715638673863181</c:v>
                </c:pt>
                <c:pt idx="26">
                  <c:v>-3.2157754586911342</c:v>
                </c:pt>
                <c:pt idx="27">
                  <c:v>-3.3853314068685951</c:v>
                </c:pt>
                <c:pt idx="28">
                  <c:v>-3.5714127413427659</c:v>
                </c:pt>
                <c:pt idx="29">
                  <c:v>-3.7594723138582298</c:v>
                </c:pt>
                <c:pt idx="30">
                  <c:v>-3.9327516628852441</c:v>
                </c:pt>
                <c:pt idx="31">
                  <c:v>-4.0771464681142753</c:v>
                </c:pt>
                <c:pt idx="32">
                  <c:v>-4.1841851480285115</c:v>
                </c:pt>
                <c:pt idx="33">
                  <c:v>-4.2509573270157368</c:v>
                </c:pt>
                <c:pt idx="34">
                  <c:v>-4.2783037591126076</c:v>
                </c:pt>
                <c:pt idx="35">
                  <c:v>-4.2688744471622924</c:v>
                </c:pt>
                <c:pt idx="36">
                  <c:v>-4.2257601378033076</c:v>
                </c:pt>
                <c:pt idx="37">
                  <c:v>-4.1517182700363051</c:v>
                </c:pt>
                <c:pt idx="38">
                  <c:v>-4.0488001709664836</c:v>
                </c:pt>
                <c:pt idx="39">
                  <c:v>-3.9182055297170346</c:v>
                </c:pt>
                <c:pt idx="40">
                  <c:v>-3.7602668764317784</c:v>
                </c:pt>
                <c:pt idx="41">
                  <c:v>-3.5745466180077941</c:v>
                </c:pt>
                <c:pt idx="42">
                  <c:v>-3.360118075456219</c:v>
                </c:pt>
                <c:pt idx="43">
                  <c:v>-3.1162208798102684</c:v>
                </c:pt>
                <c:pt idx="44">
                  <c:v>-2.8436096739610268</c:v>
                </c:pt>
                <c:pt idx="45">
                  <c:v>-2.5468426824010533</c:v>
                </c:pt>
                <c:pt idx="46">
                  <c:v>-2.236913799947795</c:v>
                </c:pt>
                <c:pt idx="47">
                  <c:v>-1.9318177856561303</c:v>
                </c:pt>
                <c:pt idx="48">
                  <c:v>-1.652378282783791</c:v>
                </c:pt>
                <c:pt idx="49">
                  <c:v>-1.4152070381472941</c:v>
                </c:pt>
                <c:pt idx="50">
                  <c:v>-1.2285850583750826</c:v>
                </c:pt>
                <c:pt idx="51">
                  <c:v>-1.0932952454154303</c:v>
                </c:pt>
                <c:pt idx="52">
                  <c:v>-1.0055563294711134</c:v>
                </c:pt>
                <c:pt idx="53">
                  <c:v>-0.95946408300759922</c:v>
                </c:pt>
                <c:pt idx="54">
                  <c:v>-0.94839351820779538</c:v>
                </c:pt>
                <c:pt idx="55">
                  <c:v>-0.96571697717175342</c:v>
                </c:pt>
                <c:pt idx="56">
                  <c:v>-1.0052011476495444</c:v>
                </c:pt>
                <c:pt idx="57">
                  <c:v>-1.0612304318251216</c:v>
                </c:pt>
                <c:pt idx="58">
                  <c:v>-1.1282953520806935</c:v>
                </c:pt>
                <c:pt idx="59">
                  <c:v>-1.2004504971579548</c:v>
                </c:pt>
                <c:pt idx="60">
                  <c:v>-1.2713218485349969</c:v>
                </c:pt>
                <c:pt idx="61">
                  <c:v>-1.3275267576784289</c:v>
                </c:pt>
                <c:pt idx="62">
                  <c:v>-1.3449724808809214</c:v>
                </c:pt>
                <c:pt idx="63">
                  <c:v>-1.2892670157849446</c:v>
                </c:pt>
                <c:pt idx="64">
                  <c:v>-1.1275104758031742</c:v>
                </c:pt>
                <c:pt idx="65">
                  <c:v>-0.84552326344778983</c:v>
                </c:pt>
                <c:pt idx="66">
                  <c:v>-0.45463778427551305</c:v>
                </c:pt>
                <c:pt idx="67">
                  <c:v>1.6021817396478431E-2</c:v>
                </c:pt>
                <c:pt idx="68">
                  <c:v>0.53316691067717148</c:v>
                </c:pt>
                <c:pt idx="69">
                  <c:v>1.0667757422042188</c:v>
                </c:pt>
                <c:pt idx="70">
                  <c:v>1.5980351722133233</c:v>
                </c:pt>
                <c:pt idx="71">
                  <c:v>2.1165580747771315</c:v>
                </c:pt>
                <c:pt idx="72">
                  <c:v>2.6163143397599447</c:v>
                </c:pt>
                <c:pt idx="73">
                  <c:v>3.091566161242508</c:v>
                </c:pt>
                <c:pt idx="74">
                  <c:v>3.5354249299383884</c:v>
                </c:pt>
                <c:pt idx="75">
                  <c:v>3.9411276446055514</c:v>
                </c:pt>
                <c:pt idx="76">
                  <c:v>4.3039111188340655</c:v>
                </c:pt>
                <c:pt idx="77">
                  <c:v>4.6218034558084682</c:v>
                </c:pt>
                <c:pt idx="78">
                  <c:v>4.8953417366119254</c:v>
                </c:pt>
                <c:pt idx="79">
                  <c:v>5.126875501279101</c:v>
                </c:pt>
                <c:pt idx="80">
                  <c:v>5.319862773286693</c:v>
                </c:pt>
                <c:pt idx="81">
                  <c:v>5.4782997397477073</c:v>
                </c:pt>
                <c:pt idx="82">
                  <c:v>5.6061529902899228</c:v>
                </c:pt>
                <c:pt idx="83">
                  <c:v>5.7074745067329946</c:v>
                </c:pt>
                <c:pt idx="84">
                  <c:v>5.7859947199748749</c:v>
                </c:pt>
                <c:pt idx="85">
                  <c:v>5.8450514672574458</c:v>
                </c:pt>
                <c:pt idx="86">
                  <c:v>5.8875887272046672</c:v>
                </c:pt>
                <c:pt idx="87">
                  <c:v>5.9161701593191909</c:v>
                </c:pt>
                <c:pt idx="88">
                  <c:v>5.9330091879637559</c:v>
                </c:pt>
                <c:pt idx="89">
                  <c:v>5.9400061449782955</c:v>
                </c:pt>
                <c:pt idx="90">
                  <c:v>5.9387868040079814</c:v>
                </c:pt>
                <c:pt idx="91">
                  <c:v>5.9307391787941253</c:v>
                </c:pt>
                <c:pt idx="92">
                  <c:v>5.9170470557446793</c:v>
                </c:pt>
                <c:pt idx="93">
                  <c:v>5.8987196873429371</c:v>
                </c:pt>
                <c:pt idx="94">
                  <c:v>5.8766176134893024</c:v>
                </c:pt>
                <c:pt idx="95">
                  <c:v>5.8514748599661326</c:v>
                </c:pt>
                <c:pt idx="96">
                  <c:v>5.8239178907257587</c:v>
                </c:pt>
                <c:pt idx="97">
                  <c:v>5.794481729728953</c:v>
                </c:pt>
                <c:pt idx="98">
                  <c:v>5.7636236594373615</c:v>
                </c:pt>
                <c:pt idx="99">
                  <c:v>5.7317348713075837</c:v>
                </c:pt>
                <c:pt idx="100">
                  <c:v>5.6991504030251194</c:v>
                </c:pt>
                <c:pt idx="101">
                  <c:v>5.6661576557569759</c:v>
                </c:pt>
                <c:pt idx="102">
                  <c:v>5.6330037466431309</c:v>
                </c:pt>
                <c:pt idx="103">
                  <c:v>5.5999019191622796</c:v>
                </c:pt>
                <c:pt idx="104">
                  <c:v>5.5670372077440016</c:v>
                </c:pt>
                <c:pt idx="105">
                  <c:v>5.5345715332349616</c:v>
                </c:pt>
                <c:pt idx="106">
                  <c:v>5.5026483923459599</c:v>
                </c:pt>
                <c:pt idx="107">
                  <c:v>5.4713972964706779</c:v>
                </c:pt>
                <c:pt idx="108">
                  <c:v>5.4409381122849325</c:v>
                </c:pt>
                <c:pt idx="109">
                  <c:v>5.4113854565117672</c:v>
                </c:pt>
                <c:pt idx="110">
                  <c:v>5.3828532969285821</c:v>
                </c:pt>
                <c:pt idx="111">
                  <c:v>5.3554599054231975</c:v>
                </c:pt>
                <c:pt idx="112">
                  <c:v>5.3293332872618411</c:v>
                </c:pt>
                <c:pt idx="113">
                  <c:v>5.3046171592086084</c:v>
                </c:pt>
                <c:pt idx="114">
                  <c:v>5.2814774476137707</c:v>
                </c:pt>
                <c:pt idx="115">
                  <c:v>5.2601091025019775</c:v>
                </c:pt>
                <c:pt idx="116">
                  <c:v>5.240742756023443</c:v>
                </c:pt>
                <c:pt idx="117">
                  <c:v>5.22365039624004</c:v>
                </c:pt>
                <c:pt idx="118">
                  <c:v>5.209148831857294</c:v>
                </c:pt>
                <c:pt idx="119">
                  <c:v>5.1975994178742866</c:v>
                </c:pt>
                <c:pt idx="120">
                  <c:v>5.1894025003551301</c:v>
                </c:pt>
              </c:numCache>
            </c:numRef>
          </c:xVal>
          <c:yVal>
            <c:numRef>
              <c:f>'-5,0,7eu0.25'!$B$2:$B$122</c:f>
              <c:numCache>
                <c:formatCode>General</c:formatCode>
                <c:ptCount val="121"/>
                <c:pt idx="0">
                  <c:v>0</c:v>
                </c:pt>
                <c:pt idx="1">
                  <c:v>-6.0852306440446968</c:v>
                </c:pt>
                <c:pt idx="2">
                  <c:v>-12.177559593216248</c:v>
                </c:pt>
                <c:pt idx="3">
                  <c:v>-18.284392377428347</c:v>
                </c:pt>
                <c:pt idx="4">
                  <c:v>-24.413703901982828</c:v>
                </c:pt>
                <c:pt idx="5">
                  <c:v>-30.574269589089372</c:v>
                </c:pt>
                <c:pt idx="6">
                  <c:v>-36.775749924894207</c:v>
                </c:pt>
                <c:pt idx="7">
                  <c:v>-43.028419938539628</c:v>
                </c:pt>
                <c:pt idx="8">
                  <c:v>-49.342209415385909</c:v>
                </c:pt>
                <c:pt idx="9">
                  <c:v>-55.724765215870512</c:v>
                </c:pt>
                <c:pt idx="10">
                  <c:v>-62.178839315044563</c:v>
                </c:pt>
                <c:pt idx="11">
                  <c:v>-68.700457911388469</c:v>
                </c:pt>
                <c:pt idx="12">
                  <c:v>-75.279701160235206</c:v>
                </c:pt>
                <c:pt idx="13">
                  <c:v>-81.904064120416351</c:v>
                </c:pt>
                <c:pt idx="14">
                  <c:v>-88.562066019459195</c:v>
                </c:pt>
                <c:pt idx="15">
                  <c:v>-95.245058959228118</c:v>
                </c:pt>
                <c:pt idx="16">
                  <c:v>-101.94717439307868</c:v>
                </c:pt>
                <c:pt idx="17">
                  <c:v>-108.66441715002988</c:v>
                </c:pt>
                <c:pt idx="18">
                  <c:v>-115.39372509693263</c:v>
                </c:pt>
                <c:pt idx="19">
                  <c:v>-122.13230901308025</c:v>
                </c:pt>
                <c:pt idx="20">
                  <c:v>-128.87727945524591</c:v>
                </c:pt>
                <c:pt idx="21">
                  <c:v>-135.62545803107437</c:v>
                </c:pt>
                <c:pt idx="22">
                  <c:v>-142.37324842633055</c:v>
                </c:pt>
                <c:pt idx="23">
                  <c:v>-149.11643921523819</c:v>
                </c:pt>
                <c:pt idx="24">
                  <c:v>-155.84981182385417</c:v>
                </c:pt>
                <c:pt idx="25">
                  <c:v>-162.5664721518045</c:v>
                </c:pt>
                <c:pt idx="26">
                  <c:v>-169.25701734221116</c:v>
                </c:pt>
                <c:pt idx="27">
                  <c:v>-175.90910134773753</c:v>
                </c:pt>
                <c:pt idx="28">
                  <c:v>-182.50847105477183</c:v>
                </c:pt>
                <c:pt idx="29">
                  <c:v>-189.04217676223456</c:v>
                </c:pt>
                <c:pt idx="30">
                  <c:v>-195.50270442288237</c:v>
                </c:pt>
                <c:pt idx="31">
                  <c:v>-201.89015955660358</c:v>
                </c:pt>
                <c:pt idx="32">
                  <c:v>-208.21114762967656</c:v>
                </c:pt>
                <c:pt idx="33">
                  <c:v>-214.47586724571335</c:v>
                </c:pt>
                <c:pt idx="34">
                  <c:v>-220.69553366201717</c:v>
                </c:pt>
                <c:pt idx="35">
                  <c:v>-226.88096668895309</c:v>
                </c:pt>
                <c:pt idx="36">
                  <c:v>-233.04214385864802</c:v>
                </c:pt>
                <c:pt idx="37">
                  <c:v>-239.18828859160914</c:v>
                </c:pt>
                <c:pt idx="38">
                  <c:v>-245.3281940381251</c:v>
                </c:pt>
                <c:pt idx="39">
                  <c:v>-251.47063965347786</c:v>
                </c:pt>
                <c:pt idx="40">
                  <c:v>-257.62485020399652</c:v>
                </c:pt>
                <c:pt idx="41">
                  <c:v>-263.80097937559884</c:v>
                </c:pt>
                <c:pt idx="42">
                  <c:v>-270.01057593334934</c:v>
                </c:pt>
                <c:pt idx="43">
                  <c:v>-276.26688035742734</c:v>
                </c:pt>
                <c:pt idx="44">
                  <c:v>-282.58454261851438</c:v>
                </c:pt>
                <c:pt idx="45">
                  <c:v>-288.97796513645545</c:v>
                </c:pt>
                <c:pt idx="46">
                  <c:v>-295.45748364693696</c:v>
                </c:pt>
                <c:pt idx="47">
                  <c:v>-302.02435514777682</c:v>
                </c:pt>
                <c:pt idx="48">
                  <c:v>-308.66880599126506</c:v>
                </c:pt>
                <c:pt idx="49">
                  <c:v>-315.37464912428175</c:v>
                </c:pt>
                <c:pt idx="50">
                  <c:v>-322.1269972253275</c:v>
                </c:pt>
                <c:pt idx="51">
                  <c:v>-328.91677155641241</c:v>
                </c:pt>
                <c:pt idx="52">
                  <c:v>-335.7406960501296</c:v>
                </c:pt>
                <c:pt idx="53">
                  <c:v>-342.59921613848479</c:v>
                </c:pt>
                <c:pt idx="54">
                  <c:v>-349.49433871911236</c:v>
                </c:pt>
                <c:pt idx="55">
                  <c:v>-356.42800708692363</c:v>
                </c:pt>
                <c:pt idx="56">
                  <c:v>-363.40093537801999</c:v>
                </c:pt>
                <c:pt idx="57">
                  <c:v>-370.41166185634302</c:v>
                </c:pt>
                <c:pt idx="58">
                  <c:v>-377.45488689806649</c:v>
                </c:pt>
                <c:pt idx="59">
                  <c:v>-384.52032040719041</c:v>
                </c:pt>
                <c:pt idx="60">
                  <c:v>-391.59449990979658</c:v>
                </c:pt>
                <c:pt idx="61">
                  <c:v>-398.65609595878101</c:v>
                </c:pt>
                <c:pt idx="62">
                  <c:v>-405.67921267097614</c:v>
                </c:pt>
                <c:pt idx="63">
                  <c:v>-412.64105459669281</c:v>
                </c:pt>
                <c:pt idx="64">
                  <c:v>-419.53237459941437</c:v>
                </c:pt>
                <c:pt idx="65">
                  <c:v>-426.36000353211779</c:v>
                </c:pt>
                <c:pt idx="66">
                  <c:v>-433.13799542441029</c:v>
                </c:pt>
                <c:pt idx="67">
                  <c:v>-439.87742309486384</c:v>
                </c:pt>
                <c:pt idx="68">
                  <c:v>-446.5841467290067</c:v>
                </c:pt>
                <c:pt idx="69">
                  <c:v>-453.25895919877314</c:v>
                </c:pt>
                <c:pt idx="70">
                  <c:v>-459.90647392644485</c:v>
                </c:pt>
                <c:pt idx="71">
                  <c:v>-466.5361365307063</c:v>
                </c:pt>
                <c:pt idx="72">
                  <c:v>-473.16065723217645</c:v>
                </c:pt>
                <c:pt idx="73">
                  <c:v>-479.791465654631</c:v>
                </c:pt>
                <c:pt idx="74">
                  <c:v>-486.43427992611822</c:v>
                </c:pt>
                <c:pt idx="75">
                  <c:v>-493.08774800029249</c:v>
                </c:pt>
                <c:pt idx="76">
                  <c:v>-499.74539381418123</c:v>
                </c:pt>
                <c:pt idx="77">
                  <c:v>-506.3987085384577</c:v>
                </c:pt>
                <c:pt idx="78">
                  <c:v>-513.0394914858382</c:v>
                </c:pt>
                <c:pt idx="79">
                  <c:v>-519.66104506267175</c:v>
                </c:pt>
                <c:pt idx="80">
                  <c:v>-526.25854100218396</c:v>
                </c:pt>
                <c:pt idx="81">
                  <c:v>-532.82894377297066</c:v>
                </c:pt>
                <c:pt idx="82">
                  <c:v>-539.37104719210072</c:v>
                </c:pt>
                <c:pt idx="83">
                  <c:v>-545.88405875588683</c:v>
                </c:pt>
                <c:pt idx="84">
                  <c:v>-552.36849654698801</c:v>
                </c:pt>
                <c:pt idx="85">
                  <c:v>-558.82554557023877</c:v>
                </c:pt>
                <c:pt idx="86">
                  <c:v>-565.25678819375219</c:v>
                </c:pt>
                <c:pt idx="87">
                  <c:v>-571.66404565361233</c:v>
                </c:pt>
                <c:pt idx="88">
                  <c:v>-578.04926348331992</c:v>
                </c:pt>
                <c:pt idx="89">
                  <c:v>-584.41443154634351</c:v>
                </c:pt>
                <c:pt idx="90">
                  <c:v>-590.76153026496684</c:v>
                </c:pt>
                <c:pt idx="91">
                  <c:v>-597.09249610755921</c:v>
                </c:pt>
                <c:pt idx="92">
                  <c:v>-603.40920089280041</c:v>
                </c:pt>
                <c:pt idx="93">
                  <c:v>-609.71344077614299</c:v>
                </c:pt>
                <c:pt idx="94">
                  <c:v>-616.00693183928036</c:v>
                </c:pt>
                <c:pt idx="95">
                  <c:v>-622.29131001651183</c:v>
                </c:pt>
                <c:pt idx="96">
                  <c:v>-628.56813369746169</c:v>
                </c:pt>
                <c:pt idx="97">
                  <c:v>-634.83888778364383</c:v>
                </c:pt>
                <c:pt idx="98">
                  <c:v>-641.10498828301354</c:v>
                </c:pt>
                <c:pt idx="99">
                  <c:v>-647.36778673105994</c:v>
                </c:pt>
                <c:pt idx="100">
                  <c:v>-653.62857385171515</c:v>
                </c:pt>
                <c:pt idx="101">
                  <c:v>-659.88858193213287</c:v>
                </c:pt>
                <c:pt idx="102">
                  <c:v>-666.14898539375031</c:v>
                </c:pt>
                <c:pt idx="103">
                  <c:v>-672.41089900551515</c:v>
                </c:pt>
                <c:pt idx="104">
                  <c:v>-678.67537310973717</c:v>
                </c:pt>
                <c:pt idx="105">
                  <c:v>-684.94338512276465</c:v>
                </c:pt>
                <c:pt idx="106">
                  <c:v>-691.21582644071998</c:v>
                </c:pt>
                <c:pt idx="107">
                  <c:v>-697.49348374116084</c:v>
                </c:pt>
                <c:pt idx="108">
                  <c:v>-703.77701355456531</c:v>
                </c:pt>
                <c:pt idx="109">
                  <c:v>-710.06690893675102</c:v>
                </c:pt>
                <c:pt idx="110">
                  <c:v>-716.36345719025223</c:v>
                </c:pt>
                <c:pt idx="111">
                  <c:v>-722.66668799008528</c:v>
                </c:pt>
                <c:pt idx="112">
                  <c:v>-728.97631215147089</c:v>
                </c:pt>
                <c:pt idx="113">
                  <c:v>-735.29165286093655</c:v>
                </c:pt>
                <c:pt idx="114">
                  <c:v>-741.61157369828481</c:v>
                </c:pt>
                <c:pt idx="115">
                  <c:v>-747.93441129639734</c:v>
                </c:pt>
                <c:pt idx="116">
                  <c:v>-754.25792476136871</c:v>
                </c:pt>
                <c:pt idx="117">
                  <c:v>-760.57927810467072</c:v>
                </c:pt>
                <c:pt idx="118">
                  <c:v>-766.89507414664786</c:v>
                </c:pt>
                <c:pt idx="119">
                  <c:v>-773.20145614429043</c:v>
                </c:pt>
                <c:pt idx="120">
                  <c:v>-779.49428449926017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3-BC5B-442F-9404-227AAD586656}"/>
            </c:ext>
          </c:extLst>
        </c:ser>
        <c:ser>
          <c:idx val="4"/>
          <c:order val="4"/>
          <c:spPr>
            <a:ln w="25400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chemeClr val="accent1">
                  <a:lumMod val="50000"/>
                </a:schemeClr>
              </a:solidFill>
              <a:ln w="0" cmpd="dbl">
                <a:solidFill>
                  <a:schemeClr val="accent5"/>
                </a:solidFill>
              </a:ln>
              <a:effectLst/>
            </c:spPr>
          </c:marker>
          <c:xVal>
            <c:numRef>
              <c:f>'-5,0,7eu0.25'!$C$2:$C$122</c:f>
              <c:numCache>
                <c:formatCode>General</c:formatCode>
                <c:ptCount val="121"/>
                <c:pt idx="0">
                  <c:v>0</c:v>
                </c:pt>
                <c:pt idx="1">
                  <c:v>-1.1661410394864739E-3</c:v>
                </c:pt>
                <c:pt idx="2">
                  <c:v>-4.3154911074945509E-3</c:v>
                </c:pt>
                <c:pt idx="3">
                  <c:v>-8.3736518047728414E-3</c:v>
                </c:pt>
                <c:pt idx="4">
                  <c:v>-1.1532559211948399E-2</c:v>
                </c:pt>
                <c:pt idx="5">
                  <c:v>-1.1252488569156014E-2</c:v>
                </c:pt>
                <c:pt idx="6">
                  <c:v>-4.3273948710467261E-3</c:v>
                </c:pt>
                <c:pt idx="7">
                  <c:v>1.2913023408819415E-2</c:v>
                </c:pt>
                <c:pt idx="8">
                  <c:v>4.4186267257849562E-2</c:v>
                </c:pt>
                <c:pt idx="9">
                  <c:v>9.2621951853153223E-2</c:v>
                </c:pt>
                <c:pt idx="10">
                  <c:v>0.16011105481583607</c:v>
                </c:pt>
                <c:pt idx="11">
                  <c:v>0.24705915012004342</c:v>
                </c:pt>
                <c:pt idx="12">
                  <c:v>0.35283806190666805</c:v>
                </c:pt>
                <c:pt idx="13">
                  <c:v>0.47666703781877373</c:v>
                </c:pt>
                <c:pt idx="14">
                  <c:v>0.61828695864809946</c:v>
                </c:pt>
                <c:pt idx="15">
                  <c:v>0.7780989267012266</c:v>
                </c:pt>
                <c:pt idx="16">
                  <c:v>0.95692674889253526</c:v>
                </c:pt>
                <c:pt idx="17">
                  <c:v>1.1556902692566682</c:v>
                </c:pt>
                <c:pt idx="18">
                  <c:v>1.3751455727035402</c:v>
                </c:pt>
                <c:pt idx="19">
                  <c:v>1.6157222926016293</c:v>
                </c:pt>
                <c:pt idx="20">
                  <c:v>1.8774415533684601</c:v>
                </c:pt>
                <c:pt idx="21">
                  <c:v>2.1598967432951137</c:v>
                </c:pt>
                <c:pt idx="22">
                  <c:v>2.4622875271329892</c:v>
                </c:pt>
                <c:pt idx="23">
                  <c:v>2.7834961994045293</c:v>
                </c:pt>
                <c:pt idx="24">
                  <c:v>3.1221713471380856</c:v>
                </c:pt>
                <c:pt idx="25">
                  <c:v>3.476725150628118</c:v>
                </c:pt>
                <c:pt idx="26">
                  <c:v>3.8450706967169634</c:v>
                </c:pt>
                <c:pt idx="27">
                  <c:v>4.2239316767778421</c:v>
                </c:pt>
                <c:pt idx="28">
                  <c:v>4.6078811702327096</c:v>
                </c:pt>
                <c:pt idx="29">
                  <c:v>4.9889144906461791</c:v>
                </c:pt>
                <c:pt idx="30">
                  <c:v>5.3574677893959413</c:v>
                </c:pt>
                <c:pt idx="31">
                  <c:v>5.704533268468726</c:v>
                </c:pt>
                <c:pt idx="32">
                  <c:v>6.0233144688874427</c:v>
                </c:pt>
                <c:pt idx="33">
                  <c:v>6.3095053121169684</c:v>
                </c:pt>
                <c:pt idx="34">
                  <c:v>6.5606102891878315</c:v>
                </c:pt>
                <c:pt idx="35">
                  <c:v>6.7750767917573791</c:v>
                </c:pt>
                <c:pt idx="36">
                  <c:v>6.951634266423949</c:v>
                </c:pt>
                <c:pt idx="37">
                  <c:v>7.0888893741150705</c:v>
                </c:pt>
                <c:pt idx="38">
                  <c:v>7.1851055017940437</c:v>
                </c:pt>
                <c:pt idx="39">
                  <c:v>7.2380977624225418</c:v>
                </c:pt>
                <c:pt idx="40">
                  <c:v>7.2452139134385414</c:v>
                </c:pt>
                <c:pt idx="41">
                  <c:v>7.2034215395896641</c:v>
                </c:pt>
                <c:pt idx="42">
                  <c:v>7.1095886618871402</c:v>
                </c:pt>
                <c:pt idx="43">
                  <c:v>6.9611393880124144</c:v>
                </c:pt>
                <c:pt idx="44">
                  <c:v>6.7573530951836327</c:v>
                </c:pt>
                <c:pt idx="45">
                  <c:v>6.5014408616182573</c:v>
                </c:pt>
                <c:pt idx="46">
                  <c:v>6.2026760829390106</c:v>
                </c:pt>
                <c:pt idx="47">
                  <c:v>5.8762746960906007</c:v>
                </c:pt>
                <c:pt idx="48">
                  <c:v>5.538958758600959</c:v>
                </c:pt>
                <c:pt idx="49">
                  <c:v>5.2026978299524993</c:v>
                </c:pt>
                <c:pt idx="50">
                  <c:v>4.8720895027986781</c:v>
                </c:pt>
                <c:pt idx="51">
                  <c:v>4.5464328647845802</c:v>
                </c:pt>
                <c:pt idx="52">
                  <c:v>4.2231818776697594</c:v>
                </c:pt>
                <c:pt idx="53">
                  <c:v>3.9003577484758138</c:v>
                </c:pt>
                <c:pt idx="54">
                  <c:v>3.5776640243836528</c:v>
                </c:pt>
                <c:pt idx="55">
                  <c:v>3.2568411265845016</c:v>
                </c:pt>
                <c:pt idx="56">
                  <c:v>2.9417408528739148</c:v>
                </c:pt>
                <c:pt idx="57">
                  <c:v>2.6384227563109559</c:v>
                </c:pt>
                <c:pt idx="58">
                  <c:v>2.3561240966391663</c:v>
                </c:pt>
                <c:pt idx="59">
                  <c:v>2.1077873350131178</c:v>
                </c:pt>
                <c:pt idx="60">
                  <c:v>1.9084990691652659</c:v>
                </c:pt>
                <c:pt idx="61">
                  <c:v>1.7802376319665918</c:v>
                </c:pt>
                <c:pt idx="62">
                  <c:v>1.7499487448641757</c:v>
                </c:pt>
                <c:pt idx="63">
                  <c:v>1.844543195165167</c:v>
                </c:pt>
                <c:pt idx="64">
                  <c:v>2.0817252153647883</c:v>
                </c:pt>
                <c:pt idx="65">
                  <c:v>2.4616330911710453</c:v>
                </c:pt>
                <c:pt idx="66">
                  <c:v>2.9644091983917655</c:v>
                </c:pt>
                <c:pt idx="67">
                  <c:v>3.5540286548776248</c:v>
                </c:pt>
                <c:pt idx="68">
                  <c:v>4.1856652046025129</c:v>
                </c:pt>
                <c:pt idx="69">
                  <c:v>4.8077544417593634</c:v>
                </c:pt>
                <c:pt idx="70">
                  <c:v>5.3747738571602817</c:v>
                </c:pt>
                <c:pt idx="71">
                  <c:v>5.8479328650299189</c:v>
                </c:pt>
                <c:pt idx="72">
                  <c:v>6.200784208559841</c:v>
                </c:pt>
                <c:pt idx="73">
                  <c:v>6.422717052830281</c:v>
                </c:pt>
                <c:pt idx="74">
                  <c:v>6.5189718633596367</c:v>
                </c:pt>
                <c:pt idx="75">
                  <c:v>6.5065763590347396</c:v>
                </c:pt>
                <c:pt idx="76">
                  <c:v>6.4080217299677376</c:v>
                </c:pt>
                <c:pt idx="77">
                  <c:v>6.2456071144817029</c:v>
                </c:pt>
                <c:pt idx="78">
                  <c:v>6.0383372055478803</c:v>
                </c:pt>
                <c:pt idx="79">
                  <c:v>5.8011679655225956</c:v>
                </c:pt>
                <c:pt idx="80">
                  <c:v>5.5454619029173111</c:v>
                </c:pt>
                <c:pt idx="81">
                  <c:v>5.2797448878030284</c:v>
                </c:pt>
                <c:pt idx="82">
                  <c:v>5.0090643284930829</c:v>
                </c:pt>
                <c:pt idx="83">
                  <c:v>4.7395140656333963</c:v>
                </c:pt>
                <c:pt idx="84">
                  <c:v>4.4747484802792892</c:v>
                </c:pt>
                <c:pt idx="85">
                  <c:v>4.2172408209828456</c:v>
                </c:pt>
                <c:pt idx="86">
                  <c:v>3.9687012807971898</c:v>
                </c:pt>
                <c:pt idx="87">
                  <c:v>3.7302409943515911</c:v>
                </c:pt>
                <c:pt idx="88">
                  <c:v>3.5025002909410161</c:v>
                </c:pt>
                <c:pt idx="89">
                  <c:v>3.2857503753052781</c:v>
                </c:pt>
                <c:pt idx="90">
                  <c:v>3.0799745952437592</c:v>
                </c:pt>
                <c:pt idx="91">
                  <c:v>2.8849336345582746</c:v>
                </c:pt>
                <c:pt idx="92">
                  <c:v>2.7002178274217905</c:v>
                </c:pt>
                <c:pt idx="93">
                  <c:v>2.5252890360335871</c:v>
                </c:pt>
                <c:pt idx="94">
                  <c:v>2.3595140083590835</c:v>
                </c:pt>
                <c:pt idx="95">
                  <c:v>2.2021907497475297</c:v>
                </c:pt>
                <c:pt idx="96">
                  <c:v>2.0525691525211376</c:v>
                </c:pt>
                <c:pt idx="97">
                  <c:v>1.909866902925123</c:v>
                </c:pt>
                <c:pt idx="98">
                  <c:v>1.7732815079444399</c:v>
                </c:pt>
                <c:pt idx="99">
                  <c:v>1.641999144634877</c:v>
                </c:pt>
                <c:pt idx="100">
                  <c:v>1.515200924907006</c:v>
                </c:pt>
                <c:pt idx="101">
                  <c:v>1.3920670849557986</c:v>
                </c:pt>
                <c:pt idx="102">
                  <c:v>1.2717795486242036</c:v>
                </c:pt>
                <c:pt idx="103">
                  <c:v>1.1535232775991402</c:v>
                </c:pt>
                <c:pt idx="104">
                  <c:v>1.0364868098269753</c:v>
                </c:pt>
                <c:pt idx="105">
                  <c:v>0.91986240394597829</c:v>
                </c:pt>
                <c:pt idx="106">
                  <c:v>0.80284625647390095</c:v>
                </c:pt>
                <c:pt idx="107">
                  <c:v>0.68463934577425356</c:v>
                </c:pt>
                <c:pt idx="108">
                  <c:v>0.56444958836061743</c:v>
                </c:pt>
                <c:pt idx="109">
                  <c:v>0.44149617247010775</c:v>
                </c:pt>
                <c:pt idx="110">
                  <c:v>0.31501715741764774</c:v>
                </c:pt>
                <c:pt idx="111">
                  <c:v>0.18428167550984836</c:v>
                </c:pt>
                <c:pt idx="112">
                  <c:v>4.8608296828043095E-2</c:v>
                </c:pt>
                <c:pt idx="113">
                  <c:v>-9.2608782819894694E-2</c:v>
                </c:pt>
                <c:pt idx="114">
                  <c:v>-0.23986426328302499</c:v>
                </c:pt>
                <c:pt idx="115">
                  <c:v>-0.39349623801689959</c:v>
                </c:pt>
                <c:pt idx="116">
                  <c:v>-0.55363151059804838</c:v>
                </c:pt>
                <c:pt idx="117">
                  <c:v>-0.72012521840619026</c:v>
                </c:pt>
                <c:pt idx="118">
                  <c:v>-0.89250189874178398</c:v>
                </c:pt>
                <c:pt idx="119">
                  <c:v>-1.0699090778548948</c:v>
                </c:pt>
                <c:pt idx="120">
                  <c:v>-1.251097156661338</c:v>
                </c:pt>
              </c:numCache>
            </c:numRef>
          </c:xVal>
          <c:yVal>
            <c:numRef>
              <c:f>'-5,0,7eu0.25'!$D$2:$D$122</c:f>
              <c:numCache>
                <c:formatCode>General</c:formatCode>
                <c:ptCount val="121"/>
                <c:pt idx="0">
                  <c:v>0</c:v>
                </c:pt>
                <c:pt idx="1">
                  <c:v>-6.3147968310652818</c:v>
                </c:pt>
                <c:pt idx="2">
                  <c:v>-12.639831801841565</c:v>
                </c:pt>
                <c:pt idx="3">
                  <c:v>-18.985718036734326</c:v>
                </c:pt>
                <c:pt idx="4">
                  <c:v>-25.363730134505808</c:v>
                </c:pt>
                <c:pt idx="5">
                  <c:v>-31.785984130655724</c:v>
                </c:pt>
                <c:pt idx="6">
                  <c:v>-38.265307440508593</c:v>
                </c:pt>
                <c:pt idx="7">
                  <c:v>-44.814470822545147</c:v>
                </c:pt>
                <c:pt idx="8">
                  <c:v>-51.444334826692184</c:v>
                </c:pt>
                <c:pt idx="9">
                  <c:v>-58.160659943729698</c:v>
                </c:pt>
                <c:pt idx="10">
                  <c:v>-64.960296065482382</c:v>
                </c:pt>
                <c:pt idx="11">
                  <c:v>-71.829029272462876</c:v>
                </c:pt>
                <c:pt idx="12">
                  <c:v>-78.743628096155575</c:v>
                </c:pt>
                <c:pt idx="13">
                  <c:v>-85.67781169418005</c:v>
                </c:pt>
                <c:pt idx="14">
                  <c:v>-92.608504690803628</c:v>
                </c:pt>
                <c:pt idx="15">
                  <c:v>-99.519094971154928</c:v>
                </c:pt>
                <c:pt idx="16">
                  <c:v>-106.39944183610565</c:v>
                </c:pt>
                <c:pt idx="17">
                  <c:v>-113.24422973088761</c:v>
                </c:pt>
                <c:pt idx="18">
                  <c:v>-120.05110128105487</c:v>
                </c:pt>
                <c:pt idx="19">
                  <c:v>-126.81920586461945</c:v>
                </c:pt>
                <c:pt idx="20">
                  <c:v>-133.54825893747966</c:v>
                </c:pt>
                <c:pt idx="21">
                  <c:v>-140.23799960056155</c:v>
                </c:pt>
                <c:pt idx="22">
                  <c:v>-146.88789551026429</c:v>
                </c:pt>
                <c:pt idx="23">
                  <c:v>-153.49695536588743</c:v>
                </c:pt>
                <c:pt idx="24">
                  <c:v>-160.06352457232006</c:v>
                </c:pt>
                <c:pt idx="25">
                  <c:v>-166.58496922119645</c:v>
                </c:pt>
                <c:pt idx="26">
                  <c:v>-173.0572603187141</c:v>
                </c:pt>
                <c:pt idx="27">
                  <c:v>-179.47474427464877</c:v>
                </c:pt>
                <c:pt idx="28">
                  <c:v>-185.83074937828599</c:v>
                </c:pt>
                <c:pt idx="29">
                  <c:v>-192.11955194768257</c:v>
                </c:pt>
                <c:pt idx="30">
                  <c:v>-198.33901364945811</c:v>
                </c:pt>
                <c:pt idx="31">
                  <c:v>-204.49202277272479</c:v>
                </c:pt>
                <c:pt idx="32">
                  <c:v>-210.58574369082487</c:v>
                </c:pt>
                <c:pt idx="33">
                  <c:v>-216.62963231289817</c:v>
                </c:pt>
                <c:pt idx="34">
                  <c:v>-222.63366725511634</c:v>
                </c:pt>
                <c:pt idx="35">
                  <c:v>-228.60739444866508</c:v>
                </c:pt>
                <c:pt idx="36">
                  <c:v>-234.55965908554705</c:v>
                </c:pt>
                <c:pt idx="37">
                  <c:v>-240.49872748639521</c:v>
                </c:pt>
                <c:pt idx="38">
                  <c:v>-246.43258943753395</c:v>
                </c:pt>
                <c:pt idx="39">
                  <c:v>-252.3693415452031</c:v>
                </c:pt>
                <c:pt idx="40">
                  <c:v>-258.31761839848463</c:v>
                </c:pt>
                <c:pt idx="41">
                  <c:v>-264.28706030512723</c:v>
                </c:pt>
                <c:pt idx="42">
                  <c:v>-270.28878151411482</c:v>
                </c:pt>
                <c:pt idx="43">
                  <c:v>-276.33570032192051</c:v>
                </c:pt>
                <c:pt idx="44">
                  <c:v>-282.44235276173686</c:v>
                </c:pt>
                <c:pt idx="45">
                  <c:v>-288.62344932427891</c:v>
                </c:pt>
                <c:pt idx="46">
                  <c:v>-294.89043324964905</c:v>
                </c:pt>
                <c:pt idx="47">
                  <c:v>-301.24690327064508</c:v>
                </c:pt>
                <c:pt idx="48">
                  <c:v>-307.68675908245166</c:v>
                </c:pt>
                <c:pt idx="49">
                  <c:v>-314.19824224984387</c:v>
                </c:pt>
                <c:pt idx="50">
                  <c:v>-320.7707580479132</c:v>
                </c:pt>
                <c:pt idx="51">
                  <c:v>-327.39890561816213</c:v>
                </c:pt>
                <c:pt idx="52">
                  <c:v>-334.08261593670881</c:v>
                </c:pt>
                <c:pt idx="53">
                  <c:v>-340.82554320766633</c:v>
                </c:pt>
                <c:pt idx="54">
                  <c:v>-347.63341150661859</c:v>
                </c:pt>
                <c:pt idx="55">
                  <c:v>-354.51280588051947</c:v>
                </c:pt>
                <c:pt idx="56">
                  <c:v>-361.47028964275438</c:v>
                </c:pt>
                <c:pt idx="57">
                  <c:v>-368.51154195105352</c:v>
                </c:pt>
                <c:pt idx="58">
                  <c:v>-375.63932636970145</c:v>
                </c:pt>
                <c:pt idx="59">
                  <c:v>-382.85122622806</c:v>
                </c:pt>
                <c:pt idx="60">
                  <c:v>-390.14047928919206</c:v>
                </c:pt>
                <c:pt idx="61">
                  <c:v>-397.48840756890621</c:v>
                </c:pt>
                <c:pt idx="62">
                  <c:v>-404.86565267500976</c:v>
                </c:pt>
                <c:pt idx="63">
                  <c:v>-412.23936407943614</c:v>
                </c:pt>
                <c:pt idx="64">
                  <c:v>-419.58625709363866</c:v>
                </c:pt>
                <c:pt idx="65">
                  <c:v>-426.90095301776591</c:v>
                </c:pt>
                <c:pt idx="66">
                  <c:v>-434.19224400695811</c:v>
                </c:pt>
                <c:pt idx="67">
                  <c:v>-441.47271598256896</c:v>
                </c:pt>
                <c:pt idx="68">
                  <c:v>-448.75211383650577</c:v>
                </c:pt>
                <c:pt idx="69">
                  <c:v>-456.0319904541393</c:v>
                </c:pt>
                <c:pt idx="70">
                  <c:v>-463.31651521814609</c:v>
                </c:pt>
                <c:pt idx="71">
                  <c:v>-470.61017682054467</c:v>
                </c:pt>
                <c:pt idx="72">
                  <c:v>-477.91716911654538</c:v>
                </c:pt>
                <c:pt idx="73">
                  <c:v>-485.23621534046777</c:v>
                </c:pt>
                <c:pt idx="74">
                  <c:v>-492.55621260607353</c:v>
                </c:pt>
                <c:pt idx="75">
                  <c:v>-499.85727570902742</c:v>
                </c:pt>
                <c:pt idx="76">
                  <c:v>-507.11690974391439</c:v>
                </c:pt>
                <c:pt idx="77">
                  <c:v>-514.31651127552493</c:v>
                </c:pt>
                <c:pt idx="78">
                  <c:v>-521.44434303516528</c:v>
                </c:pt>
                <c:pt idx="79">
                  <c:v>-528.49519598280949</c:v>
                </c:pt>
                <c:pt idx="80">
                  <c:v>-535.46859355817605</c:v>
                </c:pt>
                <c:pt idx="81">
                  <c:v>-542.36697659309812</c:v>
                </c:pt>
                <c:pt idx="82">
                  <c:v>-549.19585691522775</c:v>
                </c:pt>
                <c:pt idx="83">
                  <c:v>-555.95820445373533</c:v>
                </c:pt>
                <c:pt idx="84">
                  <c:v>-562.65881704497372</c:v>
                </c:pt>
                <c:pt idx="85">
                  <c:v>-569.30263062021186</c:v>
                </c:pt>
                <c:pt idx="86">
                  <c:v>-575.89432287532225</c:v>
                </c:pt>
                <c:pt idx="87">
                  <c:v>-582.43824520131466</c:v>
                </c:pt>
                <c:pt idx="88">
                  <c:v>-588.93839906315316</c:v>
                </c:pt>
                <c:pt idx="89">
                  <c:v>-595.39843733125156</c:v>
                </c:pt>
                <c:pt idx="90">
                  <c:v>-601.82167924107341</c:v>
                </c:pt>
                <c:pt idx="91">
                  <c:v>-608.21113236698193</c:v>
                </c:pt>
                <c:pt idx="92">
                  <c:v>-614.5695177235408</c:v>
                </c:pt>
                <c:pt idx="93">
                  <c:v>-620.89929570303593</c:v>
                </c:pt>
                <c:pt idx="94">
                  <c:v>-627.20269150364163</c:v>
                </c:pt>
                <c:pt idx="95">
                  <c:v>-633.48171926951954</c:v>
                </c:pt>
                <c:pt idx="96">
                  <c:v>-639.73820450576397</c:v>
                </c:pt>
                <c:pt idx="97">
                  <c:v>-645.9738045359635</c:v>
                </c:pt>
                <c:pt idx="98">
                  <c:v>-652.19002688936632</c:v>
                </c:pt>
                <c:pt idx="99">
                  <c:v>-658.38824556845032</c:v>
                </c:pt>
                <c:pt idx="100">
                  <c:v>-664.56971517401473</c:v>
                </c:pt>
                <c:pt idx="101">
                  <c:v>-670.73558286411617</c:v>
                </c:pt>
                <c:pt idx="102">
                  <c:v>-676.88689810166488</c:v>
                </c:pt>
                <c:pt idx="103">
                  <c:v>-683.02462010661623</c:v>
                </c:pt>
                <c:pt idx="104">
                  <c:v>-689.14962287516164</c:v>
                </c:pt>
                <c:pt idx="105">
                  <c:v>-695.2626975624172</c:v>
                </c:pt>
                <c:pt idx="106">
                  <c:v>-701.36455195088081</c:v>
                </c:pt>
                <c:pt idx="107">
                  <c:v>-707.45580665188641</c:v>
                </c:pt>
                <c:pt idx="108">
                  <c:v>-713.5369876252571</c:v>
                </c:pt>
                <c:pt idx="109">
                  <c:v>-719.60851457820593</c:v>
                </c:pt>
                <c:pt idx="110">
                  <c:v>-725.67068485898358</c:v>
                </c:pt>
                <c:pt idx="111">
                  <c:v>-731.72365265713029</c:v>
                </c:pt>
                <c:pt idx="112">
                  <c:v>-737.76740375001123</c:v>
                </c:pt>
                <c:pt idx="113">
                  <c:v>-743.80172680658507</c:v>
                </c:pt>
                <c:pt idx="114">
                  <c:v>-749.82618348498715</c:v>
                </c:pt>
                <c:pt idx="115">
                  <c:v>-755.84008129109043</c:v>
                </c:pt>
                <c:pt idx="116">
                  <c:v>-761.8424552805177</c:v>
                </c:pt>
                <c:pt idx="117">
                  <c:v>-767.83206674132657</c:v>
                </c:pt>
                <c:pt idx="118">
                  <c:v>-773.80742808748585</c:v>
                </c:pt>
                <c:pt idx="119">
                  <c:v>-779.76686202420842</c:v>
                </c:pt>
                <c:pt idx="120">
                  <c:v>-785.70859838009551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4-BC5B-442F-9404-227AAD586656}"/>
            </c:ext>
          </c:extLst>
        </c:ser>
        <c:ser>
          <c:idx val="5"/>
          <c:order val="5"/>
          <c:spPr>
            <a:ln w="25400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chemeClr val="accent1">
                  <a:lumMod val="60000"/>
                  <a:lumOff val="40000"/>
                </a:schemeClr>
              </a:solidFill>
              <a:ln w="9525">
                <a:noFill/>
              </a:ln>
              <a:effectLst/>
            </c:spPr>
          </c:marker>
          <c:xVal>
            <c:numRef>
              <c:f>'-5,0,7eu0.25'!$E$2:$E$122</c:f>
              <c:numCache>
                <c:formatCode>General</c:formatCode>
                <c:ptCount val="121"/>
                <c:pt idx="0">
                  <c:v>7</c:v>
                </c:pt>
                <c:pt idx="1">
                  <c:v>6.9807933485213178</c:v>
                </c:pt>
                <c:pt idx="2">
                  <c:v>6.922956111239273</c:v>
                </c:pt>
                <c:pt idx="3">
                  <c:v>6.826164679334072</c:v>
                </c:pt>
                <c:pt idx="4">
                  <c:v>6.6899695828994741</c:v>
                </c:pt>
                <c:pt idx="5">
                  <c:v>6.5139749796451261</c:v>
                </c:pt>
                <c:pt idx="6">
                  <c:v>6.2981783569708405</c:v>
                </c:pt>
                <c:pt idx="7">
                  <c:v>6.0435446740780927</c:v>
                </c:pt>
                <c:pt idx="8">
                  <c:v>5.752820385519037</c:v>
                </c:pt>
                <c:pt idx="9">
                  <c:v>5.4313409913979074</c:v>
                </c:pt>
                <c:pt idx="10">
                  <c:v>5.0871786195991771</c:v>
                </c:pt>
                <c:pt idx="11">
                  <c:v>4.7299322050279349</c:v>
                </c:pt>
                <c:pt idx="12">
                  <c:v>4.3684549438121589</c:v>
                </c:pt>
                <c:pt idx="13">
                  <c:v>4.0090538695783859</c:v>
                </c:pt>
                <c:pt idx="14">
                  <c:v>3.6553112650156909</c:v>
                </c:pt>
                <c:pt idx="15">
                  <c:v>3.3090965047745291</c:v>
                </c:pt>
                <c:pt idx="16">
                  <c:v>2.9716837381430166</c:v>
                </c:pt>
                <c:pt idx="17">
                  <c:v>2.6444020079306862</c:v>
                </c:pt>
                <c:pt idx="18">
                  <c:v>2.3288257251684303</c:v>
                </c:pt>
                <c:pt idx="19">
                  <c:v>2.0267088732835319</c:v>
                </c:pt>
                <c:pt idx="20">
                  <c:v>1.7398336165504951</c:v>
                </c:pt>
                <c:pt idx="21">
                  <c:v>1.4698697361097468</c:v>
                </c:pt>
                <c:pt idx="22">
                  <c:v>1.2182927001162265</c:v>
                </c:pt>
                <c:pt idx="23">
                  <c:v>0.98638995276221186</c:v>
                </c:pt>
                <c:pt idx="24">
                  <c:v>0.77538575439167745</c:v>
                </c:pt>
                <c:pt idx="25">
                  <c:v>0.58671522840841772</c:v>
                </c:pt>
                <c:pt idx="26">
                  <c:v>0.42243764932071481</c:v>
                </c:pt>
                <c:pt idx="27">
                  <c:v>0.28563335491073122</c:v>
                </c:pt>
                <c:pt idx="28">
                  <c:v>0.18038494968291016</c:v>
                </c:pt>
                <c:pt idx="29">
                  <c:v>0.11089541912319434</c:v>
                </c:pt>
                <c:pt idx="30">
                  <c:v>7.9875614667470674E-2</c:v>
                </c:pt>
                <c:pt idx="31">
                  <c:v>8.7172466748754451E-2</c:v>
                </c:pt>
                <c:pt idx="32">
                  <c:v>0.12954446626471128</c:v>
                </c:pt>
                <c:pt idx="33">
                  <c:v>0.20150576042718371</c:v>
                </c:pt>
                <c:pt idx="34">
                  <c:v>0.29651229550264258</c:v>
                </c:pt>
                <c:pt idx="35">
                  <c:v>0.40791781226412926</c:v>
                </c:pt>
                <c:pt idx="36">
                  <c:v>0.52953826077726729</c:v>
                </c:pt>
                <c:pt idx="37">
                  <c:v>0.65590356777193248</c:v>
                </c:pt>
                <c:pt idx="38">
                  <c:v>0.78232790373924932</c:v>
                </c:pt>
                <c:pt idx="39">
                  <c:v>0.90490213810666931</c:v>
                </c:pt>
                <c:pt idx="40">
                  <c:v>1.0204741690658681</c:v>
                </c:pt>
                <c:pt idx="41">
                  <c:v>1.126655454738563</c:v>
                </c:pt>
                <c:pt idx="42">
                  <c:v>1.2218740497303255</c:v>
                </c:pt>
                <c:pt idx="43">
                  <c:v>1.30547614771758</c:v>
                </c:pt>
                <c:pt idx="44">
                  <c:v>1.3778462831220397</c:v>
                </c:pt>
                <c:pt idx="45">
                  <c:v>1.440464233198371</c:v>
                </c:pt>
                <c:pt idx="46">
                  <c:v>1.4957794531126718</c:v>
                </c:pt>
                <c:pt idx="47">
                  <c:v>1.5468694820400462</c:v>
                </c:pt>
                <c:pt idx="48">
                  <c:v>1.5970875764885855</c:v>
                </c:pt>
                <c:pt idx="49">
                  <c:v>1.6499700299196425</c:v>
                </c:pt>
                <c:pt idx="50">
                  <c:v>1.7093352570724705</c:v>
                </c:pt>
                <c:pt idx="51">
                  <c:v>1.7793091797393648</c:v>
                </c:pt>
                <c:pt idx="52">
                  <c:v>1.8642334807025296</c:v>
                </c:pt>
                <c:pt idx="53">
                  <c:v>1.9685680080744745</c:v>
                </c:pt>
                <c:pt idx="54">
                  <c:v>2.0968359639008769</c:v>
                </c:pt>
                <c:pt idx="55">
                  <c:v>2.2535844885044782</c:v>
                </c:pt>
                <c:pt idx="56">
                  <c:v>2.4433158423098948</c:v>
                </c:pt>
                <c:pt idx="57">
                  <c:v>2.6703542021108202</c:v>
                </c:pt>
                <c:pt idx="58">
                  <c:v>2.938681302621764</c:v>
                </c:pt>
                <c:pt idx="59">
                  <c:v>3.2514342675677637</c:v>
                </c:pt>
                <c:pt idx="60">
                  <c:v>3.6103222270476865</c:v>
                </c:pt>
                <c:pt idx="61">
                  <c:v>4.0151579427522339</c:v>
                </c:pt>
                <c:pt idx="62">
                  <c:v>4.4624970040144385</c:v>
                </c:pt>
                <c:pt idx="63">
                  <c:v>4.9449796801439776</c:v>
                </c:pt>
                <c:pt idx="64">
                  <c:v>5.4531006984878578</c:v>
                </c:pt>
                <c:pt idx="65">
                  <c:v>5.9789574277612125</c:v>
                </c:pt>
                <c:pt idx="66">
                  <c:v>6.5176089046492693</c:v>
                </c:pt>
                <c:pt idx="67">
                  <c:v>7.063734844125122</c:v>
                </c:pt>
                <c:pt idx="68">
                  <c:v>7.6064599150541037</c:v>
                </c:pt>
                <c:pt idx="69">
                  <c:v>8.1242316725615478</c:v>
                </c:pt>
                <c:pt idx="70">
                  <c:v>8.5900308362396469</c:v>
                </c:pt>
                <c:pt idx="71">
                  <c:v>8.9745576017710142</c:v>
                </c:pt>
                <c:pt idx="72">
                  <c:v>9.2564432269574546</c:v>
                </c:pt>
                <c:pt idx="73">
                  <c:v>9.4305768857133909</c:v>
                </c:pt>
                <c:pt idx="74">
                  <c:v>9.5096062819393019</c:v>
                </c:pt>
                <c:pt idx="75">
                  <c:v>9.5166084458358089</c:v>
                </c:pt>
                <c:pt idx="76">
                  <c:v>9.4747435935794861</c:v>
                </c:pt>
                <c:pt idx="77">
                  <c:v>9.401399060023989</c:v>
                </c:pt>
                <c:pt idx="78">
                  <c:v>9.307864283734423</c:v>
                </c:pt>
                <c:pt idx="79">
                  <c:v>9.2013450781083748</c:v>
                </c:pt>
                <c:pt idx="80">
                  <c:v>9.086837225216243</c:v>
                </c:pt>
                <c:pt idx="81">
                  <c:v>8.9682167894574292</c:v>
                </c:pt>
                <c:pt idx="82">
                  <c:v>8.847662008044594</c:v>
                </c:pt>
                <c:pt idx="83">
                  <c:v>8.7290182917741443</c:v>
                </c:pt>
                <c:pt idx="84">
                  <c:v>8.6147971043638059</c:v>
                </c:pt>
                <c:pt idx="85">
                  <c:v>8.5069453404153705</c:v>
                </c:pt>
                <c:pt idx="86">
                  <c:v>8.4070257720684936</c:v>
                </c:pt>
                <c:pt idx="87">
                  <c:v>8.3162452233276998</c:v>
                </c:pt>
                <c:pt idx="88">
                  <c:v>8.2354915003215581</c:v>
                </c:pt>
                <c:pt idx="89">
                  <c:v>8.1653751821723173</c:v>
                </c:pt>
                <c:pt idx="90">
                  <c:v>8.1062725736170158</c:v>
                </c:pt>
                <c:pt idx="91">
                  <c:v>8.0583671451500472</c:v>
                </c:pt>
                <c:pt idx="92">
                  <c:v>8.0216878271915721</c:v>
                </c:pt>
                <c:pt idx="93">
                  <c:v>7.9961433371572053</c:v>
                </c:pt>
                <c:pt idx="94">
                  <c:v>7.9815522779565207</c:v>
                </c:pt>
                <c:pt idx="95">
                  <c:v>7.9776690991479509</c:v>
                </c:pt>
                <c:pt idx="96">
                  <c:v>7.9842062147510315</c:v>
                </c:pt>
                <c:pt idx="97">
                  <c:v>8.0008526731347125</c:v>
                </c:pt>
                <c:pt idx="98">
                  <c:v>8.0272898104439516</c:v>
                </c:pt>
                <c:pt idx="99">
                  <c:v>8.0632043143453345</c:v>
                </c:pt>
                <c:pt idx="100">
                  <c:v>8.1082990953226108</c:v>
                </c:pt>
                <c:pt idx="101">
                  <c:v>8.1623023177911573</c:v>
                </c:pt>
                <c:pt idx="102">
                  <c:v>8.2249748877746267</c:v>
                </c:pt>
                <c:pt idx="103">
                  <c:v>8.2961166292596289</c:v>
                </c:pt>
                <c:pt idx="104">
                  <c:v>8.3755713064237174</c:v>
                </c:pt>
                <c:pt idx="105">
                  <c:v>8.4632305603017528</c:v>
                </c:pt>
                <c:pt idx="106">
                  <c:v>8.5590367207435776</c:v>
                </c:pt>
                <c:pt idx="107">
                  <c:v>8.6629843208054922</c:v>
                </c:pt>
                <c:pt idx="108">
                  <c:v>8.7751199734122345</c:v>
                </c:pt>
                <c:pt idx="109">
                  <c:v>8.8955400629739376</c:v>
                </c:pt>
                <c:pt idx="110">
                  <c:v>9.0243854568258168</c:v>
                </c:pt>
                <c:pt idx="111">
                  <c:v>9.1618321650641761</c:v>
                </c:pt>
                <c:pt idx="112">
                  <c:v>9.308076610232817</c:v>
                </c:pt>
                <c:pt idx="113">
                  <c:v>9.4633139914153634</c:v>
                </c:pt>
                <c:pt idx="114">
                  <c:v>9.6277082854640899</c:v>
                </c:pt>
                <c:pt idx="115">
                  <c:v>9.8013529417940983</c:v>
                </c:pt>
                <c:pt idx="116">
                  <c:v>9.9842225704976713</c:v>
                </c:pt>
                <c:pt idx="117">
                  <c:v>10.176118128542331</c:v>
                </c:pt>
                <c:pt idx="118">
                  <c:v>10.37661125948701</c:v>
                </c:pt>
                <c:pt idx="119">
                  <c:v>10.58499698091493</c:v>
                </c:pt>
                <c:pt idx="120">
                  <c:v>10.800266527294607</c:v>
                </c:pt>
              </c:numCache>
            </c:numRef>
          </c:xVal>
          <c:yVal>
            <c:numRef>
              <c:f>'-5,0,7eu0.25'!$F$2:$F$122</c:f>
              <c:numCache>
                <c:formatCode>General</c:formatCode>
                <c:ptCount val="121"/>
                <c:pt idx="0">
                  <c:v>0</c:v>
                </c:pt>
                <c:pt idx="1">
                  <c:v>-5.8581784163928621</c:v>
                </c:pt>
                <c:pt idx="2">
                  <c:v>-11.722916167955569</c:v>
                </c:pt>
                <c:pt idx="3">
                  <c:v>-17.601044968174907</c:v>
                </c:pt>
                <c:pt idx="4">
                  <c:v>-23.499904917650458</c:v>
                </c:pt>
                <c:pt idx="5">
                  <c:v>-29.427559642216469</c:v>
                </c:pt>
                <c:pt idx="6">
                  <c:v>-35.392900367490597</c:v>
                </c:pt>
                <c:pt idx="7">
                  <c:v>-41.405478163038119</c:v>
                </c:pt>
                <c:pt idx="8">
                  <c:v>-47.474806817347833</c:v>
                </c:pt>
                <c:pt idx="9">
                  <c:v>-53.60891491120357</c:v>
                </c:pt>
                <c:pt idx="10">
                  <c:v>-59.812380016563466</c:v>
                </c:pt>
                <c:pt idx="11">
                  <c:v>-66.084945913090351</c:v>
                </c:pt>
                <c:pt idx="12">
                  <c:v>-72.422073123526104</c:v>
                </c:pt>
                <c:pt idx="13">
                  <c:v>-78.817350698594666</c:v>
                </c:pt>
                <c:pt idx="14">
                  <c:v>-85.265037066072026</c:v>
                </c:pt>
                <c:pt idx="15">
                  <c:v>-91.761301736852502</c:v>
                </c:pt>
                <c:pt idx="16">
                  <c:v>-98.304195560736829</c:v>
                </c:pt>
                <c:pt idx="17">
                  <c:v>-104.89307849519386</c:v>
                </c:pt>
                <c:pt idx="18">
                  <c:v>-111.5280442217382</c:v>
                </c:pt>
                <c:pt idx="19">
                  <c:v>-118.20951571475715</c:v>
                </c:pt>
                <c:pt idx="20">
                  <c:v>-124.93797500631744</c:v>
                </c:pt>
                <c:pt idx="21">
                  <c:v>-131.71371181864885</c:v>
                </c:pt>
                <c:pt idx="22">
                  <c:v>-138.53644638162103</c:v>
                </c:pt>
                <c:pt idx="23">
                  <c:v>-145.4046596985915</c:v>
                </c:pt>
                <c:pt idx="24">
                  <c:v>-152.31446065113917</c:v>
                </c:pt>
                <c:pt idx="25">
                  <c:v>-159.25791459413909</c:v>
                </c:pt>
                <c:pt idx="26">
                  <c:v>-166.22112331362234</c:v>
                </c:pt>
                <c:pt idx="27">
                  <c:v>-173.18311872100352</c:v>
                </c:pt>
                <c:pt idx="28">
                  <c:v>-180.1173905254112</c:v>
                </c:pt>
                <c:pt idx="29">
                  <c:v>-186.99714517815752</c:v>
                </c:pt>
                <c:pt idx="30">
                  <c:v>-193.80234470514259</c:v>
                </c:pt>
                <c:pt idx="31">
                  <c:v>-200.52417025447824</c:v>
                </c:pt>
                <c:pt idx="32">
                  <c:v>-207.16458097858413</c:v>
                </c:pt>
                <c:pt idx="33">
                  <c:v>-213.73269814209911</c:v>
                </c:pt>
                <c:pt idx="34">
                  <c:v>-220.2409913936778</c:v>
                </c:pt>
                <c:pt idx="35">
                  <c:v>-226.70279164193559</c:v>
                </c:pt>
                <c:pt idx="36">
                  <c:v>-233.13117253955812</c:v>
                </c:pt>
                <c:pt idx="37">
                  <c:v>-239.53872465126253</c:v>
                </c:pt>
                <c:pt idx="38">
                  <c:v>-245.93780048091594</c:v>
                </c:pt>
                <c:pt idx="39">
                  <c:v>-252.34098507617682</c:v>
                </c:pt>
                <c:pt idx="40">
                  <c:v>-258.76167221120687</c:v>
                </c:pt>
                <c:pt idx="41">
                  <c:v>-265.21466871496068</c:v>
                </c:pt>
                <c:pt idx="42">
                  <c:v>-271.71669650471409</c:v>
                </c:pt>
                <c:pt idx="43">
                  <c:v>-278.28646863284644</c:v>
                </c:pt>
                <c:pt idx="44">
                  <c:v>-284.94362446166173</c:v>
                </c:pt>
                <c:pt idx="45">
                  <c:v>-291.70535111524663</c:v>
                </c:pt>
                <c:pt idx="46">
                  <c:v>-298.57987143418165</c:v>
                </c:pt>
                <c:pt idx="47">
                  <c:v>-305.5588626137565</c:v>
                </c:pt>
                <c:pt idx="48">
                  <c:v>-312.61537747794489</c:v>
                </c:pt>
                <c:pt idx="49">
                  <c:v>-319.7122405137593</c:v>
                </c:pt>
                <c:pt idx="50">
                  <c:v>-326.81545886303434</c:v>
                </c:pt>
                <c:pt idx="51">
                  <c:v>-333.90248776746267</c:v>
                </c:pt>
                <c:pt idx="52">
                  <c:v>-340.96263755806194</c:v>
                </c:pt>
                <c:pt idx="53">
                  <c:v>-347.99351744850463</c:v>
                </c:pt>
                <c:pt idx="54">
                  <c:v>-354.99719344491047</c:v>
                </c:pt>
                <c:pt idx="55">
                  <c:v>-361.97737934397213</c:v>
                </c:pt>
                <c:pt idx="56">
                  <c:v>-368.93765098309808</c:v>
                </c:pt>
                <c:pt idx="57">
                  <c:v>-375.88034940485699</c:v>
                </c:pt>
                <c:pt idx="58">
                  <c:v>-382.80568053414646</c:v>
                </c:pt>
                <c:pt idx="59">
                  <c:v>-389.7112536383114</c:v>
                </c:pt>
                <c:pt idx="60">
                  <c:v>-396.59297720141461</c:v>
                </c:pt>
                <c:pt idx="61">
                  <c:v>-403.4441289655029</c:v>
                </c:pt>
                <c:pt idx="62">
                  <c:v>-410.25722573137949</c:v>
                </c:pt>
                <c:pt idx="63">
                  <c:v>-417.02789153163019</c:v>
                </c:pt>
                <c:pt idx="64">
                  <c:v>-423.76019772794064</c:v>
                </c:pt>
                <c:pt idx="65">
                  <c:v>-430.46868024894616</c:v>
                </c:pt>
                <c:pt idx="66">
                  <c:v>-437.17382304777465</c:v>
                </c:pt>
                <c:pt idx="67">
                  <c:v>-443.89455154307319</c:v>
                </c:pt>
                <c:pt idx="68">
                  <c:v>-450.64321548927052</c:v>
                </c:pt>
                <c:pt idx="69">
                  <c:v>-457.42347320333431</c:v>
                </c:pt>
                <c:pt idx="70">
                  <c:v>-464.23841081077256</c:v>
                </c:pt>
                <c:pt idx="71">
                  <c:v>-471.09123001442543</c:v>
                </c:pt>
                <c:pt idx="72">
                  <c:v>-477.98790629723106</c:v>
                </c:pt>
                <c:pt idx="73">
                  <c:v>-484.9336445917146</c:v>
                </c:pt>
                <c:pt idx="74">
                  <c:v>-491.92650133601836</c:v>
                </c:pt>
                <c:pt idx="75">
                  <c:v>-498.95414747875645</c:v>
                </c:pt>
                <c:pt idx="76">
                  <c:v>-505.99710437466752</c:v>
                </c:pt>
                <c:pt idx="77">
                  <c:v>-513.0349634184895</c:v>
                </c:pt>
                <c:pt idx="78">
                  <c:v>-520.05068326417859</c:v>
                </c:pt>
                <c:pt idx="79">
                  <c:v>-527.03194962683324</c:v>
                </c:pt>
                <c:pt idx="80">
                  <c:v>-533.97079595227376</c:v>
                </c:pt>
                <c:pt idx="81">
                  <c:v>-540.86268063391572</c:v>
                </c:pt>
                <c:pt idx="82">
                  <c:v>-547.70701051187689</c:v>
                </c:pt>
                <c:pt idx="83">
                  <c:v>-554.5018665657019</c:v>
                </c:pt>
                <c:pt idx="84">
                  <c:v>-561.24796969352917</c:v>
                </c:pt>
                <c:pt idx="85">
                  <c:v>-567.94701600196913</c:v>
                </c:pt>
                <c:pt idx="86">
                  <c:v>-574.60114351830396</c:v>
                </c:pt>
                <c:pt idx="87">
                  <c:v>-581.21272351580353</c:v>
                </c:pt>
                <c:pt idx="88">
                  <c:v>-587.78421740691078</c:v>
                </c:pt>
                <c:pt idx="89">
                  <c:v>-594.31808100788828</c:v>
                </c:pt>
                <c:pt idx="90">
                  <c:v>-600.81670267803054</c:v>
                </c:pt>
                <c:pt idx="91">
                  <c:v>-607.28236542810123</c:v>
                </c:pt>
                <c:pt idx="92">
                  <c:v>-613.71722578280685</c:v>
                </c:pt>
                <c:pt idx="93">
                  <c:v>-620.12330417223563</c:v>
                </c:pt>
                <c:pt idx="94">
                  <c:v>-626.50248308643938</c:v>
                </c:pt>
                <c:pt idx="95">
                  <c:v>-632.8565102898832</c:v>
                </c:pt>
                <c:pt idx="96">
                  <c:v>-639.18700516153831</c:v>
                </c:pt>
                <c:pt idx="97">
                  <c:v>-645.49546677918943</c:v>
                </c:pt>
                <c:pt idx="98">
                  <c:v>-651.78328276039247</c:v>
                </c:pt>
                <c:pt idx="99">
                  <c:v>-658.05173814909574</c:v>
                </c:pt>
                <c:pt idx="100">
                  <c:v>-664.30202382633934</c:v>
                </c:pt>
                <c:pt idx="101">
                  <c:v>-670.53524404703978</c:v>
                </c:pt>
                <c:pt idx="102">
                  <c:v>-676.75242277800248</c:v>
                </c:pt>
                <c:pt idx="103">
                  <c:v>-682.95450854558828</c:v>
                </c:pt>
                <c:pt idx="104">
                  <c:v>-689.14237750302868</c:v>
                </c:pt>
                <c:pt idx="105">
                  <c:v>-695.31683440364998</c:v>
                </c:pt>
                <c:pt idx="106">
                  <c:v>-701.47861112429246</c:v>
                </c:pt>
                <c:pt idx="107">
                  <c:v>-707.62836233212897</c:v>
                </c:pt>
                <c:pt idx="108">
                  <c:v>-713.76665784291663</c:v>
                </c:pt>
                <c:pt idx="109">
                  <c:v>-719.89397120362139</c:v>
                </c:pt>
                <c:pt idx="110">
                  <c:v>-726.01066408680606</c:v>
                </c:pt>
                <c:pt idx="111">
                  <c:v>-732.11696626841626</c:v>
                </c:pt>
                <c:pt idx="112">
                  <c:v>-738.21295135968421</c:v>
                </c:pt>
                <c:pt idx="113">
                  <c:v>-744.29850918484976</c:v>
                </c:pt>
                <c:pt idx="114">
                  <c:v>-750.37331684600872</c:v>
                </c:pt>
                <c:pt idx="115">
                  <c:v>-756.43681214655498</c:v>
                </c:pt>
                <c:pt idx="116">
                  <c:v>-762.48817504865428</c:v>
                </c:pt>
                <c:pt idx="117">
                  <c:v>-768.52632480658895</c:v>
                </c:pt>
                <c:pt idx="118">
                  <c:v>-774.54994150568666</c:v>
                </c:pt>
                <c:pt idx="119">
                  <c:v>-780.55751972272049</c:v>
                </c:pt>
                <c:pt idx="120">
                  <c:v>-786.54745773328466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5-BC5B-442F-9404-227AAD58665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535535727"/>
        <c:axId val="468761695"/>
      </c:scatterChart>
      <c:valAx>
        <c:axId val="535535727"/>
        <c:scaling>
          <c:orientation val="minMax"/>
          <c:max val="14"/>
          <c:min val="-5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sz="1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</a:t>
                </a:r>
                <a:endParaRPr lang="en-IN" sz="12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c:rich>
          </c:tx>
          <c:layout>
            <c:manualLayout>
              <c:xMode val="edge"/>
              <c:yMode val="edge"/>
              <c:x val="0.49943744421606823"/>
              <c:y val="0.92432432432432432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in"/>
        <c:minorTickMark val="none"/>
        <c:tickLblPos val="low"/>
        <c:spPr>
          <a:solidFill>
            <a:schemeClr val="bg1"/>
          </a:solidFill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ysClr val="windowText" lastClr="000000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68761695"/>
        <c:crossesAt val="-850"/>
        <c:crossBetween val="midCat"/>
      </c:valAx>
      <c:valAx>
        <c:axId val="468761695"/>
        <c:scaling>
          <c:orientation val="minMax"/>
          <c:max val="0"/>
          <c:min val="-800"/>
        </c:scaling>
        <c:delete val="0"/>
        <c:axPos val="l"/>
        <c:title>
          <c:tx>
            <c:rich>
              <a:bodyPr rot="0" spcFirstLastPara="1" vertOverflow="ellipsis" wrap="square" anchor="ctr" anchorCtr="1"/>
              <a:lstStyle/>
              <a:p>
                <a:pPr>
                  <a:defRPr sz="12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defRPr>
                </a:pPr>
                <a:r>
                  <a:rPr lang="en-US" sz="1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z</a:t>
                </a:r>
                <a:endParaRPr lang="en-IN" sz="12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wrap="square" anchor="ctr" anchorCtr="1"/>
            <a:lstStyle/>
            <a:p>
              <a:pPr>
                <a:defRPr sz="12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defRPr>
              </a:pPr>
              <a:endParaRPr lang="en-US"/>
            </a:p>
          </c:txPr>
        </c:title>
        <c:numFmt formatCode="General" sourceLinked="1"/>
        <c:majorTickMark val="in"/>
        <c:minorTickMark val="none"/>
        <c:tickLblPos val="low"/>
        <c:spPr>
          <a:noFill/>
          <a:ln w="6350" cap="flat" cmpd="sng" algn="ctr">
            <a:solidFill>
              <a:schemeClr val="tx1"/>
            </a:solidFill>
            <a:prstDash val="solid"/>
            <a:miter lim="800000"/>
          </a:ln>
          <a:effectLst/>
        </c:spPr>
        <c:txPr>
          <a:bodyPr rot="0" spcFirstLastPara="1" vertOverflow="ellipsis" wrap="square" anchor="ctr" anchorCtr="1"/>
          <a:lstStyle/>
          <a:p>
            <a:pPr>
              <a:defRPr sz="9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35535727"/>
        <c:crossesAt val="-6"/>
        <c:crossBetween val="midCat"/>
      </c:valAx>
      <c:spPr>
        <a:noFill/>
        <a:ln>
          <a:solidFill>
            <a:schemeClr val="tx1"/>
          </a:solidFill>
        </a:ln>
        <a:effectLst>
          <a:glow rad="127000">
            <a:schemeClr val="tx1"/>
          </a:glow>
        </a:effectLst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solidFill>
      <a:schemeClr val="bg1"/>
    </a:solidFill>
    <a:ln w="9525" cap="flat" cmpd="sng" algn="ctr">
      <a:noFill/>
      <a:round/>
    </a:ln>
    <a:effectLst/>
  </c:spPr>
  <c:txPr>
    <a:bodyPr/>
    <a:lstStyle/>
    <a:p>
      <a:pPr>
        <a:defRPr/>
      </a:pPr>
      <a:endParaRPr lang="en-US"/>
    </a:p>
  </c:txPr>
  <c:externalData r:id="rId4">
    <c:autoUpdate val="0"/>
  </c:externalData>
  <c:userShapes r:id="rId5"/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rawings/drawing1.xml><?xml version="1.0" encoding="utf-8"?>
<c:userShapes xmlns:c="http://schemas.openxmlformats.org/drawingml/2006/chart">
  <cdr:relSizeAnchor xmlns:cdr="http://schemas.openxmlformats.org/drawingml/2006/chartDrawing">
    <cdr:from>
      <cdr:x>0.88534</cdr:x>
      <cdr:y>0.18272</cdr:y>
    </cdr:from>
    <cdr:to>
      <cdr:x>0.89732</cdr:x>
      <cdr:y>0.21221</cdr:y>
    </cdr:to>
    <cdr:sp macro="" textlink="">
      <cdr:nvSpPr>
        <cdr:cNvPr id="2" name="Oval 1">
          <a:extLst xmlns:a="http://schemas.openxmlformats.org/drawingml/2006/main">
            <a:ext uri="{FF2B5EF4-FFF2-40B4-BE49-F238E27FC236}">
              <a16:creationId xmlns:a16="http://schemas.microsoft.com/office/drawing/2014/main" id="{EFB1E8D2-0094-485C-AAA2-3746AF8F4333}"/>
            </a:ext>
          </a:extLst>
        </cdr:cNvPr>
        <cdr:cNvSpPr>
          <a:spLocks xmlns:a="http://schemas.openxmlformats.org/drawingml/2006/main"/>
        </cdr:cNvSpPr>
      </cdr:nvSpPr>
      <cdr:spPr>
        <a:xfrm xmlns:a="http://schemas.openxmlformats.org/drawingml/2006/main" flipV="1">
          <a:off x="4778288" y="515172"/>
          <a:ext cx="64654" cy="83128"/>
        </a:xfrm>
        <a:prstGeom xmlns:a="http://schemas.openxmlformats.org/drawingml/2006/main" prst="ellipse">
          <a:avLst/>
        </a:prstGeom>
        <a:solidFill xmlns:a="http://schemas.openxmlformats.org/drawingml/2006/main">
          <a:srgbClr val="A5A5A5"/>
        </a:solidFill>
        <a:ln xmlns:a="http://schemas.openxmlformats.org/drawingml/2006/main" w="12700" cap="flat" cmpd="sng" algn="ctr">
          <a:solidFill>
            <a:srgbClr val="A5A5A5"/>
          </a:solidFill>
          <a:prstDash val="solid"/>
          <a:miter lim="800000"/>
        </a:ln>
        <a:effectLst xmlns:a="http://schemas.openxmlformats.org/drawingml/2006/main"/>
      </cdr:spPr>
      <cdr:txBody>
        <a:bodyPr xmlns:a="http://schemas.openxmlformats.org/drawingml/2006/main" rot="0" spcFirstLastPara="0" vert="horz" wrap="square" lIns="91440" tIns="45720" rIns="91440" bIns="45720" numCol="1" spcCol="0" rtlCol="0" fromWordArt="0" anchor="ctr" anchorCtr="0" forceAA="0" compatLnSpc="1">
          <a:prstTxWarp prst="textNoShape">
            <a:avLst/>
          </a:prstTxWarp>
          <a:noAutofit/>
        </a:bodyPr>
        <a:lstStyle xmlns:a="http://schemas.openxmlformats.org/drawingml/2006/main"/>
        <a:p xmlns:a="http://schemas.openxmlformats.org/drawingml/2006/main">
          <a:endParaRPr lang="en-IN"/>
        </a:p>
      </cdr:txBody>
    </cdr:sp>
  </cdr:relSizeAnchor>
</c:userShape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37FFB07-1FAB-4892-AF79-A579EF5D44AE}" type="datetimeFigureOut">
              <a:rPr lang="en-IN" smtClean="0"/>
              <a:t>30-03-2023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1AA5DFB-D08B-4923-BBA7-71F644401F0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401002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AA5DFB-D08B-4923-BBA7-71F644401F01}" type="slidenum">
              <a:rPr lang="en-IN" smtClean="0"/>
              <a:t>22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612543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E4BE1C-F5D7-4E2B-9B98-9FB2BBAEF64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941DD71-579A-4E7D-917D-3A24F26211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68E785-4E17-4B1D-9265-AE8D29D68E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8EF187-C267-4614-AAA3-1C7EE2567EAD}" type="datetime1">
              <a:rPr lang="en-IN" smtClean="0"/>
              <a:t>30-03-2023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B19065-8500-4E92-9368-F27D965E9A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482AC1-729A-4D96-9169-3BBBB9565B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3CAD28-B1A9-4A64-9DD6-3376C7DEC3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987317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20C09D-1D36-4887-B587-474A9BF158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50CFDD-DA14-46D8-A93B-39DD37DEB2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522398-064F-410A-B2A1-AD4F17F5E2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6B69D2-E467-4E4F-9AA4-8E41DB580FE8}" type="datetime1">
              <a:rPr lang="en-IN" smtClean="0"/>
              <a:t>30-03-2023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7D46F7-1BFE-487F-9BA8-4AD3DC53B5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A1D268-A9CF-4735-B6D4-6903F76E94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3CAD28-B1A9-4A64-9DD6-3376C7DEC3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525481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C74B52-A28F-403D-A267-C02F1A7C77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60D94D-6E53-4716-831E-A2F3B50898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4805C-DCE8-4D5D-80A4-511ADE9832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CC6BEC-D221-4C96-8A19-D66014993A94}" type="datetime1">
              <a:rPr lang="en-IN" smtClean="0"/>
              <a:t>30-03-2023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489CB1-EDF9-4115-9B18-EF0AAFB0A5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8CC4F0-AFAC-4BB1-B6C9-926B663B0E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3CAD28-B1A9-4A64-9DD6-3376C7DEC3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911911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FFE170-C5E0-444B-9B66-E7A39CBD45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407FCF-7637-44F4-8C2D-F623893DF3A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F8C8F77-EDF5-4D37-9FF9-0454F6BE99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0DE9717-52C2-45E3-9876-6B37DFB4A6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3363C2-C151-4AD8-A3AB-6B8A4BEA7BF6}" type="datetime1">
              <a:rPr lang="en-IN" smtClean="0"/>
              <a:t>30-03-2023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F9EF595-5A59-470A-A964-18E70270AD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766ED1A-C750-48C0-862C-1D8D5DAFF8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3CAD28-B1A9-4A64-9DD6-3376C7DEC3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354402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F2EE2C-BC9E-4852-A45D-C14A12A45F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B02565-E658-4843-A3E5-F3AF2219FD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DDA024B-A895-4D8A-82BE-43EB20F107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A60EB43-C75C-43B6-BAC9-862ED1D57B0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2C7E5AC-10E6-40A0-9E35-25C7755BA6C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457CFA7-E492-4A8B-A432-F819FFCDEC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47D335-11D9-4C63-B4C0-108561BDCFE9}" type="datetime1">
              <a:rPr lang="en-IN" smtClean="0"/>
              <a:t>30-03-2023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673507C-2EAE-41DA-B643-D94AD3C79A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1F1F233-2C8C-4DCE-BA47-BB52875A23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3CAD28-B1A9-4A64-9DD6-3376C7DEC3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834392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D5061D-B35F-4572-B766-4F181C1E80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37D7703-9A4B-4F6B-8444-CA3CC38BAB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7FCFAB-0A86-43DD-81A1-184076A8A8F2}" type="datetime1">
              <a:rPr lang="en-IN" smtClean="0"/>
              <a:t>30-03-2023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5BF4714-8F44-4C07-8E12-B04F7CF598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7D396A-C077-41B3-AF48-0474F50D7F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3CAD28-B1A9-4A64-9DD6-3376C7DEC3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408613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5A90A05-69CE-4480-9AED-ADB1418FF0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A78E76-82EC-474C-8D4F-02572C8971EF}" type="datetime1">
              <a:rPr lang="en-IN" smtClean="0"/>
              <a:t>30-03-2023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ECB15D6-D26A-4CE2-8B17-C1706BC8F4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BA27DE-F6B9-4043-ADB8-7C45B3F3D2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3CAD28-B1A9-4A64-9DD6-3376C7DEC3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292097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8A9887-1D40-433D-AD04-BA9426D626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FCA491-C9BF-4C50-818C-E21FD89E8B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43FDBC2-7038-476E-9DFF-1C6B275BCD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BD571FD-E05A-48C9-91A0-20D5ADF415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560101-D37B-4EEE-98C5-A134D5C909DC}" type="datetime1">
              <a:rPr lang="en-IN" smtClean="0"/>
              <a:t>30-03-2023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DEFB8B-B953-43F1-B197-038F709CDD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97B83E2-1F8B-40BD-A038-B024FF8336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3CAD28-B1A9-4A64-9DD6-3376C7DEC3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980419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36334B-FF5E-47A6-964B-361EA76556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6E31C06-AE02-44CC-A8EB-7E0560E242F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09D8B61-E7A5-4DFF-9975-A6E8E660F46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317BE1-E9DE-480D-8753-104A410F0E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370486-A75F-4A38-8D93-075502D4C40D}" type="datetime1">
              <a:rPr lang="en-IN" smtClean="0"/>
              <a:t>30-03-2023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B1FEDF0-0F31-4EC4-B49C-D71645E8F3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861969-2518-4CAF-BF34-2EF630660D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3CAD28-B1A9-4A64-9DD6-3376C7DEC3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365798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D5E25F-7DCC-4516-9201-5FD9E3C305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405347A-E777-4680-A14C-A142575DB36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BFA520-E1AB-471F-81E4-499E9909A4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4A6F86-58D3-46A6-B243-1D708C90AAE4}" type="datetime1">
              <a:rPr lang="en-IN" smtClean="0"/>
              <a:t>30-03-2023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6DAC12-821B-4943-89B1-2F60A56F0D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5670C4-27D1-4B32-B489-3F9D503877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3CAD28-B1A9-4A64-9DD6-3376C7DEC3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914821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3452768-EA20-4CE9-8937-196B57AC0F3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04ABEE6-03DC-4EE6-BB62-0E418ABFE51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DBD42E-DDBE-4F63-A9ED-BBB7704609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DD3430-AAC5-4070-8992-43FD37914E7F}" type="datetime1">
              <a:rPr lang="en-IN" smtClean="0"/>
              <a:t>30-03-2023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E92CC9-9F64-4FC5-9D43-DBA3B23A9C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6DBBAF-2F2A-47C5-AE46-973270A8E2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3CAD28-B1A9-4A64-9DD6-3376C7DEC3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477279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E07CEAA-1430-4B25-8198-672C723EF3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125C9D-740B-40DC-ADFE-5D70CF7BB2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CF355F-09F1-4476-AFBC-0907F2BC662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6D6180-2925-4575-9243-00E4C6ACAAE7}" type="datetime1">
              <a:rPr lang="en-IN" smtClean="0"/>
              <a:t>30-03-2023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349584-7137-4ADC-9454-F2D736105CA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6E164A-F0E7-46CE-A590-98903291DA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3CAD28-B1A9-4A64-9DD6-3376C7DEC3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471634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4.png"/><Relationship Id="rId5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0.png"/><Relationship Id="rId4" Type="http://schemas.openxmlformats.org/officeDocument/2006/relationships/image" Target="../media/image4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7" Type="http://schemas.openxmlformats.org/officeDocument/2006/relationships/image" Target="../media/image58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7.png"/><Relationship Id="rId5" Type="http://schemas.openxmlformats.org/officeDocument/2006/relationships/image" Target="../media/image56.png"/><Relationship Id="rId4" Type="http://schemas.openxmlformats.org/officeDocument/2006/relationships/image" Target="../media/image1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7" Type="http://schemas.openxmlformats.org/officeDocument/2006/relationships/image" Target="../media/image23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10.png"/><Relationship Id="rId5" Type="http://schemas.openxmlformats.org/officeDocument/2006/relationships/image" Target="../media/image172.png"/><Relationship Id="rId4" Type="http://schemas.openxmlformats.org/officeDocument/2006/relationships/image" Target="../media/image161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0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0.png"/><Relationship Id="rId7" Type="http://schemas.openxmlformats.org/officeDocument/2006/relationships/image" Target="../media/image28.jpeg"/><Relationship Id="rId2" Type="http://schemas.openxmlformats.org/officeDocument/2006/relationships/image" Target="../media/image23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5.png"/><Relationship Id="rId5" Type="http://schemas.openxmlformats.org/officeDocument/2006/relationships/image" Target="../media/image340.png"/><Relationship Id="rId4" Type="http://schemas.openxmlformats.org/officeDocument/2006/relationships/image" Target="../media/image33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4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9.png"/><Relationship Id="rId5" Type="http://schemas.openxmlformats.org/officeDocument/2006/relationships/image" Target="../media/image68.png"/><Relationship Id="rId4" Type="http://schemas.openxmlformats.org/officeDocument/2006/relationships/image" Target="../media/image49.jpe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0.png"/><Relationship Id="rId4" Type="http://schemas.openxmlformats.org/officeDocument/2006/relationships/image" Target="../media/image59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6.png"/><Relationship Id="rId5" Type="http://schemas.openxmlformats.org/officeDocument/2006/relationships/image" Target="../media/image75.png"/><Relationship Id="rId4" Type="http://schemas.openxmlformats.org/officeDocument/2006/relationships/image" Target="../media/image74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png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3.png"/><Relationship Id="rId4" Type="http://schemas.openxmlformats.org/officeDocument/2006/relationships/image" Target="../media/image79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2.png"/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5.png"/><Relationship Id="rId5" Type="http://schemas.openxmlformats.org/officeDocument/2006/relationships/image" Target="../media/image84.png"/><Relationship Id="rId4" Type="http://schemas.openxmlformats.org/officeDocument/2006/relationships/image" Target="../media/image83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7.png"/><Relationship Id="rId7" Type="http://schemas.openxmlformats.org/officeDocument/2006/relationships/image" Target="../media/image91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0.png"/><Relationship Id="rId5" Type="http://schemas.openxmlformats.org/officeDocument/2006/relationships/image" Target="../media/image89.png"/><Relationship Id="rId4" Type="http://schemas.openxmlformats.org/officeDocument/2006/relationships/image" Target="../media/image88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/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0.png"/><Relationship Id="rId4" Type="http://schemas.openxmlformats.org/officeDocument/2006/relationships/image" Target="../media/image77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png"/><Relationship Id="rId2" Type="http://schemas.openxmlformats.org/officeDocument/2006/relationships/image" Target="../media/image9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8.png"/><Relationship Id="rId4" Type="http://schemas.openxmlformats.org/officeDocument/2006/relationships/image" Target="../media/image97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6.png"/><Relationship Id="rId2" Type="http://schemas.openxmlformats.org/officeDocument/2006/relationships/image" Target="../media/image9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1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image" Target="../media/image102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9.png"/><Relationship Id="rId3" Type="http://schemas.openxmlformats.org/officeDocument/2006/relationships/image" Target="../media/image93.png"/><Relationship Id="rId7" Type="http://schemas.openxmlformats.org/officeDocument/2006/relationships/image" Target="../media/image108.png"/><Relationship Id="rId12" Type="http://schemas.openxmlformats.org/officeDocument/2006/relationships/image" Target="../media/image113.png"/><Relationship Id="rId2" Type="http://schemas.openxmlformats.org/officeDocument/2006/relationships/image" Target="../media/image9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7.png"/><Relationship Id="rId11" Type="http://schemas.openxmlformats.org/officeDocument/2006/relationships/image" Target="../media/image112.png"/><Relationship Id="rId5" Type="http://schemas.openxmlformats.org/officeDocument/2006/relationships/image" Target="../media/image106.png"/><Relationship Id="rId10" Type="http://schemas.openxmlformats.org/officeDocument/2006/relationships/image" Target="../media/image111.png"/><Relationship Id="rId4" Type="http://schemas.openxmlformats.org/officeDocument/2006/relationships/image" Target="../media/image94.png"/><Relationship Id="rId9" Type="http://schemas.openxmlformats.org/officeDocument/2006/relationships/image" Target="../media/image110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png"/><Relationship Id="rId7" Type="http://schemas.openxmlformats.org/officeDocument/2006/relationships/image" Target="../media/image105.png"/><Relationship Id="rId2" Type="http://schemas.openxmlformats.org/officeDocument/2006/relationships/image" Target="../media/image9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8.png"/><Relationship Id="rId5" Type="http://schemas.openxmlformats.org/officeDocument/2006/relationships/image" Target="../media/image104.png"/><Relationship Id="rId4" Type="http://schemas.openxmlformats.org/officeDocument/2006/relationships/image" Target="../media/image103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5.png"/><Relationship Id="rId2" Type="http://schemas.openxmlformats.org/officeDocument/2006/relationships/image" Target="../media/image11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23.png"/><Relationship Id="rId4" Type="http://schemas.openxmlformats.org/officeDocument/2006/relationships/image" Target="../media/image122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7.png"/><Relationship Id="rId7" Type="http://schemas.openxmlformats.org/officeDocument/2006/relationships/image" Target="../media/image650.png"/><Relationship Id="rId12" Type="http://schemas.openxmlformats.org/officeDocument/2006/relationships/image" Target="../media/image129.png"/><Relationship Id="rId2" Type="http://schemas.openxmlformats.org/officeDocument/2006/relationships/image" Target="../media/image11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40.png"/><Relationship Id="rId11" Type="http://schemas.openxmlformats.org/officeDocument/2006/relationships/image" Target="../media/image120.png"/><Relationship Id="rId10" Type="http://schemas.openxmlformats.org/officeDocument/2006/relationships/image" Target="../media/image127.png"/><Relationship Id="rId4" Type="http://schemas.openxmlformats.org/officeDocument/2006/relationships/image" Target="../media/image119.png"/><Relationship Id="rId9" Type="http://schemas.openxmlformats.org/officeDocument/2006/relationships/image" Target="../media/image670.png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8.png"/><Relationship Id="rId3" Type="http://schemas.openxmlformats.org/officeDocument/2006/relationships/image" Target="../media/image124.png"/><Relationship Id="rId7" Type="http://schemas.openxmlformats.org/officeDocument/2006/relationships/image" Target="../media/image135.png"/><Relationship Id="rId2" Type="http://schemas.openxmlformats.org/officeDocument/2006/relationships/image" Target="../media/image12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4.png"/><Relationship Id="rId5" Type="http://schemas.openxmlformats.org/officeDocument/2006/relationships/image" Target="../media/image126.png"/><Relationship Id="rId10" Type="http://schemas.openxmlformats.org/officeDocument/2006/relationships/image" Target="../media/image130.png"/><Relationship Id="rId4" Type="http://schemas.openxmlformats.org/officeDocument/2006/relationships/image" Target="../media/image125.png"/><Relationship Id="rId9" Type="http://schemas.openxmlformats.org/officeDocument/2006/relationships/image" Target="../media/image137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0.png"/><Relationship Id="rId2" Type="http://schemas.openxmlformats.org/officeDocument/2006/relationships/image" Target="../media/image139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32.png"/><Relationship Id="rId4" Type="http://schemas.openxmlformats.org/officeDocument/2006/relationships/image" Target="../media/image131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6.png"/><Relationship Id="rId7" Type="http://schemas.openxmlformats.org/officeDocument/2006/relationships/image" Target="../media/image148.png"/><Relationship Id="rId2" Type="http://schemas.openxmlformats.org/officeDocument/2006/relationships/image" Target="../media/image13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7.png"/><Relationship Id="rId5" Type="http://schemas.openxmlformats.org/officeDocument/2006/relationships/image" Target="../media/image141.png"/><Relationship Id="rId4" Type="http://schemas.openxmlformats.org/officeDocument/2006/relationships/image" Target="../media/image138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3.png"/><Relationship Id="rId2" Type="http://schemas.openxmlformats.org/officeDocument/2006/relationships/image" Target="../media/image14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4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6.png"/><Relationship Id="rId2" Type="http://schemas.openxmlformats.org/officeDocument/2006/relationships/image" Target="../media/image14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9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4.png"/><Relationship Id="rId2" Type="http://schemas.openxmlformats.org/officeDocument/2006/relationships/image" Target="../media/image15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52.png"/><Relationship Id="rId4" Type="http://schemas.openxmlformats.org/officeDocument/2006/relationships/image" Target="../media/image151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6.png"/><Relationship Id="rId7" Type="http://schemas.openxmlformats.org/officeDocument/2006/relationships/image" Target="../media/image154.png"/><Relationship Id="rId2" Type="http://schemas.openxmlformats.org/officeDocument/2006/relationships/image" Target="../media/image15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9.png"/><Relationship Id="rId5" Type="http://schemas.openxmlformats.org/officeDocument/2006/relationships/image" Target="../media/image158.png"/><Relationship Id="rId4" Type="http://schemas.openxmlformats.org/officeDocument/2006/relationships/image" Target="../media/image157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1.png"/><Relationship Id="rId2" Type="http://schemas.openxmlformats.org/officeDocument/2006/relationships/image" Target="../media/image16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62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3.png"/><Relationship Id="rId7" Type="http://schemas.openxmlformats.org/officeDocument/2006/relationships/image" Target="../media/image168.png"/><Relationship Id="rId2" Type="http://schemas.openxmlformats.org/officeDocument/2006/relationships/image" Target="../media/image15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7.png"/><Relationship Id="rId5" Type="http://schemas.openxmlformats.org/officeDocument/2006/relationships/image" Target="../media/image165.png"/><Relationship Id="rId4" Type="http://schemas.openxmlformats.org/officeDocument/2006/relationships/image" Target="../media/image164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9.png"/><Relationship Id="rId2" Type="http://schemas.openxmlformats.org/officeDocument/2006/relationships/image" Target="../media/image166.png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0.png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4.png"/><Relationship Id="rId2" Type="http://schemas.openxmlformats.org/officeDocument/2006/relationships/image" Target="../media/image18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71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7.png"/><Relationship Id="rId2" Type="http://schemas.openxmlformats.org/officeDocument/2006/relationships/image" Target="../media/image172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88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3.png"/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5.png"/><Relationship Id="rId2" Type="http://schemas.openxmlformats.org/officeDocument/2006/relationships/image" Target="../media/image17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93.png"/><Relationship Id="rId4" Type="http://schemas.openxmlformats.org/officeDocument/2006/relationships/image" Target="../media/image192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0.png"/><Relationship Id="rId2" Type="http://schemas.openxmlformats.org/officeDocument/2006/relationships/image" Target="../media/image176.emf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0.png"/><Relationship Id="rId2" Type="http://schemas.openxmlformats.org/officeDocument/2006/relationships/image" Target="../media/image177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97.png"/><Relationship Id="rId4" Type="http://schemas.openxmlformats.org/officeDocument/2006/relationships/image" Target="../media/image390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0.png"/><Relationship Id="rId2" Type="http://schemas.openxmlformats.org/officeDocument/2006/relationships/image" Target="../media/image17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2.png"/><Relationship Id="rId5" Type="http://schemas.openxmlformats.org/officeDocument/2006/relationships/image" Target="../media/image182.png"/><Relationship Id="rId4" Type="http://schemas.openxmlformats.org/officeDocument/2006/relationships/image" Target="../media/image181.pn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7.png"/><Relationship Id="rId2" Type="http://schemas.openxmlformats.org/officeDocument/2006/relationships/image" Target="../media/image185.png"/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9.png"/><Relationship Id="rId2" Type="http://schemas.openxmlformats.org/officeDocument/2006/relationships/image" Target="../media/image186.png"/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00.png"/><Relationship Id="rId2" Type="http://schemas.openxmlformats.org/officeDocument/2006/relationships/image" Target="../media/image1690.png"/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70.png"/><Relationship Id="rId3" Type="http://schemas.openxmlformats.org/officeDocument/2006/relationships/image" Target="../media/image191.png"/><Relationship Id="rId7" Type="http://schemas.openxmlformats.org/officeDocument/2006/relationships/image" Target="../media/image176.png"/><Relationship Id="rId2" Type="http://schemas.openxmlformats.org/officeDocument/2006/relationships/image" Target="../media/image19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6.png"/><Relationship Id="rId5" Type="http://schemas.openxmlformats.org/officeDocument/2006/relationships/image" Target="../media/image195.png"/><Relationship Id="rId4" Type="http://schemas.openxmlformats.org/officeDocument/2006/relationships/image" Target="../media/image194.png"/><Relationship Id="rId9" Type="http://schemas.openxmlformats.org/officeDocument/2006/relationships/image" Target="../media/image1780.png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9.png"/><Relationship Id="rId2" Type="http://schemas.openxmlformats.org/officeDocument/2006/relationships/image" Target="../media/image19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01.png"/><Relationship Id="rId4" Type="http://schemas.openxmlformats.org/officeDocument/2006/relationships/image" Target="../media/image20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97422" y="405671"/>
            <a:ext cx="10797151" cy="2127464"/>
          </a:xfrm>
        </p:spPr>
        <p:txBody>
          <a:bodyPr>
            <a:normAutofit/>
          </a:bodyPr>
          <a:lstStyle/>
          <a:p>
            <a:r>
              <a:rPr lang="en-GB" sz="5400" b="1">
                <a:solidFill>
                  <a:srgbClr val="002060"/>
                </a:solidFill>
                <a:cs typeface="Calibri Light"/>
              </a:rPr>
              <a:t>Hydrodynamics of </a:t>
            </a:r>
            <a:r>
              <a:rPr lang="en-GB" sz="5400" b="1" dirty="0">
                <a:solidFill>
                  <a:srgbClr val="002060"/>
                </a:solidFill>
                <a:cs typeface="Calibri Light"/>
              </a:rPr>
              <a:t>Fractal Aggregates</a:t>
            </a:r>
            <a:endParaRPr lang="en-GB" sz="5400" b="1" dirty="0">
              <a:solidFill>
                <a:srgbClr val="002060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88074" y="3554188"/>
            <a:ext cx="9144000" cy="500405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GB" sz="1800">
                <a:cs typeface="Calibri"/>
              </a:rPr>
              <a:t>7th July </a:t>
            </a:r>
            <a:r>
              <a:rPr lang="en-GB" sz="1800" dirty="0">
                <a:cs typeface="Calibri"/>
              </a:rPr>
              <a:t>2021</a:t>
            </a:r>
          </a:p>
          <a:p>
            <a:endParaRPr lang="en-GB" sz="1800" dirty="0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D2DB309E-C607-4955-B229-37C9FF94BD5E}"/>
              </a:ext>
            </a:extLst>
          </p:cNvPr>
          <p:cNvSpPr txBox="1">
            <a:spLocks/>
          </p:cNvSpPr>
          <p:nvPr/>
        </p:nvSpPr>
        <p:spPr>
          <a:xfrm>
            <a:off x="1523997" y="2793270"/>
            <a:ext cx="9144000" cy="50040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>
                <a:cs typeface="Calibri"/>
              </a:rPr>
              <a:t>M.Tech Thesis Defense</a:t>
            </a:r>
            <a:endParaRPr lang="en-GB" dirty="0">
              <a:cs typeface="Calibri"/>
            </a:endParaRPr>
          </a:p>
          <a:p>
            <a:endParaRPr lang="en-GB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10F10DE-D396-400A-A61B-B199422E9A81}"/>
              </a:ext>
            </a:extLst>
          </p:cNvPr>
          <p:cNvSpPr txBox="1"/>
          <p:nvPr/>
        </p:nvSpPr>
        <p:spPr>
          <a:xfrm>
            <a:off x="4125094" y="4054593"/>
            <a:ext cx="394180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000" b="1">
                <a:solidFill>
                  <a:srgbClr val="C00000"/>
                </a:solidFill>
              </a:rPr>
              <a:t>Ashwin - 193020020 </a:t>
            </a:r>
            <a:endParaRPr lang="en-IN" sz="2000" b="1" dirty="0">
              <a:solidFill>
                <a:srgbClr val="C0000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59DCEFE-5C06-488A-BBC6-C399FC8B0370}"/>
              </a:ext>
            </a:extLst>
          </p:cNvPr>
          <p:cNvSpPr txBox="1"/>
          <p:nvPr/>
        </p:nvSpPr>
        <p:spPr>
          <a:xfrm>
            <a:off x="3682314" y="4893277"/>
            <a:ext cx="473230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i="1"/>
              <a:t>Supervisor: </a:t>
            </a:r>
            <a:r>
              <a:rPr lang="en-IN"/>
              <a:t>Prof</a:t>
            </a:r>
            <a:r>
              <a:rPr lang="en-IN" dirty="0"/>
              <a:t>. </a:t>
            </a:r>
            <a:r>
              <a:rPr lang="en-IN"/>
              <a:t>Jyoti Seth</a:t>
            </a:r>
            <a:br>
              <a:rPr lang="en-IN" b="1" i="1"/>
            </a:br>
            <a:r>
              <a:rPr lang="en-IN" b="1" i="1"/>
              <a:t>Co-Supervisor: </a:t>
            </a:r>
            <a:r>
              <a:rPr lang="en-IN"/>
              <a:t>Prof</a:t>
            </a:r>
            <a:r>
              <a:rPr lang="en-IN" dirty="0"/>
              <a:t>. Y.S. </a:t>
            </a:r>
            <a:r>
              <a:rPr lang="en-IN" dirty="0" err="1"/>
              <a:t>Mayya</a:t>
            </a:r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3CDEC85-C6BB-464F-A658-F009DD5496FC}"/>
              </a:ext>
            </a:extLst>
          </p:cNvPr>
          <p:cNvSpPr/>
          <p:nvPr/>
        </p:nvSpPr>
        <p:spPr>
          <a:xfrm>
            <a:off x="174171" y="188686"/>
            <a:ext cx="11843657" cy="645885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9FF0D689-A2FA-4DFC-9563-B9319A89A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3CAD28-B1A9-4A64-9DD6-3376C7DEC3B0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911"/>
    </mc:Choice>
    <mc:Fallback xmlns="">
      <p:transition spd="slow" advTm="591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6F3E50-C905-43AC-8610-238BF6EB38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7259" y="406185"/>
            <a:ext cx="10515600" cy="746983"/>
          </a:xfrm>
        </p:spPr>
        <p:txBody>
          <a:bodyPr>
            <a:normAutofit/>
          </a:bodyPr>
          <a:lstStyle/>
          <a:p>
            <a:pPr algn="ctr"/>
            <a:r>
              <a:rPr lang="en-US" sz="32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MOTIVATION</a:t>
            </a:r>
            <a:endParaRPr lang="en-IN" sz="3200"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3925C6-60C0-453B-8C38-2847D8F888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7259" y="1240802"/>
            <a:ext cx="7599406" cy="5380767"/>
          </a:xfrm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</a:pPr>
            <a:r>
              <a:rPr lang="en-US" sz="1800" b="0" i="0" u="none" strike="noStrike" baseline="0">
                <a:latin typeface="Arial" panose="020B0604020202020204" pitchFamily="34" charset="0"/>
                <a:cs typeface="Arial" panose="020B0604020202020204" pitchFamily="34" charset="0"/>
              </a:rPr>
              <a:t>Release </a:t>
            </a:r>
            <a:r>
              <a:rPr lang="en-US" sz="1800" b="0" i="0" u="none" strike="noStrike" baseline="0" dirty="0">
                <a:latin typeface="Arial" panose="020B0604020202020204" pitchFamily="34" charset="0"/>
                <a:cs typeface="Arial" panose="020B0604020202020204" pitchFamily="34" charset="0"/>
              </a:rPr>
              <a:t>of nuclear aerosols can have health, environmental and geopolitical </a:t>
            </a:r>
            <a:r>
              <a:rPr lang="en-IN" sz="1800" b="0" i="0" u="none" strike="noStrike" baseline="0" dirty="0">
                <a:latin typeface="Arial" panose="020B0604020202020204" pitchFamily="34" charset="0"/>
                <a:cs typeface="Arial" panose="020B0604020202020204" pitchFamily="34" charset="0"/>
              </a:rPr>
              <a:t>implications</a:t>
            </a:r>
          </a:p>
          <a:p>
            <a:pPr algn="just">
              <a:lnSpc>
                <a:spcPct val="150000"/>
              </a:lnSpc>
            </a:pPr>
            <a:r>
              <a:rPr lang="en-IN" sz="1800" b="0" i="0" u="none" strike="noStrike" baseline="0" dirty="0">
                <a:latin typeface="Arial" panose="020B0604020202020204" pitchFamily="34" charset="0"/>
                <a:cs typeface="Arial" panose="020B0604020202020204" pitchFamily="34" charset="0"/>
              </a:rPr>
              <a:t>It is important to understand the deposition kinetics to design the containment zone</a:t>
            </a:r>
          </a:p>
          <a:p>
            <a:pPr algn="just">
              <a:lnSpc>
                <a:spcPct val="150000"/>
              </a:lnSpc>
            </a:pP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To obtain the </a:t>
            </a: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drag force 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acting on these aggregates.</a:t>
            </a:r>
            <a:endParaRPr lang="en-US" sz="1800" b="0" i="0" u="none" strike="noStrike" baseline="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50000"/>
              </a:lnSpc>
            </a:pPr>
            <a:r>
              <a:rPr lang="en-US" sz="1800" b="0" i="0" u="none" strike="noStrike" baseline="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Extent of fractality </a:t>
            </a:r>
            <a:r>
              <a:rPr lang="en-US" sz="1800" b="0" i="0" u="none" strike="noStrike" baseline="0" dirty="0">
                <a:latin typeface="Arial" panose="020B0604020202020204" pitchFamily="34" charset="0"/>
                <a:cs typeface="Arial" panose="020B0604020202020204" pitchFamily="34" charset="0"/>
              </a:rPr>
              <a:t>(compact, rarefied and highly rarefied) would depend on</a:t>
            </a:r>
          </a:p>
          <a:p>
            <a:pPr lvl="1" algn="just">
              <a:lnSpc>
                <a:spcPct val="150000"/>
              </a:lnSpc>
            </a:pPr>
            <a:r>
              <a:rPr lang="en-US" sz="1800" b="0" i="0" u="none" strike="noStrike" baseline="0" dirty="0">
                <a:latin typeface="Arial" panose="020B0604020202020204" pitchFamily="34" charset="0"/>
                <a:cs typeface="Arial" panose="020B0604020202020204" pitchFamily="34" charset="0"/>
              </a:rPr>
              <a:t>Concentration and chemical nature of materials release, and</a:t>
            </a:r>
          </a:p>
          <a:p>
            <a:pPr lvl="1" algn="just">
              <a:lnSpc>
                <a:spcPct val="150000"/>
              </a:lnSpc>
            </a:pPr>
            <a:r>
              <a:rPr lang="en-US" sz="1800" b="0" i="0" u="none" strike="noStrike" baseline="0" dirty="0">
                <a:latin typeface="Arial" panose="020B0604020202020204" pitchFamily="34" charset="0"/>
                <a:cs typeface="Arial" panose="020B0604020202020204" pitchFamily="34" charset="0"/>
              </a:rPr>
              <a:t>Process conditions in the containment.</a:t>
            </a:r>
          </a:p>
          <a:p>
            <a:pPr algn="just">
              <a:lnSpc>
                <a:spcPct val="150000"/>
              </a:lnSpc>
            </a:pPr>
            <a:r>
              <a:rPr lang="en-US" sz="1800" b="0" i="0" u="none" strike="noStrike" baseline="0" dirty="0">
                <a:latin typeface="Arial" panose="020B0604020202020204" pitchFamily="34" charset="0"/>
                <a:cs typeface="Arial" panose="020B0604020202020204" pitchFamily="34" charset="0"/>
              </a:rPr>
              <a:t>Accounting for the fractal nature of aggregates will be a valuable input in aerosol safety codes.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847C80E-CCB2-465C-93DE-22812A4B666C}"/>
              </a:ext>
            </a:extLst>
          </p:cNvPr>
          <p:cNvSpPr txBox="1"/>
          <p:nvPr/>
        </p:nvSpPr>
        <p:spPr>
          <a:xfrm>
            <a:off x="8610600" y="6001212"/>
            <a:ext cx="264125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C00000"/>
                </a:solidFill>
              </a:rPr>
              <a:t>Aggregates cannot be modelled as spherical!</a:t>
            </a:r>
          </a:p>
        </p:txBody>
      </p:sp>
      <p:pic>
        <p:nvPicPr>
          <p:cNvPr id="1030" name="Picture 6" descr="Image result for chernobyl nuclear power plant">
            <a:extLst>
              <a:ext uri="{FF2B5EF4-FFF2-40B4-BE49-F238E27FC236}">
                <a16:creationId xmlns:a16="http://schemas.microsoft.com/office/drawing/2014/main" id="{A065C9DA-381C-4680-B501-F77CAC28B8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40975" y="236431"/>
            <a:ext cx="3143251" cy="26146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868AE96-DF45-42CB-9B2E-F5A72B2E1FCF}"/>
              </a:ext>
            </a:extLst>
          </p:cNvPr>
          <p:cNvSpPr txBox="1"/>
          <p:nvPr/>
        </p:nvSpPr>
        <p:spPr>
          <a:xfrm>
            <a:off x="8781790" y="2928210"/>
            <a:ext cx="28616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Chernobyl disaster</a:t>
            </a:r>
          </a:p>
        </p:txBody>
      </p:sp>
      <p:pic>
        <p:nvPicPr>
          <p:cNvPr id="1032" name="Picture 8" descr="Image result for iron oxide aerosol">
            <a:extLst>
              <a:ext uri="{FF2B5EF4-FFF2-40B4-BE49-F238E27FC236}">
                <a16:creationId xmlns:a16="http://schemas.microsoft.com/office/drawing/2014/main" id="{D49695D1-729E-4D25-B889-7D07F58C20C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57101" y="3365886"/>
            <a:ext cx="2510995" cy="26945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16A44A5B-43E9-4F3F-8A67-E9C47322A834}"/>
              </a:ext>
            </a:extLst>
          </p:cNvPr>
          <p:cNvSpPr/>
          <p:nvPr/>
        </p:nvSpPr>
        <p:spPr>
          <a:xfrm>
            <a:off x="174171" y="188686"/>
            <a:ext cx="11843657" cy="645885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37CF26-D597-4FBE-A5C6-D4A20C27C2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056840" y="6359584"/>
            <a:ext cx="2743200" cy="365125"/>
          </a:xfrm>
        </p:spPr>
        <p:txBody>
          <a:bodyPr/>
          <a:lstStyle/>
          <a:p>
            <a:fld id="{873CAD28-B1A9-4A64-9DD6-3376C7DEC3B0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934933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0511"/>
    </mc:Choice>
    <mc:Fallback xmlns="">
      <p:transition spd="slow" advTm="4051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A73BFC7-8D57-45C1-B7DB-416491383544}"/>
              </a:ext>
            </a:extLst>
          </p:cNvPr>
          <p:cNvSpPr txBox="1"/>
          <p:nvPr/>
        </p:nvSpPr>
        <p:spPr>
          <a:xfrm>
            <a:off x="259493" y="304931"/>
            <a:ext cx="11615350" cy="26808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24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WHY ARE FRACTAL AGGREGATES DIFFERENT?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As surface area is high, drag force experienced also increases.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Affects the settling properties.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Released in wet and dry conditions.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Wet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: Surface area/volume ratio will be minimized.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Dry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: Surface area minimization does not happen.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A15E379-45A5-4D44-A437-806499371EDB}"/>
              </a:ext>
            </a:extLst>
          </p:cNvPr>
          <p:cNvSpPr txBox="1"/>
          <p:nvPr/>
        </p:nvSpPr>
        <p:spPr>
          <a:xfrm>
            <a:off x="259493" y="3275249"/>
            <a:ext cx="8023790" cy="32778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OTHER APPLICATIONS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 err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Bouyancy</a:t>
            </a:r>
            <a:r>
              <a:rPr lang="en-US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-opposed flame(BOF) aerosol reactor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Sythesizing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carbon and silica aerosol gels.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Soot particles trapped in the flame recirculation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N"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Forest fire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: Aerosols generated have fractal dimension of 2.6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Wastewater treatment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: Sedimentation of flocculated solids. 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1FB0773-1D43-4CB5-B6EA-88563779BE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4079" y="3466359"/>
            <a:ext cx="5353050" cy="180975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24B167F8-F720-4B6A-937F-BEA097CB7699}"/>
              </a:ext>
            </a:extLst>
          </p:cNvPr>
          <p:cNvSpPr/>
          <p:nvPr/>
        </p:nvSpPr>
        <p:spPr>
          <a:xfrm>
            <a:off x="174171" y="188686"/>
            <a:ext cx="11843657" cy="645885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498E8E-29AA-4B74-8225-8CC9A8120A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3CAD28-B1A9-4A64-9DD6-3376C7DEC3B0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026634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4219"/>
    </mc:Choice>
    <mc:Fallback xmlns="">
      <p:transition spd="slow" advTm="74219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TextBox 40">
            <a:extLst>
              <a:ext uri="{FF2B5EF4-FFF2-40B4-BE49-F238E27FC236}">
                <a16:creationId xmlns:a16="http://schemas.microsoft.com/office/drawing/2014/main" id="{52E3BC20-252B-4999-B405-25E1498F42BC}"/>
              </a:ext>
            </a:extLst>
          </p:cNvPr>
          <p:cNvSpPr txBox="1"/>
          <p:nvPr/>
        </p:nvSpPr>
        <p:spPr>
          <a:xfrm>
            <a:off x="391033" y="1246821"/>
            <a:ext cx="7115021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>
                <a:latin typeface="Arial" panose="020B0604020202020204" pitchFamily="34" charset="0"/>
                <a:cs typeface="Arial" panose="020B0604020202020204" pitchFamily="34" charset="0"/>
              </a:rPr>
              <a:t>More complex structure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>
                <a:latin typeface="Arial" panose="020B0604020202020204" pitchFamily="34" charset="0"/>
                <a:cs typeface="Arial" panose="020B0604020202020204" pitchFamily="34" charset="0"/>
              </a:rPr>
              <a:t>Cannot 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be explained by Euclidean geometry.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>
                <a:latin typeface="Arial" panose="020B0604020202020204" pitchFamily="34" charset="0"/>
                <a:cs typeface="Arial" panose="020B0604020202020204" pitchFamily="34" charset="0"/>
              </a:rPr>
              <a:t>Mandelbrot (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1975) developed the concept of fractal geometry.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u="sng" dirty="0">
                <a:latin typeface="Arial" panose="020B0604020202020204" pitchFamily="34" charset="0"/>
                <a:cs typeface="Arial" panose="020B0604020202020204" pitchFamily="34" charset="0"/>
              </a:rPr>
              <a:t>Properties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Self-similar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>
                <a:latin typeface="Arial" panose="020B0604020202020204" pitchFamily="34" charset="0"/>
                <a:cs typeface="Arial" panose="020B0604020202020204" pitchFamily="34" charset="0"/>
              </a:rPr>
              <a:t>Scale-invariance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CFDE878D-2034-421F-B3A2-C85DCA079A3E}"/>
              </a:ext>
            </a:extLst>
          </p:cNvPr>
          <p:cNvSpPr txBox="1"/>
          <p:nvPr/>
        </p:nvSpPr>
        <p:spPr>
          <a:xfrm>
            <a:off x="3589667" y="245781"/>
            <a:ext cx="4513007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Fractals</a:t>
            </a:r>
          </a:p>
          <a:p>
            <a:pPr algn="ctr"/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Fractus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– Broken or Fractured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6" name="Picture 35">
            <a:extLst>
              <a:ext uri="{FF2B5EF4-FFF2-40B4-BE49-F238E27FC236}">
                <a16:creationId xmlns:a16="http://schemas.microsoft.com/office/drawing/2014/main" id="{0F126A47-F25D-4DE0-8EBA-87DF2579059D}"/>
              </a:ext>
            </a:extLst>
          </p:cNvPr>
          <p:cNvPicPr/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148"/>
          <a:stretch/>
        </p:blipFill>
        <p:spPr bwMode="auto">
          <a:xfrm>
            <a:off x="7030541" y="1700015"/>
            <a:ext cx="1931432" cy="1501592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86D1B03E-9648-44E4-A093-B041738FF7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1032" y="3813162"/>
            <a:ext cx="5206715" cy="177483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5528DEE-92BF-4D0E-B854-0F2B153228D6}"/>
              </a:ext>
            </a:extLst>
          </p:cNvPr>
          <p:cNvSpPr txBox="1"/>
          <p:nvPr/>
        </p:nvSpPr>
        <p:spPr>
          <a:xfrm>
            <a:off x="8486459" y="3490872"/>
            <a:ext cx="29005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rgbClr val="C00000"/>
                </a:solidFill>
              </a:rPr>
              <a:t>Scaling invariance in a tree</a:t>
            </a:r>
            <a:endParaRPr lang="en-IN" sz="1400" b="1" dirty="0">
              <a:solidFill>
                <a:srgbClr val="C00000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2C22C08-9C48-4572-9B37-8E03844C4791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27434" t="27286" r="43431"/>
          <a:stretch/>
        </p:blipFill>
        <p:spPr>
          <a:xfrm>
            <a:off x="9636471" y="1670193"/>
            <a:ext cx="1513529" cy="129226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032A6E0-1CA8-4715-AD29-C47E5EBD9A8B}"/>
              </a:ext>
            </a:extLst>
          </p:cNvPr>
          <p:cNvSpPr txBox="1"/>
          <p:nvPr/>
        </p:nvSpPr>
        <p:spPr>
          <a:xfrm>
            <a:off x="7401596" y="1256861"/>
            <a:ext cx="189762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/>
              <a:t>In nature:</a:t>
            </a:r>
            <a:endParaRPr lang="en-IN" sz="140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D61168D-DC36-46A7-90B0-84FAE71218A7}"/>
              </a:ext>
            </a:extLst>
          </p:cNvPr>
          <p:cNvSpPr txBox="1"/>
          <p:nvPr/>
        </p:nvSpPr>
        <p:spPr>
          <a:xfrm>
            <a:off x="9880121" y="1270001"/>
            <a:ext cx="189762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/>
              <a:t>In geometry:</a:t>
            </a:r>
            <a:endParaRPr lang="en-IN" sz="140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4A50F3E-902A-4779-B921-3E159BCA771E}"/>
              </a:ext>
            </a:extLst>
          </p:cNvPr>
          <p:cNvSpPr/>
          <p:nvPr/>
        </p:nvSpPr>
        <p:spPr>
          <a:xfrm>
            <a:off x="174171" y="188686"/>
            <a:ext cx="11843657" cy="645885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F86CB1D-B26A-4721-AF9C-20D5372FF44E}"/>
              </a:ext>
            </a:extLst>
          </p:cNvPr>
          <p:cNvSpPr txBox="1"/>
          <p:nvPr/>
        </p:nvSpPr>
        <p:spPr>
          <a:xfrm>
            <a:off x="900543" y="4020683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>
                <a:solidFill>
                  <a:srgbClr val="C00000"/>
                </a:solidFill>
              </a:rPr>
              <a:t>Fractal</a:t>
            </a:r>
            <a:r>
              <a:rPr lang="en-US">
                <a:solidFill>
                  <a:srgbClr val="C00000"/>
                </a:solidFill>
              </a:rPr>
              <a:t> </a:t>
            </a:r>
            <a:r>
              <a:rPr lang="en-US" b="1">
                <a:solidFill>
                  <a:srgbClr val="C00000"/>
                </a:solidFill>
              </a:rPr>
              <a:t>dimension = Fractional dimension</a:t>
            </a:r>
            <a:endParaRPr lang="en-IN">
              <a:solidFill>
                <a:srgbClr val="C00000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7FDA50C-5BC4-45C2-B48C-208069E0DC06}"/>
              </a:ext>
            </a:extLst>
          </p:cNvPr>
          <p:cNvSpPr txBox="1"/>
          <p:nvPr/>
        </p:nvSpPr>
        <p:spPr>
          <a:xfrm>
            <a:off x="2941250" y="4886300"/>
            <a:ext cx="295950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C00000"/>
                </a:solidFill>
              </a:rPr>
              <a:t>3</a:t>
            </a:r>
            <a:r>
              <a:rPr lang="en-US" sz="1400" dirty="0"/>
              <a:t> </a:t>
            </a:r>
            <a:r>
              <a:rPr lang="en-US" sz="1400"/>
              <a:t>= 2</a:t>
            </a:r>
            <a:r>
              <a:rPr lang="en-US" sz="1400" baseline="30000"/>
              <a:t>D</a:t>
            </a:r>
            <a:r>
              <a:rPr lang="en-US" sz="1400">
                <a:sym typeface="Wingdings" panose="05000000000000000000" pitchFamily="2" charset="2"/>
              </a:rPr>
              <a:t></a:t>
            </a:r>
            <a:r>
              <a:rPr lang="en-US" sz="1400">
                <a:solidFill>
                  <a:srgbClr val="C00000"/>
                </a:solidFill>
              </a:rPr>
              <a:t>D = 1.58 </a:t>
            </a:r>
            <a:r>
              <a:rPr lang="en-US" sz="1400"/>
              <a:t>where D &lt; d</a:t>
            </a:r>
            <a:r>
              <a:rPr lang="en-US" sz="1400" baseline="30000"/>
              <a:t>  </a:t>
            </a:r>
            <a:endParaRPr lang="en-IN" sz="1400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53882082-5BF0-4506-AAE1-189800788888}"/>
              </a:ext>
            </a:extLst>
          </p:cNvPr>
          <p:cNvPicPr/>
          <p:nvPr/>
        </p:nvPicPr>
        <p:blipFill>
          <a:blip r:embed="rId5"/>
          <a:stretch>
            <a:fillRect/>
          </a:stretch>
        </p:blipFill>
        <p:spPr>
          <a:xfrm>
            <a:off x="779149" y="4632254"/>
            <a:ext cx="1964051" cy="1119253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06FE6FE1-C59E-458E-B7C6-C8EC53DC852C}"/>
              </a:ext>
            </a:extLst>
          </p:cNvPr>
          <p:cNvSpPr txBox="1"/>
          <p:nvPr/>
        </p:nvSpPr>
        <p:spPr>
          <a:xfrm>
            <a:off x="1456374" y="5116733"/>
            <a:ext cx="6096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/>
              <a:t>1</a:t>
            </a:r>
            <a:endParaRPr lang="en-IN" sz="120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3CC2B4A-58B2-4B9D-AD87-7B07ED2ED660}"/>
              </a:ext>
            </a:extLst>
          </p:cNvPr>
          <p:cNvSpPr txBox="1"/>
          <p:nvPr/>
        </p:nvSpPr>
        <p:spPr>
          <a:xfrm>
            <a:off x="2558441" y="5162501"/>
            <a:ext cx="6096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/>
              <a:t>2</a:t>
            </a:r>
            <a:endParaRPr lang="en-IN" sz="120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FEBC9C6-19B4-42DB-AFBE-13428A0A171A}"/>
              </a:ext>
            </a:extLst>
          </p:cNvPr>
          <p:cNvSpPr txBox="1"/>
          <p:nvPr/>
        </p:nvSpPr>
        <p:spPr>
          <a:xfrm>
            <a:off x="1927825" y="4590756"/>
            <a:ext cx="6096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/>
              <a:t>3</a:t>
            </a:r>
            <a:endParaRPr lang="en-IN" sz="1200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34822B1A-BE23-4C83-99CD-0A1288B69BEC}"/>
              </a:ext>
            </a:extLst>
          </p:cNvPr>
          <p:cNvPicPr/>
          <p:nvPr/>
        </p:nvPicPr>
        <p:blipFill>
          <a:blip r:embed="rId6"/>
          <a:stretch>
            <a:fillRect/>
          </a:stretch>
        </p:blipFill>
        <p:spPr>
          <a:xfrm>
            <a:off x="2593498" y="5887888"/>
            <a:ext cx="1215273" cy="535927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DD21C109-2C27-43DB-BB58-87A186D8480A}"/>
              </a:ext>
            </a:extLst>
          </p:cNvPr>
          <p:cNvPicPr/>
          <p:nvPr/>
        </p:nvPicPr>
        <p:blipFill>
          <a:blip r:embed="rId7"/>
          <a:stretch>
            <a:fillRect/>
          </a:stretch>
        </p:blipFill>
        <p:spPr>
          <a:xfrm>
            <a:off x="4090215" y="5868963"/>
            <a:ext cx="1175831" cy="68833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0C9099E7-DA08-4EB0-9714-B72A1179297B}"/>
              </a:ext>
            </a:extLst>
          </p:cNvPr>
          <p:cNvSpPr txBox="1"/>
          <p:nvPr/>
        </p:nvSpPr>
        <p:spPr>
          <a:xfrm>
            <a:off x="5963395" y="6001964"/>
            <a:ext cx="196405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>
                <a:latin typeface="Arial" panose="020B0604020202020204" pitchFamily="34" charset="0"/>
                <a:cs typeface="Arial" panose="020B0604020202020204" pitchFamily="34" charset="0"/>
              </a:rPr>
              <a:t>Euclidean objects</a:t>
            </a:r>
            <a:endParaRPr lang="en-IN" sz="1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B66CD9B-A80B-4AD9-889B-EA3848488C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3CAD28-B1A9-4A64-9DD6-3376C7DEC3B0}" type="slidenum">
              <a:rPr lang="en-IN" smtClean="0"/>
              <a:t>4</a:t>
            </a:fld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D8E4048-E486-4D96-A63C-59E38579F45D}"/>
              </a:ext>
            </a:extLst>
          </p:cNvPr>
          <p:cNvSpPr txBox="1"/>
          <p:nvPr/>
        </p:nvSpPr>
        <p:spPr>
          <a:xfrm>
            <a:off x="204005" y="6339766"/>
            <a:ext cx="27432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/>
              <a:t>*Mandelbrot(1975)</a:t>
            </a:r>
            <a:endParaRPr lang="en-IN" sz="1400"/>
          </a:p>
        </p:txBody>
      </p:sp>
    </p:spTree>
    <p:extLst>
      <p:ext uri="{BB962C8B-B14F-4D97-AF65-F5344CB8AC3E}">
        <p14:creationId xmlns:p14="http://schemas.microsoft.com/office/powerpoint/2010/main" val="41171713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85884"/>
    </mc:Choice>
    <mc:Fallback xmlns="">
      <p:transition spd="slow" advTm="85884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314D151-7FD5-499F-A853-C7FA21545F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75559" y="4231735"/>
            <a:ext cx="971124" cy="94151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7B416DC-DC58-4045-97F5-5253A4E49D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11181" y="4305354"/>
            <a:ext cx="739816" cy="81120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C618312-AF4B-4A76-83E5-A71447EF54E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20393" y="4328691"/>
            <a:ext cx="739816" cy="74760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E0CDF42-E366-4D1A-A83C-D78B586AE6A0}"/>
              </a:ext>
            </a:extLst>
          </p:cNvPr>
          <p:cNvSpPr txBox="1"/>
          <p:nvPr/>
        </p:nvSpPr>
        <p:spPr>
          <a:xfrm>
            <a:off x="1612981" y="422328"/>
            <a:ext cx="916767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FRACTAL AGGREGATES </a:t>
            </a:r>
            <a:r>
              <a:rPr lang="en-US" sz="2400" b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– Properties </a:t>
            </a:r>
            <a:r>
              <a:rPr lang="en-US" sz="24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and Characterization</a:t>
            </a:r>
            <a:endParaRPr lang="en-IN" sz="2400"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08D2B34-783D-46B1-90A3-B61616802963}"/>
              </a:ext>
            </a:extLst>
          </p:cNvPr>
          <p:cNvSpPr txBox="1"/>
          <p:nvPr/>
        </p:nvSpPr>
        <p:spPr>
          <a:xfrm>
            <a:off x="8111613" y="5197729"/>
            <a:ext cx="4080388" cy="38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400"/>
              <a:t>-Fractal dimension increases, compactness increases.</a:t>
            </a:r>
          </a:p>
        </p:txBody>
      </p:sp>
      <p:sp>
        <p:nvSpPr>
          <p:cNvPr id="2" name="Arrow: Right 1">
            <a:extLst>
              <a:ext uri="{FF2B5EF4-FFF2-40B4-BE49-F238E27FC236}">
                <a16:creationId xmlns:a16="http://schemas.microsoft.com/office/drawing/2014/main" id="{91AFAD08-0205-4DEC-ACA8-0C050F952B3C}"/>
              </a:ext>
            </a:extLst>
          </p:cNvPr>
          <p:cNvSpPr/>
          <p:nvPr/>
        </p:nvSpPr>
        <p:spPr>
          <a:xfrm>
            <a:off x="9881089" y="3761852"/>
            <a:ext cx="1799141" cy="613810"/>
          </a:xfrm>
          <a:prstGeom prst="rightArrow">
            <a:avLst/>
          </a:prstGeom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Arrow: Right 11">
            <a:extLst>
              <a:ext uri="{FF2B5EF4-FFF2-40B4-BE49-F238E27FC236}">
                <a16:creationId xmlns:a16="http://schemas.microsoft.com/office/drawing/2014/main" id="{04E23292-B5F2-4812-8272-C2FE41DE9B30}"/>
              </a:ext>
            </a:extLst>
          </p:cNvPr>
          <p:cNvSpPr/>
          <p:nvPr/>
        </p:nvSpPr>
        <p:spPr>
          <a:xfrm rot="10800000">
            <a:off x="8081948" y="3761852"/>
            <a:ext cx="1799141" cy="613810"/>
          </a:xfrm>
          <a:prstGeom prst="rightArrow">
            <a:avLst/>
          </a:prstGeom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B0594F8-5B88-40CB-94AC-3A5EB8151927}"/>
              </a:ext>
            </a:extLst>
          </p:cNvPr>
          <p:cNvSpPr txBox="1"/>
          <p:nvPr/>
        </p:nvSpPr>
        <p:spPr>
          <a:xfrm>
            <a:off x="8607379" y="3930257"/>
            <a:ext cx="351905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>Df =1.8               Df = 2.5                 Df = 3</a:t>
            </a:r>
            <a:endParaRPr lang="en-IN" sz="1200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E0DEB79A-65FA-44E2-949B-F81E4EC7789D}"/>
                  </a:ext>
                </a:extLst>
              </p:cNvPr>
              <p:cNvSpPr txBox="1"/>
              <p:nvPr/>
            </p:nvSpPr>
            <p:spPr>
              <a:xfrm>
                <a:off x="423737" y="1278179"/>
                <a:ext cx="8641240" cy="490134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IN" sz="1600">
                    <a:latin typeface="Arial" panose="020B0604020202020204" pitchFamily="34" charset="0"/>
                    <a:cs typeface="Arial" panose="020B0604020202020204" pitchFamily="34" charset="0"/>
                  </a:rPr>
                  <a:t>-   Aggregates have complex structure and can be described by fractal geometry.</a:t>
                </a:r>
              </a:p>
              <a:p>
                <a:pPr marL="285750" indent="-285750">
                  <a:lnSpc>
                    <a:spcPct val="150000"/>
                  </a:lnSpc>
                  <a:buFontTx/>
                  <a:buChar char="-"/>
                </a:pPr>
                <a:r>
                  <a:rPr lang="en-IN" sz="1600">
                    <a:latin typeface="Arial" panose="020B0604020202020204" pitchFamily="34" charset="0"/>
                    <a:cs typeface="Arial" panose="020B0604020202020204" pitchFamily="34" charset="0"/>
                  </a:rPr>
                  <a:t>Number of monomers within radial distances,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)~</m:t>
                    </m:r>
                    <m:sSup>
                      <m:sSupPr>
                        <m:ctrlPr>
                          <a:rPr 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sSub>
                          <m:sSubPr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𝐷</m:t>
                            </m:r>
                          </m:e>
                          <m:sub>
                            <m:r>
                              <a:rPr lang="en-US" sz="1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𝑓</m:t>
                            </m:r>
                          </m:sub>
                        </m:sSub>
                      </m:sup>
                    </m:sSup>
                  </m:oMath>
                </a14:m>
                <a:endParaRPr lang="en-IN" sz="1600" i="1" baseline="300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285750" indent="-285750">
                  <a:lnSpc>
                    <a:spcPct val="150000"/>
                  </a:lnSpc>
                  <a:buFontTx/>
                  <a:buChar char="-"/>
                </a:pPr>
                <a:r>
                  <a:rPr lang="en-IN" sz="1600" i="1" dirty="0">
                    <a:solidFill>
                      <a:srgbClr val="C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Fractal </a:t>
                </a:r>
                <a:r>
                  <a:rPr lang="en-IN" sz="1600" i="1">
                    <a:solidFill>
                      <a:srgbClr val="C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dimension</a:t>
                </a:r>
                <a:r>
                  <a:rPr lang="en-IN" sz="1600">
                    <a:latin typeface="Arial" panose="020B0604020202020204" pitchFamily="34" charset="0"/>
                    <a:cs typeface="Arial" panose="020B0604020202020204" pitchFamily="34" charset="0"/>
                  </a:rPr>
                  <a:t>: Space filling capacity of a pattern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sz="1600">
                    <a:effectLst/>
                    <a:latin typeface="Arial" panose="020B0604020202020204" pitchFamily="34" charset="0"/>
                    <a:ea typeface="Calibri" panose="020F0502020204030204" pitchFamily="34" charset="0"/>
                    <a:cs typeface="Arial" panose="020B0604020202020204" pitchFamily="34" charset="0"/>
                  </a:rPr>
                  <a:t>	1.5 </a:t>
                </a:r>
                <a:r>
                  <a:rPr lang="en-US" sz="1600">
                    <a:effectLst/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⩽</a:t>
                </a:r>
                <a:r>
                  <a:rPr lang="en-US" sz="1600">
                    <a:effectLst/>
                    <a:latin typeface="Arial" panose="020B0604020202020204" pitchFamily="34" charset="0"/>
                    <a:ea typeface="Calibri" panose="020F050202020403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1600" i="1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𝐷</m:t>
                        </m:r>
                      </m:e>
                      <m:sub>
                        <m:r>
                          <a:rPr lang="en-US" sz="16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𝑓</m:t>
                        </m:r>
                      </m:sub>
                    </m:sSub>
                  </m:oMath>
                </a14:m>
                <a:r>
                  <a:rPr lang="en-US" sz="1600">
                    <a:effectLst/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⩽ 3</a:t>
                </a:r>
              </a:p>
              <a:p>
                <a:pPr marL="285750" indent="-285750">
                  <a:lnSpc>
                    <a:spcPct val="150000"/>
                  </a:lnSpc>
                  <a:buFontTx/>
                  <a:buChar char="-"/>
                </a:pPr>
                <a:r>
                  <a:rPr lang="en-IN" sz="1600" i="1">
                    <a:solidFill>
                      <a:srgbClr val="C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Scaling </a:t>
                </a:r>
                <a:r>
                  <a:rPr lang="en-IN" sz="1600" i="1" dirty="0">
                    <a:solidFill>
                      <a:srgbClr val="C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law</a:t>
                </a:r>
                <a:r>
                  <a:rPr lang="en-IN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: </a:t>
                </a:r>
                <a14:m>
                  <m:oMath xmlns:m="http://schemas.openxmlformats.org/officeDocument/2006/math">
                    <m:r>
                      <a:rPr lang="en-US" sz="1600" i="1" smtClean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𝑁</m:t>
                    </m:r>
                    <m:r>
                      <a:rPr lang="en-US" sz="1600" i="1" smtClean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</m:t>
                    </m:r>
                    <m:sSub>
                      <m:sSubPr>
                        <m:ctrlPr>
                          <a:rPr lang="en-IN" sz="1600" i="1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𝑘</m:t>
                        </m:r>
                      </m:e>
                      <m:sub>
                        <m:r>
                          <a:rPr lang="en-US" sz="16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𝑓</m:t>
                        </m:r>
                      </m:sub>
                    </m:sSub>
                    <m:sSup>
                      <m:sSupPr>
                        <m:ctrlPr>
                          <a:rPr lang="en-IN" sz="1600" i="1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IN" sz="1600" i="1">
                                <a:effectLst/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IN" sz="1600" i="1">
                                    <a:effectLst/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fPr>
                              <m:num>
                                <m:sSub>
                                  <m:sSubPr>
                                    <m:ctrlPr>
                                      <a:rPr lang="en-IN" sz="1600" i="1">
                                        <a:effectLst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𝑅</m:t>
                                    </m:r>
                                  </m:e>
                                  <m:sub>
                                    <m:r>
                                      <a:rPr lang="en-US" sz="16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𝑔</m:t>
                                    </m:r>
                                  </m:sub>
                                </m:sSub>
                              </m:num>
                              <m:den>
                                <m:r>
                                  <a:rPr lang="en-US" sz="1600" b="0" i="1" smtClean="0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𝑎</m:t>
                                </m:r>
                              </m:den>
                            </m:f>
                          </m:e>
                        </m:d>
                      </m:e>
                      <m:sup>
                        <m:sSub>
                          <m:sSubPr>
                            <m:ctrlPr>
                              <a:rPr lang="en-IN" sz="1600" i="1">
                                <a:effectLst/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16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𝐷</m:t>
                            </m:r>
                          </m:e>
                          <m:sub>
                            <m:r>
                              <a:rPr lang="en-US" sz="16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𝑓</m:t>
                            </m:r>
                          </m:sub>
                        </m:sSub>
                      </m:sup>
                    </m:sSup>
                  </m:oMath>
                </a14:m>
                <a:endParaRPr lang="en-IN" sz="16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IN" sz="1600">
                    <a:latin typeface="Arial" panose="020B0604020202020204" pitchFamily="34" charset="0"/>
                    <a:cs typeface="Arial" panose="020B0604020202020204" pitchFamily="34" charset="0"/>
                  </a:rPr>
                  <a:t>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1600" i="1" smtClean="0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𝑘</m:t>
                        </m:r>
                      </m:e>
                      <m:sub>
                        <m:r>
                          <a:rPr lang="en-US" sz="16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𝑓</m:t>
                        </m:r>
                      </m:sub>
                    </m:sSub>
                  </m:oMath>
                </a14:m>
                <a:r>
                  <a:rPr lang="en-IN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:</a:t>
                </a:r>
                <a:r>
                  <a:rPr lang="en-IN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prefactor</a:t>
                </a:r>
                <a:r>
                  <a:rPr lang="en-IN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16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𝑅</m:t>
                        </m:r>
                      </m:e>
                      <m:sub>
                        <m:r>
                          <a:rPr lang="en-US" sz="1600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𝑔</m:t>
                        </m:r>
                      </m:sub>
                    </m:sSub>
                  </m:oMath>
                </a14:m>
                <a:r>
                  <a:rPr lang="en-IN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: Radius of gyration,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16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𝐷</m:t>
                        </m:r>
                      </m:e>
                      <m:sub>
                        <m:r>
                          <a:rPr lang="en-US" sz="1600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𝑓</m:t>
                        </m:r>
                      </m:sub>
                    </m:sSub>
                  </m:oMath>
                </a14:m>
                <a:r>
                  <a:rPr lang="en-IN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:Fractal dimension </a:t>
                </a:r>
                <a:r>
                  <a:rPr lang="en-IN" sz="1600">
                    <a:latin typeface="Arial" panose="020B0604020202020204" pitchFamily="34" charset="0"/>
                    <a:cs typeface="Arial" panose="020B0604020202020204" pitchFamily="34" charset="0"/>
                  </a:rPr>
                  <a:t>and a:</a:t>
                </a:r>
                <a:r>
                  <a:rPr lang="en-IN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Monomer radius</a:t>
                </a:r>
              </a:p>
              <a:p>
                <a:pPr marL="285750" indent="-285750">
                  <a:lnSpc>
                    <a:spcPct val="150000"/>
                  </a:lnSpc>
                  <a:buFontTx/>
                  <a:buChar char="-"/>
                </a:pPr>
                <a:r>
                  <a:rPr lang="en-IN" sz="1600" i="1">
                    <a:solidFill>
                      <a:srgbClr val="C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Radius </a:t>
                </a:r>
                <a:r>
                  <a:rPr lang="en-IN" sz="1600" i="1" dirty="0">
                    <a:solidFill>
                      <a:srgbClr val="C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of Gyration</a:t>
                </a:r>
                <a:r>
                  <a:rPr lang="en-IN" sz="1600">
                    <a:latin typeface="Arial" panose="020B0604020202020204" pitchFamily="34" charset="0"/>
                    <a:cs typeface="Arial" panose="020B0604020202020204" pitchFamily="34" charset="0"/>
                  </a:rPr>
                  <a:t>:  Quantify </a:t>
                </a:r>
                <a:r>
                  <a:rPr lang="en-IN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the mass distribution within an object.</a:t>
                </a:r>
              </a:p>
              <a:p>
                <a:pPr algn="ctr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IN" sz="16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sSub>
                            <m:sSubPr>
                              <m:ctrlPr>
                                <a:rPr lang="en-IN" sz="16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1600" i="1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IN" sz="1600" i="1"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</m:sub>
                          </m:sSub>
                        </m:e>
                        <m:sup>
                          <m:r>
                            <a:rPr lang="en-IN" sz="1600" i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IN" sz="1600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sz="16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1600" i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IN" sz="1600" i="1">
                              <a:latin typeface="Cambria Math" panose="02040503050406030204" pitchFamily="18" charset="0"/>
                            </a:rPr>
                            <m:t>𝑁</m:t>
                          </m:r>
                        </m:den>
                      </m:f>
                      <m:nary>
                        <m:naryPr>
                          <m:chr m:val="∑"/>
                          <m:limLoc m:val="undOvr"/>
                          <m:ctrlPr>
                            <a:rPr lang="en-IN" sz="16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IN" sz="16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IN" sz="1600" i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IN" sz="1600" i="1"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sSup>
                            <m:sSupPr>
                              <m:ctrlPr>
                                <a:rPr lang="en-IN" sz="16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IN" sz="16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IN" sz="16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6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𝑟</m:t>
                                      </m:r>
                                    </m:e>
                                    <m:sub>
                                      <m:r>
                                        <a:rPr lang="en-IN" sz="16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IN" sz="1600" i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IN" sz="16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IN" sz="16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𝑟</m:t>
                                      </m:r>
                                    </m:e>
                                    <m:sub>
                                      <m:r>
                                        <a:rPr lang="en-IN" sz="16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𝑐𝑚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en-IN" sz="160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  <m:r>
                        <a:rPr lang="en-US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16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and</m:t>
                      </m:r>
                      <m:r>
                        <a:rPr lang="en-US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𝑐𝑒𝑛𝑡𝑟𝑒</m:t>
                      </m:r>
                      <m:r>
                        <a:rPr lang="en-US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𝑜𝑓</m:t>
                      </m:r>
                      <m:r>
                        <a:rPr lang="en-US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𝑚𝑎𝑠𝑠</m:t>
                      </m:r>
                      <m:r>
                        <a:rPr lang="en-US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IN" sz="16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IN" sz="1600" i="1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IN" sz="1600" i="1">
                              <a:latin typeface="Cambria Math" panose="02040503050406030204" pitchFamily="18" charset="0"/>
                            </a:rPr>
                            <m:t>𝑐𝑚</m:t>
                          </m:r>
                        </m:sub>
                      </m:sSub>
                      <m:r>
                        <a:rPr lang="en-US" sz="1600" b="0" i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sz="16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160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IN" sz="1600" i="1">
                              <a:latin typeface="Cambria Math" panose="02040503050406030204" pitchFamily="18" charset="0"/>
                            </a:rPr>
                            <m:t>𝑁</m:t>
                          </m:r>
                        </m:den>
                      </m:f>
                      <m:nary>
                        <m:naryPr>
                          <m:chr m:val="∑"/>
                          <m:limLoc m:val="undOvr"/>
                          <m:ctrlPr>
                            <a:rPr lang="en-IN" sz="16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IN" sz="16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IN" sz="160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IN" sz="1600" i="1"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sSub>
                            <m:sSubPr>
                              <m:ctrlPr>
                                <a:rPr lang="en-IN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en-IN" sz="16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US" sz="1600" u="sng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285750" indent="-285750">
                  <a:lnSpc>
                    <a:spcPct val="200000"/>
                  </a:lnSpc>
                  <a:buFontTx/>
                  <a:buChar char="-"/>
                </a:pPr>
                <a:r>
                  <a:rPr lang="en-US" sz="1600">
                    <a:solidFill>
                      <a:srgbClr val="C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Pre-factor</a:t>
                </a:r>
                <a14:m>
                  <m:oMath xmlns:m="http://schemas.openxmlformats.org/officeDocument/2006/math">
                    <m:r>
                      <a:rPr lang="en-US" sz="160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sSub>
                      <m:sSubPr>
                        <m:ctrlPr>
                          <a:rPr lang="en-IN" sz="1600" i="1" smtClean="0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𝑘</m:t>
                        </m:r>
                      </m:e>
                      <m:sub>
                        <m:r>
                          <a:rPr lang="en-US" sz="16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𝑓</m:t>
                        </m:r>
                      </m:sub>
                    </m:sSub>
                  </m:oMath>
                </a14:m>
                <a:r>
                  <a:rPr lang="en-IN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is a function of </a:t>
                </a:r>
                <a:r>
                  <a:rPr lang="en-IN" sz="1600">
                    <a:latin typeface="Arial" panose="020B0604020202020204" pitchFamily="34" charset="0"/>
                    <a:cs typeface="Arial" panose="020B0604020202020204" pitchFamily="34" charset="0"/>
                  </a:rPr>
                  <a:t>packing fraction.</a:t>
                </a:r>
                <a:endParaRPr lang="en-IN" sz="1600" i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lvl="1">
                  <a:lnSpc>
                    <a:spcPct val="150000"/>
                  </a:lnSpc>
                </a:pPr>
                <a:endParaRPr lang="en-IN" sz="160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E0DEB79A-65FA-44E2-949B-F81E4EC778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3737" y="1278179"/>
                <a:ext cx="8641240" cy="4901342"/>
              </a:xfrm>
              <a:prstGeom prst="rect">
                <a:avLst/>
              </a:prstGeom>
              <a:blipFill>
                <a:blip r:embed="rId5"/>
                <a:stretch>
                  <a:fillRect l="-42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TextBox 15">
            <a:extLst>
              <a:ext uri="{FF2B5EF4-FFF2-40B4-BE49-F238E27FC236}">
                <a16:creationId xmlns:a16="http://schemas.microsoft.com/office/drawing/2014/main" id="{3B125C51-6B86-4C10-A6CF-CD77E964896C}"/>
              </a:ext>
            </a:extLst>
          </p:cNvPr>
          <p:cNvSpPr txBox="1"/>
          <p:nvPr/>
        </p:nvSpPr>
        <p:spPr>
          <a:xfrm>
            <a:off x="8035715" y="1724003"/>
            <a:ext cx="88722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(1)</a:t>
            </a:r>
          </a:p>
          <a:p>
            <a:endParaRPr lang="en-US"/>
          </a:p>
          <a:p>
            <a:r>
              <a:rPr lang="en-US"/>
              <a:t>(2)</a:t>
            </a:r>
            <a:endParaRPr lang="en-IN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83DAF3E-B920-4DC7-9123-4557C6093353}"/>
              </a:ext>
            </a:extLst>
          </p:cNvPr>
          <p:cNvSpPr/>
          <p:nvPr/>
        </p:nvSpPr>
        <p:spPr>
          <a:xfrm>
            <a:off x="174171" y="188686"/>
            <a:ext cx="11843657" cy="645885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50E79A2-DBF1-4BAB-80A6-69C5CD9598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3CAD28-B1A9-4A64-9DD6-3376C7DEC3B0}" type="slidenum">
              <a:rPr lang="en-IN" smtClean="0"/>
              <a:t>5</a:t>
            </a:fld>
            <a:endParaRPr lang="en-IN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BE02C42-59AC-4510-9EBD-0041A0F51E78}"/>
              </a:ext>
            </a:extLst>
          </p:cNvPr>
          <p:cNvSpPr txBox="1"/>
          <p:nvPr/>
        </p:nvSpPr>
        <p:spPr>
          <a:xfrm>
            <a:off x="138142" y="6340185"/>
            <a:ext cx="294967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/>
              <a:t>*Sorenson(2011)</a:t>
            </a:r>
            <a:endParaRPr lang="en-IN" sz="1200"/>
          </a:p>
        </p:txBody>
      </p:sp>
    </p:spTree>
    <p:extLst>
      <p:ext uri="{BB962C8B-B14F-4D97-AF65-F5344CB8AC3E}">
        <p14:creationId xmlns:p14="http://schemas.microsoft.com/office/powerpoint/2010/main" val="11496713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6502"/>
    </mc:Choice>
    <mc:Fallback xmlns="">
      <p:transition spd="slow" advTm="76502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B8A4F8F-FEA8-4CDC-BC82-F7988C8B9D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3CAD28-B1A9-4A64-9DD6-3376C7DEC3B0}" type="slidenum">
              <a:rPr lang="en-IN" smtClean="0"/>
              <a:t>6</a:t>
            </a:fld>
            <a:endParaRPr lang="en-IN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A5D5829-9808-413A-AE2F-4251932F0647}"/>
              </a:ext>
            </a:extLst>
          </p:cNvPr>
          <p:cNvSpPr/>
          <p:nvPr/>
        </p:nvSpPr>
        <p:spPr>
          <a:xfrm>
            <a:off x="174171" y="188686"/>
            <a:ext cx="11843657" cy="645885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41E5218-9529-4437-A987-62836F8399C5}"/>
              </a:ext>
            </a:extLst>
          </p:cNvPr>
          <p:cNvSpPr txBox="1"/>
          <p:nvPr/>
        </p:nvSpPr>
        <p:spPr>
          <a:xfrm>
            <a:off x="5265174" y="612154"/>
            <a:ext cx="231549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CONTENTS</a:t>
            </a:r>
            <a:endParaRPr lang="en-IN" sz="2400" b="1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485EF7C9-869E-4DB2-A0A1-CCB6BFAFB8B4}"/>
                  </a:ext>
                </a:extLst>
              </p:cNvPr>
              <p:cNvSpPr txBox="1"/>
              <p:nvPr/>
            </p:nvSpPr>
            <p:spPr>
              <a:xfrm>
                <a:off x="328676" y="1574796"/>
                <a:ext cx="11534645" cy="49641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lnSpc>
                    <a:spcPct val="150000"/>
                  </a:lnSpc>
                  <a:buAutoNum type="arabicPeriod"/>
                </a:pPr>
                <a:r>
                  <a:rPr lang="en-US" sz="1600">
                    <a:latin typeface="Arial" panose="020B0604020202020204" pitchFamily="34" charset="0"/>
                    <a:cs typeface="Arial" panose="020B0604020202020204" pitchFamily="34" charset="0"/>
                  </a:rPr>
                  <a:t>Stokesian Dynamics (4): Governing equations - Obtaining Force velocity relation</a:t>
                </a:r>
              </a:p>
              <a:p>
                <a:pPr marL="342900" indent="-342900">
                  <a:lnSpc>
                    <a:spcPct val="150000"/>
                  </a:lnSpc>
                  <a:buAutoNum type="arabicPeriod"/>
                </a:pPr>
                <a:r>
                  <a:rPr lang="en-US" sz="1600">
                    <a:latin typeface="Arial" panose="020B0604020202020204" pitchFamily="34" charset="0"/>
                    <a:cs typeface="Arial" panose="020B0604020202020204" pitchFamily="34" charset="0"/>
                  </a:rPr>
                  <a:t>Application to rigid aggregates (2): Velocity of individual particles – Rigidity check</a:t>
                </a:r>
              </a:p>
              <a:p>
                <a:pPr marL="342900" indent="-342900">
                  <a:lnSpc>
                    <a:spcPct val="150000"/>
                  </a:lnSpc>
                  <a:buAutoNum type="arabicPeriod"/>
                </a:pPr>
                <a:r>
                  <a:rPr lang="en-US" sz="1600">
                    <a:latin typeface="Arial" panose="020B0604020202020204" pitchFamily="34" charset="0"/>
                    <a:cs typeface="Arial" panose="020B0604020202020204" pitchFamily="34" charset="0"/>
                  </a:rPr>
                  <a:t>Aggregation models (6): DLA – DLCCA – Tunable CCA – N vs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</m:sub>
                    </m:sSub>
                  </m:oMath>
                </a14:m>
                <a:endParaRPr lang="en-US" sz="160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342900" indent="-342900">
                  <a:lnSpc>
                    <a:spcPct val="150000"/>
                  </a:lnSpc>
                  <a:buAutoNum type="arabicPeriod"/>
                </a:pPr>
                <a:r>
                  <a:rPr lang="en-US" sz="1600">
                    <a:latin typeface="Arial" panose="020B0604020202020204" pitchFamily="34" charset="0"/>
                    <a:cs typeface="Arial" panose="020B0604020202020204" pitchFamily="34" charset="0"/>
                  </a:rPr>
                  <a:t>Hydrodynamics (8) : 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sz="1600">
                    <a:latin typeface="Arial" panose="020B0604020202020204" pitchFamily="34" charset="0"/>
                    <a:cs typeface="Arial" panose="020B0604020202020204" pitchFamily="34" charset="0"/>
                  </a:rPr>
                  <a:t>	Mobility radius – close-range interactions included – Relation with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</m:sub>
                    </m:sSub>
                  </m:oMath>
                </a14:m>
                <a:r>
                  <a:rPr lang="en-US" sz="1600">
                    <a:latin typeface="Arial" panose="020B0604020202020204" pitchFamily="34" charset="0"/>
                    <a:cs typeface="Arial" panose="020B0604020202020204" pitchFamily="34" charset="0"/>
                  </a:rPr>
                  <a:t> -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/</m:t>
                    </m:r>
                    <m:sSub>
                      <m:sSub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</m:sub>
                    </m:sSub>
                  </m:oMath>
                </a14:m>
                <a:r>
                  <a:rPr lang="en-US" sz="1600">
                    <a:latin typeface="Arial" panose="020B0604020202020204" pitchFamily="34" charset="0"/>
                    <a:cs typeface="Arial" panose="020B0604020202020204" pitchFamily="34" charset="0"/>
                  </a:rPr>
                  <a:t>=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𝐷</m:t>
                            </m:r>
                          </m:e>
                          <m:sub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𝑓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sz="1600">
                    <a:latin typeface="Arial" panose="020B0604020202020204" pitchFamily="34" charset="0"/>
                    <a:cs typeface="Arial" panose="020B0604020202020204" pitchFamily="34" charset="0"/>
                  </a:rPr>
                  <a:t> - Dependent on N?  </a:t>
                </a:r>
              </a:p>
              <a:p>
                <a:pPr marL="342900" indent="-342900">
                  <a:lnSpc>
                    <a:spcPct val="150000"/>
                  </a:lnSpc>
                  <a:buAutoNum type="arabicPeriod" startAt="6"/>
                </a:pPr>
                <a:r>
                  <a:rPr lang="en-US" sz="1600">
                    <a:latin typeface="Arial" panose="020B0604020202020204" pitchFamily="34" charset="0"/>
                    <a:cs typeface="Arial" panose="020B0604020202020204" pitchFamily="34" charset="0"/>
                  </a:rPr>
                  <a:t>Velocity studies (17):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sz="1600">
                    <a:latin typeface="Arial" panose="020B0604020202020204" pitchFamily="34" charset="0"/>
                    <a:cs typeface="Arial" panose="020B0604020202020204" pitchFamily="34" charset="0"/>
                  </a:rPr>
                  <a:t>	Single sphere – Effect of close-range interactions – Penetration depth</a:t>
                </a:r>
                <a14:m>
                  <m:oMath xmlns:m="http://schemas.openxmlformats.org/officeDocument/2006/math">
                    <m:r>
                      <a:rPr lang="en-US" sz="1600" b="0" i="0" smtClean="0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𝛿</m:t>
                        </m:r>
                      </m:e>
                      <m:sup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1600">
                    <a:latin typeface="Arial" panose="020B0604020202020204" pitchFamily="34" charset="0"/>
                    <a:cs typeface="Arial" panose="020B0604020202020204" pitchFamily="34" charset="0"/>
                  </a:rPr>
                  <a:t> -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𝛿</m:t>
                        </m:r>
                      </m:e>
                      <m:sup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sz="1600">
                    <a:latin typeface="Arial" panose="020B0604020202020204" pitchFamily="34" charset="0"/>
                    <a:cs typeface="Arial" panose="020B0604020202020204" pitchFamily="34" charset="0"/>
                  </a:rPr>
                  <a:t> and N -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𝛿</m:t>
                        </m:r>
                      </m:e>
                      <m:sup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sz="1600">
                    <a:latin typeface="Arial" panose="020B0604020202020204" pitchFamily="34" charset="0"/>
                    <a:cs typeface="Arial" panose="020B0604020202020204" pitchFamily="34" charset="0"/>
                  </a:rPr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/</m:t>
                    </m:r>
                    <m:sSub>
                      <m:sSub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</m:sub>
                    </m:sSub>
                  </m:oMath>
                </a14:m>
                <a:endParaRPr lang="en-US" sz="160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342900" indent="-342900">
                  <a:lnSpc>
                    <a:spcPct val="150000"/>
                  </a:lnSpc>
                  <a:buAutoNum type="arabicPeriod" startAt="7"/>
                </a:pPr>
                <a:r>
                  <a:rPr lang="en-US" sz="1600">
                    <a:latin typeface="Arial" panose="020B0604020202020204" pitchFamily="34" charset="0"/>
                    <a:cs typeface="Arial" panose="020B0604020202020204" pitchFamily="34" charset="0"/>
                  </a:rPr>
                  <a:t>Deformable aggrgegates (3):</a:t>
                </a:r>
              </a:p>
              <a:p>
                <a:pPr lvl="1">
                  <a:lnSpc>
                    <a:spcPct val="150000"/>
                  </a:lnSpc>
                </a:pPr>
                <a:r>
                  <a:rPr lang="en-US" sz="1600">
                    <a:latin typeface="Arial" panose="020B0604020202020204" pitchFamily="34" charset="0"/>
                    <a:cs typeface="Arial" panose="020B0604020202020204" pitchFamily="34" charset="0"/>
                  </a:rPr>
                  <a:t>	Three particle system</a:t>
                </a:r>
              </a:p>
              <a:p>
                <a:pPr marL="342900" indent="-342900">
                  <a:lnSpc>
                    <a:spcPct val="150000"/>
                  </a:lnSpc>
                  <a:buAutoNum type="arabicPeriod" startAt="8"/>
                </a:pPr>
                <a:r>
                  <a:rPr lang="en-US" sz="1600">
                    <a:latin typeface="Arial" panose="020B0604020202020204" pitchFamily="34" charset="0"/>
                    <a:cs typeface="Arial" panose="020B0604020202020204" pitchFamily="34" charset="0"/>
                  </a:rPr>
                  <a:t>Conclusion (1)</a:t>
                </a:r>
              </a:p>
              <a:p>
                <a:pPr marL="342900" indent="-342900">
                  <a:lnSpc>
                    <a:spcPct val="150000"/>
                  </a:lnSpc>
                  <a:buAutoNum type="arabicPeriod"/>
                </a:pPr>
                <a:endParaRPr lang="en-US" sz="160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342900" indent="-342900">
                  <a:lnSpc>
                    <a:spcPct val="150000"/>
                  </a:lnSpc>
                  <a:buAutoNum type="arabicPeriod"/>
                </a:pPr>
                <a:endParaRPr lang="en-US" sz="160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342900" indent="-342900">
                  <a:lnSpc>
                    <a:spcPct val="150000"/>
                  </a:lnSpc>
                  <a:buAutoNum type="arabicPeriod"/>
                </a:pPr>
                <a:endParaRPr lang="en-IN" sz="160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485EF7C9-869E-4DB2-A0A1-CCB6BFAFB8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8676" y="1574796"/>
                <a:ext cx="11534645" cy="4964116"/>
              </a:xfrm>
              <a:prstGeom prst="rect">
                <a:avLst/>
              </a:prstGeom>
              <a:blipFill>
                <a:blip r:embed="rId2"/>
                <a:stretch>
                  <a:fillRect l="-21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6F308390-6F00-4A98-9A1F-C56A4E284574}"/>
              </a:ext>
            </a:extLst>
          </p:cNvPr>
          <p:cNvSpPr txBox="1"/>
          <p:nvPr/>
        </p:nvSpPr>
        <p:spPr>
          <a:xfrm>
            <a:off x="174171" y="350119"/>
            <a:ext cx="30824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*(#no of slides)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502309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56073"/>
    </mc:Choice>
    <mc:Fallback xmlns="">
      <p:transition spd="slow" advTm="156073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3B841C0E-AD8F-4FF1-9347-B39AFA44BEED}"/>
                  </a:ext>
                </a:extLst>
              </p:cNvPr>
              <p:cNvSpPr txBox="1"/>
              <p:nvPr/>
            </p:nvSpPr>
            <p:spPr>
              <a:xfrm>
                <a:off x="134897" y="1826396"/>
                <a:ext cx="4950941" cy="71468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IN" smtClean="0">
                          <a:latin typeface="Cambria Math" panose="02040503050406030204" pitchFamily="18" charset="0"/>
                        </a:rPr>
                        <m:t>ρ</m:t>
                      </m:r>
                      <m:d>
                        <m:d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IN" i="0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r>
                                <m:rPr>
                                  <m:sty m:val="p"/>
                                </m:rPr>
                                <a:rPr lang="en-IN" i="0">
                                  <a:latin typeface="Cambria Math" panose="02040503050406030204" pitchFamily="18" charset="0"/>
                                </a:rPr>
                                <m:t>u</m:t>
                              </m:r>
                            </m:num>
                            <m:den>
                              <m:r>
                                <a:rPr lang="en-IN" i="0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r>
                                <m:rPr>
                                  <m:sty m:val="p"/>
                                </m:rPr>
                                <a:rPr lang="en-IN" i="0">
                                  <a:latin typeface="Cambria Math" panose="02040503050406030204" pitchFamily="18" charset="0"/>
                                </a:rPr>
                                <m:t>t</m:t>
                              </m:r>
                            </m:den>
                          </m:f>
                          <m:r>
                            <a:rPr lang="en-IN" i="0">
                              <a:latin typeface="Cambria Math" panose="02040503050406030204" pitchFamily="18" charset="0"/>
                            </a:rPr>
                            <m:t>+</m:t>
                          </m:r>
                          <m:d>
                            <m:d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en-IN" i="0">
                                  <a:latin typeface="Cambria Math" panose="02040503050406030204" pitchFamily="18" charset="0"/>
                                </a:rPr>
                                <m:t>u</m:t>
                              </m:r>
                              <m:r>
                                <a:rPr lang="en-IN" i="0"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  <m:r>
                                <m:rPr>
                                  <m:sty m:val="p"/>
                                </m:rPr>
                                <a:rPr lang="en-IN" i="0">
                                  <a:latin typeface="Cambria Math" panose="02040503050406030204" pitchFamily="18" charset="0"/>
                                </a:rPr>
                                <m:t>∇</m:t>
                              </m:r>
                            </m:e>
                          </m:d>
                          <m:r>
                            <m:rPr>
                              <m:sty m:val="p"/>
                            </m:rPr>
                            <a:rPr lang="en-IN" i="0">
                              <a:latin typeface="Cambria Math" panose="02040503050406030204" pitchFamily="18" charset="0"/>
                            </a:rPr>
                            <m:t>u</m:t>
                          </m:r>
                        </m:e>
                      </m:d>
                      <m:r>
                        <a:rPr lang="en-IN" i="0">
                          <a:latin typeface="Cambria Math" panose="02040503050406030204" pitchFamily="18" charset="0"/>
                        </a:rPr>
                        <m:t>=−</m:t>
                      </m:r>
                      <m:r>
                        <m:rPr>
                          <m:sty m:val="p"/>
                        </m:rPr>
                        <a:rPr lang="en-IN" i="0">
                          <a:latin typeface="Cambria Math" panose="02040503050406030204" pitchFamily="18" charset="0"/>
                        </a:rPr>
                        <m:t>∇P</m:t>
                      </m:r>
                      <m:r>
                        <a:rPr lang="en-IN" i="0"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IN" i="0">
                          <a:latin typeface="Cambria Math" panose="02040503050406030204" pitchFamily="18" charset="0"/>
                        </a:rPr>
                        <m:t>μ</m:t>
                      </m:r>
                      <m:sSup>
                        <m:sSup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IN" i="0">
                              <a:latin typeface="Cambria Math" panose="02040503050406030204" pitchFamily="18" charset="0"/>
                            </a:rPr>
                            <m:t>∇</m:t>
                          </m:r>
                        </m:e>
                        <m:sup>
                          <m:r>
                            <a:rPr lang="en-IN" i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m:rPr>
                          <m:sty m:val="p"/>
                        </m:rPr>
                        <a:rPr lang="en-IN" i="0">
                          <a:latin typeface="Cambria Math" panose="02040503050406030204" pitchFamily="18" charset="0"/>
                        </a:rPr>
                        <m:t>v</m:t>
                      </m:r>
                    </m:oMath>
                  </m:oMathPara>
                </a14:m>
                <a:endParaRPr lang="en-IN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3B841C0E-AD8F-4FF1-9347-B39AFA44BEE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4897" y="1826396"/>
                <a:ext cx="4950941" cy="71468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extBox 12">
            <a:extLst>
              <a:ext uri="{FF2B5EF4-FFF2-40B4-BE49-F238E27FC236}">
                <a16:creationId xmlns:a16="http://schemas.microsoft.com/office/drawing/2014/main" id="{42D1B856-1E1C-4051-B431-8CC6FD0663C9}"/>
              </a:ext>
            </a:extLst>
          </p:cNvPr>
          <p:cNvSpPr txBox="1"/>
          <p:nvPr/>
        </p:nvSpPr>
        <p:spPr>
          <a:xfrm>
            <a:off x="497066" y="1479998"/>
            <a:ext cx="664999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err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Navier</a:t>
            </a:r>
            <a:r>
              <a:rPr lang="en-US" sz="16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-Stokes equation and continuity equation</a:t>
            </a:r>
            <a:endParaRPr lang="en-IN" sz="1600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25AAF99D-816E-449C-93B1-DF10A9600852}"/>
                  </a:ext>
                </a:extLst>
              </p:cNvPr>
              <p:cNvSpPr txBox="1"/>
              <p:nvPr/>
            </p:nvSpPr>
            <p:spPr>
              <a:xfrm>
                <a:off x="1897794" y="2548773"/>
                <a:ext cx="1425146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IN" smtClean="0">
                          <a:latin typeface="Cambria Math" panose="02040503050406030204" pitchFamily="18" charset="0"/>
                        </a:rPr>
                        <m:t>∇</m:t>
                      </m:r>
                      <m:r>
                        <a:rPr lang="en-IN" i="0">
                          <a:latin typeface="Cambria Math" panose="02040503050406030204" pitchFamily="18" charset="0"/>
                        </a:rPr>
                        <m:t>.(</m:t>
                      </m:r>
                      <m:r>
                        <m:rPr>
                          <m:sty m:val="p"/>
                        </m:rPr>
                        <a:rPr lang="en-IN" i="0">
                          <a:latin typeface="Cambria Math" panose="02040503050406030204" pitchFamily="18" charset="0"/>
                        </a:rPr>
                        <m:t>ρ</m:t>
                      </m:r>
                      <m:r>
                        <a:rPr lang="en-IN" i="1">
                          <a:latin typeface="Cambria Math" panose="02040503050406030204" pitchFamily="18" charset="0"/>
                        </a:rPr>
                        <m:t>𝑢</m:t>
                      </m:r>
                      <m:r>
                        <a:rPr lang="en-IN" i="0">
                          <a:latin typeface="Cambria Math" panose="02040503050406030204" pitchFamily="18" charset="0"/>
                        </a:rPr>
                        <m:t>)=0</m:t>
                      </m:r>
                    </m:oMath>
                  </m:oMathPara>
                </a14:m>
                <a:endParaRPr lang="en-IN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25AAF99D-816E-449C-93B1-DF10A96008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97794" y="2548773"/>
                <a:ext cx="1425146" cy="369332"/>
              </a:xfrm>
              <a:prstGeom prst="rect">
                <a:avLst/>
              </a:prstGeom>
              <a:blipFill>
                <a:blip r:embed="rId3"/>
                <a:stretch>
                  <a:fillRect b="-1475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CA8C28FD-A6FC-45B4-8CB2-CCBD3A788FC3}"/>
                  </a:ext>
                </a:extLst>
              </p:cNvPr>
              <p:cNvSpPr txBox="1"/>
              <p:nvPr/>
            </p:nvSpPr>
            <p:spPr>
              <a:xfrm>
                <a:off x="627835" y="3337441"/>
                <a:ext cx="10398211" cy="29238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sz="1600" u="sng" dirty="0">
                    <a:latin typeface="Arial" panose="020B0604020202020204" pitchFamily="34" charset="0"/>
                    <a:cs typeface="Arial" panose="020B0604020202020204" pitchFamily="34" charset="0"/>
                  </a:rPr>
                  <a:t>Assumptions</a:t>
                </a:r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: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1.Newtonian and Incompressible fluid.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2.Low Reynolds number flow </a:t>
                </a:r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  <a:sym typeface="Wingdings" panose="05000000000000000000" pitchFamily="2" charset="2"/>
                  </a:rPr>
                  <a:t> Inertial effects are negligible.</a:t>
                </a:r>
                <a:endParaRPr lang="en-US" sz="16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3.No explicit time dependence </a:t>
                </a:r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  <a:sym typeface="Wingdings" panose="05000000000000000000" pitchFamily="2" charset="2"/>
                  </a:rPr>
                  <a:t> Quasi-static</a:t>
                </a: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sz="1600">
                    <a:latin typeface="Arial" panose="020B0604020202020204" pitchFamily="34" charset="0"/>
                    <a:cs typeface="Arial" panose="020B0604020202020204" pitchFamily="34" charset="0"/>
                    <a:sym typeface="Wingdings" panose="05000000000000000000" pitchFamily="2" charset="2"/>
                  </a:rPr>
                  <a:t>Flow determined by B.Cs- </a:t>
                </a:r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  <a:sym typeface="Wingdings" panose="05000000000000000000" pitchFamily="2" charset="2"/>
                  </a:rPr>
                  <a:t>&gt; Particle configuration, external force/torque, no slip</a:t>
                </a: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Linearity of the Stokes equation means the ambient velocity field given by principle of </a:t>
                </a:r>
                <a:r>
                  <a:rPr lang="en-US" sz="1600">
                    <a:latin typeface="Arial" panose="020B0604020202020204" pitchFamily="34" charset="0"/>
                    <a:cs typeface="Arial" panose="020B0604020202020204" pitchFamily="34" charset="0"/>
                  </a:rPr>
                  <a:t>superposition.</a:t>
                </a:r>
                <a:endParaRPr lang="en-US" sz="1600" b="0" i="1">
                  <a:solidFill>
                    <a:srgbClr val="C00000"/>
                  </a:solidFill>
                  <a:latin typeface="Cambria Math" panose="02040503050406030204" pitchFamily="18" charset="0"/>
                  <a:cs typeface="Arial" panose="020B0604020202020204" pitchFamily="34" charset="0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𝑢</m:t>
                          </m:r>
                        </m:e>
                        <m:sub>
                          <m:r>
                            <a:rPr lang="en-US" sz="16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∞</m:t>
                          </m:r>
                        </m:sub>
                      </m:sSub>
                      <m:d>
                        <m:dPr>
                          <m:ctrlPr>
                            <a:rPr lang="en-US" sz="16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r>
                            <a:rPr lang="en-US" sz="16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𝑥</m:t>
                          </m:r>
                        </m:e>
                      </m:d>
                      <m:r>
                        <a:rPr lang="en-US" sz="16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sSup>
                        <m:sSupPr>
                          <m:ctrlPr>
                            <a:rPr lang="en-US" sz="16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pPr>
                        <m:e>
                          <m:r>
                            <a:rPr lang="en-US" sz="16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𝑈</m:t>
                          </m:r>
                        </m:e>
                        <m:sup>
                          <m:r>
                            <a:rPr lang="en-US" sz="16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∞</m:t>
                          </m:r>
                        </m:sup>
                      </m:sSup>
                      <m:r>
                        <a:rPr lang="en-US" sz="16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+</m:t>
                      </m:r>
                      <m:sSup>
                        <m:sSupPr>
                          <m:ctrlPr>
                            <a:rPr lang="en-US" sz="1600" b="0" i="1" dirty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600" i="1" dirty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𝛺</m:t>
                          </m:r>
                        </m:e>
                        <m:sup>
                          <m:r>
                            <a:rPr lang="en-US" sz="1600" b="0" i="1" dirty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∞</m:t>
                          </m:r>
                        </m:sup>
                      </m:sSup>
                      <m:r>
                        <a:rPr lang="en-US" sz="1600" b="0" i="0" dirty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sz="1600" b="0" i="1" dirty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US" sz="1600" b="0" i="1" dirty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en-US" sz="1600" b="0" i="1" dirty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sz="1600" b="0" i="1" dirty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600" b="0" i="1" dirty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𝐸</m:t>
                          </m:r>
                        </m:e>
                        <m:sup>
                          <m:r>
                            <a:rPr lang="en-US" sz="1600" b="0" i="1" dirty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∞</m:t>
                          </m:r>
                        </m:sup>
                      </m:sSup>
                      <m:r>
                        <a:rPr lang="en-US" sz="1600" b="0" i="1" dirty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</m:t>
                      </m:r>
                      <m:r>
                        <a:rPr lang="en-US" sz="1600" b="0" i="1" dirty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sz="1600" dirty="0">
                  <a:solidFill>
                    <a:srgbClr val="C0000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endParaRPr lang="en-IN" sz="16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CA8C28FD-A6FC-45B4-8CB2-CCBD3A788F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7835" y="3337441"/>
                <a:ext cx="10398211" cy="2923877"/>
              </a:xfrm>
              <a:prstGeom prst="rect">
                <a:avLst/>
              </a:prstGeom>
              <a:blipFill>
                <a:blip r:embed="rId4"/>
                <a:stretch>
                  <a:fillRect l="-352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39FE3345-F48D-416E-AF24-9A67EC7F70F1}"/>
                  </a:ext>
                </a:extLst>
              </p:cNvPr>
              <p:cNvSpPr txBox="1"/>
              <p:nvPr/>
            </p:nvSpPr>
            <p:spPr>
              <a:xfrm>
                <a:off x="5085838" y="1993863"/>
                <a:ext cx="609600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0=</m:t>
                      </m:r>
                      <m:r>
                        <a:rPr lang="en-IN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m:rPr>
                          <m:sty m:val="p"/>
                        </m:rPr>
                        <a:rPr lang="en-IN" i="0">
                          <a:latin typeface="Cambria Math" panose="02040503050406030204" pitchFamily="18" charset="0"/>
                        </a:rPr>
                        <m:t>∇</m:t>
                      </m:r>
                      <m:r>
                        <a:rPr lang="en-IN" i="1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IN" i="1">
                          <a:latin typeface="Cambria Math" panose="02040503050406030204" pitchFamily="18" charset="0"/>
                        </a:rPr>
                        <m:t>𝜇</m:t>
                      </m:r>
                      <m:sSup>
                        <m:sSup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IN" i="0">
                              <a:latin typeface="Cambria Math" panose="02040503050406030204" pitchFamily="18" charset="0"/>
                            </a:rPr>
                            <m:t>∇</m:t>
                          </m:r>
                        </m:e>
                        <m:sup>
                          <m:r>
                            <a:rPr lang="en-IN" i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IN" i="1">
                          <a:latin typeface="Cambria Math" panose="02040503050406030204" pitchFamily="18" charset="0"/>
                        </a:rPr>
                        <m:t>𝑢</m:t>
                      </m:r>
                    </m:oMath>
                  </m:oMathPara>
                </a14:m>
                <a:endParaRPr lang="en-IN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39FE3345-F48D-416E-AF24-9A67EC7F70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85838" y="1993863"/>
                <a:ext cx="6096000" cy="369332"/>
              </a:xfrm>
              <a:prstGeom prst="rect">
                <a:avLst/>
              </a:prstGeom>
              <a:blipFill>
                <a:blip r:embed="rId5"/>
                <a:stretch>
                  <a:fillRect b="-491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E4574FD5-EB06-40A1-AF2E-E941F6D30EE1}"/>
                  </a:ext>
                </a:extLst>
              </p:cNvPr>
              <p:cNvSpPr txBox="1"/>
              <p:nvPr/>
            </p:nvSpPr>
            <p:spPr>
              <a:xfrm>
                <a:off x="5826940" y="2581635"/>
                <a:ext cx="430839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IN" smtClean="0">
                          <a:latin typeface="Cambria Math" panose="02040503050406030204" pitchFamily="18" charset="0"/>
                        </a:rPr>
                        <m:t>∇</m:t>
                      </m:r>
                      <m:r>
                        <a:rPr lang="en-IN" i="0">
                          <a:latin typeface="Cambria Math" panose="02040503050406030204" pitchFamily="18" charset="0"/>
                        </a:rPr>
                        <m:t>.(</m:t>
                      </m:r>
                      <m:r>
                        <a:rPr lang="en-IN" i="1">
                          <a:latin typeface="Cambria Math" panose="02040503050406030204" pitchFamily="18" charset="0"/>
                        </a:rPr>
                        <m:t>𝑢</m:t>
                      </m:r>
                      <m:r>
                        <a:rPr lang="en-IN" i="0">
                          <a:latin typeface="Cambria Math" panose="02040503050406030204" pitchFamily="18" charset="0"/>
                        </a:rPr>
                        <m:t>)=0</m:t>
                      </m:r>
                    </m:oMath>
                  </m:oMathPara>
                </a14:m>
                <a:endParaRPr lang="en-IN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E4574FD5-EB06-40A1-AF2E-E941F6D30E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26940" y="2581635"/>
                <a:ext cx="4308390" cy="369332"/>
              </a:xfrm>
              <a:prstGeom prst="rect">
                <a:avLst/>
              </a:prstGeom>
              <a:blipFill>
                <a:blip r:embed="rId6"/>
                <a:stretch>
                  <a:fillRect b="-1475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TextBox 20">
            <a:extLst>
              <a:ext uri="{FF2B5EF4-FFF2-40B4-BE49-F238E27FC236}">
                <a16:creationId xmlns:a16="http://schemas.microsoft.com/office/drawing/2014/main" id="{01FD7C43-8264-471F-BA9E-A2B72FE25AB5}"/>
              </a:ext>
            </a:extLst>
          </p:cNvPr>
          <p:cNvSpPr txBox="1"/>
          <p:nvPr/>
        </p:nvSpPr>
        <p:spPr>
          <a:xfrm>
            <a:off x="7147059" y="1495537"/>
            <a:ext cx="238897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Stokes equation</a:t>
            </a:r>
            <a:endParaRPr lang="en-IN" sz="1600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8A693457-2636-4590-BCE9-957AB3E7D815}"/>
              </a:ext>
            </a:extLst>
          </p:cNvPr>
          <p:cNvCxnSpPr/>
          <p:nvPr/>
        </p:nvCxnSpPr>
        <p:spPr>
          <a:xfrm>
            <a:off x="5145560" y="2384497"/>
            <a:ext cx="163933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C6136473-2A5E-4A56-AF4D-193F6E257282}"/>
              </a:ext>
            </a:extLst>
          </p:cNvPr>
          <p:cNvSpPr txBox="1"/>
          <p:nvPr/>
        </p:nvSpPr>
        <p:spPr>
          <a:xfrm>
            <a:off x="5565522" y="1956705"/>
            <a:ext cx="10379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Re &lt;&lt; 1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345B93A-B6F6-4AD4-A76F-E400D532B54A}"/>
              </a:ext>
            </a:extLst>
          </p:cNvPr>
          <p:cNvSpPr txBox="1"/>
          <p:nvPr/>
        </p:nvSpPr>
        <p:spPr>
          <a:xfrm>
            <a:off x="134897" y="759641"/>
            <a:ext cx="1232053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Governing equations</a:t>
            </a:r>
            <a:endParaRPr lang="en-IN" sz="2800"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AE40F06-5BD8-4CA9-9D6D-73499AC91CDD}"/>
              </a:ext>
            </a:extLst>
          </p:cNvPr>
          <p:cNvSpPr txBox="1"/>
          <p:nvPr/>
        </p:nvSpPr>
        <p:spPr>
          <a:xfrm>
            <a:off x="9868930" y="2153312"/>
            <a:ext cx="12192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 dirty="0"/>
              <a:t>(1)</a:t>
            </a:r>
            <a:endParaRPr lang="en-IN" sz="16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38109C5-8847-4C6A-9309-B2E8E3AC26A8}"/>
              </a:ext>
            </a:extLst>
          </p:cNvPr>
          <p:cNvSpPr txBox="1"/>
          <p:nvPr/>
        </p:nvSpPr>
        <p:spPr>
          <a:xfrm>
            <a:off x="9868930" y="5623474"/>
            <a:ext cx="12192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 dirty="0"/>
              <a:t>(2)</a:t>
            </a:r>
            <a:endParaRPr lang="en-IN" sz="1600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0AE8223-BE8E-4E2C-8F70-C025AFCC4C1D}"/>
              </a:ext>
            </a:extLst>
          </p:cNvPr>
          <p:cNvSpPr/>
          <p:nvPr/>
        </p:nvSpPr>
        <p:spPr>
          <a:xfrm>
            <a:off x="174171" y="188686"/>
            <a:ext cx="11843657" cy="645885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CEABD10-1B5A-4CE7-A3CB-28D3DFD61E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3CAD28-B1A9-4A64-9DD6-3376C7DEC3B0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279219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4878"/>
    </mc:Choice>
    <mc:Fallback xmlns="">
      <p:transition spd="slow" advTm="44878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52F7493-47C5-479A-B956-5B5AC4EC655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83459" y="250723"/>
                <a:ext cx="11289558" cy="6470751"/>
              </a:xfrm>
              <a:ln>
                <a:noFill/>
              </a:ln>
            </p:spPr>
            <p:txBody>
              <a:bodyPr>
                <a:normAutofit/>
              </a:bodyPr>
              <a:lstStyle/>
              <a:p>
                <a:pPr marL="457200" lvl="1" indent="0" algn="ctr">
                  <a:lnSpc>
                    <a:spcPct val="200000"/>
                  </a:lnSpc>
                  <a:buNone/>
                </a:pPr>
                <a:r>
                  <a:rPr lang="en-US" sz="2800" b="1">
                    <a:solidFill>
                      <a:srgbClr val="C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Stokesian Dynamics</a:t>
                </a:r>
              </a:p>
              <a:p>
                <a:pPr marL="457200" lvl="1" indent="0" algn="ctr">
                  <a:lnSpc>
                    <a:spcPct val="200000"/>
                  </a:lnSpc>
                  <a:buNone/>
                </a:pPr>
                <a:r>
                  <a:rPr lang="en-IN" sz="1800">
                    <a:latin typeface="Arial" panose="020B0604020202020204" pitchFamily="34" charset="0"/>
                    <a:cs typeface="Arial" panose="020B0604020202020204" pitchFamily="34" charset="0"/>
                  </a:rPr>
                  <a:t>Significance: Lubrication interactions are easily included unlike other methods.</a:t>
                </a:r>
                <a:endParaRPr lang="en-US" sz="1800" b="1">
                  <a:solidFill>
                    <a:srgbClr val="C0000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285750" indent="-285750">
                  <a:lnSpc>
                    <a:spcPct val="150000"/>
                  </a:lnSpc>
                </a:pPr>
                <a:r>
                  <a:rPr lang="en-IN" sz="1600">
                    <a:latin typeface="Arial" panose="020B0604020202020204" pitchFamily="34" charset="0"/>
                    <a:cs typeface="Arial" panose="020B0604020202020204" pitchFamily="34" charset="0"/>
                  </a:rPr>
                  <a:t>Fractals discretised into spheres.</a:t>
                </a: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sz="1600">
                    <a:latin typeface="Arial" panose="020B0604020202020204" pitchFamily="34" charset="0"/>
                    <a:cs typeface="Arial" panose="020B0604020202020204" pitchFamily="34" charset="0"/>
                  </a:rPr>
                  <a:t>Linear relationship between the velocity and force moments.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IN" sz="16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IN" sz="16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p>
                                  <m:sSupPr>
                                    <m:ctrlPr>
                                      <a:rPr lang="en-IN" sz="16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IN" sz="1600" i="1">
                                        <a:latin typeface="Cambria Math" panose="02040503050406030204" pitchFamily="18" charset="0"/>
                                      </a:rPr>
                                      <m:t>𝐹</m:t>
                                    </m:r>
                                  </m:e>
                                  <m:sup>
                                    <m:r>
                                      <a:rPr lang="en-IN" sz="1600" i="1">
                                        <a:latin typeface="Cambria Math" panose="02040503050406030204" pitchFamily="18" charset="0"/>
                                      </a:rPr>
                                      <m:t>𝛼</m:t>
                                    </m:r>
                                  </m:sup>
                                </m:sSup>
                              </m:e>
                            </m:mr>
                            <m:mr>
                              <m:e>
                                <m:sSup>
                                  <m:sSupPr>
                                    <m:ctrlPr>
                                      <a:rPr lang="en-IN" sz="16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e>
                                  <m:sup>
                                    <m:r>
                                      <a:rPr lang="en-IN" sz="1600" i="1">
                                        <a:latin typeface="Cambria Math" panose="02040503050406030204" pitchFamily="18" charset="0"/>
                                      </a:rPr>
                                      <m:t>𝛼</m:t>
                                    </m:r>
                                  </m:sup>
                                </m:sSup>
                              </m:e>
                            </m:mr>
                            <m:mr>
                              <m:e>
                                <m:sSup>
                                  <m:sSupPr>
                                    <m:ctrlPr>
                                      <a:rPr lang="en-IN" sz="16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IN" sz="1600" i="1">
                                        <a:latin typeface="Cambria Math" panose="02040503050406030204" pitchFamily="18" charset="0"/>
                                      </a:rPr>
                                      <m:t>𝑆</m:t>
                                    </m:r>
                                  </m:e>
                                  <m:sup>
                                    <m:r>
                                      <a:rPr lang="en-IN" sz="1600" i="1">
                                        <a:latin typeface="Cambria Math" panose="02040503050406030204" pitchFamily="18" charset="0"/>
                                      </a:rPr>
                                      <m:t>𝛼</m:t>
                                    </m:r>
                                  </m:sup>
                                </m:sSup>
                              </m:e>
                            </m:mr>
                          </m:m>
                        </m:e>
                      </m:d>
                      <m:r>
                        <a:rPr lang="en-IN" sz="1600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sz="1600" i="1">
                          <a:latin typeface="Cambria Math" panose="02040503050406030204" pitchFamily="18" charset="0"/>
                        </a:rPr>
                        <m:t>𝑅</m:t>
                      </m:r>
                      <m:d>
                        <m:dPr>
                          <m:ctrlPr>
                            <a:rPr lang="en-IN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IN" sz="16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p>
                                  <m:sSupPr>
                                    <m:ctrlPr>
                                      <a:rPr lang="en-IN" sz="16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IN" sz="1600" i="1">
                                        <a:latin typeface="Cambria Math" panose="02040503050406030204" pitchFamily="18" charset="0"/>
                                      </a:rPr>
                                      <m:t>𝑈</m:t>
                                    </m:r>
                                  </m:e>
                                  <m:sup>
                                    <m:r>
                                      <a:rPr lang="en-IN" sz="1600" i="1">
                                        <a:latin typeface="Cambria Math" panose="02040503050406030204" pitchFamily="18" charset="0"/>
                                      </a:rPr>
                                      <m:t>𝛼</m:t>
                                    </m:r>
                                  </m:sup>
                                </m:sSup>
                                <m:r>
                                  <a:rPr lang="en-IN" sz="1600" i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p>
                                  <m:sSupPr>
                                    <m:ctrlPr>
                                      <a:rPr lang="en-IN" sz="16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IN" sz="1600" i="1">
                                        <a:latin typeface="Cambria Math" panose="02040503050406030204" pitchFamily="18" charset="0"/>
                                      </a:rPr>
                                      <m:t>𝑢</m:t>
                                    </m:r>
                                  </m:e>
                                  <m:sup>
                                    <m:r>
                                      <a:rPr lang="en-IN" sz="1600" i="0">
                                        <a:latin typeface="Cambria Math" panose="02040503050406030204" pitchFamily="18" charset="0"/>
                                      </a:rPr>
                                      <m:t>∞</m:t>
                                    </m:r>
                                  </m:sup>
                                </m:sSup>
                              </m:e>
                            </m:mr>
                            <m:mr>
                              <m:e>
                                <m:sSup>
                                  <m:sSupPr>
                                    <m:ctrlPr>
                                      <a:rPr lang="en-IN" sz="16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IN" sz="1600" i="1">
                                        <a:latin typeface="Cambria Math" panose="02040503050406030204" pitchFamily="18" charset="0"/>
                                      </a:rPr>
                                      <m:t>𝛺</m:t>
                                    </m:r>
                                  </m:e>
                                  <m:sup>
                                    <m:r>
                                      <a:rPr lang="en-IN" sz="1600" i="1">
                                        <a:latin typeface="Cambria Math" panose="02040503050406030204" pitchFamily="18" charset="0"/>
                                      </a:rPr>
                                      <m:t>𝛼</m:t>
                                    </m:r>
                                  </m:sup>
                                </m:sSup>
                                <m:r>
                                  <a:rPr lang="en-IN" sz="1600" i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p>
                                  <m:sSupPr>
                                    <m:ctrlPr>
                                      <a:rPr lang="en-IN" sz="16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IN" sz="1600" i="1">
                                        <a:latin typeface="Cambria Math" panose="02040503050406030204" pitchFamily="18" charset="0"/>
                                      </a:rPr>
                                      <m:t>𝛺</m:t>
                                    </m:r>
                                  </m:e>
                                  <m:sup>
                                    <m:r>
                                      <a:rPr lang="en-IN" sz="1600" i="0">
                                        <a:latin typeface="Cambria Math" panose="02040503050406030204" pitchFamily="18" charset="0"/>
                                      </a:rPr>
                                      <m:t>∞</m:t>
                                    </m:r>
                                  </m:sup>
                                </m:sSup>
                              </m:e>
                            </m:mr>
                            <m:mr>
                              <m:e>
                                <m:sSup>
                                  <m:sSupPr>
                                    <m:ctrlPr>
                                      <a:rPr lang="en-IN" sz="16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IN" sz="1600" i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IN" sz="1600" i="1">
                                        <a:latin typeface="Cambria Math" panose="02040503050406030204" pitchFamily="18" charset="0"/>
                                      </a:rPr>
                                      <m:t>𝐸</m:t>
                                    </m:r>
                                  </m:e>
                                  <m:sup>
                                    <m:r>
                                      <a:rPr lang="en-IN" sz="1600" i="0">
                                        <a:latin typeface="Cambria Math" panose="02040503050406030204" pitchFamily="18" charset="0"/>
                                      </a:rPr>
                                      <m:t>∞</m:t>
                                    </m:r>
                                  </m:sup>
                                </m:sSup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IN" sz="160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sz="1600">
                    <a:latin typeface="Arial" panose="020B0604020202020204" pitchFamily="34" charset="0"/>
                    <a:cs typeface="Arial" panose="020B0604020202020204" pitchFamily="34" charset="0"/>
                    <a:sym typeface="Wingdings" panose="05000000000000000000" pitchFamily="2" charset="2"/>
                  </a:rPr>
                  <a:t>Resistance matrix accounts for near field and far-field interactions.</a:t>
                </a:r>
              </a:p>
              <a:p>
                <a:pPr marL="0" indent="0" algn="ctr">
                  <a:lnSpc>
                    <a:spcPct val="150000"/>
                  </a:lnSpc>
                  <a:buNone/>
                </a:pPr>
                <a14:m>
                  <m:oMath xmlns:m="http://schemas.openxmlformats.org/officeDocument/2006/math">
                    <m:r>
                      <a:rPr lang="en-IN" sz="1600" i="1" smtClean="0"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IN" sz="1600" i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IN" sz="1600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IN" sz="1600" b="1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IN" sz="1600" b="1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IN" sz="1600" b="1" i="1">
                                    <a:latin typeface="Cambria Math" panose="02040503050406030204" pitchFamily="18" charset="0"/>
                                  </a:rPr>
                                  <m:t>𝑴</m:t>
                                </m:r>
                              </m:e>
                              <m:sup>
                                <m:r>
                                  <a:rPr lang="en-IN" sz="1600" b="1" i="0">
                                    <a:latin typeface="Cambria Math" panose="02040503050406030204" pitchFamily="18" charset="0"/>
                                  </a:rPr>
                                  <m:t>∞</m:t>
                                </m:r>
                              </m:sup>
                            </m:sSup>
                          </m:e>
                        </m:d>
                      </m:e>
                      <m:sup>
                        <m:r>
                          <a:rPr lang="en-IN" sz="1600" b="1" i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1600" b="1" i="0">
                            <a:latin typeface="Cambria Math" panose="02040503050406030204" pitchFamily="18" charset="0"/>
                          </a:rPr>
                          <m:t>𝟏</m:t>
                        </m:r>
                      </m:sup>
                    </m:sSup>
                    <m:r>
                      <a:rPr lang="en-IN" sz="1600" i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IN" sz="160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16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1600" i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16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</m:sSub>
                    <m:r>
                      <a:rPr lang="en-IN" sz="1600" i="0">
                        <a:latin typeface="Cambria Math" panose="02040503050406030204" pitchFamily="18" charset="0"/>
                      </a:rPr>
                      <m:t>−</m:t>
                    </m:r>
                    <m:sSup>
                      <m:sSupPr>
                        <m:ctrlPr>
                          <a:rPr lang="en-IN" sz="16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en-IN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1600" i="1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IN" sz="1600" i="0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1600" i="1">
                                <a:latin typeface="Cambria Math" panose="02040503050406030204" pitchFamily="18" charset="0"/>
                              </a:rPr>
                              <m:t>𝐵</m:t>
                            </m:r>
                          </m:sub>
                        </m:sSub>
                      </m:e>
                      <m:sup>
                        <m:r>
                          <a:rPr lang="en-IN" sz="1600" i="0">
                            <a:latin typeface="Cambria Math" panose="02040503050406030204" pitchFamily="18" charset="0"/>
                          </a:rPr>
                          <m:t>∞</m:t>
                        </m:r>
                      </m:sup>
                    </m:sSup>
                  </m:oMath>
                </a14:m>
                <a:r>
                  <a:rPr lang="en-IN" sz="1600">
                    <a:latin typeface="Arial" panose="020B0604020202020204" pitchFamily="34" charset="0"/>
                    <a:cs typeface="Arial" panose="020B0604020202020204" pitchFamily="34" charset="0"/>
                  </a:rPr>
                  <a:t>                        </a:t>
                </a:r>
                <a14:m>
                  <m:oMath xmlns:m="http://schemas.openxmlformats.org/officeDocument/2006/math">
                    <m:r>
                      <a:rPr lang="en-US" sz="1600" b="0" i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600" i="1"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sz="1600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1600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600" b="1" i="1">
                            <a:latin typeface="Cambria Math" panose="02040503050406030204" pitchFamily="18" charset="0"/>
                          </a:rPr>
                          <m:t>𝑹</m:t>
                        </m:r>
                      </m:e>
                      <m:sup>
                        <m:r>
                          <a:rPr lang="en-US" sz="1600" b="1" i="1">
                            <a:latin typeface="Cambria Math" panose="02040503050406030204" pitchFamily="18" charset="0"/>
                          </a:rPr>
                          <m:t>𝒇𝒇</m:t>
                        </m:r>
                      </m:sup>
                    </m:sSup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sz="160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6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US" sz="16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𝑛𝑓</m:t>
                        </m:r>
                      </m:sup>
                    </m:sSup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IN" sz="160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457200" lvl="1" indent="0">
                  <a:lnSpc>
                    <a:spcPct val="150000"/>
                  </a:lnSpc>
                  <a:buNone/>
                </a:pPr>
                <a:r>
                  <a:rPr lang="en-IN" sz="1600">
                    <a:latin typeface="Arial" panose="020B0604020202020204" pitchFamily="34" charset="0"/>
                    <a:cs typeface="Arial" panose="020B0604020202020204" pitchFamily="34" charset="0"/>
                  </a:rPr>
                  <a:t>-	Configuration dependent , Symmetric, Positive definite.</a:t>
                </a:r>
              </a:p>
              <a:p>
                <a:pPr marL="457200" lvl="1" indent="0">
                  <a:lnSpc>
                    <a:spcPct val="150000"/>
                  </a:lnSpc>
                  <a:buNone/>
                </a:pPr>
                <a:r>
                  <a:rPr lang="en-IN" sz="1600" i="1">
                    <a:latin typeface="Arial" panose="020B0604020202020204" pitchFamily="34" charset="0"/>
                    <a:cs typeface="Arial" panose="020B0604020202020204" pitchFamily="34" charset="0"/>
                  </a:rPr>
                  <a:t>-	Near-field</a:t>
                </a:r>
                <a:r>
                  <a:rPr lang="en-IN" sz="1600">
                    <a:latin typeface="Arial" panose="020B0604020202020204" pitchFamily="34" charset="0"/>
                    <a:cs typeface="Arial" panose="020B0604020202020204" pitchFamily="34" charset="0"/>
                  </a:rPr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1600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1600" i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1600" i="1"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</m:sSub>
                  </m:oMath>
                </a14:m>
                <a:r>
                  <a:rPr lang="en-IN" sz="1600">
                    <a:latin typeface="Arial" panose="020B0604020202020204" pitchFamily="34" charset="0"/>
                    <a:cs typeface="Arial" panose="020B0604020202020204" pitchFamily="34" charset="0"/>
                  </a:rPr>
                  <a:t>=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600" b="0" i="0" smtClean="0">
                        <a:latin typeface="Cambria Math" panose="02040503050406030204" pitchFamily="18" charset="0"/>
                      </a:rPr>
                      <m:t>f</m:t>
                    </m:r>
                    <m:d>
                      <m:d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sz="1600">
                            <a:latin typeface="Cambria Math" panose="02040503050406030204" pitchFamily="18" charset="0"/>
                          </a:rPr>
                          <m:t>s</m:t>
                        </m:r>
                        <m:r>
                          <a:rPr lang="en-US" sz="1600" b="0" i="0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1600" i="1"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</m:d>
                    <m:r>
                      <a:rPr lang="en-US" sz="1600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1600" b="0" i="0" smtClean="0">
                        <a:latin typeface="Cambria Math" panose="02040503050406030204" pitchFamily="18" charset="0"/>
                      </a:rPr>
                      <m:t>and</m:t>
                    </m:r>
                    <m:r>
                      <a:rPr lang="en-US" sz="1600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1600" b="0" i="0" smtClean="0">
                        <a:latin typeface="Cambria Math" panose="02040503050406030204" pitchFamily="18" charset="0"/>
                      </a:rPr>
                      <m:t>s</m:t>
                    </m:r>
                    <m:r>
                      <a:rPr lang="en-IN" sz="160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IN" sz="16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160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1600" i="1">
                            <a:latin typeface="Cambria Math" panose="02040503050406030204" pitchFamily="18" charset="0"/>
                          </a:rPr>
                          <m:t>𝑟</m:t>
                        </m:r>
                      </m:num>
                      <m:den>
                        <m:d>
                          <m:dPr>
                            <m:begChr m:val=""/>
                            <m:ctrlPr>
                              <a:rPr lang="en-IN" sz="16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1600">
                                <a:latin typeface="Cambria Math" panose="02040503050406030204" pitchFamily="18" charset="0"/>
                              </a:rPr>
                              <m:t> (</m:t>
                            </m:r>
                            <m:sSub>
                              <m:sSubPr>
                                <m:ctrlPr>
                                  <a:rPr lang="en-IN" sz="16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IN" sz="1600" i="1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n-IN" sz="160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IN" sz="1600"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en-IN" sz="16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IN" sz="1600" i="1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n-IN" sz="160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e>
                        </m:d>
                      </m:den>
                    </m:f>
                    <m:r>
                      <a:rPr lang="en-IN" sz="160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IN" sz="1600" i="1">
                        <a:latin typeface="Cambria Math" panose="02040503050406030204" pitchFamily="18" charset="0"/>
                      </a:rPr>
                      <m:t>𝑎𝑛𝑑</m:t>
                    </m:r>
                    <m:r>
                      <a:rPr lang="en-IN" sz="160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IN" sz="1600" i="1"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IN" sz="160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IN" sz="16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IN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1600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IN" sz="160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IN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1600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IN" sz="160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den>
                    </m:f>
                  </m:oMath>
                </a14:m>
                <a:endParaRPr lang="en-IN" sz="160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457200" lvl="1" indent="0">
                  <a:lnSpc>
                    <a:spcPct val="150000"/>
                  </a:lnSpc>
                  <a:buNone/>
                </a:pPr>
                <a:r>
                  <a:rPr lang="en-IN" sz="1600" i="1">
                    <a:latin typeface="Arial" panose="020B0604020202020204" pitchFamily="34" charset="0"/>
                    <a:cs typeface="Arial" panose="020B0604020202020204" pitchFamily="34" charset="0"/>
                  </a:rPr>
                  <a:t>-	Far-field</a:t>
                </a:r>
                <a:r>
                  <a:rPr lang="en-IN" sz="1600">
                    <a:latin typeface="Arial" panose="020B0604020202020204" pitchFamily="34" charset="0"/>
                    <a:cs typeface="Arial" panose="020B0604020202020204" pitchFamily="34" charset="0"/>
                  </a:rPr>
                  <a:t>: Green’s function – multipole expansion – Faxen’s law</a:t>
                </a:r>
              </a:p>
              <a:p>
                <a:pPr lvl="1">
                  <a:lnSpc>
                    <a:spcPct val="150000"/>
                  </a:lnSpc>
                  <a:buFontTx/>
                  <a:buChar char="-"/>
                </a:pPr>
                <a:endParaRPr lang="en-IN" sz="160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457200" lvl="1" indent="0">
                  <a:lnSpc>
                    <a:spcPct val="200000"/>
                  </a:lnSpc>
                  <a:buNone/>
                </a:pPr>
                <a:endParaRPr lang="en-IN" sz="160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lvl="1">
                  <a:lnSpc>
                    <a:spcPct val="200000"/>
                  </a:lnSpc>
                </a:pPr>
                <a:endParaRPr lang="en-IN" sz="1600" dirty="0"/>
              </a:p>
              <a:p>
                <a:pPr marL="457200" lvl="1" indent="0">
                  <a:lnSpc>
                    <a:spcPct val="200000"/>
                  </a:lnSpc>
                  <a:buNone/>
                </a:pPr>
                <a:endParaRPr lang="en-IN" sz="1600" dirty="0"/>
              </a:p>
              <a:p>
                <a:pPr marL="457200" lvl="1" indent="0">
                  <a:lnSpc>
                    <a:spcPct val="200000"/>
                  </a:lnSpc>
                  <a:buNone/>
                </a:pPr>
                <a:endParaRPr lang="en-IN" sz="1600" dirty="0"/>
              </a:p>
              <a:p>
                <a:pPr lvl="1">
                  <a:lnSpc>
                    <a:spcPct val="200000"/>
                  </a:lnSpc>
                </a:pPr>
                <a:endParaRPr lang="en-IN" sz="16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52F7493-47C5-479A-B956-5B5AC4EC655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83459" y="250723"/>
                <a:ext cx="11289558" cy="6470751"/>
              </a:xfrm>
              <a:blipFill>
                <a:blip r:embed="rId2"/>
                <a:stretch>
                  <a:fillRect l="-216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379EA86A-CD77-43FE-946C-51556B2A4A33}"/>
                  </a:ext>
                </a:extLst>
              </p:cNvPr>
              <p:cNvSpPr txBox="1"/>
              <p:nvPr/>
            </p:nvSpPr>
            <p:spPr>
              <a:xfrm>
                <a:off x="9312132" y="2274196"/>
                <a:ext cx="2360885" cy="138338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1400" b="1" i="1" smtClean="0">
                          <a:latin typeface="Cambria Math" panose="02040503050406030204" pitchFamily="18" charset="0"/>
                        </a:rPr>
                        <m:t>𝒎</m:t>
                      </m:r>
                      <m:r>
                        <a:rPr lang="en-IN" sz="1400" b="0" i="1" smtClean="0">
                          <a:latin typeface="Cambria Math" panose="02040503050406030204" pitchFamily="18" charset="0"/>
                        </a:rPr>
                        <m:t>.</m:t>
                      </m:r>
                      <m:f>
                        <m:fPr>
                          <m:ctrlPr>
                            <a:rPr lang="en-IN" sz="1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14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IN" sz="1400" b="1" i="1" smtClean="0">
                              <a:latin typeface="Cambria Math" panose="02040503050406030204" pitchFamily="18" charset="0"/>
                            </a:rPr>
                            <m:t>𝑼</m:t>
                          </m:r>
                        </m:num>
                        <m:den>
                          <m:r>
                            <a:rPr lang="en-IN" sz="1400" b="0" i="1" smtClean="0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en-IN" sz="14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IN" sz="1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IN" sz="1400" b="1" i="1" smtClean="0">
                              <a:latin typeface="Cambria Math" panose="02040503050406030204" pitchFamily="18" charset="0"/>
                            </a:rPr>
                            <m:t>𝑭</m:t>
                          </m:r>
                        </m:e>
                        <m:sup>
                          <m:r>
                            <a:rPr lang="en-IN" sz="1400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</m:sup>
                      </m:sSup>
                      <m:r>
                        <a:rPr lang="en-IN" sz="1400" b="0" i="1" smtClean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IN" sz="1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IN" sz="1400" b="1" i="1" smtClean="0">
                              <a:latin typeface="Cambria Math" panose="02040503050406030204" pitchFamily="18" charset="0"/>
                            </a:rPr>
                            <m:t>𝑭</m:t>
                          </m:r>
                        </m:e>
                        <m:sup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</m:sup>
                      </m:sSup>
                      <m:r>
                        <a:rPr lang="en-IN" sz="1400" b="0" i="1" smtClean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IN" sz="1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IN" sz="1400" b="1" i="1" smtClean="0">
                              <a:latin typeface="Cambria Math" panose="02040503050406030204" pitchFamily="18" charset="0"/>
                            </a:rPr>
                            <m:t>𝑭</m:t>
                          </m:r>
                        </m:e>
                        <m:sup>
                          <m:r>
                            <a:rPr lang="en-IN" sz="1400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sup>
                      </m:sSup>
                    </m:oMath>
                  </m:oMathPara>
                </a14:m>
                <a:endParaRPr lang="en-IN" sz="14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p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</m:sup>
                      </m:sSup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=−</m:t>
                      </m:r>
                      <m:sSup>
                        <m:sSup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p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</m:sup>
                      </m:sSup>
                    </m:oMath>
                  </m:oMathPara>
                </a14:m>
                <a:endParaRPr lang="en-IN" sz="14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p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</m:sup>
                      </m:sSup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𝐻𝑦𝑑𝑟𝑜𝑑𝑦𝑛𝑎𝑚𝑖𝑐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𝑓𝑜𝑟𝑐𝑒</m:t>
                      </m:r>
                    </m:oMath>
                  </m:oMathPara>
                </a14:m>
                <a:endParaRPr lang="en-US" sz="1400" b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p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</m:sup>
                      </m:sSup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𝐸𝑥𝑡𝑒𝑟𝑛𝑎𝑙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𝑓𝑜𝑟𝑐𝑒</m:t>
                      </m:r>
                    </m:oMath>
                  </m:oMathPara>
                </a14:m>
                <a:endParaRPr lang="en-US" sz="1400" b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p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sup>
                      </m:sSup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𝐵𝑟𝑜𝑤𝑛𝑖𝑎𝑛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𝑓𝑜𝑟𝑐𝑒</m:t>
                      </m:r>
                    </m:oMath>
                  </m:oMathPara>
                </a14:m>
                <a:endParaRPr lang="en-IN" sz="14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379EA86A-CD77-43FE-946C-51556B2A4A3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12132" y="2274196"/>
                <a:ext cx="2360885" cy="138338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740F4EAE-AFBE-4EF5-B3C7-77D8B6F12E6D}"/>
              </a:ext>
            </a:extLst>
          </p:cNvPr>
          <p:cNvCxnSpPr>
            <a:cxnSpLocks/>
          </p:cNvCxnSpPr>
          <p:nvPr/>
        </p:nvCxnSpPr>
        <p:spPr>
          <a:xfrm flipV="1">
            <a:off x="9598556" y="2274196"/>
            <a:ext cx="520262" cy="49657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4630D5F7-49A8-4672-AD98-5CA06549916F}"/>
              </a:ext>
            </a:extLst>
          </p:cNvPr>
          <p:cNvCxnSpPr>
            <a:cxnSpLocks/>
          </p:cNvCxnSpPr>
          <p:nvPr/>
        </p:nvCxnSpPr>
        <p:spPr>
          <a:xfrm flipV="1">
            <a:off x="11161986" y="2396359"/>
            <a:ext cx="236483" cy="25224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" name="Rectangle 18">
            <a:extLst>
              <a:ext uri="{FF2B5EF4-FFF2-40B4-BE49-F238E27FC236}">
                <a16:creationId xmlns:a16="http://schemas.microsoft.com/office/drawing/2014/main" id="{A04B9DE9-16D9-449B-B65B-5C5E0D1E5A6F}"/>
              </a:ext>
            </a:extLst>
          </p:cNvPr>
          <p:cNvSpPr/>
          <p:nvPr/>
        </p:nvSpPr>
        <p:spPr>
          <a:xfrm>
            <a:off x="174171" y="188686"/>
            <a:ext cx="11843657" cy="645885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D01BD8C-D5DA-43B7-93B8-1067E049AC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3CAD28-B1A9-4A64-9DD6-3376C7DEC3B0}" type="slidenum">
              <a:rPr lang="en-IN" smtClean="0"/>
              <a:t>8</a:t>
            </a:fld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997DDFC-3363-48C5-B67A-6F59FDE78BEE}"/>
              </a:ext>
            </a:extLst>
          </p:cNvPr>
          <p:cNvSpPr txBox="1"/>
          <p:nvPr/>
        </p:nvSpPr>
        <p:spPr>
          <a:xfrm>
            <a:off x="300939" y="6342941"/>
            <a:ext cx="340723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/>
              <a:t>*Brickell(2012)</a:t>
            </a:r>
            <a:endParaRPr lang="en-IN" sz="1200"/>
          </a:p>
        </p:txBody>
      </p:sp>
    </p:spTree>
    <p:extLst>
      <p:ext uri="{BB962C8B-B14F-4D97-AF65-F5344CB8AC3E}">
        <p14:creationId xmlns:p14="http://schemas.microsoft.com/office/powerpoint/2010/main" val="41165272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3517"/>
    </mc:Choice>
    <mc:Fallback xmlns="">
      <p:transition spd="slow" advTm="103517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7B0A94C-5062-43DD-813F-6D7DEA328D3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25052" y="547853"/>
                <a:ext cx="10802921" cy="5762294"/>
              </a:xfrm>
            </p:spPr>
            <p:txBody>
              <a:bodyPr>
                <a:noAutofit/>
              </a:bodyPr>
              <a:lstStyle/>
              <a:p>
                <a:r>
                  <a:rPr lang="en-US" sz="1600" dirty="0">
                    <a:solidFill>
                      <a:srgbClr val="C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600" b="1">
                    <a:solidFill>
                      <a:srgbClr val="C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Green’s function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16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𝑱</m:t>
                        </m:r>
                      </m:e>
                      <m:sub>
                        <m:r>
                          <a:rPr lang="en-US" sz="16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𝒊𝒋</m:t>
                        </m:r>
                      </m:sub>
                    </m:sSub>
                    <m:r>
                      <a:rPr lang="en-US" sz="16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1600">
                    <a:latin typeface="Arial" panose="020B0604020202020204" pitchFamily="34" charset="0"/>
                    <a:cs typeface="Arial" panose="020B0604020202020204" pitchFamily="34" charset="0"/>
                  </a:rPr>
                  <a:t> - </a:t>
                </a:r>
                <a:r>
                  <a:rPr lang="en-IN" sz="1600">
                    <a:latin typeface="Arial" panose="020B0604020202020204" pitchFamily="34" charset="0"/>
                    <a:cs typeface="Arial" panose="020B0604020202020204" pitchFamily="34" charset="0"/>
                  </a:rPr>
                  <a:t>Velocity disturbance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(</m:t>
                    </m:r>
                    <m:sSubSup>
                      <m:sSubSupPr>
                        <m:ctrlP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Sup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𝑢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𝑖</m:t>
                        </m:r>
                      </m:sub>
                      <m:sup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′</m:t>
                        </m:r>
                      </m:sup>
                    </m:sSubSup>
                    <m:r>
                      <a:rPr lang="en-US" sz="16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)</m:t>
                    </m:r>
                  </m:oMath>
                </a14:m>
                <a:r>
                  <a:rPr lang="en-IN" sz="160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IN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caused by a </a:t>
                </a:r>
                <a:r>
                  <a:rPr lang="en-IN" sz="1600">
                    <a:latin typeface="Arial" panose="020B0604020202020204" pitchFamily="34" charset="0"/>
                    <a:cs typeface="Arial" panose="020B0604020202020204" pitchFamily="34" charset="0"/>
                  </a:rPr>
                  <a:t>point force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(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𝑓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𝑗</m:t>
                        </m:r>
                      </m:sub>
                    </m:sSub>
                    <m:r>
                      <a:rPr lang="en-US" sz="16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)</m:t>
                    </m:r>
                  </m:oMath>
                </a14:m>
                <a:endParaRPr lang="en-IN" sz="160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lvl="1"/>
                <a:r>
                  <a:rPr lang="en-US" sz="1200">
                    <a:latin typeface="Arial" panose="020B0604020202020204" pitchFamily="34" charset="0"/>
                    <a:cs typeface="Arial" panose="020B0604020202020204" pitchFamily="34" charset="0"/>
                  </a:rPr>
                  <a:t>Response of a viscous fluid with a single point force</a:t>
                </a:r>
                <a:endParaRPr lang="en-IN" sz="120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indent="0">
                  <a:buNone/>
                </a:pPr>
                <a:endParaRPr lang="en-IN" sz="1600" i="1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16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16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u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IN" sz="16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i</m:t>
                          </m:r>
                        </m:sub>
                      </m:sSub>
                      <m:r>
                        <a:rPr lang="en-US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′</m:t>
                      </m:r>
                      <m:r>
                        <a:rPr lang="en-IN" sz="16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16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IN" sz="16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8</m:t>
                          </m:r>
                          <m:r>
                            <m:rPr>
                              <m:sty m:val="p"/>
                            </m:rPr>
                            <a:rPr lang="en-IN" sz="16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πμ</m:t>
                          </m:r>
                        </m:den>
                      </m:f>
                      <m:r>
                        <a:rPr lang="en-IN" sz="16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IN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16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J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IN" sz="16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ij</m:t>
                          </m:r>
                        </m:sub>
                      </m:sSub>
                      <m:r>
                        <a:rPr lang="en-IN" sz="16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en-IN" sz="16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x</m:t>
                      </m:r>
                      <m:r>
                        <a:rPr lang="en-IN" sz="16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IN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16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IN" sz="16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o</m:t>
                          </m:r>
                        </m:sub>
                      </m:sSub>
                      <m:r>
                        <a:rPr lang="en-IN" sz="16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 </m:t>
                      </m:r>
                      <m:sSub>
                        <m:sSubPr>
                          <m:ctrlPr>
                            <a:rPr lang="en-IN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16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f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IN" sz="16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j</m:t>
                          </m:r>
                        </m:sub>
                      </m:sSub>
                    </m:oMath>
                  </m:oMathPara>
                </a14:m>
                <a:endParaRPr lang="en-IN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indent="0">
                  <a:buNone/>
                </a:pPr>
                <a:endParaRPr lang="en-IN" sz="16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16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16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J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IN" sz="16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ij</m:t>
                          </m:r>
                        </m:sub>
                      </m:sSub>
                      <m:r>
                        <a:rPr lang="en-IN" sz="16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IN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IN" sz="16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δ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IN" sz="16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ij</m:t>
                              </m:r>
                            </m:sub>
                          </m:sSub>
                        </m:num>
                        <m:den>
                          <m:r>
                            <m:rPr>
                              <m:sty m:val="p"/>
                            </m:rPr>
                            <a:rPr lang="en-IN" sz="16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r</m:t>
                          </m:r>
                        </m:den>
                      </m:f>
                      <m:r>
                        <a:rPr lang="en-IN" sz="16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IN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IN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en-IN" sz="16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IN" sz="16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x</m:t>
                                  </m:r>
                                </m:e>
                              </m:acc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IN" sz="16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i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IN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en-IN" sz="16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IN" sz="16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x</m:t>
                                  </m:r>
                                </m:e>
                              </m:acc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IN" sz="16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j</m:t>
                              </m:r>
                            </m:sub>
                          </m:sSub>
                        </m:num>
                        <m:den>
                          <m:sSup>
                            <m:sSupPr>
                              <m:ctrlPr>
                                <a:rPr lang="en-IN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IN" sz="16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r</m:t>
                              </m:r>
                            </m:e>
                            <m:sup>
                              <m:r>
                                <a:rPr lang="en-IN" sz="16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IN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457200" indent="-4572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endParaRPr lang="en-US" sz="1600"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457200" indent="-4572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sz="1600" b="1">
                    <a:solidFill>
                      <a:srgbClr val="C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Multipole expansion </a:t>
                </a:r>
                <a:r>
                  <a:rPr lang="en-US" sz="1600">
                    <a:latin typeface="Arial" panose="020B0604020202020204" pitchFamily="34" charset="0"/>
                    <a:cs typeface="Arial" panose="020B0604020202020204" pitchFamily="34" charset="0"/>
                  </a:rPr>
                  <a:t>- Presence </a:t>
                </a:r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of particles create a disturbance field.</a:t>
                </a:r>
              </a:p>
              <a:p>
                <a:pPr lvl="1">
                  <a:lnSpc>
                    <a:spcPct val="150000"/>
                  </a:lnSpc>
                </a:pPr>
                <a:r>
                  <a:rPr lang="en-IN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Velocity field at any </a:t>
                </a:r>
                <a:r>
                  <a:rPr lang="en-IN" sz="1200">
                    <a:latin typeface="Arial" panose="020B0604020202020204" pitchFamily="34" charset="0"/>
                    <a:cs typeface="Arial" panose="020B0604020202020204" pitchFamily="34" charset="0"/>
                  </a:rPr>
                  <a:t>point ‘</a:t>
                </a:r>
                <a:r>
                  <a:rPr lang="en-IN" sz="1200" i="1">
                    <a:latin typeface="Arial" panose="020B0604020202020204" pitchFamily="34" charset="0"/>
                    <a:cs typeface="Arial" panose="020B0604020202020204" pitchFamily="34" charset="0"/>
                  </a:rPr>
                  <a:t>x’ </a:t>
                </a:r>
                <a:r>
                  <a:rPr lang="en-IN" sz="120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IN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in the fluid </a:t>
                </a:r>
                <a:r>
                  <a:rPr lang="en-IN" sz="1200" dirty="0">
                    <a:latin typeface="Arial" panose="020B0604020202020204" pitchFamily="34" charset="0"/>
                    <a:cs typeface="Arial" panose="020B0604020202020204" pitchFamily="34" charset="0"/>
                    <a:sym typeface="Wingdings" panose="05000000000000000000" pitchFamily="2" charset="2"/>
                  </a:rPr>
                  <a:t></a:t>
                </a:r>
                <a:r>
                  <a:rPr lang="en-IN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sum of ambient velocity and the disturbance field.</a:t>
                </a: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IN" sz="1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US" sz="1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d>
                      <m:dPr>
                        <m:ctrlPr>
                          <a:rPr lang="en-IN" sz="1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IN" sz="1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𝑥</m:t>
                        </m:r>
                      </m:e>
                    </m:d>
                    <m:r>
                      <a:rPr lang="en-IN" sz="16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=</m:t>
                    </m:r>
                    <m:sSubSup>
                      <m:sSubSupPr>
                        <m:ctrlPr>
                          <a:rPr lang="en-IN" sz="1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en-IN" sz="1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𝑢</m:t>
                        </m:r>
                      </m:e>
                      <m:sub>
                        <m:r>
                          <a:rPr lang="en-IN" sz="1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𝑖</m:t>
                        </m:r>
                      </m:sub>
                      <m:sup>
                        <m:r>
                          <a:rPr lang="en-IN" sz="16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∞</m:t>
                        </m:r>
                      </m:sup>
                    </m:sSubSup>
                    <m:d>
                      <m:dPr>
                        <m:ctrlPr>
                          <a:rPr lang="en-IN" sz="1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IN" sz="1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IN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+</a:t>
                </a:r>
                <a:r>
                  <a:rPr lang="en-IN" sz="1600" dirty="0"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1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a:rPr lang="en-US" sz="16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e>
                      <m:sub>
                        <m:r>
                          <a:rPr lang="en-US" sz="1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d>
                      <m:dPr>
                        <m:ctrlPr>
                          <a:rPr lang="en-IN" sz="1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IN" sz="1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𝑥</m:t>
                        </m:r>
                      </m:e>
                    </m:d>
                  </m:oMath>
                </a14:m>
                <a:endParaRPr lang="en-IN" sz="16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indent="0" algn="ctr">
                  <a:buNone/>
                </a:pPr>
                <a:endParaRPr lang="en-IN" sz="1600" i="1">
                  <a:solidFill>
                    <a:srgbClr val="000000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1600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sz="1600" b="0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d>
                        <m:dPr>
                          <m:ctrlPr>
                            <a:rPr lang="en-IN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IN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𝑥</m:t>
                          </m:r>
                        </m:e>
                      </m:d>
                      <m:r>
                        <a:rPr lang="en-IN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IN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en-IN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IN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en-IN" sz="16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∞</m:t>
                          </m:r>
                        </m:sup>
                      </m:sSubSup>
                      <m:d>
                        <m:dPr>
                          <m:ctrlPr>
                            <a:rPr lang="en-IN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IN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𝑥</m:t>
                          </m:r>
                        </m:e>
                      </m:d>
                      <m:r>
                        <a:rPr lang="en-IN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−</m:t>
                      </m:r>
                      <m:f>
                        <m:fPr>
                          <m:ctrlPr>
                            <a:rPr lang="en-IN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IN" sz="16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IN" sz="16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8</m:t>
                          </m:r>
                          <m:r>
                            <m:rPr>
                              <m:sty m:val="p"/>
                            </m:rPr>
                            <a:rPr lang="en-IN" sz="16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πμ</m:t>
                          </m:r>
                        </m:den>
                      </m:f>
                      <m:nary>
                        <m:naryPr>
                          <m:chr m:val="∑"/>
                          <m:limLoc m:val="undOvr"/>
                          <m:ctrlPr>
                            <a:rPr lang="en-IN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a:rPr lang="en-IN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𝛼</m:t>
                          </m:r>
                          <m:r>
                            <a:rPr lang="en-IN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IN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𝑁</m:t>
                          </m:r>
                        </m:sup>
                        <m:e>
                          <m:nary>
                            <m:naryPr>
                              <m:limLoc m:val="subSup"/>
                              <m:ctrlPr>
                                <a:rPr lang="en-IN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</m:ctrlPr>
                            </m:naryPr>
                            <m:sub>
                              <m:r>
                                <a:rPr lang="en-IN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  <m:t>𝑆</m:t>
                              </m:r>
                              <m:r>
                                <a:rPr lang="en-IN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  <m:t>𝛼</m:t>
                              </m:r>
                            </m:sub>
                            <m:sup/>
                            <m:e>
                              <m:sSub>
                                <m:sSubPr>
                                  <m:ctrlPr>
                                    <a:rPr lang="en-IN" sz="16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IN" sz="160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</a:rPr>
                                    <m:t>J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IN" sz="160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</a:rPr>
                                    <m:t>ij</m:t>
                                  </m:r>
                                  <m:r>
                                    <a:rPr lang="en-IN" sz="160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</a:rPr>
                                    <m:t> 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IN" sz="16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IN" sz="16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</a:rPr>
                                    <m:t>𝑥</m:t>
                                  </m:r>
                                  <m:r>
                                    <a:rPr lang="en-IN" sz="16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</a:rPr>
                                    <m:t>−</m:t>
                                  </m:r>
                                  <m:r>
                                    <a:rPr lang="en-IN" sz="16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</a:rPr>
                                    <m:t>𝑦</m:t>
                                  </m:r>
                                </m:e>
                              </m:d>
                              <m:sSub>
                                <m:sSubPr>
                                  <m:ctrlPr>
                                    <a:rPr lang="en-IN" sz="16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IN" sz="160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</a:rPr>
                                    <m:t>f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IN" sz="160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</a:rPr>
                                    <m:t>j</m:t>
                                  </m:r>
                                </m:sub>
                              </m:sSub>
                              <m:r>
                                <a:rPr lang="en-IN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  <m:t> </m:t>
                              </m:r>
                              <m:sSub>
                                <m:sSubPr>
                                  <m:ctrlPr>
                                    <a:rPr lang="en-IN" sz="16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16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</a:rPr>
                                    <m:t>𝑑𝑆</m:t>
                                  </m:r>
                                </m:e>
                                <m:sub>
                                  <m:r>
                                    <a:rPr lang="en-IN" sz="16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</a:rPr>
                                    <m:t>𝑦</m:t>
                                  </m:r>
                                </m:sub>
                              </m:sSub>
                            </m:e>
                          </m:nary>
                        </m:e>
                      </m:nary>
                    </m:oMath>
                  </m:oMathPara>
                </a14:m>
                <a:endParaRPr lang="en-US" sz="1600">
                  <a:solidFill>
                    <a:srgbClr val="000000"/>
                  </a:solidFill>
                  <a:effectLst/>
                  <a:latin typeface="Arial" panose="020B0604020202020204" pitchFamily="34" charset="0"/>
                  <a:ea typeface="Times New Roman" panose="02020603050405020304" pitchFamily="18" charset="0"/>
                  <a:cs typeface="Arial" panose="020B0604020202020204" pitchFamily="34" charset="0"/>
                </a:endParaRPr>
              </a:p>
              <a:p>
                <a:pPr marL="0" indent="0" algn="ctr">
                  <a:buNone/>
                </a:pPr>
                <a:endParaRPr lang="en-US" sz="1600">
                  <a:solidFill>
                    <a:srgbClr val="000000"/>
                  </a:solidFill>
                  <a:effectLst/>
                  <a:latin typeface="Arial" panose="020B0604020202020204" pitchFamily="34" charset="0"/>
                  <a:ea typeface="Times New Roman" panose="02020603050405020304" pitchFamily="18" charset="0"/>
                  <a:cs typeface="Arial" panose="020B0604020202020204" pitchFamily="34" charset="0"/>
                </a:endParaRP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16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16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ctrlPr>
                            <a:rPr lang="en-IN" sz="1600" i="1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IN" sz="1600" i="1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</m:e>
                      </m:d>
                      <m:r>
                        <a:rPr lang="en-IN" sz="1600" i="1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IN" sz="1600" i="1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en-IN" sz="1600" i="1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IN" sz="1600" i="1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en-IN" sz="160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∞</m:t>
                          </m:r>
                        </m:sup>
                      </m:sSubSup>
                      <m:d>
                        <m:dPr>
                          <m:ctrlPr>
                            <a:rPr lang="en-IN" sz="1600" i="1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1600" i="1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</m:e>
                      </m:d>
                      <m:r>
                        <a:rPr lang="en-IN" sz="160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 </m:t>
                      </m:r>
                      <m:f>
                        <m:fPr>
                          <m:ctrlPr>
                            <a:rPr lang="en-IN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16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IN" sz="16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8</m:t>
                          </m:r>
                          <m:r>
                            <m:rPr>
                              <m:sty m:val="p"/>
                            </m:rPr>
                            <a:rPr lang="en-IN" sz="16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πμ</m:t>
                          </m:r>
                        </m:den>
                      </m:f>
                      <m:nary>
                        <m:naryPr>
                          <m:chr m:val="∑"/>
                          <m:limLoc m:val="undOvr"/>
                          <m:supHide m:val="on"/>
                          <m:ctrlPr>
                            <a:rPr lang="en-IN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IN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𝛼</m:t>
                          </m:r>
                        </m:sub>
                        <m:sup/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IN" sz="16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IN" sz="160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d>
                                <m:dPr>
                                  <m:begChr m:val="{"/>
                                  <m:endChr m:val="}"/>
                                  <m:ctrlPr>
                                    <a:rPr lang="en-IN" sz="16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IN" sz="1600" i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1+ </m:t>
                                  </m:r>
                                  <m:f>
                                    <m:fPr>
                                      <m:ctrlPr>
                                        <a:rPr lang="en-IN" sz="16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IN" sz="1600" i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num>
                                    <m:den>
                                      <m:r>
                                        <a:rPr lang="en-IN" sz="1600" i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6</m:t>
                                      </m:r>
                                    </m:den>
                                  </m:f>
                                  <m:sSup>
                                    <m:sSupPr>
                                      <m:ctrlPr>
                                        <a:rPr lang="en-IN" sz="16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IN" sz="16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𝑎</m:t>
                                      </m:r>
                                    </m:e>
                                    <m:sup>
                                      <m:r>
                                        <a:rPr lang="en-IN" sz="1600" i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  <m:sSup>
                                    <m:sSupPr>
                                      <m:ctrlPr>
                                        <a:rPr lang="en-IN" sz="16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IN" sz="1600" i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∇</m:t>
                                      </m:r>
                                    </m:e>
                                    <m:sup>
                                      <m:r>
                                        <a:rPr lang="en-IN" sz="1600" i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e>
                              </m:d>
                              <m:sSub>
                                <m:sSubPr>
                                  <m:ctrlPr>
                                    <a:rPr lang="en-IN" sz="16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16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𝐽</m:t>
                                  </m:r>
                                </m:e>
                                <m:sub>
                                  <m:r>
                                    <a:rPr lang="en-IN" sz="16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𝑖𝑗</m:t>
                                  </m:r>
                                </m:sub>
                              </m:sSub>
                              <m:r>
                                <a:rPr lang="en-IN" sz="160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IN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IN" sz="160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p>
                                <m:sSupPr>
                                  <m:ctrlPr>
                                    <a:rPr lang="en-IN" sz="16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IN" sz="16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IN" sz="16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𝛼</m:t>
                                  </m:r>
                                </m:sup>
                              </m:sSup>
                              <m:r>
                                <a:rPr lang="en-IN" sz="160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  <m:sSubSup>
                                <m:sSubSupPr>
                                  <m:ctrlPr>
                                    <a:rPr lang="en-IN" sz="16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IN" sz="16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𝐹</m:t>
                                  </m:r>
                                </m:e>
                                <m:sub>
                                  <m:r>
                                    <a:rPr lang="en-IN" sz="16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  <m:sup>
                                  <m:r>
                                    <a:rPr lang="en-IN" sz="16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𝛼</m:t>
                                  </m:r>
                                </m:sup>
                              </m:sSubSup>
                              <m:r>
                                <a:rPr lang="en-IN" sz="160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 + </m:t>
                              </m:r>
                              <m:f>
                                <m:fPr>
                                  <m:ctrlPr>
                                    <a:rPr lang="en-IN" sz="16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IN" sz="1600" i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IN" sz="1600" i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  <m:sSub>
                                <m:sSubPr>
                                  <m:ctrlPr>
                                    <a:rPr lang="en-IN" sz="16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1600" i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∈</m:t>
                                  </m:r>
                                </m:e>
                                <m:sub>
                                  <m:r>
                                    <a:rPr lang="en-IN" sz="16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𝑗𝑘𝑙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IN" sz="16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IN" sz="1600" i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∇</m:t>
                                  </m:r>
                                </m:e>
                                <m:sub>
                                  <m:r>
                                    <a:rPr lang="en-IN" sz="16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IN" sz="16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16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𝐽</m:t>
                                  </m:r>
                                </m:e>
                                <m:sub>
                                  <m:r>
                                    <a:rPr lang="en-IN" sz="16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𝑖𝑙</m:t>
                                  </m:r>
                                </m:sub>
                              </m:sSub>
                              <m:r>
                                <a:rPr lang="en-IN" sz="160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IN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IN" sz="160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p>
                                <m:sSupPr>
                                  <m:ctrlPr>
                                    <a:rPr lang="en-IN" sz="16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IN" sz="16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IN" sz="16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𝛼</m:t>
                                  </m:r>
                                </m:sup>
                              </m:sSup>
                              <m:r>
                                <a:rPr lang="en-IN" sz="160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  <m:sSubSup>
                                <m:sSubSupPr>
                                  <m:ctrlPr>
                                    <a:rPr lang="en-IN" sz="16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16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e>
                                <m:sub>
                                  <m:r>
                                    <a:rPr lang="en-IN" sz="16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  <m:sup>
                                  <m:r>
                                    <a:rPr lang="en-IN" sz="16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𝛼</m:t>
                                  </m:r>
                                </m:sup>
                              </m:sSubSup>
                              <m:r>
                                <a:rPr lang="en-IN" sz="160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d>
                                <m:dPr>
                                  <m:begChr m:val="{"/>
                                  <m:endChr m:val="}"/>
                                  <m:ctrlPr>
                                    <a:rPr lang="en-IN" sz="16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IN" sz="1600" i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1+</m:t>
                                  </m:r>
                                  <m:f>
                                    <m:fPr>
                                      <m:ctrlPr>
                                        <a:rPr lang="en-IN" sz="16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IN" sz="1600" i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num>
                                    <m:den>
                                      <m:r>
                                        <a:rPr lang="en-IN" sz="1600" i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10</m:t>
                                      </m:r>
                                    </m:den>
                                  </m:f>
                                  <m:sSup>
                                    <m:sSupPr>
                                      <m:ctrlPr>
                                        <a:rPr lang="en-IN" sz="16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IN" sz="16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𝑎</m:t>
                                      </m:r>
                                    </m:e>
                                    <m:sup>
                                      <m:r>
                                        <a:rPr lang="en-IN" sz="1600" i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  <m:sSup>
                                    <m:sSupPr>
                                      <m:ctrlPr>
                                        <a:rPr lang="en-IN" sz="16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IN" sz="1600" i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∇</m:t>
                                      </m:r>
                                    </m:e>
                                    <m:sup>
                                      <m:r>
                                        <a:rPr lang="en-IN" sz="1600" i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e>
                              </m:d>
                              <m:sSub>
                                <m:sSubPr>
                                  <m:ctrlPr>
                                    <a:rPr lang="en-IN" sz="16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IN" sz="1600" i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∇</m:t>
                                  </m:r>
                                </m:e>
                                <m:sub>
                                  <m:r>
                                    <a:rPr lang="en-IN" sz="16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IN" sz="16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16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𝐽</m:t>
                                  </m:r>
                                </m:e>
                                <m:sub>
                                  <m:r>
                                    <a:rPr lang="en-IN" sz="16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𝑖𝑗</m:t>
                                  </m:r>
                                </m:sub>
                              </m:sSub>
                              <m:r>
                                <a:rPr lang="en-IN" sz="160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IN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IN" sz="160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p>
                                <m:sSupPr>
                                  <m:ctrlPr>
                                    <a:rPr lang="en-IN" sz="16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IN" sz="16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IN" sz="16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𝛼</m:t>
                                  </m:r>
                                </m:sup>
                              </m:sSup>
                              <m:r>
                                <a:rPr lang="en-IN" sz="160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  <m:sSubSup>
                                <m:sSubSupPr>
                                  <m:ctrlPr>
                                    <a:rPr lang="en-IN" sz="16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IN" sz="16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lang="en-IN" sz="16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𝑗𝑘</m:t>
                                  </m:r>
                                </m:sub>
                                <m:sup>
                                  <m:r>
                                    <a:rPr lang="en-IN" sz="16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𝛼</m:t>
                                  </m:r>
                                </m:sup>
                              </m:sSubSup>
                            </m:e>
                          </m:d>
                        </m:e>
                      </m:nary>
                    </m:oMath>
                  </m:oMathPara>
                </a14:m>
                <a:endParaRPr lang="en-IN" sz="16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endParaRPr lang="en-IN" sz="16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indent="0">
                  <a:buNone/>
                </a:pPr>
                <a:endParaRPr lang="en-US" sz="16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7B0A94C-5062-43DD-813F-6D7DEA328D3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25052" y="547853"/>
                <a:ext cx="10802921" cy="5762294"/>
              </a:xfrm>
              <a:blipFill>
                <a:blip r:embed="rId2"/>
                <a:stretch>
                  <a:fillRect l="-226" t="-635" b="-1862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" name="Picture 1">
            <a:extLst>
              <a:ext uri="{FF2B5EF4-FFF2-40B4-BE49-F238E27FC236}">
                <a16:creationId xmlns:a16="http://schemas.microsoft.com/office/drawing/2014/main" id="{46B0CD54-074F-4F38-81C0-482A90B0CB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05221" y="1291643"/>
            <a:ext cx="1508592" cy="1254874"/>
          </a:xfrm>
          <a:prstGeom prst="rect">
            <a:avLst/>
          </a:prstGeom>
        </p:spPr>
      </p:pic>
      <p:cxnSp>
        <p:nvCxnSpPr>
          <p:cNvPr id="15" name="Connector: Curved 14">
            <a:extLst>
              <a:ext uri="{FF2B5EF4-FFF2-40B4-BE49-F238E27FC236}">
                <a16:creationId xmlns:a16="http://schemas.microsoft.com/office/drawing/2014/main" id="{EF87DD69-666E-4350-A9D8-1DAA4BDF87E7}"/>
              </a:ext>
            </a:extLst>
          </p:cNvPr>
          <p:cNvCxnSpPr>
            <a:cxnSpLocks/>
          </p:cNvCxnSpPr>
          <p:nvPr/>
        </p:nvCxnSpPr>
        <p:spPr>
          <a:xfrm rot="10800000" flipV="1">
            <a:off x="3333136" y="5147189"/>
            <a:ext cx="412954" cy="398203"/>
          </a:xfrm>
          <a:prstGeom prst="curvedConnector3">
            <a:avLst>
              <a:gd name="adj1" fmla="val 96429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4D0695F1-697B-477E-8DBC-5EF9044154B6}"/>
                  </a:ext>
                </a:extLst>
              </p:cNvPr>
              <p:cNvSpPr txBox="1"/>
              <p:nvPr/>
            </p:nvSpPr>
            <p:spPr>
              <a:xfrm>
                <a:off x="154645" y="4993300"/>
                <a:ext cx="3429213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400">
                    <a:solidFill>
                      <a:srgbClr val="C00000"/>
                    </a:solidFill>
                  </a:rPr>
                  <a:t>Taylor’s expansion about particle centre,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4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4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14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𝛼</m:t>
                        </m:r>
                      </m:sup>
                    </m:sSup>
                  </m:oMath>
                </a14:m>
                <a:endParaRPr lang="en-IN" sz="140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4D0695F1-697B-477E-8DBC-5EF9044154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4645" y="4993300"/>
                <a:ext cx="3429213" cy="307777"/>
              </a:xfrm>
              <a:prstGeom prst="rect">
                <a:avLst/>
              </a:prstGeom>
              <a:blipFill>
                <a:blip r:embed="rId4"/>
                <a:stretch>
                  <a:fillRect l="-533" t="-3922" b="-1960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CB7873E1-C26A-4550-81C6-8D0B4AD57E96}"/>
                  </a:ext>
                </a:extLst>
              </p:cNvPr>
              <p:cNvSpPr txBox="1"/>
              <p:nvPr/>
            </p:nvSpPr>
            <p:spPr>
              <a:xfrm>
                <a:off x="9405221" y="4351153"/>
                <a:ext cx="2467231" cy="1030539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sz="1200" b="0"/>
                  <a:t>point in fluid</a:t>
                </a:r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sz="12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𝛼</m:t>
                        </m:r>
                      </m:sup>
                    </m:sSup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sz="1200" b="0"/>
                  <a:t> Centre of particle </a:t>
                </a:r>
                <a14:m>
                  <m:oMath xmlns:m="http://schemas.openxmlformats.org/officeDocument/2006/math"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endParaRPr lang="en-US" sz="1200" b="0"/>
              </a:p>
              <a:p>
                <a14:m>
                  <m:oMath xmlns:m="http://schemas.openxmlformats.org/officeDocument/2006/math"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sz="1200" b="0"/>
                  <a:t>Point on the particle surface</a:t>
                </a:r>
              </a:p>
              <a:p>
                <a14:m>
                  <m:oMath xmlns:m="http://schemas.openxmlformats.org/officeDocument/2006/math"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sz="1200" b="0"/>
                  <a:t>Particle radius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1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1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1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𝑗𝑘</m:t>
                        </m:r>
                      </m:sub>
                    </m:sSub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sz="1200" b="0"/>
                  <a:t>Force, Torque, Stresslet</a:t>
                </a:r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CB7873E1-C26A-4550-81C6-8D0B4AD57E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05221" y="4351153"/>
                <a:ext cx="2467231" cy="1030539"/>
              </a:xfrm>
              <a:prstGeom prst="rect">
                <a:avLst/>
              </a:prstGeom>
              <a:blipFill>
                <a:blip r:embed="rId5"/>
                <a:stretch>
                  <a:fillRect b="-2339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9" name="Rectangle 38">
            <a:extLst>
              <a:ext uri="{FF2B5EF4-FFF2-40B4-BE49-F238E27FC236}">
                <a16:creationId xmlns:a16="http://schemas.microsoft.com/office/drawing/2014/main" id="{E41EB64C-0AF9-40DF-BCAA-E2626045975B}"/>
              </a:ext>
            </a:extLst>
          </p:cNvPr>
          <p:cNvSpPr/>
          <p:nvPr/>
        </p:nvSpPr>
        <p:spPr>
          <a:xfrm>
            <a:off x="174171" y="188686"/>
            <a:ext cx="11843657" cy="645885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59D86E-5E01-4065-874F-C459ED6AE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3CAD28-B1A9-4A64-9DD6-3376C7DEC3B0}" type="slidenum">
              <a:rPr lang="en-IN" smtClean="0"/>
              <a:t>9</a:t>
            </a:fld>
            <a:endParaRPr lang="en-IN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4F0FE10-DB82-4001-9801-D3E3CF16B1A5}"/>
              </a:ext>
            </a:extLst>
          </p:cNvPr>
          <p:cNvSpPr txBox="1"/>
          <p:nvPr/>
        </p:nvSpPr>
        <p:spPr>
          <a:xfrm>
            <a:off x="300939" y="6342941"/>
            <a:ext cx="340723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/>
              <a:t>*Brickell(2012)</a:t>
            </a:r>
            <a:endParaRPr lang="en-IN" sz="1200"/>
          </a:p>
        </p:txBody>
      </p:sp>
    </p:spTree>
    <p:extLst>
      <p:ext uri="{BB962C8B-B14F-4D97-AF65-F5344CB8AC3E}">
        <p14:creationId xmlns:p14="http://schemas.microsoft.com/office/powerpoint/2010/main" val="8860156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786"/>
    </mc:Choice>
    <mc:Fallback xmlns="">
      <p:transition spd="slow" advTm="4786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2C72C3B9-8975-4D19-A167-3EF824C3A09E}"/>
              </a:ext>
            </a:extLst>
          </p:cNvPr>
          <p:cNvSpPr txBox="1"/>
          <p:nvPr/>
        </p:nvSpPr>
        <p:spPr>
          <a:xfrm>
            <a:off x="602226" y="819000"/>
            <a:ext cx="10987548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b="1" err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Faxen’s</a:t>
            </a:r>
            <a:r>
              <a:rPr lang="en-US" sz="1600" b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laws </a:t>
            </a:r>
            <a:r>
              <a:rPr lang="en-US" sz="1600" b="1">
                <a:latin typeface="Arial" panose="020B0604020202020204" pitchFamily="34" charset="0"/>
                <a:cs typeface="Arial" panose="020B0604020202020204" pitchFamily="34" charset="0"/>
              </a:rPr>
              <a:t>- </a:t>
            </a:r>
            <a:r>
              <a:rPr lang="en-US" sz="1600">
                <a:latin typeface="Arial" panose="020B0604020202020204" pitchFamily="34" charset="0"/>
                <a:cs typeface="Arial" panose="020B0604020202020204" pitchFamily="34" charset="0"/>
              </a:rPr>
              <a:t>Motion of a single particle </a:t>
            </a:r>
            <a:r>
              <a:rPr lang="en-US" sz="160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𝞪 immersed in a flow field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Correction to Stokes law.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1600">
              <a:latin typeface="Arial" panose="020B0604020202020204" pitchFamily="34" charset="0"/>
              <a:ea typeface="Cambria Math" panose="02040503050406030204" pitchFamily="18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2035EA7D-2C6E-40D7-A526-919FE44E8943}"/>
                  </a:ext>
                </a:extLst>
              </p:cNvPr>
              <p:cNvSpPr txBox="1"/>
              <p:nvPr/>
            </p:nvSpPr>
            <p:spPr>
              <a:xfrm>
                <a:off x="453082" y="2042733"/>
                <a:ext cx="4979772" cy="225202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IN" sz="16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IN" sz="1600" i="1"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b>
                          <m:r>
                            <a:rPr lang="en-IN" sz="16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en-IN" sz="1600" i="1">
                              <a:latin typeface="Cambria Math" panose="02040503050406030204" pitchFamily="18" charset="0"/>
                            </a:rPr>
                            <m:t>𝛼</m:t>
                          </m:r>
                        </m:sup>
                      </m:sSubSup>
                      <m:r>
                        <a:rPr lang="en-IN" sz="1600" i="0">
                          <a:latin typeface="Cambria Math" panose="02040503050406030204" pitchFamily="18" charset="0"/>
                        </a:rPr>
                        <m:t>−</m:t>
                      </m:r>
                      <m:sSubSup>
                        <m:sSubSupPr>
                          <m:ctrlPr>
                            <a:rPr lang="en-IN" sz="16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IN" sz="1600" i="1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IN" sz="16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en-IN" sz="1600" i="0"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</m:sSubSup>
                      <m:r>
                        <a:rPr lang="en-IN" sz="1600" i="0">
                          <a:latin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en-IN" sz="16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IN" sz="16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IN" sz="1600" i="1">
                              <a:latin typeface="Cambria Math" panose="02040503050406030204" pitchFamily="18" charset="0"/>
                            </a:rPr>
                            <m:t>𝛼</m:t>
                          </m:r>
                        </m:sup>
                      </m:sSup>
                      <m:r>
                        <a:rPr lang="en-IN" sz="1600" i="0">
                          <a:latin typeface="Cambria Math" panose="02040503050406030204" pitchFamily="18" charset="0"/>
                        </a:rPr>
                        <m:t>)=</m:t>
                      </m:r>
                      <m:f>
                        <m:fPr>
                          <m:ctrlPr>
                            <a:rPr lang="en-IN" sz="16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Sup>
                            <m:sSubSupPr>
                              <m:ctrlPr>
                                <a:rPr lang="en-IN" sz="16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IN" sz="1600" i="1"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e>
                            <m:sub>
                              <m:r>
                                <a:rPr lang="en-IN" sz="16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en-IN" sz="1600" i="1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sup>
                          </m:sSubSup>
                        </m:num>
                        <m:den>
                          <m:r>
                            <a:rPr lang="en-IN" sz="1600" i="0">
                              <a:latin typeface="Cambria Math" panose="02040503050406030204" pitchFamily="18" charset="0"/>
                            </a:rPr>
                            <m:t>6</m:t>
                          </m:r>
                          <m:r>
                            <a:rPr lang="en-IN" sz="1600" i="1">
                              <a:latin typeface="Cambria Math" panose="02040503050406030204" pitchFamily="18" charset="0"/>
                            </a:rPr>
                            <m:t>𝜋𝜇</m:t>
                          </m:r>
                          <m:r>
                            <a:rPr lang="en-IN" sz="1600" i="1">
                              <a:latin typeface="Cambria Math" panose="02040503050406030204" pitchFamily="18" charset="0"/>
                            </a:rPr>
                            <m:t>𝑎</m:t>
                          </m:r>
                        </m:den>
                      </m:f>
                      <m:r>
                        <a:rPr lang="en-IN" sz="1600" i="0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IN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1600" i="0">
                              <a:latin typeface="Cambria Math" panose="02040503050406030204" pitchFamily="18" charset="0"/>
                            </a:rPr>
                            <m:t>1+</m:t>
                          </m:r>
                          <m:f>
                            <m:fPr>
                              <m:ctrlPr>
                                <a:rPr lang="en-IN" sz="16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IN" sz="1600" i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IN" sz="1600" i="0"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den>
                          </m:f>
                          <m:sSup>
                            <m:sSupPr>
                              <m:ctrlPr>
                                <a:rPr lang="en-IN" sz="16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IN" sz="1600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p>
                              <m:r>
                                <a:rPr lang="en-IN" sz="1600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sSup>
                            <m:sSupPr>
                              <m:ctrlPr>
                                <a:rPr lang="en-IN" sz="16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IN" sz="1600" i="0">
                                  <a:latin typeface="Cambria Math" panose="02040503050406030204" pitchFamily="18" charset="0"/>
                                </a:rPr>
                                <m:t>∇</m:t>
                              </m:r>
                            </m:e>
                            <m:sup>
                              <m:r>
                                <a:rPr lang="en-IN" sz="1600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  <m:sSub>
                        <m:sSubPr>
                          <m:ctrlPr>
                            <a:rPr lang="en-IN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1600" i="1">
                              <a:latin typeface="Cambria Math" panose="02040503050406030204" pitchFamily="18" charset="0"/>
                            </a:rPr>
                            <m:t>𝑢</m:t>
                          </m:r>
                          <m:r>
                            <a:rPr lang="en-IN" sz="1600" i="0">
                              <a:latin typeface="Cambria Math" panose="02040503050406030204" pitchFamily="18" charset="0"/>
                            </a:rPr>
                            <m:t>′</m:t>
                          </m:r>
                        </m:e>
                        <m:sub>
                          <m:r>
                            <a:rPr lang="en-IN" sz="16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d>
                        <m:dPr>
                          <m:ctrlPr>
                            <a:rPr lang="en-IN" sz="1600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IN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IN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IN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𝛼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IN" sz="1600" i="1" dirty="0">
                  <a:solidFill>
                    <a:srgbClr val="000000"/>
                  </a:solidFill>
                  <a:effectLst/>
                  <a:latin typeface="Cambria Math" panose="02040503050406030204" pitchFamily="18" charset="0"/>
                </a:endParaRPr>
              </a:p>
              <a:p>
                <a:endParaRPr lang="en-IN" sz="1600" i="1" dirty="0">
                  <a:solidFill>
                    <a:srgbClr val="000000"/>
                  </a:solidFill>
                  <a:effectLst/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IN" sz="1600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IN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𝛺</m:t>
                          </m:r>
                        </m:e>
                        <m:sub>
                          <m:r>
                            <a:rPr lang="en-IN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en-IN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𝛼</m:t>
                          </m:r>
                        </m:sup>
                      </m:sSubSup>
                      <m:r>
                        <a:rPr lang="en-IN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−</m:t>
                      </m:r>
                      <m:sSubSup>
                        <m:sSubSupPr>
                          <m:ctrlPr>
                            <a:rPr lang="en-IN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IN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𝛺</m:t>
                          </m:r>
                        </m:e>
                        <m:sub>
                          <m:r>
                            <a:rPr lang="en-IN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en-IN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∞</m:t>
                          </m:r>
                        </m:sup>
                      </m:sSubSup>
                      <m:r>
                        <a:rPr lang="en-IN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IN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Sup>
                            <m:sSubSupPr>
                              <m:ctrlPr>
                                <a:rPr lang="en-IN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1600" b="0" i="1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n-IN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en-IN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𝛼</m:t>
                              </m:r>
                            </m:sup>
                          </m:sSubSup>
                        </m:num>
                        <m:den>
                          <m:sSup>
                            <m:sSupPr>
                              <m:ctrlPr>
                                <a:rPr lang="en-IN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IN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8</m:t>
                              </m:r>
                              <m:r>
                                <a:rPr lang="en-IN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𝜋𝜇</m:t>
                              </m:r>
                              <m:r>
                                <a:rPr lang="en-IN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𝑎</m:t>
                              </m:r>
                            </m:e>
                            <m:sup>
                              <m:r>
                                <a:rPr lang="en-IN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3</m:t>
                              </m:r>
                            </m:sup>
                          </m:sSup>
                        </m:den>
                      </m:f>
                      <m:r>
                        <a:rPr lang="en-IN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+</m:t>
                      </m:r>
                      <m:f>
                        <m:fPr>
                          <m:ctrlPr>
                            <a:rPr lang="en-IN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IN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</m:den>
                      </m:f>
                      <m:sSub>
                        <m:sSubPr>
                          <m:ctrlPr>
                            <a:rPr lang="en-IN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𝜀</m:t>
                          </m:r>
                        </m:e>
                        <m:sub>
                          <m:r>
                            <a:rPr lang="en-IN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𝑖𝑗𝑘</m:t>
                          </m:r>
                        </m:sub>
                      </m:sSub>
                      <m:sSub>
                        <m:sSubPr>
                          <m:ctrlPr>
                            <a:rPr lang="en-IN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16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∇</m:t>
                          </m:r>
                        </m:e>
                        <m:sub>
                          <m:r>
                            <a:rPr lang="en-IN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𝑗</m:t>
                          </m:r>
                        </m:sub>
                      </m:sSub>
                      <m:sSub>
                        <m:sSubPr>
                          <m:ctrlPr>
                            <a:rPr lang="en-IN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𝑢</m:t>
                          </m:r>
                          <m:r>
                            <a:rPr lang="en-IN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′</m:t>
                          </m:r>
                        </m:e>
                        <m:sub>
                          <m:r>
                            <a:rPr lang="en-IN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𝑘</m:t>
                          </m:r>
                        </m:sub>
                      </m:sSub>
                      <m:d>
                        <m:dPr>
                          <m:ctrlPr>
                            <a:rPr lang="en-IN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IN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IN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IN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𝛼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IN" sz="1600" dirty="0"/>
              </a:p>
              <a:p>
                <a:endParaRPr lang="en-IN" sz="16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1600" smtClean="0">
                          <a:latin typeface="Cambria Math" panose="02040503050406030204" pitchFamily="18" charset="0"/>
                        </a:rPr>
                        <m:t>−</m:t>
                      </m:r>
                      <m:sSubSup>
                        <m:sSubSupPr>
                          <m:ctrlPr>
                            <a:rPr lang="en-IN" sz="16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IN" sz="1600" i="1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IN" sz="1600" i="1"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  <m:sup>
                          <m:r>
                            <a:rPr lang="en-IN" sz="1600" i="0"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</m:sSubSup>
                      <m:r>
                        <a:rPr lang="en-IN" sz="1600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sz="16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Sup>
                            <m:sSubSupPr>
                              <m:ctrlPr>
                                <a:rPr lang="en-IN" sz="16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IN" sz="1600" i="1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IN" sz="1600" i="1">
                                  <a:latin typeface="Cambria Math" panose="02040503050406030204" pitchFamily="18" charset="0"/>
                                </a:rPr>
                                <m:t>𝑖𝑗</m:t>
                              </m:r>
                            </m:sub>
                            <m:sup>
                              <m:r>
                                <a:rPr lang="en-IN" sz="1600" i="1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sup>
                          </m:sSubSup>
                        </m:num>
                        <m:den>
                          <m:r>
                            <a:rPr lang="en-IN" sz="1600" i="0">
                              <a:latin typeface="Cambria Math" panose="02040503050406030204" pitchFamily="18" charset="0"/>
                            </a:rPr>
                            <m:t>20</m:t>
                          </m:r>
                          <m:r>
                            <a:rPr lang="en-IN" sz="1600" i="1">
                              <a:latin typeface="Cambria Math" panose="02040503050406030204" pitchFamily="18" charset="0"/>
                            </a:rPr>
                            <m:t>𝜋𝜇</m:t>
                          </m:r>
                          <m:f>
                            <m:fPr>
                              <m:type m:val="lin"/>
                              <m:ctrlPr>
                                <a:rPr lang="en-IN" sz="16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IN" sz="16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IN" sz="1600" i="1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p>
                                  <m:r>
                                    <a:rPr lang="en-IN" sz="1600" i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en-IN" sz="1600" i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den>
                          </m:f>
                        </m:den>
                      </m:f>
                      <m:r>
                        <a:rPr lang="en-IN" sz="1600" i="0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IN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1600" i="0">
                              <a:latin typeface="Cambria Math" panose="02040503050406030204" pitchFamily="18" charset="0"/>
                            </a:rPr>
                            <m:t>1+</m:t>
                          </m:r>
                          <m:f>
                            <m:fPr>
                              <m:ctrlPr>
                                <a:rPr lang="en-IN" sz="16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IN" sz="16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IN" sz="1600" i="1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p>
                                  <m:r>
                                    <a:rPr lang="en-IN" sz="1600" i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en-IN" sz="1600" i="0">
                                  <a:latin typeface="Cambria Math" panose="02040503050406030204" pitchFamily="18" charset="0"/>
                                </a:rPr>
                                <m:t>10</m:t>
                              </m:r>
                            </m:den>
                          </m:f>
                          <m:sSup>
                            <m:sSupPr>
                              <m:ctrlPr>
                                <a:rPr lang="en-IN" sz="16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IN" sz="1600" i="0">
                                  <a:latin typeface="Cambria Math" panose="02040503050406030204" pitchFamily="18" charset="0"/>
                                </a:rPr>
                                <m:t>∇</m:t>
                              </m:r>
                            </m:e>
                            <m:sup>
                              <m:r>
                                <a:rPr lang="en-IN" sz="1600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  <m:sSub>
                        <m:sSubPr>
                          <m:ctrlPr>
                            <a:rPr lang="en-IN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1600" i="1">
                              <a:latin typeface="Cambria Math" panose="02040503050406030204" pitchFamily="18" charset="0"/>
                            </a:rPr>
                            <m:t>𝑒</m:t>
                          </m:r>
                          <m:r>
                            <a:rPr lang="en-IN" sz="1600" i="0">
                              <a:latin typeface="Cambria Math" panose="02040503050406030204" pitchFamily="18" charset="0"/>
                            </a:rPr>
                            <m:t>′</m:t>
                          </m:r>
                        </m:e>
                        <m:sub>
                          <m:r>
                            <a:rPr lang="en-IN" sz="1600" i="1"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d>
                        <m:dPr>
                          <m:ctrlPr>
                            <a:rPr lang="en-IN" sz="1600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IN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IN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IN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𝛼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IN" sz="16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2035EA7D-2C6E-40D7-A526-919FE44E89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3082" y="2042733"/>
                <a:ext cx="4979772" cy="225202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660218B9-48CC-4851-A092-11CB37BD7097}"/>
                  </a:ext>
                </a:extLst>
              </p:cNvPr>
              <p:cNvSpPr txBox="1"/>
              <p:nvPr/>
            </p:nvSpPr>
            <p:spPr>
              <a:xfrm>
                <a:off x="602226" y="4422135"/>
                <a:ext cx="8806248" cy="230832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85750" indent="-285750">
                  <a:lnSpc>
                    <a:spcPct val="200000"/>
                  </a:lnSpc>
                  <a:buFont typeface="Arial" panose="020B0604020202020204" pitchFamily="34" charset="0"/>
                  <a:buChar char="•"/>
                </a:pPr>
                <a:r>
                  <a:rPr lang="en-US" sz="1600" i="1">
                    <a:solidFill>
                      <a:srgbClr val="C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Multipole </a:t>
                </a:r>
                <a:r>
                  <a:rPr lang="en-US" sz="1600" i="1" dirty="0">
                    <a:solidFill>
                      <a:srgbClr val="C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expansion </a:t>
                </a:r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along with the </a:t>
                </a:r>
                <a:r>
                  <a:rPr lang="en-US" sz="1600" i="1" dirty="0" err="1">
                    <a:solidFill>
                      <a:srgbClr val="C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Faxen’s</a:t>
                </a:r>
                <a:r>
                  <a:rPr lang="en-US" sz="1600" i="1" dirty="0">
                    <a:solidFill>
                      <a:srgbClr val="C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600" i="1">
                    <a:solidFill>
                      <a:srgbClr val="C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laws </a:t>
                </a:r>
                <a:r>
                  <a:rPr lang="en-US" sz="1600">
                    <a:latin typeface="Arial" panose="020B0604020202020204" pitchFamily="34" charset="0"/>
                    <a:cs typeface="Arial" panose="020B0604020202020204" pitchFamily="34" charset="0"/>
                  </a:rPr>
                  <a:t>gives the </a:t>
                </a:r>
                <a:r>
                  <a:rPr lang="en-US" sz="1600" b="1">
                    <a:latin typeface="Arial" panose="020B0604020202020204" pitchFamily="34" charset="0"/>
                    <a:cs typeface="Arial" panose="020B0604020202020204" pitchFamily="34" charset="0"/>
                  </a:rPr>
                  <a:t>far-field</a:t>
                </a:r>
                <a:r>
                  <a:rPr lang="en-US" sz="1600">
                    <a:latin typeface="Arial" panose="020B0604020202020204" pitchFamily="34" charset="0"/>
                    <a:cs typeface="Arial" panose="020B0604020202020204" pitchFamily="34" charset="0"/>
                  </a:rPr>
                  <a:t> approximation.</a:t>
                </a:r>
              </a:p>
              <a:p>
                <a:pPr marL="285750" indent="-285750">
                  <a:lnSpc>
                    <a:spcPct val="200000"/>
                  </a:lnSpc>
                  <a:buFont typeface="Arial" panose="020B0604020202020204" pitchFamily="34" charset="0"/>
                  <a:buChar char="•"/>
                </a:pPr>
                <a:r>
                  <a:rPr lang="en-US" sz="1600">
                    <a:latin typeface="Arial" panose="020B0604020202020204" pitchFamily="34" charset="0"/>
                    <a:cs typeface="Arial" panose="020B0604020202020204" pitchFamily="34" charset="0"/>
                  </a:rPr>
                  <a:t>F &amp; T – 6N , S(symmetric &amp; traceless) – 5N independent vector  </a:t>
                </a:r>
                <a:r>
                  <a:rPr lang="en-US" sz="1600">
                    <a:latin typeface="Arial" panose="020B0604020202020204" pitchFamily="34" charset="0"/>
                    <a:cs typeface="Arial" panose="020B0604020202020204" pitchFamily="34" charset="0"/>
                    <a:sym typeface="Wingdings" panose="05000000000000000000" pitchFamily="2" charset="2"/>
                  </a:rPr>
                  <a:t></a:t>
                </a:r>
                <a:r>
                  <a:rPr lang="en-US" sz="160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600">
                    <a:latin typeface="Arial" panose="020B0604020202020204" pitchFamily="34" charset="0"/>
                    <a:cs typeface="Arial" panose="020B0604020202020204" pitchFamily="34" charset="0"/>
                    <a:sym typeface="Wingdings" panose="05000000000000000000" pitchFamily="2" charset="2"/>
                  </a:rPr>
                  <a:t> 11N vector [F T S]</a:t>
                </a:r>
                <a:endParaRPr lang="en-US" sz="160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285750" indent="-285750">
                  <a:lnSpc>
                    <a:spcPct val="200000"/>
                  </a:lnSpc>
                  <a:buFont typeface="Arial" panose="020B0604020202020204" pitchFamily="34" charset="0"/>
                  <a:buChar char="•"/>
                </a:pPr>
                <a:r>
                  <a:rPr lang="en-IN" sz="1600">
                    <a:latin typeface="Arial" panose="020B0604020202020204" pitchFamily="34" charset="0"/>
                    <a:cs typeface="Arial" panose="020B0604020202020204" pitchFamily="34" charset="0"/>
                  </a:rPr>
                  <a:t>Calculation of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p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𝑀</m:t>
                        </m:r>
                      </m:e>
                      <m:sup>
                        <m:r>
                          <a:rPr 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∞</m:t>
                        </m:r>
                      </m:sup>
                    </m:sSup>
                    <m:r>
                      <a:rPr lang="en-US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→</m:t>
                    </m:r>
                    <m:r>
                      <a:rPr lang="en-US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𝑂</m:t>
                    </m:r>
                    <m:r>
                      <a:rPr lang="en-US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(11</m:t>
                    </m:r>
                    <m:r>
                      <a:rPr lang="en-US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𝑁</m:t>
                    </m:r>
                    <m:r>
                      <a:rPr lang="en-US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 ×11</m:t>
                    </m:r>
                    <m:r>
                      <a:rPr lang="en-US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𝑁</m:t>
                    </m:r>
                    <m:r>
                      <a:rPr lang="en-US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)</m:t>
                    </m:r>
                  </m:oMath>
                </a14:m>
                <a:r>
                  <a:rPr lang="en-IN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</a:p>
              <a:p>
                <a:pPr>
                  <a:lnSpc>
                    <a:spcPct val="200000"/>
                  </a:lnSpc>
                </a:pPr>
                <a:endParaRPr lang="en-IN" sz="16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l"/>
                <a:endParaRPr lang="en-IN" sz="16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660218B9-48CC-4851-A092-11CB37BD709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2226" y="4422135"/>
                <a:ext cx="8806248" cy="2308324"/>
              </a:xfrm>
              <a:prstGeom prst="rect">
                <a:avLst/>
              </a:prstGeom>
              <a:blipFill>
                <a:blip r:embed="rId3"/>
                <a:stretch>
                  <a:fillRect l="-27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4" name="TextBox 53">
            <a:extLst>
              <a:ext uri="{FF2B5EF4-FFF2-40B4-BE49-F238E27FC236}">
                <a16:creationId xmlns:a16="http://schemas.microsoft.com/office/drawing/2014/main" id="{94FD4D6B-4CB2-42A1-9A6F-5BC17740FCA6}"/>
              </a:ext>
            </a:extLst>
          </p:cNvPr>
          <p:cNvSpPr txBox="1"/>
          <p:nvPr/>
        </p:nvSpPr>
        <p:spPr>
          <a:xfrm>
            <a:off x="5554364" y="2167636"/>
            <a:ext cx="579943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Particle translating in an ambient translating field.</a:t>
            </a:r>
          </a:p>
          <a:p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F15F47EB-6212-469E-974A-F014D07C0D09}"/>
              </a:ext>
            </a:extLst>
          </p:cNvPr>
          <p:cNvSpPr txBox="1"/>
          <p:nvPr/>
        </p:nvSpPr>
        <p:spPr>
          <a:xfrm>
            <a:off x="5554364" y="3687337"/>
            <a:ext cx="6096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Stresslet on a particle in a rate of strain field</a:t>
            </a:r>
            <a:endParaRPr lang="en-IN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DA546202-B945-484D-8008-0A692D31BACB}"/>
              </a:ext>
            </a:extLst>
          </p:cNvPr>
          <p:cNvSpPr txBox="1"/>
          <p:nvPr/>
        </p:nvSpPr>
        <p:spPr>
          <a:xfrm>
            <a:off x="5554364" y="3031198"/>
            <a:ext cx="6096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Particle rotating in an ambient rotating field.</a:t>
            </a:r>
          </a:p>
        </p:txBody>
      </p: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0961A7D2-BEB6-449A-80BF-B06CD6271F00}"/>
              </a:ext>
            </a:extLst>
          </p:cNvPr>
          <p:cNvCxnSpPr>
            <a:cxnSpLocks/>
          </p:cNvCxnSpPr>
          <p:nvPr/>
        </p:nvCxnSpPr>
        <p:spPr>
          <a:xfrm>
            <a:off x="5432854" y="2167636"/>
            <a:ext cx="0" cy="1983158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Rectangle 29">
            <a:extLst>
              <a:ext uri="{FF2B5EF4-FFF2-40B4-BE49-F238E27FC236}">
                <a16:creationId xmlns:a16="http://schemas.microsoft.com/office/drawing/2014/main" id="{A1FEBE3B-7217-45BD-8B65-B04684CEF19C}"/>
              </a:ext>
            </a:extLst>
          </p:cNvPr>
          <p:cNvSpPr/>
          <p:nvPr/>
        </p:nvSpPr>
        <p:spPr>
          <a:xfrm>
            <a:off x="174171" y="188686"/>
            <a:ext cx="11843657" cy="645885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D02F94B-C236-40B7-B5AC-051CBD6461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3CAD28-B1A9-4A64-9DD6-3376C7DEC3B0}" type="slidenum">
              <a:rPr lang="en-IN" smtClean="0"/>
              <a:t>10</a:t>
            </a:fld>
            <a:endParaRPr lang="en-IN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910E8F1-D2DB-4835-BF41-0448AA60CD73}"/>
              </a:ext>
            </a:extLst>
          </p:cNvPr>
          <p:cNvSpPr txBox="1"/>
          <p:nvPr/>
        </p:nvSpPr>
        <p:spPr>
          <a:xfrm>
            <a:off x="300939" y="6342941"/>
            <a:ext cx="340723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/>
              <a:t>*Brickell(2012)</a:t>
            </a:r>
            <a:endParaRPr lang="en-IN" sz="1200"/>
          </a:p>
        </p:txBody>
      </p:sp>
    </p:spTree>
    <p:extLst>
      <p:ext uri="{BB962C8B-B14F-4D97-AF65-F5344CB8AC3E}">
        <p14:creationId xmlns:p14="http://schemas.microsoft.com/office/powerpoint/2010/main" val="39484061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9535"/>
    </mc:Choice>
    <mc:Fallback xmlns="">
      <p:transition spd="slow" advTm="19535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C4CCA949-B045-4247-802A-3F5798980B1E}"/>
                  </a:ext>
                </a:extLst>
              </p:cNvPr>
              <p:cNvSpPr txBox="1"/>
              <p:nvPr/>
            </p:nvSpPr>
            <p:spPr>
              <a:xfrm>
                <a:off x="468985" y="1169214"/>
                <a:ext cx="6364233" cy="368940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sz="1600">
                    <a:latin typeface="Arial" panose="020B0604020202020204" pitchFamily="34" charset="0"/>
                    <a:cs typeface="Arial" panose="020B0604020202020204" pitchFamily="34" charset="0"/>
                  </a:rPr>
                  <a:t>Normally we have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𝑈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𝐹𝑈</m:t>
                        </m:r>
                      </m:sub>
                      <m:sup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bSup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.</m:t>
                    </m:r>
                    <m:sSup>
                      <m:sSup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p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sup>
                    </m:sSup>
                  </m:oMath>
                </a14:m>
                <a:endParaRPr lang="en-US" sz="160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endParaRPr lang="en-US" sz="160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endParaRPr lang="en-US" sz="160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sz="1600">
                    <a:latin typeface="Arial" panose="020B0604020202020204" pitchFamily="34" charset="0"/>
                    <a:cs typeface="Arial" panose="020B0604020202020204" pitchFamily="34" charset="0"/>
                  </a:rPr>
                  <a:t>Velocity of each particle in a rigid body     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𝑈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= </m:t>
                    </m:r>
                    <m:sSup>
                      <m:sSupPr>
                        <m:ctrlPr>
                          <a:rPr lang="en-US" sz="1600" i="1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600" i="1" smtClean="0">
                            <a:latin typeface="Cambria Math" panose="02040503050406030204" pitchFamily="18" charset="0"/>
                          </a:rPr>
                          <m:t>𝛴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US" sz="1600" b="0" i="0" smtClean="0">
                            <a:latin typeface="Cambria Math" panose="02040503050406030204" pitchFamily="18" charset="0"/>
                          </a:rPr>
                          <m:t>T</m:t>
                        </m:r>
                      </m:sup>
                    </m:sSup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.</m:t>
                    </m:r>
                    <m:acc>
                      <m:accPr>
                        <m:chr m:val="̂"/>
                        <m:ctrlPr>
                          <a:rPr lang="en-US" sz="16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16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</m:acc>
                  </m:oMath>
                </a14:m>
                <a:endParaRPr lang="en-US" sz="160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sz="1600">
                    <a:latin typeface="Arial" panose="020B0604020202020204" pitchFamily="34" charset="0"/>
                    <a:cs typeface="Arial" panose="020B0604020202020204" pitchFamily="34" charset="0"/>
                  </a:rPr>
                  <a:t>Velocity of an aggregate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IN" sz="160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16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</m:acc>
                    <m:r>
                      <a:rPr lang="en-IN" sz="160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IN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IN" sz="16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16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𝛴</m:t>
                            </m:r>
                            <m:r>
                              <a:rPr lang="en-IN" sz="16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.</m:t>
                            </m:r>
                            <m:sSub>
                              <m:sSubPr>
                                <m:ctrlPr>
                                  <a:rPr lang="en-IN" sz="16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IN" sz="16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𝑅</m:t>
                                </m:r>
                              </m:e>
                              <m:sub>
                                <m:r>
                                  <a:rPr lang="en-IN" sz="16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𝐹𝑈</m:t>
                                </m:r>
                              </m:sub>
                            </m:sSub>
                            <m:r>
                              <a:rPr lang="en-IN" sz="16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.</m:t>
                            </m:r>
                            <m:sSup>
                              <m:sSupPr>
                                <m:ctrlPr>
                                  <a:rPr lang="en-IN" sz="16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IN" sz="16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𝛴</m:t>
                                </m:r>
                              </m:e>
                              <m:sup>
                                <m:r>
                                  <a:rPr lang="en-IN" sz="16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sup>
                            </m:sSup>
                          </m:e>
                        </m:d>
                      </m:e>
                      <m:sup>
                        <m:r>
                          <a:rPr lang="en-IN" sz="16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en-IN" sz="160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. </m:t>
                    </m:r>
                    <m:r>
                      <a:rPr lang="en-IN" sz="16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𝛴</m:t>
                    </m:r>
                    <m:r>
                      <a:rPr lang="en-US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.</m:t>
                    </m:r>
                    <m:sSup>
                      <m:sSupPr>
                        <m:ctrlPr>
                          <a:rPr lang="en-US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p>
                        <m:r>
                          <a:rPr lang="en-US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sup>
                    </m:sSup>
                  </m:oMath>
                </a14:m>
                <a:endParaRPr lang="en-IN" sz="16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endParaRPr lang="en-US" sz="160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sz="1600">
                    <a:latin typeface="Arial" panose="020B0604020202020204" pitchFamily="34" charset="0"/>
                    <a:cs typeface="Arial" panose="020B0604020202020204" pitchFamily="34" charset="0"/>
                  </a:rPr>
                  <a:t>For each particle in an aggregate</a:t>
                </a:r>
              </a:p>
              <a:p>
                <a:pPr>
                  <a:lnSpc>
                    <a:spcPct val="150000"/>
                  </a:lnSpc>
                </a:pPr>
                <a:endParaRPr lang="en-IN" sz="160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>
                  <a:lnSpc>
                    <a:spcPct val="150000"/>
                  </a:lnSpc>
                </a:pPr>
                <a:endParaRPr lang="en-US" sz="160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endParaRPr lang="en-IN" sz="16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C4CCA949-B045-4247-802A-3F5798980B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8985" y="1169214"/>
                <a:ext cx="6364233" cy="3689408"/>
              </a:xfrm>
              <a:prstGeom prst="rect">
                <a:avLst/>
              </a:prstGeom>
              <a:blipFill>
                <a:blip r:embed="rId2"/>
                <a:stretch>
                  <a:fillRect l="-38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extBox 12">
            <a:extLst>
              <a:ext uri="{FF2B5EF4-FFF2-40B4-BE49-F238E27FC236}">
                <a16:creationId xmlns:a16="http://schemas.microsoft.com/office/drawing/2014/main" id="{A68A0491-B7EB-423E-AFFA-A32D684BD99E}"/>
              </a:ext>
            </a:extLst>
          </p:cNvPr>
          <p:cNvSpPr txBox="1"/>
          <p:nvPr/>
        </p:nvSpPr>
        <p:spPr>
          <a:xfrm>
            <a:off x="6010845" y="4367817"/>
            <a:ext cx="9308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and</a:t>
            </a:r>
            <a:endParaRPr lang="en-IN" dirty="0"/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4CA363CD-ECB5-4F5B-8FB5-0D13FDBEF8D2}"/>
              </a:ext>
            </a:extLst>
          </p:cNvPr>
          <p:cNvCxnSpPr>
            <a:cxnSpLocks/>
          </p:cNvCxnSpPr>
          <p:nvPr/>
        </p:nvCxnSpPr>
        <p:spPr>
          <a:xfrm>
            <a:off x="9016016" y="4664358"/>
            <a:ext cx="317281" cy="20499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2D3673A9-9834-4723-9D5C-9563A4F73700}"/>
              </a:ext>
            </a:extLst>
          </p:cNvPr>
          <p:cNvSpPr txBox="1"/>
          <p:nvPr/>
        </p:nvSpPr>
        <p:spPr>
          <a:xfrm>
            <a:off x="9220125" y="4863722"/>
            <a:ext cx="28695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Centre of mass </a:t>
            </a:r>
            <a:r>
              <a:rPr lang="en-US"/>
              <a:t>of aggregate</a:t>
            </a:r>
            <a:endParaRPr lang="en-IN" dirty="0"/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200835C9-AB98-4DB9-BEBE-FE29FA83C974}"/>
              </a:ext>
            </a:extLst>
          </p:cNvPr>
          <p:cNvCxnSpPr>
            <a:cxnSpLocks/>
          </p:cNvCxnSpPr>
          <p:nvPr/>
        </p:nvCxnSpPr>
        <p:spPr>
          <a:xfrm>
            <a:off x="7551042" y="4722954"/>
            <a:ext cx="0" cy="51010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7FB1E3A6-D95D-4A99-84EA-4CAF7638BEAD}"/>
              </a:ext>
            </a:extLst>
          </p:cNvPr>
          <p:cNvSpPr txBox="1"/>
          <p:nvPr/>
        </p:nvSpPr>
        <p:spPr>
          <a:xfrm>
            <a:off x="5725114" y="5205947"/>
            <a:ext cx="397063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Distance between the </a:t>
            </a:r>
            <a:r>
              <a:rPr lang="en-US" dirty="0" err="1"/>
              <a:t>centre</a:t>
            </a:r>
            <a:r>
              <a:rPr lang="en-US" dirty="0"/>
              <a:t> of particle </a:t>
            </a:r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</a:rPr>
              <a:t>𝞪</a:t>
            </a:r>
            <a:r>
              <a:rPr lang="en-US" dirty="0"/>
              <a:t> and </a:t>
            </a:r>
            <a:r>
              <a:rPr lang="en-US" dirty="0" err="1"/>
              <a:t>centre</a:t>
            </a:r>
            <a:r>
              <a:rPr lang="en-US" dirty="0"/>
              <a:t> of mass of </a:t>
            </a:r>
            <a:r>
              <a:rPr lang="en-US"/>
              <a:t>an aggregate </a:t>
            </a:r>
            <a:r>
              <a:rPr lang="en-US" b="1" dirty="0"/>
              <a:t>A</a:t>
            </a:r>
            <a:endParaRPr lang="en-IN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E968BF5B-82B6-490E-AAB8-C8076717ADF7}"/>
                  </a:ext>
                </a:extLst>
              </p:cNvPr>
              <p:cNvSpPr txBox="1"/>
              <p:nvPr/>
            </p:nvSpPr>
            <p:spPr>
              <a:xfrm>
                <a:off x="3090922" y="1898118"/>
                <a:ext cx="3200151" cy="369332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i="1" smtClean="0"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en-IN" i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IN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𝑀</m:t>
                                  </m:r>
                                </m:e>
                                <m:sup>
                                  <m:r>
                                    <a:rPr lang="en-IN" i="0">
                                      <a:latin typeface="Cambria Math" panose="02040503050406030204" pitchFamily="18" charset="0"/>
                                    </a:rPr>
                                    <m:t>∞</m:t>
                                  </m:r>
                                </m:sup>
                              </m:sSup>
                            </m:e>
                          </m:d>
                        </m:e>
                        <m:sup>
                          <m:r>
                            <a:rPr lang="en-IN" i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r>
                        <a:rPr lang="en-IN" i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IN" i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𝐵</m:t>
                          </m:r>
                        </m:sub>
                      </m:sSub>
                      <m:r>
                        <a:rPr lang="en-IN" i="0"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sSub>
                            <m:sSub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IN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sub>
                          </m:sSub>
                        </m:e>
                        <m:sup>
                          <m:r>
                            <a:rPr lang="en-IN" i="0"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</m:sSup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E968BF5B-82B6-490E-AAB8-C8076717AD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90922" y="1898118"/>
                <a:ext cx="3200151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2" name="Connector: Curved 51">
            <a:extLst>
              <a:ext uri="{FF2B5EF4-FFF2-40B4-BE49-F238E27FC236}">
                <a16:creationId xmlns:a16="http://schemas.microsoft.com/office/drawing/2014/main" id="{656C76BC-D5B5-4141-91E2-137369CFEDB6}"/>
              </a:ext>
            </a:extLst>
          </p:cNvPr>
          <p:cNvCxnSpPr>
            <a:cxnSpLocks/>
          </p:cNvCxnSpPr>
          <p:nvPr/>
        </p:nvCxnSpPr>
        <p:spPr>
          <a:xfrm rot="16200000" flipH="1">
            <a:off x="3109372" y="1714489"/>
            <a:ext cx="318599" cy="53650"/>
          </a:xfrm>
          <a:prstGeom prst="curved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2728EAB8-4DF2-466D-8990-4EE9BB3B07E7}"/>
              </a:ext>
            </a:extLst>
          </p:cNvPr>
          <p:cNvSpPr txBox="1"/>
          <p:nvPr/>
        </p:nvSpPr>
        <p:spPr>
          <a:xfrm>
            <a:off x="4861261" y="456109"/>
            <a:ext cx="53795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Rigid aggregates</a:t>
            </a:r>
            <a:endParaRPr lang="en-IN" sz="2400" b="1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00BD7C5F-A595-4073-A877-E65F3BD66AF3}"/>
                  </a:ext>
                </a:extLst>
              </p:cNvPr>
              <p:cNvSpPr txBox="1"/>
              <p:nvPr/>
            </p:nvSpPr>
            <p:spPr>
              <a:xfrm>
                <a:off x="197991" y="3989907"/>
                <a:ext cx="6098458" cy="164859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16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1600" i="1">
                              <a:latin typeface="Cambria Math" panose="02040503050406030204" pitchFamily="18" charset="0"/>
                            </a:rPr>
                            <m:t>𝛴</m:t>
                          </m:r>
                        </m:e>
                        <m:sub>
                          <m:d>
                            <m:dPr>
                              <m:ctrlPr>
                                <a:rPr lang="en-IN" sz="16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IN" sz="1600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  <m:r>
                                <a:rPr lang="en-IN" sz="1600" i="1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e>
                          </m:d>
                        </m:sub>
                      </m:sSub>
                      <m:r>
                        <a:rPr lang="en-IN" sz="1600" i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IN" sz="16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IN" sz="16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IN" sz="1600" i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IN" sz="1600" i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m>
                                  <m:mPr>
                                    <m:plcHide m:val="on"/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IN" sz="1600" i="1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a:rPr lang="en-IN" sz="1600" i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  <m:e>
                                      <m:m>
                                        <m:mPr>
                                          <m:plcHide m:val="on"/>
                                          <m:mcs>
                                            <m:mc>
                                              <m:mcPr>
                                                <m:count m:val="2"/>
                                                <m:mcJc m:val="center"/>
                                              </m:mcPr>
                                            </m:mc>
                                          </m:mcs>
                                          <m:ctrlPr>
                                            <a:rPr lang="en-IN" sz="1600" i="1">
                                              <a:solidFill>
                                                <a:srgbClr val="836967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mPr>
                                        <m:mr>
                                          <m:e>
                                            <m:r>
                                              <a:rPr lang="en-IN" sz="1600" i="0">
                                                <a:latin typeface="Cambria Math" panose="02040503050406030204" pitchFamily="18" charset="0"/>
                                              </a:rPr>
                                              <m:t>0</m:t>
                                            </m:r>
                                          </m:e>
                                          <m:e>
                                            <m:m>
                                              <m:mPr>
                                                <m:plcHide m:val="on"/>
                                                <m:mcs>
                                                  <m:mc>
                                                    <m:mcPr>
                                                      <m:count m:val="2"/>
                                                      <m:mcJc m:val="center"/>
                                                    </m:mcPr>
                                                  </m:mc>
                                                </m:mcs>
                                                <m:ctrlPr>
                                                  <a:rPr lang="en-IN" sz="1600" i="1">
                                                    <a:solidFill>
                                                      <a:srgbClr val="836967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mPr>
                                              <m:mr>
                                                <m:e>
                                                  <m:r>
                                                    <a:rPr lang="en-IN" sz="1600" i="0">
                                                      <a:latin typeface="Cambria Math" panose="02040503050406030204" pitchFamily="18" charset="0"/>
                                                    </a:rPr>
                                                    <m:t>0</m:t>
                                                  </m:r>
                                                </m:e>
                                                <m:e>
                                                  <m:r>
                                                    <a:rPr lang="en-IN" sz="1600" i="0">
                                                      <a:latin typeface="Cambria Math" panose="02040503050406030204" pitchFamily="18" charset="0"/>
                                                    </a:rPr>
                                                    <m:t>0</m:t>
                                                  </m:r>
                                                </m:e>
                                              </m:mr>
                                            </m:m>
                                          </m:e>
                                        </m:mr>
                                      </m:m>
                                    </m:e>
                                  </m:mr>
                                </m:m>
                              </m:e>
                            </m:mr>
                            <m:mr>
                              <m:e>
                                <m:r>
                                  <a:rPr lang="en-IN" sz="1600" i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IN" sz="1600" i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m>
                                  <m:mPr>
                                    <m:plcHide m:val="on"/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IN" sz="1600" i="1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a:rPr lang="en-IN" sz="1600" i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  <m:e>
                                      <m:m>
                                        <m:mPr>
                                          <m:plcHide m:val="on"/>
                                          <m:mcs>
                                            <m:mc>
                                              <m:mcPr>
                                                <m:count m:val="2"/>
                                                <m:mcJc m:val="center"/>
                                              </m:mcPr>
                                            </m:mc>
                                          </m:mcs>
                                          <m:ctrlPr>
                                            <a:rPr lang="en-IN" sz="1600" i="1">
                                              <a:solidFill>
                                                <a:srgbClr val="836967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mPr>
                                        <m:mr>
                                          <m:e>
                                            <m:r>
                                              <a:rPr lang="en-IN" sz="1600" i="0">
                                                <a:latin typeface="Cambria Math" panose="02040503050406030204" pitchFamily="18" charset="0"/>
                                              </a:rPr>
                                              <m:t>0</m:t>
                                            </m:r>
                                          </m:e>
                                          <m:e>
                                            <m:m>
                                              <m:mPr>
                                                <m:plcHide m:val="on"/>
                                                <m:mcs>
                                                  <m:mc>
                                                    <m:mcPr>
                                                      <m:count m:val="2"/>
                                                      <m:mcJc m:val="center"/>
                                                    </m:mcPr>
                                                  </m:mc>
                                                </m:mcs>
                                                <m:ctrlPr>
                                                  <a:rPr lang="en-IN" sz="1600" i="1">
                                                    <a:solidFill>
                                                      <a:srgbClr val="836967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mPr>
                                              <m:mr>
                                                <m:e>
                                                  <m:r>
                                                    <a:rPr lang="en-IN" sz="1600" i="0">
                                                      <a:latin typeface="Cambria Math" panose="02040503050406030204" pitchFamily="18" charset="0"/>
                                                    </a:rPr>
                                                    <m:t>0</m:t>
                                                  </m:r>
                                                </m:e>
                                                <m:e>
                                                  <m:r>
                                                    <a:rPr lang="en-IN" sz="1600" i="0">
                                                      <a:latin typeface="Cambria Math" panose="02040503050406030204" pitchFamily="18" charset="0"/>
                                                    </a:rPr>
                                                    <m:t>0</m:t>
                                                  </m:r>
                                                </m:e>
                                              </m:mr>
                                            </m:m>
                                          </m:e>
                                        </m:mr>
                                      </m:m>
                                    </m:e>
                                  </m:mr>
                                </m:m>
                              </m:e>
                            </m:mr>
                            <m:mr>
                              <m:e>
                                <m:m>
                                  <m:mPr>
                                    <m:plcHide m:val="on"/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IN" sz="1600" i="1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a:rPr lang="en-IN" sz="1600" i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IN" sz="1600" i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</m:mr>
                                  <m:mr>
                                    <m:e>
                                      <m:m>
                                        <m:mPr>
                                          <m:plcHide m:val="on"/>
                                          <m:mcs>
                                            <m:mc>
                                              <m:mcPr>
                                                <m:count m:val="1"/>
                                                <m:mcJc m:val="center"/>
                                              </m:mcPr>
                                            </m:mc>
                                          </m:mcs>
                                          <m:ctrlPr>
                                            <a:rPr lang="en-IN" sz="1600" i="1">
                                              <a:solidFill>
                                                <a:srgbClr val="836967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mPr>
                                        <m:mr>
                                          <m:e>
                                            <m:r>
                                              <a:rPr lang="en-IN" sz="1600" i="0">
                                                <a:latin typeface="Cambria Math" panose="02040503050406030204" pitchFamily="18" charset="0"/>
                                              </a:rPr>
                                              <m:t>−∆</m:t>
                                            </m:r>
                                            <m:sSubSup>
                                              <m:sSubSupPr>
                                                <m:ctrlPr>
                                                  <a:rPr lang="en-IN" sz="1600" i="1">
                                                    <a:solidFill>
                                                      <a:srgbClr val="836967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SupPr>
                                              <m:e>
                                                <m:r>
                                                  <a:rPr lang="en-IN" sz="1600" i="1">
                                                    <a:latin typeface="Cambria Math" panose="02040503050406030204" pitchFamily="18" charset="0"/>
                                                  </a:rPr>
                                                  <m:t>𝑟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IN" sz="1600" i="0">
                                                    <a:latin typeface="Cambria Math" panose="02040503050406030204" pitchFamily="18" charset="0"/>
                                                  </a:rPr>
                                                  <m:t>3</m:t>
                                                </m:r>
                                              </m:sub>
                                              <m:sup>
                                                <m:d>
                                                  <m:dPr>
                                                    <m:ctrlPr>
                                                      <a:rPr lang="en-IN" sz="1600" i="1">
                                                        <a:solidFill>
                                                          <a:srgbClr val="836967"/>
                                                        </a:solidFill>
                                                        <a:latin typeface="Cambria Math" panose="02040503050406030204" pitchFamily="18" charset="0"/>
                                                      </a:rPr>
                                                    </m:ctrlPr>
                                                  </m:dPr>
                                                  <m:e>
                                                    <m:r>
                                                      <a:rPr lang="en-IN" sz="1600" i="1">
                                                        <a:latin typeface="Cambria Math" panose="02040503050406030204" pitchFamily="18" charset="0"/>
                                                      </a:rPr>
                                                      <m:t>𝛼</m:t>
                                                    </m:r>
                                                    <m:r>
                                                      <a:rPr lang="en-IN" sz="1600" i="1">
                                                        <a:latin typeface="Cambria Math" panose="02040503050406030204" pitchFamily="18" charset="0"/>
                                                      </a:rPr>
                                                      <m:t>𝐴</m:t>
                                                    </m:r>
                                                  </m:e>
                                                </m:d>
                                              </m:sup>
                                            </m:sSubSup>
                                          </m:e>
                                        </m:mr>
                                        <m:mr>
                                          <m:e>
                                            <m:r>
                                              <a:rPr lang="en-IN" sz="1600" i="0">
                                                <a:latin typeface="Cambria Math" panose="02040503050406030204" pitchFamily="18" charset="0"/>
                                              </a:rPr>
                                              <m:t>∆</m:t>
                                            </m:r>
                                            <m:sSubSup>
                                              <m:sSubSupPr>
                                                <m:ctrlPr>
                                                  <a:rPr lang="en-IN" sz="1600" i="1">
                                                    <a:solidFill>
                                                      <a:srgbClr val="836967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SupPr>
                                              <m:e>
                                                <m:r>
                                                  <a:rPr lang="en-IN" sz="1600" i="1">
                                                    <a:latin typeface="Cambria Math" panose="02040503050406030204" pitchFamily="18" charset="0"/>
                                                  </a:rPr>
                                                  <m:t>𝑟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IN" sz="1600" i="0">
                                                    <a:latin typeface="Cambria Math" panose="02040503050406030204" pitchFamily="18" charset="0"/>
                                                  </a:rPr>
                                                  <m:t>3</m:t>
                                                </m:r>
                                              </m:sub>
                                              <m:sup>
                                                <m:d>
                                                  <m:dPr>
                                                    <m:ctrlPr>
                                                      <a:rPr lang="en-IN" sz="1600" i="1">
                                                        <a:solidFill>
                                                          <a:srgbClr val="836967"/>
                                                        </a:solidFill>
                                                        <a:latin typeface="Cambria Math" panose="02040503050406030204" pitchFamily="18" charset="0"/>
                                                      </a:rPr>
                                                    </m:ctrlPr>
                                                  </m:dPr>
                                                  <m:e>
                                                    <m:r>
                                                      <a:rPr lang="en-IN" sz="1600" i="1">
                                                        <a:latin typeface="Cambria Math" panose="02040503050406030204" pitchFamily="18" charset="0"/>
                                                      </a:rPr>
                                                      <m:t>𝛼</m:t>
                                                    </m:r>
                                                    <m:r>
                                                      <a:rPr lang="en-IN" sz="1600" i="1">
                                                        <a:latin typeface="Cambria Math" panose="02040503050406030204" pitchFamily="18" charset="0"/>
                                                      </a:rPr>
                                                      <m:t>𝐴</m:t>
                                                    </m:r>
                                                  </m:e>
                                                </m:d>
                                              </m:sup>
                                            </m:sSubSup>
                                          </m:e>
                                        </m:mr>
                                      </m:m>
                                    </m:e>
                                  </m:mr>
                                </m:m>
                              </m:e>
                              <m:e>
                                <m:m>
                                  <m:mPr>
                                    <m:plcHide m:val="on"/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IN" sz="1600" i="1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a:rPr lang="en-IN" sz="1600" i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IN" sz="1600" i="0">
                                          <a:latin typeface="Cambria Math" panose="02040503050406030204" pitchFamily="18" charset="0"/>
                                        </a:rPr>
                                        <m:t>∆</m:t>
                                      </m:r>
                                      <m:sSubSup>
                                        <m:sSubSupPr>
                                          <m:ctrlPr>
                                            <a:rPr lang="en-IN" sz="1600" i="1">
                                              <a:solidFill>
                                                <a:srgbClr val="836967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IN" sz="1600" i="1">
                                              <a:latin typeface="Cambria Math" panose="02040503050406030204" pitchFamily="18" charset="0"/>
                                            </a:rPr>
                                            <m:t>𝑟</m:t>
                                          </m:r>
                                        </m:e>
                                        <m:sub>
                                          <m:r>
                                            <a:rPr lang="en-IN" sz="1600" i="0">
                                              <a:latin typeface="Cambria Math" panose="02040503050406030204" pitchFamily="18" charset="0"/>
                                            </a:rPr>
                                            <m:t>3</m:t>
                                          </m:r>
                                        </m:sub>
                                        <m:sup>
                                          <m:d>
                                            <m:dPr>
                                              <m:ctrlPr>
                                                <a:rPr lang="en-IN" sz="1600" i="1">
                                                  <a:solidFill>
                                                    <a:srgbClr val="836967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r>
                                                <a:rPr lang="en-IN" sz="1600" i="1">
                                                  <a:latin typeface="Cambria Math" panose="02040503050406030204" pitchFamily="18" charset="0"/>
                                                </a:rPr>
                                                <m:t>𝛼</m:t>
                                              </m:r>
                                              <m:r>
                                                <a:rPr lang="en-IN" sz="1600" i="1">
                                                  <a:latin typeface="Cambria Math" panose="02040503050406030204" pitchFamily="18" charset="0"/>
                                                </a:rPr>
                                                <m:t>𝐴</m:t>
                                              </m:r>
                                            </m:e>
                                          </m:d>
                                        </m:sup>
                                      </m:sSubSup>
                                    </m:e>
                                  </m:mr>
                                  <m:mr>
                                    <m:e>
                                      <m:m>
                                        <m:mPr>
                                          <m:plcHide m:val="on"/>
                                          <m:mcs>
                                            <m:mc>
                                              <m:mcPr>
                                                <m:count m:val="1"/>
                                                <m:mcJc m:val="center"/>
                                              </m:mcPr>
                                            </m:mc>
                                          </m:mcs>
                                          <m:ctrlPr>
                                            <a:rPr lang="en-IN" sz="1600" i="1">
                                              <a:solidFill>
                                                <a:srgbClr val="836967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mPr>
                                        <m:mr>
                                          <m:e>
                                            <m:r>
                                              <a:rPr lang="en-IN" sz="1600" i="0">
                                                <a:latin typeface="Cambria Math" panose="02040503050406030204" pitchFamily="18" charset="0"/>
                                              </a:rPr>
                                              <m:t>0</m:t>
                                            </m:r>
                                          </m:e>
                                        </m:mr>
                                        <m:mr>
                                          <m:e>
                                            <m:r>
                                              <a:rPr lang="en-IN" sz="1600" i="0">
                                                <a:latin typeface="Cambria Math" panose="02040503050406030204" pitchFamily="18" charset="0"/>
                                              </a:rPr>
                                              <m:t>−∆</m:t>
                                            </m:r>
                                            <m:sSubSup>
                                              <m:sSubSupPr>
                                                <m:ctrlPr>
                                                  <a:rPr lang="en-IN" sz="1600" i="1">
                                                    <a:solidFill>
                                                      <a:srgbClr val="836967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SupPr>
                                              <m:e>
                                                <m:r>
                                                  <a:rPr lang="en-IN" sz="1600" i="1">
                                                    <a:latin typeface="Cambria Math" panose="02040503050406030204" pitchFamily="18" charset="0"/>
                                                  </a:rPr>
                                                  <m:t>𝑟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IN" sz="1600" i="0">
                                                    <a:latin typeface="Cambria Math" panose="02040503050406030204" pitchFamily="18" charset="0"/>
                                                  </a:rPr>
                                                  <m:t>3</m:t>
                                                </m:r>
                                              </m:sub>
                                              <m:sup>
                                                <m:d>
                                                  <m:dPr>
                                                    <m:ctrlPr>
                                                      <a:rPr lang="en-IN" sz="1600" i="1">
                                                        <a:solidFill>
                                                          <a:srgbClr val="836967"/>
                                                        </a:solidFill>
                                                        <a:latin typeface="Cambria Math" panose="02040503050406030204" pitchFamily="18" charset="0"/>
                                                      </a:rPr>
                                                    </m:ctrlPr>
                                                  </m:dPr>
                                                  <m:e>
                                                    <m:r>
                                                      <a:rPr lang="en-IN" sz="1600" i="1">
                                                        <a:latin typeface="Cambria Math" panose="02040503050406030204" pitchFamily="18" charset="0"/>
                                                      </a:rPr>
                                                      <m:t>𝛼</m:t>
                                                    </m:r>
                                                    <m:r>
                                                      <a:rPr lang="en-IN" sz="1600" i="1">
                                                        <a:latin typeface="Cambria Math" panose="02040503050406030204" pitchFamily="18" charset="0"/>
                                                      </a:rPr>
                                                      <m:t>𝐴</m:t>
                                                    </m:r>
                                                  </m:e>
                                                </m:d>
                                              </m:sup>
                                            </m:sSubSup>
                                          </m:e>
                                        </m:mr>
                                      </m:m>
                                    </m:e>
                                  </m:mr>
                                </m:m>
                              </m:e>
                              <m:e>
                                <m:m>
                                  <m:mPr>
                                    <m:plcHide m:val="on"/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IN" sz="1600" i="1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m>
                                        <m:mPr>
                                          <m:plcHide m:val="on"/>
                                          <m:mcs>
                                            <m:mc>
                                              <m:mcPr>
                                                <m:count m:val="1"/>
                                                <m:mcJc m:val="center"/>
                                              </m:mcPr>
                                            </m:mc>
                                          </m:mcs>
                                          <m:ctrlPr>
                                            <a:rPr lang="en-IN" sz="1600" i="1">
                                              <a:solidFill>
                                                <a:srgbClr val="836967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mPr>
                                        <m:mr>
                                          <m:e>
                                            <m:r>
                                              <a:rPr lang="en-IN" sz="1600" i="0">
                                                <a:latin typeface="Cambria Math" panose="02040503050406030204" pitchFamily="18" charset="0"/>
                                              </a:rPr>
                                              <m:t>1</m:t>
                                            </m:r>
                                          </m:e>
                                        </m:mr>
                                        <m:mr>
                                          <m:e>
                                            <m:r>
                                              <a:rPr lang="en-IN" sz="1600" i="0">
                                                <a:latin typeface="Cambria Math" panose="02040503050406030204" pitchFamily="18" charset="0"/>
                                              </a:rPr>
                                              <m:t>−∆</m:t>
                                            </m:r>
                                            <m:sSubSup>
                                              <m:sSubSupPr>
                                                <m:ctrlPr>
                                                  <a:rPr lang="en-IN" sz="1600" i="1">
                                                    <a:solidFill>
                                                      <a:srgbClr val="836967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SupPr>
                                              <m:e>
                                                <m:r>
                                                  <a:rPr lang="en-IN" sz="1600" i="1">
                                                    <a:latin typeface="Cambria Math" panose="02040503050406030204" pitchFamily="18" charset="0"/>
                                                  </a:rPr>
                                                  <m:t>𝑟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IN" sz="1600" i="0">
                                                    <a:latin typeface="Cambria Math" panose="02040503050406030204" pitchFamily="18" charset="0"/>
                                                  </a:rPr>
                                                  <m:t>3</m:t>
                                                </m:r>
                                              </m:sub>
                                              <m:sup>
                                                <m:d>
                                                  <m:dPr>
                                                    <m:ctrlPr>
                                                      <a:rPr lang="en-IN" sz="1600" i="1">
                                                        <a:solidFill>
                                                          <a:srgbClr val="836967"/>
                                                        </a:solidFill>
                                                        <a:latin typeface="Cambria Math" panose="02040503050406030204" pitchFamily="18" charset="0"/>
                                                      </a:rPr>
                                                    </m:ctrlPr>
                                                  </m:dPr>
                                                  <m:e>
                                                    <m:r>
                                                      <a:rPr lang="en-IN" sz="1600" i="1">
                                                        <a:latin typeface="Cambria Math" panose="02040503050406030204" pitchFamily="18" charset="0"/>
                                                      </a:rPr>
                                                      <m:t>𝛼</m:t>
                                                    </m:r>
                                                    <m:r>
                                                      <a:rPr lang="en-IN" sz="1600" i="1">
                                                        <a:latin typeface="Cambria Math" panose="02040503050406030204" pitchFamily="18" charset="0"/>
                                                      </a:rPr>
                                                      <m:t>𝐴</m:t>
                                                    </m:r>
                                                  </m:e>
                                                </m:d>
                                              </m:sup>
                                            </m:sSubSup>
                                          </m:e>
                                        </m:mr>
                                        <m:mr>
                                          <m:e>
                                            <m:m>
                                              <m:mPr>
                                                <m:plcHide m:val="on"/>
                                                <m:mcs>
                                                  <m:mc>
                                                    <m:mcPr>
                                                      <m:count m:val="1"/>
                                                      <m:mcJc m:val="center"/>
                                                    </m:mcPr>
                                                  </m:mc>
                                                </m:mcs>
                                                <m:ctrlPr>
                                                  <a:rPr lang="en-IN" sz="1600" i="1">
                                                    <a:solidFill>
                                                      <a:srgbClr val="836967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mPr>
                                              <m:mr>
                                                <m:e>
                                                  <m:r>
                                                    <a:rPr lang="en-IN" sz="1600" i="0">
                                                      <a:latin typeface="Cambria Math" panose="02040503050406030204" pitchFamily="18" charset="0"/>
                                                    </a:rPr>
                                                    <m:t>∆</m:t>
                                                  </m:r>
                                                  <m:sSubSup>
                                                    <m:sSubSupPr>
                                                      <m:ctrlPr>
                                                        <a:rPr lang="en-IN" sz="1600" i="1">
                                                          <a:solidFill>
                                                            <a:srgbClr val="836967"/>
                                                          </a:solidFill>
                                                          <a:latin typeface="Cambria Math" panose="02040503050406030204" pitchFamily="18" charset="0"/>
                                                        </a:rPr>
                                                      </m:ctrlPr>
                                                    </m:sSubSupPr>
                                                    <m:e>
                                                      <m:r>
                                                        <a:rPr lang="en-IN" sz="1600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𝑟</m:t>
                                                      </m:r>
                                                    </m:e>
                                                    <m:sub>
                                                      <m:r>
                                                        <a:rPr lang="en-IN" sz="1600" i="0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3</m:t>
                                                      </m:r>
                                                    </m:sub>
                                                    <m:sup>
                                                      <m:d>
                                                        <m:dPr>
                                                          <m:ctrlPr>
                                                            <a:rPr lang="en-IN" sz="1600" i="1">
                                                              <a:solidFill>
                                                                <a:srgbClr val="836967"/>
                                                              </a:solidFill>
                                                              <a:latin typeface="Cambria Math" panose="02040503050406030204" pitchFamily="18" charset="0"/>
                                                            </a:rPr>
                                                          </m:ctrlPr>
                                                        </m:dPr>
                                                        <m:e>
                                                          <m:r>
                                                            <a:rPr lang="en-IN" sz="1600" i="1">
                                                              <a:latin typeface="Cambria Math" panose="02040503050406030204" pitchFamily="18" charset="0"/>
                                                            </a:rPr>
                                                            <m:t>𝛼</m:t>
                                                          </m:r>
                                                          <m:r>
                                                            <a:rPr lang="en-IN" sz="1600" i="1">
                                                              <a:latin typeface="Cambria Math" panose="02040503050406030204" pitchFamily="18" charset="0"/>
                                                            </a:rPr>
                                                            <m:t>𝐴</m:t>
                                                          </m:r>
                                                        </m:e>
                                                      </m:d>
                                                    </m:sup>
                                                  </m:sSubSup>
                                                </m:e>
                                              </m:mr>
                                              <m:mr>
                                                <m:e>
                                                  <m:r>
                                                    <a:rPr lang="en-IN" sz="1600" i="0">
                                                      <a:latin typeface="Cambria Math" panose="02040503050406030204" pitchFamily="18" charset="0"/>
                                                    </a:rPr>
                                                    <m:t>0</m:t>
                                                  </m:r>
                                                </m:e>
                                              </m:mr>
                                            </m:m>
                                          </m:e>
                                        </m:mr>
                                      </m:m>
                                    </m:e>
                                    <m:e>
                                      <m:m>
                                        <m:mPr>
                                          <m:plcHide m:val="on"/>
                                          <m:mcs>
                                            <m:mc>
                                              <m:mcPr>
                                                <m:count m:val="2"/>
                                                <m:mcJc m:val="center"/>
                                              </m:mcPr>
                                            </m:mc>
                                          </m:mcs>
                                          <m:ctrlPr>
                                            <a:rPr lang="en-IN" sz="1600" i="1">
                                              <a:solidFill>
                                                <a:srgbClr val="836967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mPr>
                                        <m:mr>
                                          <m:e>
                                            <m:m>
                                              <m:mPr>
                                                <m:plcHide m:val="on"/>
                                                <m:mcs>
                                                  <m:mc>
                                                    <m:mcPr>
                                                      <m:count m:val="1"/>
                                                      <m:mcJc m:val="center"/>
                                                    </m:mcPr>
                                                  </m:mc>
                                                </m:mcs>
                                                <m:ctrlPr>
                                                  <a:rPr lang="en-IN" sz="1600" i="1">
                                                    <a:solidFill>
                                                      <a:srgbClr val="836967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mPr>
                                              <m:mr>
                                                <m:e>
                                                  <m:r>
                                                    <a:rPr lang="en-IN" sz="1600" i="0">
                                                      <a:latin typeface="Cambria Math" panose="02040503050406030204" pitchFamily="18" charset="0"/>
                                                    </a:rPr>
                                                    <m:t>0</m:t>
                                                  </m:r>
                                                </m:e>
                                              </m:mr>
                                              <m:mr>
                                                <m:e>
                                                  <m:r>
                                                    <a:rPr lang="en-IN" sz="1600" i="0">
                                                      <a:latin typeface="Cambria Math" panose="02040503050406030204" pitchFamily="18" charset="0"/>
                                                    </a:rPr>
                                                    <m:t>1</m:t>
                                                  </m:r>
                                                </m:e>
                                              </m:mr>
                                              <m:mr>
                                                <m:e>
                                                  <m:m>
                                                    <m:mPr>
                                                      <m:plcHide m:val="on"/>
                                                      <m:mcs>
                                                        <m:mc>
                                                          <m:mcPr>
                                                            <m:count m:val="1"/>
                                                            <m:mcJc m:val="center"/>
                                                          </m:mcPr>
                                                        </m:mc>
                                                      </m:mcs>
                                                      <m:ctrlPr>
                                                        <a:rPr lang="en-IN" sz="1600" i="1">
                                                          <a:solidFill>
                                                            <a:srgbClr val="836967"/>
                                                          </a:solidFill>
                                                          <a:latin typeface="Cambria Math" panose="02040503050406030204" pitchFamily="18" charset="0"/>
                                                        </a:rPr>
                                                      </m:ctrlPr>
                                                    </m:mPr>
                                                    <m:mr>
                                                      <m:e>
                                                        <m:r>
                                                          <a:rPr lang="en-IN" sz="1600" i="0">
                                                            <a:latin typeface="Cambria Math" panose="02040503050406030204" pitchFamily="18" charset="0"/>
                                                          </a:rPr>
                                                          <m:t>0</m:t>
                                                        </m:r>
                                                      </m:e>
                                                    </m:mr>
                                                    <m:mr>
                                                      <m:e>
                                                        <m:r>
                                                          <a:rPr lang="en-IN" sz="1600" i="0">
                                                            <a:latin typeface="Cambria Math" panose="02040503050406030204" pitchFamily="18" charset="0"/>
                                                          </a:rPr>
                                                          <m:t>0</m:t>
                                                        </m:r>
                                                      </m:e>
                                                    </m:mr>
                                                  </m:m>
                                                </m:e>
                                              </m:mr>
                                            </m:m>
                                          </m:e>
                                          <m:e>
                                            <m:m>
                                              <m:mPr>
                                                <m:plcHide m:val="on"/>
                                                <m:mcs>
                                                  <m:mc>
                                                    <m:mcPr>
                                                      <m:count m:val="2"/>
                                                      <m:mcJc m:val="center"/>
                                                    </m:mcPr>
                                                  </m:mc>
                                                </m:mcs>
                                                <m:ctrlPr>
                                                  <a:rPr lang="en-IN" sz="1600" i="1">
                                                    <a:solidFill>
                                                      <a:srgbClr val="836967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mPr>
                                              <m:mr>
                                                <m:e>
                                                  <m:m>
                                                    <m:mPr>
                                                      <m:plcHide m:val="on"/>
                                                      <m:mcs>
                                                        <m:mc>
                                                          <m:mcPr>
                                                            <m:count m:val="1"/>
                                                            <m:mcJc m:val="center"/>
                                                          </m:mcPr>
                                                        </m:mc>
                                                      </m:mcs>
                                                      <m:ctrlPr>
                                                        <a:rPr lang="en-IN" sz="1600" i="1">
                                                          <a:solidFill>
                                                            <a:srgbClr val="836967"/>
                                                          </a:solidFill>
                                                          <a:latin typeface="Cambria Math" panose="02040503050406030204" pitchFamily="18" charset="0"/>
                                                        </a:rPr>
                                                      </m:ctrlPr>
                                                    </m:mPr>
                                                    <m:mr>
                                                      <m:e>
                                                        <m:r>
                                                          <a:rPr lang="en-IN" sz="1600" i="0">
                                                            <a:latin typeface="Cambria Math" panose="02040503050406030204" pitchFamily="18" charset="0"/>
                                                          </a:rPr>
                                                          <m:t>0</m:t>
                                                        </m:r>
                                                      </m:e>
                                                    </m:mr>
                                                    <m:mr>
                                                      <m:e>
                                                        <m:r>
                                                          <a:rPr lang="en-IN" sz="1600" i="0">
                                                            <a:latin typeface="Cambria Math" panose="02040503050406030204" pitchFamily="18" charset="0"/>
                                                          </a:rPr>
                                                          <m:t>0</m:t>
                                                        </m:r>
                                                      </m:e>
                                                    </m:mr>
                                                    <m:mr>
                                                      <m:e>
                                                        <m:m>
                                                          <m:mPr>
                                                            <m:plcHide m:val="on"/>
                                                            <m:mcs>
                                                              <m:mc>
                                                                <m:mcPr>
                                                                  <m:count m:val="1"/>
                                                                  <m:mcJc m:val="center"/>
                                                                </m:mcPr>
                                                              </m:mc>
                                                            </m:mcs>
                                                            <m:ctrlPr>
                                                              <a:rPr lang="en-IN" sz="1600" i="1">
                                                                <a:solidFill>
                                                                  <a:srgbClr val="836967"/>
                                                                </a:solidFill>
                                                                <a:latin typeface="Cambria Math" panose="02040503050406030204" pitchFamily="18" charset="0"/>
                                                              </a:rPr>
                                                            </m:ctrlPr>
                                                          </m:mPr>
                                                          <m:mr>
                                                            <m:e>
                                                              <m:r>
                                                                <a:rPr lang="en-IN" sz="1600" i="0">
                                                                  <a:latin typeface="Cambria Math" panose="02040503050406030204" pitchFamily="18" charset="0"/>
                                                                </a:rPr>
                                                                <m:t>1</m:t>
                                                              </m:r>
                                                            </m:e>
                                                          </m:mr>
                                                          <m:mr>
                                                            <m:e>
                                                              <m:r>
                                                                <a:rPr lang="en-IN" sz="1600" i="0">
                                                                  <a:latin typeface="Cambria Math" panose="02040503050406030204" pitchFamily="18" charset="0"/>
                                                                </a:rPr>
                                                                <m:t>0</m:t>
                                                              </m:r>
                                                            </m:e>
                                                          </m:mr>
                                                        </m:m>
                                                      </m:e>
                                                    </m:mr>
                                                  </m:m>
                                                </m:e>
                                                <m:e>
                                                  <m:m>
                                                    <m:mPr>
                                                      <m:plcHide m:val="on"/>
                                                      <m:mcs>
                                                        <m:mc>
                                                          <m:mcPr>
                                                            <m:count m:val="1"/>
                                                            <m:mcJc m:val="center"/>
                                                          </m:mcPr>
                                                        </m:mc>
                                                      </m:mcs>
                                                      <m:ctrlPr>
                                                        <a:rPr lang="en-IN" sz="1600" i="1">
                                                          <a:solidFill>
                                                            <a:srgbClr val="836967"/>
                                                          </a:solidFill>
                                                          <a:latin typeface="Cambria Math" panose="02040503050406030204" pitchFamily="18" charset="0"/>
                                                        </a:rPr>
                                                      </m:ctrlPr>
                                                    </m:mPr>
                                                    <m:mr>
                                                      <m:e>
                                                        <m:r>
                                                          <a:rPr lang="en-IN" sz="1600" i="0">
                                                            <a:latin typeface="Cambria Math" panose="02040503050406030204" pitchFamily="18" charset="0"/>
                                                          </a:rPr>
                                                          <m:t>0</m:t>
                                                        </m:r>
                                                      </m:e>
                                                    </m:mr>
                                                    <m:mr>
                                                      <m:e>
                                                        <m:r>
                                                          <a:rPr lang="en-IN" sz="1600" i="0">
                                                            <a:latin typeface="Cambria Math" panose="02040503050406030204" pitchFamily="18" charset="0"/>
                                                          </a:rPr>
                                                          <m:t>0</m:t>
                                                        </m:r>
                                                      </m:e>
                                                    </m:mr>
                                                    <m:mr>
                                                      <m:e>
                                                        <m:m>
                                                          <m:mPr>
                                                            <m:plcHide m:val="on"/>
                                                            <m:mcs>
                                                              <m:mc>
                                                                <m:mcPr>
                                                                  <m:count m:val="1"/>
                                                                  <m:mcJc m:val="center"/>
                                                                </m:mcPr>
                                                              </m:mc>
                                                            </m:mcs>
                                                            <m:ctrlPr>
                                                              <a:rPr lang="en-IN" sz="1600" i="1">
                                                                <a:solidFill>
                                                                  <a:srgbClr val="836967"/>
                                                                </a:solidFill>
                                                                <a:latin typeface="Cambria Math" panose="02040503050406030204" pitchFamily="18" charset="0"/>
                                                              </a:rPr>
                                                            </m:ctrlPr>
                                                          </m:mPr>
                                                          <m:mr>
                                                            <m:e>
                                                              <m:r>
                                                                <a:rPr lang="en-IN" sz="1600" i="0">
                                                                  <a:latin typeface="Cambria Math" panose="02040503050406030204" pitchFamily="18" charset="0"/>
                                                                </a:rPr>
                                                                <m:t>0</m:t>
                                                              </m:r>
                                                            </m:e>
                                                          </m:mr>
                                                          <m:mr>
                                                            <m:e>
                                                              <m:r>
                                                                <a:rPr lang="en-IN" sz="1600" i="0">
                                                                  <a:latin typeface="Cambria Math" panose="02040503050406030204" pitchFamily="18" charset="0"/>
                                                                </a:rPr>
                                                                <m:t>1</m:t>
                                                              </m:r>
                                                            </m:e>
                                                          </m:mr>
                                                        </m:m>
                                                      </m:e>
                                                    </m:mr>
                                                  </m:m>
                                                </m:e>
                                              </m:mr>
                                            </m:m>
                                          </m:e>
                                        </m:mr>
                                      </m:m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IN" sz="1600"/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00BD7C5F-A595-4073-A877-E65F3BD66A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7991" y="3989907"/>
                <a:ext cx="6098458" cy="164859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E721F459-F75C-4F72-8A5A-2BB80E4BC560}"/>
                  </a:ext>
                </a:extLst>
              </p:cNvPr>
              <p:cNvSpPr txBox="1"/>
              <p:nvPr/>
            </p:nvSpPr>
            <p:spPr>
              <a:xfrm>
                <a:off x="5309134" y="4347842"/>
                <a:ext cx="6098458" cy="35522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IN" sz="16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IN" sz="1600">
                              <a:latin typeface="Cambria Math" panose="02040503050406030204" pitchFamily="18" charset="0"/>
                            </a:rPr>
                            <m:t>∆</m:t>
                          </m:r>
                          <m:r>
                            <a:rPr lang="en-IN" sz="1600" i="1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p>
                          <m:d>
                            <m:dPr>
                              <m:ctrlPr>
                                <a:rPr lang="en-IN" sz="16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IN" sz="1600" i="1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  <m:r>
                                <a:rPr lang="en-IN" sz="1600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</m:d>
                        </m:sup>
                      </m:sSup>
                      <m:r>
                        <a:rPr lang="en-IN" sz="1600" i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IN" sz="16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IN" sz="16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d>
                            <m:dPr>
                              <m:ctrlPr>
                                <a:rPr lang="en-IN" sz="16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IN" sz="1600" i="1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e>
                          </m:d>
                        </m:sup>
                      </m:sSup>
                      <m:r>
                        <a:rPr lang="en-IN" sz="1600" i="0"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n-IN" sz="16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IN" sz="16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d>
                            <m:dPr>
                              <m:ctrlPr>
                                <a:rPr lang="en-IN" sz="16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IN" sz="1600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</m:d>
                        </m:sup>
                      </m:sSup>
                    </m:oMath>
                  </m:oMathPara>
                </a14:m>
                <a:endParaRPr lang="en-IN" sz="1600"/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E721F459-F75C-4F72-8A5A-2BB80E4BC56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09134" y="4347842"/>
                <a:ext cx="6098458" cy="35522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FE953C06-1DD6-488D-8795-142190E5E62F}"/>
                  </a:ext>
                </a:extLst>
              </p:cNvPr>
              <p:cNvSpPr txBox="1"/>
              <p:nvPr/>
            </p:nvSpPr>
            <p:spPr>
              <a:xfrm>
                <a:off x="5149357" y="3117695"/>
                <a:ext cx="1722976" cy="369332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i="1" smtClean="0"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en-IN" i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IN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𝑀</m:t>
                                  </m:r>
                                </m:e>
                                <m:sup>
                                  <m:r>
                                    <a:rPr lang="en-IN" i="0">
                                      <a:latin typeface="Cambria Math" panose="02040503050406030204" pitchFamily="18" charset="0"/>
                                    </a:rPr>
                                    <m:t>∞</m:t>
                                  </m:r>
                                </m:sup>
                              </m:sSup>
                            </m:e>
                          </m:d>
                        </m:e>
                        <m:sup>
                          <m:r>
                            <a:rPr lang="en-IN" i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</m:oMath>
                  </m:oMathPara>
                </a14:m>
                <a:endParaRPr lang="en-IN"/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FE953C06-1DD6-488D-8795-142190E5E6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49357" y="3117695"/>
                <a:ext cx="1722976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3" name="Connector: Curved 32">
            <a:extLst>
              <a:ext uri="{FF2B5EF4-FFF2-40B4-BE49-F238E27FC236}">
                <a16:creationId xmlns:a16="http://schemas.microsoft.com/office/drawing/2014/main" id="{2F632313-8ADB-496E-9311-CDE2C8891717}"/>
              </a:ext>
            </a:extLst>
          </p:cNvPr>
          <p:cNvCxnSpPr>
            <a:cxnSpLocks/>
          </p:cNvCxnSpPr>
          <p:nvPr/>
        </p:nvCxnSpPr>
        <p:spPr>
          <a:xfrm>
            <a:off x="3987019" y="3052916"/>
            <a:ext cx="1123223" cy="213496"/>
          </a:xfrm>
          <a:prstGeom prst="curvedConnector3">
            <a:avLst>
              <a:gd name="adj1" fmla="val 105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BBEFA216-26BB-4741-BCFB-5376F64B8FE4}"/>
              </a:ext>
            </a:extLst>
          </p:cNvPr>
          <p:cNvCxnSpPr>
            <a:cxnSpLocks/>
          </p:cNvCxnSpPr>
          <p:nvPr/>
        </p:nvCxnSpPr>
        <p:spPr>
          <a:xfrm>
            <a:off x="1056290" y="4978004"/>
            <a:ext cx="0" cy="90667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A802DE2C-6DCC-4126-8705-11FD7177D329}"/>
              </a:ext>
            </a:extLst>
          </p:cNvPr>
          <p:cNvSpPr txBox="1"/>
          <p:nvPr/>
        </p:nvSpPr>
        <p:spPr>
          <a:xfrm>
            <a:off x="819806" y="5884682"/>
            <a:ext cx="227111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>
                <a:latin typeface="Arial" panose="020B0604020202020204" pitchFamily="34" charset="0"/>
                <a:cs typeface="Arial" panose="020B0604020202020204" pitchFamily="34" charset="0"/>
              </a:rPr>
              <a:t>Rigid body matrix</a:t>
            </a:r>
            <a:endParaRPr lang="en-IN" sz="1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9AEE84C1-5673-43D0-943D-48F8481C2F65}"/>
                  </a:ext>
                </a:extLst>
              </p:cNvPr>
              <p:cNvSpPr txBox="1"/>
              <p:nvPr/>
            </p:nvSpPr>
            <p:spPr>
              <a:xfrm>
                <a:off x="7338089" y="1358581"/>
                <a:ext cx="4362252" cy="1159292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  <a:spcAft>
                    <a:spcPts val="800"/>
                  </a:spcAft>
                </a:pPr>
                <a:r>
                  <a:rPr lang="en-US" sz="1400">
                    <a:solidFill>
                      <a:srgbClr val="C00000"/>
                    </a:solidFill>
                    <a:effectLst/>
                    <a:latin typeface="Arial" panose="020B0604020202020204" pitchFamily="34" charset="0"/>
                    <a:ea typeface="Calibri" panose="020F0502020204030204" pitchFamily="34" charset="0"/>
                    <a:cs typeface="Arial" panose="020B0604020202020204" pitchFamily="34" charset="0"/>
                  </a:rPr>
                  <a:t>For rigid cluster</a:t>
                </a:r>
              </a:p>
              <a:p>
                <a:pPr algn="ctr">
                  <a:lnSpc>
                    <a:spcPct val="150000"/>
                  </a:lnSpc>
                  <a:spcAft>
                    <a:spcPts val="800"/>
                  </a:spcAf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IN" sz="1400" i="1" smtClean="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IN" sz="14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𝑢</m:t>
                        </m:r>
                      </m:e>
                      <m:sub>
                        <m:r>
                          <a:rPr lang="en-IN" sz="14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  <m:r>
                      <a:rPr lang="en-IN" sz="14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</m:t>
                    </m:r>
                    <m:sSub>
                      <m:sSubPr>
                        <m:ctrlPr>
                          <a:rPr lang="en-IN" sz="14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IN" sz="14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𝑢</m:t>
                        </m:r>
                      </m:e>
                      <m:sub>
                        <m:r>
                          <a:rPr lang="en-IN" sz="14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𝑐𝑚</m:t>
                        </m:r>
                      </m:sub>
                    </m:sSub>
                    <m:r>
                      <a:rPr lang="en-IN" sz="14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+</m:t>
                    </m:r>
                    <m:sSub>
                      <m:sSubPr>
                        <m:ctrlPr>
                          <a:rPr lang="en-IN" sz="14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IN" sz="14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𝜔</m:t>
                        </m:r>
                      </m:e>
                      <m:sub>
                        <m:r>
                          <a:rPr lang="en-IN" sz="14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𝑐𝑚</m:t>
                        </m:r>
                      </m:sub>
                    </m:sSub>
                    <m:r>
                      <a:rPr lang="en-IN" sz="14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×</m:t>
                    </m:r>
                    <m:d>
                      <m:dPr>
                        <m:ctrlPr>
                          <a:rPr lang="en-IN" sz="14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IN" sz="14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IN" sz="14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sz="14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IN" sz="14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IN" sz="14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IN" sz="14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sz="14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𝑐𝑚</m:t>
                            </m:r>
                          </m:sub>
                        </m:sSub>
                      </m:e>
                    </m:d>
                    <m:r>
                      <a:rPr lang="en-IN" sz="14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      </m:t>
                    </m:r>
                    <m:r>
                      <a:rPr lang="en-IN" sz="14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𝑖</m:t>
                    </m:r>
                    <m:r>
                      <a:rPr lang="en-IN" sz="14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=1,2,</m:t>
                    </m:r>
                  </m:oMath>
                </a14:m>
                <a:r>
                  <a:rPr lang="en-IN" sz="140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..,</a:t>
                </a:r>
                <a14:m>
                  <m:oMath xmlns:m="http://schemas.openxmlformats.org/officeDocument/2006/math">
                    <m:r>
                      <a:rPr lang="en-IN" sz="14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𝑁</m:t>
                    </m:r>
                  </m:oMath>
                </a14:m>
                <a:r>
                  <a:rPr lang="en-IN" sz="140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endParaRPr lang="en-IN" sz="140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1400" i="1"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IN" sz="1400" i="1">
                                  <a:effectLst/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14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en-IN" sz="14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IN" sz="14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=</m:t>
                          </m:r>
                          <m:r>
                            <a:rPr lang="en-IN" sz="14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en-IN" sz="14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𝑐𝑚</m:t>
                          </m:r>
                        </m:sub>
                      </m:sSub>
                    </m:oMath>
                  </m:oMathPara>
                </a14:m>
                <a:endParaRPr lang="en-IN" sz="1400"/>
              </a:p>
            </p:txBody>
          </p:sp>
        </mc:Choice>
        <mc:Fallback xmlns="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9AEE84C1-5673-43D0-943D-48F8481C2F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38089" y="1358581"/>
                <a:ext cx="4362252" cy="1159292"/>
              </a:xfrm>
              <a:prstGeom prst="rect">
                <a:avLst/>
              </a:prstGeom>
              <a:blipFill>
                <a:blip r:embed="rId7"/>
                <a:stretch>
                  <a:fillRect l="-279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8" name="Rectangle 47">
            <a:extLst>
              <a:ext uri="{FF2B5EF4-FFF2-40B4-BE49-F238E27FC236}">
                <a16:creationId xmlns:a16="http://schemas.microsoft.com/office/drawing/2014/main" id="{910A9DDD-24A4-4126-8326-0C03DE15AA85}"/>
              </a:ext>
            </a:extLst>
          </p:cNvPr>
          <p:cNvSpPr/>
          <p:nvPr/>
        </p:nvSpPr>
        <p:spPr>
          <a:xfrm>
            <a:off x="174171" y="188686"/>
            <a:ext cx="11843657" cy="645885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163A2F5-7CD2-433B-B778-3F9F19B4AD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3CAD28-B1A9-4A64-9DD6-3376C7DEC3B0}" type="slidenum">
              <a:rPr lang="en-IN" smtClean="0"/>
              <a:t>11</a:t>
            </a:fld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F74A23F-0BA5-44F9-AB4E-2B0F37F21A79}"/>
              </a:ext>
            </a:extLst>
          </p:cNvPr>
          <p:cNvSpPr txBox="1"/>
          <p:nvPr/>
        </p:nvSpPr>
        <p:spPr>
          <a:xfrm>
            <a:off x="197991" y="6392513"/>
            <a:ext cx="213225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/>
              <a:t>*Swan(2011)</a:t>
            </a:r>
            <a:endParaRPr lang="en-IN" sz="1200"/>
          </a:p>
        </p:txBody>
      </p:sp>
    </p:spTree>
    <p:extLst>
      <p:ext uri="{BB962C8B-B14F-4D97-AF65-F5344CB8AC3E}">
        <p14:creationId xmlns:p14="http://schemas.microsoft.com/office/powerpoint/2010/main" val="21638098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3197"/>
    </mc:Choice>
    <mc:Fallback xmlns="">
      <p:transition spd="slow" advTm="43197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AC8BC067-7F8B-4575-A2B1-F46C7166C64F}"/>
              </a:ext>
            </a:extLst>
          </p:cNvPr>
          <p:cNvSpPr txBox="1"/>
          <p:nvPr/>
        </p:nvSpPr>
        <p:spPr>
          <a:xfrm>
            <a:off x="623526" y="1320098"/>
            <a:ext cx="6093372" cy="15240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>
                <a:latin typeface="Arial" panose="020B0604020202020204" pitchFamily="34" charset="0"/>
                <a:cs typeface="Arial" panose="020B0604020202020204" pitchFamily="34" charset="0"/>
              </a:rPr>
              <a:t>If unit force is given on N particles(say </a:t>
            </a:r>
            <a:r>
              <a:rPr lang="en-US" sz="1600" i="1">
                <a:latin typeface="Arial" panose="020B0604020202020204" pitchFamily="34" charset="0"/>
                <a:cs typeface="Arial" panose="020B0604020202020204" pitchFamily="34" charset="0"/>
              </a:rPr>
              <a:t>x</a:t>
            </a:r>
            <a:r>
              <a:rPr lang="en-US" sz="1600">
                <a:latin typeface="Arial" panose="020B0604020202020204" pitchFamily="34" charset="0"/>
                <a:cs typeface="Arial" panose="020B0604020202020204" pitchFamily="34" charset="0"/>
              </a:rPr>
              <a:t> dir), the aggregate experiences force of (N*1) overall in </a:t>
            </a:r>
            <a:r>
              <a:rPr lang="en-US" sz="1600" i="1">
                <a:latin typeface="Arial" panose="020B0604020202020204" pitchFamily="34" charset="0"/>
                <a:cs typeface="Arial" panose="020B0604020202020204" pitchFamily="34" charset="0"/>
              </a:rPr>
              <a:t>x</a:t>
            </a:r>
            <a:r>
              <a:rPr lang="en-US" sz="1600">
                <a:latin typeface="Arial" panose="020B0604020202020204" pitchFamily="34" charset="0"/>
                <a:cs typeface="Arial" panose="020B0604020202020204" pitchFamily="34" charset="0"/>
              </a:rPr>
              <a:t> dir.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>
                <a:latin typeface="Arial" panose="020B0604020202020204" pitchFamily="34" charset="0"/>
                <a:cs typeface="Arial" panose="020B0604020202020204" pitchFamily="34" charset="0"/>
              </a:rPr>
              <a:t>Inter-particle distance stays same throughout.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>
                <a:latin typeface="Arial" panose="020B0604020202020204" pitchFamily="34" charset="0"/>
                <a:cs typeface="Arial" panose="020B0604020202020204" pitchFamily="34" charset="0"/>
              </a:rPr>
              <a:t>Check for rigidity</a:t>
            </a:r>
            <a:endParaRPr lang="en-IN" sz="1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6F6644B-6AE4-464F-BE37-30A0142F6956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1462921" y="3579590"/>
            <a:ext cx="3553610" cy="2167938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B88A28DE-4A89-431F-B72B-19674BB2B0E4}"/>
              </a:ext>
            </a:extLst>
          </p:cNvPr>
          <p:cNvSpPr txBox="1"/>
          <p:nvPr/>
        </p:nvSpPr>
        <p:spPr>
          <a:xfrm>
            <a:off x="1526062" y="5898118"/>
            <a:ext cx="51908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>
                <a:latin typeface="Arial" panose="020B0604020202020204" pitchFamily="34" charset="0"/>
                <a:cs typeface="Arial" panose="020B0604020202020204" pitchFamily="34" charset="0"/>
              </a:rPr>
              <a:t>-DLA N=100 experiences 1/N force on each particle.</a:t>
            </a:r>
          </a:p>
          <a:p>
            <a:r>
              <a:rPr lang="en-IN" sz="1200">
                <a:latin typeface="Arial" panose="020B0604020202020204" pitchFamily="34" charset="0"/>
                <a:cs typeface="Arial" panose="020B0604020202020204" pitchFamily="34" charset="0"/>
              </a:rPr>
              <a:t>-Max error is the maximum of all the error in inter-particle distance.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5E1B402E-1A4C-4A80-A8F1-A7F46D6135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39390" y="2867025"/>
            <a:ext cx="4619625" cy="56197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4640EB90-99F0-4121-A949-EB01765D6B65}"/>
              </a:ext>
            </a:extLst>
          </p:cNvPr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91" t="3065" b="1642"/>
          <a:stretch>
            <a:fillRect/>
          </a:stretch>
        </p:blipFill>
        <p:spPr bwMode="auto">
          <a:xfrm>
            <a:off x="8325679" y="2064043"/>
            <a:ext cx="2945986" cy="2167938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2AD41B7-11D1-4152-87A4-1B591DBC4551}"/>
              </a:ext>
            </a:extLst>
          </p:cNvPr>
          <p:cNvSpPr txBox="1"/>
          <p:nvPr/>
        </p:nvSpPr>
        <p:spPr>
          <a:xfrm>
            <a:off x="4685264" y="467237"/>
            <a:ext cx="658640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Check for rigidity</a:t>
            </a:r>
            <a:endParaRPr lang="en-IN" sz="2400" b="1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33FF52B-B10A-4544-B962-DF29BD04C4A4}"/>
              </a:ext>
            </a:extLst>
          </p:cNvPr>
          <p:cNvSpPr txBox="1"/>
          <p:nvPr/>
        </p:nvSpPr>
        <p:spPr>
          <a:xfrm>
            <a:off x="8616814" y="4231981"/>
            <a:ext cx="26548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>
                <a:latin typeface="Arial" panose="020B0604020202020204" pitchFamily="34" charset="0"/>
                <a:cs typeface="Arial" panose="020B0604020202020204" pitchFamily="34" charset="0"/>
              </a:rPr>
              <a:t>Force distribution</a:t>
            </a:r>
            <a:endParaRPr lang="en-IN" sz="1600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C535047-9832-4208-B959-225669BBC736}"/>
              </a:ext>
            </a:extLst>
          </p:cNvPr>
          <p:cNvSpPr/>
          <p:nvPr/>
        </p:nvSpPr>
        <p:spPr>
          <a:xfrm>
            <a:off x="174171" y="188686"/>
            <a:ext cx="11843657" cy="645885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37ABE27-A6BA-497B-B07C-C36E96BA55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3CAD28-B1A9-4A64-9DD6-3376C7DEC3B0}" type="slidenum">
              <a:rPr lang="en-IN" smtClean="0"/>
              <a:t>12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25962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7520"/>
    </mc:Choice>
    <mc:Fallback xmlns="">
      <p:transition spd="slow" advTm="57520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B135C352-7250-4248-9310-FDCE3B3BC424}"/>
              </a:ext>
            </a:extLst>
          </p:cNvPr>
          <p:cNvSpPr txBox="1"/>
          <p:nvPr/>
        </p:nvSpPr>
        <p:spPr>
          <a:xfrm>
            <a:off x="625008" y="283252"/>
            <a:ext cx="11247443" cy="10188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2400" b="1">
                <a:solidFill>
                  <a:srgbClr val="C00000"/>
                </a:solidFill>
              </a:rPr>
              <a:t>Aggregation Models</a:t>
            </a:r>
          </a:p>
          <a:p>
            <a:pPr algn="ctr">
              <a:lnSpc>
                <a:spcPct val="150000"/>
              </a:lnSpc>
            </a:pPr>
            <a:r>
              <a:rPr lang="en-US" i="1"/>
              <a:t>Based on particle-cluster and cluster-cluster aggregation</a:t>
            </a:r>
            <a:endParaRPr lang="en-US" i="1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14AD616-B5E9-48B7-8C22-AB93C15FE691}"/>
              </a:ext>
            </a:extLst>
          </p:cNvPr>
          <p:cNvSpPr txBox="1"/>
          <p:nvPr/>
        </p:nvSpPr>
        <p:spPr>
          <a:xfrm>
            <a:off x="1089232" y="3616757"/>
            <a:ext cx="4119418" cy="4160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160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Mathematical fractal: </a:t>
            </a:r>
            <a:r>
              <a:rPr lang="en-US" sz="1600">
                <a:latin typeface="Arial" panose="020B0604020202020204" pitchFamily="34" charset="0"/>
                <a:cs typeface="Arial" panose="020B0604020202020204" pitchFamily="34" charset="0"/>
              </a:rPr>
              <a:t> Vicsek </a:t>
            </a:r>
            <a:endParaRPr lang="en-IN" sz="1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3B04F29-4506-4D9D-B327-B27B48A6B7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1308" y="4080651"/>
            <a:ext cx="2108696" cy="1964659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8F86D2E8-F8F3-42CB-BF6C-97A915942A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17002" y="4109656"/>
            <a:ext cx="2108696" cy="1991546"/>
          </a:xfrm>
          <a:prstGeom prst="rect">
            <a:avLst/>
          </a:prstGeom>
        </p:spPr>
      </p:pic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A1CEE84F-9AB7-4AEC-88BC-F395D3073E99}"/>
              </a:ext>
            </a:extLst>
          </p:cNvPr>
          <p:cNvCxnSpPr/>
          <p:nvPr/>
        </p:nvCxnSpPr>
        <p:spPr>
          <a:xfrm>
            <a:off x="4571351" y="1555531"/>
            <a:ext cx="0" cy="53602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0B3088C3-2EEA-4D3C-B8A7-A37E56A1B107}"/>
              </a:ext>
            </a:extLst>
          </p:cNvPr>
          <p:cNvCxnSpPr/>
          <p:nvPr/>
        </p:nvCxnSpPr>
        <p:spPr>
          <a:xfrm>
            <a:off x="8433613" y="1562833"/>
            <a:ext cx="0" cy="53602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12AA7DB-AFB6-4DD4-8CE3-E82ACDC8D787}"/>
              </a:ext>
            </a:extLst>
          </p:cNvPr>
          <p:cNvCxnSpPr/>
          <p:nvPr/>
        </p:nvCxnSpPr>
        <p:spPr>
          <a:xfrm>
            <a:off x="4571352" y="1562833"/>
            <a:ext cx="3862261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DBB4752-8688-4C85-8593-38B457D6867F}"/>
              </a:ext>
            </a:extLst>
          </p:cNvPr>
          <p:cNvCxnSpPr>
            <a:cxnSpLocks/>
          </p:cNvCxnSpPr>
          <p:nvPr/>
        </p:nvCxnSpPr>
        <p:spPr>
          <a:xfrm flipH="1">
            <a:off x="6390620" y="1302121"/>
            <a:ext cx="1" cy="25852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3331ACAA-4B69-4D7B-9D0C-FC658033834C}"/>
                  </a:ext>
                </a:extLst>
              </p:cNvPr>
              <p:cNvSpPr txBox="1"/>
              <p:nvPr/>
            </p:nvSpPr>
            <p:spPr>
              <a:xfrm>
                <a:off x="2524969" y="2143821"/>
                <a:ext cx="4092763" cy="60452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600">
                    <a:latin typeface="Arial" panose="020B0604020202020204" pitchFamily="34" charset="0"/>
                    <a:cs typeface="Arial" panose="020B0604020202020204" pitchFamily="34" charset="0"/>
                  </a:rPr>
                  <a:t>Diffusion Limited Aggregation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(</m:t>
                      </m:r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𝐷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𝑓</m:t>
                          </m:r>
                        </m:sub>
                      </m:sSub>
                      <m:r>
                        <a:rPr lang="en-US" sz="1600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~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2.5)</m:t>
                      </m:r>
                    </m:oMath>
                  </m:oMathPara>
                </a14:m>
                <a:endParaRPr lang="en-IN" sz="160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3331ACAA-4B69-4D7B-9D0C-FC658033834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24969" y="2143821"/>
                <a:ext cx="4092763" cy="604524"/>
              </a:xfrm>
              <a:prstGeom prst="rect">
                <a:avLst/>
              </a:prstGeom>
              <a:blipFill>
                <a:blip r:embed="rId4"/>
                <a:stretch>
                  <a:fillRect t="-3030" b="-303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C7BC0861-6A90-4C00-818C-3409C928F299}"/>
                  </a:ext>
                </a:extLst>
              </p:cNvPr>
              <p:cNvSpPr txBox="1"/>
              <p:nvPr/>
            </p:nvSpPr>
            <p:spPr>
              <a:xfrm>
                <a:off x="5845947" y="1990608"/>
                <a:ext cx="5175332" cy="16289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 algn="ctr">
                  <a:lnSpc>
                    <a:spcPct val="150000"/>
                  </a:lnSpc>
                  <a:buFont typeface="Wingdings" panose="05000000000000000000" pitchFamily="2" charset="2"/>
                  <a:buChar char="v"/>
                </a:pPr>
                <a:r>
                  <a:rPr lang="en-US" sz="1600">
                    <a:latin typeface="Arial" panose="020B0604020202020204" pitchFamily="34" charset="0"/>
                    <a:cs typeface="Arial" panose="020B0604020202020204" pitchFamily="34" charset="0"/>
                  </a:rPr>
                  <a:t>Diffusion Limited Cluster-Cluster Aggregation</a:t>
                </a:r>
              </a:p>
              <a:p>
                <a:pPr algn="ctr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(</m:t>
                      </m:r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𝐷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𝑓</m:t>
                          </m:r>
                        </m:sub>
                      </m:sSub>
                      <m:r>
                        <a:rPr lang="en-US" sz="16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=1.8 &amp; </m:t>
                      </m:r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𝐷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𝑓</m:t>
                          </m:r>
                        </m:sub>
                      </m:sSub>
                      <m:r>
                        <a:rPr lang="en-US" sz="16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=2.2 )</m:t>
                      </m:r>
                    </m:oMath>
                  </m:oMathPara>
                </a14:m>
                <a:endParaRPr lang="en-US" sz="160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285750" indent="-285750" algn="ctr">
                  <a:lnSpc>
                    <a:spcPct val="150000"/>
                  </a:lnSpc>
                  <a:buFont typeface="Wingdings" panose="05000000000000000000" pitchFamily="2" charset="2"/>
                  <a:buChar char="v"/>
                </a:pPr>
                <a:r>
                  <a:rPr lang="en-US" sz="1600">
                    <a:latin typeface="Arial" panose="020B0604020202020204" pitchFamily="34" charset="0"/>
                    <a:cs typeface="Arial" panose="020B0604020202020204" pitchFamily="34" charset="0"/>
                  </a:rPr>
                  <a:t>Tunable Monte Carlo Cluster-Cluster Aggregation </a:t>
                </a:r>
              </a:p>
              <a:p>
                <a:pPr algn="ctr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(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𝐷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𝑓</m:t>
                          </m:r>
                        </m:sub>
                      </m:sSub>
                      <m:r>
                        <a:rPr lang="en-US" sz="16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→1.5 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𝑡𝑜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 3)</m:t>
                      </m:r>
                    </m:oMath>
                  </m:oMathPara>
                </a14:m>
                <a:endParaRPr lang="en-IN" sz="160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C7BC0861-6A90-4C00-818C-3409C928F2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45947" y="1990608"/>
                <a:ext cx="5175332" cy="162890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TextBox 15">
            <a:extLst>
              <a:ext uri="{FF2B5EF4-FFF2-40B4-BE49-F238E27FC236}">
                <a16:creationId xmlns:a16="http://schemas.microsoft.com/office/drawing/2014/main" id="{C99F70B3-E92D-4BF8-BAE7-3A52B2E362D9}"/>
              </a:ext>
            </a:extLst>
          </p:cNvPr>
          <p:cNvSpPr txBox="1"/>
          <p:nvPr/>
        </p:nvSpPr>
        <p:spPr>
          <a:xfrm>
            <a:off x="5758566" y="1566345"/>
            <a:ext cx="409276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Statistical fractals</a:t>
            </a:r>
            <a:endParaRPr lang="en-IN" sz="120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82082D83-8828-4416-AEAA-46305073306A}"/>
                  </a:ext>
                </a:extLst>
              </p:cNvPr>
              <p:cNvSpPr txBox="1"/>
              <p:nvPr/>
            </p:nvSpPr>
            <p:spPr>
              <a:xfrm>
                <a:off x="6390620" y="3559534"/>
                <a:ext cx="4587766" cy="72763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sz="1600">
                    <a:solidFill>
                      <a:srgbClr val="C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Spherical Aggregate</a:t>
                </a:r>
                <a:r>
                  <a:rPr lang="en-US" sz="1600">
                    <a:latin typeface="Arial" panose="020B0604020202020204" pitchFamily="34" charset="0"/>
                    <a:cs typeface="Arial" panose="020B0604020202020204" pitchFamily="34" charset="0"/>
                  </a:rPr>
                  <a:t>: Simple cubic unit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(</m:t>
                      </m:r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𝐷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𝑓</m:t>
                          </m:r>
                        </m:sub>
                      </m:sSub>
                      <m:r>
                        <a:rPr lang="en-US" sz="16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=3 ,</m:t>
                      </m:r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𝑘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𝑓</m:t>
                          </m:r>
                        </m:sub>
                      </m:sSub>
                      <m:r>
                        <a:rPr lang="en-US" sz="16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=1.09 &amp; 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𝜙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=0.52)</m:t>
                      </m:r>
                    </m:oMath>
                  </m:oMathPara>
                </a14:m>
                <a:endParaRPr lang="en-IN" sz="160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82082D83-8828-4416-AEAA-4630507330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90620" y="3559534"/>
                <a:ext cx="4587766" cy="727635"/>
              </a:xfrm>
              <a:prstGeom prst="rect">
                <a:avLst/>
              </a:prstGeom>
              <a:blipFill>
                <a:blip r:embed="rId6"/>
                <a:stretch>
                  <a:fillRect l="-664" b="-252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0" name="Picture 19">
            <a:extLst>
              <a:ext uri="{FF2B5EF4-FFF2-40B4-BE49-F238E27FC236}">
                <a16:creationId xmlns:a16="http://schemas.microsoft.com/office/drawing/2014/main" id="{A7E599AB-67FD-4DA4-8A8F-E3D2CF5DD5A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04947" y="4348240"/>
            <a:ext cx="1759112" cy="1823666"/>
          </a:xfrm>
          <a:prstGeom prst="rect">
            <a:avLst/>
          </a:prstGeom>
        </p:spPr>
      </p:pic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9BA6D790-6880-4ADE-B032-953BF82FF649}"/>
              </a:ext>
            </a:extLst>
          </p:cNvPr>
          <p:cNvCxnSpPr>
            <a:cxnSpLocks/>
          </p:cNvCxnSpPr>
          <p:nvPr/>
        </p:nvCxnSpPr>
        <p:spPr>
          <a:xfrm>
            <a:off x="867103" y="3559534"/>
            <a:ext cx="5327978" cy="0"/>
          </a:xfrm>
          <a:prstGeom prst="line">
            <a:avLst/>
          </a:prstGeom>
          <a:ln>
            <a:prstDash val="dashDot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98F44C7A-011F-4B9D-AFAC-78AE1D2D2E5E}"/>
              </a:ext>
            </a:extLst>
          </p:cNvPr>
          <p:cNvCxnSpPr/>
          <p:nvPr/>
        </p:nvCxnSpPr>
        <p:spPr>
          <a:xfrm>
            <a:off x="6195081" y="3560732"/>
            <a:ext cx="4978844" cy="0"/>
          </a:xfrm>
          <a:prstGeom prst="line">
            <a:avLst/>
          </a:prstGeom>
          <a:ln>
            <a:prstDash val="dashDot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4" name="Rectangle 23">
            <a:extLst>
              <a:ext uri="{FF2B5EF4-FFF2-40B4-BE49-F238E27FC236}">
                <a16:creationId xmlns:a16="http://schemas.microsoft.com/office/drawing/2014/main" id="{F4ADFD68-DD18-4321-9566-1CFE919FD9EA}"/>
              </a:ext>
            </a:extLst>
          </p:cNvPr>
          <p:cNvSpPr/>
          <p:nvPr/>
        </p:nvSpPr>
        <p:spPr>
          <a:xfrm>
            <a:off x="174171" y="188686"/>
            <a:ext cx="11843657" cy="645885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4007363-F348-4BA2-A4B9-F5885F0EE0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3CAD28-B1A9-4A64-9DD6-3376C7DEC3B0}" type="slidenum">
              <a:rPr lang="en-IN" smtClean="0"/>
              <a:t>13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805050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1914"/>
    </mc:Choice>
    <mc:Fallback xmlns="">
      <p:transition spd="slow" advTm="31914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168CEF5-A126-4D0A-B231-C35D36461C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31840" y="4203084"/>
            <a:ext cx="2369956" cy="1817026"/>
          </a:xfrm>
          <a:prstGeom prst="rect">
            <a:avLst/>
          </a:prstGeom>
          <a:ln>
            <a:noFill/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FDFBDCD6-094E-487C-A9D8-296A6CACEB4B}"/>
                  </a:ext>
                </a:extLst>
              </p:cNvPr>
              <p:cNvSpPr txBox="1"/>
              <p:nvPr/>
            </p:nvSpPr>
            <p:spPr>
              <a:xfrm>
                <a:off x="4116551" y="464258"/>
                <a:ext cx="4858327" cy="86600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400" b="1">
                    <a:solidFill>
                      <a:srgbClr val="C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Diffusion Limited Aggregation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𝑫</m:t>
                          </m:r>
                        </m:e>
                        <m:sub>
                          <m:r>
                            <a:rPr lang="en-U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𝒇</m:t>
                          </m:r>
                        </m:sub>
                      </m:sSub>
                      <m:r>
                        <a:rPr lang="en-US" sz="24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~</m:t>
                      </m:r>
                      <m:r>
                        <a:rPr lang="en-US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US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𝟒𝟕</m:t>
                      </m:r>
                      <m:r>
                        <a:rPr lang="en-US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𝒌</m:t>
                          </m:r>
                        </m:e>
                        <m:sub>
                          <m:r>
                            <a:rPr lang="en-U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𝒇</m:t>
                          </m:r>
                        </m:sub>
                      </m:sSub>
                      <m:r>
                        <a:rPr lang="en-US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US" sz="2400" b="1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sz="2400" b="1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𝟒𝟖</m:t>
                      </m:r>
                    </m:oMath>
                  </m:oMathPara>
                </a14:m>
                <a:endParaRPr lang="en-US" sz="2400" b="1">
                  <a:solidFill>
                    <a:schemeClr val="tx1"/>
                  </a:solidFill>
                  <a:latin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FDFBDCD6-094E-487C-A9D8-296A6CACEB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16551" y="464258"/>
                <a:ext cx="4858327" cy="866006"/>
              </a:xfrm>
              <a:prstGeom prst="rect">
                <a:avLst/>
              </a:prstGeom>
              <a:blipFill>
                <a:blip r:embed="rId3"/>
                <a:stretch>
                  <a:fillRect t="-4930" b="-633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Picture 6">
            <a:extLst>
              <a:ext uri="{FF2B5EF4-FFF2-40B4-BE49-F238E27FC236}">
                <a16:creationId xmlns:a16="http://schemas.microsoft.com/office/drawing/2014/main" id="{48261F52-C615-4D46-AEC2-840EA483991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47627" y="1603077"/>
            <a:ext cx="3422714" cy="260000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83012F7-412D-4D58-9386-0A03F5DFEE7F}"/>
              </a:ext>
            </a:extLst>
          </p:cNvPr>
          <p:cNvSpPr txBox="1"/>
          <p:nvPr/>
        </p:nvSpPr>
        <p:spPr>
          <a:xfrm>
            <a:off x="869000" y="1603077"/>
            <a:ext cx="6681178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1600" i="1">
                <a:latin typeface="Arial" panose="020B0604020202020204" pitchFamily="34" charset="0"/>
                <a:cs typeface="Arial" panose="020B0604020202020204" pitchFamily="34" charset="0"/>
              </a:rPr>
              <a:t>Steps involved –Random walk model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sz="1600" i="1">
                <a:latin typeface="Arial" panose="020B0604020202020204" pitchFamily="34" charset="0"/>
                <a:cs typeface="Arial" panose="020B0604020202020204" pitchFamily="34" charset="0"/>
              </a:rPr>
              <a:t>Seed</a:t>
            </a:r>
            <a:r>
              <a:rPr lang="en-US" sz="1600">
                <a:latin typeface="Arial" panose="020B0604020202020204" pitchFamily="34" charset="0"/>
                <a:cs typeface="Arial" panose="020B0604020202020204" pitchFamily="34" charset="0"/>
              </a:rPr>
              <a:t> particle placed at centre 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sz="1600">
                <a:latin typeface="Arial" panose="020B0604020202020204" pitchFamily="34" charset="0"/>
                <a:cs typeface="Arial" panose="020B0604020202020204" pitchFamily="34" charset="0"/>
              </a:rPr>
              <a:t>New particle fired from any point on the </a:t>
            </a:r>
            <a:r>
              <a:rPr lang="en-US" sz="1600" i="1">
                <a:latin typeface="Arial" panose="020B0604020202020204" pitchFamily="34" charset="0"/>
                <a:cs typeface="Arial" panose="020B0604020202020204" pitchFamily="34" charset="0"/>
              </a:rPr>
              <a:t>firing radius</a:t>
            </a:r>
            <a:r>
              <a:rPr lang="en-US" sz="160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sz="1600">
                <a:latin typeface="Arial" panose="020B0604020202020204" pitchFamily="34" charset="0"/>
                <a:cs typeface="Arial" panose="020B0604020202020204" pitchFamily="34" charset="0"/>
              </a:rPr>
              <a:t>Makes several random walks. Collision check is done.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sz="1600">
                <a:latin typeface="Arial" panose="020B0604020202020204" pitchFamily="34" charset="0"/>
                <a:cs typeface="Arial" panose="020B0604020202020204" pitchFamily="34" charset="0"/>
              </a:rPr>
              <a:t>Near seed particle, sticks (Sticking probability ~1)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sz="1600">
                <a:latin typeface="Arial" panose="020B0604020202020204" pitchFamily="34" charset="0"/>
                <a:cs typeface="Arial" panose="020B0604020202020204" pitchFamily="34" charset="0"/>
              </a:rPr>
              <a:t>Newly added particle leaves the jump circle </a:t>
            </a:r>
            <a:r>
              <a:rPr lang="en-US" sz="160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 D</a:t>
            </a:r>
            <a:r>
              <a:rPr lang="en-US" sz="1600">
                <a:latin typeface="Arial" panose="020B0604020202020204" pitchFamily="34" charset="0"/>
                <a:cs typeface="Arial" panose="020B0604020202020204" pitchFamily="34" charset="0"/>
              </a:rPr>
              <a:t>iscarded.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endParaRPr lang="en-US" sz="16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lnSpc>
                <a:spcPct val="150000"/>
              </a:lnSpc>
              <a:buFontTx/>
              <a:buChar char="-"/>
            </a:pPr>
            <a:endParaRPr lang="en-US" sz="16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endParaRPr lang="en-US" sz="16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AutoNum type="arabicPeriod"/>
            </a:pPr>
            <a:endParaRPr lang="en-US" sz="16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AutoNum type="arabicPeriod"/>
            </a:pPr>
            <a:endParaRPr lang="en-US" sz="16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AutoNum type="arabicPeriod"/>
            </a:pPr>
            <a:endParaRPr lang="en-IN" sz="1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BC19712-FF26-4923-9083-7A9EA594373E}"/>
              </a:ext>
            </a:extLst>
          </p:cNvPr>
          <p:cNvSpPr txBox="1"/>
          <p:nvPr/>
        </p:nvSpPr>
        <p:spPr>
          <a:xfrm>
            <a:off x="4834687" y="5866221"/>
            <a:ext cx="271549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/>
              <a:t>DLA N=1000 and df =2.45</a:t>
            </a:r>
            <a:endParaRPr lang="en-IN" sz="140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D47ECE4-0C28-4F89-8EEB-65AA3D89CBB7}"/>
              </a:ext>
            </a:extLst>
          </p:cNvPr>
          <p:cNvSpPr txBox="1"/>
          <p:nvPr/>
        </p:nvSpPr>
        <p:spPr>
          <a:xfrm>
            <a:off x="9888838" y="399270"/>
            <a:ext cx="356300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>
                <a:latin typeface="Arial" panose="020B0604020202020204" pitchFamily="34" charset="0"/>
                <a:cs typeface="Arial" panose="020B0604020202020204" pitchFamily="34" charset="0"/>
              </a:rPr>
              <a:t>*Off-lattice aggregation</a:t>
            </a:r>
            <a:endParaRPr lang="en-IN" sz="1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C3093AB-9D7A-4EB3-A83E-5AE465AECED1}"/>
              </a:ext>
            </a:extLst>
          </p:cNvPr>
          <p:cNvSpPr txBox="1"/>
          <p:nvPr/>
        </p:nvSpPr>
        <p:spPr>
          <a:xfrm>
            <a:off x="2195464" y="4575958"/>
            <a:ext cx="329474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>
                <a:latin typeface="Arial" panose="020B0604020202020204" pitchFamily="34" charset="0"/>
                <a:cs typeface="Arial" panose="020B0604020202020204" pitchFamily="34" charset="0"/>
              </a:rPr>
              <a:t>Dendritic structure</a:t>
            </a:r>
            <a:endParaRPr lang="en-IN" sz="1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0239586-F949-4AA4-BCE7-DB6CC71C7AC0}"/>
              </a:ext>
            </a:extLst>
          </p:cNvPr>
          <p:cNvSpPr/>
          <p:nvPr/>
        </p:nvSpPr>
        <p:spPr>
          <a:xfrm>
            <a:off x="174171" y="188686"/>
            <a:ext cx="11843657" cy="645885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356EBE-4F34-4F9E-A516-212E3AE905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3CAD28-B1A9-4A64-9DD6-3376C7DEC3B0}" type="slidenum">
              <a:rPr lang="en-IN" smtClean="0"/>
              <a:t>14</a:t>
            </a:fld>
            <a:endParaRPr lang="en-IN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E9DFBB2-5634-4012-B202-E662042396B2}"/>
              </a:ext>
            </a:extLst>
          </p:cNvPr>
          <p:cNvSpPr txBox="1"/>
          <p:nvPr/>
        </p:nvSpPr>
        <p:spPr>
          <a:xfrm>
            <a:off x="277586" y="6324742"/>
            <a:ext cx="27432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/>
              <a:t>*Witten and Sander(1981)</a:t>
            </a:r>
            <a:endParaRPr lang="en-IN" sz="1200"/>
          </a:p>
        </p:txBody>
      </p:sp>
    </p:spTree>
    <p:extLst>
      <p:ext uri="{BB962C8B-B14F-4D97-AF65-F5344CB8AC3E}">
        <p14:creationId xmlns:p14="http://schemas.microsoft.com/office/powerpoint/2010/main" val="17457606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5425"/>
    </mc:Choice>
    <mc:Fallback xmlns="">
      <p:transition spd="slow" advTm="45425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AB79E42-AD8F-420A-AFC1-AD2ED7A83DD8}"/>
              </a:ext>
            </a:extLst>
          </p:cNvPr>
          <p:cNvSpPr txBox="1"/>
          <p:nvPr/>
        </p:nvSpPr>
        <p:spPr>
          <a:xfrm>
            <a:off x="2413991" y="377578"/>
            <a:ext cx="972284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Diffusion Limited Cluster-Cluster Aggregation (DLCCA)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8112099-4F56-4F88-9CF0-8E9A86B0E1F9}"/>
              </a:ext>
            </a:extLst>
          </p:cNvPr>
          <p:cNvSpPr txBox="1"/>
          <p:nvPr/>
        </p:nvSpPr>
        <p:spPr>
          <a:xfrm>
            <a:off x="5096567" y="1170870"/>
            <a:ext cx="7144986" cy="39087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US" sz="1600">
                <a:latin typeface="Arial" panose="020B0604020202020204" pitchFamily="34" charset="0"/>
                <a:cs typeface="Arial" panose="020B0604020202020204" pitchFamily="34" charset="0"/>
              </a:rPr>
              <a:t>Obtained by varying </a:t>
            </a:r>
            <a:r>
              <a:rPr lang="en-US" sz="1600" i="1">
                <a:latin typeface="Arial" panose="020B0604020202020204" pitchFamily="34" charset="0"/>
                <a:cs typeface="Arial" panose="020B0604020202020204" pitchFamily="34" charset="0"/>
              </a:rPr>
              <a:t>initial concentration </a:t>
            </a:r>
            <a:r>
              <a:rPr lang="en-US" sz="1600">
                <a:latin typeface="Arial" panose="020B0604020202020204" pitchFamily="34" charset="0"/>
                <a:cs typeface="Arial" panose="020B0604020202020204" pitchFamily="34" charset="0"/>
              </a:rPr>
              <a:t>in the algorithm.</a:t>
            </a:r>
          </a:p>
          <a:p>
            <a:pPr algn="ctr">
              <a:lnSpc>
                <a:spcPct val="150000"/>
              </a:lnSpc>
            </a:pPr>
            <a:r>
              <a:rPr lang="en-US" sz="160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N = </a:t>
            </a:r>
            <a:r>
              <a:rPr lang="en-US" sz="160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C</a:t>
            </a:r>
            <a:r>
              <a:rPr lang="en-US" sz="160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* </a:t>
            </a:r>
            <a:r>
              <a:rPr lang="en-US" sz="1600">
                <a:solidFill>
                  <a:schemeClr val="accent5">
                    <a:lumMod val="75000"/>
                  </a:schemeClr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L</a:t>
            </a:r>
            <a:r>
              <a:rPr lang="en-US" sz="1600" baseline="3000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3</a:t>
            </a:r>
            <a:endParaRPr lang="en-US" sz="16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US" sz="1600">
                <a:latin typeface="Arial" panose="020B0604020202020204" pitchFamily="34" charset="0"/>
                <a:cs typeface="Arial" panose="020B0604020202020204" pitchFamily="34" charset="0"/>
              </a:rPr>
              <a:t>They move in random motion, colliding and forming clusters.</a:t>
            </a:r>
          </a:p>
          <a:p>
            <a:pPr marL="285750" indent="-285750">
              <a:lnSpc>
                <a:spcPct val="150000"/>
              </a:lnSpc>
              <a:buFontTx/>
              <a:buChar char="-"/>
            </a:pPr>
            <a:endParaRPr lang="en-IN" sz="1600" i="1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lnSpc>
                <a:spcPct val="150000"/>
              </a:lnSpc>
              <a:buFontTx/>
              <a:buChar char="-"/>
            </a:pPr>
            <a:endParaRPr lang="en-US" sz="16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lnSpc>
                <a:spcPct val="150000"/>
              </a:lnSpc>
              <a:buFontTx/>
              <a:buChar char="-"/>
            </a:pPr>
            <a:endParaRPr lang="en-US" sz="16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lnSpc>
                <a:spcPct val="150000"/>
              </a:lnSpc>
              <a:buFontTx/>
              <a:buChar char="-"/>
            </a:pPr>
            <a:endParaRPr lang="en-US" sz="16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endParaRPr lang="en-US" sz="16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endParaRPr lang="en-US" sz="16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16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IN" sz="1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CCD22F5-B18F-4F0F-9BF1-E280BF17D2C4}"/>
                  </a:ext>
                </a:extLst>
              </p:cNvPr>
              <p:cNvSpPr txBox="1"/>
              <p:nvPr/>
            </p:nvSpPr>
            <p:spPr>
              <a:xfrm>
                <a:off x="9487270" y="2494376"/>
                <a:ext cx="1888840" cy="86074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>
                  <a:lnSpc>
                    <a:spcPct val="150000"/>
                  </a:lnSpc>
                </a:pPr>
                <a:r>
                  <a:rPr lang="en-US" sz="1600" i="1">
                    <a:latin typeface="Arial" panose="020B0604020202020204" pitchFamily="34" charset="0"/>
                    <a:cs typeface="Arial" panose="020B0604020202020204" pitchFamily="34" charset="0"/>
                  </a:rPr>
                  <a:t>Probability to stick</a:t>
                </a:r>
              </a:p>
              <a:p>
                <a:pPr algn="ctr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1600" i="1" smtClean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sz="16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en-US" sz="1600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IN" sz="160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sz="1600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600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sSup>
                        <m:sSupPr>
                          <m:ctrlPr>
                            <a:rPr lang="en-IN" sz="16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IN" sz="16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6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  <m:r>
                                <a:rPr lang="en-US" sz="16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×</m:t>
                              </m:r>
                              <m:r>
                                <a:rPr lang="en-US" sz="16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𝑗</m:t>
                              </m:r>
                            </m:e>
                          </m:d>
                        </m:e>
                        <m:sup>
                          <m:r>
                            <a:rPr lang="en-US" sz="160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𝜎</m:t>
                          </m:r>
                        </m:sup>
                      </m:sSup>
                    </m:oMath>
                  </m:oMathPara>
                </a14:m>
                <a:endParaRPr lang="en-IN" sz="160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CCD22F5-B18F-4F0F-9BF1-E280BF17D2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87270" y="2494376"/>
                <a:ext cx="1888840" cy="86074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6A76C9B5-F89E-4932-AA47-47F800D4935C}"/>
                  </a:ext>
                </a:extLst>
              </p:cNvPr>
              <p:cNvSpPr txBox="1"/>
              <p:nvPr/>
            </p:nvSpPr>
            <p:spPr>
              <a:xfrm>
                <a:off x="6033053" y="2461898"/>
                <a:ext cx="2042005" cy="98430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IN" sz="1600" i="1">
                    <a:latin typeface="Arial" panose="020B0604020202020204" pitchFamily="34" charset="0"/>
                    <a:cs typeface="Arial" panose="020B0604020202020204" pitchFamily="34" charset="0"/>
                  </a:rPr>
                  <a:t>Probability to move</a:t>
                </a:r>
                <a:endParaRPr lang="en-IN" sz="160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IN" sz="160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1600" i="1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1600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IN" sz="1600" b="0" i="1" smtClean="0">
                            <a:latin typeface="Cambria Math" panose="02040503050406030204" pitchFamily="18" charset="0"/>
                          </a:rPr>
                          <m:t>𝑚𝑜𝑣𝑒</m:t>
                        </m:r>
                      </m:sub>
                    </m:sSub>
                    <m:r>
                      <a:rPr lang="en-IN" sz="1600" b="0" i="0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IN" sz="1600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IN" sz="1600" i="1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1600" b="0" i="1" smtClean="0">
                                <a:latin typeface="Cambria Math" panose="02040503050406030204" pitchFamily="18" charset="0"/>
                              </a:rPr>
                              <m:t>𝐷</m:t>
                            </m:r>
                          </m:e>
                          <m:sub>
                            <m:r>
                              <a:rPr lang="en-IN" sz="16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IN" sz="1600" i="1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1600" b="0" i="1" smtClean="0">
                                <a:latin typeface="Cambria Math" panose="02040503050406030204" pitchFamily="18" charset="0"/>
                              </a:rPr>
                              <m:t>𝐷</m:t>
                            </m:r>
                          </m:e>
                          <m:sub>
                            <m:r>
                              <a:rPr lang="en-IN" sz="1600" b="0" i="1" smtClean="0">
                                <a:latin typeface="Cambria Math" panose="02040503050406030204" pitchFamily="18" charset="0"/>
                              </a:rPr>
                              <m:t>𝑚𝑎𝑥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sz="160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6A76C9B5-F89E-4932-AA47-47F800D493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33053" y="2461898"/>
                <a:ext cx="2042005" cy="984308"/>
              </a:xfrm>
              <a:prstGeom prst="rect">
                <a:avLst/>
              </a:prstGeom>
              <a:blipFill>
                <a:blip r:embed="rId3"/>
                <a:stretch>
                  <a:fillRect l="-179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6CF3B35F-9F32-482E-ADE1-682FBC0A0B26}"/>
                  </a:ext>
                </a:extLst>
              </p:cNvPr>
              <p:cNvSpPr txBox="1"/>
              <p:nvPr/>
            </p:nvSpPr>
            <p:spPr>
              <a:xfrm>
                <a:off x="5044462" y="3410704"/>
                <a:ext cx="4241955" cy="148344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85750" indent="-285750">
                  <a:lnSpc>
                    <a:spcPct val="150000"/>
                  </a:lnSpc>
                  <a:buFontTx/>
                  <a:buChar char="-"/>
                </a:pPr>
                <a:r>
                  <a:rPr lang="en-US" sz="1200">
                    <a:latin typeface="Arial" panose="020B0604020202020204" pitchFamily="34" charset="0"/>
                    <a:cs typeface="Arial" panose="020B0604020202020204" pitchFamily="34" charset="0"/>
                  </a:rPr>
                  <a:t>Diffusion coefficient of any cluster with ‘</a:t>
                </a:r>
                <a:r>
                  <a:rPr lang="en-US" sz="1200" i="1">
                    <a:latin typeface="Arial" panose="020B0604020202020204" pitchFamily="34" charset="0"/>
                    <a:cs typeface="Arial" panose="020B0604020202020204" pitchFamily="34" charset="0"/>
                  </a:rPr>
                  <a:t>i</a:t>
                </a:r>
                <a:r>
                  <a:rPr lang="en-US" sz="1200">
                    <a:latin typeface="Arial" panose="020B0604020202020204" pitchFamily="34" charset="0"/>
                    <a:cs typeface="Arial" panose="020B0604020202020204" pitchFamily="34" charset="0"/>
                  </a:rPr>
                  <a:t>’ particles</a:t>
                </a:r>
              </a:p>
              <a:p>
                <a:pPr lvl="2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1200" i="1" smtClean="0">
                              <a:solidFill>
                                <a:srgbClr val="836967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IN" sz="1200" b="0" i="1" smtClean="0">
                              <a:effectLst/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IN" sz="1200" b="0" i="1" smtClean="0">
                          <a:effectLst/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IN" sz="1200" i="1">
                              <a:solidFill>
                                <a:srgbClr val="836967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1200" b="0" i="1" smtClean="0">
                              <a:effectLst/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IN" sz="1200" b="0" i="1" smtClean="0">
                              <a:effectLst/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IN" sz="1200" b="0" i="1" smtClean="0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sSup>
                        <m:sSupPr>
                          <m:ctrlPr>
                            <a:rPr lang="en-IN" sz="12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sz="1200" b="0" i="1" smtClean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𝑆</m:t>
                          </m:r>
                        </m:e>
                        <m:sup>
                          <m:r>
                            <a:rPr lang="en-US" sz="1200" b="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𝛾</m:t>
                          </m:r>
                        </m:sup>
                      </m:sSup>
                    </m:oMath>
                  </m:oMathPara>
                </a14:m>
                <a:endParaRPr lang="en-US" sz="120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285750" indent="-285750">
                  <a:lnSpc>
                    <a:spcPct val="150000"/>
                  </a:lnSpc>
                  <a:buFontTx/>
                  <a:buChar char="-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IN" sz="1200" i="1" smtClean="0">
                            <a:solidFill>
                              <a:srgbClr val="836967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1200" b="0" i="1" smtClean="0">
                            <a:effectLst/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IN" sz="1200" b="0" i="1" smtClean="0">
                            <a:effectLst/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1200">
                    <a:latin typeface="Arial" panose="020B0604020202020204" pitchFamily="34" charset="0"/>
                    <a:cs typeface="Arial" panose="020B0604020202020204" pitchFamily="34" charset="0"/>
                  </a:rPr>
                  <a:t>:Diffusion coefficient of single particle = f(</a:t>
                </a:r>
                <a:r>
                  <a:rPr lang="en-US" sz="1200">
                    <a:solidFill>
                      <a:schemeClr val="accent5">
                        <a:lumMod val="75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T</a:t>
                </a:r>
                <a:r>
                  <a:rPr lang="en-US" sz="1200">
                    <a:latin typeface="Arial" panose="020B0604020202020204" pitchFamily="34" charset="0"/>
                    <a:cs typeface="Arial" panose="020B0604020202020204" pitchFamily="34" charset="0"/>
                  </a:rPr>
                  <a:t>)</a:t>
                </a:r>
              </a:p>
              <a:p>
                <a:pPr marL="285750" indent="-285750">
                  <a:lnSpc>
                    <a:spcPct val="150000"/>
                  </a:lnSpc>
                  <a:buFontTx/>
                  <a:buChar char="-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IN" sz="1200" i="1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1200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IN" sz="1200" b="0" i="1" smtClean="0">
                            <a:latin typeface="Cambria Math" panose="02040503050406030204" pitchFamily="18" charset="0"/>
                          </a:rPr>
                          <m:t>𝑚𝑎𝑥</m:t>
                        </m:r>
                      </m:sub>
                    </m:sSub>
                  </m:oMath>
                </a14:m>
                <a:r>
                  <a:rPr lang="en-US" sz="1200">
                    <a:latin typeface="Arial" panose="020B0604020202020204" pitchFamily="34" charset="0"/>
                    <a:cs typeface="Arial" panose="020B0604020202020204" pitchFamily="34" charset="0"/>
                  </a:rPr>
                  <a:t>:Maximum diffusion coefficient of any cluster</a:t>
                </a:r>
              </a:p>
              <a:p>
                <a:pPr marL="285750" indent="-285750">
                  <a:lnSpc>
                    <a:spcPct val="150000"/>
                  </a:lnSpc>
                  <a:buFontTx/>
                  <a:buChar char="-"/>
                </a:pPr>
                <a:r>
                  <a:rPr lang="en-US" sz="1200">
                    <a:latin typeface="Arial" panose="020B0604020202020204" pitchFamily="34" charset="0"/>
                    <a:cs typeface="Arial" panose="020B0604020202020204" pitchFamily="34" charset="0"/>
                  </a:rPr>
                  <a:t>S: Mass of a cluster given by Number of monomers.</a:t>
                </a: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6CF3B35F-9F32-482E-ADE1-682FBC0A0B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44462" y="3410704"/>
                <a:ext cx="4241955" cy="1483444"/>
              </a:xfrm>
              <a:prstGeom prst="rect">
                <a:avLst/>
              </a:prstGeom>
              <a:blipFill>
                <a:blip r:embed="rId4"/>
                <a:stretch>
                  <a:fillRect l="-14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55D8C1AB-5C3F-405B-A554-ABB179BDFB94}"/>
                  </a:ext>
                </a:extLst>
              </p:cNvPr>
              <p:cNvSpPr txBox="1"/>
              <p:nvPr/>
            </p:nvSpPr>
            <p:spPr>
              <a:xfrm>
                <a:off x="8171028" y="3315380"/>
                <a:ext cx="3783724" cy="61215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2">
                  <a:lnSpc>
                    <a:spcPct val="15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IN" sz="1200" i="1" smtClean="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12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𝑃</m:t>
                        </m:r>
                      </m:e>
                      <m:sub>
                        <m:r>
                          <a:rPr lang="en-US" sz="12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1200">
                    <a:latin typeface="Arial" panose="020B0604020202020204" pitchFamily="34" charset="0"/>
                    <a:cs typeface="Arial" panose="020B0604020202020204" pitchFamily="34" charset="0"/>
                  </a:rPr>
                  <a:t>:Sticking probability of single particles</a:t>
                </a:r>
              </a:p>
              <a:p>
                <a:pPr lvl="2">
                  <a:lnSpc>
                    <a:spcPct val="150000"/>
                  </a:lnSpc>
                </a:pPr>
                <a:r>
                  <a:rPr lang="en-US" sz="1200">
                    <a:latin typeface="Arial" panose="020B0604020202020204" pitchFamily="34" charset="0"/>
                    <a:cs typeface="Arial" panose="020B0604020202020204" pitchFamily="34" charset="0"/>
                  </a:rPr>
                  <a:t>i , j: Number of particles in cluster 1 &amp; 2 </a:t>
                </a: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55D8C1AB-5C3F-405B-A554-ABB179BDFB9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71028" y="3315380"/>
                <a:ext cx="3783724" cy="612155"/>
              </a:xfrm>
              <a:prstGeom prst="rect">
                <a:avLst/>
              </a:prstGeom>
              <a:blipFill>
                <a:blip r:embed="rId5"/>
                <a:stretch>
                  <a:fillRect r="-161" b="-700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4" name="Picture 13">
            <a:extLst>
              <a:ext uri="{FF2B5EF4-FFF2-40B4-BE49-F238E27FC236}">
                <a16:creationId xmlns:a16="http://schemas.microsoft.com/office/drawing/2014/main" id="{BF24E44A-A8E7-468B-92A4-8DA4D3797FAC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t="1049" r="50028" b="1730"/>
          <a:stretch/>
        </p:blipFill>
        <p:spPr>
          <a:xfrm>
            <a:off x="5423328" y="5061822"/>
            <a:ext cx="2976391" cy="89550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7A60E8E9-15F1-455A-9C06-EC6501F8DD68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49739" t="1049" r="289" b="1730"/>
          <a:stretch/>
        </p:blipFill>
        <p:spPr>
          <a:xfrm>
            <a:off x="8399719" y="5052455"/>
            <a:ext cx="2976391" cy="895500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91086849-094D-4831-8559-80710EAFC698}"/>
              </a:ext>
            </a:extLst>
          </p:cNvPr>
          <p:cNvSpPr txBox="1"/>
          <p:nvPr/>
        </p:nvSpPr>
        <p:spPr>
          <a:xfrm>
            <a:off x="6861722" y="5957322"/>
            <a:ext cx="478240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/>
              <a:t>Growth of a DLCCA cluster: N=2048 and Df = 2.2</a:t>
            </a:r>
            <a:endParaRPr lang="en-IN" sz="1400" b="1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12B7968-7E9E-4E7F-8C5A-4687A6A87370}"/>
              </a:ext>
            </a:extLst>
          </p:cNvPr>
          <p:cNvSpPr txBox="1"/>
          <p:nvPr/>
        </p:nvSpPr>
        <p:spPr>
          <a:xfrm>
            <a:off x="1209807" y="854486"/>
            <a:ext cx="40614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/>
              <a:t>Flowchart - Xiong et.al (2014)</a:t>
            </a:r>
            <a:endParaRPr lang="en-IN" sz="140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C307D8D-8ED3-45C3-8BB0-8BA0A4357EC5}"/>
              </a:ext>
            </a:extLst>
          </p:cNvPr>
          <p:cNvSpPr txBox="1"/>
          <p:nvPr/>
        </p:nvSpPr>
        <p:spPr>
          <a:xfrm>
            <a:off x="9778009" y="798483"/>
            <a:ext cx="356300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>
                <a:latin typeface="Arial" panose="020B0604020202020204" pitchFamily="34" charset="0"/>
                <a:cs typeface="Arial" panose="020B0604020202020204" pitchFamily="34" charset="0"/>
              </a:rPr>
              <a:t>*On-lattice aggregation</a:t>
            </a:r>
            <a:endParaRPr lang="en-IN" sz="1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C70FEDD0-A3EF-44B0-A99F-A5CE17C2A716}"/>
              </a:ext>
            </a:extLst>
          </p:cNvPr>
          <p:cNvPicPr/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3747" y="1166865"/>
            <a:ext cx="4061460" cy="5150761"/>
          </a:xfrm>
          <a:prstGeom prst="rect">
            <a:avLst/>
          </a:prstGeom>
          <a:noFill/>
          <a:ln>
            <a:noFill/>
          </a:ln>
        </p:spPr>
      </p:pic>
      <p:sp>
        <p:nvSpPr>
          <p:cNvPr id="21" name="Rectangle 20">
            <a:extLst>
              <a:ext uri="{FF2B5EF4-FFF2-40B4-BE49-F238E27FC236}">
                <a16:creationId xmlns:a16="http://schemas.microsoft.com/office/drawing/2014/main" id="{A69D2AC5-BA0B-439F-A644-22779AD2BCB8}"/>
              </a:ext>
            </a:extLst>
          </p:cNvPr>
          <p:cNvSpPr/>
          <p:nvPr/>
        </p:nvSpPr>
        <p:spPr>
          <a:xfrm>
            <a:off x="174171" y="188686"/>
            <a:ext cx="11843657" cy="645885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14CCFC-DDC2-4580-A090-239C02D70D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3CAD28-B1A9-4A64-9DD6-3376C7DEC3B0}" type="slidenum">
              <a:rPr lang="en-IN" smtClean="0"/>
              <a:t>15</a:t>
            </a:fld>
            <a:endParaRPr lang="en-I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F62E22D-46F0-4303-B30B-706F80225613}"/>
              </a:ext>
            </a:extLst>
          </p:cNvPr>
          <p:cNvSpPr txBox="1"/>
          <p:nvPr/>
        </p:nvSpPr>
        <p:spPr>
          <a:xfrm>
            <a:off x="197687" y="6341922"/>
            <a:ext cx="232853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/>
              <a:t>*Meakin(1983)</a:t>
            </a:r>
            <a:endParaRPr lang="en-IN" sz="1200"/>
          </a:p>
        </p:txBody>
      </p:sp>
    </p:spTree>
    <p:extLst>
      <p:ext uri="{BB962C8B-B14F-4D97-AF65-F5344CB8AC3E}">
        <p14:creationId xmlns:p14="http://schemas.microsoft.com/office/powerpoint/2010/main" val="37202093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6273"/>
    </mc:Choice>
    <mc:Fallback xmlns="">
      <p:transition spd="slow" advTm="26273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803C4D65-EDFE-4AE8-9B1E-73A305260AB2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4573393" y="4295959"/>
            <a:ext cx="6505402" cy="165489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63273AAE-2DBD-46D8-8AC6-B793B12E420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080691431"/>
                  </p:ext>
                </p:extLst>
              </p:nvPr>
            </p:nvGraphicFramePr>
            <p:xfrm>
              <a:off x="1612228" y="1422600"/>
              <a:ext cx="8798660" cy="2225960"/>
            </p:xfrm>
            <a:graphic>
              <a:graphicData uri="http://schemas.openxmlformats.org/drawingml/2006/table">
                <a:tbl>
                  <a:tblPr firstRow="1" firstCol="1" bandRow="1">
                    <a:tableStyleId>{0505E3EF-67EA-436B-97B2-0124C06EBD24}</a:tableStyleId>
                  </a:tblPr>
                  <a:tblGrid>
                    <a:gridCol w="997526">
                      <a:extLst>
                        <a:ext uri="{9D8B030D-6E8A-4147-A177-3AD203B41FA5}">
                          <a16:colId xmlns:a16="http://schemas.microsoft.com/office/drawing/2014/main" val="115734436"/>
                        </a:ext>
                      </a:extLst>
                    </a:gridCol>
                    <a:gridCol w="908562">
                      <a:extLst>
                        <a:ext uri="{9D8B030D-6E8A-4147-A177-3AD203B41FA5}">
                          <a16:colId xmlns:a16="http://schemas.microsoft.com/office/drawing/2014/main" val="874423556"/>
                        </a:ext>
                      </a:extLst>
                    </a:gridCol>
                    <a:gridCol w="789144">
                      <a:extLst>
                        <a:ext uri="{9D8B030D-6E8A-4147-A177-3AD203B41FA5}">
                          <a16:colId xmlns:a16="http://schemas.microsoft.com/office/drawing/2014/main" val="875760608"/>
                        </a:ext>
                      </a:extLst>
                    </a:gridCol>
                    <a:gridCol w="935199">
                      <a:extLst>
                        <a:ext uri="{9D8B030D-6E8A-4147-A177-3AD203B41FA5}">
                          <a16:colId xmlns:a16="http://schemas.microsoft.com/office/drawing/2014/main" val="3912917028"/>
                        </a:ext>
                      </a:extLst>
                    </a:gridCol>
                    <a:gridCol w="1264617">
                      <a:extLst>
                        <a:ext uri="{9D8B030D-6E8A-4147-A177-3AD203B41FA5}">
                          <a16:colId xmlns:a16="http://schemas.microsoft.com/office/drawing/2014/main" val="512794995"/>
                        </a:ext>
                      </a:extLst>
                    </a:gridCol>
                    <a:gridCol w="975903">
                      <a:extLst>
                        <a:ext uri="{9D8B030D-6E8A-4147-A177-3AD203B41FA5}">
                          <a16:colId xmlns:a16="http://schemas.microsoft.com/office/drawing/2014/main" val="3261805952"/>
                        </a:ext>
                      </a:extLst>
                    </a:gridCol>
                    <a:gridCol w="975903">
                      <a:extLst>
                        <a:ext uri="{9D8B030D-6E8A-4147-A177-3AD203B41FA5}">
                          <a16:colId xmlns:a16="http://schemas.microsoft.com/office/drawing/2014/main" val="2855039309"/>
                        </a:ext>
                      </a:extLst>
                    </a:gridCol>
                    <a:gridCol w="975903">
                      <a:extLst>
                        <a:ext uri="{9D8B030D-6E8A-4147-A177-3AD203B41FA5}">
                          <a16:colId xmlns:a16="http://schemas.microsoft.com/office/drawing/2014/main" val="1127404604"/>
                        </a:ext>
                      </a:extLst>
                    </a:gridCol>
                    <a:gridCol w="975903">
                      <a:extLst>
                        <a:ext uri="{9D8B030D-6E8A-4147-A177-3AD203B41FA5}">
                          <a16:colId xmlns:a16="http://schemas.microsoft.com/office/drawing/2014/main" val="1048500256"/>
                        </a:ext>
                      </a:extLst>
                    </a:gridCol>
                  </a:tblGrid>
                  <a:tr h="1185176">
                    <a:tc>
                      <a:txBody>
                        <a:bodyPr/>
                        <a:lstStyle/>
                        <a:p>
                          <a:pPr indent="128270"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00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Parameters</a:t>
                          </a:r>
                          <a:endParaRPr lang="en-IN" sz="1000">
                            <a:effectLst/>
                            <a:latin typeface="Arial" panose="020B06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indent="128270"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000">
                              <a:solidFill>
                                <a:schemeClr val="bg1"/>
                              </a:solidFill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C</a:t>
                          </a:r>
                          <a:endParaRPr lang="en-IN" sz="1000">
                            <a:solidFill>
                              <a:schemeClr val="bg1"/>
                            </a:solidFill>
                            <a:effectLst/>
                            <a:latin typeface="Arial" panose="020B06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indent="128270"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00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Box size</a:t>
                          </a:r>
                        </a:p>
                        <a:p>
                          <a:pPr indent="128270"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00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L</a:t>
                          </a:r>
                          <a:endParaRPr lang="en-IN" sz="1000">
                            <a:effectLst/>
                            <a:latin typeface="Arial" panose="020B06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indent="128270"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00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Diffusivity</a:t>
                          </a:r>
                          <a:r>
                            <a:rPr lang="en-US" sz="1000" baseline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 exponent</a:t>
                          </a:r>
                        </a:p>
                        <a:p>
                          <a:pPr indent="128270"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00">
                                    <a:effectLst/>
                                    <a:latin typeface="Cambria Math" panose="02040503050406030204" pitchFamily="18" charset="0"/>
                                  </a:rPr>
                                  <m:t>𝛾</m:t>
                                </m:r>
                              </m:oMath>
                            </m:oMathPara>
                          </a14:m>
                          <a:endParaRPr lang="en-IN" sz="1000">
                            <a:effectLst/>
                            <a:latin typeface="Arial" panose="020B06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indent="128270"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000" b="1" i="1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000" b="1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𝑫</m:t>
                                    </m:r>
                                  </m:e>
                                  <m:sub>
                                    <m:r>
                                      <a:rPr lang="en-US" sz="1000" b="1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𝒇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IN" sz="1000">
                            <a:effectLst/>
                            <a:latin typeface="Arial" panose="020B06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indent="128270"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000" b="1" i="1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000" b="1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𝒌</m:t>
                                    </m:r>
                                  </m:e>
                                  <m:sub>
                                    <m:r>
                                      <a:rPr lang="en-US" sz="1000" b="1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𝒇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IN" sz="1000">
                            <a:effectLst/>
                            <a:latin typeface="Arial" panose="020B06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indent="128270"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00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Sticking exponent</a:t>
                          </a:r>
                        </a:p>
                        <a:p>
                          <a:pPr indent="128270"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00">
                                    <a:effectLst/>
                                    <a:latin typeface="Cambria Math" panose="02040503050406030204" pitchFamily="18" charset="0"/>
                                  </a:rPr>
                                  <m:t>𝜎</m:t>
                                </m:r>
                              </m:oMath>
                            </m:oMathPara>
                          </a14:m>
                          <a:endParaRPr lang="en-IN" sz="1000">
                            <a:effectLst/>
                            <a:latin typeface="Arial" panose="020B06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indent="128270"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IN" sz="10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0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𝑃</m:t>
                                    </m:r>
                                  </m:e>
                                  <m:sub>
                                    <m:r>
                                      <a:rPr lang="en-US" sz="10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IN" sz="1000">
                            <a:effectLst/>
                            <a:latin typeface="Arial" panose="020B06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indent="128270"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00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T (K)</a:t>
                          </a:r>
                          <a:endParaRPr lang="en-IN" sz="1000">
                            <a:effectLst/>
                            <a:latin typeface="Arial" panose="020B06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4006098694"/>
                      </a:ext>
                    </a:extLst>
                  </a:tr>
                  <a:tr h="560980">
                    <a:tc rowSpan="2"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00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Values chosen</a:t>
                          </a:r>
                          <a:endParaRPr lang="en-IN" sz="1000">
                            <a:effectLst/>
                            <a:latin typeface="Arial" panose="020B06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indent="128270"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00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0.01</a:t>
                          </a:r>
                          <a:endParaRPr lang="en-IN" sz="1000">
                            <a:effectLst/>
                            <a:latin typeface="Arial" panose="020B06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indent="128270"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00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22 to 100</a:t>
                          </a:r>
                          <a:endParaRPr lang="en-IN" sz="1000">
                            <a:effectLst/>
                            <a:latin typeface="Arial" panose="020B06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00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-0.5, 0, 0.5</a:t>
                          </a:r>
                          <a:endParaRPr lang="en-IN" sz="1000">
                            <a:effectLst/>
                            <a:latin typeface="Arial" panose="020B06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00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2.3,</a:t>
                          </a:r>
                          <a:r>
                            <a:rPr lang="en-US" sz="1000">
                              <a:solidFill>
                                <a:srgbClr val="C00000"/>
                              </a:solidFill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2.2</a:t>
                          </a:r>
                          <a:r>
                            <a:rPr lang="en-US" sz="100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,2.12</a:t>
                          </a:r>
                          <a:endParaRPr lang="en-IN" sz="1000">
                            <a:effectLst/>
                            <a:latin typeface="Arial" panose="020B06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00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0.37,</a:t>
                          </a:r>
                          <a:r>
                            <a:rPr lang="en-US" sz="1000">
                              <a:solidFill>
                                <a:srgbClr val="C00000"/>
                              </a:solidFill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0.58</a:t>
                          </a:r>
                          <a:r>
                            <a:rPr lang="en-US" sz="100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,0.83</a:t>
                          </a:r>
                          <a:endParaRPr lang="en-IN" sz="1000">
                            <a:effectLst/>
                            <a:latin typeface="Arial" panose="020B06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/>
                    </a:tc>
                    <a:tc rowSpan="2">
                      <a:txBody>
                        <a:bodyPr/>
                        <a:lstStyle/>
                        <a:p>
                          <a:pPr indent="128270"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00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 </a:t>
                          </a:r>
                          <a:endParaRPr lang="en-IN" sz="1000">
                            <a:effectLst/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00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0</a:t>
                          </a:r>
                          <a:endParaRPr lang="en-IN" sz="1000">
                            <a:effectLst/>
                            <a:latin typeface="Arial" panose="020B06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/>
                    </a:tc>
                    <a:tc rowSpan="2"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00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 </a:t>
                          </a:r>
                          <a:endParaRPr lang="en-IN" sz="1000">
                            <a:effectLst/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00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1</a:t>
                          </a:r>
                          <a:endParaRPr lang="en-IN" sz="1000">
                            <a:effectLst/>
                            <a:latin typeface="Arial" panose="020B06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/>
                    </a:tc>
                    <a:tc rowSpan="2"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00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 </a:t>
                          </a:r>
                          <a:endParaRPr lang="en-IN" sz="1000">
                            <a:effectLst/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00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298</a:t>
                          </a:r>
                          <a:endParaRPr lang="en-IN" sz="1000">
                            <a:effectLst/>
                            <a:latin typeface="Arial" panose="020B06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790587753"/>
                      </a:ext>
                    </a:extLst>
                  </a:tr>
                  <a:tr h="479804">
                    <a:tc vMerge="1">
                      <a:txBody>
                        <a:bodyPr/>
                        <a:lstStyle/>
                        <a:p>
                          <a:endParaRPr lang="en-IN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indent="128270"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00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0.001</a:t>
                          </a:r>
                          <a:endParaRPr lang="en-IN" sz="1000">
                            <a:effectLst/>
                            <a:latin typeface="Arial" panose="020B06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indent="128270"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00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50 to 215</a:t>
                          </a:r>
                          <a:endParaRPr lang="en-IN" sz="1000">
                            <a:effectLst/>
                            <a:latin typeface="Arial" panose="020B06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00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0</a:t>
                          </a:r>
                          <a:endParaRPr lang="en-IN" sz="1000">
                            <a:effectLst/>
                            <a:latin typeface="Arial" panose="020B06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000">
                              <a:solidFill>
                                <a:srgbClr val="C00000"/>
                              </a:solidFill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1.84</a:t>
                          </a:r>
                          <a:endParaRPr lang="en-IN" sz="1000">
                            <a:solidFill>
                              <a:srgbClr val="C00000"/>
                            </a:solidFill>
                            <a:effectLst/>
                            <a:latin typeface="Arial" panose="020B06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000">
                              <a:solidFill>
                                <a:srgbClr val="C00000"/>
                              </a:solidFill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1.32</a:t>
                          </a:r>
                          <a:endParaRPr lang="en-IN" sz="1000">
                            <a:solidFill>
                              <a:srgbClr val="C00000"/>
                            </a:solidFill>
                            <a:effectLst/>
                            <a:latin typeface="Arial" panose="020B06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/>
                    </a:tc>
                    <a:tc vMerge="1">
                      <a:txBody>
                        <a:bodyPr/>
                        <a:lstStyle/>
                        <a:p>
                          <a:endParaRPr lang="en-IN" sz="100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IN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IN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49777735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63273AAE-2DBD-46D8-8AC6-B793B12E420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080691431"/>
                  </p:ext>
                </p:extLst>
              </p:nvPr>
            </p:nvGraphicFramePr>
            <p:xfrm>
              <a:off x="1612228" y="1422600"/>
              <a:ext cx="8798660" cy="2225960"/>
            </p:xfrm>
            <a:graphic>
              <a:graphicData uri="http://schemas.openxmlformats.org/drawingml/2006/table">
                <a:tbl>
                  <a:tblPr firstRow="1" firstCol="1" bandRow="1">
                    <a:tableStyleId>{0505E3EF-67EA-436B-97B2-0124C06EBD24}</a:tableStyleId>
                  </a:tblPr>
                  <a:tblGrid>
                    <a:gridCol w="997526">
                      <a:extLst>
                        <a:ext uri="{9D8B030D-6E8A-4147-A177-3AD203B41FA5}">
                          <a16:colId xmlns:a16="http://schemas.microsoft.com/office/drawing/2014/main" val="115734436"/>
                        </a:ext>
                      </a:extLst>
                    </a:gridCol>
                    <a:gridCol w="908562">
                      <a:extLst>
                        <a:ext uri="{9D8B030D-6E8A-4147-A177-3AD203B41FA5}">
                          <a16:colId xmlns:a16="http://schemas.microsoft.com/office/drawing/2014/main" val="874423556"/>
                        </a:ext>
                      </a:extLst>
                    </a:gridCol>
                    <a:gridCol w="789144">
                      <a:extLst>
                        <a:ext uri="{9D8B030D-6E8A-4147-A177-3AD203B41FA5}">
                          <a16:colId xmlns:a16="http://schemas.microsoft.com/office/drawing/2014/main" val="875760608"/>
                        </a:ext>
                      </a:extLst>
                    </a:gridCol>
                    <a:gridCol w="935199">
                      <a:extLst>
                        <a:ext uri="{9D8B030D-6E8A-4147-A177-3AD203B41FA5}">
                          <a16:colId xmlns:a16="http://schemas.microsoft.com/office/drawing/2014/main" val="3912917028"/>
                        </a:ext>
                      </a:extLst>
                    </a:gridCol>
                    <a:gridCol w="1264617">
                      <a:extLst>
                        <a:ext uri="{9D8B030D-6E8A-4147-A177-3AD203B41FA5}">
                          <a16:colId xmlns:a16="http://schemas.microsoft.com/office/drawing/2014/main" val="512794995"/>
                        </a:ext>
                      </a:extLst>
                    </a:gridCol>
                    <a:gridCol w="975903">
                      <a:extLst>
                        <a:ext uri="{9D8B030D-6E8A-4147-A177-3AD203B41FA5}">
                          <a16:colId xmlns:a16="http://schemas.microsoft.com/office/drawing/2014/main" val="3261805952"/>
                        </a:ext>
                      </a:extLst>
                    </a:gridCol>
                    <a:gridCol w="975903">
                      <a:extLst>
                        <a:ext uri="{9D8B030D-6E8A-4147-A177-3AD203B41FA5}">
                          <a16:colId xmlns:a16="http://schemas.microsoft.com/office/drawing/2014/main" val="2855039309"/>
                        </a:ext>
                      </a:extLst>
                    </a:gridCol>
                    <a:gridCol w="975903">
                      <a:extLst>
                        <a:ext uri="{9D8B030D-6E8A-4147-A177-3AD203B41FA5}">
                          <a16:colId xmlns:a16="http://schemas.microsoft.com/office/drawing/2014/main" val="1127404604"/>
                        </a:ext>
                      </a:extLst>
                    </a:gridCol>
                    <a:gridCol w="975903">
                      <a:extLst>
                        <a:ext uri="{9D8B030D-6E8A-4147-A177-3AD203B41FA5}">
                          <a16:colId xmlns:a16="http://schemas.microsoft.com/office/drawing/2014/main" val="1048500256"/>
                        </a:ext>
                      </a:extLst>
                    </a:gridCol>
                  </a:tblGrid>
                  <a:tr h="1185176">
                    <a:tc>
                      <a:txBody>
                        <a:bodyPr/>
                        <a:lstStyle/>
                        <a:p>
                          <a:pPr indent="128270"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00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Parameters</a:t>
                          </a:r>
                          <a:endParaRPr lang="en-IN" sz="1000">
                            <a:effectLst/>
                            <a:latin typeface="Arial" panose="020B06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indent="128270"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000">
                              <a:solidFill>
                                <a:schemeClr val="bg1"/>
                              </a:solidFill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C</a:t>
                          </a:r>
                          <a:endParaRPr lang="en-IN" sz="1000">
                            <a:solidFill>
                              <a:schemeClr val="bg1"/>
                            </a:solidFill>
                            <a:effectLst/>
                            <a:latin typeface="Arial" panose="020B06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indent="128270"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00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Box size</a:t>
                          </a:r>
                        </a:p>
                        <a:p>
                          <a:pPr indent="128270"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00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L</a:t>
                          </a:r>
                          <a:endParaRPr lang="en-IN" sz="1000">
                            <a:effectLst/>
                            <a:latin typeface="Arial" panose="020B06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blipFill>
                          <a:blip r:embed="rId3"/>
                          <a:stretch>
                            <a:fillRect l="-287662" t="-513" r="-551948" b="-897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blipFill>
                          <a:blip r:embed="rId3"/>
                          <a:stretch>
                            <a:fillRect l="-288406" t="-513" r="-310628" b="-897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blipFill>
                          <a:blip r:embed="rId3"/>
                          <a:stretch>
                            <a:fillRect l="-499379" t="-513" r="-299379" b="-897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blipFill>
                          <a:blip r:embed="rId3"/>
                          <a:stretch>
                            <a:fillRect l="-603125" t="-513" r="-201250" b="-897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blipFill>
                          <a:blip r:embed="rId3"/>
                          <a:stretch>
                            <a:fillRect l="-703125" t="-513" r="-101250" b="-897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indent="128270"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00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T (K)</a:t>
                          </a:r>
                          <a:endParaRPr lang="en-IN" sz="1000">
                            <a:effectLst/>
                            <a:latin typeface="Arial" panose="020B06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4006098694"/>
                      </a:ext>
                    </a:extLst>
                  </a:tr>
                  <a:tr h="560980">
                    <a:tc rowSpan="2"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00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Values chosen</a:t>
                          </a:r>
                          <a:endParaRPr lang="en-IN" sz="1000">
                            <a:effectLst/>
                            <a:latin typeface="Arial" panose="020B06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indent="128270"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00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0.01</a:t>
                          </a:r>
                          <a:endParaRPr lang="en-IN" sz="1000">
                            <a:effectLst/>
                            <a:latin typeface="Arial" panose="020B06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indent="128270"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00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22 to 100</a:t>
                          </a:r>
                          <a:endParaRPr lang="en-IN" sz="1000">
                            <a:effectLst/>
                            <a:latin typeface="Arial" panose="020B06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00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-0.5, 0, 0.5</a:t>
                          </a:r>
                          <a:endParaRPr lang="en-IN" sz="1000">
                            <a:effectLst/>
                            <a:latin typeface="Arial" panose="020B06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00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2.3,</a:t>
                          </a:r>
                          <a:r>
                            <a:rPr lang="en-US" sz="1000">
                              <a:solidFill>
                                <a:srgbClr val="C00000"/>
                              </a:solidFill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2.2</a:t>
                          </a:r>
                          <a:r>
                            <a:rPr lang="en-US" sz="100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,2.12</a:t>
                          </a:r>
                          <a:endParaRPr lang="en-IN" sz="1000">
                            <a:effectLst/>
                            <a:latin typeface="Arial" panose="020B06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00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0.37,</a:t>
                          </a:r>
                          <a:r>
                            <a:rPr lang="en-US" sz="1000">
                              <a:solidFill>
                                <a:srgbClr val="C00000"/>
                              </a:solidFill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0.58</a:t>
                          </a:r>
                          <a:r>
                            <a:rPr lang="en-US" sz="100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,0.83</a:t>
                          </a:r>
                          <a:endParaRPr lang="en-IN" sz="1000">
                            <a:effectLst/>
                            <a:latin typeface="Arial" panose="020B06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/>
                    </a:tc>
                    <a:tc rowSpan="2">
                      <a:txBody>
                        <a:bodyPr/>
                        <a:lstStyle/>
                        <a:p>
                          <a:pPr indent="128270"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00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 </a:t>
                          </a:r>
                          <a:endParaRPr lang="en-IN" sz="1000">
                            <a:effectLst/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00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0</a:t>
                          </a:r>
                          <a:endParaRPr lang="en-IN" sz="1000">
                            <a:effectLst/>
                            <a:latin typeface="Arial" panose="020B06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/>
                    </a:tc>
                    <a:tc rowSpan="2"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00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 </a:t>
                          </a:r>
                          <a:endParaRPr lang="en-IN" sz="1000">
                            <a:effectLst/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00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1</a:t>
                          </a:r>
                          <a:endParaRPr lang="en-IN" sz="1000">
                            <a:effectLst/>
                            <a:latin typeface="Arial" panose="020B06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/>
                    </a:tc>
                    <a:tc rowSpan="2"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00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 </a:t>
                          </a:r>
                          <a:endParaRPr lang="en-IN" sz="1000">
                            <a:effectLst/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00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298</a:t>
                          </a:r>
                          <a:endParaRPr lang="en-IN" sz="1000">
                            <a:effectLst/>
                            <a:latin typeface="Arial" panose="020B06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790587753"/>
                      </a:ext>
                    </a:extLst>
                  </a:tr>
                  <a:tr h="479804">
                    <a:tc vMerge="1">
                      <a:txBody>
                        <a:bodyPr/>
                        <a:lstStyle/>
                        <a:p>
                          <a:endParaRPr lang="en-IN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indent="128270"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00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0.001</a:t>
                          </a:r>
                          <a:endParaRPr lang="en-IN" sz="1000">
                            <a:effectLst/>
                            <a:latin typeface="Arial" panose="020B06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indent="128270"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00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50 to 215</a:t>
                          </a:r>
                          <a:endParaRPr lang="en-IN" sz="1000">
                            <a:effectLst/>
                            <a:latin typeface="Arial" panose="020B06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00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0</a:t>
                          </a:r>
                          <a:endParaRPr lang="en-IN" sz="1000">
                            <a:effectLst/>
                            <a:latin typeface="Arial" panose="020B06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000">
                              <a:solidFill>
                                <a:srgbClr val="C00000"/>
                              </a:solidFill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1.84</a:t>
                          </a:r>
                          <a:endParaRPr lang="en-IN" sz="1000">
                            <a:solidFill>
                              <a:srgbClr val="C00000"/>
                            </a:solidFill>
                            <a:effectLst/>
                            <a:latin typeface="Arial" panose="020B06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000">
                              <a:solidFill>
                                <a:srgbClr val="C00000"/>
                              </a:solidFill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1.32</a:t>
                          </a:r>
                          <a:endParaRPr lang="en-IN" sz="1000">
                            <a:solidFill>
                              <a:srgbClr val="C00000"/>
                            </a:solidFill>
                            <a:effectLst/>
                            <a:latin typeface="Arial" panose="020B06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/>
                    </a:tc>
                    <a:tc vMerge="1">
                      <a:txBody>
                        <a:bodyPr/>
                        <a:lstStyle/>
                        <a:p>
                          <a:endParaRPr lang="en-IN" sz="100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IN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IN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497777352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23CB079E-0A2F-4CB7-95A5-0B4EF68B09E8}"/>
              </a:ext>
            </a:extLst>
          </p:cNvPr>
          <p:cNvSpPr txBox="1"/>
          <p:nvPr/>
        </p:nvSpPr>
        <p:spPr>
          <a:xfrm>
            <a:off x="4020207" y="604740"/>
            <a:ext cx="639068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DLCCA –Fractals generated</a:t>
            </a:r>
            <a:endParaRPr lang="en-IN" sz="2400" b="1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7649037-0471-4DD9-99C2-AC2ACA5428FE}"/>
              </a:ext>
            </a:extLst>
          </p:cNvPr>
          <p:cNvSpPr txBox="1"/>
          <p:nvPr/>
        </p:nvSpPr>
        <p:spPr>
          <a:xfrm>
            <a:off x="765754" y="4754076"/>
            <a:ext cx="43985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Fractals with C=0.001 and C=0.01</a:t>
            </a:r>
            <a:endParaRPr lang="en-IN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241E216-F735-4005-8378-518E0EA7BF32}"/>
              </a:ext>
            </a:extLst>
          </p:cNvPr>
          <p:cNvSpPr/>
          <p:nvPr/>
        </p:nvSpPr>
        <p:spPr>
          <a:xfrm>
            <a:off x="174171" y="188686"/>
            <a:ext cx="11843657" cy="645885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E159358-875E-4B7D-9257-DA46A15B8E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3CAD28-B1A9-4A64-9DD6-3376C7DEC3B0}" type="slidenum">
              <a:rPr lang="en-IN" smtClean="0"/>
              <a:t>16</a:t>
            </a:fld>
            <a:endParaRPr lang="en-I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1DF27105-75A9-4BF0-8598-7F00E571A46B}"/>
                  </a:ext>
                </a:extLst>
              </p:cNvPr>
              <p:cNvSpPr txBox="1"/>
              <p:nvPr/>
            </p:nvSpPr>
            <p:spPr>
              <a:xfrm>
                <a:off x="5766620" y="5917836"/>
                <a:ext cx="1592826" cy="29181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sub>
                      </m:sSub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=1.84</m:t>
                      </m:r>
                    </m:oMath>
                  </m:oMathPara>
                </a14:m>
                <a:endParaRPr lang="en-IN" sz="120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1DF27105-75A9-4BF0-8598-7F00E571A4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66620" y="5917836"/>
                <a:ext cx="1592826" cy="291811"/>
              </a:xfrm>
              <a:prstGeom prst="rect">
                <a:avLst/>
              </a:prstGeom>
              <a:blipFill>
                <a:blip r:embed="rId4"/>
                <a:stretch>
                  <a:fillRect b="-208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DD304D1C-180C-45A1-B7BC-25FC0116F874}"/>
                  </a:ext>
                </a:extLst>
              </p:cNvPr>
              <p:cNvSpPr txBox="1"/>
              <p:nvPr/>
            </p:nvSpPr>
            <p:spPr>
              <a:xfrm>
                <a:off x="8552672" y="5914173"/>
                <a:ext cx="1592826" cy="29181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sub>
                      </m:sSub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=2.2</m:t>
                      </m:r>
                    </m:oMath>
                  </m:oMathPara>
                </a14:m>
                <a:endParaRPr lang="en-IN" sz="120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DD304D1C-180C-45A1-B7BC-25FC0116F8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52672" y="5914173"/>
                <a:ext cx="1592826" cy="291811"/>
              </a:xfrm>
              <a:prstGeom prst="rect">
                <a:avLst/>
              </a:prstGeom>
              <a:blipFill>
                <a:blip r:embed="rId5"/>
                <a:stretch>
                  <a:fillRect b="-208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Left Brace 6">
            <a:extLst>
              <a:ext uri="{FF2B5EF4-FFF2-40B4-BE49-F238E27FC236}">
                <a16:creationId xmlns:a16="http://schemas.microsoft.com/office/drawing/2014/main" id="{6CE21AFB-9F25-47DA-9C8E-40E8CA9347FB}"/>
              </a:ext>
            </a:extLst>
          </p:cNvPr>
          <p:cNvSpPr/>
          <p:nvPr/>
        </p:nvSpPr>
        <p:spPr>
          <a:xfrm rot="16200000">
            <a:off x="8492160" y="3147082"/>
            <a:ext cx="144014" cy="1159673"/>
          </a:xfrm>
          <a:prstGeom prst="leftBrac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F821122-326C-47FC-97DC-230BE5AFFE09}"/>
              </a:ext>
            </a:extLst>
          </p:cNvPr>
          <p:cNvSpPr txBox="1"/>
          <p:nvPr/>
        </p:nvSpPr>
        <p:spPr>
          <a:xfrm>
            <a:off x="8005916" y="3821802"/>
            <a:ext cx="241726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>
                <a:latin typeface="Arial" panose="020B0604020202020204" pitchFamily="34" charset="0"/>
                <a:cs typeface="Arial" panose="020B0604020202020204" pitchFamily="34" charset="0"/>
              </a:rPr>
              <a:t>Sticks easily</a:t>
            </a:r>
            <a:endParaRPr lang="en-IN" sz="1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B5A7BEE-A175-492C-B48B-14A19E250814}"/>
              </a:ext>
            </a:extLst>
          </p:cNvPr>
          <p:cNvSpPr txBox="1"/>
          <p:nvPr/>
        </p:nvSpPr>
        <p:spPr>
          <a:xfrm>
            <a:off x="197687" y="6341922"/>
            <a:ext cx="232853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/>
              <a:t>*Meakin(1983)</a:t>
            </a:r>
            <a:endParaRPr lang="en-IN" sz="1200"/>
          </a:p>
        </p:txBody>
      </p:sp>
    </p:spTree>
    <p:extLst>
      <p:ext uri="{BB962C8B-B14F-4D97-AF65-F5344CB8AC3E}">
        <p14:creationId xmlns:p14="http://schemas.microsoft.com/office/powerpoint/2010/main" val="518707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169"/>
    </mc:Choice>
    <mc:Fallback xmlns="">
      <p:transition spd="slow" advTm="5169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3F459E0-470D-4F15-A600-CD248A2516B8}"/>
              </a:ext>
            </a:extLst>
          </p:cNvPr>
          <p:cNvSpPr txBox="1"/>
          <p:nvPr/>
        </p:nvSpPr>
        <p:spPr>
          <a:xfrm>
            <a:off x="4193308" y="287799"/>
            <a:ext cx="4230255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‘Tunable’ Monte Carlo CCA</a:t>
            </a:r>
          </a:p>
          <a:p>
            <a:pPr algn="ctr"/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Cluster-cluster aggregation</a:t>
            </a:r>
            <a:endParaRPr lang="en-IN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IN" sz="2400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B3AEF04-9156-4577-9A8F-C914EF9E5BE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49678"/>
          <a:stretch/>
        </p:blipFill>
        <p:spPr>
          <a:xfrm>
            <a:off x="1523211" y="4104002"/>
            <a:ext cx="3192167" cy="88963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4FCE59A-BC98-4EFD-A8E0-91D219CE4F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10717" y="1387003"/>
            <a:ext cx="1993346" cy="1813821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13DF9442-0DB0-4A9E-906C-44FF0DE2C952}"/>
              </a:ext>
            </a:extLst>
          </p:cNvPr>
          <p:cNvSpPr txBox="1"/>
          <p:nvPr/>
        </p:nvSpPr>
        <p:spPr>
          <a:xfrm>
            <a:off x="1181573" y="1626120"/>
            <a:ext cx="8529144" cy="24468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Sequential algorithm(particle-cluster aggregation)</a:t>
            </a:r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</a:p>
          <a:p>
            <a:pPr marL="742950" lvl="1" indent="-285750">
              <a:buFont typeface="Wingdings" panose="05000000000000000000" pitchFamily="2" charset="2"/>
              <a:buChar char="ü"/>
            </a:pPr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Generate clusters with 4 to 10 spherules </a:t>
            </a:r>
            <a:r>
              <a:rPr lang="en-US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 Scaling laws are satisfied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Centre of clusters placed at a geometric distance </a:t>
            </a:r>
            <a:r>
              <a:rPr lang="en-US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 S</a:t>
            </a:r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caling laws are satisfied.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Clusters rotated until they have one contact point and no overlap.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In the end, only one aggregate is left.</a:t>
            </a:r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en-IN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1" name="Table 10">
                <a:extLst>
                  <a:ext uri="{FF2B5EF4-FFF2-40B4-BE49-F238E27FC236}">
                    <a16:creationId xmlns:a16="http://schemas.microsoft.com/office/drawing/2014/main" id="{7B7CDCB7-475E-4B5E-8C36-D30134C945B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789211793"/>
                  </p:ext>
                </p:extLst>
              </p:nvPr>
            </p:nvGraphicFramePr>
            <p:xfrm>
              <a:off x="5344124" y="3565906"/>
              <a:ext cx="6326217" cy="2939866"/>
            </p:xfrm>
            <a:graphic>
              <a:graphicData uri="http://schemas.openxmlformats.org/drawingml/2006/table">
                <a:tbl>
                  <a:tblPr firstRow="1" firstCol="1" bandRow="1">
                    <a:tableStyleId>{0505E3EF-67EA-436B-97B2-0124C06EBD24}</a:tableStyleId>
                  </a:tblPr>
                  <a:tblGrid>
                    <a:gridCol w="3282392">
                      <a:extLst>
                        <a:ext uri="{9D8B030D-6E8A-4147-A177-3AD203B41FA5}">
                          <a16:colId xmlns:a16="http://schemas.microsoft.com/office/drawing/2014/main" val="3326220004"/>
                        </a:ext>
                      </a:extLst>
                    </a:gridCol>
                    <a:gridCol w="3043825">
                      <a:extLst>
                        <a:ext uri="{9D8B030D-6E8A-4147-A177-3AD203B41FA5}">
                          <a16:colId xmlns:a16="http://schemas.microsoft.com/office/drawing/2014/main" val="1460538630"/>
                        </a:ext>
                      </a:extLst>
                    </a:gridCol>
                  </a:tblGrid>
                  <a:tr h="329839">
                    <a:tc>
                      <a:txBody>
                        <a:bodyPr/>
                        <a:lstStyle/>
                        <a:p>
                          <a:pPr indent="128270" algn="just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IN" sz="160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Pre-factor</a:t>
                          </a:r>
                          <a:endParaRPr lang="en-IN" sz="1600">
                            <a:effectLst/>
                            <a:latin typeface="Arial" panose="020B06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indent="128270" algn="just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IN" sz="160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1</a:t>
                          </a:r>
                          <a:endParaRPr lang="en-IN" sz="1600">
                            <a:effectLst/>
                            <a:latin typeface="Arial" panose="020B06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3202248796"/>
                      </a:ext>
                    </a:extLst>
                  </a:tr>
                  <a:tr h="329839">
                    <a:tc>
                      <a:txBody>
                        <a:bodyPr/>
                        <a:lstStyle/>
                        <a:p>
                          <a:pPr indent="128270" algn="just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IN" sz="160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Fractal dimension</a:t>
                          </a:r>
                          <a:endParaRPr lang="en-IN" sz="1600">
                            <a:effectLst/>
                            <a:latin typeface="Arial" panose="020B06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indent="128270" algn="just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IN" sz="160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1.76, 2, 2.25, 2.49</a:t>
                          </a:r>
                          <a:endParaRPr lang="en-IN" sz="1600">
                            <a:effectLst/>
                            <a:latin typeface="Arial" panose="020B06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3808168814"/>
                      </a:ext>
                    </a:extLst>
                  </a:tr>
                  <a:tr h="706200">
                    <a:tc>
                      <a:txBody>
                        <a:bodyPr/>
                        <a:lstStyle/>
                        <a:p>
                          <a:pPr indent="128270" algn="just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IN" sz="160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Error tolerance for interparticle distance</a:t>
                          </a:r>
                          <a:endParaRPr lang="en-IN" sz="1600">
                            <a:effectLst/>
                            <a:latin typeface="Arial" panose="020B06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indent="128270" algn="just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IN" sz="160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10</a:t>
                          </a:r>
                          <a:r>
                            <a:rPr lang="en-IN" sz="1600" baseline="3000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-3</a:t>
                          </a:r>
                          <a:endParaRPr lang="en-IN" sz="1600">
                            <a:effectLst/>
                            <a:latin typeface="Arial" panose="020B06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2843750730"/>
                      </a:ext>
                    </a:extLst>
                  </a:tr>
                  <a:tr h="329839">
                    <a:tc>
                      <a:txBody>
                        <a:bodyPr/>
                        <a:lstStyle/>
                        <a:p>
                          <a:pPr indent="128270" algn="just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60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Number of spherules by SA</a:t>
                          </a:r>
                          <a:endParaRPr lang="en-IN" sz="1600">
                            <a:effectLst/>
                            <a:latin typeface="Arial" panose="020B06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indent="128270" algn="just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IN" sz="160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4 to 10</a:t>
                          </a:r>
                          <a:endParaRPr lang="en-IN" sz="1600">
                            <a:effectLst/>
                            <a:latin typeface="Arial" panose="020B06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1486739122"/>
                      </a:ext>
                    </a:extLst>
                  </a:tr>
                  <a:tr h="706200">
                    <a:tc>
                      <a:txBody>
                        <a:bodyPr/>
                        <a:lstStyle/>
                        <a:p>
                          <a:pPr indent="128270" algn="just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IN" sz="160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Number of levels of coagulation</a:t>
                          </a:r>
                          <a:endParaRPr lang="en-IN" sz="1600">
                            <a:effectLst/>
                            <a:latin typeface="Arial" panose="020B06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indent="128270" algn="just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IN" sz="160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2 to 10</a:t>
                          </a:r>
                          <a:endParaRPr lang="en-IN" sz="1600">
                            <a:effectLst/>
                            <a:latin typeface="Arial" panose="020B06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2253154344"/>
                      </a:ext>
                    </a:extLst>
                  </a:tr>
                  <a:tr h="537949">
                    <a:tc gridSpan="2">
                      <a:txBody>
                        <a:bodyPr/>
                        <a:lstStyle/>
                        <a:p>
                          <a:pPr indent="128270" algn="just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>
                                    <a:effectLst/>
                                    <a:latin typeface="Cambria Math" panose="02040503050406030204" pitchFamily="18" charset="0"/>
                                  </a:rPr>
                                  <m:t>𝑵</m:t>
                                </m:r>
                                <m:r>
                                  <a:rPr lang="en-US" sz="1600">
                                    <a:effectLst/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sSub>
                                  <m:sSubPr>
                                    <m:ctrlPr>
                                      <a:rPr lang="en-IN" sz="16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𝑵</m:t>
                                    </m:r>
                                  </m:e>
                                  <m:sub>
                                    <m:r>
                                      <a:rPr lang="en-US" sz="16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𝒔𝒑𝒉𝒆𝒓𝒖𝒍𝒆</m:t>
                                    </m:r>
                                  </m:sub>
                                </m:sSub>
                                <m:r>
                                  <a:rPr lang="en-US" sz="1600">
                                    <a:effectLst/>
                                    <a:latin typeface="Cambria Math" panose="02040503050406030204" pitchFamily="18" charset="0"/>
                                  </a:rPr>
                                  <m:t>∗</m:t>
                                </m:r>
                                <m:sSup>
                                  <m:sSupPr>
                                    <m:ctrlPr>
                                      <a:rPr lang="en-IN" sz="16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16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e>
                                  <m:sup>
                                    <m:r>
                                      <a:rPr lang="en-US" sz="16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𝑵𝒐</m:t>
                                    </m:r>
                                    <m:r>
                                      <a:rPr lang="en-US" sz="16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  <m:r>
                                      <a:rPr lang="en-US" sz="16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𝒐𝒇</m:t>
                                    </m:r>
                                    <m:r>
                                      <a:rPr lang="en-US" sz="16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  <m:r>
                                      <a:rPr lang="en-US" sz="16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𝒍𝒆𝒗𝒆𝒍𝒔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IN" sz="1600">
                            <a:effectLst/>
                            <a:latin typeface="Arial" panose="020B06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/>
                    </a:tc>
                    <a:tc hMerge="1">
                      <a:txBody>
                        <a:bodyPr/>
                        <a:lstStyle/>
                        <a:p>
                          <a:endParaRPr lang="en-IN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8693925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1" name="Table 10">
                <a:extLst>
                  <a:ext uri="{FF2B5EF4-FFF2-40B4-BE49-F238E27FC236}">
                    <a16:creationId xmlns:a16="http://schemas.microsoft.com/office/drawing/2014/main" id="{7B7CDCB7-475E-4B5E-8C36-D30134C945B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789211793"/>
                  </p:ext>
                </p:extLst>
              </p:nvPr>
            </p:nvGraphicFramePr>
            <p:xfrm>
              <a:off x="5344124" y="3565906"/>
              <a:ext cx="6326217" cy="2939866"/>
            </p:xfrm>
            <a:graphic>
              <a:graphicData uri="http://schemas.openxmlformats.org/drawingml/2006/table">
                <a:tbl>
                  <a:tblPr firstRow="1" firstCol="1" bandRow="1">
                    <a:tableStyleId>{0505E3EF-67EA-436B-97B2-0124C06EBD24}</a:tableStyleId>
                  </a:tblPr>
                  <a:tblGrid>
                    <a:gridCol w="3282392">
                      <a:extLst>
                        <a:ext uri="{9D8B030D-6E8A-4147-A177-3AD203B41FA5}">
                          <a16:colId xmlns:a16="http://schemas.microsoft.com/office/drawing/2014/main" val="3326220004"/>
                        </a:ext>
                      </a:extLst>
                    </a:gridCol>
                    <a:gridCol w="3043825">
                      <a:extLst>
                        <a:ext uri="{9D8B030D-6E8A-4147-A177-3AD203B41FA5}">
                          <a16:colId xmlns:a16="http://schemas.microsoft.com/office/drawing/2014/main" val="1460538630"/>
                        </a:ext>
                      </a:extLst>
                    </a:gridCol>
                  </a:tblGrid>
                  <a:tr h="329839">
                    <a:tc>
                      <a:txBody>
                        <a:bodyPr/>
                        <a:lstStyle/>
                        <a:p>
                          <a:pPr indent="128270" algn="just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IN" sz="160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Pre-factor</a:t>
                          </a:r>
                          <a:endParaRPr lang="en-IN" sz="1600">
                            <a:effectLst/>
                            <a:latin typeface="Arial" panose="020B06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indent="128270" algn="just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IN" sz="160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1</a:t>
                          </a:r>
                          <a:endParaRPr lang="en-IN" sz="1600">
                            <a:effectLst/>
                            <a:latin typeface="Arial" panose="020B06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3202248796"/>
                      </a:ext>
                    </a:extLst>
                  </a:tr>
                  <a:tr h="329839">
                    <a:tc>
                      <a:txBody>
                        <a:bodyPr/>
                        <a:lstStyle/>
                        <a:p>
                          <a:pPr indent="128270" algn="just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IN" sz="160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Fractal dimension</a:t>
                          </a:r>
                          <a:endParaRPr lang="en-IN" sz="1600">
                            <a:effectLst/>
                            <a:latin typeface="Arial" panose="020B06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indent="128270" algn="just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IN" sz="160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1.76, 2, 2.25, 2.49</a:t>
                          </a:r>
                          <a:endParaRPr lang="en-IN" sz="1600">
                            <a:effectLst/>
                            <a:latin typeface="Arial" panose="020B06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3808168814"/>
                      </a:ext>
                    </a:extLst>
                  </a:tr>
                  <a:tr h="706200">
                    <a:tc>
                      <a:txBody>
                        <a:bodyPr/>
                        <a:lstStyle/>
                        <a:p>
                          <a:pPr indent="128270" algn="just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IN" sz="160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Error tolerance for interparticle distance</a:t>
                          </a:r>
                          <a:endParaRPr lang="en-IN" sz="1600">
                            <a:effectLst/>
                            <a:latin typeface="Arial" panose="020B06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indent="128270" algn="just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IN" sz="160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10</a:t>
                          </a:r>
                          <a:r>
                            <a:rPr lang="en-IN" sz="1600" baseline="3000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-3</a:t>
                          </a:r>
                          <a:endParaRPr lang="en-IN" sz="1600">
                            <a:effectLst/>
                            <a:latin typeface="Arial" panose="020B06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2843750730"/>
                      </a:ext>
                    </a:extLst>
                  </a:tr>
                  <a:tr h="329839">
                    <a:tc>
                      <a:txBody>
                        <a:bodyPr/>
                        <a:lstStyle/>
                        <a:p>
                          <a:pPr indent="128270" algn="just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60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Number of spherules by SA</a:t>
                          </a:r>
                          <a:endParaRPr lang="en-IN" sz="1600">
                            <a:effectLst/>
                            <a:latin typeface="Arial" panose="020B06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indent="128270" algn="just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IN" sz="160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4 to 10</a:t>
                          </a:r>
                          <a:endParaRPr lang="en-IN" sz="1600">
                            <a:effectLst/>
                            <a:latin typeface="Arial" panose="020B06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1486739122"/>
                      </a:ext>
                    </a:extLst>
                  </a:tr>
                  <a:tr h="706200">
                    <a:tc>
                      <a:txBody>
                        <a:bodyPr/>
                        <a:lstStyle/>
                        <a:p>
                          <a:pPr indent="128270" algn="just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IN" sz="160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Number of levels of coagulation</a:t>
                          </a:r>
                          <a:endParaRPr lang="en-IN" sz="1600">
                            <a:effectLst/>
                            <a:latin typeface="Arial" panose="020B06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indent="128270" algn="just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IN" sz="160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2 to 10</a:t>
                          </a:r>
                          <a:endParaRPr lang="en-IN" sz="1600">
                            <a:effectLst/>
                            <a:latin typeface="Arial" panose="020B06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2253154344"/>
                      </a:ext>
                    </a:extLst>
                  </a:tr>
                  <a:tr h="537949">
                    <a:tc gridSpan="2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blipFill>
                          <a:blip r:embed="rId4"/>
                          <a:stretch>
                            <a:fillRect l="-96" t="-444944" r="-192" b="-2247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IN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86939255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12" name="Picture 11">
            <a:extLst>
              <a:ext uri="{FF2B5EF4-FFF2-40B4-BE49-F238E27FC236}">
                <a16:creationId xmlns:a16="http://schemas.microsoft.com/office/drawing/2014/main" id="{8E26B56E-2298-423B-8650-347B4D2CB17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9659"/>
          <a:stretch/>
        </p:blipFill>
        <p:spPr>
          <a:xfrm>
            <a:off x="1521997" y="4989899"/>
            <a:ext cx="3193381" cy="88963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CE890492-2984-4B66-9687-BF04D731D43C}"/>
                  </a:ext>
                </a:extLst>
              </p:cNvPr>
              <p:cNvSpPr txBox="1"/>
              <p:nvPr/>
            </p:nvSpPr>
            <p:spPr>
              <a:xfrm>
                <a:off x="1799033" y="867501"/>
                <a:ext cx="4028954" cy="35830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600">
                    <a:latin typeface="Arial" panose="020B0604020202020204" pitchFamily="34" charset="0"/>
                    <a:cs typeface="Arial" panose="020B0604020202020204" pitchFamily="34" charset="0"/>
                  </a:rPr>
                  <a:t>‘Tuned’ to have fixed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sub>
                    </m:sSub>
                    <m:r>
                      <a:rPr lang="en-US" sz="1600" b="0" i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1600">
                    <a:latin typeface="Arial" panose="020B0604020202020204" pitchFamily="34" charset="0"/>
                    <a:cs typeface="Arial" panose="020B0604020202020204" pitchFamily="34" charset="0"/>
                  </a:rPr>
                  <a:t>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sub>
                    </m:sSub>
                  </m:oMath>
                </a14:m>
                <a:endParaRPr lang="en-IN" sz="160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CE890492-2984-4B66-9687-BF04D731D4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99033" y="867501"/>
                <a:ext cx="4028954" cy="358303"/>
              </a:xfrm>
              <a:prstGeom prst="rect">
                <a:avLst/>
              </a:prstGeom>
              <a:blipFill>
                <a:blip r:embed="rId5"/>
                <a:stretch>
                  <a:fillRect l="-756" t="-5085" b="-1525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" name="Connector: Curved 14">
            <a:extLst>
              <a:ext uri="{FF2B5EF4-FFF2-40B4-BE49-F238E27FC236}">
                <a16:creationId xmlns:a16="http://schemas.microsoft.com/office/drawing/2014/main" id="{F3084D53-3646-4B1D-8E77-CD4220FF60C7}"/>
              </a:ext>
            </a:extLst>
          </p:cNvPr>
          <p:cNvCxnSpPr>
            <a:cxnSpLocks/>
          </p:cNvCxnSpPr>
          <p:nvPr/>
        </p:nvCxnSpPr>
        <p:spPr>
          <a:xfrm rot="10800000" flipV="1">
            <a:off x="3465796" y="630621"/>
            <a:ext cx="695428" cy="236880"/>
          </a:xfrm>
          <a:prstGeom prst="curved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9E94A067-72F4-4E18-AEB5-A6C3BAF8DDF5}"/>
                  </a:ext>
                </a:extLst>
              </p:cNvPr>
              <p:cNvSpPr txBox="1"/>
              <p:nvPr/>
            </p:nvSpPr>
            <p:spPr>
              <a:xfrm>
                <a:off x="72001" y="5998733"/>
                <a:ext cx="6093372" cy="4764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1200">
                    <a:latin typeface="Arial" panose="020B0604020202020204" pitchFamily="34" charset="0"/>
                    <a:cs typeface="Arial" panose="020B0604020202020204" pitchFamily="34" charset="0"/>
                  </a:rPr>
                  <a:t>N=2000</a:t>
                </a:r>
              </a:p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sz="12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sz="12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𝐷</m:t>
                        </m:r>
                      </m:e>
                      <m:sub>
                        <m:r>
                          <a:rPr lang="en-US" sz="12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𝑓</m:t>
                        </m:r>
                      </m:sub>
                    </m:sSub>
                    <m:r>
                      <a:rPr lang="en-US" sz="12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=1.76 </m:t>
                    </m:r>
                    <m:r>
                      <a:rPr lang="en-US" sz="12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𝑡𝑜</m:t>
                    </m:r>
                    <m:r>
                      <a:rPr lang="en-US" sz="12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2.49</m:t>
                    </m:r>
                  </m:oMath>
                </a14:m>
                <a:r>
                  <a:rPr lang="en-US" sz="1200">
                    <a:latin typeface="Arial" panose="020B0604020202020204" pitchFamily="34" charset="0"/>
                    <a:cs typeface="Arial" panose="020B0604020202020204" pitchFamily="34" charset="0"/>
                  </a:rPr>
                  <a:t> with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2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sz="12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𝑘</m:t>
                        </m:r>
                      </m:e>
                      <m:sub>
                        <m:r>
                          <a:rPr lang="en-US" sz="12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𝑓</m:t>
                        </m:r>
                      </m:sub>
                    </m:sSub>
                    <m:r>
                      <a:rPr lang="en-US" sz="12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=1</m:t>
                    </m:r>
                  </m:oMath>
                </a14:m>
                <a:endParaRPr lang="en-US" sz="120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9E94A067-72F4-4E18-AEB5-A6C3BAF8DDF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001" y="5998733"/>
                <a:ext cx="6093372" cy="476477"/>
              </a:xfrm>
              <a:prstGeom prst="rect">
                <a:avLst/>
              </a:prstGeom>
              <a:blipFill>
                <a:blip r:embed="rId6"/>
                <a:stretch>
                  <a:fillRect t="-1282" b="-512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TextBox 17">
            <a:extLst>
              <a:ext uri="{FF2B5EF4-FFF2-40B4-BE49-F238E27FC236}">
                <a16:creationId xmlns:a16="http://schemas.microsoft.com/office/drawing/2014/main" id="{3140E7FC-8D30-4ADC-BA4B-EB03C4B43162}"/>
              </a:ext>
            </a:extLst>
          </p:cNvPr>
          <p:cNvSpPr txBox="1"/>
          <p:nvPr/>
        </p:nvSpPr>
        <p:spPr>
          <a:xfrm>
            <a:off x="9888838" y="399270"/>
            <a:ext cx="356300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>
                <a:latin typeface="Arial" panose="020B0604020202020204" pitchFamily="34" charset="0"/>
                <a:cs typeface="Arial" panose="020B0604020202020204" pitchFamily="34" charset="0"/>
              </a:rPr>
              <a:t>*Off-lattice aggregation</a:t>
            </a:r>
            <a:endParaRPr lang="en-IN" sz="1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3D5FBD9-C24D-4651-A115-D693F9AB07C4}"/>
              </a:ext>
            </a:extLst>
          </p:cNvPr>
          <p:cNvSpPr/>
          <p:nvPr/>
        </p:nvSpPr>
        <p:spPr>
          <a:xfrm>
            <a:off x="174171" y="188686"/>
            <a:ext cx="11843657" cy="645885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1905E62-D40E-4EDF-B01F-728F9B3189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3CAD28-B1A9-4A64-9DD6-3376C7DEC3B0}" type="slidenum">
              <a:rPr lang="en-IN" smtClean="0"/>
              <a:t>17</a:t>
            </a:fld>
            <a:endParaRPr lang="en-IN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C27AE53-73A1-4A01-A1FD-268C86088D46}"/>
              </a:ext>
            </a:extLst>
          </p:cNvPr>
          <p:cNvSpPr txBox="1"/>
          <p:nvPr/>
        </p:nvSpPr>
        <p:spPr>
          <a:xfrm>
            <a:off x="174171" y="6382554"/>
            <a:ext cx="672526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*Filippov (2000)]</a:t>
            </a:r>
            <a:r>
              <a:rPr lang="en-US" sz="120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endParaRPr lang="en-IN" sz="1200"/>
          </a:p>
        </p:txBody>
      </p:sp>
    </p:spTree>
    <p:extLst>
      <p:ext uri="{BB962C8B-B14F-4D97-AF65-F5344CB8AC3E}">
        <p14:creationId xmlns:p14="http://schemas.microsoft.com/office/powerpoint/2010/main" val="18558715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9194"/>
    </mc:Choice>
    <mc:Fallback xmlns="">
      <p:transition spd="slow" advTm="9194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0E641A7-2973-4468-BD23-776EE1DF5AC2}"/>
              </a:ext>
            </a:extLst>
          </p:cNvPr>
          <p:cNvSpPr txBox="1"/>
          <p:nvPr/>
        </p:nvSpPr>
        <p:spPr>
          <a:xfrm>
            <a:off x="9008519" y="2032481"/>
            <a:ext cx="327890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>
                <a:latin typeface="Arial" panose="020B0604020202020204" pitchFamily="34" charset="0"/>
                <a:cs typeface="Arial" panose="020B0604020202020204" pitchFamily="34" charset="0"/>
              </a:rPr>
              <a:t>Tunable Monte Carlo Clusters</a:t>
            </a:r>
            <a:endParaRPr lang="en-IN" sz="1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52A5E14-DDCF-4C3E-AA82-6409E258AB42}"/>
              </a:ext>
            </a:extLst>
          </p:cNvPr>
          <p:cNvSpPr txBox="1"/>
          <p:nvPr/>
        </p:nvSpPr>
        <p:spPr>
          <a:xfrm>
            <a:off x="3424456" y="502607"/>
            <a:ext cx="73326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Summary of fractal dimension and prefactor</a:t>
            </a:r>
            <a:endParaRPr lang="en-IN" sz="2400" b="1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B561195-9A2C-49A6-8E8A-23ACE9F232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95262" y="2241384"/>
            <a:ext cx="4092205" cy="3266079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3B806A7A-021C-451A-B0DB-3DBA04EB8367}"/>
                  </a:ext>
                </a:extLst>
              </p:cNvPr>
              <p:cNvSpPr txBox="1"/>
              <p:nvPr/>
            </p:nvSpPr>
            <p:spPr>
              <a:xfrm>
                <a:off x="10647974" y="4125443"/>
                <a:ext cx="1172718" cy="82355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0" i="1" smtClean="0">
                          <a:solidFill>
                            <a:srgbClr val="FF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●</m:t>
                      </m:r>
                      <m:r>
                        <a:rPr lang="en-US" sz="1100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IN" sz="11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11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US" sz="11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𝑓</m:t>
                          </m:r>
                        </m:sub>
                      </m:sSub>
                      <m:r>
                        <a:rPr lang="en-US" sz="1100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=2.46</m:t>
                      </m:r>
                    </m:oMath>
                  </m:oMathPara>
                </a14:m>
                <a:endParaRPr lang="en-IN" sz="110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0" i="1" smtClean="0">
                          <a:solidFill>
                            <a:srgbClr val="0617BA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▲</m:t>
                      </m:r>
                      <m:r>
                        <a:rPr lang="en-US" sz="1100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IN" sz="11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11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US" sz="11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𝑓</m:t>
                          </m:r>
                        </m:sub>
                      </m:sSub>
                      <m:r>
                        <a:rPr lang="en-US" sz="1100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=2.23</m:t>
                      </m:r>
                    </m:oMath>
                  </m:oMathPara>
                </a14:m>
                <a:endParaRPr lang="en-US" sz="1100" i="1">
                  <a:effectLst/>
                  <a:latin typeface="Cambria Math" panose="02040503050406030204" pitchFamily="18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0" i="1" smtClean="0">
                          <a:solidFill>
                            <a:srgbClr val="385623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▼</m:t>
                      </m:r>
                      <m:r>
                        <a:rPr lang="en-US" sz="1100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 −</m:t>
                      </m:r>
                      <m:sSub>
                        <m:sSubPr>
                          <m:ctrlPr>
                            <a:rPr lang="en-IN" sz="11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11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US" sz="11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𝑓</m:t>
                          </m:r>
                        </m:sub>
                      </m:sSub>
                      <m:r>
                        <a:rPr lang="en-US" sz="1100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=1.99</m:t>
                      </m:r>
                    </m:oMath>
                  </m:oMathPara>
                </a14:m>
                <a:endParaRPr lang="en-US" sz="1100" i="1">
                  <a:solidFill>
                    <a:srgbClr val="4472C4"/>
                  </a:solidFill>
                  <a:effectLst/>
                  <a:latin typeface="Cambria Math" panose="02040503050406030204" pitchFamily="18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0" i="1" smtClean="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∎−</m:t>
                      </m:r>
                      <m:sSub>
                        <m:sSubPr>
                          <m:ctrlPr>
                            <a:rPr lang="en-IN" sz="11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11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US" sz="11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𝑓</m:t>
                          </m:r>
                        </m:sub>
                      </m:sSub>
                      <m:r>
                        <a:rPr lang="en-US" sz="1100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=1.76</m:t>
                      </m:r>
                    </m:oMath>
                  </m:oMathPara>
                </a14:m>
                <a:endParaRPr lang="en-US" sz="1100" i="1">
                  <a:effectLst/>
                  <a:latin typeface="Cambria Math" panose="02040503050406030204" pitchFamily="18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3B806A7A-021C-451A-B0DB-3DBA04EB83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47974" y="4125443"/>
                <a:ext cx="1172718" cy="82355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Table 6">
                <a:extLst>
                  <a:ext uri="{FF2B5EF4-FFF2-40B4-BE49-F238E27FC236}">
                    <a16:creationId xmlns:a16="http://schemas.microsoft.com/office/drawing/2014/main" id="{82A79F17-BDE0-4B38-B83E-BF5A8A28A23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843955626"/>
                  </p:ext>
                </p:extLst>
              </p:nvPr>
            </p:nvGraphicFramePr>
            <p:xfrm>
              <a:off x="395864" y="2038325"/>
              <a:ext cx="7332623" cy="4288520"/>
            </p:xfrm>
            <a:graphic>
              <a:graphicData uri="http://schemas.openxmlformats.org/drawingml/2006/table">
                <a:tbl>
                  <a:tblPr firstRow="1" firstCol="1" bandRow="1">
                    <a:tableStyleId>{8FD4443E-F989-4FC4-A0C8-D5A2AF1F390B}</a:tableStyleId>
                  </a:tblPr>
                  <a:tblGrid>
                    <a:gridCol w="1803585">
                      <a:extLst>
                        <a:ext uri="{9D8B030D-6E8A-4147-A177-3AD203B41FA5}">
                          <a16:colId xmlns:a16="http://schemas.microsoft.com/office/drawing/2014/main" val="1106801372"/>
                        </a:ext>
                      </a:extLst>
                    </a:gridCol>
                    <a:gridCol w="1803585">
                      <a:extLst>
                        <a:ext uri="{9D8B030D-6E8A-4147-A177-3AD203B41FA5}">
                          <a16:colId xmlns:a16="http://schemas.microsoft.com/office/drawing/2014/main" val="1819586697"/>
                        </a:ext>
                      </a:extLst>
                    </a:gridCol>
                    <a:gridCol w="1872091">
                      <a:extLst>
                        <a:ext uri="{9D8B030D-6E8A-4147-A177-3AD203B41FA5}">
                          <a16:colId xmlns:a16="http://schemas.microsoft.com/office/drawing/2014/main" val="2674297632"/>
                        </a:ext>
                      </a:extLst>
                    </a:gridCol>
                    <a:gridCol w="1853362">
                      <a:extLst>
                        <a:ext uri="{9D8B030D-6E8A-4147-A177-3AD203B41FA5}">
                          <a16:colId xmlns:a16="http://schemas.microsoft.com/office/drawing/2014/main" val="2485349846"/>
                        </a:ext>
                      </a:extLst>
                    </a:gridCol>
                  </a:tblGrid>
                  <a:tr h="240333">
                    <a:tc gridSpan="2"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IN" sz="1800">
                              <a:effectLst/>
                            </a:rPr>
                            <a:t>Fractal</a:t>
                          </a:r>
                          <a:endParaRPr lang="en-IN" sz="1800">
                            <a:effectLst/>
                            <a:latin typeface="Arial" panose="020B06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7261" marR="67261" marT="0" marB="0"/>
                    </a:tc>
                    <a:tc hMerge="1">
                      <a:txBody>
                        <a:bodyPr/>
                        <a:lstStyle/>
                        <a:p>
                          <a:endParaRPr lang="en-IN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b="1" i="1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1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𝑫</m:t>
                                    </m:r>
                                  </m:e>
                                  <m:sub>
                                    <m:r>
                                      <a:rPr lang="en-US" sz="1800" b="1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𝒇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IN" sz="1800">
                            <a:effectLst/>
                            <a:latin typeface="Arial" panose="020B06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7261" marR="67261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b="1" i="1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1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𝒌</m:t>
                                    </m:r>
                                  </m:e>
                                  <m:sub>
                                    <m:r>
                                      <a:rPr lang="en-US" sz="1800" b="1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𝒇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IN" sz="1800">
                            <a:effectLst/>
                            <a:latin typeface="Arial" panose="020B06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7261" marR="67261" marT="0" marB="0"/>
                    </a:tc>
                    <a:extLst>
                      <a:ext uri="{0D108BD9-81ED-4DB2-BD59-A6C34878D82A}">
                        <a16:rowId xmlns:a16="http://schemas.microsoft.com/office/drawing/2014/main" val="293456929"/>
                      </a:ext>
                    </a:extLst>
                  </a:tr>
                  <a:tr h="240333">
                    <a:tc rowSpan="4" gridSpan="2"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IN" sz="1800">
                              <a:effectLst/>
                            </a:rPr>
                            <a:t> </a:t>
                          </a:r>
                        </a:p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IN" sz="1800">
                              <a:effectLst/>
                            </a:rPr>
                            <a:t> </a:t>
                          </a:r>
                        </a:p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IN" sz="1800">
                              <a:effectLst/>
                            </a:rPr>
                            <a:t>Tunable Monte Carlo clusters</a:t>
                          </a:r>
                          <a:endParaRPr lang="en-IN" sz="1800">
                            <a:effectLst/>
                            <a:latin typeface="Arial" panose="020B06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7261" marR="67261" marT="0" marB="0"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rowSpan="4" hMerge="1">
                      <a:txBody>
                        <a:bodyPr/>
                        <a:lstStyle/>
                        <a:p>
                          <a:endParaRPr lang="en-IN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IN" sz="1800" b="1" i="0">
                              <a:solidFill>
                                <a:schemeClr val="bg1"/>
                              </a:solidFill>
                              <a:effectLst/>
                            </a:rPr>
                            <a:t>1.76</a:t>
                          </a:r>
                          <a:endParaRPr lang="en-IN" sz="1800" b="1" i="0">
                            <a:solidFill>
                              <a:schemeClr val="bg1"/>
                            </a:solidFill>
                            <a:effectLst/>
                            <a:latin typeface="Arial" panose="020B06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7261" marR="67261" marT="0" marB="0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IN" sz="1800" b="1" i="0">
                              <a:solidFill>
                                <a:schemeClr val="bg1"/>
                              </a:solidFill>
                              <a:effectLst/>
                            </a:rPr>
                            <a:t>1</a:t>
                          </a:r>
                          <a:endParaRPr lang="en-IN" sz="1800" b="1" i="0">
                            <a:solidFill>
                              <a:schemeClr val="bg1"/>
                            </a:solidFill>
                            <a:effectLst/>
                            <a:latin typeface="Arial" panose="020B06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7261" marR="67261" marT="0" marB="0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extLst>
                      <a:ext uri="{0D108BD9-81ED-4DB2-BD59-A6C34878D82A}">
                        <a16:rowId xmlns:a16="http://schemas.microsoft.com/office/drawing/2014/main" val="1885271161"/>
                      </a:ext>
                    </a:extLst>
                  </a:tr>
                  <a:tr h="240333">
                    <a:tc gridSpan="2" vMerge="1">
                      <a:txBody>
                        <a:bodyPr/>
                        <a:lstStyle/>
                        <a:p>
                          <a:endParaRPr lang="en-IN"/>
                        </a:p>
                      </a:txBody>
                      <a:tcPr/>
                    </a:tc>
                    <a:tc hMerge="1" vMerge="1">
                      <a:txBody>
                        <a:bodyPr/>
                        <a:lstStyle/>
                        <a:p>
                          <a:endParaRPr lang="en-IN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800" b="1" i="0">
                              <a:solidFill>
                                <a:schemeClr val="bg1"/>
                              </a:solidFill>
                              <a:effectLst/>
                              <a:latin typeface="Arial" panose="020B0604020202020204" pitchFamily="34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  <a:t>2</a:t>
                          </a:r>
                          <a:endParaRPr lang="en-IN" sz="1800" b="1" i="0">
                            <a:solidFill>
                              <a:schemeClr val="bg1"/>
                            </a:solidFill>
                            <a:effectLst/>
                            <a:latin typeface="Arial" panose="020B06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7261" marR="67261" marT="0" marB="0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IN" sz="1800" b="1" i="0">
                              <a:solidFill>
                                <a:schemeClr val="bg1"/>
                              </a:solidFill>
                              <a:effectLst/>
                            </a:rPr>
                            <a:t>1.01</a:t>
                          </a:r>
                          <a:endParaRPr lang="en-IN" sz="1800" b="1" i="0">
                            <a:solidFill>
                              <a:schemeClr val="bg1"/>
                            </a:solidFill>
                            <a:effectLst/>
                            <a:latin typeface="Arial" panose="020B06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7261" marR="67261" marT="0" marB="0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extLst>
                      <a:ext uri="{0D108BD9-81ED-4DB2-BD59-A6C34878D82A}">
                        <a16:rowId xmlns:a16="http://schemas.microsoft.com/office/drawing/2014/main" val="1853734674"/>
                      </a:ext>
                    </a:extLst>
                  </a:tr>
                  <a:tr h="240333">
                    <a:tc gridSpan="2" vMerge="1">
                      <a:txBody>
                        <a:bodyPr/>
                        <a:lstStyle/>
                        <a:p>
                          <a:endParaRPr lang="en-IN"/>
                        </a:p>
                      </a:txBody>
                      <a:tcPr/>
                    </a:tc>
                    <a:tc hMerge="1" vMerge="1">
                      <a:txBody>
                        <a:bodyPr/>
                        <a:lstStyle/>
                        <a:p>
                          <a:endParaRPr lang="en-IN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IN" sz="1800" b="1" i="0">
                              <a:solidFill>
                                <a:schemeClr val="bg1"/>
                              </a:solidFill>
                              <a:effectLst/>
                            </a:rPr>
                            <a:t>2.23</a:t>
                          </a:r>
                          <a:endParaRPr lang="en-IN" sz="1800" b="1" i="0">
                            <a:solidFill>
                              <a:schemeClr val="bg1"/>
                            </a:solidFill>
                            <a:effectLst/>
                            <a:latin typeface="Arial" panose="020B06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7261" marR="67261" marT="0" marB="0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IN" sz="1800" b="1" i="0">
                              <a:solidFill>
                                <a:schemeClr val="bg1"/>
                              </a:solidFill>
                              <a:effectLst/>
                            </a:rPr>
                            <a:t>1.02</a:t>
                          </a:r>
                          <a:endParaRPr lang="en-IN" sz="1800" b="1" i="0">
                            <a:solidFill>
                              <a:schemeClr val="bg1"/>
                            </a:solidFill>
                            <a:effectLst/>
                            <a:latin typeface="Arial" panose="020B06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7261" marR="67261" marT="0" marB="0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extLst>
                      <a:ext uri="{0D108BD9-81ED-4DB2-BD59-A6C34878D82A}">
                        <a16:rowId xmlns:a16="http://schemas.microsoft.com/office/drawing/2014/main" val="1504604167"/>
                      </a:ext>
                    </a:extLst>
                  </a:tr>
                  <a:tr h="336303">
                    <a:tc gridSpan="2" vMerge="1">
                      <a:txBody>
                        <a:bodyPr/>
                        <a:lstStyle/>
                        <a:p>
                          <a:endParaRPr lang="en-IN"/>
                        </a:p>
                      </a:txBody>
                      <a:tcPr/>
                    </a:tc>
                    <a:tc hMerge="1" vMerge="1">
                      <a:txBody>
                        <a:bodyPr/>
                        <a:lstStyle/>
                        <a:p>
                          <a:endParaRPr lang="en-IN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IN" sz="1800" b="1" i="0">
                              <a:solidFill>
                                <a:schemeClr val="tx1"/>
                              </a:solidFill>
                              <a:effectLst/>
                            </a:rPr>
                            <a:t>2.46</a:t>
                          </a:r>
                          <a:endParaRPr lang="en-IN" sz="1800" b="1" i="0">
                            <a:solidFill>
                              <a:schemeClr val="tx1"/>
                            </a:solidFill>
                            <a:effectLst/>
                            <a:latin typeface="Arial" panose="020B06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7261" marR="67261" marT="0" marB="0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800" b="1" i="0">
                              <a:solidFill>
                                <a:schemeClr val="tx1"/>
                              </a:solidFill>
                              <a:effectLst/>
                            </a:rPr>
                            <a:t>1.05</a:t>
                          </a:r>
                          <a:endParaRPr lang="en-IN" sz="1800" b="1" i="0">
                            <a:solidFill>
                              <a:schemeClr val="tx1"/>
                            </a:solidFill>
                            <a:effectLst/>
                            <a:latin typeface="Arial" panose="020B06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7261" marR="67261" marT="0" marB="0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618495757"/>
                      </a:ext>
                    </a:extLst>
                  </a:tr>
                  <a:tr h="240333">
                    <a:tc gridSpan="2"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IN" sz="1800">
                              <a:effectLst/>
                            </a:rPr>
                            <a:t>DLA</a:t>
                          </a:r>
                          <a:endParaRPr lang="en-IN" sz="1800">
                            <a:effectLst/>
                            <a:latin typeface="Arial" panose="020B06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7261" marR="67261" marT="0" marB="0"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IN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IN" sz="1800" b="1" i="0">
                              <a:solidFill>
                                <a:schemeClr val="tx1"/>
                              </a:solidFill>
                              <a:effectLst/>
                            </a:rPr>
                            <a:t>2.47</a:t>
                          </a:r>
                          <a:endParaRPr lang="en-IN" sz="1800" b="1" i="0">
                            <a:solidFill>
                              <a:schemeClr val="tx1"/>
                            </a:solidFill>
                            <a:effectLst/>
                            <a:latin typeface="Arial" panose="020B06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7261" marR="67261" marT="0" marB="0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IN" sz="1800" b="1" i="0">
                              <a:solidFill>
                                <a:schemeClr val="tx1"/>
                              </a:solidFill>
                              <a:effectLst/>
                            </a:rPr>
                            <a:t>0.48</a:t>
                          </a:r>
                          <a:endParaRPr lang="en-IN" sz="1800" b="1" i="0">
                            <a:solidFill>
                              <a:schemeClr val="tx1"/>
                            </a:solidFill>
                            <a:effectLst/>
                            <a:latin typeface="Arial" panose="020B06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7261" marR="67261" marT="0" marB="0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57368918"/>
                      </a:ext>
                    </a:extLst>
                  </a:tr>
                  <a:tr h="583176">
                    <a:tc rowSpan="2"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IN" sz="1800">
                              <a:effectLst/>
                            </a:rPr>
                            <a:t> </a:t>
                          </a:r>
                        </a:p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IN" sz="1800">
                              <a:effectLst/>
                            </a:rPr>
                            <a:t>DLCCA</a:t>
                          </a:r>
                          <a:endParaRPr lang="en-IN" sz="1800">
                            <a:effectLst/>
                            <a:latin typeface="Arial" panose="020B06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7261" marR="67261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IN" sz="1800">
                              <a:effectLst/>
                            </a:rPr>
                            <a:t>C = 0.001</a:t>
                          </a:r>
                          <a:endParaRPr lang="en-IN" sz="1800">
                            <a:effectLst/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7261" marR="67261" marT="0" marB="0"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IN" sz="1800" b="1" i="0">
                              <a:solidFill>
                                <a:schemeClr val="bg1"/>
                              </a:solidFill>
                              <a:effectLst/>
                            </a:rPr>
                            <a:t>1.84</a:t>
                          </a:r>
                          <a:endParaRPr lang="en-IN" sz="1800" b="1" i="0">
                            <a:solidFill>
                              <a:schemeClr val="bg1"/>
                            </a:solidFill>
                            <a:effectLst/>
                            <a:latin typeface="Arial" panose="020B06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7261" marR="67261" marT="0" marB="0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800" b="1" i="0">
                              <a:solidFill>
                                <a:schemeClr val="bg1"/>
                              </a:solidFill>
                              <a:effectLst/>
                            </a:rPr>
                            <a:t>1</a:t>
                          </a:r>
                          <a:r>
                            <a:rPr lang="en-IN" sz="1800" b="1" i="0">
                              <a:solidFill>
                                <a:schemeClr val="bg1"/>
                              </a:solidFill>
                              <a:effectLst/>
                            </a:rPr>
                            <a:t>.32</a:t>
                          </a:r>
                          <a:endParaRPr lang="en-IN" sz="1800" b="1" i="0">
                            <a:solidFill>
                              <a:schemeClr val="bg1"/>
                            </a:solidFill>
                            <a:effectLst/>
                            <a:latin typeface="Arial" panose="020B06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7261" marR="67261" marT="0" marB="0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extLst>
                      <a:ext uri="{0D108BD9-81ED-4DB2-BD59-A6C34878D82A}">
                        <a16:rowId xmlns:a16="http://schemas.microsoft.com/office/drawing/2014/main" val="1491857374"/>
                      </a:ext>
                    </a:extLst>
                  </a:tr>
                  <a:tr h="583176">
                    <a:tc vMerge="1">
                      <a:txBody>
                        <a:bodyPr/>
                        <a:lstStyle/>
                        <a:p>
                          <a:endParaRPr lang="en-IN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IN" sz="1800">
                              <a:effectLst/>
                            </a:rPr>
                            <a:t>C = 0.01</a:t>
                          </a:r>
                          <a:endParaRPr lang="en-IN" sz="1800">
                            <a:effectLst/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7261" marR="67261" marT="0" marB="0"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IN" sz="1800" b="1" i="0">
                              <a:solidFill>
                                <a:schemeClr val="bg1"/>
                              </a:solidFill>
                              <a:effectLst/>
                            </a:rPr>
                            <a:t>2.2</a:t>
                          </a:r>
                          <a:endParaRPr lang="en-IN" sz="1800" b="1" i="0">
                            <a:solidFill>
                              <a:schemeClr val="bg1"/>
                            </a:solidFill>
                            <a:effectLst/>
                            <a:latin typeface="Arial" panose="020B06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7261" marR="67261" marT="0" marB="0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IN" sz="1800" b="1" i="0">
                              <a:solidFill>
                                <a:schemeClr val="bg1"/>
                              </a:solidFill>
                              <a:effectLst/>
                            </a:rPr>
                            <a:t>0.58</a:t>
                          </a:r>
                          <a:endParaRPr lang="en-IN" sz="1800" b="1" i="0">
                            <a:solidFill>
                              <a:schemeClr val="bg1"/>
                            </a:solidFill>
                            <a:effectLst/>
                            <a:latin typeface="Arial" panose="020B06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7261" marR="67261" marT="0" marB="0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736274207"/>
                      </a:ext>
                    </a:extLst>
                  </a:tr>
                  <a:tr h="240333">
                    <a:tc gridSpan="2"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IN" sz="1800">
                              <a:effectLst/>
                            </a:rPr>
                            <a:t>Vicsek</a:t>
                          </a:r>
                          <a:endParaRPr lang="en-IN" sz="1800">
                            <a:effectLst/>
                            <a:latin typeface="Arial" panose="020B06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7261" marR="67261" marT="0" marB="0"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IN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IN" sz="1800" b="1" i="0">
                              <a:solidFill>
                                <a:schemeClr val="bg1"/>
                              </a:solidFill>
                              <a:effectLst/>
                            </a:rPr>
                            <a:t>1.75</a:t>
                          </a:r>
                          <a:endParaRPr lang="en-IN" sz="1800" b="1" i="0">
                            <a:solidFill>
                              <a:schemeClr val="bg1"/>
                            </a:solidFill>
                            <a:effectLst/>
                            <a:latin typeface="Arial" panose="020B06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7261" marR="67261" marT="0" marB="0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IN" sz="1800" b="1" i="0">
                              <a:solidFill>
                                <a:schemeClr val="bg1"/>
                              </a:solidFill>
                              <a:effectLst/>
                            </a:rPr>
                            <a:t>2.27</a:t>
                          </a:r>
                          <a:endParaRPr lang="en-IN" sz="1800" b="1" i="0">
                            <a:solidFill>
                              <a:schemeClr val="bg1"/>
                            </a:solidFill>
                            <a:effectLst/>
                            <a:latin typeface="Arial" panose="020B06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7261" marR="67261" marT="0" marB="0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883683468"/>
                      </a:ext>
                    </a:extLst>
                  </a:tr>
                  <a:tr h="240333">
                    <a:tc gridSpan="2"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IN" sz="1800">
                              <a:effectLst/>
                            </a:rPr>
                            <a:t>Simple Cubic Unit</a:t>
                          </a:r>
                          <a:endParaRPr lang="en-IN" sz="1800">
                            <a:effectLst/>
                            <a:latin typeface="Arial" panose="020B06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7261" marR="67261" marT="0" marB="0"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IN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800" b="1" i="0">
                              <a:solidFill>
                                <a:schemeClr val="bg1"/>
                              </a:solidFill>
                              <a:effectLst/>
                            </a:rPr>
                            <a:t>3</a:t>
                          </a:r>
                          <a:endParaRPr lang="en-IN" sz="1800" b="1" i="0">
                            <a:solidFill>
                              <a:schemeClr val="bg1"/>
                            </a:solidFill>
                            <a:effectLst/>
                            <a:latin typeface="Arial" panose="020B06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7261" marR="67261" marT="0" marB="0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800" b="1" i="0">
                              <a:solidFill>
                                <a:schemeClr val="bg1"/>
                              </a:solidFill>
                              <a:effectLst/>
                            </a:rPr>
                            <a:t>1.09</a:t>
                          </a:r>
                          <a:endParaRPr lang="en-IN" sz="1800" b="1" i="0">
                            <a:solidFill>
                              <a:schemeClr val="bg1"/>
                            </a:solidFill>
                            <a:effectLst/>
                            <a:latin typeface="Arial" panose="020B06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7261" marR="67261" marT="0" marB="0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7022474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Table 6">
                <a:extLst>
                  <a:ext uri="{FF2B5EF4-FFF2-40B4-BE49-F238E27FC236}">
                    <a16:creationId xmlns:a16="http://schemas.microsoft.com/office/drawing/2014/main" id="{82A79F17-BDE0-4B38-B83E-BF5A8A28A23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843955626"/>
                  </p:ext>
                </p:extLst>
              </p:nvPr>
            </p:nvGraphicFramePr>
            <p:xfrm>
              <a:off x="395864" y="2038325"/>
              <a:ext cx="7332623" cy="4288520"/>
            </p:xfrm>
            <a:graphic>
              <a:graphicData uri="http://schemas.openxmlformats.org/drawingml/2006/table">
                <a:tbl>
                  <a:tblPr firstRow="1" firstCol="1" bandRow="1">
                    <a:tableStyleId>{8FD4443E-F989-4FC4-A0C8-D5A2AF1F390B}</a:tableStyleId>
                  </a:tblPr>
                  <a:tblGrid>
                    <a:gridCol w="1803585">
                      <a:extLst>
                        <a:ext uri="{9D8B030D-6E8A-4147-A177-3AD203B41FA5}">
                          <a16:colId xmlns:a16="http://schemas.microsoft.com/office/drawing/2014/main" val="1106801372"/>
                        </a:ext>
                      </a:extLst>
                    </a:gridCol>
                    <a:gridCol w="1803585">
                      <a:extLst>
                        <a:ext uri="{9D8B030D-6E8A-4147-A177-3AD203B41FA5}">
                          <a16:colId xmlns:a16="http://schemas.microsoft.com/office/drawing/2014/main" val="1819586697"/>
                        </a:ext>
                      </a:extLst>
                    </a:gridCol>
                    <a:gridCol w="1872091">
                      <a:extLst>
                        <a:ext uri="{9D8B030D-6E8A-4147-A177-3AD203B41FA5}">
                          <a16:colId xmlns:a16="http://schemas.microsoft.com/office/drawing/2014/main" val="2674297632"/>
                        </a:ext>
                      </a:extLst>
                    </a:gridCol>
                    <a:gridCol w="1853362">
                      <a:extLst>
                        <a:ext uri="{9D8B030D-6E8A-4147-A177-3AD203B41FA5}">
                          <a16:colId xmlns:a16="http://schemas.microsoft.com/office/drawing/2014/main" val="2485349846"/>
                        </a:ext>
                      </a:extLst>
                    </a:gridCol>
                  </a:tblGrid>
                  <a:tr h="552069">
                    <a:tc gridSpan="2"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IN" sz="1800">
                              <a:effectLst/>
                            </a:rPr>
                            <a:t>Fractal</a:t>
                          </a:r>
                          <a:endParaRPr lang="en-IN" sz="1800">
                            <a:effectLst/>
                            <a:latin typeface="Arial" panose="020B06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7261" marR="67261" marT="0" marB="0"/>
                    </a:tc>
                    <a:tc hMerge="1">
                      <a:txBody>
                        <a:bodyPr/>
                        <a:lstStyle/>
                        <a:p>
                          <a:endParaRPr lang="en-IN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7261" marR="67261" marT="0" marB="0">
                        <a:blipFill>
                          <a:blip r:embed="rId4"/>
                          <a:stretch>
                            <a:fillRect l="-192208" r="-99351" b="-7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7261" marR="67261" marT="0" marB="0">
                        <a:blipFill>
                          <a:blip r:embed="rId4"/>
                          <a:stretch>
                            <a:fillRect l="-296053" r="-658" b="-70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3456929"/>
                      </a:ext>
                    </a:extLst>
                  </a:tr>
                  <a:tr h="367157">
                    <a:tc rowSpan="4" gridSpan="2"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IN" sz="1800">
                              <a:effectLst/>
                            </a:rPr>
                            <a:t> </a:t>
                          </a:r>
                        </a:p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IN" sz="1800">
                              <a:effectLst/>
                            </a:rPr>
                            <a:t> </a:t>
                          </a:r>
                        </a:p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IN" sz="1800">
                              <a:effectLst/>
                            </a:rPr>
                            <a:t>Tunable Monte Carlo clusters</a:t>
                          </a:r>
                          <a:endParaRPr lang="en-IN" sz="1800">
                            <a:effectLst/>
                            <a:latin typeface="Arial" panose="020B06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7261" marR="67261" marT="0" marB="0"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rowSpan="4" hMerge="1">
                      <a:txBody>
                        <a:bodyPr/>
                        <a:lstStyle/>
                        <a:p>
                          <a:endParaRPr lang="en-IN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IN" sz="1800" b="1" i="0">
                              <a:solidFill>
                                <a:schemeClr val="bg1"/>
                              </a:solidFill>
                              <a:effectLst/>
                            </a:rPr>
                            <a:t>1.76</a:t>
                          </a:r>
                          <a:endParaRPr lang="en-IN" sz="1800" b="1" i="0">
                            <a:solidFill>
                              <a:schemeClr val="bg1"/>
                            </a:solidFill>
                            <a:effectLst/>
                            <a:latin typeface="Arial" panose="020B06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7261" marR="67261" marT="0" marB="0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IN" sz="1800" b="1" i="0">
                              <a:solidFill>
                                <a:schemeClr val="bg1"/>
                              </a:solidFill>
                              <a:effectLst/>
                            </a:rPr>
                            <a:t>1</a:t>
                          </a:r>
                          <a:endParaRPr lang="en-IN" sz="1800" b="1" i="0">
                            <a:solidFill>
                              <a:schemeClr val="bg1"/>
                            </a:solidFill>
                            <a:effectLst/>
                            <a:latin typeface="Arial" panose="020B06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7261" marR="67261" marT="0" marB="0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extLst>
                      <a:ext uri="{0D108BD9-81ED-4DB2-BD59-A6C34878D82A}">
                        <a16:rowId xmlns:a16="http://schemas.microsoft.com/office/drawing/2014/main" val="1885271161"/>
                      </a:ext>
                    </a:extLst>
                  </a:tr>
                  <a:tr h="367157">
                    <a:tc gridSpan="2" vMerge="1">
                      <a:txBody>
                        <a:bodyPr/>
                        <a:lstStyle/>
                        <a:p>
                          <a:endParaRPr lang="en-IN"/>
                        </a:p>
                      </a:txBody>
                      <a:tcPr/>
                    </a:tc>
                    <a:tc hMerge="1" vMerge="1">
                      <a:txBody>
                        <a:bodyPr/>
                        <a:lstStyle/>
                        <a:p>
                          <a:endParaRPr lang="en-IN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800" b="1" i="0">
                              <a:solidFill>
                                <a:schemeClr val="bg1"/>
                              </a:solidFill>
                              <a:effectLst/>
                              <a:latin typeface="Arial" panose="020B0604020202020204" pitchFamily="34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  <a:t>2</a:t>
                          </a:r>
                          <a:endParaRPr lang="en-IN" sz="1800" b="1" i="0">
                            <a:solidFill>
                              <a:schemeClr val="bg1"/>
                            </a:solidFill>
                            <a:effectLst/>
                            <a:latin typeface="Arial" panose="020B06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7261" marR="67261" marT="0" marB="0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IN" sz="1800" b="1" i="0">
                              <a:solidFill>
                                <a:schemeClr val="bg1"/>
                              </a:solidFill>
                              <a:effectLst/>
                            </a:rPr>
                            <a:t>1.01</a:t>
                          </a:r>
                          <a:endParaRPr lang="en-IN" sz="1800" b="1" i="0">
                            <a:solidFill>
                              <a:schemeClr val="bg1"/>
                            </a:solidFill>
                            <a:effectLst/>
                            <a:latin typeface="Arial" panose="020B06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7261" marR="67261" marT="0" marB="0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extLst>
                      <a:ext uri="{0D108BD9-81ED-4DB2-BD59-A6C34878D82A}">
                        <a16:rowId xmlns:a16="http://schemas.microsoft.com/office/drawing/2014/main" val="1853734674"/>
                      </a:ext>
                    </a:extLst>
                  </a:tr>
                  <a:tr h="367157">
                    <a:tc gridSpan="2" vMerge="1">
                      <a:txBody>
                        <a:bodyPr/>
                        <a:lstStyle/>
                        <a:p>
                          <a:endParaRPr lang="en-IN"/>
                        </a:p>
                      </a:txBody>
                      <a:tcPr/>
                    </a:tc>
                    <a:tc hMerge="1" vMerge="1">
                      <a:txBody>
                        <a:bodyPr/>
                        <a:lstStyle/>
                        <a:p>
                          <a:endParaRPr lang="en-IN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IN" sz="1800" b="1" i="0">
                              <a:solidFill>
                                <a:schemeClr val="bg1"/>
                              </a:solidFill>
                              <a:effectLst/>
                            </a:rPr>
                            <a:t>2.23</a:t>
                          </a:r>
                          <a:endParaRPr lang="en-IN" sz="1800" b="1" i="0">
                            <a:solidFill>
                              <a:schemeClr val="bg1"/>
                            </a:solidFill>
                            <a:effectLst/>
                            <a:latin typeface="Arial" panose="020B06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7261" marR="67261" marT="0" marB="0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IN" sz="1800" b="1" i="0">
                              <a:solidFill>
                                <a:schemeClr val="bg1"/>
                              </a:solidFill>
                              <a:effectLst/>
                            </a:rPr>
                            <a:t>1.02</a:t>
                          </a:r>
                          <a:endParaRPr lang="en-IN" sz="1800" b="1" i="0">
                            <a:solidFill>
                              <a:schemeClr val="bg1"/>
                            </a:solidFill>
                            <a:effectLst/>
                            <a:latin typeface="Arial" panose="020B06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7261" marR="67261" marT="0" marB="0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extLst>
                      <a:ext uri="{0D108BD9-81ED-4DB2-BD59-A6C34878D82A}">
                        <a16:rowId xmlns:a16="http://schemas.microsoft.com/office/drawing/2014/main" val="1504604167"/>
                      </a:ext>
                    </a:extLst>
                  </a:tr>
                  <a:tr h="367157">
                    <a:tc gridSpan="2" vMerge="1">
                      <a:txBody>
                        <a:bodyPr/>
                        <a:lstStyle/>
                        <a:p>
                          <a:endParaRPr lang="en-IN"/>
                        </a:p>
                      </a:txBody>
                      <a:tcPr/>
                    </a:tc>
                    <a:tc hMerge="1" vMerge="1">
                      <a:txBody>
                        <a:bodyPr/>
                        <a:lstStyle/>
                        <a:p>
                          <a:endParaRPr lang="en-IN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IN" sz="1800" b="1" i="0">
                              <a:solidFill>
                                <a:schemeClr val="tx1"/>
                              </a:solidFill>
                              <a:effectLst/>
                            </a:rPr>
                            <a:t>2.46</a:t>
                          </a:r>
                          <a:endParaRPr lang="en-IN" sz="1800" b="1" i="0">
                            <a:solidFill>
                              <a:schemeClr val="tx1"/>
                            </a:solidFill>
                            <a:effectLst/>
                            <a:latin typeface="Arial" panose="020B06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7261" marR="67261" marT="0" marB="0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800" b="1" i="0">
                              <a:solidFill>
                                <a:schemeClr val="tx1"/>
                              </a:solidFill>
                              <a:effectLst/>
                            </a:rPr>
                            <a:t>1.05</a:t>
                          </a:r>
                          <a:endParaRPr lang="en-IN" sz="1800" b="1" i="0">
                            <a:solidFill>
                              <a:schemeClr val="tx1"/>
                            </a:solidFill>
                            <a:effectLst/>
                            <a:latin typeface="Arial" panose="020B06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7261" marR="67261" marT="0" marB="0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618495757"/>
                      </a:ext>
                    </a:extLst>
                  </a:tr>
                  <a:tr h="367157">
                    <a:tc gridSpan="2"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IN" sz="1800">
                              <a:effectLst/>
                            </a:rPr>
                            <a:t>DLA</a:t>
                          </a:r>
                          <a:endParaRPr lang="en-IN" sz="1800">
                            <a:effectLst/>
                            <a:latin typeface="Arial" panose="020B06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7261" marR="67261" marT="0" marB="0"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IN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IN" sz="1800" b="1" i="0">
                              <a:solidFill>
                                <a:schemeClr val="tx1"/>
                              </a:solidFill>
                              <a:effectLst/>
                            </a:rPr>
                            <a:t>2.47</a:t>
                          </a:r>
                          <a:endParaRPr lang="en-IN" sz="1800" b="1" i="0">
                            <a:solidFill>
                              <a:schemeClr val="tx1"/>
                            </a:solidFill>
                            <a:effectLst/>
                            <a:latin typeface="Arial" panose="020B06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7261" marR="67261" marT="0" marB="0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IN" sz="1800" b="1" i="0">
                              <a:solidFill>
                                <a:schemeClr val="tx1"/>
                              </a:solidFill>
                              <a:effectLst/>
                            </a:rPr>
                            <a:t>0.48</a:t>
                          </a:r>
                          <a:endParaRPr lang="en-IN" sz="1800" b="1" i="0">
                            <a:solidFill>
                              <a:schemeClr val="tx1"/>
                            </a:solidFill>
                            <a:effectLst/>
                            <a:latin typeface="Arial" panose="020B06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7261" marR="67261" marT="0" marB="0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57368918"/>
                      </a:ext>
                    </a:extLst>
                  </a:tr>
                  <a:tr h="583176">
                    <a:tc rowSpan="2"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IN" sz="1800">
                              <a:effectLst/>
                            </a:rPr>
                            <a:t> </a:t>
                          </a:r>
                        </a:p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IN" sz="1800">
                              <a:effectLst/>
                            </a:rPr>
                            <a:t>DLCCA</a:t>
                          </a:r>
                          <a:endParaRPr lang="en-IN" sz="1800">
                            <a:effectLst/>
                            <a:latin typeface="Arial" panose="020B06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7261" marR="67261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IN" sz="1800">
                              <a:effectLst/>
                            </a:rPr>
                            <a:t>C = 0.001</a:t>
                          </a:r>
                          <a:endParaRPr lang="en-IN" sz="1800">
                            <a:effectLst/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7261" marR="67261" marT="0" marB="0"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IN" sz="1800" b="1" i="0">
                              <a:solidFill>
                                <a:schemeClr val="bg1"/>
                              </a:solidFill>
                              <a:effectLst/>
                            </a:rPr>
                            <a:t>1.84</a:t>
                          </a:r>
                          <a:endParaRPr lang="en-IN" sz="1800" b="1" i="0">
                            <a:solidFill>
                              <a:schemeClr val="bg1"/>
                            </a:solidFill>
                            <a:effectLst/>
                            <a:latin typeface="Arial" panose="020B06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7261" marR="67261" marT="0" marB="0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800" b="1" i="0">
                              <a:solidFill>
                                <a:schemeClr val="bg1"/>
                              </a:solidFill>
                              <a:effectLst/>
                            </a:rPr>
                            <a:t>1</a:t>
                          </a:r>
                          <a:r>
                            <a:rPr lang="en-IN" sz="1800" b="1" i="0">
                              <a:solidFill>
                                <a:schemeClr val="bg1"/>
                              </a:solidFill>
                              <a:effectLst/>
                            </a:rPr>
                            <a:t>.32</a:t>
                          </a:r>
                          <a:endParaRPr lang="en-IN" sz="1800" b="1" i="0">
                            <a:solidFill>
                              <a:schemeClr val="bg1"/>
                            </a:solidFill>
                            <a:effectLst/>
                            <a:latin typeface="Arial" panose="020B06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7261" marR="67261" marT="0" marB="0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extLst>
                      <a:ext uri="{0D108BD9-81ED-4DB2-BD59-A6C34878D82A}">
                        <a16:rowId xmlns:a16="http://schemas.microsoft.com/office/drawing/2014/main" val="1491857374"/>
                      </a:ext>
                    </a:extLst>
                  </a:tr>
                  <a:tr h="583176">
                    <a:tc vMerge="1">
                      <a:txBody>
                        <a:bodyPr/>
                        <a:lstStyle/>
                        <a:p>
                          <a:endParaRPr lang="en-IN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IN" sz="1800">
                              <a:effectLst/>
                            </a:rPr>
                            <a:t>C = 0.01</a:t>
                          </a:r>
                          <a:endParaRPr lang="en-IN" sz="1800">
                            <a:effectLst/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7261" marR="67261" marT="0" marB="0"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IN" sz="1800" b="1" i="0">
                              <a:solidFill>
                                <a:schemeClr val="bg1"/>
                              </a:solidFill>
                              <a:effectLst/>
                            </a:rPr>
                            <a:t>2.2</a:t>
                          </a:r>
                          <a:endParaRPr lang="en-IN" sz="1800" b="1" i="0">
                            <a:solidFill>
                              <a:schemeClr val="bg1"/>
                            </a:solidFill>
                            <a:effectLst/>
                            <a:latin typeface="Arial" panose="020B06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7261" marR="67261" marT="0" marB="0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IN" sz="1800" b="1" i="0">
                              <a:solidFill>
                                <a:schemeClr val="bg1"/>
                              </a:solidFill>
                              <a:effectLst/>
                            </a:rPr>
                            <a:t>0.58</a:t>
                          </a:r>
                          <a:endParaRPr lang="en-IN" sz="1800" b="1" i="0">
                            <a:solidFill>
                              <a:schemeClr val="bg1"/>
                            </a:solidFill>
                            <a:effectLst/>
                            <a:latin typeface="Arial" panose="020B06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7261" marR="67261" marT="0" marB="0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736274207"/>
                      </a:ext>
                    </a:extLst>
                  </a:tr>
                  <a:tr h="367157">
                    <a:tc gridSpan="2"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IN" sz="1800">
                              <a:effectLst/>
                            </a:rPr>
                            <a:t>Vicsek</a:t>
                          </a:r>
                          <a:endParaRPr lang="en-IN" sz="1800">
                            <a:effectLst/>
                            <a:latin typeface="Arial" panose="020B06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7261" marR="67261" marT="0" marB="0"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IN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IN" sz="1800" b="1" i="0">
                              <a:solidFill>
                                <a:schemeClr val="bg1"/>
                              </a:solidFill>
                              <a:effectLst/>
                            </a:rPr>
                            <a:t>1.75</a:t>
                          </a:r>
                          <a:endParaRPr lang="en-IN" sz="1800" b="1" i="0">
                            <a:solidFill>
                              <a:schemeClr val="bg1"/>
                            </a:solidFill>
                            <a:effectLst/>
                            <a:latin typeface="Arial" panose="020B06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7261" marR="67261" marT="0" marB="0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IN" sz="1800" b="1" i="0">
                              <a:solidFill>
                                <a:schemeClr val="bg1"/>
                              </a:solidFill>
                              <a:effectLst/>
                            </a:rPr>
                            <a:t>2.27</a:t>
                          </a:r>
                          <a:endParaRPr lang="en-IN" sz="1800" b="1" i="0">
                            <a:solidFill>
                              <a:schemeClr val="bg1"/>
                            </a:solidFill>
                            <a:effectLst/>
                            <a:latin typeface="Arial" panose="020B06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7261" marR="67261" marT="0" marB="0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883683468"/>
                      </a:ext>
                    </a:extLst>
                  </a:tr>
                  <a:tr h="367157">
                    <a:tc gridSpan="2"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IN" sz="1800">
                              <a:effectLst/>
                            </a:rPr>
                            <a:t>Simple Cubic Unit</a:t>
                          </a:r>
                          <a:endParaRPr lang="en-IN" sz="1800">
                            <a:effectLst/>
                            <a:latin typeface="Arial" panose="020B06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7261" marR="67261" marT="0" marB="0"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IN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800" b="1" i="0">
                              <a:solidFill>
                                <a:schemeClr val="bg1"/>
                              </a:solidFill>
                              <a:effectLst/>
                            </a:rPr>
                            <a:t>3</a:t>
                          </a:r>
                          <a:endParaRPr lang="en-IN" sz="1800" b="1" i="0">
                            <a:solidFill>
                              <a:schemeClr val="bg1"/>
                            </a:solidFill>
                            <a:effectLst/>
                            <a:latin typeface="Arial" panose="020B06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7261" marR="67261" marT="0" marB="0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800" b="1" i="0">
                              <a:solidFill>
                                <a:schemeClr val="bg1"/>
                              </a:solidFill>
                              <a:effectLst/>
                            </a:rPr>
                            <a:t>1.09</a:t>
                          </a:r>
                          <a:endParaRPr lang="en-IN" sz="1800" b="1" i="0">
                            <a:solidFill>
                              <a:schemeClr val="bg1"/>
                            </a:solidFill>
                            <a:effectLst/>
                            <a:latin typeface="Arial" panose="020B06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7261" marR="67261" marT="0" marB="0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70224742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AAB6C834-B92C-44A8-8E5E-131847D4FF38}"/>
                  </a:ext>
                </a:extLst>
              </p:cNvPr>
              <p:cNvSpPr txBox="1"/>
              <p:nvPr/>
            </p:nvSpPr>
            <p:spPr>
              <a:xfrm>
                <a:off x="-587353" y="1114461"/>
                <a:ext cx="9690436" cy="76950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i="1" smtClean="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𝑁</m:t>
                      </m:r>
                      <m:r>
                        <a:rPr lang="en-US" sz="1800" i="1" smtClean="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IN" sz="1800" i="1"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𝑓</m:t>
                          </m:r>
                        </m:sub>
                      </m:sSub>
                      <m:sSup>
                        <m:sSupPr>
                          <m:ctrlPr>
                            <a:rPr lang="en-IN" sz="1800" i="1"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IN" sz="1800" i="1">
                                  <a:effectLst/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IN" sz="1800" i="1">
                                      <a:effectLst/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IN" sz="1800" i="1">
                                          <a:effectLst/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800" i="1">
                                          <a:effectLst/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  <m:t>𝑅</m:t>
                                      </m:r>
                                    </m:e>
                                    <m:sub>
                                      <m:r>
                                        <a:rPr lang="en-US" sz="1800" i="1">
                                          <a:effectLst/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  <m:t>𝑔</m:t>
                                      </m:r>
                                    </m:sub>
                                  </m:sSub>
                                </m:num>
                                <m:den>
                                  <m:sSub>
                                    <m:sSubPr>
                                      <m:ctrlPr>
                                        <a:rPr lang="en-IN" sz="1800" i="1">
                                          <a:effectLst/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800" i="1">
                                          <a:effectLst/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  <m:t>𝑎</m:t>
                                      </m:r>
                                    </m:e>
                                    <m:sub>
                                      <m:r>
                                        <a:rPr lang="en-US" sz="1800" i="1">
                                          <a:effectLst/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  <m:t>𝑜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d>
                        </m:e>
                        <m:sup>
                          <m:sSub>
                            <m:sSubPr>
                              <m:ctrlPr>
                                <a:rPr lang="en-IN" sz="1800" i="1">
                                  <a:effectLst/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𝐷</m:t>
                              </m:r>
                            </m:e>
                            <m:sub>
                              <m: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𝑓</m:t>
                              </m:r>
                            </m:sub>
                          </m:sSub>
                        </m:sup>
                      </m:sSup>
                    </m:oMath>
                  </m:oMathPara>
                </a14:m>
                <a:endParaRPr lang="en-IN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AAB6C834-B92C-44A8-8E5E-131847D4FF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587353" y="1114461"/>
                <a:ext cx="9690436" cy="769506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Rectangle 12">
            <a:extLst>
              <a:ext uri="{FF2B5EF4-FFF2-40B4-BE49-F238E27FC236}">
                <a16:creationId xmlns:a16="http://schemas.microsoft.com/office/drawing/2014/main" id="{E4A6FD73-C97A-4227-AB18-B6F3BB836AE6}"/>
              </a:ext>
            </a:extLst>
          </p:cNvPr>
          <p:cNvSpPr/>
          <p:nvPr/>
        </p:nvSpPr>
        <p:spPr>
          <a:xfrm>
            <a:off x="174171" y="188686"/>
            <a:ext cx="11843657" cy="645885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6048D56-BC73-4ABE-BF57-C8333E2C27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3CAD28-B1A9-4A64-9DD6-3376C7DEC3B0}" type="slidenum">
              <a:rPr lang="en-IN" smtClean="0"/>
              <a:t>18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649027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581"/>
    </mc:Choice>
    <mc:Fallback xmlns="">
      <p:transition spd="slow" advTm="30581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DE52045-2696-4954-AF80-F67192EF7420}"/>
              </a:ext>
            </a:extLst>
          </p:cNvPr>
          <p:cNvSpPr txBox="1"/>
          <p:nvPr/>
        </p:nvSpPr>
        <p:spPr>
          <a:xfrm>
            <a:off x="3754324" y="554732"/>
            <a:ext cx="5943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Hydrodynamic Properties of Interest </a:t>
            </a:r>
            <a:endParaRPr lang="en-IN" sz="2400"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D8727E87-FFEC-44EE-9F01-04BCCCD83930}"/>
                  </a:ext>
                </a:extLst>
              </p:cNvPr>
              <p:cNvSpPr txBox="1"/>
              <p:nvPr/>
            </p:nvSpPr>
            <p:spPr>
              <a:xfrm>
                <a:off x="643386" y="1170983"/>
                <a:ext cx="11215692" cy="479900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200000"/>
                  </a:lnSpc>
                </a:pPr>
                <a:r>
                  <a:rPr lang="en-US" sz="1600">
                    <a:solidFill>
                      <a:srgbClr val="C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Mobility radius:</a:t>
                </a:r>
                <a:r>
                  <a:rPr lang="en-US" sz="1600" dirty="0">
                    <a:solidFill>
                      <a:srgbClr val="C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600">
                    <a:latin typeface="Arial" panose="020B0604020202020204" pitchFamily="34" charset="0"/>
                    <a:cs typeface="Arial" panose="020B0604020202020204" pitchFamily="34" charset="0"/>
                  </a:rPr>
                  <a:t>Mobility </a:t>
                </a:r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radius in each direction is obtained by</a:t>
                </a:r>
              </a:p>
              <a:p>
                <a:pPr algn="ctr">
                  <a:lnSpc>
                    <a:spcPct val="20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IN" sz="1600" i="1" smtClean="0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𝑅</m:t>
                        </m:r>
                      </m:e>
                      <m:sub>
                        <m:r>
                          <a:rPr lang="en-US" sz="1600" i="1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𝑚</m:t>
                        </m:r>
                        <m:r>
                          <a:rPr lang="en-US" sz="1600" b="0" i="1" smtClean="0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  <m:r>
                      <a:rPr lang="en-US" sz="1600" i="1">
                        <a:solidFill>
                          <a:srgbClr val="FF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en-IN" sz="1600" i="1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IN" sz="1600" i="1">
                                <a:solidFill>
                                  <a:srgbClr val="FF0000"/>
                                </a:solidFill>
                                <a:effectLst/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1600" i="1">
                                <a:solidFill>
                                  <a:srgbClr val="FF0000"/>
                                </a:solidFill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𝐹</m:t>
                            </m:r>
                          </m:e>
                          <m:sub>
                            <m:r>
                              <a:rPr lang="en-US" sz="1600" b="0" i="1" smtClean="0">
                                <a:solidFill>
                                  <a:srgbClr val="FF0000"/>
                                </a:solidFill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𝑖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IN" sz="16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IN" sz="1600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IN" sz="1600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𝑈</m:t>
                                </m:r>
                              </m:e>
                            </m:acc>
                          </m:e>
                          <m:sub>
                            <m:r>
                              <a:rPr lang="en-US" sz="16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sz="1600" dirty="0">
                    <a:solidFill>
                      <a:srgbClr val="FF0000"/>
                    </a:solidFill>
                    <a:effectLst/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 </a:t>
                </a:r>
              </a:p>
              <a:p>
                <a:pPr marL="285750" indent="-285750">
                  <a:lnSpc>
                    <a:spcPct val="200000"/>
                  </a:lnSpc>
                  <a:buFontTx/>
                  <a:buChar char="-"/>
                </a:pPr>
                <a:r>
                  <a:rPr lang="en-IN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Mobility radius: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1600" i="1" smtClean="0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𝑅</m:t>
                        </m:r>
                      </m:e>
                      <m:sub>
                        <m:r>
                          <a:rPr lang="en-US" sz="16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𝑚</m:t>
                        </m:r>
                      </m:sub>
                    </m:sSub>
                  </m:oMath>
                </a14:m>
                <a:r>
                  <a:rPr lang="en-IN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obtained by </a:t>
                </a:r>
                <a:r>
                  <a:rPr lang="en-IN" sz="1600" i="1" dirty="0">
                    <a:latin typeface="Arial" panose="020B0604020202020204" pitchFamily="34" charset="0"/>
                    <a:cs typeface="Arial" panose="020B0604020202020204" pitchFamily="34" charset="0"/>
                  </a:rPr>
                  <a:t>three direction average</a:t>
                </a:r>
                <a:r>
                  <a:rPr lang="en-IN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.</a:t>
                </a:r>
              </a:p>
              <a:p>
                <a:pPr>
                  <a:lnSpc>
                    <a:spcPct val="200000"/>
                  </a:lnSpc>
                </a:pPr>
                <a:r>
                  <a:rPr lang="en-IN" sz="1600" dirty="0">
                    <a:solidFill>
                      <a:srgbClr val="C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Hydrodynamic </a:t>
                </a:r>
                <a:r>
                  <a:rPr lang="en-IN" sz="1600">
                    <a:solidFill>
                      <a:srgbClr val="C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Ratio</a:t>
                </a:r>
                <a:r>
                  <a:rPr lang="en-US" sz="1600">
                    <a:solidFill>
                      <a:srgbClr val="C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: </a:t>
                </a:r>
                <a:r>
                  <a:rPr lang="en-IN" sz="1600">
                    <a:latin typeface="Arial" panose="020B0604020202020204" pitchFamily="34" charset="0"/>
                    <a:cs typeface="Arial" panose="020B0604020202020204" pitchFamily="34" charset="0"/>
                  </a:rPr>
                  <a:t>Ratio </a:t>
                </a:r>
                <a:r>
                  <a:rPr lang="en-IN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of mobility radius to radius of gyration.</a:t>
                </a:r>
              </a:p>
              <a:p>
                <a:pPr lvl="1">
                  <a:lnSpc>
                    <a:spcPct val="200000"/>
                  </a:lnSpc>
                </a:pPr>
                <a:r>
                  <a:rPr lang="en-IN" sz="1600">
                    <a:latin typeface="Arial" panose="020B0604020202020204" pitchFamily="34" charset="0"/>
                    <a:cs typeface="Arial" panose="020B0604020202020204" pitchFamily="34" charset="0"/>
                  </a:rPr>
                  <a:t>-Confirmed to increase with fractal dimension.</a:t>
                </a:r>
              </a:p>
              <a:p>
                <a:pPr lvl="1">
                  <a:lnSpc>
                    <a:spcPct val="200000"/>
                  </a:lnSpc>
                </a:pPr>
                <a:r>
                  <a:rPr lang="en-IN" sz="1600">
                    <a:latin typeface="Arial" panose="020B0604020202020204" pitchFamily="34" charset="0"/>
                    <a:cs typeface="Arial" panose="020B0604020202020204" pitchFamily="34" charset="0"/>
                  </a:rPr>
                  <a:t>-Prediction with Kirkwood-Riseman(1948) theory </a:t>
                </a:r>
                <a:r>
                  <a:rPr lang="en-IN" sz="1600">
                    <a:latin typeface="Arial" panose="020B0604020202020204" pitchFamily="34" charset="0"/>
                    <a:cs typeface="Arial" panose="020B0604020202020204" pitchFamily="34" charset="0"/>
                    <a:sym typeface="Wingdings" panose="05000000000000000000" pitchFamily="2" charset="2"/>
                  </a:rPr>
                  <a:t>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/</m:t>
                    </m:r>
                    <m:sSub>
                      <m:sSub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</m:sub>
                    </m:sSub>
                  </m:oMath>
                </a14:m>
                <a:r>
                  <a:rPr lang="en-IN" sz="1600">
                    <a:latin typeface="Arial" panose="020B0604020202020204" pitchFamily="34" charset="0"/>
                    <a:cs typeface="Arial" panose="020B0604020202020204" pitchFamily="34" charset="0"/>
                  </a:rPr>
                  <a:t> independent with N.</a:t>
                </a:r>
              </a:p>
              <a:p>
                <a:pPr lvl="1">
                  <a:lnSpc>
                    <a:spcPct val="200000"/>
                  </a:lnSpc>
                </a:pPr>
                <a:r>
                  <a:rPr lang="en-IN" sz="1600">
                    <a:latin typeface="Arial" panose="020B0604020202020204" pitchFamily="34" charset="0"/>
                    <a:cs typeface="Arial" panose="020B0604020202020204" pitchFamily="34" charset="0"/>
                  </a:rPr>
                  <a:t>-Porous sphere models shows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𝑅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𝑚</m:t>
                        </m:r>
                      </m:sub>
                    </m:sSub>
                    <m:r>
                      <a:rPr lang="en-US" sz="16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/</m:t>
                    </m:r>
                    <m:sSub>
                      <m:sSubPr>
                        <m:ctrlP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𝑅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𝑔</m:t>
                        </m:r>
                      </m:sub>
                    </m:sSub>
                  </m:oMath>
                </a14:m>
                <a:r>
                  <a:rPr lang="en-IN" sz="1600">
                    <a:latin typeface="Arial" panose="020B0604020202020204" pitchFamily="34" charset="0"/>
                    <a:cs typeface="Arial" panose="020B0604020202020204" pitchFamily="34" charset="0"/>
                  </a:rPr>
                  <a:t> depends on N.</a:t>
                </a:r>
              </a:p>
              <a:p>
                <a:pPr lvl="1">
                  <a:lnSpc>
                    <a:spcPct val="200000"/>
                  </a:lnSpc>
                </a:pPr>
                <a:r>
                  <a:rPr lang="en-IN" sz="1600">
                    <a:latin typeface="Arial" panose="020B0604020202020204" pitchFamily="34" charset="0"/>
                    <a:cs typeface="Arial" panose="020B0604020202020204" pitchFamily="34" charset="0"/>
                  </a:rPr>
                  <a:t>-Nyugen(2007) showed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/</m:t>
                    </m:r>
                    <m:sSub>
                      <m:sSub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</m:sub>
                    </m:sSub>
                  </m:oMath>
                </a14:m>
                <a:r>
                  <a:rPr lang="en-IN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IN" sz="1600">
                    <a:latin typeface="Arial" panose="020B0604020202020204" pitchFamily="34" charset="0"/>
                    <a:cs typeface="Arial" panose="020B0604020202020204" pitchFamily="34" charset="0"/>
                  </a:rPr>
                  <a:t>is independent of N </a:t>
                </a:r>
                <a:r>
                  <a:rPr lang="en-IN" sz="1600">
                    <a:latin typeface="Arial" panose="020B0604020202020204" pitchFamily="34" charset="0"/>
                    <a:cs typeface="Arial" panose="020B0604020202020204" pitchFamily="34" charset="0"/>
                    <a:sym typeface="Wingdings" panose="05000000000000000000" pitchFamily="2" charset="2"/>
                  </a:rPr>
                  <a:t> But </a:t>
                </a:r>
                <a:r>
                  <a:rPr lang="en-IN" sz="1600">
                    <a:latin typeface="Arial" panose="020B0604020202020204" pitchFamily="34" charset="0"/>
                    <a:cs typeface="Arial" panose="020B0604020202020204" pitchFamily="34" charset="0"/>
                  </a:rPr>
                  <a:t>does not reach a constant value.</a:t>
                </a:r>
              </a:p>
              <a:p>
                <a:pPr lvl="1">
                  <a:lnSpc>
                    <a:spcPct val="200000"/>
                  </a:lnSpc>
                </a:pPr>
                <a:r>
                  <a:rPr lang="en-IN" sz="1600">
                    <a:latin typeface="Arial" panose="020B0604020202020204" pitchFamily="34" charset="0"/>
                    <a:cs typeface="Arial" panose="020B0604020202020204" pitchFamily="34" charset="0"/>
                  </a:rPr>
                  <a:t>-This study </a:t>
                </a:r>
                <a:r>
                  <a:rPr lang="en-IN" sz="1600">
                    <a:solidFill>
                      <a:srgbClr val="C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strongly establishes the ratio to be independent of N.</a:t>
                </a:r>
                <a:endParaRPr lang="en-IN" sz="1600" dirty="0">
                  <a:solidFill>
                    <a:srgbClr val="C0000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D8727E87-FFEC-44EE-9F01-04BCCCD839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3386" y="1170983"/>
                <a:ext cx="11215692" cy="4799006"/>
              </a:xfrm>
              <a:prstGeom prst="rect">
                <a:avLst/>
              </a:prstGeom>
              <a:blipFill>
                <a:blip r:embed="rId2"/>
                <a:stretch>
                  <a:fillRect l="-326" b="-1652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8F91B41C-4A50-43B5-9BBB-B5749D78B9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70218" y="1478062"/>
            <a:ext cx="2196720" cy="209242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7E3B578E-E344-409C-A8AE-36C0261692CF}"/>
                  </a:ext>
                </a:extLst>
              </p:cNvPr>
              <p:cNvSpPr txBox="1"/>
              <p:nvPr/>
            </p:nvSpPr>
            <p:spPr>
              <a:xfrm>
                <a:off x="10381335" y="1478062"/>
                <a:ext cx="1971205" cy="4764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sub>
                      </m:sSub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=2.46</m:t>
                      </m:r>
                    </m:oMath>
                  </m:oMathPara>
                </a14:m>
                <a:endParaRPr lang="en-IN" sz="12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ctr"/>
                <a:r>
                  <a:rPr lang="en-IN" sz="12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N=1024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7E3B578E-E344-409C-A8AE-36C0261692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81335" y="1478062"/>
                <a:ext cx="1971205" cy="476477"/>
              </a:xfrm>
              <a:prstGeom prst="rect">
                <a:avLst/>
              </a:prstGeom>
              <a:blipFill>
                <a:blip r:embed="rId4"/>
                <a:stretch>
                  <a:fillRect b="-886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ectangle 6">
            <a:extLst>
              <a:ext uri="{FF2B5EF4-FFF2-40B4-BE49-F238E27FC236}">
                <a16:creationId xmlns:a16="http://schemas.microsoft.com/office/drawing/2014/main" id="{3B20345A-001D-4E32-903F-72553EE25521}"/>
              </a:ext>
            </a:extLst>
          </p:cNvPr>
          <p:cNvSpPr/>
          <p:nvPr/>
        </p:nvSpPr>
        <p:spPr>
          <a:xfrm>
            <a:off x="174171" y="188686"/>
            <a:ext cx="11843657" cy="645885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EBBCAB-E61C-4DAB-A48F-ACA295010B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3CAD28-B1A9-4A64-9DD6-3376C7DEC3B0}" type="slidenum">
              <a:rPr lang="en-IN" smtClean="0"/>
              <a:t>19</a:t>
            </a:fld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FFF1EDB-7F58-45A0-BF92-3C9E5228E894}"/>
              </a:ext>
            </a:extLst>
          </p:cNvPr>
          <p:cNvSpPr txBox="1"/>
          <p:nvPr/>
        </p:nvSpPr>
        <p:spPr>
          <a:xfrm>
            <a:off x="324465" y="6356350"/>
            <a:ext cx="261046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/>
              <a:t>*Van Sarloos(1987)</a:t>
            </a:r>
            <a:endParaRPr lang="en-IN" sz="1200"/>
          </a:p>
        </p:txBody>
      </p:sp>
    </p:spTree>
    <p:extLst>
      <p:ext uri="{BB962C8B-B14F-4D97-AF65-F5344CB8AC3E}">
        <p14:creationId xmlns:p14="http://schemas.microsoft.com/office/powerpoint/2010/main" val="2648372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1302"/>
    </mc:Choice>
    <mc:Fallback xmlns="">
      <p:transition spd="slow" advTm="71302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6E6D8B1-5C5B-4DAC-BA58-22A25716256F}"/>
              </a:ext>
            </a:extLst>
          </p:cNvPr>
          <p:cNvSpPr txBox="1"/>
          <p:nvPr/>
        </p:nvSpPr>
        <p:spPr>
          <a:xfrm>
            <a:off x="3044802" y="215903"/>
            <a:ext cx="6983153" cy="10105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2400" b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Mobility radius and Radius of gyration</a:t>
            </a:r>
          </a:p>
          <a:p>
            <a:pPr algn="ctr">
              <a:lnSpc>
                <a:spcPct val="150000"/>
              </a:lnSpc>
            </a:pPr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Lubrication interactions included</a:t>
            </a:r>
            <a:endParaRPr lang="en-IN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A97F46B1-EB43-4152-BAEF-1AE3FBEF6D5F}"/>
                  </a:ext>
                </a:extLst>
              </p:cNvPr>
              <p:cNvSpPr txBox="1"/>
              <p:nvPr/>
            </p:nvSpPr>
            <p:spPr>
              <a:xfrm>
                <a:off x="400898" y="1163465"/>
                <a:ext cx="6627767" cy="67081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IN" sz="1600">
                    <a:latin typeface="Arial" panose="020B0604020202020204" pitchFamily="34" charset="0"/>
                    <a:cs typeface="Arial" panose="020B0604020202020204" pitchFamily="34" charset="0"/>
                  </a:rPr>
                  <a:t>N varies from 20 to 10240.</a:t>
                </a: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sz="1600">
                    <a:latin typeface="Arial" panose="020B0604020202020204" pitchFamily="34" charset="0"/>
                    <a:cs typeface="Arial" panose="020B0604020202020204" pitchFamily="34" charset="0"/>
                  </a:rPr>
                  <a:t>Wiltzus et. al(1982) predicted R</a:t>
                </a:r>
                <a:r>
                  <a:rPr lang="en-US" sz="1600" baseline="-25000">
                    <a:latin typeface="Arial" panose="020B0604020202020204" pitchFamily="34" charset="0"/>
                    <a:cs typeface="Arial" panose="020B0604020202020204" pitchFamily="34" charset="0"/>
                  </a:rPr>
                  <a:t>M</a:t>
                </a:r>
                <a:r>
                  <a:rPr lang="en-US" sz="1600">
                    <a:latin typeface="Arial" panose="020B0604020202020204" pitchFamily="34" charset="0"/>
                    <a:cs typeface="Arial" panose="020B0604020202020204" pitchFamily="34" charset="0"/>
                  </a:rPr>
                  <a:t> is directly proportional to R</a:t>
                </a:r>
                <a:r>
                  <a:rPr lang="en-US" sz="1600" baseline="-25000">
                    <a:latin typeface="Arial" panose="020B0604020202020204" pitchFamily="34" charset="0"/>
                    <a:cs typeface="Arial" panose="020B0604020202020204" pitchFamily="34" charset="0"/>
                  </a:rPr>
                  <a:t>G</a:t>
                </a:r>
                <a:endParaRPr lang="en-IN" sz="160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IN" sz="1600">
                    <a:latin typeface="Arial" panose="020B0604020202020204" pitchFamily="34" charset="0"/>
                    <a:cs typeface="Arial" panose="020B0604020202020204" pitchFamily="34" charset="0"/>
                  </a:rPr>
                  <a:t>As fractal dimension increases, mobility radius is overestimated.</a:t>
                </a: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IN" sz="1600">
                    <a:effectLst/>
                    <a:latin typeface="Arial" panose="020B0604020202020204" pitchFamily="34" charset="0"/>
                    <a:cs typeface="Arial" panose="020B0604020202020204" pitchFamily="34" charset="0"/>
                  </a:rPr>
                  <a:t>Overestimate</a:t>
                </a:r>
                <a:r>
                  <a:rPr lang="en-IN" sz="1400">
                    <a:effectLst/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i="1" smtClean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IN" i="1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𝑅</m:t>
                        </m:r>
                      </m:e>
                      <m:sub>
                        <m:r>
                          <a:rPr lang="en-IN" i="1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𝑚</m:t>
                        </m:r>
                      </m:sub>
                    </m:sSub>
                    <m:r>
                      <a:rPr lang="en-IN" i="1">
                        <a:solidFill>
                          <a:srgbClr val="C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~ </m:t>
                    </m:r>
                    <m:sSubSup>
                      <m:sSubSupPr>
                        <m:ctrlPr>
                          <a:rPr lang="en-IN" i="1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en-IN" i="1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𝑅</m:t>
                        </m:r>
                      </m:e>
                      <m:sub>
                        <m:r>
                          <a:rPr lang="en-IN" i="1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𝐺</m:t>
                        </m:r>
                      </m:sub>
                      <m:sup>
                        <m:r>
                          <a:rPr lang="en-IN" i="1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𝑦</m:t>
                        </m:r>
                      </m:sup>
                    </m:sSubSup>
                  </m:oMath>
                </a14:m>
                <a:endParaRPr lang="en-IN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endParaRPr lang="en-IN" sz="160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endParaRPr lang="en-IN" sz="160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endParaRPr lang="en-IN" sz="160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endParaRPr lang="en-IN" sz="160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endParaRPr lang="en-IN" sz="160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IN" sz="1600">
                    <a:latin typeface="Arial" panose="020B0604020202020204" pitchFamily="34" charset="0"/>
                    <a:cs typeface="Arial" panose="020B0604020202020204" pitchFamily="34" charset="0"/>
                  </a:rPr>
                  <a:t>Only when there is a relative motion between the spheres, lubrication forces are necessary. [Swan (2011)]</a:t>
                </a: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IN" sz="1600">
                    <a:latin typeface="Arial" panose="020B0604020202020204" pitchFamily="34" charset="0"/>
                    <a:cs typeface="Arial" panose="020B0604020202020204" pitchFamily="34" charset="0"/>
                  </a:rPr>
                  <a:t>With lubrication interactions, estimated velocity is comparatively small.</a:t>
                </a: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endParaRPr lang="en-IN" sz="160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endParaRPr lang="en-IN" sz="160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endParaRPr lang="en-IN" sz="160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endParaRPr lang="en-IN" sz="160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endParaRPr lang="en-IN" sz="160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A97F46B1-EB43-4152-BAEF-1AE3FBEF6D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0898" y="1163465"/>
                <a:ext cx="6627767" cy="6708183"/>
              </a:xfrm>
              <a:prstGeom prst="rect">
                <a:avLst/>
              </a:prstGeom>
              <a:blipFill>
                <a:blip r:embed="rId2"/>
                <a:stretch>
                  <a:fillRect l="-36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1141910F-A84D-45E7-9DD2-E5793ED56F0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958388778"/>
                  </p:ext>
                </p:extLst>
              </p:nvPr>
            </p:nvGraphicFramePr>
            <p:xfrm>
              <a:off x="6883058" y="5034263"/>
              <a:ext cx="4115869" cy="1457706"/>
            </p:xfrm>
            <a:graphic>
              <a:graphicData uri="http://schemas.openxmlformats.org/drawingml/2006/table">
                <a:tbl>
                  <a:tblPr firstRow="1" firstCol="1" bandRow="1">
                    <a:tableStyleId>{0505E3EF-67EA-436B-97B2-0124C06EBD24}</a:tableStyleId>
                  </a:tblPr>
                  <a:tblGrid>
                    <a:gridCol w="1425370">
                      <a:extLst>
                        <a:ext uri="{9D8B030D-6E8A-4147-A177-3AD203B41FA5}">
                          <a16:colId xmlns:a16="http://schemas.microsoft.com/office/drawing/2014/main" val="3367233849"/>
                        </a:ext>
                      </a:extLst>
                    </a:gridCol>
                    <a:gridCol w="1024758">
                      <a:extLst>
                        <a:ext uri="{9D8B030D-6E8A-4147-A177-3AD203B41FA5}">
                          <a16:colId xmlns:a16="http://schemas.microsoft.com/office/drawing/2014/main" val="735765843"/>
                        </a:ext>
                      </a:extLst>
                    </a:gridCol>
                    <a:gridCol w="882869">
                      <a:extLst>
                        <a:ext uri="{9D8B030D-6E8A-4147-A177-3AD203B41FA5}">
                          <a16:colId xmlns:a16="http://schemas.microsoft.com/office/drawing/2014/main" val="1154187837"/>
                        </a:ext>
                      </a:extLst>
                    </a:gridCol>
                    <a:gridCol w="782872">
                      <a:extLst>
                        <a:ext uri="{9D8B030D-6E8A-4147-A177-3AD203B41FA5}">
                          <a16:colId xmlns:a16="http://schemas.microsoft.com/office/drawing/2014/main" val="4175570851"/>
                        </a:ext>
                      </a:extLst>
                    </a:gridCol>
                  </a:tblGrid>
                  <a:tr h="0">
                    <a:tc gridSpan="2"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IN" sz="1400">
                              <a:effectLst/>
                            </a:rPr>
                            <a:t>N</a:t>
                          </a:r>
                          <a:endParaRPr lang="en-IN" sz="14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 hMerge="1">
                      <a:txBody>
                        <a:bodyPr/>
                        <a:lstStyle/>
                        <a:p>
                          <a:endParaRPr lang="en-IN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400">
                              <a:effectLst/>
                            </a:rPr>
                            <a:t>1</a:t>
                          </a:r>
                          <a:r>
                            <a:rPr lang="en-IN" sz="1400">
                              <a:effectLst/>
                            </a:rPr>
                            <a:t>024</a:t>
                          </a:r>
                          <a:endParaRPr lang="en-IN" sz="14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IN" sz="1400">
                              <a:effectLst/>
                            </a:rPr>
                            <a:t>10240</a:t>
                          </a:r>
                          <a:endParaRPr lang="en-IN" sz="14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3037877788"/>
                      </a:ext>
                    </a:extLst>
                  </a:tr>
                  <a:tr h="0">
                    <a:tc rowSpan="2"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endParaRPr lang="en-IN" sz="1400">
                            <a:effectLst/>
                          </a:endParaRPr>
                        </a:p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IN" sz="1400">
                              <a:effectLst/>
                            </a:rPr>
                            <a:t>Aggregate velocity</a:t>
                          </a:r>
                          <a:endParaRPr lang="en-US" sz="1400" b="1" i="0">
                            <a:effectLst/>
                            <a:latin typeface="Cambria Math" panose="02040503050406030204" pitchFamily="18" charset="0"/>
                          </a:endParaRPr>
                        </a:p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400" b="1" i="0" smtClean="0">
                                    <a:effectLst/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n-US" sz="1400" b="1" i="1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400" b="1" i="1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𝑫</m:t>
                                    </m:r>
                                  </m:e>
                                  <m:sub>
                                    <m:r>
                                      <a:rPr lang="en-US" sz="1400" b="1" i="1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𝒇</m:t>
                                    </m:r>
                                  </m:sub>
                                </m:sSub>
                                <m:r>
                                  <a:rPr lang="en-US" sz="1400" b="1" i="1" smtClean="0">
                                    <a:effectLst/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sz="1400" b="1" i="1" smtClean="0">
                                    <a:effectLst/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  <m:r>
                                  <a:rPr lang="en-US" sz="1400" b="1" i="1" smtClean="0">
                                    <a:effectLst/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sz="1400" b="1" i="1" smtClean="0">
                                    <a:effectLst/>
                                    <a:latin typeface="Cambria Math" panose="02040503050406030204" pitchFamily="18" charset="0"/>
                                  </a:rPr>
                                  <m:t>𝟐𝟑</m:t>
                                </m:r>
                                <m:r>
                                  <a:rPr lang="en-US" sz="1400" b="1" i="1" smtClean="0">
                                    <a:effectLst/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IN" sz="14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IN" sz="1400">
                              <a:effectLst/>
                            </a:rPr>
                            <a:t>With</a:t>
                          </a:r>
                        </a:p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IN" sz="1400">
                              <a:effectLst/>
                            </a:rPr>
                            <a:t>lubrication</a:t>
                          </a:r>
                          <a:endParaRPr lang="en-IN" sz="14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IN" sz="1400">
                              <a:effectLst/>
                            </a:rPr>
                            <a:t>27</a:t>
                          </a:r>
                        </a:p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IN" sz="1400">
                              <a:effectLst/>
                            </a:rPr>
                            <a:t> </a:t>
                          </a:r>
                          <a:endParaRPr lang="en-IN" sz="14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IN" sz="1400">
                              <a:effectLst/>
                            </a:rPr>
                            <a:t>51.3</a:t>
                          </a:r>
                        </a:p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IN" sz="1400">
                              <a:effectLst/>
                            </a:rPr>
                            <a:t> </a:t>
                          </a:r>
                          <a:endParaRPr lang="en-IN" sz="14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2015380626"/>
                      </a:ext>
                    </a:extLst>
                  </a:tr>
                  <a:tr h="0">
                    <a:tc vMerge="1">
                      <a:txBody>
                        <a:bodyPr/>
                        <a:lstStyle/>
                        <a:p>
                          <a:endParaRPr lang="en-IN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IN" sz="1400">
                              <a:effectLst/>
                            </a:rPr>
                            <a:t>Without lubrication</a:t>
                          </a:r>
                          <a:endParaRPr lang="en-IN" sz="14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IN" sz="1400">
                              <a:effectLst/>
                            </a:rPr>
                            <a:t>43.5</a:t>
                          </a:r>
                        </a:p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IN" sz="1400">
                              <a:effectLst/>
                            </a:rPr>
                            <a:t> </a:t>
                          </a:r>
                          <a:endParaRPr lang="en-IN" sz="14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IN" sz="1400">
                              <a:effectLst/>
                            </a:rPr>
                            <a:t>153.4</a:t>
                          </a:r>
                        </a:p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IN" sz="1400">
                              <a:effectLst/>
                            </a:rPr>
                            <a:t> </a:t>
                          </a:r>
                          <a:endParaRPr lang="en-IN" sz="14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144258417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1141910F-A84D-45E7-9DD2-E5793ED56F0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958388778"/>
                  </p:ext>
                </p:extLst>
              </p:nvPr>
            </p:nvGraphicFramePr>
            <p:xfrm>
              <a:off x="6883058" y="5034263"/>
              <a:ext cx="4115869" cy="1457706"/>
            </p:xfrm>
            <a:graphic>
              <a:graphicData uri="http://schemas.openxmlformats.org/drawingml/2006/table">
                <a:tbl>
                  <a:tblPr firstRow="1" firstCol="1" bandRow="1">
                    <a:tableStyleId>{0505E3EF-67EA-436B-97B2-0124C06EBD24}</a:tableStyleId>
                  </a:tblPr>
                  <a:tblGrid>
                    <a:gridCol w="1425370">
                      <a:extLst>
                        <a:ext uri="{9D8B030D-6E8A-4147-A177-3AD203B41FA5}">
                          <a16:colId xmlns:a16="http://schemas.microsoft.com/office/drawing/2014/main" val="3367233849"/>
                        </a:ext>
                      </a:extLst>
                    </a:gridCol>
                    <a:gridCol w="1024758">
                      <a:extLst>
                        <a:ext uri="{9D8B030D-6E8A-4147-A177-3AD203B41FA5}">
                          <a16:colId xmlns:a16="http://schemas.microsoft.com/office/drawing/2014/main" val="735765843"/>
                        </a:ext>
                      </a:extLst>
                    </a:gridCol>
                    <a:gridCol w="882869">
                      <a:extLst>
                        <a:ext uri="{9D8B030D-6E8A-4147-A177-3AD203B41FA5}">
                          <a16:colId xmlns:a16="http://schemas.microsoft.com/office/drawing/2014/main" val="1154187837"/>
                        </a:ext>
                      </a:extLst>
                    </a:gridCol>
                    <a:gridCol w="782872">
                      <a:extLst>
                        <a:ext uri="{9D8B030D-6E8A-4147-A177-3AD203B41FA5}">
                          <a16:colId xmlns:a16="http://schemas.microsoft.com/office/drawing/2014/main" val="4175570851"/>
                        </a:ext>
                      </a:extLst>
                    </a:gridCol>
                  </a:tblGrid>
                  <a:tr h="218186">
                    <a:tc gridSpan="2"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IN" sz="1400">
                              <a:effectLst/>
                            </a:rPr>
                            <a:t>N</a:t>
                          </a:r>
                          <a:endParaRPr lang="en-IN" sz="14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 hMerge="1">
                      <a:txBody>
                        <a:bodyPr/>
                        <a:lstStyle/>
                        <a:p>
                          <a:endParaRPr lang="en-IN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400">
                              <a:effectLst/>
                            </a:rPr>
                            <a:t>1</a:t>
                          </a:r>
                          <a:r>
                            <a:rPr lang="en-IN" sz="1400">
                              <a:effectLst/>
                            </a:rPr>
                            <a:t>024</a:t>
                          </a:r>
                          <a:endParaRPr lang="en-IN" sz="14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IN" sz="1400">
                              <a:effectLst/>
                            </a:rPr>
                            <a:t>10240</a:t>
                          </a:r>
                          <a:endParaRPr lang="en-IN" sz="14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3037877788"/>
                      </a:ext>
                    </a:extLst>
                  </a:tr>
                  <a:tr h="548069">
                    <a:tc rowSpan="2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blipFill>
                          <a:blip r:embed="rId3"/>
                          <a:stretch>
                            <a:fillRect l="-427" t="-21078" r="-189744" b="-147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IN" sz="1400">
                              <a:effectLst/>
                            </a:rPr>
                            <a:t>With</a:t>
                          </a:r>
                        </a:p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IN" sz="1400">
                              <a:effectLst/>
                            </a:rPr>
                            <a:t>lubrication</a:t>
                          </a:r>
                          <a:endParaRPr lang="en-IN" sz="14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IN" sz="1400">
                              <a:effectLst/>
                            </a:rPr>
                            <a:t>27</a:t>
                          </a:r>
                        </a:p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IN" sz="1400">
                              <a:effectLst/>
                            </a:rPr>
                            <a:t> </a:t>
                          </a:r>
                          <a:endParaRPr lang="en-IN" sz="14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IN" sz="1400">
                              <a:effectLst/>
                            </a:rPr>
                            <a:t>51.3</a:t>
                          </a:r>
                        </a:p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IN" sz="1400">
                              <a:effectLst/>
                            </a:rPr>
                            <a:t> </a:t>
                          </a:r>
                          <a:endParaRPr lang="en-IN" sz="14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2015380626"/>
                      </a:ext>
                    </a:extLst>
                  </a:tr>
                  <a:tr h="691451">
                    <a:tc vMerge="1">
                      <a:txBody>
                        <a:bodyPr/>
                        <a:lstStyle/>
                        <a:p>
                          <a:endParaRPr lang="en-IN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IN" sz="1400">
                              <a:effectLst/>
                            </a:rPr>
                            <a:t>Without lubrication</a:t>
                          </a:r>
                          <a:endParaRPr lang="en-IN" sz="14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IN" sz="1400">
                              <a:effectLst/>
                            </a:rPr>
                            <a:t>43.5</a:t>
                          </a:r>
                        </a:p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IN" sz="1400">
                              <a:effectLst/>
                            </a:rPr>
                            <a:t> </a:t>
                          </a:r>
                          <a:endParaRPr lang="en-IN" sz="14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IN" sz="1400">
                              <a:effectLst/>
                            </a:rPr>
                            <a:t>153.4</a:t>
                          </a:r>
                        </a:p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IN" sz="1400">
                              <a:effectLst/>
                            </a:rPr>
                            <a:t> </a:t>
                          </a:r>
                          <a:endParaRPr lang="en-IN" sz="14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1442584171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7" name="Picture 6">
            <a:extLst>
              <a:ext uri="{FF2B5EF4-FFF2-40B4-BE49-F238E27FC236}">
                <a16:creationId xmlns:a16="http://schemas.microsoft.com/office/drawing/2014/main" id="{FADFF1ED-1FF5-4FCC-9566-FA89489921AF}"/>
              </a:ext>
            </a:extLst>
          </p:cNvPr>
          <p:cNvPicPr/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806" t="9231" r="12116" b="5055"/>
          <a:stretch/>
        </p:blipFill>
        <p:spPr bwMode="auto">
          <a:xfrm>
            <a:off x="7457090" y="1299357"/>
            <a:ext cx="4390604" cy="3589065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6834554D-FE2D-4A5D-90F0-40DFB80D9F17}"/>
                  </a:ext>
                </a:extLst>
              </p:cNvPr>
              <p:cNvSpPr txBox="1"/>
              <p:nvPr/>
            </p:nvSpPr>
            <p:spPr>
              <a:xfrm>
                <a:off x="10274070" y="3429000"/>
                <a:ext cx="1917930" cy="91101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IN" sz="1000">
                    <a:solidFill>
                      <a:srgbClr val="002060"/>
                    </a:solidFill>
                  </a:rPr>
                  <a:t>□</a:t>
                </a:r>
                <a14:m>
                  <m:oMath xmlns:m="http://schemas.openxmlformats.org/officeDocument/2006/math">
                    <m:r>
                      <a:rPr lang="en-IN" sz="1000" i="0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sz="1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1000" b="0" i="0" smtClean="0">
                            <a:latin typeface="Cambria Math" panose="02040503050406030204" pitchFamily="18" charset="0"/>
                          </a:rPr>
                          <m:t>D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1000" b="0" i="0" smtClean="0">
                            <a:latin typeface="Cambria Math" panose="02040503050406030204" pitchFamily="18" charset="0"/>
                          </a:rPr>
                          <m:t>f</m:t>
                        </m:r>
                      </m:sub>
                    </m:sSub>
                    <m:r>
                      <a:rPr lang="en-US" sz="1000" b="0" i="0" smtClean="0">
                        <a:latin typeface="Cambria Math" panose="02040503050406030204" pitchFamily="18" charset="0"/>
                      </a:rPr>
                      <m:t>=3</m:t>
                    </m:r>
                  </m:oMath>
                </a14:m>
                <a:endParaRPr lang="en-IN" sz="100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00" i="1" smtClean="0">
                          <a:solidFill>
                            <a:srgbClr val="FF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●</m:t>
                      </m:r>
                      <m:r>
                        <a:rPr lang="en-US" sz="1000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IN" sz="10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10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US" sz="10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𝑓</m:t>
                          </m:r>
                        </m:sub>
                      </m:sSub>
                      <m:r>
                        <a:rPr lang="en-US" sz="1000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=2.46</m:t>
                      </m:r>
                    </m:oMath>
                  </m:oMathPara>
                </a14:m>
                <a:endParaRPr lang="en-IN" sz="100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00" i="1" smtClean="0">
                          <a:solidFill>
                            <a:srgbClr val="0617BA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▲</m:t>
                      </m:r>
                      <m:r>
                        <a:rPr lang="en-US" sz="1000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IN" sz="10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10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US" sz="10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𝑓</m:t>
                          </m:r>
                        </m:sub>
                      </m:sSub>
                      <m:r>
                        <a:rPr lang="en-US" sz="1000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=2.23</m:t>
                      </m:r>
                    </m:oMath>
                  </m:oMathPara>
                </a14:m>
                <a:endParaRPr lang="en-US" sz="1000" i="1">
                  <a:effectLst/>
                  <a:latin typeface="Cambria Math" panose="02040503050406030204" pitchFamily="18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00" i="1" smtClean="0">
                          <a:solidFill>
                            <a:srgbClr val="385623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▼</m:t>
                      </m:r>
                      <m:r>
                        <a:rPr lang="en-US" sz="1000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 −</m:t>
                      </m:r>
                      <m:sSub>
                        <m:sSubPr>
                          <m:ctrlPr>
                            <a:rPr lang="en-IN" sz="10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10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US" sz="10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𝑓</m:t>
                          </m:r>
                        </m:sub>
                      </m:sSub>
                      <m:r>
                        <a:rPr lang="en-US" sz="1000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=1.99</m:t>
                      </m:r>
                    </m:oMath>
                  </m:oMathPara>
                </a14:m>
                <a:endParaRPr lang="en-US" sz="1000" i="1">
                  <a:solidFill>
                    <a:srgbClr val="4472C4"/>
                  </a:solidFill>
                  <a:effectLst/>
                  <a:latin typeface="Cambria Math" panose="02040503050406030204" pitchFamily="18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00" i="1" smtClean="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∎−</m:t>
                      </m:r>
                      <m:sSub>
                        <m:sSubPr>
                          <m:ctrlPr>
                            <a:rPr lang="en-IN" sz="10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10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US" sz="10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𝑓</m:t>
                          </m:r>
                        </m:sub>
                      </m:sSub>
                      <m:r>
                        <a:rPr lang="en-US" sz="1000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=1.76</m:t>
                      </m:r>
                    </m:oMath>
                  </m:oMathPara>
                </a14:m>
                <a:endParaRPr lang="en-US" sz="1000" i="1">
                  <a:effectLst/>
                  <a:latin typeface="Cambria Math" panose="02040503050406030204" pitchFamily="18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6834554D-FE2D-4A5D-90F0-40DFB80D9F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74070" y="3429000"/>
                <a:ext cx="1917930" cy="91101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id="{B7925957-5434-469E-8E11-9D4DFB5532A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814938744"/>
                  </p:ext>
                </p:extLst>
              </p:nvPr>
            </p:nvGraphicFramePr>
            <p:xfrm>
              <a:off x="938500" y="2892406"/>
              <a:ext cx="5944558" cy="1580901"/>
            </p:xfrm>
            <a:graphic>
              <a:graphicData uri="http://schemas.openxmlformats.org/drawingml/2006/table">
                <a:tbl>
                  <a:tblPr firstRow="1" firstCol="1" bandRow="1">
                    <a:tableStyleId>{0505E3EF-67EA-436B-97B2-0124C06EBD24}</a:tableStyleId>
                  </a:tblPr>
                  <a:tblGrid>
                    <a:gridCol w="1573443">
                      <a:extLst>
                        <a:ext uri="{9D8B030D-6E8A-4147-A177-3AD203B41FA5}">
                          <a16:colId xmlns:a16="http://schemas.microsoft.com/office/drawing/2014/main" val="2045815350"/>
                        </a:ext>
                      </a:extLst>
                    </a:gridCol>
                    <a:gridCol w="834162">
                      <a:extLst>
                        <a:ext uri="{9D8B030D-6E8A-4147-A177-3AD203B41FA5}">
                          <a16:colId xmlns:a16="http://schemas.microsoft.com/office/drawing/2014/main" val="1453638385"/>
                        </a:ext>
                      </a:extLst>
                    </a:gridCol>
                    <a:gridCol w="671415">
                      <a:extLst>
                        <a:ext uri="{9D8B030D-6E8A-4147-A177-3AD203B41FA5}">
                          <a16:colId xmlns:a16="http://schemas.microsoft.com/office/drawing/2014/main" val="2471977695"/>
                        </a:ext>
                      </a:extLst>
                    </a:gridCol>
                    <a:gridCol w="751141">
                      <a:extLst>
                        <a:ext uri="{9D8B030D-6E8A-4147-A177-3AD203B41FA5}">
                          <a16:colId xmlns:a16="http://schemas.microsoft.com/office/drawing/2014/main" val="434765248"/>
                        </a:ext>
                      </a:extLst>
                    </a:gridCol>
                    <a:gridCol w="840751">
                      <a:extLst>
                        <a:ext uri="{9D8B030D-6E8A-4147-A177-3AD203B41FA5}">
                          <a16:colId xmlns:a16="http://schemas.microsoft.com/office/drawing/2014/main" val="2553318116"/>
                        </a:ext>
                      </a:extLst>
                    </a:gridCol>
                    <a:gridCol w="1273646">
                      <a:extLst>
                        <a:ext uri="{9D8B030D-6E8A-4147-A177-3AD203B41FA5}">
                          <a16:colId xmlns:a16="http://schemas.microsoft.com/office/drawing/2014/main" val="2444564099"/>
                        </a:ext>
                      </a:extLst>
                    </a:gridCol>
                  </a:tblGrid>
                  <a:tr h="526967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IN" sz="1600">
                              <a:effectLst/>
                            </a:rPr>
                            <a:t>Fractals</a:t>
                          </a:r>
                          <a:endParaRPr lang="en-IN" sz="16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 gridSpan="4"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IN" sz="1600">
                              <a:effectLst/>
                            </a:rPr>
                            <a:t>Tunable Monte Carlo Clusters</a:t>
                          </a:r>
                          <a:endParaRPr lang="en-IN" sz="16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 hMerge="1">
                      <a:txBody>
                        <a:bodyPr/>
                        <a:lstStyle/>
                        <a:p>
                          <a:endParaRPr lang="en-IN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IN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IN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IN" sz="1600">
                              <a:effectLst/>
                            </a:rPr>
                            <a:t>Simple cubic unit</a:t>
                          </a:r>
                          <a:endParaRPr lang="en-IN" sz="16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3052743588"/>
                      </a:ext>
                    </a:extLst>
                  </a:tr>
                  <a:tr h="526967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600" b="1" i="1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b="1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𝑫</m:t>
                                    </m:r>
                                  </m:e>
                                  <m:sub>
                                    <m:r>
                                      <a:rPr lang="en-US" sz="1600" b="1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𝒇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IN" sz="16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IN" sz="1600">
                              <a:effectLst/>
                            </a:rPr>
                            <a:t>1.76</a:t>
                          </a:r>
                          <a:endParaRPr lang="en-IN" sz="16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600">
                              <a:effectLst/>
                            </a:rPr>
                            <a:t>2</a:t>
                          </a:r>
                          <a:endParaRPr lang="en-IN" sz="16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IN" sz="1600">
                              <a:effectLst/>
                            </a:rPr>
                            <a:t>2.23</a:t>
                          </a:r>
                          <a:endParaRPr lang="en-IN" sz="16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IN" sz="1600">
                              <a:effectLst/>
                            </a:rPr>
                            <a:t>2.46</a:t>
                          </a:r>
                          <a:endParaRPr lang="en-IN" sz="16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IN" sz="1600">
                              <a:effectLst/>
                            </a:rPr>
                            <a:t>3</a:t>
                          </a:r>
                          <a:endParaRPr lang="en-IN" sz="16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1905500929"/>
                      </a:ext>
                    </a:extLst>
                  </a:tr>
                  <a:tr h="526967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b="1" smtClean="0">
                                    <a:solidFill>
                                      <a:srgbClr val="C0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𝒚</m:t>
                                </m:r>
                              </m:oMath>
                            </m:oMathPara>
                          </a14:m>
                          <a:endParaRPr lang="en-IN" sz="1600">
                            <a:solidFill>
                              <a:srgbClr val="C00000"/>
                            </a:solidFill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IN" sz="1600">
                              <a:effectLst/>
                            </a:rPr>
                            <a:t>1.07</a:t>
                          </a:r>
                          <a:endParaRPr lang="en-IN" sz="16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IN" sz="1600">
                              <a:effectLst/>
                            </a:rPr>
                            <a:t>1.24</a:t>
                          </a:r>
                          <a:endParaRPr lang="en-IN" sz="16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IN" sz="1600">
                              <a:effectLst/>
                            </a:rPr>
                            <a:t>1.38</a:t>
                          </a:r>
                          <a:endParaRPr lang="en-IN" sz="16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IN" sz="1600">
                              <a:effectLst/>
                            </a:rPr>
                            <a:t>1.40</a:t>
                          </a:r>
                          <a:endParaRPr lang="en-IN" sz="16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IN" sz="1600">
                              <a:effectLst/>
                            </a:rPr>
                            <a:t>2.41</a:t>
                          </a:r>
                          <a:endParaRPr lang="en-IN" sz="16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392473227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id="{B7925957-5434-469E-8E11-9D4DFB5532A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814938744"/>
                  </p:ext>
                </p:extLst>
              </p:nvPr>
            </p:nvGraphicFramePr>
            <p:xfrm>
              <a:off x="938500" y="2892406"/>
              <a:ext cx="5944558" cy="1580901"/>
            </p:xfrm>
            <a:graphic>
              <a:graphicData uri="http://schemas.openxmlformats.org/drawingml/2006/table">
                <a:tbl>
                  <a:tblPr firstRow="1" firstCol="1" bandRow="1">
                    <a:tableStyleId>{0505E3EF-67EA-436B-97B2-0124C06EBD24}</a:tableStyleId>
                  </a:tblPr>
                  <a:tblGrid>
                    <a:gridCol w="1573443">
                      <a:extLst>
                        <a:ext uri="{9D8B030D-6E8A-4147-A177-3AD203B41FA5}">
                          <a16:colId xmlns:a16="http://schemas.microsoft.com/office/drawing/2014/main" val="2045815350"/>
                        </a:ext>
                      </a:extLst>
                    </a:gridCol>
                    <a:gridCol w="834162">
                      <a:extLst>
                        <a:ext uri="{9D8B030D-6E8A-4147-A177-3AD203B41FA5}">
                          <a16:colId xmlns:a16="http://schemas.microsoft.com/office/drawing/2014/main" val="1453638385"/>
                        </a:ext>
                      </a:extLst>
                    </a:gridCol>
                    <a:gridCol w="671415">
                      <a:extLst>
                        <a:ext uri="{9D8B030D-6E8A-4147-A177-3AD203B41FA5}">
                          <a16:colId xmlns:a16="http://schemas.microsoft.com/office/drawing/2014/main" val="2471977695"/>
                        </a:ext>
                      </a:extLst>
                    </a:gridCol>
                    <a:gridCol w="751141">
                      <a:extLst>
                        <a:ext uri="{9D8B030D-6E8A-4147-A177-3AD203B41FA5}">
                          <a16:colId xmlns:a16="http://schemas.microsoft.com/office/drawing/2014/main" val="434765248"/>
                        </a:ext>
                      </a:extLst>
                    </a:gridCol>
                    <a:gridCol w="840751">
                      <a:extLst>
                        <a:ext uri="{9D8B030D-6E8A-4147-A177-3AD203B41FA5}">
                          <a16:colId xmlns:a16="http://schemas.microsoft.com/office/drawing/2014/main" val="2553318116"/>
                        </a:ext>
                      </a:extLst>
                    </a:gridCol>
                    <a:gridCol w="1273646">
                      <a:extLst>
                        <a:ext uri="{9D8B030D-6E8A-4147-A177-3AD203B41FA5}">
                          <a16:colId xmlns:a16="http://schemas.microsoft.com/office/drawing/2014/main" val="2444564099"/>
                        </a:ext>
                      </a:extLst>
                    </a:gridCol>
                  </a:tblGrid>
                  <a:tr h="526967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IN" sz="1600">
                              <a:effectLst/>
                            </a:rPr>
                            <a:t>Fractals</a:t>
                          </a:r>
                          <a:endParaRPr lang="en-IN" sz="16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 gridSpan="4"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IN" sz="1600">
                              <a:effectLst/>
                            </a:rPr>
                            <a:t>Tunable Monte Carlo Clusters</a:t>
                          </a:r>
                          <a:endParaRPr lang="en-IN" sz="16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 hMerge="1">
                      <a:txBody>
                        <a:bodyPr/>
                        <a:lstStyle/>
                        <a:p>
                          <a:endParaRPr lang="en-IN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IN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IN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IN" sz="1600">
                              <a:effectLst/>
                            </a:rPr>
                            <a:t>Simple cubic unit</a:t>
                          </a:r>
                          <a:endParaRPr lang="en-IN" sz="16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3052743588"/>
                      </a:ext>
                    </a:extLst>
                  </a:tr>
                  <a:tr h="526967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blipFill>
                          <a:blip r:embed="rId6"/>
                          <a:stretch>
                            <a:fillRect l="-386" t="-111628" r="-277992" b="-10348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IN" sz="1600">
                              <a:effectLst/>
                            </a:rPr>
                            <a:t>1.76</a:t>
                          </a:r>
                          <a:endParaRPr lang="en-IN" sz="16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600">
                              <a:effectLst/>
                            </a:rPr>
                            <a:t>2</a:t>
                          </a:r>
                          <a:endParaRPr lang="en-IN" sz="16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IN" sz="1600">
                              <a:effectLst/>
                            </a:rPr>
                            <a:t>2.23</a:t>
                          </a:r>
                          <a:endParaRPr lang="en-IN" sz="16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IN" sz="1600">
                              <a:effectLst/>
                            </a:rPr>
                            <a:t>2.46</a:t>
                          </a:r>
                          <a:endParaRPr lang="en-IN" sz="16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IN" sz="1600">
                              <a:effectLst/>
                            </a:rPr>
                            <a:t>3</a:t>
                          </a:r>
                          <a:endParaRPr lang="en-IN" sz="16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1905500929"/>
                      </a:ext>
                    </a:extLst>
                  </a:tr>
                  <a:tr h="526967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blipFill>
                          <a:blip r:embed="rId6"/>
                          <a:stretch>
                            <a:fillRect l="-386" t="-209195" r="-277992" b="-229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IN" sz="1600">
                              <a:effectLst/>
                            </a:rPr>
                            <a:t>1.07</a:t>
                          </a:r>
                          <a:endParaRPr lang="en-IN" sz="16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IN" sz="1600">
                              <a:effectLst/>
                            </a:rPr>
                            <a:t>1.24</a:t>
                          </a:r>
                          <a:endParaRPr lang="en-IN" sz="16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IN" sz="1600">
                              <a:effectLst/>
                            </a:rPr>
                            <a:t>1.38</a:t>
                          </a:r>
                          <a:endParaRPr lang="en-IN" sz="16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IN" sz="1600">
                              <a:effectLst/>
                            </a:rPr>
                            <a:t>1.40</a:t>
                          </a:r>
                          <a:endParaRPr lang="en-IN" sz="16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IN" sz="1600">
                              <a:effectLst/>
                            </a:rPr>
                            <a:t>2.41</a:t>
                          </a:r>
                          <a:endParaRPr lang="en-IN" sz="16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3924732279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0" name="Rectangle 9">
            <a:extLst>
              <a:ext uri="{FF2B5EF4-FFF2-40B4-BE49-F238E27FC236}">
                <a16:creationId xmlns:a16="http://schemas.microsoft.com/office/drawing/2014/main" id="{94E37E83-CDA4-47DF-97C8-8141770E625D}"/>
              </a:ext>
            </a:extLst>
          </p:cNvPr>
          <p:cNvSpPr/>
          <p:nvPr/>
        </p:nvSpPr>
        <p:spPr>
          <a:xfrm>
            <a:off x="174171" y="188686"/>
            <a:ext cx="11843657" cy="645885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3A197C-9B15-4452-A13B-BDB0039806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3CAD28-B1A9-4A64-9DD6-3376C7DEC3B0}" type="slidenum">
              <a:rPr lang="en-IN" smtClean="0"/>
              <a:t>20</a:t>
            </a:fld>
            <a:endParaRPr lang="en-IN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142D0F2-23CD-4B01-B3C5-8B572AC924A4}"/>
              </a:ext>
            </a:extLst>
          </p:cNvPr>
          <p:cNvSpPr txBox="1"/>
          <p:nvPr/>
        </p:nvSpPr>
        <p:spPr>
          <a:xfrm>
            <a:off x="226726" y="6202248"/>
            <a:ext cx="609845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20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*Brady &amp; Bossis (1991)</a:t>
            </a:r>
          </a:p>
          <a:p>
            <a:r>
              <a:rPr lang="en-IN" sz="1200">
                <a:latin typeface="Times New Roman" panose="02020603050405020304" pitchFamily="18" charset="0"/>
              </a:rPr>
              <a:t>*Lattuada et.al (2001)</a:t>
            </a:r>
            <a:endParaRPr lang="en-IN" sz="1200"/>
          </a:p>
        </p:txBody>
      </p:sp>
    </p:spTree>
    <p:extLst>
      <p:ext uri="{BB962C8B-B14F-4D97-AF65-F5344CB8AC3E}">
        <p14:creationId xmlns:p14="http://schemas.microsoft.com/office/powerpoint/2010/main" val="28943085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83732"/>
    </mc:Choice>
    <mc:Fallback xmlns="">
      <p:transition spd="slow" advTm="83732"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598A583-9639-40DC-BDDB-CAA06292AD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8869" y="2235163"/>
            <a:ext cx="4132802" cy="3512882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82A77ACB-DC6C-4611-A92C-FB60A88D7AB5}"/>
              </a:ext>
            </a:extLst>
          </p:cNvPr>
          <p:cNvSpPr txBox="1"/>
          <p:nvPr/>
        </p:nvSpPr>
        <p:spPr>
          <a:xfrm>
            <a:off x="3465871" y="404099"/>
            <a:ext cx="589935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Mobility radius &amp; Radius of gyration</a:t>
            </a:r>
          </a:p>
          <a:p>
            <a:pPr algn="ctr"/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Excluding lubrication interactions</a:t>
            </a:r>
            <a:endParaRPr lang="en-IN" sz="2400" b="1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DCBCC6AC-12DE-43C4-9197-C782503D9473}"/>
                  </a:ext>
                </a:extLst>
              </p:cNvPr>
              <p:cNvSpPr txBox="1"/>
              <p:nvPr/>
            </p:nvSpPr>
            <p:spPr>
              <a:xfrm>
                <a:off x="2177377" y="1435560"/>
                <a:ext cx="6873766" cy="39190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𝑅</m:t>
                          </m:r>
                        </m:e>
                        <m:sub>
                          <m:r>
                            <a:rPr lang="en-US" sz="18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𝑚</m:t>
                          </m:r>
                        </m:sub>
                      </m:sSub>
                      <m:r>
                        <a:rPr lang="en-US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∝</m:t>
                      </m:r>
                      <m:sSub>
                        <m:sSubPr>
                          <m:ctrlPr>
                            <a:rPr lang="en-US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𝑅</m:t>
                          </m:r>
                        </m:e>
                        <m:sub>
                          <m:r>
                            <a:rPr lang="en-US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𝑔</m:t>
                          </m:r>
                        </m:sub>
                      </m:sSub>
                    </m:oMath>
                  </m:oMathPara>
                </a14:m>
                <a:endParaRPr lang="en-IN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DCBCC6AC-12DE-43C4-9197-C782503D94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77377" y="1435560"/>
                <a:ext cx="6873766" cy="391902"/>
              </a:xfrm>
              <a:prstGeom prst="rect">
                <a:avLst/>
              </a:prstGeom>
              <a:blipFill>
                <a:blip r:embed="rId3"/>
                <a:stretch>
                  <a:fillRect b="-461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F30E7BDC-37D6-44E5-8AFB-3737E5CD61FB}"/>
              </a:ext>
            </a:extLst>
          </p:cNvPr>
          <p:cNvSpPr txBox="1"/>
          <p:nvPr/>
        </p:nvSpPr>
        <p:spPr>
          <a:xfrm>
            <a:off x="1463837" y="1927386"/>
            <a:ext cx="303574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>
                <a:latin typeface="Arial" panose="020B0604020202020204" pitchFamily="34" charset="0"/>
                <a:cs typeface="Arial" panose="020B0604020202020204" pitchFamily="34" charset="0"/>
              </a:rPr>
              <a:t>Tunable Monte Carlo clusters</a:t>
            </a:r>
            <a:endParaRPr lang="en-IN" sz="1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Table 6">
                <a:extLst>
                  <a:ext uri="{FF2B5EF4-FFF2-40B4-BE49-F238E27FC236}">
                    <a16:creationId xmlns:a16="http://schemas.microsoft.com/office/drawing/2014/main" id="{165F32B8-0720-4A54-A0AA-975A15C204E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579840170"/>
                  </p:ext>
                </p:extLst>
              </p:nvPr>
            </p:nvGraphicFramePr>
            <p:xfrm>
              <a:off x="5394107" y="2081237"/>
              <a:ext cx="4816906" cy="4038314"/>
            </p:xfrm>
            <a:graphic>
              <a:graphicData uri="http://schemas.openxmlformats.org/drawingml/2006/table">
                <a:tbl>
                  <a:tblPr firstRow="1" firstCol="1" bandRow="1">
                    <a:tableStyleId>{0505E3EF-67EA-436B-97B2-0124C06EBD24}</a:tableStyleId>
                  </a:tblPr>
                  <a:tblGrid>
                    <a:gridCol w="656269">
                      <a:extLst>
                        <a:ext uri="{9D8B030D-6E8A-4147-A177-3AD203B41FA5}">
                          <a16:colId xmlns:a16="http://schemas.microsoft.com/office/drawing/2014/main" val="2271553789"/>
                        </a:ext>
                      </a:extLst>
                    </a:gridCol>
                    <a:gridCol w="1169737">
                      <a:extLst>
                        <a:ext uri="{9D8B030D-6E8A-4147-A177-3AD203B41FA5}">
                          <a16:colId xmlns:a16="http://schemas.microsoft.com/office/drawing/2014/main" val="4278818863"/>
                        </a:ext>
                      </a:extLst>
                    </a:gridCol>
                    <a:gridCol w="1582394">
                      <a:extLst>
                        <a:ext uri="{9D8B030D-6E8A-4147-A177-3AD203B41FA5}">
                          <a16:colId xmlns:a16="http://schemas.microsoft.com/office/drawing/2014/main" val="4229831937"/>
                        </a:ext>
                      </a:extLst>
                    </a:gridCol>
                    <a:gridCol w="1408506">
                      <a:extLst>
                        <a:ext uri="{9D8B030D-6E8A-4147-A177-3AD203B41FA5}">
                          <a16:colId xmlns:a16="http://schemas.microsoft.com/office/drawing/2014/main" val="2387311592"/>
                        </a:ext>
                      </a:extLst>
                    </a:gridCol>
                  </a:tblGrid>
                  <a:tr h="332233">
                    <a:tc gridSpan="2"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IN" sz="1400">
                              <a:effectLst/>
                            </a:rPr>
                            <a:t>Fractal</a:t>
                          </a:r>
                          <a:endParaRPr lang="en-IN" sz="14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7261" marR="67261" marT="0" marB="0"/>
                    </a:tc>
                    <a:tc hMerge="1">
                      <a:txBody>
                        <a:bodyPr/>
                        <a:lstStyle/>
                        <a:p>
                          <a:endParaRPr lang="en-IN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Aft>
                              <a:spcPts val="8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400" b="1" i="1" smtClean="0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400" b="1" i="1" smtClean="0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𝑫</m:t>
                                    </m:r>
                                  </m:e>
                                  <m:sub>
                                    <m:r>
                                      <a:rPr lang="en-US" sz="1400" b="1" i="1" smtClean="0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𝒇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IN" sz="14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7261" marR="67261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IN" sz="1400">
                              <a:effectLst/>
                            </a:rPr>
                            <a:t>Rm/Rg</a:t>
                          </a:r>
                          <a:endParaRPr lang="en-IN" sz="14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7261" marR="67261" marT="0" marB="0"/>
                    </a:tc>
                    <a:extLst>
                      <a:ext uri="{0D108BD9-81ED-4DB2-BD59-A6C34878D82A}">
                        <a16:rowId xmlns:a16="http://schemas.microsoft.com/office/drawing/2014/main" val="1332453842"/>
                      </a:ext>
                    </a:extLst>
                  </a:tr>
                  <a:tr h="439619">
                    <a:tc rowSpan="4" gridSpan="2"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IN" sz="1400">
                              <a:effectLst/>
                            </a:rPr>
                            <a:t> </a:t>
                          </a:r>
                        </a:p>
                        <a:p>
                          <a:pPr algn="ctr">
                            <a:lnSpc>
                              <a:spcPct val="100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IN" sz="1400">
                              <a:effectLst/>
                            </a:rPr>
                            <a:t> </a:t>
                          </a:r>
                        </a:p>
                        <a:p>
                          <a:pPr algn="ctr">
                            <a:lnSpc>
                              <a:spcPct val="100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IN" sz="1400">
                              <a:effectLst/>
                            </a:rPr>
                            <a:t> </a:t>
                          </a:r>
                        </a:p>
                        <a:p>
                          <a:pPr algn="ctr">
                            <a:lnSpc>
                              <a:spcPct val="100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IN" sz="1400">
                              <a:effectLst/>
                            </a:rPr>
                            <a:t>Tunable Monte Carlo clusters</a:t>
                          </a:r>
                          <a:endParaRPr lang="en-IN" sz="14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7261" marR="67261" marT="0" marB="0"/>
                    </a:tc>
                    <a:tc rowSpan="4" hMerge="1">
                      <a:txBody>
                        <a:bodyPr/>
                        <a:lstStyle/>
                        <a:p>
                          <a:endParaRPr lang="en-IN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IN" sz="1400">
                              <a:effectLst/>
                            </a:rPr>
                            <a:t>1.76</a:t>
                          </a:r>
                          <a:endParaRPr lang="en-IN" sz="14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7261" marR="67261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IN" sz="1400">
                              <a:effectLst/>
                            </a:rPr>
                            <a:t>0.7934 ± 0.0029</a:t>
                          </a:r>
                          <a:endParaRPr lang="en-IN" sz="14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7261" marR="67261" marT="0" marB="0"/>
                    </a:tc>
                    <a:extLst>
                      <a:ext uri="{0D108BD9-81ED-4DB2-BD59-A6C34878D82A}">
                        <a16:rowId xmlns:a16="http://schemas.microsoft.com/office/drawing/2014/main" val="3212792873"/>
                      </a:ext>
                    </a:extLst>
                  </a:tr>
                  <a:tr h="439619">
                    <a:tc gridSpan="2" vMerge="1">
                      <a:txBody>
                        <a:bodyPr/>
                        <a:lstStyle/>
                        <a:p>
                          <a:endParaRPr lang="en-IN"/>
                        </a:p>
                      </a:txBody>
                      <a:tcPr/>
                    </a:tc>
                    <a:tc hMerge="1" vMerge="1">
                      <a:txBody>
                        <a:bodyPr/>
                        <a:lstStyle/>
                        <a:p>
                          <a:endParaRPr lang="en-IN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IN" sz="1400">
                              <a:effectLst/>
                            </a:rPr>
                            <a:t>1.99</a:t>
                          </a:r>
                          <a:endParaRPr lang="en-IN" sz="14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7261" marR="67261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IN" sz="1400">
                              <a:effectLst/>
                            </a:rPr>
                            <a:t>0.9435 ± 0.0021</a:t>
                          </a:r>
                          <a:endParaRPr lang="en-IN" sz="14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7261" marR="67261" marT="0" marB="0"/>
                    </a:tc>
                    <a:extLst>
                      <a:ext uri="{0D108BD9-81ED-4DB2-BD59-A6C34878D82A}">
                        <a16:rowId xmlns:a16="http://schemas.microsoft.com/office/drawing/2014/main" val="865604575"/>
                      </a:ext>
                    </a:extLst>
                  </a:tr>
                  <a:tr h="439619">
                    <a:tc gridSpan="2" vMerge="1">
                      <a:txBody>
                        <a:bodyPr/>
                        <a:lstStyle/>
                        <a:p>
                          <a:endParaRPr lang="en-IN"/>
                        </a:p>
                      </a:txBody>
                      <a:tcPr/>
                    </a:tc>
                    <a:tc hMerge="1" vMerge="1">
                      <a:txBody>
                        <a:bodyPr/>
                        <a:lstStyle/>
                        <a:p>
                          <a:endParaRPr lang="en-IN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IN" sz="1400">
                              <a:effectLst/>
                            </a:rPr>
                            <a:t>2.23</a:t>
                          </a:r>
                          <a:endParaRPr lang="en-IN" sz="14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7261" marR="67261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IN" sz="1400">
                              <a:effectLst/>
                            </a:rPr>
                            <a:t>1.0842 ± 0.0028</a:t>
                          </a:r>
                          <a:endParaRPr lang="en-IN" sz="14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7261" marR="67261" marT="0" marB="0"/>
                    </a:tc>
                    <a:extLst>
                      <a:ext uri="{0D108BD9-81ED-4DB2-BD59-A6C34878D82A}">
                        <a16:rowId xmlns:a16="http://schemas.microsoft.com/office/drawing/2014/main" val="3310369619"/>
                      </a:ext>
                    </a:extLst>
                  </a:tr>
                  <a:tr h="388937">
                    <a:tc gridSpan="2" vMerge="1">
                      <a:txBody>
                        <a:bodyPr/>
                        <a:lstStyle/>
                        <a:p>
                          <a:endParaRPr lang="en-IN"/>
                        </a:p>
                      </a:txBody>
                      <a:tcPr/>
                    </a:tc>
                    <a:tc hMerge="1" vMerge="1">
                      <a:txBody>
                        <a:bodyPr/>
                        <a:lstStyle/>
                        <a:p>
                          <a:endParaRPr lang="en-IN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IN" sz="1400">
                              <a:effectLst/>
                            </a:rPr>
                            <a:t>2.46</a:t>
                          </a:r>
                          <a:endParaRPr lang="en-IN" sz="14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7261" marR="67261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IN" sz="1400">
                              <a:effectLst/>
                            </a:rPr>
                            <a:t>1.173 ± 0.0027</a:t>
                          </a:r>
                          <a:endParaRPr lang="en-IN" sz="14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7261" marR="67261" marT="0" marB="0"/>
                    </a:tc>
                    <a:extLst>
                      <a:ext uri="{0D108BD9-81ED-4DB2-BD59-A6C34878D82A}">
                        <a16:rowId xmlns:a16="http://schemas.microsoft.com/office/drawing/2014/main" val="3105333666"/>
                      </a:ext>
                    </a:extLst>
                  </a:tr>
                  <a:tr h="439619">
                    <a:tc rowSpan="2"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IN" sz="1400">
                              <a:effectLst/>
                            </a:rPr>
                            <a:t> </a:t>
                          </a:r>
                        </a:p>
                        <a:p>
                          <a:pPr algn="ctr">
                            <a:lnSpc>
                              <a:spcPct val="100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IN" sz="1400">
                              <a:effectLst/>
                            </a:rPr>
                            <a:t>DLCCA</a:t>
                          </a:r>
                          <a:endParaRPr lang="en-IN" sz="14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7261" marR="67261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IN" sz="1400">
                              <a:effectLst/>
                            </a:rPr>
                            <a:t>C = 10</a:t>
                          </a:r>
                          <a:r>
                            <a:rPr lang="en-IN" sz="1400" baseline="30000">
                              <a:effectLst/>
                            </a:rPr>
                            <a:t>-3</a:t>
                          </a:r>
                          <a:endParaRPr lang="en-IN" sz="1400">
                            <a:effectLst/>
                          </a:endParaRPr>
                        </a:p>
                      </a:txBody>
                      <a:tcPr marL="67261" marR="67261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IN" sz="1400">
                              <a:effectLst/>
                            </a:rPr>
                            <a:t>1.84</a:t>
                          </a:r>
                          <a:endParaRPr lang="en-IN" sz="14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7261" marR="67261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IN" sz="1400">
                              <a:effectLst/>
                            </a:rPr>
                            <a:t>0.9389 ± 0.0159</a:t>
                          </a:r>
                          <a:endParaRPr lang="en-IN" sz="14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7261" marR="67261" marT="0" marB="0"/>
                    </a:tc>
                    <a:extLst>
                      <a:ext uri="{0D108BD9-81ED-4DB2-BD59-A6C34878D82A}">
                        <a16:rowId xmlns:a16="http://schemas.microsoft.com/office/drawing/2014/main" val="3224030612"/>
                      </a:ext>
                    </a:extLst>
                  </a:tr>
                  <a:tr h="388937">
                    <a:tc vMerge="1">
                      <a:txBody>
                        <a:bodyPr/>
                        <a:lstStyle/>
                        <a:p>
                          <a:endParaRPr lang="en-IN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IN" sz="1400">
                              <a:effectLst/>
                            </a:rPr>
                            <a:t>C = 10</a:t>
                          </a:r>
                          <a:r>
                            <a:rPr lang="en-IN" sz="1400" baseline="30000">
                              <a:effectLst/>
                            </a:rPr>
                            <a:t>-2</a:t>
                          </a:r>
                          <a:endParaRPr lang="en-IN" sz="1400">
                            <a:effectLst/>
                          </a:endParaRPr>
                        </a:p>
                      </a:txBody>
                      <a:tcPr marL="67261" marR="67261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IN" sz="1400">
                              <a:effectLst/>
                            </a:rPr>
                            <a:t>2.2</a:t>
                          </a:r>
                          <a:endParaRPr lang="en-IN" sz="14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7261" marR="67261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IN" sz="1400">
                              <a:effectLst/>
                            </a:rPr>
                            <a:t>1.089 ±0.0101</a:t>
                          </a:r>
                          <a:endParaRPr lang="en-IN" sz="14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7261" marR="67261" marT="0" marB="0"/>
                    </a:tc>
                    <a:extLst>
                      <a:ext uri="{0D108BD9-81ED-4DB2-BD59-A6C34878D82A}">
                        <a16:rowId xmlns:a16="http://schemas.microsoft.com/office/drawing/2014/main" val="4119241783"/>
                      </a:ext>
                    </a:extLst>
                  </a:tr>
                  <a:tr h="388937">
                    <a:tc gridSpan="2"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IN" sz="1400">
                              <a:effectLst/>
                            </a:rPr>
                            <a:t>DLA</a:t>
                          </a:r>
                          <a:endParaRPr lang="en-IN" sz="14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7261" marR="67261" marT="0" marB="0"/>
                    </a:tc>
                    <a:tc hMerge="1">
                      <a:txBody>
                        <a:bodyPr/>
                        <a:lstStyle/>
                        <a:p>
                          <a:endParaRPr lang="en-IN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IN" sz="1400">
                              <a:effectLst/>
                            </a:rPr>
                            <a:t>2.47</a:t>
                          </a:r>
                          <a:endParaRPr lang="en-IN" sz="14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7261" marR="67261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IN" sz="1400">
                              <a:effectLst/>
                            </a:rPr>
                            <a:t>1.238 ± 0.0059</a:t>
                          </a:r>
                          <a:endParaRPr lang="en-IN" sz="14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7261" marR="67261" marT="0" marB="0"/>
                    </a:tc>
                    <a:extLst>
                      <a:ext uri="{0D108BD9-81ED-4DB2-BD59-A6C34878D82A}">
                        <a16:rowId xmlns:a16="http://schemas.microsoft.com/office/drawing/2014/main" val="1359607635"/>
                      </a:ext>
                    </a:extLst>
                  </a:tr>
                  <a:tr h="388937">
                    <a:tc gridSpan="2"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IN" sz="1400">
                              <a:effectLst/>
                            </a:rPr>
                            <a:t>Vicsek</a:t>
                          </a:r>
                          <a:endParaRPr lang="en-IN" sz="14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7261" marR="67261" marT="0" marB="0"/>
                    </a:tc>
                    <a:tc hMerge="1">
                      <a:txBody>
                        <a:bodyPr/>
                        <a:lstStyle/>
                        <a:p>
                          <a:endParaRPr lang="en-IN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IN" sz="1400">
                              <a:effectLst/>
                            </a:rPr>
                            <a:t>1.75</a:t>
                          </a:r>
                          <a:endParaRPr lang="en-IN" sz="14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7261" marR="67261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IN" sz="1400">
                              <a:effectLst/>
                            </a:rPr>
                            <a:t>1.011 ± 0.0084</a:t>
                          </a:r>
                          <a:endParaRPr lang="en-IN" sz="14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7261" marR="67261" marT="0" marB="0"/>
                    </a:tc>
                    <a:extLst>
                      <a:ext uri="{0D108BD9-81ED-4DB2-BD59-A6C34878D82A}">
                        <a16:rowId xmlns:a16="http://schemas.microsoft.com/office/drawing/2014/main" val="4204981097"/>
                      </a:ext>
                    </a:extLst>
                  </a:tr>
                  <a:tr h="388937">
                    <a:tc gridSpan="2"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IN" sz="1400">
                              <a:effectLst/>
                            </a:rPr>
                            <a:t>Simple Cubic Unit</a:t>
                          </a:r>
                          <a:endParaRPr lang="en-IN" sz="14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7261" marR="67261" marT="0" marB="0"/>
                    </a:tc>
                    <a:tc hMerge="1">
                      <a:txBody>
                        <a:bodyPr/>
                        <a:lstStyle/>
                        <a:p>
                          <a:endParaRPr lang="en-IN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IN" sz="1400">
                              <a:effectLst/>
                            </a:rPr>
                            <a:t>3</a:t>
                          </a:r>
                          <a:endParaRPr lang="en-IN" sz="14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7261" marR="67261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IN" sz="1400">
                              <a:effectLst/>
                            </a:rPr>
                            <a:t>1.29 ± 0.0029</a:t>
                          </a:r>
                          <a:endParaRPr lang="en-IN" sz="14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7261" marR="67261" marT="0" marB="0"/>
                    </a:tc>
                    <a:extLst>
                      <a:ext uri="{0D108BD9-81ED-4DB2-BD59-A6C34878D82A}">
                        <a16:rowId xmlns:a16="http://schemas.microsoft.com/office/drawing/2014/main" val="146391991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Table 6">
                <a:extLst>
                  <a:ext uri="{FF2B5EF4-FFF2-40B4-BE49-F238E27FC236}">
                    <a16:creationId xmlns:a16="http://schemas.microsoft.com/office/drawing/2014/main" id="{165F32B8-0720-4A54-A0AA-975A15C204E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579840170"/>
                  </p:ext>
                </p:extLst>
              </p:nvPr>
            </p:nvGraphicFramePr>
            <p:xfrm>
              <a:off x="5394107" y="2081237"/>
              <a:ext cx="4816906" cy="4038314"/>
            </p:xfrm>
            <a:graphic>
              <a:graphicData uri="http://schemas.openxmlformats.org/drawingml/2006/table">
                <a:tbl>
                  <a:tblPr firstRow="1" firstCol="1" bandRow="1">
                    <a:tableStyleId>{0505E3EF-67EA-436B-97B2-0124C06EBD24}</a:tableStyleId>
                  </a:tblPr>
                  <a:tblGrid>
                    <a:gridCol w="656269">
                      <a:extLst>
                        <a:ext uri="{9D8B030D-6E8A-4147-A177-3AD203B41FA5}">
                          <a16:colId xmlns:a16="http://schemas.microsoft.com/office/drawing/2014/main" val="2271553789"/>
                        </a:ext>
                      </a:extLst>
                    </a:gridCol>
                    <a:gridCol w="1169737">
                      <a:extLst>
                        <a:ext uri="{9D8B030D-6E8A-4147-A177-3AD203B41FA5}">
                          <a16:colId xmlns:a16="http://schemas.microsoft.com/office/drawing/2014/main" val="4278818863"/>
                        </a:ext>
                      </a:extLst>
                    </a:gridCol>
                    <a:gridCol w="1582394">
                      <a:extLst>
                        <a:ext uri="{9D8B030D-6E8A-4147-A177-3AD203B41FA5}">
                          <a16:colId xmlns:a16="http://schemas.microsoft.com/office/drawing/2014/main" val="4229831937"/>
                        </a:ext>
                      </a:extLst>
                    </a:gridCol>
                    <a:gridCol w="1408506">
                      <a:extLst>
                        <a:ext uri="{9D8B030D-6E8A-4147-A177-3AD203B41FA5}">
                          <a16:colId xmlns:a16="http://schemas.microsoft.com/office/drawing/2014/main" val="2387311592"/>
                        </a:ext>
                      </a:extLst>
                    </a:gridCol>
                  </a:tblGrid>
                  <a:tr h="335153">
                    <a:tc gridSpan="2"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IN" sz="1400">
                              <a:effectLst/>
                            </a:rPr>
                            <a:t>Fractal</a:t>
                          </a:r>
                          <a:endParaRPr lang="en-IN" sz="14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7261" marR="67261" marT="0" marB="0"/>
                    </a:tc>
                    <a:tc hMerge="1">
                      <a:txBody>
                        <a:bodyPr/>
                        <a:lstStyle/>
                        <a:p>
                          <a:endParaRPr lang="en-IN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7261" marR="67261" marT="0" marB="0">
                        <a:blipFill>
                          <a:blip r:embed="rId4"/>
                          <a:stretch>
                            <a:fillRect l="-115769" t="-16364" r="-90000" b="-110909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IN" sz="1400">
                              <a:effectLst/>
                            </a:rPr>
                            <a:t>Rm/Rg</a:t>
                          </a:r>
                          <a:endParaRPr lang="en-IN" sz="14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7261" marR="67261" marT="0" marB="0"/>
                    </a:tc>
                    <a:extLst>
                      <a:ext uri="{0D108BD9-81ED-4DB2-BD59-A6C34878D82A}">
                        <a16:rowId xmlns:a16="http://schemas.microsoft.com/office/drawing/2014/main" val="1332453842"/>
                      </a:ext>
                    </a:extLst>
                  </a:tr>
                  <a:tr h="439619">
                    <a:tc rowSpan="4" gridSpan="2"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IN" sz="1400">
                              <a:effectLst/>
                            </a:rPr>
                            <a:t> </a:t>
                          </a:r>
                        </a:p>
                        <a:p>
                          <a:pPr algn="ctr">
                            <a:lnSpc>
                              <a:spcPct val="100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IN" sz="1400">
                              <a:effectLst/>
                            </a:rPr>
                            <a:t> </a:t>
                          </a:r>
                        </a:p>
                        <a:p>
                          <a:pPr algn="ctr">
                            <a:lnSpc>
                              <a:spcPct val="100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IN" sz="1400">
                              <a:effectLst/>
                            </a:rPr>
                            <a:t> </a:t>
                          </a:r>
                        </a:p>
                        <a:p>
                          <a:pPr algn="ctr">
                            <a:lnSpc>
                              <a:spcPct val="100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IN" sz="1400">
                              <a:effectLst/>
                            </a:rPr>
                            <a:t>Tunable Monte Carlo clusters</a:t>
                          </a:r>
                          <a:endParaRPr lang="en-IN" sz="14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7261" marR="67261" marT="0" marB="0"/>
                    </a:tc>
                    <a:tc rowSpan="4" hMerge="1">
                      <a:txBody>
                        <a:bodyPr/>
                        <a:lstStyle/>
                        <a:p>
                          <a:endParaRPr lang="en-IN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IN" sz="1400">
                              <a:effectLst/>
                            </a:rPr>
                            <a:t>1.76</a:t>
                          </a:r>
                          <a:endParaRPr lang="en-IN" sz="14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7261" marR="67261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IN" sz="1400">
                              <a:effectLst/>
                            </a:rPr>
                            <a:t>0.7934 ± 0.0029</a:t>
                          </a:r>
                          <a:endParaRPr lang="en-IN" sz="14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7261" marR="67261" marT="0" marB="0"/>
                    </a:tc>
                    <a:extLst>
                      <a:ext uri="{0D108BD9-81ED-4DB2-BD59-A6C34878D82A}">
                        <a16:rowId xmlns:a16="http://schemas.microsoft.com/office/drawing/2014/main" val="3212792873"/>
                      </a:ext>
                    </a:extLst>
                  </a:tr>
                  <a:tr h="439619">
                    <a:tc gridSpan="2" vMerge="1">
                      <a:txBody>
                        <a:bodyPr/>
                        <a:lstStyle/>
                        <a:p>
                          <a:endParaRPr lang="en-IN"/>
                        </a:p>
                      </a:txBody>
                      <a:tcPr/>
                    </a:tc>
                    <a:tc hMerge="1" vMerge="1">
                      <a:txBody>
                        <a:bodyPr/>
                        <a:lstStyle/>
                        <a:p>
                          <a:endParaRPr lang="en-IN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IN" sz="1400">
                              <a:effectLst/>
                            </a:rPr>
                            <a:t>1.99</a:t>
                          </a:r>
                          <a:endParaRPr lang="en-IN" sz="14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7261" marR="67261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IN" sz="1400">
                              <a:effectLst/>
                            </a:rPr>
                            <a:t>0.9435 ± 0.0021</a:t>
                          </a:r>
                          <a:endParaRPr lang="en-IN" sz="14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7261" marR="67261" marT="0" marB="0"/>
                    </a:tc>
                    <a:extLst>
                      <a:ext uri="{0D108BD9-81ED-4DB2-BD59-A6C34878D82A}">
                        <a16:rowId xmlns:a16="http://schemas.microsoft.com/office/drawing/2014/main" val="865604575"/>
                      </a:ext>
                    </a:extLst>
                  </a:tr>
                  <a:tr h="439619">
                    <a:tc gridSpan="2" vMerge="1">
                      <a:txBody>
                        <a:bodyPr/>
                        <a:lstStyle/>
                        <a:p>
                          <a:endParaRPr lang="en-IN"/>
                        </a:p>
                      </a:txBody>
                      <a:tcPr/>
                    </a:tc>
                    <a:tc hMerge="1" vMerge="1">
                      <a:txBody>
                        <a:bodyPr/>
                        <a:lstStyle/>
                        <a:p>
                          <a:endParaRPr lang="en-IN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IN" sz="1400">
                              <a:effectLst/>
                            </a:rPr>
                            <a:t>2.23</a:t>
                          </a:r>
                          <a:endParaRPr lang="en-IN" sz="14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7261" marR="67261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IN" sz="1400">
                              <a:effectLst/>
                            </a:rPr>
                            <a:t>1.0842 ± 0.0028</a:t>
                          </a:r>
                          <a:endParaRPr lang="en-IN" sz="14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7261" marR="67261" marT="0" marB="0"/>
                    </a:tc>
                    <a:extLst>
                      <a:ext uri="{0D108BD9-81ED-4DB2-BD59-A6C34878D82A}">
                        <a16:rowId xmlns:a16="http://schemas.microsoft.com/office/drawing/2014/main" val="3310369619"/>
                      </a:ext>
                    </a:extLst>
                  </a:tr>
                  <a:tr h="388937">
                    <a:tc gridSpan="2" vMerge="1">
                      <a:txBody>
                        <a:bodyPr/>
                        <a:lstStyle/>
                        <a:p>
                          <a:endParaRPr lang="en-IN"/>
                        </a:p>
                      </a:txBody>
                      <a:tcPr/>
                    </a:tc>
                    <a:tc hMerge="1" vMerge="1">
                      <a:txBody>
                        <a:bodyPr/>
                        <a:lstStyle/>
                        <a:p>
                          <a:endParaRPr lang="en-IN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IN" sz="1400">
                              <a:effectLst/>
                            </a:rPr>
                            <a:t>2.46</a:t>
                          </a:r>
                          <a:endParaRPr lang="en-IN" sz="14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7261" marR="67261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IN" sz="1400">
                              <a:effectLst/>
                            </a:rPr>
                            <a:t>1.173 ± 0.0027</a:t>
                          </a:r>
                          <a:endParaRPr lang="en-IN" sz="14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7261" marR="67261" marT="0" marB="0"/>
                    </a:tc>
                    <a:extLst>
                      <a:ext uri="{0D108BD9-81ED-4DB2-BD59-A6C34878D82A}">
                        <a16:rowId xmlns:a16="http://schemas.microsoft.com/office/drawing/2014/main" val="3105333666"/>
                      </a:ext>
                    </a:extLst>
                  </a:tr>
                  <a:tr h="439619">
                    <a:tc rowSpan="2"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IN" sz="1400">
                              <a:effectLst/>
                            </a:rPr>
                            <a:t> </a:t>
                          </a:r>
                        </a:p>
                        <a:p>
                          <a:pPr algn="ctr">
                            <a:lnSpc>
                              <a:spcPct val="100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IN" sz="1400">
                              <a:effectLst/>
                            </a:rPr>
                            <a:t>DLCCA</a:t>
                          </a:r>
                          <a:endParaRPr lang="en-IN" sz="14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7261" marR="67261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IN" sz="1400">
                              <a:effectLst/>
                            </a:rPr>
                            <a:t>C = 10</a:t>
                          </a:r>
                          <a:r>
                            <a:rPr lang="en-IN" sz="1400" baseline="30000">
                              <a:effectLst/>
                            </a:rPr>
                            <a:t>-3</a:t>
                          </a:r>
                          <a:endParaRPr lang="en-IN" sz="1400">
                            <a:effectLst/>
                          </a:endParaRPr>
                        </a:p>
                      </a:txBody>
                      <a:tcPr marL="67261" marR="67261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IN" sz="1400">
                              <a:effectLst/>
                            </a:rPr>
                            <a:t>1.84</a:t>
                          </a:r>
                          <a:endParaRPr lang="en-IN" sz="14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7261" marR="67261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IN" sz="1400">
                              <a:effectLst/>
                            </a:rPr>
                            <a:t>0.9389 ± 0.0159</a:t>
                          </a:r>
                          <a:endParaRPr lang="en-IN" sz="14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7261" marR="67261" marT="0" marB="0"/>
                    </a:tc>
                    <a:extLst>
                      <a:ext uri="{0D108BD9-81ED-4DB2-BD59-A6C34878D82A}">
                        <a16:rowId xmlns:a16="http://schemas.microsoft.com/office/drawing/2014/main" val="3224030612"/>
                      </a:ext>
                    </a:extLst>
                  </a:tr>
                  <a:tr h="388937">
                    <a:tc vMerge="1">
                      <a:txBody>
                        <a:bodyPr/>
                        <a:lstStyle/>
                        <a:p>
                          <a:endParaRPr lang="en-IN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IN" sz="1400">
                              <a:effectLst/>
                            </a:rPr>
                            <a:t>C = 10</a:t>
                          </a:r>
                          <a:r>
                            <a:rPr lang="en-IN" sz="1400" baseline="30000">
                              <a:effectLst/>
                            </a:rPr>
                            <a:t>-2</a:t>
                          </a:r>
                          <a:endParaRPr lang="en-IN" sz="1400">
                            <a:effectLst/>
                          </a:endParaRPr>
                        </a:p>
                      </a:txBody>
                      <a:tcPr marL="67261" marR="67261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IN" sz="1400">
                              <a:effectLst/>
                            </a:rPr>
                            <a:t>2.2</a:t>
                          </a:r>
                          <a:endParaRPr lang="en-IN" sz="14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7261" marR="67261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IN" sz="1400">
                              <a:effectLst/>
                            </a:rPr>
                            <a:t>1.089 ±0.0101</a:t>
                          </a:r>
                          <a:endParaRPr lang="en-IN" sz="14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7261" marR="67261" marT="0" marB="0"/>
                    </a:tc>
                    <a:extLst>
                      <a:ext uri="{0D108BD9-81ED-4DB2-BD59-A6C34878D82A}">
                        <a16:rowId xmlns:a16="http://schemas.microsoft.com/office/drawing/2014/main" val="4119241783"/>
                      </a:ext>
                    </a:extLst>
                  </a:tr>
                  <a:tr h="388937">
                    <a:tc gridSpan="2"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IN" sz="1400">
                              <a:effectLst/>
                            </a:rPr>
                            <a:t>DLA</a:t>
                          </a:r>
                          <a:endParaRPr lang="en-IN" sz="14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7261" marR="67261" marT="0" marB="0"/>
                    </a:tc>
                    <a:tc hMerge="1">
                      <a:txBody>
                        <a:bodyPr/>
                        <a:lstStyle/>
                        <a:p>
                          <a:endParaRPr lang="en-IN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IN" sz="1400">
                              <a:effectLst/>
                            </a:rPr>
                            <a:t>2.47</a:t>
                          </a:r>
                          <a:endParaRPr lang="en-IN" sz="14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7261" marR="67261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IN" sz="1400">
                              <a:effectLst/>
                            </a:rPr>
                            <a:t>1.238 ± 0.0059</a:t>
                          </a:r>
                          <a:endParaRPr lang="en-IN" sz="14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7261" marR="67261" marT="0" marB="0"/>
                    </a:tc>
                    <a:extLst>
                      <a:ext uri="{0D108BD9-81ED-4DB2-BD59-A6C34878D82A}">
                        <a16:rowId xmlns:a16="http://schemas.microsoft.com/office/drawing/2014/main" val="1359607635"/>
                      </a:ext>
                    </a:extLst>
                  </a:tr>
                  <a:tr h="388937">
                    <a:tc gridSpan="2"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IN" sz="1400">
                              <a:effectLst/>
                            </a:rPr>
                            <a:t>Vicsek</a:t>
                          </a:r>
                          <a:endParaRPr lang="en-IN" sz="14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7261" marR="67261" marT="0" marB="0"/>
                    </a:tc>
                    <a:tc hMerge="1">
                      <a:txBody>
                        <a:bodyPr/>
                        <a:lstStyle/>
                        <a:p>
                          <a:endParaRPr lang="en-IN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IN" sz="1400">
                              <a:effectLst/>
                            </a:rPr>
                            <a:t>1.75</a:t>
                          </a:r>
                          <a:endParaRPr lang="en-IN" sz="14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7261" marR="67261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IN" sz="1400">
                              <a:effectLst/>
                            </a:rPr>
                            <a:t>1.011 ± 0.0084</a:t>
                          </a:r>
                          <a:endParaRPr lang="en-IN" sz="14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7261" marR="67261" marT="0" marB="0"/>
                    </a:tc>
                    <a:extLst>
                      <a:ext uri="{0D108BD9-81ED-4DB2-BD59-A6C34878D82A}">
                        <a16:rowId xmlns:a16="http://schemas.microsoft.com/office/drawing/2014/main" val="4204981097"/>
                      </a:ext>
                    </a:extLst>
                  </a:tr>
                  <a:tr h="388937">
                    <a:tc gridSpan="2"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IN" sz="1400">
                              <a:effectLst/>
                            </a:rPr>
                            <a:t>Simple Cubic Unit</a:t>
                          </a:r>
                          <a:endParaRPr lang="en-IN" sz="14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7261" marR="67261" marT="0" marB="0"/>
                    </a:tc>
                    <a:tc hMerge="1">
                      <a:txBody>
                        <a:bodyPr/>
                        <a:lstStyle/>
                        <a:p>
                          <a:endParaRPr lang="en-IN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IN" sz="1400">
                              <a:effectLst/>
                            </a:rPr>
                            <a:t>3</a:t>
                          </a:r>
                          <a:endParaRPr lang="en-IN" sz="14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7261" marR="67261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IN" sz="1400">
                              <a:effectLst/>
                            </a:rPr>
                            <a:t>1.29 ± 0.0029</a:t>
                          </a:r>
                          <a:endParaRPr lang="en-IN" sz="14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7261" marR="67261" marT="0" marB="0"/>
                    </a:tc>
                    <a:extLst>
                      <a:ext uri="{0D108BD9-81ED-4DB2-BD59-A6C34878D82A}">
                        <a16:rowId xmlns:a16="http://schemas.microsoft.com/office/drawing/2014/main" val="1463919910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8" name="Left Brace 7">
            <a:extLst>
              <a:ext uri="{FF2B5EF4-FFF2-40B4-BE49-F238E27FC236}">
                <a16:creationId xmlns:a16="http://schemas.microsoft.com/office/drawing/2014/main" id="{21D1984C-A668-4931-B7F5-8BCED947BE9E}"/>
              </a:ext>
            </a:extLst>
          </p:cNvPr>
          <p:cNvSpPr/>
          <p:nvPr/>
        </p:nvSpPr>
        <p:spPr>
          <a:xfrm rot="10800000">
            <a:off x="10443729" y="2316011"/>
            <a:ext cx="282328" cy="1501245"/>
          </a:xfrm>
          <a:prstGeom prst="leftBrac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9C5D248-3E10-487D-8E2B-79A0D36F5D81}"/>
              </a:ext>
            </a:extLst>
          </p:cNvPr>
          <p:cNvSpPr txBox="1"/>
          <p:nvPr/>
        </p:nvSpPr>
        <p:spPr>
          <a:xfrm>
            <a:off x="10816869" y="2897356"/>
            <a:ext cx="162232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>
                <a:latin typeface="Arial" panose="020B0604020202020204" pitchFamily="34" charset="0"/>
                <a:cs typeface="Arial" panose="020B0604020202020204" pitchFamily="34" charset="0"/>
              </a:rPr>
              <a:t>Small error</a:t>
            </a:r>
            <a:endParaRPr lang="en-IN" sz="1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1C48C28-D509-4CEE-8754-176DF6E0CE8F}"/>
              </a:ext>
            </a:extLst>
          </p:cNvPr>
          <p:cNvSpPr/>
          <p:nvPr/>
        </p:nvSpPr>
        <p:spPr>
          <a:xfrm>
            <a:off x="174171" y="188686"/>
            <a:ext cx="11843657" cy="645885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E369F18-1B4C-4463-8A57-D1C9FB56DB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3CAD28-B1A9-4A64-9DD6-3376C7DEC3B0}" type="slidenum">
              <a:rPr lang="en-IN" smtClean="0"/>
              <a:t>21</a:t>
            </a:fld>
            <a:endParaRPr lang="en-I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47F00F90-FBFE-4D76-9F3E-083F1C73BEC4}"/>
                  </a:ext>
                </a:extLst>
              </p:cNvPr>
              <p:cNvSpPr txBox="1"/>
              <p:nvPr/>
            </p:nvSpPr>
            <p:spPr>
              <a:xfrm>
                <a:off x="3089959" y="4490884"/>
                <a:ext cx="1917930" cy="75713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00" i="1" smtClean="0">
                          <a:solidFill>
                            <a:srgbClr val="FF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●</m:t>
                      </m:r>
                      <m:r>
                        <a:rPr lang="en-US" sz="1000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IN" sz="10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10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US" sz="10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𝑓</m:t>
                          </m:r>
                        </m:sub>
                      </m:sSub>
                      <m:r>
                        <a:rPr lang="en-US" sz="1000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=2.46</m:t>
                      </m:r>
                    </m:oMath>
                  </m:oMathPara>
                </a14:m>
                <a:endParaRPr lang="en-IN" sz="100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00" i="1" smtClean="0">
                          <a:solidFill>
                            <a:srgbClr val="0617BA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▲</m:t>
                      </m:r>
                      <m:r>
                        <a:rPr lang="en-US" sz="1000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IN" sz="10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10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US" sz="10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𝑓</m:t>
                          </m:r>
                        </m:sub>
                      </m:sSub>
                      <m:r>
                        <a:rPr lang="en-US" sz="1000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=2.23</m:t>
                      </m:r>
                    </m:oMath>
                  </m:oMathPara>
                </a14:m>
                <a:endParaRPr lang="en-US" sz="1000" i="1">
                  <a:effectLst/>
                  <a:latin typeface="Cambria Math" panose="02040503050406030204" pitchFamily="18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00" i="1" smtClean="0">
                          <a:solidFill>
                            <a:srgbClr val="385623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▼</m:t>
                      </m:r>
                      <m:r>
                        <a:rPr lang="en-US" sz="1000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 −</m:t>
                      </m:r>
                      <m:sSub>
                        <m:sSubPr>
                          <m:ctrlPr>
                            <a:rPr lang="en-IN" sz="10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10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US" sz="10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𝑓</m:t>
                          </m:r>
                        </m:sub>
                      </m:sSub>
                      <m:r>
                        <a:rPr lang="en-US" sz="1000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=1.99</m:t>
                      </m:r>
                    </m:oMath>
                  </m:oMathPara>
                </a14:m>
                <a:endParaRPr lang="en-US" sz="1000" i="1">
                  <a:solidFill>
                    <a:srgbClr val="4472C4"/>
                  </a:solidFill>
                  <a:effectLst/>
                  <a:latin typeface="Cambria Math" panose="02040503050406030204" pitchFamily="18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00" i="1" smtClean="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∎−</m:t>
                      </m:r>
                      <m:sSub>
                        <m:sSubPr>
                          <m:ctrlPr>
                            <a:rPr lang="en-IN" sz="10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10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US" sz="10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𝑓</m:t>
                          </m:r>
                        </m:sub>
                      </m:sSub>
                      <m:r>
                        <a:rPr lang="en-US" sz="1000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=1.76</m:t>
                      </m:r>
                    </m:oMath>
                  </m:oMathPara>
                </a14:m>
                <a:endParaRPr lang="en-US" sz="1000" i="1">
                  <a:effectLst/>
                  <a:latin typeface="Cambria Math" panose="02040503050406030204" pitchFamily="18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47F00F90-FBFE-4D76-9F3E-083F1C73BE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89959" y="4490884"/>
                <a:ext cx="1917930" cy="75713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704986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4908"/>
    </mc:Choice>
    <mc:Fallback xmlns="">
      <p:transition spd="slow" advTm="34908"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6E74CA39-9854-46D7-B6D4-33E174C14CD0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649261" y="2120491"/>
            <a:ext cx="4394911" cy="351288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107348FD-33C5-42B8-99BD-97DC015FF0F3}"/>
                  </a:ext>
                </a:extLst>
              </p:cNvPr>
              <p:cNvSpPr txBox="1"/>
              <p:nvPr/>
            </p:nvSpPr>
            <p:spPr>
              <a:xfrm>
                <a:off x="2073961" y="434949"/>
                <a:ext cx="8044077" cy="144712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>
                  <a:lnSpc>
                    <a:spcPct val="150000"/>
                  </a:lnSpc>
                </a:pPr>
                <a:r>
                  <a:rPr lang="en-US" sz="2400" b="1">
                    <a:solidFill>
                      <a:srgbClr val="C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Hydrodynamic ratio and fractal dimension</a:t>
                </a:r>
              </a:p>
              <a:p>
                <a:pPr algn="ctr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160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160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1600" b="0" i="0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R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sz="1600" b="0" i="0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m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sz="160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1600" b="0" i="0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R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sz="1600" b="0" i="0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g</m:t>
                              </m:r>
                            </m:sub>
                          </m:sSub>
                        </m:den>
                      </m:f>
                      <m:r>
                        <a:rPr lang="en-US" sz="1600" b="0" i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1600" b="0" i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increases</m:t>
                      </m:r>
                      <m:r>
                        <a:rPr lang="en-US" sz="1600" b="0" i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1600" b="0" i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with</m:t>
                      </m:r>
                      <m:r>
                        <a:rPr lang="en-US" sz="1600" b="0" i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 </m:t>
                      </m:r>
                      <m:sSub>
                        <m:sSubPr>
                          <m:ctrlPr>
                            <a:rPr lang="en-US" sz="160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1600" b="0" i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D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1600" b="0" i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f</m:t>
                          </m:r>
                        </m:sub>
                      </m:sSub>
                    </m:oMath>
                  </m:oMathPara>
                </a14:m>
                <a:endParaRPr lang="en-US" sz="1600">
                  <a:solidFill>
                    <a:srgbClr val="C0000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107348FD-33C5-42B8-99BD-97DC015FF0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73961" y="434949"/>
                <a:ext cx="8044077" cy="144712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829C45E-1C68-4998-9E9B-03AE9CDCD736}"/>
                  </a:ext>
                </a:extLst>
              </p:cNvPr>
              <p:cNvSpPr txBox="1"/>
              <p:nvPr/>
            </p:nvSpPr>
            <p:spPr>
              <a:xfrm>
                <a:off x="5176908" y="2271081"/>
                <a:ext cx="6761017" cy="415197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sz="1600">
                    <a:latin typeface="Arial" panose="020B0604020202020204" pitchFamily="34" charset="0"/>
                    <a:cs typeface="Arial" panose="020B0604020202020204" pitchFamily="34" charset="0"/>
                  </a:rPr>
                  <a:t>Increases as fractal dimension increases</a:t>
                </a:r>
                <a:endParaRPr lang="en-US" sz="1600"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endParaRPr>
              </a:p>
              <a:p>
                <a:pPr marL="742950" lvl="1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sz="1600">
                    <a:latin typeface="Arial" panose="020B0604020202020204" pitchFamily="34" charset="0"/>
                    <a:cs typeface="Arial" panose="020B0604020202020204" pitchFamily="34" charset="0"/>
                  </a:rPr>
                  <a:t>DLCCA(</a:t>
                </a:r>
                <a14:m>
                  <m:oMath xmlns:m="http://schemas.openxmlformats.org/officeDocument/2006/math">
                    <m:r>
                      <a:rPr lang="en-US" sz="1600" i="1">
                        <a:solidFill>
                          <a:schemeClr val="accent2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▲</m:t>
                    </m:r>
                  </m:oMath>
                </a14:m>
                <a:r>
                  <a:rPr lang="en-US" sz="1600">
                    <a:latin typeface="Arial" panose="020B0604020202020204" pitchFamily="34" charset="0"/>
                    <a:cs typeface="Arial" panose="020B0604020202020204" pitchFamily="34" charset="0"/>
                  </a:rPr>
                  <a:t>) and Tunable CCA(</a:t>
                </a:r>
                <a14:m>
                  <m:oMath xmlns:m="http://schemas.openxmlformats.org/officeDocument/2006/math">
                    <m:r>
                      <a:rPr lang="en-US" sz="1600" i="1" smtClean="0">
                        <a:solidFill>
                          <a:schemeClr val="accent6">
                            <a:lumMod val="75000"/>
                          </a:schemeClr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●</m:t>
                    </m:r>
                  </m:oMath>
                </a14:m>
                <a:r>
                  <a:rPr lang="en-US" sz="1600">
                    <a:latin typeface="Arial" panose="020B0604020202020204" pitchFamily="34" charset="0"/>
                    <a:cs typeface="Arial" panose="020B0604020202020204" pitchFamily="34" charset="0"/>
                  </a:rPr>
                  <a:t>)</a:t>
                </a: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sz="1600" i="1">
                    <a:latin typeface="Arial" panose="020B0604020202020204" pitchFamily="34" charset="0"/>
                    <a:cs typeface="Arial" panose="020B0604020202020204" pitchFamily="34" charset="0"/>
                  </a:rPr>
                  <a:t>Simple cubic unit(</a:t>
                </a:r>
                <a14:m>
                  <m:oMath xmlns:m="http://schemas.openxmlformats.org/officeDocument/2006/math">
                    <m:r>
                      <a:rPr lang="en-US" sz="1600" i="1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◻</m:t>
                    </m:r>
                  </m:oMath>
                </a14:m>
                <a:r>
                  <a:rPr lang="en-US" sz="1600" i="1">
                    <a:latin typeface="Arial" panose="020B0604020202020204" pitchFamily="34" charset="0"/>
                    <a:cs typeface="Arial" panose="020B0604020202020204" pitchFamily="34" charset="0"/>
                  </a:rPr>
                  <a:t>)</a:t>
                </a:r>
                <a:r>
                  <a:rPr lang="en-US" sz="1600">
                    <a:latin typeface="Arial" panose="020B0604020202020204" pitchFamily="34" charset="0"/>
                    <a:cs typeface="Arial" panose="020B0604020202020204" pitchFamily="34" charset="0"/>
                  </a:rPr>
                  <a:t>: </a:t>
                </a:r>
                <a:r>
                  <a:rPr lang="en-US" sz="1600">
                    <a:solidFill>
                      <a:srgbClr val="C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Exactly 1.29 </a:t>
                </a:r>
                <a:r>
                  <a:rPr lang="en-US" sz="1600">
                    <a:latin typeface="Arial" panose="020B0604020202020204" pitchFamily="34" charset="0"/>
                    <a:cs typeface="Arial" panose="020B0604020202020204" pitchFamily="34" charset="0"/>
                  </a:rPr>
                  <a:t>as in all literatures when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sub>
                    </m:sSub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=3</m:t>
                    </m:r>
                  </m:oMath>
                </a14:m>
                <a:r>
                  <a:rPr lang="en-US" sz="1600" i="1">
                    <a:latin typeface="Arial" panose="020B0604020202020204" pitchFamily="34" charset="0"/>
                    <a:cs typeface="Arial" panose="020B0604020202020204" pitchFamily="34" charset="0"/>
                  </a:rPr>
                  <a:t>.</a:t>
                </a:r>
              </a:p>
              <a:p>
                <a:pPr algn="ctr">
                  <a:lnSpc>
                    <a:spcPct val="150000"/>
                  </a:lnSpc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𝑔</m:t>
                            </m:r>
                          </m:sub>
                        </m:sSub>
                      </m:den>
                    </m:f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sz="16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600" i="1">
                                    <a:latin typeface="Cambria Math" panose="02040503050406030204" pitchFamily="18" charset="0"/>
                                  </a:rPr>
                                  <m:t>𝐷</m:t>
                                </m:r>
                              </m:e>
                              <m:sub>
                                <m:r>
                                  <a:rPr lang="en-US" sz="1600" i="1"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</m:sub>
                            </m:sSub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+2</m:t>
                            </m:r>
                          </m:num>
                          <m:den>
                            <m:sSub>
                              <m:sSubPr>
                                <m:ctrlP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𝐷</m:t>
                                </m:r>
                              </m:e>
                              <m:sub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</m:sub>
                            </m:sSub>
                          </m:den>
                        </m:f>
                      </m:e>
                    </m:rad>
                  </m:oMath>
                </a14:m>
                <a:r>
                  <a:rPr lang="en-US" sz="1600" i="1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600">
                    <a:latin typeface="Arial" panose="020B0604020202020204" pitchFamily="34" charset="0"/>
                    <a:cs typeface="Arial" panose="020B0604020202020204" pitchFamily="34" charset="0"/>
                  </a:rPr>
                  <a:t>for spherical aggregates</a:t>
                </a:r>
                <a:endParaRPr lang="en-US" sz="1600" i="1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sz="1600" i="1">
                    <a:latin typeface="Arial" panose="020B0604020202020204" pitchFamily="34" charset="0"/>
                    <a:cs typeface="Arial" panose="020B0604020202020204" pitchFamily="34" charset="0"/>
                  </a:rPr>
                  <a:t>Vicsek(</a:t>
                </a:r>
                <a14:m>
                  <m:oMath xmlns:m="http://schemas.openxmlformats.org/officeDocument/2006/math">
                    <m:r>
                      <a:rPr lang="en-US" sz="1600" i="1" smtClean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○</m:t>
                    </m:r>
                  </m:oMath>
                </a14:m>
                <a:r>
                  <a:rPr lang="en-US" sz="1600" i="1">
                    <a:latin typeface="Arial" panose="020B0604020202020204" pitchFamily="34" charset="0"/>
                    <a:cs typeface="Arial" panose="020B0604020202020204" pitchFamily="34" charset="0"/>
                  </a:rPr>
                  <a:t>)</a:t>
                </a:r>
                <a:r>
                  <a:rPr lang="en-US" sz="1600">
                    <a:latin typeface="Arial" panose="020B0604020202020204" pitchFamily="34" charset="0"/>
                    <a:cs typeface="Arial" panose="020B0604020202020204" pitchFamily="34" charset="0"/>
                  </a:rPr>
                  <a:t>: Similar behavior observed by Filippov(2000) and exact values obtained by Seto et.al(2011)-SD</a:t>
                </a: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sz="1600" i="1">
                    <a:latin typeface="Arial" panose="020B0604020202020204" pitchFamily="34" charset="0"/>
                    <a:cs typeface="Arial" panose="020B0604020202020204" pitchFamily="34" charset="0"/>
                  </a:rPr>
                  <a:t>DLA(</a:t>
                </a:r>
                <a14:m>
                  <m:oMath xmlns:m="http://schemas.openxmlformats.org/officeDocument/2006/math">
                    <m:r>
                      <a:rPr lang="en-US" sz="1600" i="1" smtClean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◇</m:t>
                    </m:r>
                  </m:oMath>
                </a14:m>
                <a:r>
                  <a:rPr lang="en-US" sz="1600" i="1">
                    <a:latin typeface="Arial" panose="020B0604020202020204" pitchFamily="34" charset="0"/>
                    <a:cs typeface="Arial" panose="020B0604020202020204" pitchFamily="34" charset="0"/>
                  </a:rPr>
                  <a:t>)</a:t>
                </a:r>
                <a:r>
                  <a:rPr lang="en-US" sz="1600">
                    <a:latin typeface="Arial" panose="020B0604020202020204" pitchFamily="34" charset="0"/>
                    <a:cs typeface="Arial" panose="020B0604020202020204" pitchFamily="34" charset="0"/>
                  </a:rPr>
                  <a:t>: More branches at the exterior leading to higher values.</a:t>
                </a:r>
              </a:p>
              <a:p>
                <a:pPr marL="742950" lvl="1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endParaRPr lang="en-US" sz="160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>
                  <a:lnSpc>
                    <a:spcPct val="150000"/>
                  </a:lnSpc>
                </a:pPr>
                <a:endParaRPr lang="en-US" sz="160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>
                  <a:lnSpc>
                    <a:spcPct val="150000"/>
                  </a:lnSpc>
                </a:pPr>
                <a:endParaRPr lang="en-IN" sz="160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829C45E-1C68-4998-9E9B-03AE9CDCD7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76908" y="2271081"/>
                <a:ext cx="6761017" cy="4151970"/>
              </a:xfrm>
              <a:prstGeom prst="rect">
                <a:avLst/>
              </a:prstGeom>
              <a:blipFill>
                <a:blip r:embed="rId5"/>
                <a:stretch>
                  <a:fillRect l="-36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A8DE4893-3478-47F3-9927-464E13135653}"/>
                  </a:ext>
                </a:extLst>
              </p:cNvPr>
              <p:cNvSpPr txBox="1"/>
              <p:nvPr/>
            </p:nvSpPr>
            <p:spPr>
              <a:xfrm>
                <a:off x="254075" y="5657975"/>
                <a:ext cx="6098458" cy="48635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sz="900" i="1" smtClean="0">
                        <a:solidFill>
                          <a:srgbClr val="70AD47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 </m:t>
                    </m:r>
                    <m:box>
                      <m:boxPr>
                        <m:ctrlPr>
                          <a:rPr lang="en-US" sz="900" i="1">
                            <a:solidFill>
                              <a:srgbClr val="4472C4"/>
                            </a:solidFill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boxPr>
                      <m:e/>
                    </m:box>
                    <m:r>
                      <a:rPr lang="en-US" sz="900" i="1" smtClean="0">
                        <a:solidFill>
                          <a:schemeClr val="accent1"/>
                        </a:solidFill>
                        <a:effectLst/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◻</m:t>
                    </m:r>
                    <m:r>
                      <a:rPr lang="en-US" sz="9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−</m:t>
                    </m:r>
                    <m:r>
                      <a:rPr lang="en-US" sz="9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𝑠𝑖𝑚𝑝𝑙𝑒</m:t>
                    </m:r>
                    <m:r>
                      <a:rPr lang="en-US" sz="9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sz="9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𝑐𝑢𝑏𝑖𝑐</m:t>
                    </m:r>
                    <m:r>
                      <a:rPr lang="en-US" sz="9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sz="9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𝑢𝑛𝑖𝑡</m:t>
                    </m:r>
                    <m:r>
                      <a:rPr lang="en-US" sz="9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  ○−</m:t>
                    </m:r>
                    <m:r>
                      <a:rPr lang="en-US" sz="9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𝑉𝑖𝑐𝑠𝑒𝑘</m:t>
                    </m:r>
                    <m:r>
                      <a:rPr lang="en-US" sz="900" b="0" i="1" smtClean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  </m:t>
                    </m:r>
                    <m:r>
                      <a:rPr lang="en-US" sz="9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◇−</m:t>
                    </m:r>
                    <m:r>
                      <a:rPr lang="en-US" sz="9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𝐷𝐿𝐴</m:t>
                    </m:r>
                    <m:r>
                      <a:rPr lang="en-US" sz="9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 ▲−</m:t>
                    </m:r>
                    <m:r>
                      <a:rPr lang="en-US" sz="9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𝐷𝐿𝐶𝐶𝐴</m:t>
                    </m:r>
                    <m:d>
                      <m:dPr>
                        <m:ctrlPr>
                          <a:rPr lang="en-US" sz="9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9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𝛾</m:t>
                        </m:r>
                        <m:r>
                          <a:rPr lang="en-US" sz="9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=0</m:t>
                        </m:r>
                      </m:e>
                    </m:d>
                  </m:oMath>
                </a14:m>
                <a:r>
                  <a:rPr lang="en-US" sz="900" i="1">
                    <a:effectLst/>
                    <a:latin typeface="Cambria Math" panose="020405030504060302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900" b="0" i="1" smtClean="0">
                        <a:solidFill>
                          <a:schemeClr val="accent6">
                            <a:lumMod val="75000"/>
                          </a:schemeClr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sz="900" i="1" smtClean="0">
                        <a:solidFill>
                          <a:schemeClr val="accent6">
                            <a:lumMod val="75000"/>
                          </a:schemeClr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●</m:t>
                    </m:r>
                    <m:r>
                      <a:rPr lang="en-US" sz="9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−</m:t>
                    </m:r>
                    <m:r>
                      <a:rPr lang="en-US" sz="9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𝑇𝑢𝑛𝑎𝑏𝑙𝑒</m:t>
                    </m:r>
                    <m:r>
                      <a:rPr lang="en-US" sz="9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sz="9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𝑀𝑜𝑛𝑡𝑒</m:t>
                    </m:r>
                    <m:r>
                      <a:rPr lang="en-US" sz="9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sz="9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𝐶𝑎𝑟𝑙𝑜</m:t>
                    </m:r>
                  </m:oMath>
                </a14:m>
                <a:endParaRPr lang="en-IN" sz="900"/>
              </a:p>
              <a:p>
                <a:pPr algn="ctr">
                  <a:lnSpc>
                    <a:spcPct val="150000"/>
                  </a:lnSpc>
                </a:pPr>
                <a:r>
                  <a:rPr lang="en-IN" sz="900">
                    <a:solidFill>
                      <a:schemeClr val="accent2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▶</a:t>
                </a:r>
                <a:r>
                  <a:rPr lang="en-US" sz="900">
                    <a:solidFill>
                      <a:schemeClr val="accent2"/>
                    </a:solidFill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9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−</m:t>
                    </m:r>
                    <m:r>
                      <a:rPr lang="en-US" sz="9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𝐷𝐿𝐶𝐶𝐴</m:t>
                    </m:r>
                    <m:d>
                      <m:dPr>
                        <m:ctrlPr>
                          <a:rPr lang="en-US" sz="9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9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𝛾</m:t>
                        </m:r>
                        <m:r>
                          <a:rPr lang="en-US" sz="9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=−0.5</m:t>
                        </m:r>
                      </m:e>
                    </m:d>
                    <m:r>
                      <a:rPr lang="en-US" sz="9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sz="900" b="0" i="1" smtClean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n-IN" sz="900">
                    <a:solidFill>
                      <a:schemeClr val="accent2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◀</a:t>
                </a:r>
                <a:r>
                  <a:rPr lang="en-US" sz="900">
                    <a:solidFill>
                      <a:schemeClr val="accent2"/>
                    </a:solidFill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900" i="1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−</m:t>
                    </m:r>
                    <m:r>
                      <a:rPr lang="en-US" sz="900" i="1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𝐷𝐿𝐶𝐶𝐴</m:t>
                    </m:r>
                    <m:d>
                      <m:dPr>
                        <m:ctrlPr>
                          <a:rPr lang="en-US" sz="900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900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𝛾</m:t>
                        </m:r>
                        <m:r>
                          <a:rPr lang="en-US" sz="900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=0.5</m:t>
                        </m:r>
                      </m:e>
                    </m:d>
                  </m:oMath>
                </a14:m>
                <a:endParaRPr lang="en-IN" sz="900">
                  <a:solidFill>
                    <a:schemeClr val="accent2"/>
                  </a:solidFill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A8DE4893-3478-47F3-9927-464E131356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4075" y="5657975"/>
                <a:ext cx="6098458" cy="486352"/>
              </a:xfrm>
              <a:prstGeom prst="rect">
                <a:avLst/>
              </a:prstGeom>
              <a:blipFill>
                <a:blip r:embed="rId6"/>
                <a:stretch>
                  <a:fillRect b="-375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Rectangle 10">
            <a:extLst>
              <a:ext uri="{FF2B5EF4-FFF2-40B4-BE49-F238E27FC236}">
                <a16:creationId xmlns:a16="http://schemas.microsoft.com/office/drawing/2014/main" id="{6F35D51D-1576-458D-A8ED-2945D7359C96}"/>
              </a:ext>
            </a:extLst>
          </p:cNvPr>
          <p:cNvSpPr/>
          <p:nvPr/>
        </p:nvSpPr>
        <p:spPr>
          <a:xfrm>
            <a:off x="174171" y="188686"/>
            <a:ext cx="11843657" cy="645885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50E2C02-16AC-494A-AF45-981633EC47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3CAD28-B1A9-4A64-9DD6-3376C7DEC3B0}" type="slidenum">
              <a:rPr lang="en-IN" smtClean="0"/>
              <a:t>22</a:t>
            </a:fld>
            <a:endParaRPr lang="en-I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8FF6C0F-DBAA-4D1A-B249-C9912C510E6F}"/>
              </a:ext>
            </a:extLst>
          </p:cNvPr>
          <p:cNvSpPr txBox="1"/>
          <p:nvPr/>
        </p:nvSpPr>
        <p:spPr>
          <a:xfrm>
            <a:off x="174171" y="6351252"/>
            <a:ext cx="207952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/>
              <a:t>*Gmachowski(1995)</a:t>
            </a:r>
            <a:endParaRPr lang="en-IN" sz="1200"/>
          </a:p>
        </p:txBody>
      </p:sp>
    </p:spTree>
    <p:extLst>
      <p:ext uri="{BB962C8B-B14F-4D97-AF65-F5344CB8AC3E}">
        <p14:creationId xmlns:p14="http://schemas.microsoft.com/office/powerpoint/2010/main" val="39499504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1899"/>
    </mc:Choice>
    <mc:Fallback xmlns="">
      <p:transition spd="slow" advTm="51899"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578EBD7-AD03-42CC-AE17-6378D6A034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829" y="1966949"/>
            <a:ext cx="4591375" cy="387160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467AE137-03BD-4B44-97D1-ED0E2B9EF5D8}"/>
                  </a:ext>
                </a:extLst>
              </p:cNvPr>
              <p:cNvSpPr txBox="1"/>
              <p:nvPr/>
            </p:nvSpPr>
            <p:spPr>
              <a:xfrm>
                <a:off x="5369522" y="1966949"/>
                <a:ext cx="5814277" cy="532402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600" i="1">
                    <a:solidFill>
                      <a:srgbClr val="C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Numerical simulations</a:t>
                </a:r>
              </a:p>
              <a:p>
                <a:endParaRPr lang="en-US" sz="1600" i="1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endParaRPr lang="en-US" sz="160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endParaRPr lang="en-US" sz="160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endParaRPr lang="en-US" sz="1600" i="1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r>
                  <a:rPr lang="en-US" sz="1600" i="1">
                    <a:solidFill>
                      <a:srgbClr val="C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Kirkwood-Riseman</a:t>
                </a:r>
              </a:p>
              <a:p>
                <a:r>
                  <a:rPr lang="en-US" sz="1600">
                    <a:latin typeface="Arial" panose="020B0604020202020204" pitchFamily="34" charset="0"/>
                    <a:cs typeface="Arial" panose="020B0604020202020204" pitchFamily="34" charset="0"/>
                  </a:rPr>
                  <a:t>-Chen(1988) </a:t>
                </a:r>
              </a:p>
              <a:p>
                <a:endParaRPr lang="en-US" sz="160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endParaRPr lang="en-US" sz="160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endParaRPr lang="en-US" sz="160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endParaRPr lang="en-US" sz="160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endParaRPr lang="en-US" sz="1600" i="1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sz="1600" i="1">
                    <a:solidFill>
                      <a:srgbClr val="C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Porous sphere model</a:t>
                </a:r>
                <a:r>
                  <a:rPr lang="en-US" sz="1600" i="1">
                    <a:latin typeface="Arial" panose="020B0604020202020204" pitchFamily="34" charset="0"/>
                    <a:cs typeface="Arial" panose="020B0604020202020204" pitchFamily="34" charset="0"/>
                  </a:rPr>
                  <a:t>: </a:t>
                </a:r>
                <a:r>
                  <a:rPr lang="en-US" sz="1600">
                    <a:latin typeface="Arial" panose="020B0604020202020204" pitchFamily="34" charset="0"/>
                    <a:cs typeface="Arial" panose="020B0604020202020204" pitchFamily="34" charset="0"/>
                  </a:rPr>
                  <a:t>Gmachowski(1995) - CCA</a:t>
                </a:r>
              </a:p>
              <a:p>
                <a:r>
                  <a:rPr lang="en-US" sz="1600" i="1">
                    <a:solidFill>
                      <a:srgbClr val="C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Experiment</a:t>
                </a:r>
                <a:r>
                  <a:rPr lang="en-US" sz="1600" i="1">
                    <a:latin typeface="Arial" panose="020B0604020202020204" pitchFamily="34" charset="0"/>
                    <a:cs typeface="Arial" panose="020B0604020202020204" pitchFamily="34" charset="0"/>
                  </a:rPr>
                  <a:t>: </a:t>
                </a:r>
              </a:p>
              <a:p>
                <a:pPr lvl="1"/>
                <a:r>
                  <a:rPr lang="en-US" sz="1600" i="1">
                    <a:latin typeface="Arial" panose="020B0604020202020204" pitchFamily="34" charset="0"/>
                    <a:cs typeface="Arial" panose="020B0604020202020204" pitchFamily="34" charset="0"/>
                  </a:rPr>
                  <a:t>-</a:t>
                </a:r>
                <a:r>
                  <a:rPr lang="en-US" sz="1600">
                    <a:latin typeface="Arial" panose="020B0604020202020204" pitchFamily="34" charset="0"/>
                    <a:cs typeface="Arial" panose="020B0604020202020204" pitchFamily="34" charset="0"/>
                  </a:rPr>
                  <a:t>Wiltzus(1972) was first to determine experimentally with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1600" b="0" i="0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R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sz="1600" b="0" i="0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m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1600" b="0" i="0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R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sz="1600" b="0" i="0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g</m:t>
                            </m:r>
                          </m:sub>
                        </m:sSub>
                      </m:den>
                    </m:f>
                    <m:r>
                      <a:rPr lang="en-US" sz="1600" b="0" i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=0.72</m:t>
                    </m:r>
                  </m:oMath>
                </a14:m>
                <a:r>
                  <a:rPr lang="en-US" sz="1600">
                    <a:latin typeface="Arial" panose="020B0604020202020204" pitchFamily="34" charset="0"/>
                    <a:cs typeface="Arial" panose="020B0604020202020204" pitchFamily="34" charset="0"/>
                  </a:rPr>
                  <a:t> 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1600" b="0" i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D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1600" b="0" i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f</m:t>
                        </m:r>
                      </m:sub>
                    </m:sSub>
                    <m:r>
                      <a:rPr lang="en-US" sz="1600" b="0" i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=2.1</m:t>
                    </m:r>
                  </m:oMath>
                </a14:m>
                <a:endParaRPr lang="en-US" sz="160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lvl="1"/>
                <a:r>
                  <a:rPr lang="en-US" sz="1600">
                    <a:latin typeface="Arial" panose="020B0604020202020204" pitchFamily="34" charset="0"/>
                    <a:cs typeface="Arial" panose="020B0604020202020204" pitchFamily="34" charset="0"/>
                  </a:rPr>
                  <a:t>- Wang(1999) values are close at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𝐷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𝑓</m:t>
                        </m:r>
                      </m:sub>
                    </m:sSub>
                    <m:r>
                      <a:rPr lang="en-US" sz="16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=2.15</m:t>
                    </m:r>
                  </m:oMath>
                </a14:m>
                <a:endParaRPr lang="en-US" sz="160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endParaRPr lang="en-US" sz="160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endParaRPr lang="en-US" sz="160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endParaRPr lang="en-IN" sz="160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467AE137-03BD-4B44-97D1-ED0E2B9EF5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69522" y="1966949"/>
                <a:ext cx="5814277" cy="5324022"/>
              </a:xfrm>
              <a:prstGeom prst="rect">
                <a:avLst/>
              </a:prstGeom>
              <a:blipFill>
                <a:blip r:embed="rId3"/>
                <a:stretch>
                  <a:fillRect l="-629" t="-34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26EC5F8F-7004-46F0-80B0-A051B270EEF2}"/>
              </a:ext>
            </a:extLst>
          </p:cNvPr>
          <p:cNvSpPr txBox="1"/>
          <p:nvPr/>
        </p:nvSpPr>
        <p:spPr>
          <a:xfrm>
            <a:off x="2073961" y="434949"/>
            <a:ext cx="8044077" cy="13855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2400" b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Hydrodynamic ratio and fractal dimension</a:t>
            </a:r>
          </a:p>
          <a:p>
            <a:pPr algn="ctr">
              <a:lnSpc>
                <a:spcPct val="150000"/>
              </a:lnSpc>
            </a:pPr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Comparison with previous works</a:t>
            </a:r>
          </a:p>
          <a:p>
            <a:pPr algn="ctr">
              <a:lnSpc>
                <a:spcPct val="150000"/>
              </a:lnSpc>
            </a:pPr>
            <a:r>
              <a:rPr lang="en-US" sz="1600" i="1">
                <a:latin typeface="Arial" panose="020B0604020202020204" pitchFamily="34" charset="0"/>
                <a:cs typeface="Arial" panose="020B0604020202020204" pitchFamily="34" charset="0"/>
              </a:rPr>
              <a:t>Numerical simulations, Kirkwood-Riseman, porous sphere models, experiments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Table 5">
                <a:extLst>
                  <a:ext uri="{FF2B5EF4-FFF2-40B4-BE49-F238E27FC236}">
                    <a16:creationId xmlns:a16="http://schemas.microsoft.com/office/drawing/2014/main" id="{73A0EEE9-FD9A-4226-BE72-6B536C7099E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800495903"/>
                  </p:ext>
                </p:extLst>
              </p:nvPr>
            </p:nvGraphicFramePr>
            <p:xfrm>
              <a:off x="6095998" y="2313847"/>
              <a:ext cx="4855572" cy="883920"/>
            </p:xfrm>
            <a:graphic>
              <a:graphicData uri="http://schemas.openxmlformats.org/drawingml/2006/table">
                <a:tbl>
                  <a:tblPr firstRow="1" bandRow="1">
                    <a:tableStyleId>{0505E3EF-67EA-436B-97B2-0124C06EBD24}</a:tableStyleId>
                  </a:tblPr>
                  <a:tblGrid>
                    <a:gridCol w="1213893">
                      <a:extLst>
                        <a:ext uri="{9D8B030D-6E8A-4147-A177-3AD203B41FA5}">
                          <a16:colId xmlns:a16="http://schemas.microsoft.com/office/drawing/2014/main" val="1470064997"/>
                        </a:ext>
                      </a:extLst>
                    </a:gridCol>
                    <a:gridCol w="1213893">
                      <a:extLst>
                        <a:ext uri="{9D8B030D-6E8A-4147-A177-3AD203B41FA5}">
                          <a16:colId xmlns:a16="http://schemas.microsoft.com/office/drawing/2014/main" val="2829479143"/>
                        </a:ext>
                      </a:extLst>
                    </a:gridCol>
                    <a:gridCol w="1213893">
                      <a:extLst>
                        <a:ext uri="{9D8B030D-6E8A-4147-A177-3AD203B41FA5}">
                          <a16:colId xmlns:a16="http://schemas.microsoft.com/office/drawing/2014/main" val="3489025652"/>
                        </a:ext>
                      </a:extLst>
                    </a:gridCol>
                    <a:gridCol w="1213893">
                      <a:extLst>
                        <a:ext uri="{9D8B030D-6E8A-4147-A177-3AD203B41FA5}">
                          <a16:colId xmlns:a16="http://schemas.microsoft.com/office/drawing/2014/main" val="3855014262"/>
                        </a:ext>
                      </a:extLst>
                    </a:gridCol>
                  </a:tblGrid>
                  <a:tr h="274186">
                    <a:tc>
                      <a:txBody>
                        <a:bodyPr/>
                        <a:lstStyle/>
                        <a:p>
                          <a:r>
                            <a:rPr lang="en-US" sz="1000" b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Chopard et.al (2006)</a:t>
                          </a:r>
                          <a:endParaRPr lang="en-IN" sz="1000" b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000" b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LBM</a:t>
                          </a:r>
                          <a:endParaRPr lang="en-IN" sz="1000" b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/>
                    </a:tc>
                    <a:tc rowSpan="3">
                      <a:txBody>
                        <a:bodyPr/>
                        <a:lstStyle/>
                        <a:p>
                          <a:pPr algn="ctr"/>
                          <a:endParaRPr lang="en-US" sz="1000" b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  <a:p>
                          <a:pPr algn="ctr"/>
                          <a:r>
                            <a:rPr lang="en-US" sz="1000" b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Tunable CCA</a:t>
                          </a:r>
                          <a:endParaRPr lang="en-IN" sz="1000" b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00" b="0" i="1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100</m:t>
                                </m:r>
                                <m:r>
                                  <a:rPr lang="en-US" sz="1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≤</m:t>
                                </m:r>
                                <m:r>
                                  <a:rPr lang="en-US" sz="1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𝑁</m:t>
                                </m:r>
                                <m:r>
                                  <a:rPr lang="en-US" sz="1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≤20000</m:t>
                                </m:r>
                              </m:oMath>
                            </m:oMathPara>
                          </a14:m>
                          <a:endParaRPr lang="en-IN" sz="1000" b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516349205"/>
                      </a:ext>
                    </a:extLst>
                  </a:tr>
                  <a:tr h="213311">
                    <a:tc>
                      <a:txBody>
                        <a:bodyPr/>
                        <a:lstStyle/>
                        <a:p>
                          <a:r>
                            <a:rPr lang="en-US" sz="1000" b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Lattuada(2010)</a:t>
                          </a:r>
                          <a:endParaRPr lang="en-IN" sz="1000" b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/>
                    </a:tc>
                    <a:tc rowSpan="2">
                      <a:txBody>
                        <a:bodyPr/>
                        <a:lstStyle/>
                        <a:p>
                          <a:r>
                            <a:rPr lang="en-US" sz="1000" b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SD</a:t>
                          </a:r>
                          <a:endParaRPr lang="en-IN" sz="1000" b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IN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b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N&lt;1000</a:t>
                          </a:r>
                          <a:endParaRPr lang="en-IN" sz="1000" b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932501591"/>
                      </a:ext>
                    </a:extLst>
                  </a:tr>
                  <a:tr h="197763">
                    <a:tc>
                      <a:txBody>
                        <a:bodyPr/>
                        <a:lstStyle/>
                        <a:p>
                          <a:r>
                            <a:rPr lang="en-US" sz="1000" b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Fellay(2013)</a:t>
                          </a:r>
                          <a:endParaRPr lang="en-IN" sz="1000" b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r>
                            <a:rPr lang="en-US"/>
                            <a:t>SD</a:t>
                          </a:r>
                          <a:endParaRPr lang="en-IN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IN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IN" sz="1000" b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4622534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Table 5">
                <a:extLst>
                  <a:ext uri="{FF2B5EF4-FFF2-40B4-BE49-F238E27FC236}">
                    <a16:creationId xmlns:a16="http://schemas.microsoft.com/office/drawing/2014/main" id="{73A0EEE9-FD9A-4226-BE72-6B536C7099E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800495903"/>
                  </p:ext>
                </p:extLst>
              </p:nvPr>
            </p:nvGraphicFramePr>
            <p:xfrm>
              <a:off x="6095998" y="2313847"/>
              <a:ext cx="4855572" cy="883920"/>
            </p:xfrm>
            <a:graphic>
              <a:graphicData uri="http://schemas.openxmlformats.org/drawingml/2006/table">
                <a:tbl>
                  <a:tblPr firstRow="1" bandRow="1">
                    <a:tableStyleId>{0505E3EF-67EA-436B-97B2-0124C06EBD24}</a:tableStyleId>
                  </a:tblPr>
                  <a:tblGrid>
                    <a:gridCol w="1213893">
                      <a:extLst>
                        <a:ext uri="{9D8B030D-6E8A-4147-A177-3AD203B41FA5}">
                          <a16:colId xmlns:a16="http://schemas.microsoft.com/office/drawing/2014/main" val="1470064997"/>
                        </a:ext>
                      </a:extLst>
                    </a:gridCol>
                    <a:gridCol w="1213893">
                      <a:extLst>
                        <a:ext uri="{9D8B030D-6E8A-4147-A177-3AD203B41FA5}">
                          <a16:colId xmlns:a16="http://schemas.microsoft.com/office/drawing/2014/main" val="2829479143"/>
                        </a:ext>
                      </a:extLst>
                    </a:gridCol>
                    <a:gridCol w="1213893">
                      <a:extLst>
                        <a:ext uri="{9D8B030D-6E8A-4147-A177-3AD203B41FA5}">
                          <a16:colId xmlns:a16="http://schemas.microsoft.com/office/drawing/2014/main" val="3489025652"/>
                        </a:ext>
                      </a:extLst>
                    </a:gridCol>
                    <a:gridCol w="1213893">
                      <a:extLst>
                        <a:ext uri="{9D8B030D-6E8A-4147-A177-3AD203B41FA5}">
                          <a16:colId xmlns:a16="http://schemas.microsoft.com/office/drawing/2014/main" val="3855014262"/>
                        </a:ext>
                      </a:extLst>
                    </a:gridCol>
                  </a:tblGrid>
                  <a:tr h="396240">
                    <a:tc>
                      <a:txBody>
                        <a:bodyPr/>
                        <a:lstStyle/>
                        <a:p>
                          <a:r>
                            <a:rPr lang="en-US" sz="1000" b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Chopard et.al (2006)</a:t>
                          </a:r>
                          <a:endParaRPr lang="en-IN" sz="1000" b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000" b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LBM</a:t>
                          </a:r>
                          <a:endParaRPr lang="en-IN" sz="1000" b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/>
                    </a:tc>
                    <a:tc rowSpan="3">
                      <a:txBody>
                        <a:bodyPr/>
                        <a:lstStyle/>
                        <a:p>
                          <a:pPr algn="ctr"/>
                          <a:endParaRPr lang="en-US" sz="1000" b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  <a:p>
                          <a:pPr algn="ctr"/>
                          <a:r>
                            <a:rPr lang="en-US" sz="1000" b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Tunable CCA</a:t>
                          </a:r>
                          <a:endParaRPr lang="en-IN" sz="1000" b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301508" t="-1538" r="-1005" b="-13076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516349205"/>
                      </a:ext>
                    </a:extLst>
                  </a:tr>
                  <a:tr h="243840">
                    <a:tc>
                      <a:txBody>
                        <a:bodyPr/>
                        <a:lstStyle/>
                        <a:p>
                          <a:r>
                            <a:rPr lang="en-US" sz="1000" b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Lattuada(2010)</a:t>
                          </a:r>
                          <a:endParaRPr lang="en-IN" sz="1000" b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/>
                    </a:tc>
                    <a:tc rowSpan="2">
                      <a:txBody>
                        <a:bodyPr/>
                        <a:lstStyle/>
                        <a:p>
                          <a:r>
                            <a:rPr lang="en-US" sz="1000" b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SD</a:t>
                          </a:r>
                          <a:endParaRPr lang="en-IN" sz="1000" b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IN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b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N&lt;1000</a:t>
                          </a:r>
                          <a:endParaRPr lang="en-IN" sz="1000" b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932501591"/>
                      </a:ext>
                    </a:extLst>
                  </a:tr>
                  <a:tr h="243840">
                    <a:tc>
                      <a:txBody>
                        <a:bodyPr/>
                        <a:lstStyle/>
                        <a:p>
                          <a:r>
                            <a:rPr lang="en-US" sz="1000" b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Fellay(2013)</a:t>
                          </a:r>
                          <a:endParaRPr lang="en-IN" sz="1000" b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r>
                            <a:rPr lang="en-US"/>
                            <a:t>SD</a:t>
                          </a:r>
                          <a:endParaRPr lang="en-IN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IN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IN" sz="1000" b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46225349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Table 6">
                <a:extLst>
                  <a:ext uri="{FF2B5EF4-FFF2-40B4-BE49-F238E27FC236}">
                    <a16:creationId xmlns:a16="http://schemas.microsoft.com/office/drawing/2014/main" id="{900D81C0-EED9-4A1B-85D2-59A720F890B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331676678"/>
                  </p:ext>
                </p:extLst>
              </p:nvPr>
            </p:nvGraphicFramePr>
            <p:xfrm>
              <a:off x="6842695" y="3611199"/>
              <a:ext cx="3652465" cy="1188720"/>
            </p:xfrm>
            <a:graphic>
              <a:graphicData uri="http://schemas.openxmlformats.org/drawingml/2006/table">
                <a:tbl>
                  <a:tblPr firstRow="1" bandRow="1">
                    <a:tableStyleId>{0505E3EF-67EA-436B-97B2-0124C06EBD24}</a:tableStyleId>
                  </a:tblPr>
                  <a:tblGrid>
                    <a:gridCol w="721496">
                      <a:extLst>
                        <a:ext uri="{9D8B030D-6E8A-4147-A177-3AD203B41FA5}">
                          <a16:colId xmlns:a16="http://schemas.microsoft.com/office/drawing/2014/main" val="993352565"/>
                        </a:ext>
                      </a:extLst>
                    </a:gridCol>
                    <a:gridCol w="815948">
                      <a:extLst>
                        <a:ext uri="{9D8B030D-6E8A-4147-A177-3AD203B41FA5}">
                          <a16:colId xmlns:a16="http://schemas.microsoft.com/office/drawing/2014/main" val="2334753313"/>
                        </a:ext>
                      </a:extLst>
                    </a:gridCol>
                    <a:gridCol w="1201905">
                      <a:extLst>
                        <a:ext uri="{9D8B030D-6E8A-4147-A177-3AD203B41FA5}">
                          <a16:colId xmlns:a16="http://schemas.microsoft.com/office/drawing/2014/main" val="3953054986"/>
                        </a:ext>
                      </a:extLst>
                    </a:gridCol>
                    <a:gridCol w="913116">
                      <a:extLst>
                        <a:ext uri="{9D8B030D-6E8A-4147-A177-3AD203B41FA5}">
                          <a16:colId xmlns:a16="http://schemas.microsoft.com/office/drawing/2014/main" val="2080937647"/>
                        </a:ext>
                      </a:extLst>
                    </a:gridCol>
                  </a:tblGrid>
                  <a:tr h="248014">
                    <a:tc>
                      <a:txBody>
                        <a:bodyPr/>
                        <a:lstStyle/>
                        <a:p>
                          <a:r>
                            <a:rPr lang="en-US" sz="1000" b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DLA</a:t>
                          </a:r>
                          <a:endParaRPr lang="en-IN" sz="1000" b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000" b="0" i="1" smtClean="0">
                                        <a:latin typeface="Cambria Math" panose="02040503050406030204" pitchFamily="18" charset="0"/>
                                      </a:rPr>
                                      <m:t>𝐷</m:t>
                                    </m:r>
                                  </m:e>
                                  <m:sub>
                                    <m:r>
                                      <a:rPr lang="en-US" sz="1000" b="0" i="1" smtClean="0"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</m:sub>
                                </m:sSub>
                                <m:r>
                                  <a:rPr lang="en-US" sz="1000" b="0" i="1" smtClean="0">
                                    <a:latin typeface="Cambria Math" panose="02040503050406030204" pitchFamily="18" charset="0"/>
                                  </a:rPr>
                                  <m:t>=2.44</m:t>
                                </m:r>
                              </m:oMath>
                            </m:oMathPara>
                          </a14:m>
                          <a:endParaRPr lang="en-IN" sz="1000" b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00" b="0" i="1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100</m:t>
                                </m:r>
                                <m:r>
                                  <a:rPr lang="en-US" sz="1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≤</m:t>
                                </m:r>
                                <m:r>
                                  <a:rPr lang="en-US" sz="1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𝑁</m:t>
                                </m:r>
                                <m:r>
                                  <a:rPr lang="en-US" sz="1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≤900</m:t>
                                </m:r>
                              </m:oMath>
                            </m:oMathPara>
                          </a14:m>
                          <a:endParaRPr lang="en-IN" sz="1000" b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000" b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Our value – 1.24</a:t>
                          </a:r>
                          <a:endParaRPr lang="en-IN" sz="1000" b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398152660"/>
                      </a:ext>
                    </a:extLst>
                  </a:tr>
                  <a:tr h="253956">
                    <a:tc>
                      <a:txBody>
                        <a:bodyPr/>
                        <a:lstStyle/>
                        <a:p>
                          <a:r>
                            <a:rPr lang="en-US" sz="1000" b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RLA</a:t>
                          </a:r>
                          <a:endParaRPr lang="en-IN" sz="1000" b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000" b="0" i="1" smtClean="0">
                                        <a:latin typeface="Cambria Math" panose="02040503050406030204" pitchFamily="18" charset="0"/>
                                      </a:rPr>
                                      <m:t>𝐷</m:t>
                                    </m:r>
                                  </m:e>
                                  <m:sub>
                                    <m:r>
                                      <a:rPr lang="en-US" sz="1000" b="0" i="1" smtClean="0"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</m:sub>
                                </m:sSub>
                                <m:r>
                                  <a:rPr lang="en-US" sz="1000" b="0" i="1" smtClean="0">
                                    <a:latin typeface="Cambria Math" panose="02040503050406030204" pitchFamily="18" charset="0"/>
                                  </a:rPr>
                                  <m:t>=2.1</m:t>
                                </m:r>
                              </m:oMath>
                            </m:oMathPara>
                          </a14:m>
                          <a:endParaRPr lang="en-IN" sz="1000" b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00" b="0" i="1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100</m:t>
                                </m:r>
                                <m:r>
                                  <a:rPr lang="en-US" sz="1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≤</m:t>
                                </m:r>
                                <m:r>
                                  <a:rPr lang="en-US" sz="1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𝑁</m:t>
                                </m:r>
                                <m:r>
                                  <a:rPr lang="en-US" sz="1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≤400</m:t>
                                </m:r>
                              </m:oMath>
                            </m:oMathPara>
                          </a14:m>
                          <a:endParaRPr lang="en-IN" sz="1000" b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  <a:p>
                          <a:endParaRPr lang="en-IN" sz="1000" b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IN" sz="1000" b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38150690"/>
                      </a:ext>
                    </a:extLst>
                  </a:tr>
                  <a:tr h="253956">
                    <a:tc>
                      <a:txBody>
                        <a:bodyPr/>
                        <a:lstStyle/>
                        <a:p>
                          <a:r>
                            <a:rPr lang="en-US" sz="1000" b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DLCCA</a:t>
                          </a:r>
                          <a:endParaRPr lang="en-IN" sz="1000" b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000" b="0" i="1" smtClean="0">
                                        <a:latin typeface="Cambria Math" panose="02040503050406030204" pitchFamily="18" charset="0"/>
                                      </a:rPr>
                                      <m:t>𝐷</m:t>
                                    </m:r>
                                  </m:e>
                                  <m:sub>
                                    <m:r>
                                      <a:rPr lang="en-US" sz="1000" b="0" i="1" smtClean="0"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</m:sub>
                                </m:sSub>
                                <m:r>
                                  <a:rPr lang="en-US" sz="1000" b="0" i="1" smtClean="0">
                                    <a:latin typeface="Cambria Math" panose="02040503050406030204" pitchFamily="18" charset="0"/>
                                  </a:rPr>
                                  <m:t>=1.8</m:t>
                                </m:r>
                              </m:oMath>
                            </m:oMathPara>
                          </a14:m>
                          <a:endParaRPr lang="en-IN" sz="1000" b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00" b="0" i="1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50</m:t>
                                </m:r>
                                <m:r>
                                  <a:rPr lang="en-US" sz="1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≤</m:t>
                                </m:r>
                                <m:r>
                                  <a:rPr lang="en-US" sz="1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𝑁</m:t>
                                </m:r>
                                <m:r>
                                  <a:rPr lang="en-US" sz="1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≤350</m:t>
                                </m:r>
                              </m:oMath>
                            </m:oMathPara>
                          </a14:m>
                          <a:endParaRPr lang="en-IN" sz="1000" b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  <a:p>
                          <a:endParaRPr lang="en-IN" sz="1000" b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000" b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Our value – 0.94</a:t>
                          </a:r>
                          <a:endParaRPr lang="en-IN" sz="1000" b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5412704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Table 6">
                <a:extLst>
                  <a:ext uri="{FF2B5EF4-FFF2-40B4-BE49-F238E27FC236}">
                    <a16:creationId xmlns:a16="http://schemas.microsoft.com/office/drawing/2014/main" id="{900D81C0-EED9-4A1B-85D2-59A720F890B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331676678"/>
                  </p:ext>
                </p:extLst>
              </p:nvPr>
            </p:nvGraphicFramePr>
            <p:xfrm>
              <a:off x="6842695" y="3611199"/>
              <a:ext cx="3652465" cy="1188720"/>
            </p:xfrm>
            <a:graphic>
              <a:graphicData uri="http://schemas.openxmlformats.org/drawingml/2006/table">
                <a:tbl>
                  <a:tblPr firstRow="1" bandRow="1">
                    <a:tableStyleId>{0505E3EF-67EA-436B-97B2-0124C06EBD24}</a:tableStyleId>
                  </a:tblPr>
                  <a:tblGrid>
                    <a:gridCol w="721496">
                      <a:extLst>
                        <a:ext uri="{9D8B030D-6E8A-4147-A177-3AD203B41FA5}">
                          <a16:colId xmlns:a16="http://schemas.microsoft.com/office/drawing/2014/main" val="993352565"/>
                        </a:ext>
                      </a:extLst>
                    </a:gridCol>
                    <a:gridCol w="815948">
                      <a:extLst>
                        <a:ext uri="{9D8B030D-6E8A-4147-A177-3AD203B41FA5}">
                          <a16:colId xmlns:a16="http://schemas.microsoft.com/office/drawing/2014/main" val="2334753313"/>
                        </a:ext>
                      </a:extLst>
                    </a:gridCol>
                    <a:gridCol w="1201905">
                      <a:extLst>
                        <a:ext uri="{9D8B030D-6E8A-4147-A177-3AD203B41FA5}">
                          <a16:colId xmlns:a16="http://schemas.microsoft.com/office/drawing/2014/main" val="3953054986"/>
                        </a:ext>
                      </a:extLst>
                    </a:gridCol>
                    <a:gridCol w="913116">
                      <a:extLst>
                        <a:ext uri="{9D8B030D-6E8A-4147-A177-3AD203B41FA5}">
                          <a16:colId xmlns:a16="http://schemas.microsoft.com/office/drawing/2014/main" val="2080937647"/>
                        </a:ext>
                      </a:extLst>
                    </a:gridCol>
                  </a:tblGrid>
                  <a:tr h="396240">
                    <a:tc>
                      <a:txBody>
                        <a:bodyPr/>
                        <a:lstStyle/>
                        <a:p>
                          <a:r>
                            <a:rPr lang="en-US" sz="1000" b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DLA</a:t>
                          </a:r>
                          <a:endParaRPr lang="en-IN" sz="1000" b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5"/>
                          <a:stretch>
                            <a:fillRect l="-89552" t="-1538" r="-260448" b="-20769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5"/>
                          <a:stretch>
                            <a:fillRect l="-128934" t="-1538" r="-77157" b="-20769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000" b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Our value – 1.24</a:t>
                          </a:r>
                          <a:endParaRPr lang="en-IN" sz="1000" b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398152660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r>
                            <a:rPr lang="en-US" sz="1000" b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RLA</a:t>
                          </a:r>
                          <a:endParaRPr lang="en-IN" sz="1000" b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5"/>
                          <a:stretch>
                            <a:fillRect l="-89552" t="-100000" r="-260448" b="-10454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5"/>
                          <a:stretch>
                            <a:fillRect l="-128934" t="-100000" r="-77157" b="-10454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IN" sz="1000" b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38150690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r>
                            <a:rPr lang="en-US" sz="1000" b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DLCCA</a:t>
                          </a:r>
                          <a:endParaRPr lang="en-IN" sz="1000" b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5"/>
                          <a:stretch>
                            <a:fillRect l="-89552" t="-203077" r="-260448" b="-615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5"/>
                          <a:stretch>
                            <a:fillRect l="-128934" t="-203077" r="-77157" b="-615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000" b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Our value – 0.94</a:t>
                          </a:r>
                          <a:endParaRPr lang="en-IN" sz="1000" b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54127045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7" name="Rectangle 6">
            <a:extLst>
              <a:ext uri="{FF2B5EF4-FFF2-40B4-BE49-F238E27FC236}">
                <a16:creationId xmlns:a16="http://schemas.microsoft.com/office/drawing/2014/main" id="{7E01E4F0-66EF-4B09-8814-82520CD2B7E6}"/>
              </a:ext>
            </a:extLst>
          </p:cNvPr>
          <p:cNvSpPr/>
          <p:nvPr/>
        </p:nvSpPr>
        <p:spPr>
          <a:xfrm>
            <a:off x="174171" y="188686"/>
            <a:ext cx="11843657" cy="645885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DF868F3-9902-4727-9E1C-4A6C276A50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3CAD28-B1A9-4A64-9DD6-3376C7DEC3B0}" type="slidenum">
              <a:rPr lang="en-IN" smtClean="0"/>
              <a:t>23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893384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63090"/>
    </mc:Choice>
    <mc:Fallback xmlns="">
      <p:transition spd="slow" advTm="163090"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1015608-86D6-4BA4-8464-2974C8160579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973180" y="2653960"/>
            <a:ext cx="4022080" cy="322857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512FA9F-8B69-4FC8-BEF0-3C8A366EA281}"/>
              </a:ext>
            </a:extLst>
          </p:cNvPr>
          <p:cNvSpPr txBox="1"/>
          <p:nvPr/>
        </p:nvSpPr>
        <p:spPr>
          <a:xfrm>
            <a:off x="3367315" y="464458"/>
            <a:ext cx="718457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Hydrodynamic ratio and number of particles</a:t>
            </a:r>
            <a:endParaRPr lang="en-IN" sz="2400" b="1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986F3D5D-A343-446F-9CEC-94B91FB047EF}"/>
                  </a:ext>
                </a:extLst>
              </p:cNvPr>
              <p:cNvSpPr txBox="1"/>
              <p:nvPr/>
            </p:nvSpPr>
            <p:spPr>
              <a:xfrm>
                <a:off x="-433127" y="5916784"/>
                <a:ext cx="6834694" cy="2585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1000">
                    <a:solidFill>
                      <a:schemeClr val="accent5">
                        <a:lumMod val="60000"/>
                        <a:lumOff val="40000"/>
                      </a:schemeClr>
                    </a:solidFill>
                    <a:ea typeface="Calibri" panose="020F0502020204030204" pitchFamily="34" charset="0"/>
                    <a:cs typeface="Times New Roman" panose="02020603050405020304" pitchFamily="18" charset="0"/>
                  </a:rPr>
                  <a:t>□</a:t>
                </a:r>
                <a14:m>
                  <m:oMath xmlns:m="http://schemas.openxmlformats.org/officeDocument/2006/math">
                    <m:r>
                      <a:rPr lang="en-US" sz="10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−</m:t>
                    </m:r>
                    <m:r>
                      <a:rPr lang="en-US" sz="10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𝑠𝑖𝑚𝑝𝑙𝑒</m:t>
                    </m:r>
                    <m:r>
                      <a:rPr lang="en-US" sz="10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sz="10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𝑐𝑢𝑏𝑖𝑐</m:t>
                    </m:r>
                    <m:r>
                      <a:rPr lang="en-US" sz="10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sz="10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𝑢𝑛𝑖𝑡</m:t>
                    </m:r>
                    <m:r>
                      <a:rPr lang="en-US" sz="1000" b="0" i="1" smtClean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sz="10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sz="1000" i="1" smtClean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◇−</m:t>
                    </m:r>
                    <m:r>
                      <a:rPr lang="en-US" sz="1000" i="1" smtClean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𝐷𝐿𝐴</m:t>
                    </m:r>
                    <m:r>
                      <a:rPr lang="en-US" sz="1000" b="0" i="1" smtClean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sz="1000" i="1" smtClean="0">
                        <a:solidFill>
                          <a:schemeClr val="accent2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△</m:t>
                    </m:r>
                    <m:r>
                      <a:rPr lang="en-US" sz="10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−</m:t>
                    </m:r>
                    <m:r>
                      <a:rPr lang="en-US" sz="10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𝐷𝐿𝐶𝐶𝐴</m:t>
                    </m:r>
                    <m:r>
                      <a:rPr lang="en-US" sz="10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 </m:t>
                    </m:r>
                    <m:sSub>
                      <m:sSubPr>
                        <m:ctrlPr>
                          <a:rPr lang="en-US" sz="1000" b="0" i="1" smtClean="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1000" b="0" i="1" smtClean="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𝐷</m:t>
                        </m:r>
                      </m:e>
                      <m:sub>
                        <m:r>
                          <a:rPr lang="en-US" sz="1000" b="0" i="1" smtClean="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𝑓</m:t>
                        </m:r>
                      </m:sub>
                    </m:sSub>
                    <m:r>
                      <a:rPr lang="en-US" sz="10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=2.2</m:t>
                    </m:r>
                    <m:r>
                      <a:rPr lang="en-US" sz="1000" b="0" i="1" smtClean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sz="1000" i="1" smtClean="0">
                        <a:solidFill>
                          <a:schemeClr val="accent6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○</m:t>
                    </m:r>
                    <m:r>
                      <a:rPr lang="en-US" sz="10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 −</m:t>
                    </m:r>
                    <m:r>
                      <a:rPr lang="en-US" sz="10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𝐷𝐿𝐶𝐶𝐴</m:t>
                    </m:r>
                    <m:r>
                      <a:rPr lang="en-US" sz="10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 </m:t>
                    </m:r>
                    <m:sSub>
                      <m:sSubPr>
                        <m:ctrlPr>
                          <a:rPr lang="en-US" sz="1000" b="0" i="1" smtClean="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1000" b="0" i="1" smtClean="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𝐷</m:t>
                        </m:r>
                      </m:e>
                      <m:sub>
                        <m:r>
                          <a:rPr lang="en-US" sz="1000" b="0" i="1" smtClean="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𝑓</m:t>
                        </m:r>
                      </m:sub>
                    </m:sSub>
                    <m:r>
                      <a:rPr lang="en-US" sz="10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=1.84</m:t>
                    </m:r>
                  </m:oMath>
                </a14:m>
                <a:endParaRPr lang="en-IN" sz="100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986F3D5D-A343-446F-9CEC-94B91FB047E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433127" y="5916784"/>
                <a:ext cx="6834694" cy="258532"/>
              </a:xfrm>
              <a:prstGeom prst="rect">
                <a:avLst/>
              </a:prstGeom>
              <a:blipFill>
                <a:blip r:embed="rId3"/>
                <a:stretch>
                  <a:fillRect b="-952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>
            <a:extLst>
              <a:ext uri="{FF2B5EF4-FFF2-40B4-BE49-F238E27FC236}">
                <a16:creationId xmlns:a16="http://schemas.microsoft.com/office/drawing/2014/main" id="{9B2D431B-C777-4A62-8E60-FE177715F6F0}"/>
              </a:ext>
            </a:extLst>
          </p:cNvPr>
          <p:cNvSpPr txBox="1"/>
          <p:nvPr/>
        </p:nvSpPr>
        <p:spPr>
          <a:xfrm>
            <a:off x="1959429" y="2498337"/>
            <a:ext cx="281577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>
                <a:latin typeface="Arial" panose="020B0604020202020204" pitchFamily="34" charset="0"/>
                <a:cs typeface="Arial" panose="020B0604020202020204" pitchFamily="34" charset="0"/>
              </a:rPr>
              <a:t>Diffusion Limited Clusters</a:t>
            </a:r>
            <a:endParaRPr lang="en-IN" sz="1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DACDCEF-CEAD-4C23-A568-273CA1990AC3}"/>
              </a:ext>
            </a:extLst>
          </p:cNvPr>
          <p:cNvSpPr txBox="1"/>
          <p:nvPr/>
        </p:nvSpPr>
        <p:spPr>
          <a:xfrm>
            <a:off x="1220481" y="1104532"/>
            <a:ext cx="10011229" cy="11546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i="1">
                <a:latin typeface="Arial" panose="020B0604020202020204" pitchFamily="34" charset="0"/>
                <a:cs typeface="Arial" panose="020B0604020202020204" pitchFamily="34" charset="0"/>
              </a:rPr>
              <a:t>Simple cubic unit</a:t>
            </a:r>
            <a:r>
              <a:rPr lang="en-US" sz="1600">
                <a:latin typeface="Arial" panose="020B0604020202020204" pitchFamily="34" charset="0"/>
                <a:cs typeface="Arial" panose="020B0604020202020204" pitchFamily="34" charset="0"/>
              </a:rPr>
              <a:t>: 1.29 for large N and slightly low as they are not completely spherical</a:t>
            </a:r>
            <a:endParaRPr lang="en-IN" sz="16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i="1">
                <a:latin typeface="Arial" panose="020B0604020202020204" pitchFamily="34" charset="0"/>
                <a:cs typeface="Arial" panose="020B0604020202020204" pitchFamily="34" charset="0"/>
              </a:rPr>
              <a:t>DLA</a:t>
            </a:r>
            <a:r>
              <a:rPr lang="en-US" sz="1600">
                <a:latin typeface="Arial" panose="020B0604020202020204" pitchFamily="34" charset="0"/>
                <a:cs typeface="Arial" panose="020B0604020202020204" pitchFamily="34" charset="0"/>
              </a:rPr>
              <a:t>: Slow approach to asymptotic regime at N=2000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i="1">
                <a:latin typeface="Arial" panose="020B0604020202020204" pitchFamily="34" charset="0"/>
                <a:cs typeface="Arial" panose="020B0604020202020204" pitchFamily="34" charset="0"/>
              </a:rPr>
              <a:t>DLCCA</a:t>
            </a:r>
            <a:r>
              <a:rPr lang="en-US" sz="1600">
                <a:latin typeface="Arial" panose="020B0604020202020204" pitchFamily="34" charset="0"/>
                <a:cs typeface="Arial" panose="020B0604020202020204" pitchFamily="34" charset="0"/>
              </a:rPr>
              <a:t>: Aymptotic regime approaches faster when compared to DLA.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FBE7B2F6-192D-4C7E-859A-19AD67C06994}"/>
                  </a:ext>
                </a:extLst>
              </p:cNvPr>
              <p:cNvSpPr txBox="1"/>
              <p:nvPr/>
            </p:nvSpPr>
            <p:spPr>
              <a:xfrm>
                <a:off x="5215542" y="2636836"/>
                <a:ext cx="6313714" cy="49770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en-IN" sz="16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IN" sz="16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16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IN" sz="16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IN" sz="16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16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IN" sz="16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𝑔</m:t>
                            </m:r>
                          </m:sub>
                        </m:sSub>
                      </m:den>
                    </m:f>
                    <m:r>
                      <a:rPr lang="en-IN" sz="1600" i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16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𝛼</m:t>
                    </m:r>
                    <m:sSup>
                      <m:sSupPr>
                        <m:ctrlPr>
                          <a:rPr lang="en-IN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N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p>
                        <m:r>
                          <a:rPr lang="en-IN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𝛽</m:t>
                        </m:r>
                      </m:sup>
                    </m:sSup>
                  </m:oMath>
                </a14:m>
                <a:r>
                  <a:rPr lang="en-IN"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can be used to test independent nature</a:t>
                </a: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FBE7B2F6-192D-4C7E-859A-19AD67C0699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15542" y="2636836"/>
                <a:ext cx="6313714" cy="49770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4" name="Table 13">
                <a:extLst>
                  <a:ext uri="{FF2B5EF4-FFF2-40B4-BE49-F238E27FC236}">
                    <a16:creationId xmlns:a16="http://schemas.microsoft.com/office/drawing/2014/main" id="{BDFFE638-02F3-48DD-A015-0FFA96C5441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951293944"/>
                  </p:ext>
                </p:extLst>
              </p:nvPr>
            </p:nvGraphicFramePr>
            <p:xfrm>
              <a:off x="5957821" y="3327399"/>
              <a:ext cx="4829155" cy="1612455"/>
            </p:xfrm>
            <a:graphic>
              <a:graphicData uri="http://schemas.openxmlformats.org/drawingml/2006/table">
                <a:tbl>
                  <a:tblPr firstRow="1" firstCol="1" bandRow="1">
                    <a:tableStyleId>{0505E3EF-67EA-436B-97B2-0124C06EBD24}</a:tableStyleId>
                  </a:tblPr>
                  <a:tblGrid>
                    <a:gridCol w="1687970">
                      <a:extLst>
                        <a:ext uri="{9D8B030D-6E8A-4147-A177-3AD203B41FA5}">
                          <a16:colId xmlns:a16="http://schemas.microsoft.com/office/drawing/2014/main" val="3646138610"/>
                        </a:ext>
                      </a:extLst>
                    </a:gridCol>
                    <a:gridCol w="1687970">
                      <a:extLst>
                        <a:ext uri="{9D8B030D-6E8A-4147-A177-3AD203B41FA5}">
                          <a16:colId xmlns:a16="http://schemas.microsoft.com/office/drawing/2014/main" val="1322850497"/>
                        </a:ext>
                      </a:extLst>
                    </a:gridCol>
                    <a:gridCol w="1453215">
                      <a:extLst>
                        <a:ext uri="{9D8B030D-6E8A-4147-A177-3AD203B41FA5}">
                          <a16:colId xmlns:a16="http://schemas.microsoft.com/office/drawing/2014/main" val="2365950156"/>
                        </a:ext>
                      </a:extLst>
                    </a:gridCol>
                  </a:tblGrid>
                  <a:tr h="452554"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200">
                              <a:effectLst/>
                            </a:rPr>
                            <a:t>Fractal</a:t>
                          </a:r>
                          <a:endParaRPr lang="en-IN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200">
                              <a:effectLst/>
                            </a:rPr>
                            <a:t>Fractal dimension</a:t>
                          </a:r>
                          <a:endParaRPr lang="en-IN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200">
                                    <a:effectLst/>
                                    <a:latin typeface="Cambria Math" panose="02040503050406030204" pitchFamily="18" charset="0"/>
                                  </a:rPr>
                                  <m:t>𝛽</m:t>
                                </m:r>
                              </m:oMath>
                            </m:oMathPara>
                          </a14:m>
                          <a:endParaRPr lang="en-IN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4221729422"/>
                      </a:ext>
                    </a:extLst>
                  </a:tr>
                  <a:tr h="296148"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200">
                              <a:effectLst/>
                            </a:rPr>
                            <a:t>Simple cubic unit</a:t>
                          </a:r>
                          <a:endParaRPr lang="en-IN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200">
                              <a:effectLst/>
                            </a:rPr>
                            <a:t>3</a:t>
                          </a:r>
                          <a:endParaRPr lang="en-IN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200">
                              <a:effectLst/>
                            </a:rPr>
                            <a:t>0.0015</a:t>
                          </a:r>
                          <a:endParaRPr lang="en-IN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2924753984"/>
                      </a:ext>
                    </a:extLst>
                  </a:tr>
                  <a:tr h="271457"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200">
                              <a:effectLst/>
                            </a:rPr>
                            <a:t>DLA</a:t>
                          </a:r>
                          <a:endParaRPr lang="en-IN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200">
                              <a:effectLst/>
                            </a:rPr>
                            <a:t>2.47</a:t>
                          </a:r>
                          <a:endParaRPr lang="en-IN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200">
                              <a:effectLst/>
                            </a:rPr>
                            <a:t>0.0295</a:t>
                          </a:r>
                          <a:endParaRPr lang="en-IN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3116568605"/>
                      </a:ext>
                    </a:extLst>
                  </a:tr>
                  <a:tr h="296148">
                    <a:tc rowSpan="2">
                      <a:txBody>
                        <a:bodyPr/>
                        <a:lstStyle/>
                        <a:p>
                          <a:pPr algn="just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200">
                              <a:effectLst/>
                            </a:rPr>
                            <a:t>DLCCA</a:t>
                          </a:r>
                          <a:endParaRPr lang="en-IN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200">
                              <a:effectLst/>
                            </a:rPr>
                            <a:t>1.84</a:t>
                          </a:r>
                          <a:endParaRPr lang="en-IN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200">
                              <a:effectLst/>
                            </a:rPr>
                            <a:t>0.0054</a:t>
                          </a:r>
                          <a:endParaRPr lang="en-IN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3441586869"/>
                      </a:ext>
                    </a:extLst>
                  </a:tr>
                  <a:tr h="296148">
                    <a:tc vMerge="1">
                      <a:txBody>
                        <a:bodyPr/>
                        <a:lstStyle/>
                        <a:p>
                          <a:endParaRPr lang="en-IN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200">
                              <a:effectLst/>
                            </a:rPr>
                            <a:t>2.2</a:t>
                          </a:r>
                          <a:endParaRPr lang="en-IN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200">
                              <a:effectLst/>
                            </a:rPr>
                            <a:t>0.0354</a:t>
                          </a:r>
                          <a:endParaRPr lang="en-IN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225918233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4" name="Table 13">
                <a:extLst>
                  <a:ext uri="{FF2B5EF4-FFF2-40B4-BE49-F238E27FC236}">
                    <a16:creationId xmlns:a16="http://schemas.microsoft.com/office/drawing/2014/main" id="{BDFFE638-02F3-48DD-A015-0FFA96C5441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951293944"/>
                  </p:ext>
                </p:extLst>
              </p:nvPr>
            </p:nvGraphicFramePr>
            <p:xfrm>
              <a:off x="5957821" y="3327399"/>
              <a:ext cx="4829155" cy="1612455"/>
            </p:xfrm>
            <a:graphic>
              <a:graphicData uri="http://schemas.openxmlformats.org/drawingml/2006/table">
                <a:tbl>
                  <a:tblPr firstRow="1" firstCol="1" bandRow="1">
                    <a:tableStyleId>{0505E3EF-67EA-436B-97B2-0124C06EBD24}</a:tableStyleId>
                  </a:tblPr>
                  <a:tblGrid>
                    <a:gridCol w="1687970">
                      <a:extLst>
                        <a:ext uri="{9D8B030D-6E8A-4147-A177-3AD203B41FA5}">
                          <a16:colId xmlns:a16="http://schemas.microsoft.com/office/drawing/2014/main" val="3646138610"/>
                        </a:ext>
                      </a:extLst>
                    </a:gridCol>
                    <a:gridCol w="1687970">
                      <a:extLst>
                        <a:ext uri="{9D8B030D-6E8A-4147-A177-3AD203B41FA5}">
                          <a16:colId xmlns:a16="http://schemas.microsoft.com/office/drawing/2014/main" val="1322850497"/>
                        </a:ext>
                      </a:extLst>
                    </a:gridCol>
                    <a:gridCol w="1453215">
                      <a:extLst>
                        <a:ext uri="{9D8B030D-6E8A-4147-A177-3AD203B41FA5}">
                          <a16:colId xmlns:a16="http://schemas.microsoft.com/office/drawing/2014/main" val="2365950156"/>
                        </a:ext>
                      </a:extLst>
                    </a:gridCol>
                  </a:tblGrid>
                  <a:tr h="452554"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200">
                              <a:effectLst/>
                            </a:rPr>
                            <a:t>Fractal</a:t>
                          </a:r>
                          <a:endParaRPr lang="en-IN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200">
                              <a:effectLst/>
                            </a:rPr>
                            <a:t>Fractal dimension</a:t>
                          </a:r>
                          <a:endParaRPr lang="en-IN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blipFill>
                          <a:blip r:embed="rId5"/>
                          <a:stretch>
                            <a:fillRect l="-232218" t="-1333" r="-837" b="-264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21729422"/>
                      </a:ext>
                    </a:extLst>
                  </a:tr>
                  <a:tr h="296148"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200">
                              <a:effectLst/>
                            </a:rPr>
                            <a:t>Simple cubic unit</a:t>
                          </a:r>
                          <a:endParaRPr lang="en-IN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200">
                              <a:effectLst/>
                            </a:rPr>
                            <a:t>3</a:t>
                          </a:r>
                          <a:endParaRPr lang="en-IN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200">
                              <a:effectLst/>
                            </a:rPr>
                            <a:t>0.0015</a:t>
                          </a:r>
                          <a:endParaRPr lang="en-IN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2924753984"/>
                      </a:ext>
                    </a:extLst>
                  </a:tr>
                  <a:tr h="271457"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200">
                              <a:effectLst/>
                            </a:rPr>
                            <a:t>DLA</a:t>
                          </a:r>
                          <a:endParaRPr lang="en-IN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200">
                              <a:effectLst/>
                            </a:rPr>
                            <a:t>2.47</a:t>
                          </a:r>
                          <a:endParaRPr lang="en-IN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200">
                              <a:effectLst/>
                            </a:rPr>
                            <a:t>0.0295</a:t>
                          </a:r>
                          <a:endParaRPr lang="en-IN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3116568605"/>
                      </a:ext>
                    </a:extLst>
                  </a:tr>
                  <a:tr h="296148">
                    <a:tc rowSpan="2">
                      <a:txBody>
                        <a:bodyPr/>
                        <a:lstStyle/>
                        <a:p>
                          <a:pPr algn="just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200">
                              <a:effectLst/>
                            </a:rPr>
                            <a:t>DLCCA</a:t>
                          </a:r>
                          <a:endParaRPr lang="en-IN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200">
                              <a:effectLst/>
                            </a:rPr>
                            <a:t>1.84</a:t>
                          </a:r>
                          <a:endParaRPr lang="en-IN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200">
                              <a:effectLst/>
                            </a:rPr>
                            <a:t>0.0054</a:t>
                          </a:r>
                          <a:endParaRPr lang="en-IN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3441586869"/>
                      </a:ext>
                    </a:extLst>
                  </a:tr>
                  <a:tr h="296148">
                    <a:tc vMerge="1">
                      <a:txBody>
                        <a:bodyPr/>
                        <a:lstStyle/>
                        <a:p>
                          <a:endParaRPr lang="en-IN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200">
                              <a:effectLst/>
                            </a:rPr>
                            <a:t>2.2</a:t>
                          </a:r>
                          <a:endParaRPr lang="en-IN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200">
                              <a:effectLst/>
                            </a:rPr>
                            <a:t>0.0354</a:t>
                          </a:r>
                          <a:endParaRPr lang="en-IN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2259182339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BE51B88D-391E-4D0A-BA34-362BCB12240A}"/>
                  </a:ext>
                </a:extLst>
              </p:cNvPr>
              <p:cNvSpPr txBox="1"/>
              <p:nvPr/>
            </p:nvSpPr>
            <p:spPr>
              <a:xfrm>
                <a:off x="5242227" y="5259042"/>
                <a:ext cx="5631543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16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𝛽</m:t>
                    </m:r>
                  </m:oMath>
                </a14:m>
                <a:r>
                  <a:rPr lang="en-IN" sz="1600">
                    <a:solidFill>
                      <a:srgbClr val="C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values are very small (&lt;0.04)</a:t>
                </a: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BE51B88D-391E-4D0A-BA34-362BCB1224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42227" y="5259042"/>
                <a:ext cx="5631543" cy="338554"/>
              </a:xfrm>
              <a:prstGeom prst="rect">
                <a:avLst/>
              </a:prstGeom>
              <a:blipFill>
                <a:blip r:embed="rId6"/>
                <a:stretch>
                  <a:fillRect l="-108" t="-5455" b="-2363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Rectangle 15">
            <a:extLst>
              <a:ext uri="{FF2B5EF4-FFF2-40B4-BE49-F238E27FC236}">
                <a16:creationId xmlns:a16="http://schemas.microsoft.com/office/drawing/2014/main" id="{506A7341-6FE8-4C20-A036-39BEE4E4AEC9}"/>
              </a:ext>
            </a:extLst>
          </p:cNvPr>
          <p:cNvSpPr/>
          <p:nvPr/>
        </p:nvSpPr>
        <p:spPr>
          <a:xfrm>
            <a:off x="174171" y="188686"/>
            <a:ext cx="11843657" cy="645885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FD52D0F-1358-4914-8541-F36B66E9B0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3CAD28-B1A9-4A64-9DD6-3376C7DEC3B0}" type="slidenum">
              <a:rPr lang="en-IN" smtClean="0"/>
              <a:t>24</a:t>
            </a:fld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3C67838-B962-4E14-B67A-8590FD3B0D2B}"/>
              </a:ext>
            </a:extLst>
          </p:cNvPr>
          <p:cNvSpPr txBox="1"/>
          <p:nvPr/>
        </p:nvSpPr>
        <p:spPr>
          <a:xfrm>
            <a:off x="174171" y="6356350"/>
            <a:ext cx="296910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/>
              <a:t>*Warren(1994)</a:t>
            </a:r>
            <a:endParaRPr lang="en-IN" sz="1200"/>
          </a:p>
        </p:txBody>
      </p:sp>
    </p:spTree>
    <p:extLst>
      <p:ext uri="{BB962C8B-B14F-4D97-AF65-F5344CB8AC3E}">
        <p14:creationId xmlns:p14="http://schemas.microsoft.com/office/powerpoint/2010/main" val="14574351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84397"/>
    </mc:Choice>
    <mc:Fallback xmlns="">
      <p:transition spd="slow" advTm="84397"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EC1B66D-3B18-45D5-BC0F-107104CF5BF2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1215403" y="2696722"/>
            <a:ext cx="4223826" cy="322857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512FA9F-8B69-4FC8-BEF0-3C8A366EA281}"/>
              </a:ext>
            </a:extLst>
          </p:cNvPr>
          <p:cNvSpPr txBox="1"/>
          <p:nvPr/>
        </p:nvSpPr>
        <p:spPr>
          <a:xfrm>
            <a:off x="3367315" y="464458"/>
            <a:ext cx="718457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Hydrodynamic ratio and number of particles</a:t>
            </a:r>
            <a:endParaRPr lang="en-IN" sz="2400" b="1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F9654A2-B51A-414F-8C2D-20E2ACE64FBE}"/>
              </a:ext>
            </a:extLst>
          </p:cNvPr>
          <p:cNvSpPr txBox="1"/>
          <p:nvPr/>
        </p:nvSpPr>
        <p:spPr>
          <a:xfrm>
            <a:off x="2349001" y="2599291"/>
            <a:ext cx="6096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Tunable Monte Carlo Clusters </a:t>
            </a:r>
            <a:endParaRPr lang="en-IN" sz="1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52C7BC6E-B21B-4CC7-9EB9-419609FB4DFD}"/>
                  </a:ext>
                </a:extLst>
              </p:cNvPr>
              <p:cNvSpPr txBox="1"/>
              <p:nvPr/>
            </p:nvSpPr>
            <p:spPr>
              <a:xfrm>
                <a:off x="1215403" y="5967873"/>
                <a:ext cx="4735369" cy="2585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00" i="1" smtClean="0">
                          <a:solidFill>
                            <a:srgbClr val="FF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●</m:t>
                      </m:r>
                      <m:r>
                        <a:rPr lang="en-US" sz="1000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IN" sz="10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10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US" sz="10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𝑓</m:t>
                          </m:r>
                        </m:sub>
                      </m:sSub>
                      <m:r>
                        <a:rPr lang="en-US" sz="1000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=2.46</m:t>
                      </m:r>
                      <m:r>
                        <a:rPr lang="en-US" sz="1000" b="0" i="1" smtClean="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, </m:t>
                      </m:r>
                      <m:r>
                        <a:rPr lang="en-US" sz="1000" i="1" smtClean="0">
                          <a:solidFill>
                            <a:srgbClr val="0617BA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▲</m:t>
                      </m:r>
                      <m:r>
                        <a:rPr lang="en-US" sz="1000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IN" sz="10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10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US" sz="10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𝑓</m:t>
                          </m:r>
                        </m:sub>
                      </m:sSub>
                      <m:r>
                        <a:rPr lang="en-US" sz="1000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=2.23</m:t>
                      </m:r>
                      <m:r>
                        <a:rPr lang="en-US" sz="1000" b="0" i="1" smtClean="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 ,</m:t>
                      </m:r>
                      <m:r>
                        <a:rPr lang="en-US" sz="1000" i="1" smtClean="0">
                          <a:solidFill>
                            <a:srgbClr val="385623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▼</m:t>
                      </m:r>
                      <m:r>
                        <a:rPr lang="en-US" sz="1000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 −</m:t>
                      </m:r>
                      <m:sSub>
                        <m:sSubPr>
                          <m:ctrlPr>
                            <a:rPr lang="en-IN" sz="10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10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US" sz="10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𝑓</m:t>
                          </m:r>
                        </m:sub>
                      </m:sSub>
                      <m:r>
                        <a:rPr lang="en-US" sz="1000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=1.99</m:t>
                      </m:r>
                      <m:r>
                        <a:rPr lang="en-US" sz="1000" b="0" i="1" smtClean="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 ,</m:t>
                      </m:r>
                      <m:r>
                        <a:rPr lang="en-US" sz="1000" i="1" smtClean="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∎−</m:t>
                      </m:r>
                      <m:sSub>
                        <m:sSubPr>
                          <m:ctrlPr>
                            <a:rPr lang="en-IN" sz="10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10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US" sz="10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𝑓</m:t>
                          </m:r>
                        </m:sub>
                      </m:sSub>
                      <m:r>
                        <a:rPr lang="en-US" sz="1000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=1.76</m:t>
                      </m:r>
                    </m:oMath>
                  </m:oMathPara>
                </a14:m>
                <a:endParaRPr lang="en-US" sz="1000" i="1">
                  <a:effectLst/>
                  <a:latin typeface="Cambria Math" panose="02040503050406030204" pitchFamily="18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52C7BC6E-B21B-4CC7-9EB9-419609FB4D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15403" y="5967873"/>
                <a:ext cx="4735369" cy="2585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0212A81C-0F32-4B91-952F-26E61B7FFE3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837429239"/>
                  </p:ext>
                </p:extLst>
              </p:nvPr>
            </p:nvGraphicFramePr>
            <p:xfrm>
              <a:off x="6958617" y="3066563"/>
              <a:ext cx="4017980" cy="1540564"/>
            </p:xfrm>
            <a:graphic>
              <a:graphicData uri="http://schemas.openxmlformats.org/drawingml/2006/table">
                <a:tbl>
                  <a:tblPr firstRow="1" firstCol="1" bandRow="1">
                    <a:tableStyleId>{0505E3EF-67EA-436B-97B2-0124C06EBD24}</a:tableStyleId>
                  </a:tblPr>
                  <a:tblGrid>
                    <a:gridCol w="1404434">
                      <a:extLst>
                        <a:ext uri="{9D8B030D-6E8A-4147-A177-3AD203B41FA5}">
                          <a16:colId xmlns:a16="http://schemas.microsoft.com/office/drawing/2014/main" val="1503695922"/>
                        </a:ext>
                      </a:extLst>
                    </a:gridCol>
                    <a:gridCol w="1404434">
                      <a:extLst>
                        <a:ext uri="{9D8B030D-6E8A-4147-A177-3AD203B41FA5}">
                          <a16:colId xmlns:a16="http://schemas.microsoft.com/office/drawing/2014/main" val="3711790107"/>
                        </a:ext>
                      </a:extLst>
                    </a:gridCol>
                    <a:gridCol w="1209112">
                      <a:extLst>
                        <a:ext uri="{9D8B030D-6E8A-4147-A177-3AD203B41FA5}">
                          <a16:colId xmlns:a16="http://schemas.microsoft.com/office/drawing/2014/main" val="4008373131"/>
                        </a:ext>
                      </a:extLst>
                    </a:gridCol>
                  </a:tblGrid>
                  <a:tr h="425856"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200">
                              <a:effectLst/>
                            </a:rPr>
                            <a:t>Fractal</a:t>
                          </a:r>
                          <a:endParaRPr lang="en-IN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200">
                              <a:effectLst/>
                            </a:rPr>
                            <a:t>Fractal dimension</a:t>
                          </a:r>
                          <a:endParaRPr lang="en-IN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200">
                                    <a:effectLst/>
                                    <a:latin typeface="Cambria Math" panose="02040503050406030204" pitchFamily="18" charset="0"/>
                                  </a:rPr>
                                  <m:t>𝛽</m:t>
                                </m:r>
                              </m:oMath>
                            </m:oMathPara>
                          </a14:m>
                          <a:endParaRPr lang="en-IN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3406568155"/>
                      </a:ext>
                    </a:extLst>
                  </a:tr>
                  <a:tr h="278677">
                    <a:tc rowSpan="4">
                      <a:txBody>
                        <a:bodyPr/>
                        <a:lstStyle/>
                        <a:p>
                          <a:pPr algn="just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200">
                              <a:effectLst/>
                            </a:rPr>
                            <a:t> </a:t>
                          </a:r>
                          <a:endParaRPr lang="en-IN" sz="1100">
                            <a:effectLst/>
                          </a:endParaRPr>
                        </a:p>
                        <a:p>
                          <a:pPr algn="just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200">
                              <a:effectLst/>
                            </a:rPr>
                            <a:t>Tunable Monte Carlo clusters</a:t>
                          </a:r>
                          <a:endParaRPr lang="en-IN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200">
                              <a:effectLst/>
                            </a:rPr>
                            <a:t>1.76</a:t>
                          </a:r>
                          <a:endParaRPr lang="en-IN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200">
                              <a:effectLst/>
                            </a:rPr>
                            <a:t>-0.008</a:t>
                          </a:r>
                          <a:endParaRPr lang="en-IN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4238750520"/>
                      </a:ext>
                    </a:extLst>
                  </a:tr>
                  <a:tr h="278677">
                    <a:tc vMerge="1">
                      <a:txBody>
                        <a:bodyPr/>
                        <a:lstStyle/>
                        <a:p>
                          <a:endParaRPr lang="en-IN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200">
                              <a:effectLst/>
                            </a:rPr>
                            <a:t>1.99</a:t>
                          </a:r>
                          <a:endParaRPr lang="en-IN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200">
                              <a:effectLst/>
                            </a:rPr>
                            <a:t>-0.004</a:t>
                          </a:r>
                          <a:endParaRPr lang="en-IN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3361751533"/>
                      </a:ext>
                    </a:extLst>
                  </a:tr>
                  <a:tr h="278677">
                    <a:tc vMerge="1">
                      <a:txBody>
                        <a:bodyPr/>
                        <a:lstStyle/>
                        <a:p>
                          <a:endParaRPr lang="en-IN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200">
                              <a:effectLst/>
                            </a:rPr>
                            <a:t>2.23</a:t>
                          </a:r>
                          <a:endParaRPr lang="en-IN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200">
                              <a:effectLst/>
                            </a:rPr>
                            <a:t>0.0041</a:t>
                          </a:r>
                          <a:endParaRPr lang="en-IN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90121136"/>
                      </a:ext>
                    </a:extLst>
                  </a:tr>
                  <a:tr h="278677">
                    <a:tc vMerge="1">
                      <a:txBody>
                        <a:bodyPr/>
                        <a:lstStyle/>
                        <a:p>
                          <a:endParaRPr lang="en-IN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200">
                              <a:effectLst/>
                            </a:rPr>
                            <a:t>2.46</a:t>
                          </a:r>
                          <a:endParaRPr lang="en-IN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200">
                              <a:effectLst/>
                            </a:rPr>
                            <a:t>0.0044</a:t>
                          </a:r>
                          <a:endParaRPr lang="en-IN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83993804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0212A81C-0F32-4B91-952F-26E61B7FFE3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837429239"/>
                  </p:ext>
                </p:extLst>
              </p:nvPr>
            </p:nvGraphicFramePr>
            <p:xfrm>
              <a:off x="6958617" y="3066563"/>
              <a:ext cx="4017980" cy="1540564"/>
            </p:xfrm>
            <a:graphic>
              <a:graphicData uri="http://schemas.openxmlformats.org/drawingml/2006/table">
                <a:tbl>
                  <a:tblPr firstRow="1" firstCol="1" bandRow="1">
                    <a:tableStyleId>{0505E3EF-67EA-436B-97B2-0124C06EBD24}</a:tableStyleId>
                  </a:tblPr>
                  <a:tblGrid>
                    <a:gridCol w="1404434">
                      <a:extLst>
                        <a:ext uri="{9D8B030D-6E8A-4147-A177-3AD203B41FA5}">
                          <a16:colId xmlns:a16="http://schemas.microsoft.com/office/drawing/2014/main" val="1503695922"/>
                        </a:ext>
                      </a:extLst>
                    </a:gridCol>
                    <a:gridCol w="1404434">
                      <a:extLst>
                        <a:ext uri="{9D8B030D-6E8A-4147-A177-3AD203B41FA5}">
                          <a16:colId xmlns:a16="http://schemas.microsoft.com/office/drawing/2014/main" val="3711790107"/>
                        </a:ext>
                      </a:extLst>
                    </a:gridCol>
                    <a:gridCol w="1209112">
                      <a:extLst>
                        <a:ext uri="{9D8B030D-6E8A-4147-A177-3AD203B41FA5}">
                          <a16:colId xmlns:a16="http://schemas.microsoft.com/office/drawing/2014/main" val="4008373131"/>
                        </a:ext>
                      </a:extLst>
                    </a:gridCol>
                  </a:tblGrid>
                  <a:tr h="425856"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200">
                              <a:effectLst/>
                            </a:rPr>
                            <a:t>Fractal</a:t>
                          </a:r>
                          <a:endParaRPr lang="en-IN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200">
                              <a:effectLst/>
                            </a:rPr>
                            <a:t>Fractal dimension</a:t>
                          </a:r>
                          <a:endParaRPr lang="en-IN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blipFill>
                          <a:blip r:embed="rId4"/>
                          <a:stretch>
                            <a:fillRect l="-232161" t="-1429" r="-1005" b="-27714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06568155"/>
                      </a:ext>
                    </a:extLst>
                  </a:tr>
                  <a:tr h="278677">
                    <a:tc rowSpan="4">
                      <a:txBody>
                        <a:bodyPr/>
                        <a:lstStyle/>
                        <a:p>
                          <a:pPr algn="just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200">
                              <a:effectLst/>
                            </a:rPr>
                            <a:t> </a:t>
                          </a:r>
                          <a:endParaRPr lang="en-IN" sz="1100">
                            <a:effectLst/>
                          </a:endParaRPr>
                        </a:p>
                        <a:p>
                          <a:pPr algn="just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200">
                              <a:effectLst/>
                            </a:rPr>
                            <a:t>Tunable Monte Carlo clusters</a:t>
                          </a:r>
                          <a:endParaRPr lang="en-IN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200">
                              <a:effectLst/>
                            </a:rPr>
                            <a:t>1.76</a:t>
                          </a:r>
                          <a:endParaRPr lang="en-IN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200">
                              <a:effectLst/>
                            </a:rPr>
                            <a:t>-0.008</a:t>
                          </a:r>
                          <a:endParaRPr lang="en-IN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4238750520"/>
                      </a:ext>
                    </a:extLst>
                  </a:tr>
                  <a:tr h="278677">
                    <a:tc vMerge="1">
                      <a:txBody>
                        <a:bodyPr/>
                        <a:lstStyle/>
                        <a:p>
                          <a:endParaRPr lang="en-IN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200">
                              <a:effectLst/>
                            </a:rPr>
                            <a:t>1.99</a:t>
                          </a:r>
                          <a:endParaRPr lang="en-IN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200">
                              <a:effectLst/>
                            </a:rPr>
                            <a:t>-0.004</a:t>
                          </a:r>
                          <a:endParaRPr lang="en-IN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3361751533"/>
                      </a:ext>
                    </a:extLst>
                  </a:tr>
                  <a:tr h="278677">
                    <a:tc vMerge="1">
                      <a:txBody>
                        <a:bodyPr/>
                        <a:lstStyle/>
                        <a:p>
                          <a:endParaRPr lang="en-IN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200">
                              <a:effectLst/>
                            </a:rPr>
                            <a:t>2.23</a:t>
                          </a:r>
                          <a:endParaRPr lang="en-IN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200">
                              <a:effectLst/>
                            </a:rPr>
                            <a:t>0.0041</a:t>
                          </a:r>
                          <a:endParaRPr lang="en-IN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90121136"/>
                      </a:ext>
                    </a:extLst>
                  </a:tr>
                  <a:tr h="278677">
                    <a:tc vMerge="1">
                      <a:txBody>
                        <a:bodyPr/>
                        <a:lstStyle/>
                        <a:p>
                          <a:endParaRPr lang="en-IN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200">
                              <a:effectLst/>
                            </a:rPr>
                            <a:t>2.46</a:t>
                          </a:r>
                          <a:endParaRPr lang="en-IN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200">
                              <a:effectLst/>
                            </a:rPr>
                            <a:t>0.0044</a:t>
                          </a:r>
                          <a:endParaRPr lang="en-IN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839938044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45A7B9C7-DB16-4EFA-BCDB-1D4E474BB031}"/>
                  </a:ext>
                </a:extLst>
              </p:cNvPr>
              <p:cNvSpPr txBox="1"/>
              <p:nvPr/>
            </p:nvSpPr>
            <p:spPr>
              <a:xfrm>
                <a:off x="1215403" y="1215719"/>
                <a:ext cx="8828483" cy="121392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sub>
                    </m:sSub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&lt;2</m:t>
                    </m:r>
                  </m:oMath>
                </a14:m>
                <a:r>
                  <a:rPr lang="en-IN" sz="1600">
                    <a:latin typeface="Arial" panose="020B0604020202020204" pitchFamily="34" charset="0"/>
                    <a:cs typeface="Arial" panose="020B0604020202020204" pitchFamily="34" charset="0"/>
                  </a:rPr>
                  <a:t> shows slight decrease for small N.</a:t>
                </a: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IN" sz="1600">
                    <a:latin typeface="Arial" panose="020B0604020202020204" pitchFamily="34" charset="0"/>
                    <a:cs typeface="Arial" panose="020B0604020202020204" pitchFamily="34" charset="0"/>
                  </a:rPr>
                  <a:t>Almost constant for all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sub>
                    </m:sSub>
                  </m:oMath>
                </a14:m>
                <a:endParaRPr lang="en-IN" sz="160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endParaRPr lang="en-IN" sz="160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45A7B9C7-DB16-4EFA-BCDB-1D4E474BB03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15403" y="1215719"/>
                <a:ext cx="8828483" cy="1213922"/>
              </a:xfrm>
              <a:prstGeom prst="rect">
                <a:avLst/>
              </a:prstGeom>
              <a:blipFill>
                <a:blip r:embed="rId5"/>
                <a:stretch>
                  <a:fillRect l="-27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518EC3C4-1EFE-4C92-B01F-AB00C4057B3F}"/>
                  </a:ext>
                </a:extLst>
              </p:cNvPr>
              <p:cNvSpPr txBox="1"/>
              <p:nvPr/>
            </p:nvSpPr>
            <p:spPr>
              <a:xfrm>
                <a:off x="6197600" y="2333327"/>
                <a:ext cx="6313714" cy="49770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en-IN" sz="16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IN" sz="16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16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IN" sz="16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IN" sz="16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16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IN" sz="16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𝑔</m:t>
                            </m:r>
                          </m:sub>
                        </m:sSub>
                      </m:den>
                    </m:f>
                    <m:r>
                      <a:rPr lang="en-IN" sz="1600" i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16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𝛼</m:t>
                    </m:r>
                    <m:sSup>
                      <m:sSupPr>
                        <m:ctrlPr>
                          <a:rPr lang="en-IN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N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p>
                        <m:r>
                          <a:rPr lang="en-IN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𝛽</m:t>
                        </m:r>
                      </m:sup>
                    </m:sSup>
                  </m:oMath>
                </a14:m>
                <a:r>
                  <a:rPr lang="en-IN"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can be used to test independent nature</a:t>
                </a: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518EC3C4-1EFE-4C92-B01F-AB00C4057B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97600" y="2333327"/>
                <a:ext cx="6313714" cy="49770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16D64BB8-EF25-4837-B896-CCE68E91B1BB}"/>
                  </a:ext>
                </a:extLst>
              </p:cNvPr>
              <p:cNvSpPr txBox="1"/>
              <p:nvPr/>
            </p:nvSpPr>
            <p:spPr>
              <a:xfrm>
                <a:off x="6008414" y="4865860"/>
                <a:ext cx="5631543" cy="11546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𝛽</m:t>
                    </m:r>
                  </m:oMath>
                </a14:m>
                <a:r>
                  <a:rPr lang="en-IN"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values are very small (&lt;0.01) when compared to other fractals.</a:t>
                </a: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IN"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“Tuned” fractals exhibit high degree of fractality</a:t>
                </a: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16D64BB8-EF25-4837-B896-CCE68E91B1B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08414" y="4865860"/>
                <a:ext cx="5631543" cy="1154675"/>
              </a:xfrm>
              <a:prstGeom prst="rect">
                <a:avLst/>
              </a:prstGeom>
              <a:blipFill>
                <a:blip r:embed="rId7"/>
                <a:stretch>
                  <a:fillRect l="-433" b="-578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Rectangle 13">
            <a:extLst>
              <a:ext uri="{FF2B5EF4-FFF2-40B4-BE49-F238E27FC236}">
                <a16:creationId xmlns:a16="http://schemas.microsoft.com/office/drawing/2014/main" id="{57C6E3DB-2884-4A1D-8D08-8D506CC004C0}"/>
              </a:ext>
            </a:extLst>
          </p:cNvPr>
          <p:cNvSpPr/>
          <p:nvPr/>
        </p:nvSpPr>
        <p:spPr>
          <a:xfrm>
            <a:off x="174171" y="188686"/>
            <a:ext cx="11843657" cy="645885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18CA7BD-BC10-4EC9-BA83-5A45E0D954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3CAD28-B1A9-4A64-9DD6-3376C7DEC3B0}" type="slidenum">
              <a:rPr lang="en-IN" smtClean="0"/>
              <a:t>25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244034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4393"/>
    </mc:Choice>
    <mc:Fallback xmlns="">
      <p:transition spd="slow" advTm="44393"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BC25D6A-68E4-400E-8126-9E049F019212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1188506" y="2838731"/>
            <a:ext cx="3779383" cy="3407682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27919C92-7FD4-4D5E-9782-C0490ECFCAF4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6338655" y="2874736"/>
            <a:ext cx="3779383" cy="340768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8D138B2-7D6C-48FB-845E-B864624C2422}"/>
              </a:ext>
            </a:extLst>
          </p:cNvPr>
          <p:cNvSpPr txBox="1"/>
          <p:nvPr/>
        </p:nvSpPr>
        <p:spPr>
          <a:xfrm>
            <a:off x="2073961" y="202720"/>
            <a:ext cx="8044077" cy="10105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2400" b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Hydrodynamic ratio and size</a:t>
            </a:r>
          </a:p>
          <a:p>
            <a:pPr algn="ctr">
              <a:lnSpc>
                <a:spcPct val="150000"/>
              </a:lnSpc>
            </a:pPr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Comparison with previous works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9D1FAD66-90FB-41F7-9B18-859108143B3D}"/>
                  </a:ext>
                </a:extLst>
              </p:cNvPr>
              <p:cNvSpPr txBox="1"/>
              <p:nvPr/>
            </p:nvSpPr>
            <p:spPr>
              <a:xfrm>
                <a:off x="5956528" y="1519011"/>
                <a:ext cx="7547429" cy="11842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sz="1600">
                    <a:latin typeface="Arial" panose="020B0604020202020204" pitchFamily="34" charset="0"/>
                    <a:cs typeface="Arial" panose="020B0604020202020204" pitchFamily="34" charset="0"/>
                  </a:rPr>
                  <a:t>DLA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(</m:t>
                    </m:r>
                    <m:sSub>
                      <m:sSubPr>
                        <m:ctrlP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𝐷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𝑓</m:t>
                        </m:r>
                      </m:sub>
                    </m:sSub>
                    <m:r>
                      <a:rPr lang="en-US" sz="16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=2.47)</m:t>
                    </m:r>
                  </m:oMath>
                </a14:m>
                <a:endParaRPr lang="en-US" sz="160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742950" lvl="1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sz="1600">
                    <a:latin typeface="Arial" panose="020B0604020202020204" pitchFamily="34" charset="0"/>
                    <a:cs typeface="Arial" panose="020B0604020202020204" pitchFamily="34" charset="0"/>
                  </a:rPr>
                  <a:t>Exactly matches for most cases.</a:t>
                </a:r>
              </a:p>
              <a:p>
                <a:pPr marL="742950" lvl="1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sz="1600">
                    <a:latin typeface="Arial" panose="020B0604020202020204" pitchFamily="34" charset="0"/>
                    <a:cs typeface="Arial" panose="020B0604020202020204" pitchFamily="34" charset="0"/>
                  </a:rPr>
                  <a:t>Shows the steady increase for small N.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9D1FAD66-90FB-41F7-9B18-859108143B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56528" y="1519011"/>
                <a:ext cx="7547429" cy="1184299"/>
              </a:xfrm>
              <a:prstGeom prst="rect">
                <a:avLst/>
              </a:prstGeom>
              <a:blipFill>
                <a:blip r:embed="rId4"/>
                <a:stretch>
                  <a:fillRect l="-323" b="-618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C343F75C-8F82-4041-971D-691E9EA93427}"/>
                  </a:ext>
                </a:extLst>
              </p:cNvPr>
              <p:cNvSpPr txBox="1"/>
              <p:nvPr/>
            </p:nvSpPr>
            <p:spPr>
              <a:xfrm>
                <a:off x="862014" y="1612049"/>
                <a:ext cx="5094514" cy="122668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sz="1600">
                    <a:latin typeface="Arial" panose="020B0604020202020204" pitchFamily="34" charset="0"/>
                    <a:cs typeface="Arial" panose="020B0604020202020204" pitchFamily="34" charset="0"/>
                  </a:rPr>
                  <a:t>DLCCA</a:t>
                </a:r>
                <a14:m>
                  <m:oMath xmlns:m="http://schemas.openxmlformats.org/officeDocument/2006/math">
                    <m:r>
                      <a:rPr lang="en-US" sz="1600" b="0" i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(</m:t>
                    </m:r>
                    <m:sSub>
                      <m:sSubPr>
                        <m:ctrlP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𝐷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𝑓</m:t>
                        </m:r>
                      </m:sub>
                    </m:sSub>
                    <m:r>
                      <a:rPr lang="en-US" sz="16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=1.84)</m:t>
                    </m:r>
                  </m:oMath>
                </a14:m>
                <a:endParaRPr lang="en-US" sz="160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742950" lvl="1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sz="1600">
                    <a:latin typeface="Arial" panose="020B0604020202020204" pitchFamily="34" charset="0"/>
                    <a:cs typeface="Arial" panose="020B0604020202020204" pitchFamily="34" charset="0"/>
                  </a:rPr>
                  <a:t>Less variations than Nyugen(2007)</a:t>
                </a:r>
              </a:p>
              <a:p>
                <a:pPr marL="742950" lvl="1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sz="1600">
                    <a:latin typeface="Arial" panose="020B0604020202020204" pitchFamily="34" charset="0"/>
                    <a:cs typeface="Arial" panose="020B0604020202020204" pitchFamily="34" charset="0"/>
                  </a:rPr>
                  <a:t>Confirms that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/</m:t>
                    </m:r>
                    <m:sSub>
                      <m:sSub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</m:sub>
                    </m:sSub>
                  </m:oMath>
                </a14:m>
                <a:r>
                  <a:rPr lang="en-IN" sz="1600">
                    <a:latin typeface="Arial" panose="020B0604020202020204" pitchFamily="34" charset="0"/>
                    <a:cs typeface="Arial" panose="020B0604020202020204" pitchFamily="34" charset="0"/>
                  </a:rPr>
                  <a:t> is independent of N.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C343F75C-8F82-4041-971D-691E9EA9342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2014" y="1612049"/>
                <a:ext cx="5094514" cy="1226682"/>
              </a:xfrm>
              <a:prstGeom prst="rect">
                <a:avLst/>
              </a:prstGeom>
              <a:blipFill>
                <a:blip r:embed="rId5"/>
                <a:stretch>
                  <a:fillRect l="-478" b="-346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ectangle 6">
            <a:extLst>
              <a:ext uri="{FF2B5EF4-FFF2-40B4-BE49-F238E27FC236}">
                <a16:creationId xmlns:a16="http://schemas.microsoft.com/office/drawing/2014/main" id="{B6EC7160-1C91-4E75-B73C-532BB9F66D78}"/>
              </a:ext>
            </a:extLst>
          </p:cNvPr>
          <p:cNvSpPr/>
          <p:nvPr/>
        </p:nvSpPr>
        <p:spPr>
          <a:xfrm>
            <a:off x="174171" y="188686"/>
            <a:ext cx="11843657" cy="645885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1A5B068D-0077-4879-B4B1-A145414A07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3CAD28-B1A9-4A64-9DD6-3376C7DEC3B0}" type="slidenum">
              <a:rPr lang="en-IN" smtClean="0"/>
              <a:t>26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467140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2436"/>
    </mc:Choice>
    <mc:Fallback xmlns="">
      <p:transition spd="slow" advTm="62436"/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F4E4AAA6-F466-4FC8-A30D-A0453293D460}"/>
              </a:ext>
            </a:extLst>
          </p:cNvPr>
          <p:cNvSpPr txBox="1"/>
          <p:nvPr/>
        </p:nvSpPr>
        <p:spPr>
          <a:xfrm>
            <a:off x="4297948" y="675031"/>
            <a:ext cx="590196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Velocity field within an aggregate</a:t>
            </a:r>
            <a:endParaRPr lang="en-IN" sz="2400" b="1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0C3DAD0D-E8E0-44EA-91A8-F210F073FD7C}"/>
                  </a:ext>
                </a:extLst>
              </p:cNvPr>
              <p:cNvSpPr txBox="1"/>
              <p:nvPr/>
            </p:nvSpPr>
            <p:spPr>
              <a:xfrm>
                <a:off x="1162589" y="1459268"/>
                <a:ext cx="6607989" cy="474514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sz="1600">
                    <a:latin typeface="Arial" panose="020B0604020202020204" pitchFamily="34" charset="0"/>
                    <a:cs typeface="Arial" panose="020B0604020202020204" pitchFamily="34" charset="0"/>
                  </a:rPr>
                  <a:t>Ambient fluid velocity in one-direction is unity.</a:t>
                </a: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sz="1600">
                    <a:solidFill>
                      <a:srgbClr val="C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Stokesian Dynamics</a:t>
                </a:r>
                <a:r>
                  <a:rPr lang="en-US" sz="1600">
                    <a:latin typeface="Arial" panose="020B0604020202020204" pitchFamily="34" charset="0"/>
                    <a:cs typeface="Arial" panose="020B0604020202020204" pitchFamily="34" charset="0"/>
                  </a:rPr>
                  <a:t>: Forces acting on spheres </a:t>
                </a: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IN" sz="1600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IN" sz="1600" i="1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mPr>
                            <m:mr>
                              <m:e>
                                <m:sSup>
                                  <m:sSupPr>
                                    <m:ctrlPr>
                                      <a:rPr lang="en-IN" sz="16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Arial" panose="020B0604020202020204" pitchFamily="34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IN" sz="16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Arial" panose="020B0604020202020204" pitchFamily="34" charset="0"/>
                                      </a:rPr>
                                      <m:t>𝐹</m:t>
                                    </m:r>
                                  </m:e>
                                  <m:sup>
                                    <m:r>
                                      <a:rPr lang="en-IN" sz="16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Arial" panose="020B0604020202020204" pitchFamily="34" charset="0"/>
                                      </a:rPr>
                                      <m:t>𝛼</m:t>
                                    </m:r>
                                  </m:sup>
                                </m:sSup>
                              </m:e>
                            </m:mr>
                            <m:mr>
                              <m:e>
                                <m:sSup>
                                  <m:sSupPr>
                                    <m:ctrlPr>
                                      <a:rPr lang="en-IN" sz="16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Arial" panose="020B0604020202020204" pitchFamily="34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1600" b="0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Arial" panose="020B0604020202020204" pitchFamily="34" charset="0"/>
                                      </a:rPr>
                                      <m:t>𝑇</m:t>
                                    </m:r>
                                  </m:e>
                                  <m:sup>
                                    <m:r>
                                      <a:rPr lang="en-IN" sz="16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Arial" panose="020B0604020202020204" pitchFamily="34" charset="0"/>
                                      </a:rPr>
                                      <m:t>𝛼</m:t>
                                    </m:r>
                                  </m:sup>
                                </m:sSup>
                              </m:e>
                            </m:mr>
                          </m:m>
                        </m:e>
                      </m:d>
                      <m:r>
                        <a:rPr lang="en-IN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m:t>=</m:t>
                      </m:r>
                      <m:r>
                        <a:rPr lang="en-IN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m:t>𝑅</m:t>
                      </m:r>
                      <m:d>
                        <m:dPr>
                          <m:ctrlPr>
                            <a:rPr lang="en-IN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IN" sz="1600" i="1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mPr>
                            <m:mr>
                              <m:e>
                                <m:sSup>
                                  <m:sSupPr>
                                    <m:ctrlPr>
                                      <a:rPr lang="en-IN" sz="16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Arial" panose="020B0604020202020204" pitchFamily="34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IN" sz="16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Arial" panose="020B0604020202020204" pitchFamily="34" charset="0"/>
                                      </a:rPr>
                                      <m:t>𝑈</m:t>
                                    </m:r>
                                  </m:e>
                                  <m:sup>
                                    <m:r>
                                      <a:rPr lang="en-IN" sz="16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Arial" panose="020B0604020202020204" pitchFamily="34" charset="0"/>
                                      </a:rPr>
                                      <m:t>𝛼</m:t>
                                    </m:r>
                                  </m:sup>
                                </m:sSup>
                                <m:r>
                                  <a:rPr lang="en-IN" sz="16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Arial" panose="020B0604020202020204" pitchFamily="34" charset="0"/>
                                  </a:rPr>
                                  <m:t>−</m:t>
                                </m:r>
                                <m:sSup>
                                  <m:sSupPr>
                                    <m:ctrlPr>
                                      <a:rPr lang="en-IN" sz="16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Arial" panose="020B0604020202020204" pitchFamily="34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IN" sz="16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Arial" panose="020B0604020202020204" pitchFamily="34" charset="0"/>
                                      </a:rPr>
                                      <m:t>𝑢</m:t>
                                    </m:r>
                                  </m:e>
                                  <m:sup>
                                    <m:r>
                                      <a:rPr lang="en-IN" sz="16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Arial" panose="020B0604020202020204" pitchFamily="34" charset="0"/>
                                      </a:rPr>
                                      <m:t>∞</m:t>
                                    </m:r>
                                  </m:sup>
                                </m:sSup>
                              </m:e>
                            </m:mr>
                            <m:mr>
                              <m:e>
                                <m:sSup>
                                  <m:sSupPr>
                                    <m:ctrlPr>
                                      <a:rPr lang="en-IN" sz="16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Arial" panose="020B0604020202020204" pitchFamily="34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IN" sz="16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Arial" panose="020B0604020202020204" pitchFamily="34" charset="0"/>
                                      </a:rPr>
                                      <m:t>𝛺</m:t>
                                    </m:r>
                                  </m:e>
                                  <m:sup>
                                    <m:r>
                                      <a:rPr lang="en-IN" sz="16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Arial" panose="020B0604020202020204" pitchFamily="34" charset="0"/>
                                      </a:rPr>
                                      <m:t>𝛼</m:t>
                                    </m:r>
                                  </m:sup>
                                </m:sSup>
                                <m:r>
                                  <a:rPr lang="en-IN" sz="16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Arial" panose="020B0604020202020204" pitchFamily="34" charset="0"/>
                                  </a:rPr>
                                  <m:t>−</m:t>
                                </m:r>
                                <m:sSup>
                                  <m:sSupPr>
                                    <m:ctrlPr>
                                      <a:rPr lang="en-IN" sz="16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Arial" panose="020B0604020202020204" pitchFamily="34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IN" sz="16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Arial" panose="020B0604020202020204" pitchFamily="34" charset="0"/>
                                      </a:rPr>
                                      <m:t>𝛺</m:t>
                                    </m:r>
                                  </m:e>
                                  <m:sup>
                                    <m:r>
                                      <a:rPr lang="en-IN" sz="16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Arial" panose="020B0604020202020204" pitchFamily="34" charset="0"/>
                                      </a:rPr>
                                      <m:t>∞</m:t>
                                    </m:r>
                                  </m:sup>
                                </m:sSup>
                                <m:r>
                                  <m:rPr>
                                    <m:nor/>
                                  </m:rPr>
                                  <a:rPr lang="en-IN" sz="1600">
                                    <a:latin typeface="Arial" panose="020B0604020202020204" pitchFamily="34" charset="0"/>
                                    <a:cs typeface="Arial" panose="020B0604020202020204" pitchFamily="34" charset="0"/>
                                  </a:rPr>
                                  <m:t> 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IN" sz="160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IN" sz="1600">
                    <a:latin typeface="Arial" panose="020B0604020202020204" pitchFamily="34" charset="0"/>
                    <a:cs typeface="Arial" panose="020B0604020202020204" pitchFamily="34" charset="0"/>
                  </a:rPr>
                  <a:t>Fluid velocity from multipole expansion</a:t>
                </a:r>
              </a:p>
              <a:p>
                <a:pPr>
                  <a:lnSpc>
                    <a:spcPct val="150000"/>
                  </a:lnSpc>
                </a:pPr>
                <a:r>
                  <a:rPr lang="en-IN" sz="1600">
                    <a:latin typeface="Arial" panose="020B0604020202020204" pitchFamily="34" charset="0"/>
                    <a:cs typeface="Arial" panose="020B0604020202020204" pitchFamily="34" charset="0"/>
                  </a:rPr>
                  <a:t>	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𝑢</m:t>
                    </m:r>
                    <m:d>
                      <m:dPr>
                        <m:ctrlPr>
                          <a:rPr lang="en-US" sz="16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US" sz="16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n-US" sz="16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sSup>
                      <m:sSupPr>
                        <m:ctrlPr>
                          <a:rPr lang="en-US" sz="16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𝑢</m:t>
                        </m:r>
                      </m:e>
                      <m:sup>
                        <m:r>
                          <a:rPr 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∞</m:t>
                        </m:r>
                      </m:sup>
                    </m:sSup>
                    <m:r>
                      <a:rPr lang="en-US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+</m:t>
                    </m:r>
                    <m:r>
                      <a:rPr lang="en-US" sz="16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𝑢</m:t>
                    </m:r>
                    <m:r>
                      <a:rPr lang="en-US" sz="16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′(</m:t>
                    </m:r>
                    <m:sSub>
                      <m:sSubPr>
                        <m:ctrlPr>
                          <a:rPr lang="en-US" sz="16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𝑟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  <m:r>
                      <a:rPr lang="en-US" sz="16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nary>
                      <m:naryPr>
                        <m:chr m:val="∑"/>
                        <m:ctrlPr>
                          <a:rPr lang="en-US" sz="16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sz="16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𝛼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=1</m:t>
                        </m:r>
                      </m:sub>
                      <m:sup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𝑁</m:t>
                        </m:r>
                      </m:sup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𝐹</m:t>
                        </m:r>
                      </m:e>
                    </m:nary>
                    <m:r>
                      <a:rPr lang="en-US" sz="16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nary>
                      <m:naryPr>
                        <m:chr m:val="∑"/>
                        <m:ctrlPr>
                          <a:rPr lang="en-US" sz="16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naryPr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𝛼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=1</m:t>
                        </m:r>
                      </m:sub>
                      <m:sup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𝑁</m:t>
                        </m:r>
                      </m:sup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𝑇</m:t>
                        </m:r>
                      </m:e>
                    </m:nary>
                    <m:r>
                      <a:rPr lang="en-US" sz="16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 </m:t>
                    </m:r>
                  </m:oMath>
                </a14:m>
                <a:endParaRPr lang="en-IN" sz="160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IN" sz="1600">
                    <a:latin typeface="Arial" panose="020B0604020202020204" pitchFamily="34" charset="0"/>
                    <a:cs typeface="Arial" panose="020B0604020202020204" pitchFamily="34" charset="0"/>
                  </a:rPr>
                  <a:t>Fluid velocity</a:t>
                </a:r>
              </a:p>
              <a:p>
                <a:pPr marL="742950" lvl="1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IN" sz="1600">
                    <a:latin typeface="Arial" panose="020B0604020202020204" pitchFamily="34" charset="0"/>
                    <a:cs typeface="Arial" panose="020B0604020202020204" pitchFamily="34" charset="0"/>
                  </a:rPr>
                  <a:t>Large distance from the sphere</a:t>
                </a:r>
              </a:p>
              <a:p>
                <a:pPr lvl="2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𝑢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→</m:t>
                      </m:r>
                      <m:sSup>
                        <m:sSupPr>
                          <m:ctrlP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p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𝑢</m:t>
                          </m:r>
                        </m:e>
                        <m:sup>
                          <m:r>
                            <a:rPr lang="en-US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∞</m:t>
                          </m:r>
                        </m:sup>
                      </m:sSup>
                    </m:oMath>
                  </m:oMathPara>
                </a14:m>
                <a:endParaRPr lang="en-IN" sz="160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742950" lvl="1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IN" sz="1600">
                    <a:latin typeface="Arial" panose="020B0604020202020204" pitchFamily="34" charset="0"/>
                    <a:cs typeface="Arial" panose="020B0604020202020204" pitchFamily="34" charset="0"/>
                  </a:rPr>
                  <a:t>Finite at centre of mass,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𝑢</m:t>
                    </m:r>
                    <m:r>
                      <a:rPr lang="en-US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≠0</m:t>
                    </m:r>
                  </m:oMath>
                </a14:m>
                <a:endParaRPr lang="en-IN" sz="160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742950" lvl="1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sz="1600">
                    <a:latin typeface="Arial" panose="020B0604020202020204" pitchFamily="34" charset="0"/>
                    <a:cs typeface="Arial" panose="020B0604020202020204" pitchFamily="34" charset="0"/>
                  </a:rPr>
                  <a:t>Disturbance field decays as 1/r.</a:t>
                </a:r>
              </a:p>
              <a:p>
                <a:pPr lvl="1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p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∝ </m:t>
                      </m:r>
                      <m:sSub>
                        <m:sSubPr>
                          <m:ctrlPr>
                            <a:rPr lang="en-IN" sz="16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  <m:sub>
                          <m:r>
                            <a:rPr lang="en-IN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d>
                        <m:dPr>
                          <m:ctrlPr>
                            <a:rPr lang="en-IN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16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r</m:t>
                          </m:r>
                        </m:e>
                      </m:d>
                      <m:r>
                        <a:rPr lang="en-IN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~</m:t>
                      </m:r>
                      <m:f>
                        <m:fPr>
                          <m:ctrlP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𝑟</m:t>
                          </m:r>
                        </m:den>
                      </m:f>
                    </m:oMath>
                  </m:oMathPara>
                </a14:m>
                <a:endParaRPr lang="en-IN" sz="160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0C3DAD0D-E8E0-44EA-91A8-F210F073FD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62589" y="1459268"/>
                <a:ext cx="6607989" cy="4745145"/>
              </a:xfrm>
              <a:prstGeom prst="rect">
                <a:avLst/>
              </a:prstGeom>
              <a:blipFill>
                <a:blip r:embed="rId2"/>
                <a:stretch>
                  <a:fillRect l="-36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B0C2EB5D-B7F7-4DED-AF8B-89CB9330F8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53900" y="2328200"/>
            <a:ext cx="3971925" cy="2314575"/>
          </a:xfrm>
          <a:prstGeom prst="rect">
            <a:avLst/>
          </a:prstGeom>
        </p:spPr>
      </p:pic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CEFFB7B4-C283-4FCD-B567-B1690D19E3F7}"/>
              </a:ext>
            </a:extLst>
          </p:cNvPr>
          <p:cNvCxnSpPr/>
          <p:nvPr/>
        </p:nvCxnSpPr>
        <p:spPr>
          <a:xfrm flipV="1">
            <a:off x="7543545" y="4435546"/>
            <a:ext cx="0" cy="81116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2E25508C-4281-4133-ABAB-843955B24915}"/>
              </a:ext>
            </a:extLst>
          </p:cNvPr>
          <p:cNvCxnSpPr/>
          <p:nvPr/>
        </p:nvCxnSpPr>
        <p:spPr>
          <a:xfrm flipV="1">
            <a:off x="8757792" y="4435548"/>
            <a:ext cx="0" cy="81116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D67CCD1F-D9E8-4C90-8D6B-4534B8AA8B67}"/>
              </a:ext>
            </a:extLst>
          </p:cNvPr>
          <p:cNvCxnSpPr/>
          <p:nvPr/>
        </p:nvCxnSpPr>
        <p:spPr>
          <a:xfrm flipV="1">
            <a:off x="10089628" y="4435547"/>
            <a:ext cx="0" cy="81116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66708863-0128-413F-843F-CF7688C2309C}"/>
                  </a:ext>
                </a:extLst>
              </p:cNvPr>
              <p:cNvSpPr txBox="1"/>
              <p:nvPr/>
            </p:nvSpPr>
            <p:spPr>
              <a:xfrm>
                <a:off x="10199915" y="4333117"/>
                <a:ext cx="165181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∞</m:t>
                          </m:r>
                        </m:sup>
                      </m:sSup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𝑧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n-IN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66708863-0128-413F-843F-CF7688C230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99915" y="4333117"/>
                <a:ext cx="1651819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4D0B629A-4DD8-4FB5-A4B8-71AA63D07976}"/>
                  </a:ext>
                </a:extLst>
              </p:cNvPr>
              <p:cNvSpPr txBox="1"/>
              <p:nvPr/>
            </p:nvSpPr>
            <p:spPr>
              <a:xfrm>
                <a:off x="9418231" y="2601144"/>
                <a:ext cx="1971205" cy="54046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sub>
                      </m:sSub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=2.23</m:t>
                      </m:r>
                    </m:oMath>
                  </m:oMathPara>
                </a14:m>
                <a:endParaRPr lang="en-IN" sz="14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ctr"/>
                <a:r>
                  <a:rPr lang="en-IN" sz="14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N=1024</a:t>
                </a: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4D0B629A-4DD8-4FB5-A4B8-71AA63D079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18231" y="2601144"/>
                <a:ext cx="1971205" cy="540469"/>
              </a:xfrm>
              <a:prstGeom prst="rect">
                <a:avLst/>
              </a:prstGeom>
              <a:blipFill>
                <a:blip r:embed="rId5"/>
                <a:stretch>
                  <a:fillRect b="-1136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Rectangle 10">
            <a:extLst>
              <a:ext uri="{FF2B5EF4-FFF2-40B4-BE49-F238E27FC236}">
                <a16:creationId xmlns:a16="http://schemas.microsoft.com/office/drawing/2014/main" id="{E6E996D2-E50A-4661-8361-3D583E1FB77D}"/>
              </a:ext>
            </a:extLst>
          </p:cNvPr>
          <p:cNvSpPr/>
          <p:nvPr/>
        </p:nvSpPr>
        <p:spPr>
          <a:xfrm>
            <a:off x="174171" y="188686"/>
            <a:ext cx="11843657" cy="645885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7F5B678-C49B-42E5-A51B-079FCA77BC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3CAD28-B1A9-4A64-9DD6-3376C7DEC3B0}" type="slidenum">
              <a:rPr lang="en-IN" smtClean="0"/>
              <a:t>27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828753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22"/>
    </mc:Choice>
    <mc:Fallback xmlns="">
      <p:transition spd="slow" advTm="622"/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F4E4AAA6-F466-4FC8-A30D-A0453293D460}"/>
              </a:ext>
            </a:extLst>
          </p:cNvPr>
          <p:cNvSpPr txBox="1"/>
          <p:nvPr/>
        </p:nvSpPr>
        <p:spPr>
          <a:xfrm>
            <a:off x="4450817" y="665070"/>
            <a:ext cx="590196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Velocity field for a single sphere</a:t>
            </a:r>
            <a:endParaRPr lang="en-IN" sz="2400" b="1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0C3DAD0D-E8E0-44EA-91A8-F210F073FD7C}"/>
                  </a:ext>
                </a:extLst>
              </p:cNvPr>
              <p:cNvSpPr txBox="1"/>
              <p:nvPr/>
            </p:nvSpPr>
            <p:spPr>
              <a:xfrm>
                <a:off x="1146823" y="1828600"/>
                <a:ext cx="6607989" cy="400648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sz="1600">
                    <a:solidFill>
                      <a:srgbClr val="C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Stokesian Dynamics</a:t>
                </a:r>
                <a:r>
                  <a:rPr lang="en-US" sz="1600">
                    <a:latin typeface="Arial" panose="020B0604020202020204" pitchFamily="34" charset="0"/>
                    <a:cs typeface="Arial" panose="020B0604020202020204" pitchFamily="34" charset="0"/>
                  </a:rPr>
                  <a:t>: Forces acting on sphere</a:t>
                </a: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IN" sz="1600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IN" sz="1600" i="1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mPr>
                            <m:mr>
                              <m:e>
                                <m:sSup>
                                  <m:sSupPr>
                                    <m:ctrlPr>
                                      <a:rPr lang="en-IN" sz="16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Arial" panose="020B0604020202020204" pitchFamily="34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IN" sz="16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Arial" panose="020B0604020202020204" pitchFamily="34" charset="0"/>
                                      </a:rPr>
                                      <m:t>𝐹</m:t>
                                    </m:r>
                                  </m:e>
                                  <m:sup>
                                    <m:r>
                                      <a:rPr lang="en-IN" sz="16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Arial" panose="020B0604020202020204" pitchFamily="34" charset="0"/>
                                      </a:rPr>
                                      <m:t>𝛼</m:t>
                                    </m:r>
                                  </m:sup>
                                </m:sSup>
                              </m:e>
                            </m:mr>
                            <m:mr>
                              <m:e>
                                <m:sSup>
                                  <m:sSupPr>
                                    <m:ctrlPr>
                                      <a:rPr lang="en-IN" sz="16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Arial" panose="020B0604020202020204" pitchFamily="34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1600" b="0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Arial" panose="020B0604020202020204" pitchFamily="34" charset="0"/>
                                      </a:rPr>
                                      <m:t>𝑇</m:t>
                                    </m:r>
                                  </m:e>
                                  <m:sup>
                                    <m:r>
                                      <a:rPr lang="en-IN" sz="16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Arial" panose="020B0604020202020204" pitchFamily="34" charset="0"/>
                                      </a:rPr>
                                      <m:t>𝛼</m:t>
                                    </m:r>
                                  </m:sup>
                                </m:sSup>
                              </m:e>
                            </m:mr>
                          </m:m>
                        </m:e>
                      </m:d>
                      <m:r>
                        <a:rPr lang="en-IN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m:t>=</m:t>
                      </m:r>
                      <m:r>
                        <a:rPr lang="en-IN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m:t>𝑅</m:t>
                      </m:r>
                      <m:d>
                        <m:dPr>
                          <m:ctrlPr>
                            <a:rPr lang="en-IN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IN" sz="1600" i="1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mPr>
                            <m:mr>
                              <m:e>
                                <m:sSup>
                                  <m:sSupPr>
                                    <m:ctrlPr>
                                      <a:rPr lang="en-IN" sz="16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Arial" panose="020B0604020202020204" pitchFamily="34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IN" sz="16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Arial" panose="020B0604020202020204" pitchFamily="34" charset="0"/>
                                      </a:rPr>
                                      <m:t>𝑈</m:t>
                                    </m:r>
                                  </m:e>
                                  <m:sup>
                                    <m:r>
                                      <a:rPr lang="en-IN" sz="16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Arial" panose="020B0604020202020204" pitchFamily="34" charset="0"/>
                                      </a:rPr>
                                      <m:t>𝛼</m:t>
                                    </m:r>
                                  </m:sup>
                                </m:sSup>
                                <m:r>
                                  <a:rPr lang="en-IN" sz="16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Arial" panose="020B0604020202020204" pitchFamily="34" charset="0"/>
                                  </a:rPr>
                                  <m:t>−</m:t>
                                </m:r>
                                <m:sSup>
                                  <m:sSupPr>
                                    <m:ctrlPr>
                                      <a:rPr lang="en-IN" sz="16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Arial" panose="020B0604020202020204" pitchFamily="34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IN" sz="16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Arial" panose="020B0604020202020204" pitchFamily="34" charset="0"/>
                                      </a:rPr>
                                      <m:t>𝑢</m:t>
                                    </m:r>
                                  </m:e>
                                  <m:sup>
                                    <m:r>
                                      <a:rPr lang="en-IN" sz="16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Arial" panose="020B0604020202020204" pitchFamily="34" charset="0"/>
                                      </a:rPr>
                                      <m:t>∞</m:t>
                                    </m:r>
                                  </m:sup>
                                </m:sSup>
                              </m:e>
                            </m:mr>
                            <m:mr>
                              <m:e>
                                <m:sSup>
                                  <m:sSupPr>
                                    <m:ctrlPr>
                                      <a:rPr lang="en-IN" sz="16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Arial" panose="020B0604020202020204" pitchFamily="34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IN" sz="16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Arial" panose="020B0604020202020204" pitchFamily="34" charset="0"/>
                                      </a:rPr>
                                      <m:t>𝛺</m:t>
                                    </m:r>
                                  </m:e>
                                  <m:sup>
                                    <m:r>
                                      <a:rPr lang="en-IN" sz="16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Arial" panose="020B0604020202020204" pitchFamily="34" charset="0"/>
                                      </a:rPr>
                                      <m:t>𝛼</m:t>
                                    </m:r>
                                  </m:sup>
                                </m:sSup>
                                <m:r>
                                  <a:rPr lang="en-IN" sz="16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Arial" panose="020B0604020202020204" pitchFamily="34" charset="0"/>
                                  </a:rPr>
                                  <m:t>−</m:t>
                                </m:r>
                                <m:sSup>
                                  <m:sSupPr>
                                    <m:ctrlPr>
                                      <a:rPr lang="en-IN" sz="16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Arial" panose="020B0604020202020204" pitchFamily="34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IN" sz="16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Arial" panose="020B0604020202020204" pitchFamily="34" charset="0"/>
                                      </a:rPr>
                                      <m:t>𝛺</m:t>
                                    </m:r>
                                  </m:e>
                                  <m:sup>
                                    <m:r>
                                      <a:rPr lang="en-IN" sz="16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Arial" panose="020B0604020202020204" pitchFamily="34" charset="0"/>
                                      </a:rPr>
                                      <m:t>∞</m:t>
                                    </m:r>
                                  </m:sup>
                                </m:sSup>
                                <m:r>
                                  <m:rPr>
                                    <m:nor/>
                                  </m:rPr>
                                  <a:rPr lang="en-IN" sz="1600">
                                    <a:latin typeface="Arial" panose="020B0604020202020204" pitchFamily="34" charset="0"/>
                                    <a:cs typeface="Arial" panose="020B0604020202020204" pitchFamily="34" charset="0"/>
                                  </a:rPr>
                                  <m:t> 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IN" sz="160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IN" sz="1600">
                    <a:latin typeface="Arial" panose="020B0604020202020204" pitchFamily="34" charset="0"/>
                    <a:cs typeface="Arial" panose="020B0604020202020204" pitchFamily="34" charset="0"/>
                  </a:rPr>
                  <a:t>Fluid velocity from multipole expansion</a:t>
                </a:r>
              </a:p>
              <a:p>
                <a:pPr>
                  <a:lnSpc>
                    <a:spcPct val="150000"/>
                  </a:lnSpc>
                </a:pPr>
                <a:r>
                  <a:rPr lang="en-IN" sz="1600">
                    <a:latin typeface="Arial" panose="020B0604020202020204" pitchFamily="34" charset="0"/>
                    <a:cs typeface="Arial" panose="020B0604020202020204" pitchFamily="34" charset="0"/>
                  </a:rPr>
                  <a:t>	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𝑢</m:t>
                    </m:r>
                    <m:d>
                      <m:dPr>
                        <m:ctrlPr>
                          <a:rPr lang="en-US" sz="16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US" sz="16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n-US" sz="16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sSup>
                      <m:sSupPr>
                        <m:ctrlPr>
                          <a:rPr lang="en-US" sz="16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𝑢</m:t>
                        </m:r>
                      </m:e>
                      <m:sup>
                        <m:r>
                          <a:rPr 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∞</m:t>
                        </m:r>
                      </m:sup>
                    </m:sSup>
                    <m:r>
                      <a:rPr lang="en-US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+</m:t>
                    </m:r>
                    <m:r>
                      <a:rPr lang="en-US" sz="16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𝑢</m:t>
                    </m:r>
                    <m:r>
                      <a:rPr lang="en-US" sz="16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′(</m:t>
                    </m:r>
                    <m:sSub>
                      <m:sSubPr>
                        <m:ctrlPr>
                          <a:rPr lang="en-US" sz="16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𝑟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  <m:r>
                      <a:rPr lang="en-US" sz="16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nary>
                      <m:naryPr>
                        <m:chr m:val="∑"/>
                        <m:ctrlPr>
                          <a:rPr lang="en-US" sz="16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sz="16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𝛼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=1</m:t>
                        </m:r>
                      </m:sub>
                      <m:sup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𝑁</m:t>
                        </m:r>
                      </m:sup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𝐹</m:t>
                        </m:r>
                      </m:e>
                    </m:nary>
                    <m:r>
                      <a:rPr lang="en-US" sz="16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nary>
                      <m:naryPr>
                        <m:chr m:val="∑"/>
                        <m:ctrlPr>
                          <a:rPr lang="en-US" sz="16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naryPr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𝛼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=1</m:t>
                        </m:r>
                      </m:sub>
                      <m:sup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𝑁</m:t>
                        </m:r>
                      </m:sup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𝑇</m:t>
                        </m:r>
                      </m:e>
                    </m:nary>
                    <m:r>
                      <a:rPr lang="en-US" sz="16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 </m:t>
                    </m:r>
                  </m:oMath>
                </a14:m>
                <a:endParaRPr lang="en-IN" sz="160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IN" sz="1600">
                    <a:latin typeface="Arial" panose="020B0604020202020204" pitchFamily="34" charset="0"/>
                    <a:cs typeface="Arial" panose="020B0604020202020204" pitchFamily="34" charset="0"/>
                  </a:rPr>
                  <a:t>Fluid velocity</a:t>
                </a:r>
              </a:p>
              <a:p>
                <a:pPr marL="742950" lvl="1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IN" sz="1600" b="1">
                    <a:latin typeface="Arial" panose="020B0604020202020204" pitchFamily="34" charset="0"/>
                    <a:cs typeface="Arial" panose="020B0604020202020204" pitchFamily="34" charset="0"/>
                  </a:rPr>
                  <a:t>Large distance from the sphere</a:t>
                </a:r>
              </a:p>
              <a:p>
                <a:pPr lvl="2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1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𝒖</m:t>
                      </m:r>
                      <m:r>
                        <a:rPr lang="en-US" sz="1600" b="1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→</m:t>
                      </m:r>
                      <m:sSup>
                        <m:sSupPr>
                          <m:ctrlPr>
                            <a:rPr lang="en-US" sz="1600" b="1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pPr>
                        <m:e>
                          <m:r>
                            <a:rPr lang="en-US" sz="1600" b="1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𝒖</m:t>
                          </m:r>
                        </m:e>
                        <m:sup>
                          <m:r>
                            <a:rPr lang="en-US" sz="16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∞</m:t>
                          </m:r>
                        </m:sup>
                      </m:sSup>
                    </m:oMath>
                  </m:oMathPara>
                </a14:m>
                <a:endParaRPr lang="en-IN" sz="1600" b="1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742950" lvl="1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sz="1600">
                    <a:latin typeface="Arial" panose="020B0604020202020204" pitchFamily="34" charset="0"/>
                    <a:cs typeface="Arial" panose="020B0604020202020204" pitchFamily="34" charset="0"/>
                  </a:rPr>
                  <a:t>Disturbance field decays as 1/r.</a:t>
                </a:r>
              </a:p>
              <a:p>
                <a:pPr lvl="1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p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∝ </m:t>
                      </m:r>
                      <m:sSub>
                        <m:sSubPr>
                          <m:ctrlPr>
                            <a:rPr lang="en-IN" sz="16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  <m:sub>
                          <m:r>
                            <a:rPr lang="en-IN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d>
                        <m:dPr>
                          <m:ctrlPr>
                            <a:rPr lang="en-IN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16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r</m:t>
                          </m:r>
                        </m:e>
                      </m:d>
                      <m:r>
                        <a:rPr lang="en-IN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~</m:t>
                      </m:r>
                      <m:f>
                        <m:fPr>
                          <m:ctrlP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𝑟</m:t>
                          </m:r>
                        </m:den>
                      </m:f>
                    </m:oMath>
                  </m:oMathPara>
                </a14:m>
                <a:endParaRPr lang="en-IN" sz="160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0C3DAD0D-E8E0-44EA-91A8-F210F073FD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6823" y="1828600"/>
                <a:ext cx="6607989" cy="4006481"/>
              </a:xfrm>
              <a:prstGeom prst="rect">
                <a:avLst/>
              </a:prstGeom>
              <a:blipFill>
                <a:blip r:embed="rId2"/>
                <a:stretch>
                  <a:fillRect l="-36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9" name="Picture 18">
            <a:extLst>
              <a:ext uri="{FF2B5EF4-FFF2-40B4-BE49-F238E27FC236}">
                <a16:creationId xmlns:a16="http://schemas.microsoft.com/office/drawing/2014/main" id="{9F3E48AB-91D4-41A3-BAAA-3CBDC4F7D2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1311" y="1987004"/>
            <a:ext cx="5349766" cy="3848077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67A08C50-CE23-4D2A-8B40-1FAE4CD05C6E}"/>
              </a:ext>
            </a:extLst>
          </p:cNvPr>
          <p:cNvSpPr txBox="1"/>
          <p:nvPr/>
        </p:nvSpPr>
        <p:spPr>
          <a:xfrm>
            <a:off x="7562194" y="1911551"/>
            <a:ext cx="419888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>
                <a:latin typeface="Arial" panose="020B0604020202020204" pitchFamily="34" charset="0"/>
                <a:cs typeface="Arial" panose="020B0604020202020204" pitchFamily="34" charset="0"/>
              </a:rPr>
              <a:t>Particle with F=1 in positive z-direction</a:t>
            </a:r>
            <a:endParaRPr lang="en-IN" sz="1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253545B7-7B1B-4F4D-9571-04BE92DA6A32}"/>
                  </a:ext>
                </a:extLst>
              </p:cNvPr>
              <p:cNvSpPr txBox="1"/>
              <p:nvPr/>
            </p:nvSpPr>
            <p:spPr>
              <a:xfrm>
                <a:off x="8749863" y="5823598"/>
                <a:ext cx="301121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𝒙𝒛</m:t>
                    </m:r>
                  </m:oMath>
                </a14:m>
                <a:r>
                  <a:rPr lang="en-US" b="1"/>
                  <a:t>-plane</a:t>
                </a:r>
                <a:endParaRPr lang="en-IN" b="1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253545B7-7B1B-4F4D-9571-04BE92DA6A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49863" y="5823598"/>
                <a:ext cx="3011214" cy="369332"/>
              </a:xfrm>
              <a:prstGeom prst="rect">
                <a:avLst/>
              </a:prstGeom>
              <a:blipFill>
                <a:blip r:embed="rId4"/>
                <a:stretch>
                  <a:fillRect t="-8197" b="-2459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TextBox 22">
            <a:extLst>
              <a:ext uri="{FF2B5EF4-FFF2-40B4-BE49-F238E27FC236}">
                <a16:creationId xmlns:a16="http://schemas.microsoft.com/office/drawing/2014/main" id="{E213A678-8A2E-4BBE-96F4-87200A080723}"/>
              </a:ext>
            </a:extLst>
          </p:cNvPr>
          <p:cNvSpPr txBox="1"/>
          <p:nvPr/>
        </p:nvSpPr>
        <p:spPr>
          <a:xfrm>
            <a:off x="0" y="6536946"/>
            <a:ext cx="394948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/>
              <a:t>*Arrows indicate magnitude of velocity at starting point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7AF21178-33B5-4AD6-A814-161AEE12859E}"/>
              </a:ext>
            </a:extLst>
          </p:cNvPr>
          <p:cNvSpPr/>
          <p:nvPr/>
        </p:nvSpPr>
        <p:spPr>
          <a:xfrm>
            <a:off x="174171" y="188686"/>
            <a:ext cx="11843657" cy="645885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2EA03C8-B8EB-465C-8CAC-9EDBFC9086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3CAD28-B1A9-4A64-9DD6-3376C7DEC3B0}" type="slidenum">
              <a:rPr lang="en-IN" smtClean="0"/>
              <a:t>28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10552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21"/>
    </mc:Choice>
    <mc:Fallback xmlns="">
      <p:transition spd="slow" advTm="421"/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F4E4AAA6-F466-4FC8-A30D-A0453293D460}"/>
              </a:ext>
            </a:extLst>
          </p:cNvPr>
          <p:cNvSpPr txBox="1"/>
          <p:nvPr/>
        </p:nvSpPr>
        <p:spPr>
          <a:xfrm>
            <a:off x="4435051" y="587761"/>
            <a:ext cx="590196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Velocity field for a single sphere</a:t>
            </a:r>
            <a:endParaRPr lang="en-IN" sz="2400" b="1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0C3DAD0D-E8E0-44EA-91A8-F210F073FD7C}"/>
                  </a:ext>
                </a:extLst>
              </p:cNvPr>
              <p:cNvSpPr txBox="1"/>
              <p:nvPr/>
            </p:nvSpPr>
            <p:spPr>
              <a:xfrm>
                <a:off x="1131057" y="1802093"/>
                <a:ext cx="6607989" cy="400648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sz="1600">
                    <a:solidFill>
                      <a:srgbClr val="C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Stokesian Dynamics</a:t>
                </a:r>
                <a:r>
                  <a:rPr lang="en-US" sz="1600">
                    <a:latin typeface="Arial" panose="020B0604020202020204" pitchFamily="34" charset="0"/>
                    <a:cs typeface="Arial" panose="020B0604020202020204" pitchFamily="34" charset="0"/>
                  </a:rPr>
                  <a:t>: Forces acting on sphere</a:t>
                </a: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IN" sz="1600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IN" sz="1600" i="1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mPr>
                            <m:mr>
                              <m:e>
                                <m:sSup>
                                  <m:sSupPr>
                                    <m:ctrlPr>
                                      <a:rPr lang="en-IN" sz="16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Arial" panose="020B0604020202020204" pitchFamily="34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IN" sz="16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Arial" panose="020B0604020202020204" pitchFamily="34" charset="0"/>
                                      </a:rPr>
                                      <m:t>𝐹</m:t>
                                    </m:r>
                                  </m:e>
                                  <m:sup>
                                    <m:r>
                                      <a:rPr lang="en-IN" sz="16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Arial" panose="020B0604020202020204" pitchFamily="34" charset="0"/>
                                      </a:rPr>
                                      <m:t>𝛼</m:t>
                                    </m:r>
                                  </m:sup>
                                </m:sSup>
                              </m:e>
                            </m:mr>
                            <m:mr>
                              <m:e>
                                <m:sSup>
                                  <m:sSupPr>
                                    <m:ctrlPr>
                                      <a:rPr lang="en-IN" sz="16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Arial" panose="020B0604020202020204" pitchFamily="34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1600" b="0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Arial" panose="020B0604020202020204" pitchFamily="34" charset="0"/>
                                      </a:rPr>
                                      <m:t>𝑇</m:t>
                                    </m:r>
                                  </m:e>
                                  <m:sup>
                                    <m:r>
                                      <a:rPr lang="en-IN" sz="16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Arial" panose="020B0604020202020204" pitchFamily="34" charset="0"/>
                                      </a:rPr>
                                      <m:t>𝛼</m:t>
                                    </m:r>
                                  </m:sup>
                                </m:sSup>
                              </m:e>
                            </m:mr>
                          </m:m>
                        </m:e>
                      </m:d>
                      <m:r>
                        <a:rPr lang="en-IN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m:t>=</m:t>
                      </m:r>
                      <m:r>
                        <a:rPr lang="en-IN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m:t>𝑅</m:t>
                      </m:r>
                      <m:d>
                        <m:dPr>
                          <m:ctrlPr>
                            <a:rPr lang="en-IN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IN" sz="1600" i="1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mPr>
                            <m:mr>
                              <m:e>
                                <m:sSup>
                                  <m:sSupPr>
                                    <m:ctrlPr>
                                      <a:rPr lang="en-IN" sz="16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Arial" panose="020B0604020202020204" pitchFamily="34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IN" sz="16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Arial" panose="020B0604020202020204" pitchFamily="34" charset="0"/>
                                      </a:rPr>
                                      <m:t>𝑈</m:t>
                                    </m:r>
                                  </m:e>
                                  <m:sup>
                                    <m:r>
                                      <a:rPr lang="en-IN" sz="16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Arial" panose="020B0604020202020204" pitchFamily="34" charset="0"/>
                                      </a:rPr>
                                      <m:t>𝛼</m:t>
                                    </m:r>
                                  </m:sup>
                                </m:sSup>
                                <m:r>
                                  <a:rPr lang="en-IN" sz="16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Arial" panose="020B0604020202020204" pitchFamily="34" charset="0"/>
                                  </a:rPr>
                                  <m:t>−</m:t>
                                </m:r>
                                <m:sSup>
                                  <m:sSupPr>
                                    <m:ctrlPr>
                                      <a:rPr lang="en-IN" sz="16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Arial" panose="020B0604020202020204" pitchFamily="34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IN" sz="16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Arial" panose="020B0604020202020204" pitchFamily="34" charset="0"/>
                                      </a:rPr>
                                      <m:t>𝑢</m:t>
                                    </m:r>
                                  </m:e>
                                  <m:sup>
                                    <m:r>
                                      <a:rPr lang="en-IN" sz="16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Arial" panose="020B0604020202020204" pitchFamily="34" charset="0"/>
                                      </a:rPr>
                                      <m:t>∞</m:t>
                                    </m:r>
                                  </m:sup>
                                </m:sSup>
                              </m:e>
                            </m:mr>
                            <m:mr>
                              <m:e>
                                <m:sSup>
                                  <m:sSupPr>
                                    <m:ctrlPr>
                                      <a:rPr lang="en-IN" sz="16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Arial" panose="020B0604020202020204" pitchFamily="34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IN" sz="16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Arial" panose="020B0604020202020204" pitchFamily="34" charset="0"/>
                                      </a:rPr>
                                      <m:t>𝛺</m:t>
                                    </m:r>
                                  </m:e>
                                  <m:sup>
                                    <m:r>
                                      <a:rPr lang="en-IN" sz="16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Arial" panose="020B0604020202020204" pitchFamily="34" charset="0"/>
                                      </a:rPr>
                                      <m:t>𝛼</m:t>
                                    </m:r>
                                  </m:sup>
                                </m:sSup>
                                <m:r>
                                  <a:rPr lang="en-IN" sz="16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Arial" panose="020B0604020202020204" pitchFamily="34" charset="0"/>
                                  </a:rPr>
                                  <m:t>−</m:t>
                                </m:r>
                                <m:sSup>
                                  <m:sSupPr>
                                    <m:ctrlPr>
                                      <a:rPr lang="en-IN" sz="16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Arial" panose="020B0604020202020204" pitchFamily="34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IN" sz="16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Arial" panose="020B0604020202020204" pitchFamily="34" charset="0"/>
                                      </a:rPr>
                                      <m:t>𝛺</m:t>
                                    </m:r>
                                  </m:e>
                                  <m:sup>
                                    <m:r>
                                      <a:rPr lang="en-IN" sz="16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Arial" panose="020B0604020202020204" pitchFamily="34" charset="0"/>
                                      </a:rPr>
                                      <m:t>∞</m:t>
                                    </m:r>
                                  </m:sup>
                                </m:sSup>
                                <m:r>
                                  <m:rPr>
                                    <m:nor/>
                                  </m:rPr>
                                  <a:rPr lang="en-IN" sz="1600">
                                    <a:latin typeface="Arial" panose="020B0604020202020204" pitchFamily="34" charset="0"/>
                                    <a:cs typeface="Arial" panose="020B0604020202020204" pitchFamily="34" charset="0"/>
                                  </a:rPr>
                                  <m:t> 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IN" sz="160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IN" sz="1600">
                    <a:latin typeface="Arial" panose="020B0604020202020204" pitchFamily="34" charset="0"/>
                    <a:cs typeface="Arial" panose="020B0604020202020204" pitchFamily="34" charset="0"/>
                  </a:rPr>
                  <a:t>Fluid velocity from multipole expansion</a:t>
                </a:r>
              </a:p>
              <a:p>
                <a:pPr>
                  <a:lnSpc>
                    <a:spcPct val="150000"/>
                  </a:lnSpc>
                </a:pPr>
                <a:r>
                  <a:rPr lang="en-IN" sz="1600">
                    <a:latin typeface="Arial" panose="020B0604020202020204" pitchFamily="34" charset="0"/>
                    <a:cs typeface="Arial" panose="020B0604020202020204" pitchFamily="34" charset="0"/>
                  </a:rPr>
                  <a:t>	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𝑢</m:t>
                    </m:r>
                    <m:d>
                      <m:dPr>
                        <m:ctrlPr>
                          <a:rPr lang="en-US" sz="16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US" sz="16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n-US" sz="16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sSup>
                      <m:sSupPr>
                        <m:ctrlPr>
                          <a:rPr lang="en-US" sz="16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𝑢</m:t>
                        </m:r>
                      </m:e>
                      <m:sup>
                        <m:r>
                          <a:rPr 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∞</m:t>
                        </m:r>
                      </m:sup>
                    </m:sSup>
                    <m:r>
                      <a:rPr lang="en-US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+</m:t>
                    </m:r>
                    <m:r>
                      <a:rPr lang="en-US" sz="16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𝑢</m:t>
                    </m:r>
                    <m:r>
                      <a:rPr lang="en-US" sz="16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′(</m:t>
                    </m:r>
                    <m:sSub>
                      <m:sSubPr>
                        <m:ctrlPr>
                          <a:rPr lang="en-US" sz="16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𝑟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  <m:r>
                      <a:rPr lang="en-US" sz="16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nary>
                      <m:naryPr>
                        <m:chr m:val="∑"/>
                        <m:ctrlPr>
                          <a:rPr lang="en-US" sz="16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sz="16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𝛼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=1</m:t>
                        </m:r>
                      </m:sub>
                      <m:sup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𝑁</m:t>
                        </m:r>
                      </m:sup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𝐹</m:t>
                        </m:r>
                      </m:e>
                    </m:nary>
                    <m:r>
                      <a:rPr lang="en-US" sz="16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nary>
                      <m:naryPr>
                        <m:chr m:val="∑"/>
                        <m:ctrlPr>
                          <a:rPr lang="en-US" sz="16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naryPr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𝛼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=1</m:t>
                        </m:r>
                      </m:sub>
                      <m:sup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𝑁</m:t>
                        </m:r>
                      </m:sup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𝑇</m:t>
                        </m:r>
                      </m:e>
                    </m:nary>
                    <m:r>
                      <a:rPr lang="en-US" sz="16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 </m:t>
                    </m:r>
                  </m:oMath>
                </a14:m>
                <a:endParaRPr lang="en-IN" sz="160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IN" sz="1600">
                    <a:latin typeface="Arial" panose="020B0604020202020204" pitchFamily="34" charset="0"/>
                    <a:cs typeface="Arial" panose="020B0604020202020204" pitchFamily="34" charset="0"/>
                  </a:rPr>
                  <a:t>Fluid velocity</a:t>
                </a:r>
              </a:p>
              <a:p>
                <a:pPr marL="742950" lvl="1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IN" sz="1600">
                    <a:latin typeface="Arial" panose="020B0604020202020204" pitchFamily="34" charset="0"/>
                    <a:cs typeface="Arial" panose="020B0604020202020204" pitchFamily="34" charset="0"/>
                  </a:rPr>
                  <a:t>Large distance from the sphere</a:t>
                </a:r>
              </a:p>
              <a:p>
                <a:pPr lvl="2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𝑢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→</m:t>
                      </m:r>
                      <m:sSup>
                        <m:sSupPr>
                          <m:ctrlPr>
                            <a:rPr lang="en-US" sz="160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p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𝑢</m:t>
                          </m:r>
                        </m:e>
                        <m:sup>
                          <m:r>
                            <a:rPr lang="en-US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∞</m:t>
                          </m:r>
                        </m:sup>
                      </m:sSup>
                    </m:oMath>
                  </m:oMathPara>
                </a14:m>
                <a:endParaRPr lang="en-IN" sz="160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742950" lvl="1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sz="1600" b="1">
                    <a:latin typeface="Arial" panose="020B0604020202020204" pitchFamily="34" charset="0"/>
                    <a:cs typeface="Arial" panose="020B0604020202020204" pitchFamily="34" charset="0"/>
                  </a:rPr>
                  <a:t>Disturbance field decays as 1/r.</a:t>
                </a:r>
              </a:p>
              <a:p>
                <a:pPr lvl="1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16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6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𝒖</m:t>
                          </m:r>
                        </m:e>
                        <m:sup>
                          <m:r>
                            <a:rPr lang="en-US" sz="16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sz="16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∝ </m:t>
                      </m:r>
                      <m:sSub>
                        <m:sSubPr>
                          <m:ctrlPr>
                            <a:rPr lang="en-IN" sz="16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16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𝑱</m:t>
                          </m:r>
                        </m:e>
                        <m:sub>
                          <m:r>
                            <a:rPr lang="en-IN" sz="16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𝒊𝒋</m:t>
                          </m:r>
                        </m:sub>
                      </m:sSub>
                      <m:d>
                        <m:dPr>
                          <m:ctrlPr>
                            <a:rPr lang="en-IN" sz="16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600" b="1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𝐫</m:t>
                          </m:r>
                        </m:e>
                      </m:d>
                      <m:r>
                        <a:rPr lang="en-IN" sz="16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~</m:t>
                      </m:r>
                      <m:f>
                        <m:fPr>
                          <m:ctrlPr>
                            <a:rPr lang="en-US" sz="16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6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US" sz="16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𝒓</m:t>
                          </m:r>
                        </m:den>
                      </m:f>
                    </m:oMath>
                  </m:oMathPara>
                </a14:m>
                <a:endParaRPr lang="en-IN" sz="1600" b="1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0C3DAD0D-E8E0-44EA-91A8-F210F073FD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1057" y="1802093"/>
                <a:ext cx="6607989" cy="4006481"/>
              </a:xfrm>
              <a:prstGeom prst="rect">
                <a:avLst/>
              </a:prstGeom>
              <a:blipFill>
                <a:blip r:embed="rId2"/>
                <a:stretch>
                  <a:fillRect l="-36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661C6415-B57D-4054-B504-1FB1FC50243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884013977"/>
              </p:ext>
            </p:extLst>
          </p:nvPr>
        </p:nvGraphicFramePr>
        <p:xfrm>
          <a:off x="7076896" y="2160757"/>
          <a:ext cx="4305808" cy="351666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C754775C-AEAA-4A0A-861F-B6A8F73D13B7}"/>
              </a:ext>
            </a:extLst>
          </p:cNvPr>
          <p:cNvSpPr txBox="1"/>
          <p:nvPr/>
        </p:nvSpPr>
        <p:spPr>
          <a:xfrm>
            <a:off x="7246884" y="1991480"/>
            <a:ext cx="419888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>
                <a:latin typeface="Arial" panose="020B0604020202020204" pitchFamily="34" charset="0"/>
                <a:cs typeface="Arial" panose="020B0604020202020204" pitchFamily="34" charset="0"/>
              </a:rPr>
              <a:t>Velocity disturbance from r=1 to r=10</a:t>
            </a:r>
            <a:endParaRPr lang="en-IN" sz="1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90C3C40-3657-4FEE-A234-97DD4EED9172}"/>
              </a:ext>
            </a:extLst>
          </p:cNvPr>
          <p:cNvSpPr/>
          <p:nvPr/>
        </p:nvSpPr>
        <p:spPr>
          <a:xfrm>
            <a:off x="174171" y="188686"/>
            <a:ext cx="11843657" cy="645885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C92B249-3710-4E3C-8F01-C423158787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3CAD28-B1A9-4A64-9DD6-3376C7DEC3B0}" type="slidenum">
              <a:rPr lang="en-IN" smtClean="0"/>
              <a:t>29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704295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367"/>
    </mc:Choice>
    <mc:Fallback xmlns="">
      <p:transition spd="slow" advTm="7367"/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159E86E-E0C9-4884-AC61-BC71A0C9B8A5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899380" y="2397962"/>
            <a:ext cx="3240000" cy="28800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9CAF8E3C-4704-4613-8357-EE0B65EC557F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4704735" y="2397962"/>
            <a:ext cx="3240000" cy="2880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34734D4-A63C-45CD-9925-AA92B788A40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44285" y="2362939"/>
            <a:ext cx="3117150" cy="295004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C8DF0659-550B-4B90-9800-DF4AE7332A1C}"/>
                  </a:ext>
                </a:extLst>
              </p:cNvPr>
              <p:cNvSpPr txBox="1"/>
              <p:nvPr/>
            </p:nvSpPr>
            <p:spPr>
              <a:xfrm>
                <a:off x="903430" y="1497866"/>
                <a:ext cx="3750662" cy="95673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𝑓𝑙𝑢𝑖𝑑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=2;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𝑠𝑝h𝑒𝑟𝑒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/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𝐷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=2</m:t>
                      </m:r>
                    </m:oMath>
                  </m:oMathPara>
                </a14:m>
                <a:endParaRPr lang="en-IN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C8DF0659-550B-4B90-9800-DF4AE7332A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3430" y="1497866"/>
                <a:ext cx="3750662" cy="95673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852470FD-FE27-404A-83A1-1164A39FB527}"/>
                  </a:ext>
                </a:extLst>
              </p:cNvPr>
              <p:cNvSpPr txBox="1"/>
              <p:nvPr/>
            </p:nvSpPr>
            <p:spPr>
              <a:xfrm>
                <a:off x="4603448" y="1517133"/>
                <a:ext cx="3750662" cy="95673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𝑓𝑙𝑢𝑖𝑑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=2;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𝑠𝑝h𝑒𝑟𝑒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=−1</m:t>
                      </m:r>
                    </m:oMath>
                  </m:oMathPara>
                </a14:m>
                <a:endParaRPr lang="en-US"/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𝐷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=3</m:t>
                      </m:r>
                    </m:oMath>
                  </m:oMathPara>
                </a14:m>
                <a:endParaRPr lang="en-IN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852470FD-FE27-404A-83A1-1164A39FB52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03448" y="1517133"/>
                <a:ext cx="3750662" cy="95673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2EEDC706-B470-4814-97D0-A9C18C5145CB}"/>
                  </a:ext>
                </a:extLst>
              </p:cNvPr>
              <p:cNvSpPr txBox="1"/>
              <p:nvPr/>
            </p:nvSpPr>
            <p:spPr>
              <a:xfrm>
                <a:off x="7987397" y="1568486"/>
                <a:ext cx="4088823" cy="95673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𝑓𝑙𝑢𝑖𝑑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=0;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𝑠𝑝h𝑒𝑟𝑒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=− 2</m:t>
                      </m:r>
                    </m:oMath>
                  </m:oMathPara>
                </a14:m>
                <a:endParaRPr lang="en-US" b="0" i="1">
                  <a:latin typeface="Cambria Math" panose="02040503050406030204" pitchFamily="18" charset="0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𝐷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=2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2EEDC706-B470-4814-97D0-A9C18C5145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87397" y="1568486"/>
                <a:ext cx="4088823" cy="956737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>
            <a:extLst>
              <a:ext uri="{FF2B5EF4-FFF2-40B4-BE49-F238E27FC236}">
                <a16:creationId xmlns:a16="http://schemas.microsoft.com/office/drawing/2014/main" id="{A5A8ACE5-CE82-444C-BA46-E10486B82F68}"/>
              </a:ext>
            </a:extLst>
          </p:cNvPr>
          <p:cNvSpPr txBox="1"/>
          <p:nvPr/>
        </p:nvSpPr>
        <p:spPr>
          <a:xfrm>
            <a:off x="4139380" y="523396"/>
            <a:ext cx="5150535" cy="14311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2400" b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Fluid flow with a single sphere</a:t>
            </a:r>
          </a:p>
          <a:p>
            <a:pPr algn="ctr">
              <a:lnSpc>
                <a:spcPct val="150000"/>
              </a:lnSpc>
            </a:pPr>
            <a:r>
              <a:rPr lang="en-US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 slip B.Cs are satisfied</a:t>
            </a:r>
            <a:endParaRPr lang="en-IN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IN" sz="2400" b="1">
              <a:solidFill>
                <a:srgbClr val="C00000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FC3D6B4-03A7-421B-B8C8-BBF7E787BE1F}"/>
              </a:ext>
            </a:extLst>
          </p:cNvPr>
          <p:cNvSpPr txBox="1"/>
          <p:nvPr/>
        </p:nvSpPr>
        <p:spPr>
          <a:xfrm>
            <a:off x="189891" y="6247246"/>
            <a:ext cx="394948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/>
              <a:t>*Arrows indicate magnitude of velocity at starting point</a:t>
            </a:r>
          </a:p>
          <a:p>
            <a:r>
              <a:rPr lang="en-US" sz="1200"/>
              <a:t>*If zoomed in, it shows flow around sphere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388F0316-E84A-424F-9610-0997B854ECE0}"/>
                  </a:ext>
                </a:extLst>
              </p:cNvPr>
              <p:cNvSpPr txBox="1"/>
              <p:nvPr/>
            </p:nvSpPr>
            <p:spPr>
              <a:xfrm>
                <a:off x="1276028" y="5773187"/>
                <a:ext cx="283779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𝑢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𝑠𝑢𝑟𝑓𝑎𝑐𝑒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IN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388F0316-E84A-424F-9610-0997B854EC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76028" y="5773187"/>
                <a:ext cx="2837793" cy="369332"/>
              </a:xfrm>
              <a:prstGeom prst="rect">
                <a:avLst/>
              </a:prstGeom>
              <a:blipFill>
                <a:blip r:embed="rId8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1F0D6ADE-A132-4976-90A9-503D5A4C280E}"/>
                  </a:ext>
                </a:extLst>
              </p:cNvPr>
              <p:cNvSpPr txBox="1"/>
              <p:nvPr/>
            </p:nvSpPr>
            <p:spPr>
              <a:xfrm>
                <a:off x="5059883" y="5785022"/>
                <a:ext cx="283779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𝑢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𝑠𝑢𝑟𝑓𝑎𝑐𝑒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=−1</m:t>
                      </m:r>
                    </m:oMath>
                  </m:oMathPara>
                </a14:m>
                <a:endParaRPr lang="en-IN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1F0D6ADE-A132-4976-90A9-503D5A4C28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59883" y="5785022"/>
                <a:ext cx="2837793" cy="369332"/>
              </a:xfrm>
              <a:prstGeom prst="rect">
                <a:avLst/>
              </a:prstGeom>
              <a:blipFill>
                <a:blip r:embed="rId9"/>
                <a:stretch>
                  <a:fillRect b="-1147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1D168C5B-B47D-4D48-90C3-661E89E76BB6}"/>
                  </a:ext>
                </a:extLst>
              </p:cNvPr>
              <p:cNvSpPr txBox="1"/>
              <p:nvPr/>
            </p:nvSpPr>
            <p:spPr>
              <a:xfrm>
                <a:off x="8843738" y="5773187"/>
                <a:ext cx="283779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𝑢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𝑠𝑢𝑟𝑓𝑎𝑐𝑒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=−2</m:t>
                      </m:r>
                    </m:oMath>
                  </m:oMathPara>
                </a14:m>
                <a:endParaRPr lang="en-IN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1D168C5B-B47D-4D48-90C3-661E89E76B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43738" y="5773187"/>
                <a:ext cx="2837793" cy="369332"/>
              </a:xfrm>
              <a:prstGeom prst="rect">
                <a:avLst/>
              </a:prstGeom>
              <a:blipFill>
                <a:blip r:embed="rId10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C4AFA384-F98A-44C9-A036-10EBD6D1D908}"/>
                  </a:ext>
                </a:extLst>
              </p:cNvPr>
              <p:cNvSpPr txBox="1"/>
              <p:nvPr/>
            </p:nvSpPr>
            <p:spPr>
              <a:xfrm>
                <a:off x="4249021" y="5364337"/>
                <a:ext cx="790235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/>
                  <a:t>Surface </a:t>
                </a:r>
                <a:r>
                  <a:rPr lang="en-US">
                    <a:sym typeface="Wingdings" panose="05000000000000000000" pitchFamily="2" charset="2"/>
                  </a:rPr>
                  <a:t>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1,0,0</m:t>
                        </m:r>
                      </m:e>
                    </m:d>
                    <m:r>
                      <a:rPr lang="en-US" b="0" i="0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,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dPr>
                      <m:e>
                        <m:r>
                          <a:rPr lang="en-US" b="0" i="0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−1,0,0</m:t>
                        </m:r>
                      </m:e>
                    </m:d>
                    <m:r>
                      <a:rPr lang="en-US" b="0" i="0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,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dPr>
                      <m:e>
                        <m:r>
                          <a:rPr lang="en-US" b="0" i="0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0,0,1</m:t>
                        </m:r>
                      </m:e>
                    </m:d>
                    <m:r>
                      <a:rPr lang="en-US" b="0" i="0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,(0,0,−1)</m:t>
                    </m:r>
                  </m:oMath>
                </a14:m>
                <a:endParaRPr lang="en-IN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C4AFA384-F98A-44C9-A036-10EBD6D1D9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49021" y="5364337"/>
                <a:ext cx="7902358" cy="369332"/>
              </a:xfrm>
              <a:prstGeom prst="rect">
                <a:avLst/>
              </a:prstGeom>
              <a:blipFill>
                <a:blip r:embed="rId11"/>
                <a:stretch>
                  <a:fillRect l="-617" t="-11475" b="-2459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C833BEBE-0D72-49B8-AC1D-DDB077371DF3}"/>
                  </a:ext>
                </a:extLst>
              </p:cNvPr>
              <p:cNvSpPr txBox="1"/>
              <p:nvPr/>
            </p:nvSpPr>
            <p:spPr>
              <a:xfrm>
                <a:off x="899380" y="610754"/>
                <a:ext cx="301121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𝒙𝒛</m:t>
                    </m:r>
                  </m:oMath>
                </a14:m>
                <a:r>
                  <a:rPr lang="en-US" b="1"/>
                  <a:t>-plane</a:t>
                </a:r>
                <a:endParaRPr lang="en-IN" b="1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C833BEBE-0D72-49B8-AC1D-DDB077371D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9380" y="610754"/>
                <a:ext cx="3011214" cy="369332"/>
              </a:xfrm>
              <a:prstGeom prst="rect">
                <a:avLst/>
              </a:prstGeom>
              <a:blipFill>
                <a:blip r:embed="rId12"/>
                <a:stretch>
                  <a:fillRect t="-8197" b="-2459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Rectangle 23">
            <a:extLst>
              <a:ext uri="{FF2B5EF4-FFF2-40B4-BE49-F238E27FC236}">
                <a16:creationId xmlns:a16="http://schemas.microsoft.com/office/drawing/2014/main" id="{D9941639-FB85-4B83-AD0C-5127E4DBCCC8}"/>
              </a:ext>
            </a:extLst>
          </p:cNvPr>
          <p:cNvSpPr/>
          <p:nvPr/>
        </p:nvSpPr>
        <p:spPr>
          <a:xfrm>
            <a:off x="174171" y="188686"/>
            <a:ext cx="11843657" cy="645885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12B3A0-19B7-45A8-9893-27E4D72BD3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3CAD28-B1A9-4A64-9DD6-3376C7DEC3B0}" type="slidenum">
              <a:rPr lang="en-IN" smtClean="0"/>
              <a:t>30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408112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4003"/>
    </mc:Choice>
    <mc:Fallback xmlns="">
      <p:transition spd="slow" advTm="54003"/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AB973A4-35C2-4747-B8B2-3C26006B04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8677" y="2474753"/>
            <a:ext cx="5992094" cy="361591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CE9619E-801F-4F33-BBCF-40DB074798D6}"/>
              </a:ext>
            </a:extLst>
          </p:cNvPr>
          <p:cNvSpPr txBox="1"/>
          <p:nvPr/>
        </p:nvSpPr>
        <p:spPr>
          <a:xfrm>
            <a:off x="3694724" y="539866"/>
            <a:ext cx="716771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Steps involved to obtain velocity profile</a:t>
            </a:r>
            <a:endParaRPr lang="en-IN" sz="2400" b="1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00EB6AC-8838-4C56-8846-ADD75F15A4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9559" y="239386"/>
            <a:ext cx="1583341" cy="1524289"/>
          </a:xfrm>
          <a:prstGeom prst="rect">
            <a:avLst/>
          </a:prstGeom>
          <a:solidFill>
            <a:schemeClr val="bg1"/>
          </a:solidFill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02C46D7-6312-41D6-B0C0-6DB962F0E2BD}"/>
              </a:ext>
            </a:extLst>
          </p:cNvPr>
          <p:cNvPicPr/>
          <p:nvPr/>
        </p:nvPicPr>
        <p:blipFill>
          <a:blip r:embed="rId4"/>
          <a:stretch>
            <a:fillRect/>
          </a:stretch>
        </p:blipFill>
        <p:spPr>
          <a:xfrm>
            <a:off x="8015151" y="2338906"/>
            <a:ext cx="3016250" cy="208851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C6414E60-7117-4391-909D-C700AC747FCC}"/>
              </a:ext>
            </a:extLst>
          </p:cNvPr>
          <p:cNvPicPr/>
          <p:nvPr/>
        </p:nvPicPr>
        <p:blipFill>
          <a:blip r:embed="rId5"/>
          <a:stretch>
            <a:fillRect/>
          </a:stretch>
        </p:blipFill>
        <p:spPr>
          <a:xfrm>
            <a:off x="8015151" y="4340711"/>
            <a:ext cx="3016250" cy="2088515"/>
          </a:xfrm>
          <a:prstGeom prst="rect">
            <a:avLst/>
          </a:prstGeom>
        </p:spPr>
      </p:pic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1C6E0281-7D6D-458D-B011-6220D9560826}"/>
              </a:ext>
            </a:extLst>
          </p:cNvPr>
          <p:cNvCxnSpPr>
            <a:cxnSpLocks/>
          </p:cNvCxnSpPr>
          <p:nvPr/>
        </p:nvCxnSpPr>
        <p:spPr>
          <a:xfrm flipV="1">
            <a:off x="1910042" y="1722044"/>
            <a:ext cx="0" cy="43605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4C4E9BE9-A08B-4038-9885-91CFFAE0ADFA}"/>
              </a:ext>
            </a:extLst>
          </p:cNvPr>
          <p:cNvCxnSpPr>
            <a:cxnSpLocks/>
          </p:cNvCxnSpPr>
          <p:nvPr/>
        </p:nvCxnSpPr>
        <p:spPr>
          <a:xfrm flipV="1">
            <a:off x="2288717" y="1722043"/>
            <a:ext cx="0" cy="43605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EABB7240-7045-4564-999F-EC9FFA06F88A}"/>
                  </a:ext>
                </a:extLst>
              </p:cNvPr>
              <p:cNvSpPr txBox="1"/>
              <p:nvPr/>
            </p:nvSpPr>
            <p:spPr>
              <a:xfrm>
                <a:off x="636898" y="1663070"/>
                <a:ext cx="1651819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p>
                          <m:r>
                            <a:rPr lang="en-US" sz="1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∞</m:t>
                          </m:r>
                        </m:sup>
                      </m:sSup>
                      <m:d>
                        <m:dPr>
                          <m:ctrlPr>
                            <a:rPr lang="en-US" sz="1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𝑧</m:t>
                          </m:r>
                        </m:e>
                      </m:d>
                      <m:r>
                        <a:rPr lang="en-US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n-IN" sz="120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EABB7240-7045-4564-999F-EC9FFA06F8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6898" y="1663070"/>
                <a:ext cx="1651819" cy="276999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TextBox 18">
            <a:extLst>
              <a:ext uri="{FF2B5EF4-FFF2-40B4-BE49-F238E27FC236}">
                <a16:creationId xmlns:a16="http://schemas.microsoft.com/office/drawing/2014/main" id="{36C483D6-5ED9-41B6-B3AE-F442D66F637C}"/>
              </a:ext>
            </a:extLst>
          </p:cNvPr>
          <p:cNvSpPr txBox="1"/>
          <p:nvPr/>
        </p:nvSpPr>
        <p:spPr>
          <a:xfrm>
            <a:off x="1860253" y="6090672"/>
            <a:ext cx="463319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>
                <a:latin typeface="Arial" panose="020B0604020202020204" pitchFamily="34" charset="0"/>
                <a:cs typeface="Arial" panose="020B0604020202020204" pitchFamily="34" charset="0"/>
              </a:rPr>
              <a:t>Flow of events to obtain velocity field</a:t>
            </a:r>
            <a:endParaRPr lang="en-IN" sz="1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A52D1DE5-49CC-444B-9EEB-B815DFC63EFE}"/>
                  </a:ext>
                </a:extLst>
              </p:cNvPr>
              <p:cNvSpPr txBox="1"/>
              <p:nvPr/>
            </p:nvSpPr>
            <p:spPr>
              <a:xfrm>
                <a:off x="7508327" y="1870681"/>
                <a:ext cx="6093372" cy="35830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IN" sz="1600">
                    <a:effectLst/>
                    <a:latin typeface="Arial" panose="020B0604020202020204" pitchFamily="34" charset="0"/>
                    <a:ea typeface="Calibri" panose="020F0502020204030204" pitchFamily="34" charset="0"/>
                    <a:cs typeface="Arial" panose="020B0604020202020204" pitchFamily="34" charset="0"/>
                  </a:rPr>
                  <a:t>N=256 with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1600" i="1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16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𝐷</m:t>
                        </m:r>
                      </m:e>
                      <m:sub>
                        <m:r>
                          <a:rPr lang="en-IN" sz="16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𝑓</m:t>
                        </m:r>
                      </m:sub>
                    </m:sSub>
                  </m:oMath>
                </a14:m>
                <a:r>
                  <a:rPr lang="en-IN" sz="1600">
                    <a:effectLst/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=2(top)</a:t>
                </a:r>
                <a:r>
                  <a:rPr lang="en-IN" sz="1600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 </a:t>
                </a:r>
                <a:r>
                  <a:rPr lang="en-IN" sz="1600">
                    <a:effectLst/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IN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𝐷</m:t>
                        </m:r>
                      </m:e>
                      <m:sub>
                        <m:r>
                          <a:rPr lang="en-IN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𝑓</m:t>
                        </m:r>
                      </m:sub>
                    </m:sSub>
                    <m:r>
                      <a:rPr lang="en-US" sz="1600" b="0" i="0" smtClea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=2.23</m:t>
                    </m:r>
                  </m:oMath>
                </a14:m>
                <a:r>
                  <a:rPr lang="en-IN" sz="1600">
                    <a:effectLst/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(bottom</a:t>
                </a:r>
                <a:r>
                  <a:rPr lang="en-IN" sz="1600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)</a:t>
                </a:r>
                <a:endParaRPr lang="en-IN" sz="1600">
                  <a:effectLst/>
                  <a:latin typeface="Arial" panose="020B0604020202020204" pitchFamily="34" charset="0"/>
                  <a:ea typeface="Times New Roman" panose="02020603050405020304" pitchFamily="18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A52D1DE5-49CC-444B-9EEB-B815DFC63EF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08327" y="1870681"/>
                <a:ext cx="6093372" cy="358303"/>
              </a:xfrm>
              <a:prstGeom prst="rect">
                <a:avLst/>
              </a:prstGeom>
              <a:blipFill>
                <a:blip r:embed="rId7"/>
                <a:stretch>
                  <a:fillRect l="-601" t="-5085" b="-1525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Rectangle 21">
            <a:extLst>
              <a:ext uri="{FF2B5EF4-FFF2-40B4-BE49-F238E27FC236}">
                <a16:creationId xmlns:a16="http://schemas.microsoft.com/office/drawing/2014/main" id="{31ED9AB0-4E10-411B-BB8A-0CDCB8086A35}"/>
              </a:ext>
            </a:extLst>
          </p:cNvPr>
          <p:cNvSpPr/>
          <p:nvPr/>
        </p:nvSpPr>
        <p:spPr>
          <a:xfrm>
            <a:off x="174171" y="188686"/>
            <a:ext cx="11843657" cy="645885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CEC1184-43CF-46A9-8641-F2A69B6C39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3CAD28-B1A9-4A64-9DD6-3376C7DEC3B0}" type="slidenum">
              <a:rPr lang="en-IN" smtClean="0"/>
              <a:t>31</a:t>
            </a:fld>
            <a:endParaRPr lang="en-IN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B522CA7-8001-460F-AD15-DC3BCFAC2188}"/>
              </a:ext>
            </a:extLst>
          </p:cNvPr>
          <p:cNvSpPr txBox="1"/>
          <p:nvPr/>
        </p:nvSpPr>
        <p:spPr>
          <a:xfrm>
            <a:off x="6968613" y="3409038"/>
            <a:ext cx="121245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20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r=14 to r=15</a:t>
            </a:r>
            <a:endParaRPr lang="en-IN" sz="120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B17E3A7-7630-4ED8-8D08-D8AD3A8A3B1E}"/>
              </a:ext>
            </a:extLst>
          </p:cNvPr>
          <p:cNvSpPr txBox="1"/>
          <p:nvPr/>
        </p:nvSpPr>
        <p:spPr>
          <a:xfrm>
            <a:off x="7084311" y="5227092"/>
            <a:ext cx="84803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20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r=7 to r=8</a:t>
            </a:r>
            <a:endParaRPr lang="en-IN" sz="1200"/>
          </a:p>
        </p:txBody>
      </p:sp>
    </p:spTree>
    <p:extLst>
      <p:ext uri="{BB962C8B-B14F-4D97-AF65-F5344CB8AC3E}">
        <p14:creationId xmlns:p14="http://schemas.microsoft.com/office/powerpoint/2010/main" val="12420095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6438"/>
    </mc:Choice>
    <mc:Fallback xmlns="">
      <p:transition spd="slow" advTm="26438"/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316B1B0B-911B-446E-91FB-26242A8FB540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654656" y="2552782"/>
            <a:ext cx="4590425" cy="324600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DC1136E9-793C-4045-88CE-7BC1B25EF5DD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5695756" y="2501556"/>
            <a:ext cx="4590424" cy="324664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7FB5DA17-686F-4588-99B3-32D003460F07}"/>
                  </a:ext>
                </a:extLst>
              </p:cNvPr>
              <p:cNvSpPr txBox="1"/>
              <p:nvPr/>
            </p:nvSpPr>
            <p:spPr>
              <a:xfrm>
                <a:off x="3077055" y="575914"/>
                <a:ext cx="819529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b="1">
                    <a:solidFill>
                      <a:srgbClr val="C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Fluid velocity with</a:t>
                </a:r>
                <a:r>
                  <a:rPr lang="en-US" sz="2400">
                    <a:solidFill>
                      <a:srgbClr val="808080"/>
                    </a:solidFill>
                    <a:effectLst/>
                    <a:latin typeface="Arial" panose="020B0604020202020204" pitchFamily="34" charset="0"/>
                    <a:ea typeface="Calibri" panose="020F050202020403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2400">
                    <a:solidFill>
                      <a:srgbClr val="C00000"/>
                    </a:solidFill>
                    <a:effectLst/>
                    <a:latin typeface="Arial" panose="020B0604020202020204" pitchFamily="34" charset="0"/>
                    <a:ea typeface="Calibri" panose="020F0502020204030204" pitchFamily="34" charset="0"/>
                    <a:cs typeface="Arial" panose="020B0604020202020204" pitchFamily="34" charset="0"/>
                  </a:rPr>
                  <a:t>(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rgbClr val="80808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∎</m:t>
                    </m:r>
                  </m:oMath>
                </a14:m>
                <a:r>
                  <a:rPr lang="en-US" sz="2400" b="1">
                    <a:solidFill>
                      <a:srgbClr val="C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) and without Lubrication</a:t>
                </a:r>
                <a:r>
                  <a:rPr lang="en-IN" sz="2400">
                    <a:solidFill>
                      <a:srgbClr val="C00000"/>
                    </a:solidFill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 (</a:t>
                </a:r>
                <a:r>
                  <a:rPr lang="en-IN" sz="2400">
                    <a:solidFill>
                      <a:srgbClr val="92D050"/>
                    </a:solidFill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▲</a:t>
                </a:r>
                <a:r>
                  <a:rPr lang="en-IN" sz="2400">
                    <a:solidFill>
                      <a:srgbClr val="C00000"/>
                    </a:solidFill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)</a:t>
                </a:r>
                <a:endParaRPr lang="en-IN" sz="2400" b="1">
                  <a:solidFill>
                    <a:srgbClr val="C0000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7FB5DA17-686F-4588-99B3-32D003460F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77055" y="575914"/>
                <a:ext cx="8195290" cy="461665"/>
              </a:xfrm>
              <a:prstGeom prst="rect">
                <a:avLst/>
              </a:prstGeom>
              <a:blipFill>
                <a:blip r:embed="rId4"/>
                <a:stretch>
                  <a:fillRect l="-1190" t="-10526" b="-2894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D186D722-DD0C-4CD6-B5EF-E5A8321D6BE4}"/>
              </a:ext>
            </a:extLst>
          </p:cNvPr>
          <p:cNvSpPr txBox="1"/>
          <p:nvPr/>
        </p:nvSpPr>
        <p:spPr>
          <a:xfrm>
            <a:off x="1372614" y="1275214"/>
            <a:ext cx="7620000" cy="7853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>
                <a:latin typeface="Arial" panose="020B0604020202020204" pitchFamily="34" charset="0"/>
                <a:cs typeface="Arial" panose="020B0604020202020204" pitchFamily="34" charset="0"/>
              </a:rPr>
              <a:t>Negative fluid velocities with lubrication.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>
                <a:latin typeface="Arial" panose="020B0604020202020204" pitchFamily="34" charset="0"/>
                <a:cs typeface="Arial" panose="020B0604020202020204" pitchFamily="34" charset="0"/>
              </a:rPr>
              <a:t>Forces are overestimated with lubrication interactions.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361823D-1B7C-4A70-B40B-EDD9F605E225}"/>
              </a:ext>
            </a:extLst>
          </p:cNvPr>
          <p:cNvCxnSpPr>
            <a:cxnSpLocks/>
          </p:cNvCxnSpPr>
          <p:nvPr/>
        </p:nvCxnSpPr>
        <p:spPr>
          <a:xfrm flipV="1">
            <a:off x="2521974" y="4345063"/>
            <a:ext cx="0" cy="1197874"/>
          </a:xfrm>
          <a:prstGeom prst="line">
            <a:avLst/>
          </a:prstGeom>
          <a:ln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1485AD34-06E0-463F-AEF9-4D46C317617F}"/>
              </a:ext>
            </a:extLst>
          </p:cNvPr>
          <p:cNvCxnSpPr>
            <a:cxnSpLocks/>
          </p:cNvCxnSpPr>
          <p:nvPr/>
        </p:nvCxnSpPr>
        <p:spPr>
          <a:xfrm flipV="1">
            <a:off x="8750710" y="3429000"/>
            <a:ext cx="0" cy="2113936"/>
          </a:xfrm>
          <a:prstGeom prst="line">
            <a:avLst/>
          </a:prstGeom>
          <a:ln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DED48A7B-7CA5-491B-B301-A1BB5FDC50B2}"/>
              </a:ext>
            </a:extLst>
          </p:cNvPr>
          <p:cNvSpPr txBox="1"/>
          <p:nvPr/>
        </p:nvSpPr>
        <p:spPr>
          <a:xfrm>
            <a:off x="2373258" y="2343660"/>
            <a:ext cx="206477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>
                <a:latin typeface="Arial" panose="020B0604020202020204" pitchFamily="34" charset="0"/>
                <a:cs typeface="Arial" panose="020B0604020202020204" pitchFamily="34" charset="0"/>
              </a:rPr>
              <a:t>N=100 - DLA</a:t>
            </a:r>
            <a:endParaRPr lang="en-IN" sz="1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A2278DD-F5AC-474A-AE5A-5CDED4D6D1BB}"/>
              </a:ext>
            </a:extLst>
          </p:cNvPr>
          <p:cNvSpPr txBox="1"/>
          <p:nvPr/>
        </p:nvSpPr>
        <p:spPr>
          <a:xfrm>
            <a:off x="7565578" y="2298192"/>
            <a:ext cx="169505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>
                <a:latin typeface="Arial" panose="020B0604020202020204" pitchFamily="34" charset="0"/>
                <a:cs typeface="Arial" panose="020B0604020202020204" pitchFamily="34" charset="0"/>
              </a:rPr>
              <a:t>N=1000 - DLA</a:t>
            </a:r>
            <a:endParaRPr lang="en-IN" sz="1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38F56BA2-7C50-47A1-B4EE-5AC51099671D}"/>
                  </a:ext>
                </a:extLst>
              </p:cNvPr>
              <p:cNvSpPr txBox="1"/>
              <p:nvPr/>
            </p:nvSpPr>
            <p:spPr>
              <a:xfrm>
                <a:off x="1115843" y="6189198"/>
                <a:ext cx="550222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𝑜𝑢𝑡𝑒𝑟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𝑐𝑢𝑡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𝑜𝑓𝑓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) 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𝑟𝑎𝑑𝑖𝑢𝑠</m:t>
                      </m:r>
                    </m:oMath>
                  </m:oMathPara>
                </a14:m>
                <a:endParaRPr lang="en-IN" sz="120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38F56BA2-7C50-47A1-B4EE-5AC5109967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5843" y="6189198"/>
                <a:ext cx="5502226" cy="276999"/>
              </a:xfrm>
              <a:prstGeom prst="rect">
                <a:avLst/>
              </a:prstGeom>
              <a:blipFill>
                <a:blip r:embed="rId5"/>
                <a:stretch>
                  <a:fillRect b="-869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Rectangle 18">
            <a:extLst>
              <a:ext uri="{FF2B5EF4-FFF2-40B4-BE49-F238E27FC236}">
                <a16:creationId xmlns:a16="http://schemas.microsoft.com/office/drawing/2014/main" id="{3E7E05C9-1A56-4302-81E1-7D6ACE73840E}"/>
              </a:ext>
            </a:extLst>
          </p:cNvPr>
          <p:cNvSpPr/>
          <p:nvPr/>
        </p:nvSpPr>
        <p:spPr>
          <a:xfrm>
            <a:off x="174171" y="188686"/>
            <a:ext cx="11843657" cy="645885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3DE111-EC6B-4D39-9602-278B623F5B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3CAD28-B1A9-4A64-9DD6-3376C7DEC3B0}" type="slidenum">
              <a:rPr lang="en-IN" smtClean="0"/>
              <a:t>32</a:t>
            </a:fld>
            <a:endParaRPr lang="en-IN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2378A97-B470-4759-B938-D1BEF4ED2489}"/>
              </a:ext>
            </a:extLst>
          </p:cNvPr>
          <p:cNvSpPr txBox="1"/>
          <p:nvPr/>
        </p:nvSpPr>
        <p:spPr>
          <a:xfrm>
            <a:off x="226726" y="6202248"/>
            <a:ext cx="609845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20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*Brady &amp; Bossis (1991)</a:t>
            </a:r>
          </a:p>
          <a:p>
            <a:r>
              <a:rPr lang="en-IN" sz="1200">
                <a:latin typeface="Times New Roman" panose="02020603050405020304" pitchFamily="18" charset="0"/>
              </a:rPr>
              <a:t>*Lattuada et.al (2001)</a:t>
            </a:r>
            <a:endParaRPr lang="en-IN" sz="1200"/>
          </a:p>
        </p:txBody>
      </p:sp>
    </p:spTree>
    <p:extLst>
      <p:ext uri="{BB962C8B-B14F-4D97-AF65-F5344CB8AC3E}">
        <p14:creationId xmlns:p14="http://schemas.microsoft.com/office/powerpoint/2010/main" val="8566075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3777"/>
    </mc:Choice>
    <mc:Fallback xmlns="">
      <p:transition spd="slow" advTm="43777"/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CB1A6F5-E0A5-4219-9EC7-FA03BFA7632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31927"/>
          <a:stretch/>
        </p:blipFill>
        <p:spPr>
          <a:xfrm>
            <a:off x="472844" y="345242"/>
            <a:ext cx="3417070" cy="3139218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A3B6B796-F7AB-49D4-800D-2D8423627B79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31985"/>
          <a:stretch/>
        </p:blipFill>
        <p:spPr>
          <a:xfrm>
            <a:off x="3889913" y="345243"/>
            <a:ext cx="3461939" cy="313921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9515F7E-5019-4549-BA99-7BF83BAEED28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r="31573"/>
          <a:stretch/>
        </p:blipFill>
        <p:spPr>
          <a:xfrm>
            <a:off x="3943528" y="3474609"/>
            <a:ext cx="3354710" cy="308523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CEB9E53-3BD4-40FA-90C1-EB7D436E0F7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75388"/>
          <a:stretch/>
        </p:blipFill>
        <p:spPr>
          <a:xfrm>
            <a:off x="7351852" y="345243"/>
            <a:ext cx="1252711" cy="313921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73C059D-6E85-4A0D-B8A8-36FBC6CF5A7B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74427"/>
          <a:stretch/>
        </p:blipFill>
        <p:spPr>
          <a:xfrm>
            <a:off x="7297151" y="3466229"/>
            <a:ext cx="1307412" cy="3085229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908AA498-EC85-4CAA-97A0-6F8F127E7F94}"/>
                  </a:ext>
                </a:extLst>
              </p:cNvPr>
              <p:cNvSpPr txBox="1"/>
              <p:nvPr/>
            </p:nvSpPr>
            <p:spPr>
              <a:xfrm>
                <a:off x="472843" y="338874"/>
                <a:ext cx="1046241" cy="328167"/>
              </a:xfrm>
              <a:prstGeom prst="rect">
                <a:avLst/>
              </a:prstGeom>
              <a:gradFill flip="none" rotWithShape="1">
                <a:gsLst>
                  <a:gs pos="0">
                    <a:schemeClr val="tx1">
                      <a:lumMod val="75000"/>
                      <a:lumOff val="25000"/>
                      <a:shade val="30000"/>
                      <a:satMod val="115000"/>
                    </a:schemeClr>
                  </a:gs>
                  <a:gs pos="50000">
                    <a:schemeClr val="tx1">
                      <a:lumMod val="75000"/>
                      <a:lumOff val="25000"/>
                      <a:shade val="67500"/>
                      <a:satMod val="115000"/>
                    </a:schemeClr>
                  </a:gs>
                  <a:gs pos="100000">
                    <a:schemeClr val="tx1">
                      <a:lumMod val="75000"/>
                      <a:lumOff val="25000"/>
                      <a:shade val="100000"/>
                      <a:satMod val="115000"/>
                    </a:schemeClr>
                  </a:gs>
                </a:gsLst>
                <a:lin ang="5400000" scaled="1"/>
                <a:tileRect/>
              </a:gra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𝑫</m:t>
                          </m:r>
                        </m:e>
                        <m:sub>
                          <m:r>
                            <a:rPr lang="en-US" sz="14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𝒇</m:t>
                          </m:r>
                        </m:sub>
                      </m:sSub>
                      <m:r>
                        <a:rPr lang="en-US" sz="14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4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sz="14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sz="14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𝟕𝟔</m:t>
                      </m:r>
                    </m:oMath>
                  </m:oMathPara>
                </a14:m>
                <a:endParaRPr lang="en-IN" sz="1400" b="1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908AA498-EC85-4CAA-97A0-6F8F127E7F9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2843" y="338874"/>
                <a:ext cx="1046241" cy="328167"/>
              </a:xfrm>
              <a:prstGeom prst="rect">
                <a:avLst/>
              </a:prstGeom>
              <a:blipFill>
                <a:blip r:embed="rId6"/>
                <a:stretch>
                  <a:fillRect b="-377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485B39BE-51E2-4377-B792-54EEDF50D3F7}"/>
                  </a:ext>
                </a:extLst>
              </p:cNvPr>
              <p:cNvSpPr txBox="1"/>
              <p:nvPr/>
            </p:nvSpPr>
            <p:spPr>
              <a:xfrm>
                <a:off x="3984143" y="3493021"/>
                <a:ext cx="1104051" cy="328167"/>
              </a:xfrm>
              <a:prstGeom prst="rect">
                <a:avLst/>
              </a:prstGeom>
              <a:gradFill flip="none" rotWithShape="1">
                <a:gsLst>
                  <a:gs pos="0">
                    <a:schemeClr val="tx1">
                      <a:lumMod val="75000"/>
                      <a:lumOff val="25000"/>
                      <a:shade val="30000"/>
                      <a:satMod val="115000"/>
                    </a:schemeClr>
                  </a:gs>
                  <a:gs pos="50000">
                    <a:schemeClr val="tx1">
                      <a:lumMod val="75000"/>
                      <a:lumOff val="25000"/>
                      <a:shade val="67500"/>
                      <a:satMod val="115000"/>
                    </a:schemeClr>
                  </a:gs>
                  <a:gs pos="100000">
                    <a:schemeClr val="tx1">
                      <a:lumMod val="75000"/>
                      <a:lumOff val="25000"/>
                      <a:shade val="100000"/>
                      <a:satMod val="115000"/>
                    </a:schemeClr>
                  </a:gs>
                </a:gsLst>
                <a:lin ang="5400000" scaled="1"/>
                <a:tileRect/>
              </a:gra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𝑫</m:t>
                          </m:r>
                        </m:e>
                        <m:sub>
                          <m:r>
                            <a:rPr lang="en-US" sz="14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𝒇</m:t>
                          </m:r>
                        </m:sub>
                      </m:sSub>
                      <m:r>
                        <a:rPr lang="en-US" sz="14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4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US" sz="14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sz="14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𝟒𝟔</m:t>
                      </m:r>
                    </m:oMath>
                  </m:oMathPara>
                </a14:m>
                <a:endParaRPr lang="en-IN" sz="1400" b="1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485B39BE-51E2-4377-B792-54EEDF50D3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84143" y="3493021"/>
                <a:ext cx="1104051" cy="328167"/>
              </a:xfrm>
              <a:prstGeom prst="rect">
                <a:avLst/>
              </a:prstGeom>
              <a:blipFill>
                <a:blip r:embed="rId7"/>
                <a:stretch>
                  <a:fillRect b="-370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E04EF324-A01C-4AC1-8B2C-75E8C3E6F65C}"/>
                  </a:ext>
                </a:extLst>
              </p:cNvPr>
              <p:cNvSpPr txBox="1"/>
              <p:nvPr/>
            </p:nvSpPr>
            <p:spPr>
              <a:xfrm>
                <a:off x="3943528" y="338874"/>
                <a:ext cx="896621" cy="328167"/>
              </a:xfrm>
              <a:prstGeom prst="rect">
                <a:avLst/>
              </a:prstGeom>
              <a:gradFill flip="none" rotWithShape="1">
                <a:gsLst>
                  <a:gs pos="0">
                    <a:schemeClr val="tx1">
                      <a:lumMod val="75000"/>
                      <a:lumOff val="25000"/>
                      <a:shade val="30000"/>
                      <a:satMod val="115000"/>
                    </a:schemeClr>
                  </a:gs>
                  <a:gs pos="50000">
                    <a:schemeClr val="tx1">
                      <a:lumMod val="75000"/>
                      <a:lumOff val="25000"/>
                      <a:shade val="67500"/>
                      <a:satMod val="115000"/>
                    </a:schemeClr>
                  </a:gs>
                  <a:gs pos="100000">
                    <a:schemeClr val="tx1">
                      <a:lumMod val="75000"/>
                      <a:lumOff val="25000"/>
                      <a:shade val="100000"/>
                      <a:satMod val="115000"/>
                    </a:schemeClr>
                  </a:gs>
                </a:gsLst>
                <a:lin ang="5400000" scaled="1"/>
                <a:tileRect/>
              </a:gra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𝑫</m:t>
                          </m:r>
                        </m:e>
                        <m:sub>
                          <m:r>
                            <a:rPr lang="en-US" sz="14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𝒇</m:t>
                          </m:r>
                        </m:sub>
                      </m:sSub>
                      <m:r>
                        <a:rPr lang="en-US" sz="14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4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</m:oMath>
                  </m:oMathPara>
                </a14:m>
                <a:endParaRPr lang="en-IN" sz="1400" b="1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E04EF324-A01C-4AC1-8B2C-75E8C3E6F6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43528" y="338874"/>
                <a:ext cx="896621" cy="328167"/>
              </a:xfrm>
              <a:prstGeom prst="rect">
                <a:avLst/>
              </a:prstGeom>
              <a:blipFill>
                <a:blip r:embed="rId9"/>
                <a:stretch>
                  <a:fillRect b="-377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67CB9704-1720-4D4A-9921-7DAE609D3F3C}"/>
                  </a:ext>
                </a:extLst>
              </p:cNvPr>
              <p:cNvSpPr txBox="1"/>
              <p:nvPr/>
            </p:nvSpPr>
            <p:spPr>
              <a:xfrm>
                <a:off x="8804786" y="665166"/>
                <a:ext cx="3261715" cy="445256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>
                  <a:lnSpc>
                    <a:spcPct val="150000"/>
                  </a:lnSpc>
                </a:pPr>
                <a:r>
                  <a:rPr lang="en-US" sz="2400" b="1">
                    <a:solidFill>
                      <a:srgbClr val="C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Velocity field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>
                    <a:solidFill>
                      <a:srgbClr val="C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N=256 and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u</m:t>
                        </m:r>
                      </m:e>
                      <m:sup>
                        <m:r>
                          <a:rPr lang="en-US" b="0" i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sup>
                    </m:sSup>
                    <m:d>
                      <m:dPr>
                        <m:ctrlP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z</m:t>
                        </m:r>
                      </m:e>
                    </m:d>
                    <m:r>
                      <a:rPr lang="en-US" b="0" i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endParaRPr lang="en-IN">
                  <a:solidFill>
                    <a:srgbClr val="C0000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endParaRPr 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r>
                  <a:rPr lang="en-US">
                    <a:latin typeface="Arial" panose="020B0604020202020204" pitchFamily="34" charset="0"/>
                    <a:cs typeface="Arial" panose="020B0604020202020204" pitchFamily="34" charset="0"/>
                  </a:rPr>
                  <a:t>Flow around 4 different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sub>
                    </m:sSub>
                  </m:oMath>
                </a14:m>
                <a:endParaRPr lang="en-US" b="0">
                  <a:latin typeface="Arial" panose="020B0604020202020204" pitchFamily="34" charset="0"/>
                </a:endParaRPr>
              </a:p>
              <a:p>
                <a:endParaRPr lang="en-US" b="0">
                  <a:latin typeface="Arial" panose="020B0604020202020204" pitchFamily="34" charset="0"/>
                </a:endParaRP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𝐷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𝑓</m:t>
                        </m:r>
                      </m:sub>
                    </m:sSub>
                  </m:oMath>
                </a14:m>
                <a:r>
                  <a:rPr lang="en-IN">
                    <a:solidFill>
                      <a:srgbClr val="C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=1.76 </a:t>
                </a:r>
              </a:p>
              <a:p>
                <a:pPr lvl="1"/>
                <a:endParaRPr lang="en-IN">
                  <a:solidFill>
                    <a:srgbClr val="C0000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IN">
                    <a:latin typeface="Arial" panose="020B0604020202020204" pitchFamily="34" charset="0"/>
                    <a:cs typeface="Arial" panose="020B0604020202020204" pitchFamily="34" charset="0"/>
                  </a:rPr>
                  <a:t>More fluid penetration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IN">
                    <a:latin typeface="Arial" panose="020B0604020202020204" pitchFamily="34" charset="0"/>
                    <a:cs typeface="Arial" panose="020B0604020202020204" pitchFamily="34" charset="0"/>
                  </a:rPr>
                  <a:t>‘Rectilinear’ flow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IN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𝐷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𝑓</m:t>
                        </m:r>
                      </m:sub>
                    </m:sSub>
                  </m:oMath>
                </a14:m>
                <a:r>
                  <a:rPr lang="en-IN">
                    <a:solidFill>
                      <a:srgbClr val="C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=2.46 </a:t>
                </a:r>
              </a:p>
              <a:p>
                <a:pPr lvl="1"/>
                <a:endParaRPr lang="en-IN">
                  <a:solidFill>
                    <a:srgbClr val="C0000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IN">
                    <a:latin typeface="Arial" panose="020B0604020202020204" pitchFamily="34" charset="0"/>
                    <a:cs typeface="Arial" panose="020B0604020202020204" pitchFamily="34" charset="0"/>
                  </a:rPr>
                  <a:t>Less fluid penetration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IN">
                    <a:latin typeface="Arial" panose="020B0604020202020204" pitchFamily="34" charset="0"/>
                    <a:cs typeface="Arial" panose="020B0604020202020204" pitchFamily="34" charset="0"/>
                  </a:rPr>
                  <a:t>‘Curvilinear’ flow</a:t>
                </a: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67CB9704-1720-4D4A-9921-7DAE609D3F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04786" y="665166"/>
                <a:ext cx="3261715" cy="4452566"/>
              </a:xfrm>
              <a:prstGeom prst="rect">
                <a:avLst/>
              </a:prstGeom>
              <a:blipFill>
                <a:blip r:embed="rId10"/>
                <a:stretch>
                  <a:fillRect l="-1495" b="-123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5D9D578B-88E2-44E0-A519-CDE8999F5DBD}"/>
              </a:ext>
            </a:extLst>
          </p:cNvPr>
          <p:cNvCxnSpPr/>
          <p:nvPr/>
        </p:nvCxnSpPr>
        <p:spPr>
          <a:xfrm>
            <a:off x="9789593" y="2745185"/>
            <a:ext cx="0" cy="29252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1E3154DE-0FFD-4ACB-9B43-9B194EFCD5BF}"/>
              </a:ext>
            </a:extLst>
          </p:cNvPr>
          <p:cNvCxnSpPr/>
          <p:nvPr/>
        </p:nvCxnSpPr>
        <p:spPr>
          <a:xfrm>
            <a:off x="9835080" y="4146171"/>
            <a:ext cx="0" cy="29252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5" name="Picture 14">
            <a:extLst>
              <a:ext uri="{FF2B5EF4-FFF2-40B4-BE49-F238E27FC236}">
                <a16:creationId xmlns:a16="http://schemas.microsoft.com/office/drawing/2014/main" id="{4034348C-8EB0-44B7-8584-2C06BD57B2C9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83048" y="3466229"/>
            <a:ext cx="3460480" cy="309361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2178FA29-20E0-4FC1-8FA8-44AF61DAE386}"/>
                  </a:ext>
                </a:extLst>
              </p:cNvPr>
              <p:cNvSpPr txBox="1"/>
              <p:nvPr/>
            </p:nvSpPr>
            <p:spPr>
              <a:xfrm>
                <a:off x="482676" y="3459861"/>
                <a:ext cx="1046241" cy="328167"/>
              </a:xfrm>
              <a:prstGeom prst="rect">
                <a:avLst/>
              </a:prstGeom>
              <a:gradFill flip="none" rotWithShape="1">
                <a:gsLst>
                  <a:gs pos="0">
                    <a:schemeClr val="tx1">
                      <a:lumMod val="75000"/>
                      <a:lumOff val="25000"/>
                      <a:shade val="30000"/>
                      <a:satMod val="115000"/>
                    </a:schemeClr>
                  </a:gs>
                  <a:gs pos="50000">
                    <a:schemeClr val="tx1">
                      <a:lumMod val="75000"/>
                      <a:lumOff val="25000"/>
                      <a:shade val="67500"/>
                      <a:satMod val="115000"/>
                    </a:schemeClr>
                  </a:gs>
                  <a:gs pos="100000">
                    <a:schemeClr val="tx1">
                      <a:lumMod val="75000"/>
                      <a:lumOff val="25000"/>
                      <a:shade val="100000"/>
                      <a:satMod val="115000"/>
                    </a:schemeClr>
                  </a:gs>
                </a:gsLst>
                <a:lin ang="5400000" scaled="1"/>
                <a:tileRect/>
              </a:gra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𝑫</m:t>
                          </m:r>
                        </m:e>
                        <m:sub>
                          <m:r>
                            <a:rPr lang="en-US" sz="14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𝒇</m:t>
                          </m:r>
                        </m:sub>
                      </m:sSub>
                      <m:r>
                        <a:rPr lang="en-US" sz="14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4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US" sz="14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sz="14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𝟐𝟑</m:t>
                      </m:r>
                    </m:oMath>
                  </m:oMathPara>
                </a14:m>
                <a:endParaRPr lang="en-IN" sz="1400" b="1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2178FA29-20E0-4FC1-8FA8-44AF61DAE38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2676" y="3459861"/>
                <a:ext cx="1046241" cy="328167"/>
              </a:xfrm>
              <a:prstGeom prst="rect">
                <a:avLst/>
              </a:prstGeom>
              <a:blipFill>
                <a:blip r:embed="rId12"/>
                <a:stretch>
                  <a:fillRect b="-377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AA31222F-5F30-4087-B153-BB23CB7758A7}"/>
              </a:ext>
            </a:extLst>
          </p:cNvPr>
          <p:cNvCxnSpPr>
            <a:cxnSpLocks/>
          </p:cNvCxnSpPr>
          <p:nvPr/>
        </p:nvCxnSpPr>
        <p:spPr>
          <a:xfrm flipH="1">
            <a:off x="8882456" y="6217640"/>
            <a:ext cx="646386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E27FAAE6-D2EF-4557-9763-196BE10DCEBB}"/>
              </a:ext>
            </a:extLst>
          </p:cNvPr>
          <p:cNvCxnSpPr>
            <a:cxnSpLocks/>
          </p:cNvCxnSpPr>
          <p:nvPr/>
        </p:nvCxnSpPr>
        <p:spPr>
          <a:xfrm flipV="1">
            <a:off x="9528842" y="5665846"/>
            <a:ext cx="0" cy="551794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46EDE1EB-DF51-4B17-AF40-57F5136F1451}"/>
              </a:ext>
            </a:extLst>
          </p:cNvPr>
          <p:cNvCxnSpPr/>
          <p:nvPr/>
        </p:nvCxnSpPr>
        <p:spPr>
          <a:xfrm flipV="1">
            <a:off x="9528842" y="5823502"/>
            <a:ext cx="394138" cy="39413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CCE3EAC9-126F-419E-BC96-45197AA12739}"/>
              </a:ext>
            </a:extLst>
          </p:cNvPr>
          <p:cNvSpPr txBox="1"/>
          <p:nvPr/>
        </p:nvSpPr>
        <p:spPr>
          <a:xfrm>
            <a:off x="8772676" y="5823502"/>
            <a:ext cx="3941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>
                <a:latin typeface="Arial" panose="020B0604020202020204" pitchFamily="34" charset="0"/>
                <a:cs typeface="Arial" panose="020B0604020202020204" pitchFamily="34" charset="0"/>
              </a:rPr>
              <a:t>z</a:t>
            </a:r>
            <a:endParaRPr lang="en-IN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766B7F3A-C754-45A6-B689-A4877A11EB52}"/>
              </a:ext>
            </a:extLst>
          </p:cNvPr>
          <p:cNvSpPr txBox="1"/>
          <p:nvPr/>
        </p:nvSpPr>
        <p:spPr>
          <a:xfrm>
            <a:off x="9331773" y="5330164"/>
            <a:ext cx="3941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>
                <a:latin typeface="Arial" panose="020B0604020202020204" pitchFamily="34" charset="0"/>
                <a:cs typeface="Arial" panose="020B0604020202020204" pitchFamily="34" charset="0"/>
              </a:rPr>
              <a:t>x</a:t>
            </a:r>
            <a:endParaRPr lang="en-IN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3C3D12F0-4EC0-4C80-A63C-B25943EE8F12}"/>
              </a:ext>
            </a:extLst>
          </p:cNvPr>
          <p:cNvSpPr txBox="1"/>
          <p:nvPr/>
        </p:nvSpPr>
        <p:spPr>
          <a:xfrm>
            <a:off x="9887409" y="5572411"/>
            <a:ext cx="3941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>
                <a:latin typeface="Arial" panose="020B0604020202020204" pitchFamily="34" charset="0"/>
                <a:cs typeface="Arial" panose="020B0604020202020204" pitchFamily="34" charset="0"/>
              </a:rPr>
              <a:t>y</a:t>
            </a:r>
            <a:endParaRPr lang="en-IN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9E8B05D2-C3C9-4598-9302-78C29139370E}"/>
              </a:ext>
            </a:extLst>
          </p:cNvPr>
          <p:cNvSpPr/>
          <p:nvPr/>
        </p:nvSpPr>
        <p:spPr>
          <a:xfrm>
            <a:off x="174171" y="188686"/>
            <a:ext cx="11843657" cy="645885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F1C65DC-A9A2-447D-B06F-2283A4294D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3CAD28-B1A9-4A64-9DD6-3376C7DEC3B0}" type="slidenum">
              <a:rPr lang="en-IN" smtClean="0"/>
              <a:t>33</a:t>
            </a:fld>
            <a:endParaRPr lang="en-IN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913BEE3-3840-4D14-8571-B331148CB82F}"/>
              </a:ext>
            </a:extLst>
          </p:cNvPr>
          <p:cNvSpPr txBox="1"/>
          <p:nvPr/>
        </p:nvSpPr>
        <p:spPr>
          <a:xfrm>
            <a:off x="8630019" y="6370544"/>
            <a:ext cx="21656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/>
              <a:t>*Obtained using mayavi</a:t>
            </a:r>
            <a:endParaRPr lang="en-IN" sz="1200"/>
          </a:p>
        </p:txBody>
      </p:sp>
    </p:spTree>
    <p:extLst>
      <p:ext uri="{BB962C8B-B14F-4D97-AF65-F5344CB8AC3E}">
        <p14:creationId xmlns:p14="http://schemas.microsoft.com/office/powerpoint/2010/main" val="588724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8344"/>
    </mc:Choice>
    <mc:Fallback xmlns="">
      <p:transition spd="slow" advTm="8344"/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A0BFD60-945E-4AF0-B3E3-33CC76CBD01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208" t="-1" b="8216"/>
          <a:stretch/>
        </p:blipFill>
        <p:spPr>
          <a:xfrm>
            <a:off x="4016164" y="806264"/>
            <a:ext cx="3240000" cy="260430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B9D3725-356B-421B-A039-01F83D4923D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5208" b="4912"/>
          <a:stretch/>
        </p:blipFill>
        <p:spPr>
          <a:xfrm>
            <a:off x="603673" y="806264"/>
            <a:ext cx="3240000" cy="2709328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4D415385-F9ED-482D-92C3-BBD6C550DAF6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5208" b="5033"/>
          <a:stretch/>
        </p:blipFill>
        <p:spPr>
          <a:xfrm>
            <a:off x="603673" y="3603996"/>
            <a:ext cx="3240000" cy="2709328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42E205C4-E8F9-42B8-871C-1BE18CC8387D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8076" b="8742"/>
          <a:stretch/>
        </p:blipFill>
        <p:spPr>
          <a:xfrm>
            <a:off x="4119404" y="3580568"/>
            <a:ext cx="3240000" cy="2685555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4C1C8E38-CDB9-46D9-93D4-6E7BAB94C515}"/>
              </a:ext>
            </a:extLst>
          </p:cNvPr>
          <p:cNvSpPr txBox="1"/>
          <p:nvPr/>
        </p:nvSpPr>
        <p:spPr>
          <a:xfrm>
            <a:off x="2888895" y="6357192"/>
            <a:ext cx="412365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/>
              <a:t>Radial distance from centre (r*)</a:t>
            </a:r>
            <a:endParaRPr lang="en-IN" sz="1400" b="1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75EB2A3-E4BB-4E47-9B27-74C66E50C38E}"/>
                  </a:ext>
                </a:extLst>
              </p:cNvPr>
              <p:cNvSpPr txBox="1"/>
              <p:nvPr/>
            </p:nvSpPr>
            <p:spPr>
              <a:xfrm rot="16200000">
                <a:off x="-685391" y="3215554"/>
                <a:ext cx="2074332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400" b="1"/>
                  <a:t>Fluid velocity (</a:t>
                </a:r>
                <a14:m>
                  <m:oMath xmlns:m="http://schemas.openxmlformats.org/officeDocument/2006/math">
                    <m:r>
                      <a:rPr lang="en-US" sz="1400" b="1" i="1" smtClean="0">
                        <a:latin typeface="Cambria Math" panose="02040503050406030204" pitchFamily="18" charset="0"/>
                      </a:rPr>
                      <m:t>𝒖</m:t>
                    </m:r>
                    <m:r>
                      <a:rPr lang="en-US" sz="1400" b="1" i="1" smtClean="0">
                        <a:latin typeface="Cambria Math" panose="02040503050406030204" pitchFamily="18" charset="0"/>
                      </a:rPr>
                      <m:t>/</m:t>
                    </m:r>
                    <m:sSub>
                      <m:sSubPr>
                        <m:ctrlPr>
                          <a:rPr lang="en-US" sz="14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b="1" i="1" smtClean="0">
                            <a:latin typeface="Cambria Math" panose="02040503050406030204" pitchFamily="18" charset="0"/>
                          </a:rPr>
                          <m:t>𝒖</m:t>
                        </m:r>
                      </m:e>
                      <m:sub>
                        <m:r>
                          <a:rPr lang="en-US" sz="1400" b="1" i="1" smtClean="0">
                            <a:latin typeface="Cambria Math" panose="02040503050406030204" pitchFamily="18" charset="0"/>
                          </a:rPr>
                          <m:t>𝒐</m:t>
                        </m:r>
                      </m:sub>
                    </m:sSub>
                    <m:r>
                      <a:rPr lang="en-US" sz="1400" b="1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IN" sz="1400" b="1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75EB2A3-E4BB-4E47-9B27-74C66E50C3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-685391" y="3215554"/>
                <a:ext cx="2074332" cy="307777"/>
              </a:xfrm>
              <a:prstGeom prst="rect">
                <a:avLst/>
              </a:prstGeom>
              <a:blipFill>
                <a:blip r:embed="rId6"/>
                <a:stretch>
                  <a:fillRect l="-1961" r="-19608" b="-882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D2146677-3246-4625-8B51-0ABB10F925B4}"/>
              </a:ext>
            </a:extLst>
          </p:cNvPr>
          <p:cNvCxnSpPr/>
          <p:nvPr/>
        </p:nvCxnSpPr>
        <p:spPr>
          <a:xfrm flipV="1">
            <a:off x="351775" y="1253613"/>
            <a:ext cx="0" cy="129785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189AF495-A45C-44AF-AE4F-F685F043F564}"/>
              </a:ext>
            </a:extLst>
          </p:cNvPr>
          <p:cNvCxnSpPr/>
          <p:nvPr/>
        </p:nvCxnSpPr>
        <p:spPr>
          <a:xfrm>
            <a:off x="5621151" y="6511080"/>
            <a:ext cx="165462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186B4518-BDC6-49F3-BC07-54A79626FE8F}"/>
              </a:ext>
            </a:extLst>
          </p:cNvPr>
          <p:cNvSpPr txBox="1"/>
          <p:nvPr/>
        </p:nvSpPr>
        <p:spPr>
          <a:xfrm>
            <a:off x="3285827" y="267655"/>
            <a:ext cx="896701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Fluid velocity for different fractal dimensions</a:t>
            </a:r>
            <a:endParaRPr lang="en-IN" sz="2400" b="1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058EE1BD-6921-4E17-A2F9-0829CE18B6CC}"/>
                  </a:ext>
                </a:extLst>
              </p:cNvPr>
              <p:cNvSpPr txBox="1"/>
              <p:nvPr/>
            </p:nvSpPr>
            <p:spPr>
              <a:xfrm>
                <a:off x="7508062" y="2332276"/>
                <a:ext cx="4198237" cy="220938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sz="1600">
                    <a:latin typeface="Arial" panose="020B0604020202020204" pitchFamily="34" charset="0"/>
                    <a:cs typeface="Arial" panose="020B0604020202020204" pitchFamily="34" charset="0"/>
                  </a:rPr>
                  <a:t>Velocity </a:t>
                </a:r>
                <a:r>
                  <a:rPr lang="en-US" sz="1600">
                    <a:latin typeface="Arial" panose="020B0604020202020204" pitchFamily="34" charset="0"/>
                    <a:cs typeface="Arial" panose="020B0604020202020204" pitchFamily="34" charset="0"/>
                    <a:sym typeface="Wingdings" panose="05000000000000000000" pitchFamily="2" charset="2"/>
                  </a:rPr>
                  <a:t>:Exponential function of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Wingdings" panose="05000000000000000000" pitchFamily="2" charset="2"/>
                          </a:rPr>
                        </m:ctrlPr>
                      </m:sSup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Wingdings" panose="05000000000000000000" pitchFamily="2" charset="2"/>
                          </a:rPr>
                          <m:t>𝑟</m:t>
                        </m:r>
                      </m:e>
                      <m:sup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Wingdings" panose="05000000000000000000" pitchFamily="2" charset="2"/>
                          </a:rPr>
                          <m:t>∗</m:t>
                        </m:r>
                      </m:sup>
                    </m:sSup>
                    <m:r>
                      <a:rPr lang="en-US" sz="16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Wingdings" panose="05000000000000000000" pitchFamily="2" charset="2"/>
                      </a:rPr>
                      <m:t>(</m:t>
                    </m:r>
                    <m:f>
                      <m:fPr>
                        <m:ctrlP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Wingdings" panose="05000000000000000000" pitchFamily="2" charset="2"/>
                          </a:rPr>
                        </m:ctrlPr>
                      </m:fPr>
                      <m:num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Wingdings" panose="05000000000000000000" pitchFamily="2" charset="2"/>
                          </a:rPr>
                          <m:t>𝑟</m:t>
                        </m:r>
                      </m:num>
                      <m:den>
                        <m:sSub>
                          <m:sSubPr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  <a:sym typeface="Wingdings" panose="05000000000000000000" pitchFamily="2" charset="2"/>
                              </a:rPr>
                            </m:ctrlPr>
                          </m:sSubPr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  <a:sym typeface="Wingdings" panose="05000000000000000000" pitchFamily="2" charset="2"/>
                              </a:rPr>
                              <m:t>𝑅</m:t>
                            </m:r>
                          </m:e>
                          <m:sub>
                            <m:r>
                              <a:rPr lang="en-US" sz="1600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  <a:sym typeface="Wingdings" panose="05000000000000000000" pitchFamily="2" charset="2"/>
                              </a:rPr>
                              <m:t>𝑔</m:t>
                            </m:r>
                          </m:sub>
                        </m:sSub>
                      </m:den>
                    </m:f>
                    <m:r>
                      <a:rPr lang="en-US" sz="16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Wingdings" panose="05000000000000000000" pitchFamily="2" charset="2"/>
                      </a:rPr>
                      <m:t>)</m:t>
                    </m:r>
                  </m:oMath>
                </a14:m>
                <a:endParaRPr lang="en-US" sz="160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𝑚𝑎𝑥</m:t>
                        </m:r>
                      </m:sub>
                      <m:sup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bSup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→</m:t>
                    </m:r>
                    <m:d>
                      <m:d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𝑅</m:t>
                                </m:r>
                              </m:e>
                              <m:sub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</m:sub>
                            </m:sSub>
                          </m:num>
                          <m:den>
                            <m:sSub>
                              <m:sSubPr>
                                <m:ctrlP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𝑅</m:t>
                                </m:r>
                              </m:e>
                              <m:sub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𝑔</m:t>
                                </m:r>
                              </m:sub>
                            </m:sSub>
                          </m:den>
                        </m:f>
                      </m:e>
                    </m:d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→1.5 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𝑡𝑜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 1.9</m:t>
                    </m:r>
                  </m:oMath>
                </a14:m>
                <a:r>
                  <a:rPr lang="en-US" sz="1600">
                    <a:latin typeface="Arial" panose="020B0604020202020204" pitchFamily="34" charset="0"/>
                    <a:cs typeface="Arial" panose="020B0604020202020204" pitchFamily="34" charset="0"/>
                  </a:rPr>
                  <a:t> for all fratals</a:t>
                </a: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IN" sz="1600">
                    <a:latin typeface="Arial" panose="020B0604020202020204" pitchFamily="34" charset="0"/>
                    <a:cs typeface="Arial" panose="020B0604020202020204" pitchFamily="34" charset="0"/>
                  </a:rPr>
                  <a:t>Decrease in velocity near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Sup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𝑅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𝑚𝑎𝑥</m:t>
                        </m:r>
                      </m:sub>
                      <m:sup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∗</m:t>
                        </m:r>
                      </m:sup>
                    </m:sSubSup>
                  </m:oMath>
                </a14:m>
                <a:endParaRPr lang="en-IN" sz="160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endParaRPr lang="en-US" sz="160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endParaRPr lang="en-IN" sz="160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058EE1BD-6921-4E17-A2F9-0829CE18B6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08062" y="2332276"/>
                <a:ext cx="4198237" cy="2209387"/>
              </a:xfrm>
              <a:prstGeom prst="rect">
                <a:avLst/>
              </a:prstGeom>
              <a:blipFill>
                <a:blip r:embed="rId7"/>
                <a:stretch>
                  <a:fillRect l="-58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8" name="Picture 17">
            <a:extLst>
              <a:ext uri="{FF2B5EF4-FFF2-40B4-BE49-F238E27FC236}">
                <a16:creationId xmlns:a16="http://schemas.microsoft.com/office/drawing/2014/main" id="{960FC886-7DDA-4954-8BAD-C84EF2C9448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250768" y="436574"/>
            <a:ext cx="1589457" cy="1402884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3A5CEE3E-8DD4-4C32-83EF-8D3B35131944}"/>
              </a:ext>
            </a:extLst>
          </p:cNvPr>
          <p:cNvSpPr txBox="1"/>
          <p:nvPr/>
        </p:nvSpPr>
        <p:spPr>
          <a:xfrm>
            <a:off x="7976152" y="4070285"/>
            <a:ext cx="6253316" cy="508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IN" sz="1600">
                <a:latin typeface="Arial" panose="020B0604020202020204" pitchFamily="34" charset="0"/>
                <a:cs typeface="Arial" panose="020B0604020202020204" pitchFamily="34" charset="0"/>
              </a:rPr>
              <a:t>Fluid velocity is screened more.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C1974263-CED3-4F5B-9D20-C08F8CEB8537}"/>
              </a:ext>
            </a:extLst>
          </p:cNvPr>
          <p:cNvCxnSpPr>
            <a:cxnSpLocks/>
          </p:cNvCxnSpPr>
          <p:nvPr/>
        </p:nvCxnSpPr>
        <p:spPr>
          <a:xfrm>
            <a:off x="7359404" y="4406609"/>
            <a:ext cx="616748" cy="0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EA1CD954-DB12-4203-A493-E085835AB720}"/>
                  </a:ext>
                </a:extLst>
              </p:cNvPr>
              <p:cNvSpPr txBox="1"/>
              <p:nvPr/>
            </p:nvSpPr>
            <p:spPr>
              <a:xfrm>
                <a:off x="9234107" y="5544564"/>
                <a:ext cx="2645665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600" b="0">
                    <a:latin typeface="Arial" panose="020B0604020202020204" pitchFamily="34" charset="0"/>
                    <a:ea typeface="Cambria Math" panose="02040503050406030204" pitchFamily="18" charset="0"/>
                    <a:cs typeface="Arial" panose="020B0604020202020204" pitchFamily="34" charset="0"/>
                  </a:rPr>
                  <a:t>Fluid velocity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∝</m:t>
                    </m:r>
                  </m:oMath>
                </a14:m>
                <a:r>
                  <a:rPr lang="en-IN" sz="1600">
                    <a:latin typeface="Arial" panose="020B0604020202020204" pitchFamily="34" charset="0"/>
                    <a:cs typeface="Arial" panose="020B0604020202020204" pitchFamily="34" charset="0"/>
                  </a:rPr>
                  <a:t> Force</a:t>
                </a:r>
              </a:p>
            </p:txBody>
          </p:sp>
        </mc:Choice>
        <mc:Fallback xmlns="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EA1CD954-DB12-4203-A493-E085835AB7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34107" y="5544564"/>
                <a:ext cx="2645665" cy="338554"/>
              </a:xfrm>
              <a:prstGeom prst="rect">
                <a:avLst/>
              </a:prstGeom>
              <a:blipFill>
                <a:blip r:embed="rId9"/>
                <a:stretch>
                  <a:fillRect l="-1382" t="-5455" b="-2363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1" name="Picture 40">
            <a:extLst>
              <a:ext uri="{FF2B5EF4-FFF2-40B4-BE49-F238E27FC236}">
                <a16:creationId xmlns:a16="http://schemas.microsoft.com/office/drawing/2014/main" id="{9F809B97-6434-47D3-9ED8-E5186F2DB44D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734861" y="5101897"/>
            <a:ext cx="1361190" cy="1141643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42" name="Rectangle 41">
            <a:extLst>
              <a:ext uri="{FF2B5EF4-FFF2-40B4-BE49-F238E27FC236}">
                <a16:creationId xmlns:a16="http://schemas.microsoft.com/office/drawing/2014/main" id="{3CEEE9B6-4C18-4EBB-B145-4CA107EFAF20}"/>
              </a:ext>
            </a:extLst>
          </p:cNvPr>
          <p:cNvSpPr/>
          <p:nvPr/>
        </p:nvSpPr>
        <p:spPr>
          <a:xfrm>
            <a:off x="174171" y="188686"/>
            <a:ext cx="11843657" cy="645885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580D914-0F81-43ED-9AF5-F0E1AEFB10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3CAD28-B1A9-4A64-9DD6-3376C7DEC3B0}" type="slidenum">
              <a:rPr lang="en-IN" smtClean="0"/>
              <a:t>34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382481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8315"/>
    </mc:Choice>
    <mc:Fallback xmlns="">
      <p:transition spd="slow" advTm="48315"/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067A26F2-3651-4632-910B-3B4769263103}"/>
                  </a:ext>
                </a:extLst>
              </p:cNvPr>
              <p:cNvSpPr txBox="1"/>
              <p:nvPr/>
            </p:nvSpPr>
            <p:spPr>
              <a:xfrm>
                <a:off x="4435979" y="969003"/>
                <a:ext cx="6429433" cy="525720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85750" indent="-285750">
                  <a:lnSpc>
                    <a:spcPct val="20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IN" i="1" smtClean="0">
                        <a:latin typeface="Cambria Math" panose="02040503050406030204" pitchFamily="18" charset="0"/>
                      </a:rPr>
                      <m:t>𝑢</m:t>
                    </m:r>
                    <m:d>
                      <m:d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IN" i="1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p>
                            <m:r>
                              <a:rPr lang="en-IN" i="0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</m:e>
                    </m:d>
                    <m:r>
                      <a:rPr lang="en-IN" i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IN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IN" i="1"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</m:sSub>
                    <m:r>
                      <a:rPr lang="en-IN" i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IN" i="0">
                        <a:latin typeface="Cambria Math" panose="02040503050406030204" pitchFamily="18" charset="0"/>
                      </a:rPr>
                      <m:t>ex</m:t>
                    </m:r>
                    <m:func>
                      <m:func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IN" i="0">
                            <a:latin typeface="Cambria Math" panose="02040503050406030204" pitchFamily="18" charset="0"/>
                          </a:rPr>
                          <m:t>p</m:t>
                        </m:r>
                      </m:fName>
                      <m:e>
                        <m:d>
                          <m:dPr>
                            <m:ctrlPr>
                              <a:rPr lang="en-IN" i="1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i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ctrlPr>
                                  <a:rPr lang="en-IN" i="1">
                                    <a:solidFill>
                                      <a:srgbClr val="83696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bSup>
                                  <m:sSubSupPr>
                                    <m:ctrlPr>
                                      <a:rPr lang="en-IN" i="1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IN" i="1">
                                        <a:latin typeface="Cambria Math" panose="02040503050406030204" pitchFamily="18" charset="0"/>
                                      </a:rPr>
                                      <m:t>𝑅</m:t>
                                    </m:r>
                                  </m:e>
                                  <m:sub>
                                    <m:r>
                                      <a:rPr lang="en-IN" i="1">
                                        <a:latin typeface="Cambria Math" panose="02040503050406030204" pitchFamily="18" charset="0"/>
                                      </a:rPr>
                                      <m:t>𝑐</m:t>
                                    </m:r>
                                  </m:sub>
                                  <m:sup>
                                    <m:r>
                                      <a:rPr lang="en-IN" i="0">
                                        <a:latin typeface="Cambria Math" panose="02040503050406030204" pitchFamily="18" charset="0"/>
                                      </a:rPr>
                                      <m:t>∗</m:t>
                                    </m:r>
                                  </m:sup>
                                </m:sSubSup>
                                <m:r>
                                  <a:rPr lang="en-IN" i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p>
                                  <m:sSupPr>
                                    <m:ctrlPr>
                                      <a:rPr lang="en-IN" i="1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IN" i="1">
                                        <a:latin typeface="Cambria Math" panose="02040503050406030204" pitchFamily="18" charset="0"/>
                                      </a:rPr>
                                      <m:t>𝑟</m:t>
                                    </m:r>
                                  </m:e>
                                  <m:sup>
                                    <m:r>
                                      <a:rPr lang="en-IN" i="0">
                                        <a:latin typeface="Cambria Math" panose="02040503050406030204" pitchFamily="18" charset="0"/>
                                      </a:rPr>
                                      <m:t>∗</m:t>
                                    </m:r>
                                  </m:sup>
                                </m:sSup>
                              </m:num>
                              <m:den>
                                <m:sSup>
                                  <m:sSupPr>
                                    <m:ctrlPr>
                                      <a:rPr lang="en-IN" i="1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IN" i="1">
                                        <a:latin typeface="Cambria Math" panose="02040503050406030204" pitchFamily="18" charset="0"/>
                                      </a:rPr>
                                      <m:t>𝛿</m:t>
                                    </m:r>
                                  </m:e>
                                  <m:sup>
                                    <m:r>
                                      <a:rPr lang="en-IN" i="0">
                                        <a:latin typeface="Cambria Math" panose="02040503050406030204" pitchFamily="18" charset="0"/>
                                      </a:rPr>
                                      <m:t>∗</m:t>
                                    </m:r>
                                  </m:sup>
                                </m:sSup>
                              </m:den>
                            </m:f>
                          </m:e>
                        </m:d>
                      </m:e>
                    </m:func>
                  </m:oMath>
                </a14:m>
                <a:endParaRPr lang="en-US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>
                  <a:lnSpc>
                    <a:spcPct val="20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 Velocity at the surface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𝑅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𝑐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∗</m:t>
                        </m:r>
                      </m:sup>
                    </m:sSubSup>
                  </m:oMath>
                </a14:m>
                <a:endParaRPr lang="en-US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>
                  <a:lnSpc>
                    <a:spcPct val="200000"/>
                  </a:lnSpc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𝛿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Penetration depth</a:t>
                </a:r>
              </a:p>
              <a:p>
                <a:pPr>
                  <a:lnSpc>
                    <a:spcPct val="200000"/>
                  </a:lnSpc>
                </a:pPr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	Distance at which velocity reduces to 1/e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</m:sSub>
                  </m:oMath>
                </a14:m>
                <a:endParaRPr lang="en-IN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IN" dirty="0">
                    <a:latin typeface="Arial" panose="020B0604020202020204" pitchFamily="34" charset="0"/>
                    <a:cs typeface="Arial" panose="020B0604020202020204" pitchFamily="34" charset="0"/>
                  </a:rPr>
                  <a:t>Relation reduces to </a:t>
                </a:r>
                <a14:m>
                  <m:oMath xmlns:m="http://schemas.openxmlformats.org/officeDocument/2006/math">
                    <m:r>
                      <a:rPr lang="en-IN" i="1" smtClean="0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IN" i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func>
                      <m:func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IN" i="0">
                            <a:latin typeface="Cambria Math" panose="02040503050406030204" pitchFamily="18" charset="0"/>
                          </a:rPr>
                          <m:t>exp</m:t>
                        </m:r>
                      </m:fName>
                      <m:e>
                        <m:d>
                          <m:dPr>
                            <m:ctrlPr>
                              <a:rPr lang="en-IN" i="1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IN" i="1">
                                    <a:solidFill>
                                      <a:srgbClr val="83696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p>
                                  <m:sSupPr>
                                    <m:ctrlPr>
                                      <a:rPr lang="en-IN" i="1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IN" i="1">
                                        <a:latin typeface="Cambria Math" panose="02040503050406030204" pitchFamily="18" charset="0"/>
                                      </a:rPr>
                                      <m:t>𝑟</m:t>
                                    </m:r>
                                  </m:e>
                                  <m:sup>
                                    <m:r>
                                      <a:rPr lang="en-IN" i="0">
                                        <a:latin typeface="Cambria Math" panose="02040503050406030204" pitchFamily="18" charset="0"/>
                                      </a:rPr>
                                      <m:t>∗</m:t>
                                    </m:r>
                                  </m:sup>
                                </m:sSup>
                              </m:num>
                              <m:den>
                                <m:sSup>
                                  <m:sSupPr>
                                    <m:ctrlPr>
                                      <a:rPr lang="en-IN" i="1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IN" i="1">
                                        <a:latin typeface="Cambria Math" panose="02040503050406030204" pitchFamily="18" charset="0"/>
                                      </a:rPr>
                                      <m:t>𝛿</m:t>
                                    </m:r>
                                  </m:e>
                                  <m:sup>
                                    <m:r>
                                      <a:rPr lang="en-IN" i="0">
                                        <a:latin typeface="Cambria Math" panose="02040503050406030204" pitchFamily="18" charset="0"/>
                                      </a:rPr>
                                      <m:t>∗</m:t>
                                    </m:r>
                                  </m:sup>
                                </m:sSup>
                              </m:den>
                            </m:f>
                          </m:e>
                        </m:d>
                      </m:e>
                    </m:func>
                  </m:oMath>
                </a14:m>
                <a:endParaRPr lang="en-IN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𝜹</m:t>
                        </m:r>
                      </m:e>
                      <m:sup>
                        <m:r>
                          <a:rPr lang="en-US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IN" b="1" dirty="0">
                    <a:solidFill>
                      <a:srgbClr val="C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decreases as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𝑫</m:t>
                        </m:r>
                      </m:e>
                      <m:sub>
                        <m:r>
                          <a:rPr lang="en-US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𝒇</m:t>
                        </m:r>
                      </m:sub>
                    </m:sSub>
                  </m:oMath>
                </a14:m>
                <a:r>
                  <a:rPr lang="en-IN" b="1" dirty="0">
                    <a:solidFill>
                      <a:srgbClr val="C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increases</a:t>
                </a:r>
                <a:r>
                  <a:rPr lang="en-IN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.</a:t>
                </a:r>
              </a:p>
              <a:p>
                <a:pPr marL="285750" indent="-285750">
                  <a:lnSpc>
                    <a:spcPct val="200000"/>
                  </a:lnSpc>
                  <a:buFont typeface="Arial" panose="020B0604020202020204" pitchFamily="34" charset="0"/>
                  <a:buChar char="•"/>
                </a:pPr>
                <a:endParaRPr lang="en-IN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285750" indent="-285750">
                  <a:lnSpc>
                    <a:spcPct val="200000"/>
                  </a:lnSpc>
                  <a:buFont typeface="Arial" panose="020B0604020202020204" pitchFamily="34" charset="0"/>
                  <a:buChar char="•"/>
                </a:pPr>
                <a:endParaRPr lang="en-IN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285750" indent="-285750">
                  <a:lnSpc>
                    <a:spcPct val="200000"/>
                  </a:lnSpc>
                  <a:buFont typeface="Arial" panose="020B0604020202020204" pitchFamily="34" charset="0"/>
                  <a:buChar char="•"/>
                </a:pPr>
                <a:endParaRPr lang="en-IN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067A26F2-3651-4632-910B-3B476926310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35979" y="969003"/>
                <a:ext cx="6429433" cy="5257208"/>
              </a:xfrm>
              <a:prstGeom prst="rect">
                <a:avLst/>
              </a:prstGeom>
              <a:blipFill>
                <a:blip r:embed="rId2"/>
                <a:stretch>
                  <a:fillRect l="-66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TextBox 14">
            <a:extLst>
              <a:ext uri="{FF2B5EF4-FFF2-40B4-BE49-F238E27FC236}">
                <a16:creationId xmlns:a16="http://schemas.microsoft.com/office/drawing/2014/main" id="{1AB9516E-F14B-4348-A604-5B1A2E18EB6E}"/>
              </a:ext>
            </a:extLst>
          </p:cNvPr>
          <p:cNvSpPr txBox="1"/>
          <p:nvPr/>
        </p:nvSpPr>
        <p:spPr>
          <a:xfrm>
            <a:off x="3784693" y="507338"/>
            <a:ext cx="609845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Fluid velocity and r* relation</a:t>
            </a:r>
            <a:endParaRPr lang="en-IN" sz="2400"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6" name="Table 16">
                <a:extLst>
                  <a:ext uri="{FF2B5EF4-FFF2-40B4-BE49-F238E27FC236}">
                    <a16:creationId xmlns:a16="http://schemas.microsoft.com/office/drawing/2014/main" id="{963D5B9D-88A4-4D35-99FF-A29EE355258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584142963"/>
                  </p:ext>
                </p:extLst>
              </p:nvPr>
            </p:nvGraphicFramePr>
            <p:xfrm>
              <a:off x="3784693" y="4861297"/>
              <a:ext cx="8128000" cy="1691640"/>
            </p:xfrm>
            <a:graphic>
              <a:graphicData uri="http://schemas.openxmlformats.org/drawingml/2006/table">
                <a:tbl>
                  <a:tblPr firstRow="1" bandRow="1">
                    <a:tableStyleId>{0505E3EF-67EA-436B-97B2-0124C06EBD24}</a:tableStyleId>
                  </a:tblPr>
                  <a:tblGrid>
                    <a:gridCol w="1625600">
                      <a:extLst>
                        <a:ext uri="{9D8B030D-6E8A-4147-A177-3AD203B41FA5}">
                          <a16:colId xmlns:a16="http://schemas.microsoft.com/office/drawing/2014/main" val="2099239552"/>
                        </a:ext>
                      </a:extLst>
                    </a:gridCol>
                    <a:gridCol w="1625600">
                      <a:extLst>
                        <a:ext uri="{9D8B030D-6E8A-4147-A177-3AD203B41FA5}">
                          <a16:colId xmlns:a16="http://schemas.microsoft.com/office/drawing/2014/main" val="3027400882"/>
                        </a:ext>
                      </a:extLst>
                    </a:gridCol>
                    <a:gridCol w="1625600">
                      <a:extLst>
                        <a:ext uri="{9D8B030D-6E8A-4147-A177-3AD203B41FA5}">
                          <a16:colId xmlns:a16="http://schemas.microsoft.com/office/drawing/2014/main" val="2584457998"/>
                        </a:ext>
                      </a:extLst>
                    </a:gridCol>
                    <a:gridCol w="1625600">
                      <a:extLst>
                        <a:ext uri="{9D8B030D-6E8A-4147-A177-3AD203B41FA5}">
                          <a16:colId xmlns:a16="http://schemas.microsoft.com/office/drawing/2014/main" val="2364069915"/>
                        </a:ext>
                      </a:extLst>
                    </a:gridCol>
                    <a:gridCol w="1625600">
                      <a:extLst>
                        <a:ext uri="{9D8B030D-6E8A-4147-A177-3AD203B41FA5}">
                          <a16:colId xmlns:a16="http://schemas.microsoft.com/office/drawing/2014/main" val="252181194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6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b="1" smtClean="0">
                                        <a:latin typeface="Cambria Math" panose="02040503050406030204" pitchFamily="18" charset="0"/>
                                      </a:rPr>
                                      <m:t>𝑫</m:t>
                                    </m:r>
                                  </m:e>
                                  <m:sub>
                                    <m:r>
                                      <a:rPr lang="en-US" sz="1600" b="1" smtClean="0">
                                        <a:latin typeface="Cambria Math" panose="02040503050406030204" pitchFamily="18" charset="0"/>
                                      </a:rPr>
                                      <m:t>𝒇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IN" sz="16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1.76</a:t>
                          </a:r>
                          <a:endParaRPr lang="en-IN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2</a:t>
                          </a:r>
                          <a:endParaRPr lang="en-IN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2.23</a:t>
                          </a:r>
                          <a:endParaRPr lang="en-IN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2.45</a:t>
                          </a:r>
                          <a:endParaRPr lang="en-IN" sz="16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75781927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sz="1600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1600" b="0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𝛿</m:t>
                                    </m:r>
                                  </m:e>
                                  <m:sup>
                                    <m:r>
                                      <a:rPr lang="en-US" sz="1600" b="0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∗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IN" sz="16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600">
                              <a:solidFill>
                                <a:srgbClr val="C00000"/>
                              </a:solidFill>
                              <a:effectLst/>
                            </a:rPr>
                            <a:t>0.74</a:t>
                          </a:r>
                          <a:endParaRPr lang="en-IN" sz="1600">
                            <a:solidFill>
                              <a:srgbClr val="C00000"/>
                            </a:solidFill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600">
                              <a:solidFill>
                                <a:srgbClr val="C00000"/>
                              </a:solidFill>
                              <a:effectLst/>
                            </a:rPr>
                            <a:t>0.51</a:t>
                          </a:r>
                          <a:endParaRPr lang="en-IN" sz="1600" dirty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600">
                              <a:solidFill>
                                <a:srgbClr val="C00000"/>
                              </a:solidFill>
                              <a:effectLst/>
                            </a:rPr>
                            <a:t>0.32</a:t>
                          </a:r>
                          <a:endParaRPr lang="en-IN" sz="1600">
                            <a:solidFill>
                              <a:srgbClr val="C00000"/>
                            </a:solidFill>
                            <a:effectLst/>
                          </a:endParaRPr>
                        </a:p>
                        <a:p>
                          <a:pPr algn="ctr">
                            <a:lnSpc>
                              <a:spcPct val="100000"/>
                            </a:lnSpc>
                          </a:pPr>
                          <a:endParaRPr lang="en-IN" sz="1600" dirty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600">
                              <a:solidFill>
                                <a:srgbClr val="C00000"/>
                              </a:solidFill>
                              <a:effectLst/>
                            </a:rPr>
                            <a:t>0.28</a:t>
                          </a:r>
                          <a:endParaRPr lang="en-IN" sz="1600">
                            <a:solidFill>
                              <a:srgbClr val="C00000"/>
                            </a:solidFill>
                            <a:effectLst/>
                          </a:endParaRPr>
                        </a:p>
                        <a:p>
                          <a:pPr algn="ctr">
                            <a:lnSpc>
                              <a:spcPct val="100000"/>
                            </a:lnSpc>
                          </a:pPr>
                          <a:endParaRPr lang="en-IN" sz="1600" dirty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80594479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/>
                            <a:t>a &lt; 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IN" sz="1600" i="1" kern="1200" smtClean="0">
                                      <a:solidFill>
                                        <a:schemeClr val="dk1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600" kern="1200">
                                      <a:solidFill>
                                        <a:schemeClr val="dk1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  <m:sup>
                                  <m:r>
                                    <a:rPr lang="en-US" sz="1600" kern="1200">
                                      <a:solidFill>
                                        <a:schemeClr val="dk1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∗</m:t>
                                  </m:r>
                                </m:sup>
                              </m:sSup>
                            </m:oMath>
                          </a14:m>
                          <a:r>
                            <a:rPr lang="en-IN" sz="1600" dirty="0"/>
                            <a:t>&lt;b</a:t>
                          </a:r>
                          <a:endParaRPr lang="en-IN" sz="16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600" kern="1200">
                              <a:solidFill>
                                <a:schemeClr val="dk1"/>
                              </a:solidFill>
                              <a:effectLst/>
                            </a:rPr>
                            <a:t>0.65&lt; 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IN" sz="1600" i="1" kern="1200">
                                      <a:solidFill>
                                        <a:schemeClr val="dk1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600" kern="1200">
                                      <a:solidFill>
                                        <a:schemeClr val="dk1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  <m:sup>
                                  <m:r>
                                    <a:rPr lang="en-US" sz="1600" kern="1200">
                                      <a:solidFill>
                                        <a:schemeClr val="dk1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∗</m:t>
                                  </m:r>
                                </m:sup>
                              </m:sSup>
                            </m:oMath>
                          </a14:m>
                          <a:r>
                            <a:rPr lang="en-US" sz="1600" kern="1200">
                              <a:solidFill>
                                <a:schemeClr val="dk1"/>
                              </a:solidFill>
                              <a:effectLst/>
                            </a:rPr>
                            <a:t>&lt;1.15</a:t>
                          </a:r>
                          <a:endParaRPr lang="en-IN" sz="16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kern="1200">
                              <a:solidFill>
                                <a:schemeClr val="dk1"/>
                              </a:solidFill>
                              <a:effectLst/>
                            </a:rPr>
                            <a:t>0.25 &lt; 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IN" sz="1600" i="1" kern="1200">
                                      <a:solidFill>
                                        <a:schemeClr val="dk1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600" kern="1200">
                                      <a:solidFill>
                                        <a:schemeClr val="dk1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  <m:sup>
                                  <m:r>
                                    <a:rPr lang="en-US" sz="1600" kern="1200">
                                      <a:solidFill>
                                        <a:schemeClr val="dk1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∗</m:t>
                                  </m:r>
                                </m:sup>
                              </m:sSup>
                            </m:oMath>
                          </a14:m>
                          <a:r>
                            <a:rPr lang="en-US" sz="1600" kern="1200">
                              <a:solidFill>
                                <a:schemeClr val="dk1"/>
                              </a:solidFill>
                              <a:effectLst/>
                            </a:rPr>
                            <a:t>&lt;1.15</a:t>
                          </a:r>
                          <a:endParaRPr lang="en-IN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kern="1200">
                              <a:solidFill>
                                <a:schemeClr val="dk1"/>
                              </a:solidFill>
                              <a:effectLst/>
                            </a:rPr>
                            <a:t>0.27 &lt; 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IN" sz="1600" i="1" kern="1200">
                                      <a:solidFill>
                                        <a:schemeClr val="dk1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600" kern="1200">
                                      <a:solidFill>
                                        <a:schemeClr val="dk1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  <m:sup>
                                  <m:r>
                                    <a:rPr lang="en-US" sz="1600" kern="1200">
                                      <a:solidFill>
                                        <a:schemeClr val="dk1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∗</m:t>
                                  </m:r>
                                </m:sup>
                              </m:sSup>
                            </m:oMath>
                          </a14:m>
                          <a:r>
                            <a:rPr lang="en-US" sz="1600" kern="1200">
                              <a:solidFill>
                                <a:schemeClr val="dk1"/>
                              </a:solidFill>
                              <a:effectLst/>
                            </a:rPr>
                            <a:t>&lt;1.15</a:t>
                          </a:r>
                          <a:endParaRPr lang="en-IN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kern="1200">
                              <a:solidFill>
                                <a:schemeClr val="dk1"/>
                              </a:solidFill>
                              <a:effectLst/>
                            </a:rPr>
                            <a:t>0.62 &lt; 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IN" sz="1600" i="1" kern="1200">
                                      <a:solidFill>
                                        <a:schemeClr val="dk1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600" kern="1200">
                                      <a:solidFill>
                                        <a:schemeClr val="dk1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  <m:sup>
                                  <m:r>
                                    <a:rPr lang="en-US" sz="1600" kern="1200">
                                      <a:solidFill>
                                        <a:schemeClr val="dk1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∗</m:t>
                                  </m:r>
                                </m:sup>
                              </m:sSup>
                            </m:oMath>
                          </a14:m>
                          <a:r>
                            <a:rPr lang="en-US" sz="1600" kern="1200">
                              <a:solidFill>
                                <a:schemeClr val="dk1"/>
                              </a:solidFill>
                              <a:effectLst/>
                            </a:rPr>
                            <a:t>&lt;1.4</a:t>
                          </a:r>
                          <a:endParaRPr lang="en-IN" sz="16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68216769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/>
                            <a:t>% aggregate</a:t>
                          </a:r>
                          <a:endParaRPr lang="en-IN" sz="16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600">
                              <a:effectLst/>
                            </a:rPr>
                            <a:t>54</a:t>
                          </a:r>
                          <a:endParaRPr lang="en-IN" sz="16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/>
                            <a:t>70</a:t>
                          </a:r>
                          <a:endParaRPr lang="en-IN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/>
                            <a:t>75</a:t>
                          </a:r>
                          <a:endParaRPr lang="en-IN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/>
                            <a:t>89</a:t>
                          </a:r>
                          <a:endParaRPr lang="en-IN" sz="16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5121728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6" name="Table 16">
                <a:extLst>
                  <a:ext uri="{FF2B5EF4-FFF2-40B4-BE49-F238E27FC236}">
                    <a16:creationId xmlns:a16="http://schemas.microsoft.com/office/drawing/2014/main" id="{963D5B9D-88A4-4D35-99FF-A29EE355258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584142963"/>
                  </p:ext>
                </p:extLst>
              </p:nvPr>
            </p:nvGraphicFramePr>
            <p:xfrm>
              <a:off x="3784693" y="4861297"/>
              <a:ext cx="8128000" cy="1691640"/>
            </p:xfrm>
            <a:graphic>
              <a:graphicData uri="http://schemas.openxmlformats.org/drawingml/2006/table">
                <a:tbl>
                  <a:tblPr firstRow="1" bandRow="1">
                    <a:tableStyleId>{0505E3EF-67EA-436B-97B2-0124C06EBD24}</a:tableStyleId>
                  </a:tblPr>
                  <a:tblGrid>
                    <a:gridCol w="1625600">
                      <a:extLst>
                        <a:ext uri="{9D8B030D-6E8A-4147-A177-3AD203B41FA5}">
                          <a16:colId xmlns:a16="http://schemas.microsoft.com/office/drawing/2014/main" val="2099239552"/>
                        </a:ext>
                      </a:extLst>
                    </a:gridCol>
                    <a:gridCol w="1625600">
                      <a:extLst>
                        <a:ext uri="{9D8B030D-6E8A-4147-A177-3AD203B41FA5}">
                          <a16:colId xmlns:a16="http://schemas.microsoft.com/office/drawing/2014/main" val="3027400882"/>
                        </a:ext>
                      </a:extLst>
                    </a:gridCol>
                    <a:gridCol w="1625600">
                      <a:extLst>
                        <a:ext uri="{9D8B030D-6E8A-4147-A177-3AD203B41FA5}">
                          <a16:colId xmlns:a16="http://schemas.microsoft.com/office/drawing/2014/main" val="2584457998"/>
                        </a:ext>
                      </a:extLst>
                    </a:gridCol>
                    <a:gridCol w="1625600">
                      <a:extLst>
                        <a:ext uri="{9D8B030D-6E8A-4147-A177-3AD203B41FA5}">
                          <a16:colId xmlns:a16="http://schemas.microsoft.com/office/drawing/2014/main" val="2364069915"/>
                        </a:ext>
                      </a:extLst>
                    </a:gridCol>
                    <a:gridCol w="1625600">
                      <a:extLst>
                        <a:ext uri="{9D8B030D-6E8A-4147-A177-3AD203B41FA5}">
                          <a16:colId xmlns:a16="http://schemas.microsoft.com/office/drawing/2014/main" val="252181194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375" t="-4918" r="-400749" b="-37868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1.76</a:t>
                          </a:r>
                          <a:endParaRPr lang="en-IN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2</a:t>
                          </a:r>
                          <a:endParaRPr lang="en-IN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2.23</a:t>
                          </a:r>
                          <a:endParaRPr lang="en-IN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2.45</a:t>
                          </a:r>
                          <a:endParaRPr lang="en-IN" sz="16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757819274"/>
                      </a:ext>
                    </a:extLst>
                  </a:tr>
                  <a:tr h="57912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375" t="-67368" r="-400749" b="-14315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600">
                              <a:solidFill>
                                <a:srgbClr val="C00000"/>
                              </a:solidFill>
                              <a:effectLst/>
                            </a:rPr>
                            <a:t>0.74</a:t>
                          </a:r>
                          <a:endParaRPr lang="en-IN" sz="1600">
                            <a:solidFill>
                              <a:srgbClr val="C00000"/>
                            </a:solidFill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600">
                              <a:solidFill>
                                <a:srgbClr val="C00000"/>
                              </a:solidFill>
                              <a:effectLst/>
                            </a:rPr>
                            <a:t>0.51</a:t>
                          </a:r>
                          <a:endParaRPr lang="en-IN" sz="1600" dirty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600">
                              <a:solidFill>
                                <a:srgbClr val="C00000"/>
                              </a:solidFill>
                              <a:effectLst/>
                            </a:rPr>
                            <a:t>0.32</a:t>
                          </a:r>
                          <a:endParaRPr lang="en-IN" sz="1600">
                            <a:solidFill>
                              <a:srgbClr val="C00000"/>
                            </a:solidFill>
                            <a:effectLst/>
                          </a:endParaRPr>
                        </a:p>
                        <a:p>
                          <a:pPr algn="ctr">
                            <a:lnSpc>
                              <a:spcPct val="100000"/>
                            </a:lnSpc>
                          </a:pPr>
                          <a:endParaRPr lang="en-IN" sz="1600" dirty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600">
                              <a:solidFill>
                                <a:srgbClr val="C00000"/>
                              </a:solidFill>
                              <a:effectLst/>
                            </a:rPr>
                            <a:t>0.28</a:t>
                          </a:r>
                          <a:endParaRPr lang="en-IN" sz="1600">
                            <a:solidFill>
                              <a:srgbClr val="C00000"/>
                            </a:solidFill>
                            <a:effectLst/>
                          </a:endParaRPr>
                        </a:p>
                        <a:p>
                          <a:pPr algn="ctr">
                            <a:lnSpc>
                              <a:spcPct val="100000"/>
                            </a:lnSpc>
                          </a:pPr>
                          <a:endParaRPr lang="en-IN" sz="1600" dirty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80594479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375" t="-260656" r="-400749" b="-1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blipFill>
                          <a:blip r:embed="rId3"/>
                          <a:stretch>
                            <a:fillRect l="-100375" t="-260656" r="-300749" b="-1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200375" t="-260656" r="-200749" b="-1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300375" t="-260656" r="-100749" b="-1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400375" t="-260656" r="-749" b="-12295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68216769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/>
                            <a:t>% aggregate</a:t>
                          </a:r>
                          <a:endParaRPr lang="en-IN" sz="16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600">
                              <a:effectLst/>
                            </a:rPr>
                            <a:t>54</a:t>
                          </a:r>
                          <a:endParaRPr lang="en-IN" sz="16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/>
                            <a:t>70</a:t>
                          </a:r>
                          <a:endParaRPr lang="en-IN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/>
                            <a:t>75</a:t>
                          </a:r>
                          <a:endParaRPr lang="en-IN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/>
                            <a:t>89</a:t>
                          </a:r>
                          <a:endParaRPr lang="en-IN" sz="16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51217285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7" name="TextBox 16">
            <a:extLst>
              <a:ext uri="{FF2B5EF4-FFF2-40B4-BE49-F238E27FC236}">
                <a16:creationId xmlns:a16="http://schemas.microsoft.com/office/drawing/2014/main" id="{71569FE9-3825-454F-BE28-8431E904912E}"/>
              </a:ext>
            </a:extLst>
          </p:cNvPr>
          <p:cNvSpPr txBox="1"/>
          <p:nvPr/>
        </p:nvSpPr>
        <p:spPr>
          <a:xfrm>
            <a:off x="9982200" y="4491965"/>
            <a:ext cx="23302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 </a:t>
            </a:r>
            <a:r>
              <a:rPr lang="en-US" b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N=1024</a:t>
            </a:r>
            <a:endParaRPr lang="en-IN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91130A43-96DA-4483-871D-92EA609DB4E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15022" y="223821"/>
            <a:ext cx="1634077" cy="149036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8EA89A6-1AE4-4BC7-948E-52EB5201850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8536" y="1311921"/>
            <a:ext cx="3870794" cy="3272865"/>
          </a:xfrm>
          <a:prstGeom prst="rect">
            <a:avLst/>
          </a:prstGeom>
        </p:spPr>
      </p:pic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A6D6FBF4-D9D2-4D1B-AE50-9CCFB85918EC}"/>
              </a:ext>
            </a:extLst>
          </p:cNvPr>
          <p:cNvCxnSpPr>
            <a:cxnSpLocks/>
          </p:cNvCxnSpPr>
          <p:nvPr/>
        </p:nvCxnSpPr>
        <p:spPr>
          <a:xfrm flipV="1">
            <a:off x="4897854" y="4927704"/>
            <a:ext cx="0" cy="249207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69B43AB3-9130-4CCF-A3F0-8124C858F5A9}"/>
              </a:ext>
            </a:extLst>
          </p:cNvPr>
          <p:cNvCxnSpPr>
            <a:cxnSpLocks/>
          </p:cNvCxnSpPr>
          <p:nvPr/>
        </p:nvCxnSpPr>
        <p:spPr>
          <a:xfrm flipH="1">
            <a:off x="4897854" y="5404192"/>
            <a:ext cx="5289" cy="302925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03939372-1C6B-42E7-8C4D-912A411DA8B8}"/>
              </a:ext>
            </a:extLst>
          </p:cNvPr>
          <p:cNvCxnSpPr>
            <a:cxnSpLocks/>
          </p:cNvCxnSpPr>
          <p:nvPr/>
        </p:nvCxnSpPr>
        <p:spPr>
          <a:xfrm flipV="1">
            <a:off x="5240458" y="6231746"/>
            <a:ext cx="0" cy="249207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" name="Rectangle 18">
            <a:extLst>
              <a:ext uri="{FF2B5EF4-FFF2-40B4-BE49-F238E27FC236}">
                <a16:creationId xmlns:a16="http://schemas.microsoft.com/office/drawing/2014/main" id="{84A15253-23E2-4F11-9807-C8B67986EEF7}"/>
              </a:ext>
            </a:extLst>
          </p:cNvPr>
          <p:cNvSpPr/>
          <p:nvPr/>
        </p:nvSpPr>
        <p:spPr>
          <a:xfrm>
            <a:off x="174171" y="188686"/>
            <a:ext cx="11843657" cy="645885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CF6F706-2B04-4189-9588-BFB3C7367C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3CAD28-B1A9-4A64-9DD6-3376C7DEC3B0}" type="slidenum">
              <a:rPr lang="en-IN" smtClean="0"/>
              <a:t>35</a:t>
            </a:fld>
            <a:endParaRPr lang="en-IN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4884D8D-05A2-45D0-A500-5979F27BA4EE}"/>
              </a:ext>
            </a:extLst>
          </p:cNvPr>
          <p:cNvSpPr txBox="1"/>
          <p:nvPr/>
        </p:nvSpPr>
        <p:spPr>
          <a:xfrm>
            <a:off x="445935" y="5283319"/>
            <a:ext cx="2255071" cy="1073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200" b="1">
                <a:solidFill>
                  <a:srgbClr val="C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Exponential fits before</a:t>
            </a:r>
          </a:p>
          <a:p>
            <a:pPr>
              <a:lnSpc>
                <a:spcPct val="200000"/>
              </a:lnSpc>
            </a:pPr>
            <a:r>
              <a:rPr lang="en-US" sz="120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*Debye et.al(1948)</a:t>
            </a:r>
          </a:p>
          <a:p>
            <a:pPr>
              <a:lnSpc>
                <a:spcPct val="200000"/>
              </a:lnSpc>
            </a:pPr>
            <a:r>
              <a:rPr lang="en-US" sz="120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*Hwang et.al(2000)</a:t>
            </a:r>
            <a:endParaRPr lang="en-IN" sz="1200"/>
          </a:p>
        </p:txBody>
      </p:sp>
    </p:spTree>
    <p:extLst>
      <p:ext uri="{BB962C8B-B14F-4D97-AF65-F5344CB8AC3E}">
        <p14:creationId xmlns:p14="http://schemas.microsoft.com/office/powerpoint/2010/main" val="1282664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19736"/>
    </mc:Choice>
    <mc:Fallback xmlns="">
      <p:transition spd="slow" advTm="119736"/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D43B990D-9CAF-4257-B9AB-8EE179697C2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840" b="9439"/>
          <a:stretch/>
        </p:blipFill>
        <p:spPr>
          <a:xfrm>
            <a:off x="675534" y="248772"/>
            <a:ext cx="3525894" cy="3001832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E2576E15-1ECE-4DEA-9DFB-12B5ECDD4A5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4840" b="7844"/>
          <a:stretch/>
        </p:blipFill>
        <p:spPr>
          <a:xfrm>
            <a:off x="4333053" y="329871"/>
            <a:ext cx="3525894" cy="293913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0E033779-F31C-4087-A0B3-E27E8BC0CB4D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5084" b="7802"/>
          <a:stretch/>
        </p:blipFill>
        <p:spPr>
          <a:xfrm>
            <a:off x="667129" y="3243574"/>
            <a:ext cx="3525895" cy="312632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5B32FD8-624C-4745-84F1-141852E9CD38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3354" b="7802"/>
          <a:stretch/>
        </p:blipFill>
        <p:spPr>
          <a:xfrm>
            <a:off x="4333053" y="3249263"/>
            <a:ext cx="3640294" cy="3126319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Table 73">
                <a:extLst>
                  <a:ext uri="{FF2B5EF4-FFF2-40B4-BE49-F238E27FC236}">
                    <a16:creationId xmlns:a16="http://schemas.microsoft.com/office/drawing/2014/main" id="{331BC924-ECD1-4110-8DCB-E43BAF34E4A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927523886"/>
                  </p:ext>
                </p:extLst>
              </p:nvPr>
            </p:nvGraphicFramePr>
            <p:xfrm>
              <a:off x="8253152" y="3504565"/>
              <a:ext cx="3686776" cy="2964085"/>
            </p:xfrm>
            <a:graphic>
              <a:graphicData uri="http://schemas.openxmlformats.org/drawingml/2006/table">
                <a:tbl>
                  <a:tblPr firstRow="1" bandRow="1">
                    <a:tableStyleId>{0505E3EF-67EA-436B-97B2-0124C06EBD24}</a:tableStyleId>
                  </a:tblPr>
                  <a:tblGrid>
                    <a:gridCol w="1843388">
                      <a:extLst>
                        <a:ext uri="{9D8B030D-6E8A-4147-A177-3AD203B41FA5}">
                          <a16:colId xmlns:a16="http://schemas.microsoft.com/office/drawing/2014/main" val="2544636807"/>
                        </a:ext>
                      </a:extLst>
                    </a:gridCol>
                    <a:gridCol w="1843388">
                      <a:extLst>
                        <a:ext uri="{9D8B030D-6E8A-4147-A177-3AD203B41FA5}">
                          <a16:colId xmlns:a16="http://schemas.microsoft.com/office/drawing/2014/main" val="4256753109"/>
                        </a:ext>
                      </a:extLst>
                    </a:gridCol>
                  </a:tblGrid>
                  <a:tr h="592817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1" smtClean="0">
                                        <a:latin typeface="Cambria Math" panose="02040503050406030204" pitchFamily="18" charset="0"/>
                                      </a:rPr>
                                      <m:t>𝑫</m:t>
                                    </m:r>
                                  </m:e>
                                  <m:sub>
                                    <m:r>
                                      <a:rPr lang="en-US" b="1" smtClean="0">
                                        <a:latin typeface="Cambria Math" panose="02040503050406030204" pitchFamily="18" charset="0"/>
                                      </a:rPr>
                                      <m:t>𝒇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IN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N</a:t>
                          </a:r>
                          <a:endParaRPr lang="en-IN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47530206"/>
                      </a:ext>
                    </a:extLst>
                  </a:tr>
                  <a:tr h="59281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1.76</a:t>
                          </a:r>
                          <a:endParaRPr lang="en-IN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248</a:t>
                          </a:r>
                          <a:endParaRPr lang="en-IN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979793707"/>
                      </a:ext>
                    </a:extLst>
                  </a:tr>
                  <a:tr h="59281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2</a:t>
                          </a:r>
                          <a:endParaRPr lang="en-IN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208</a:t>
                          </a:r>
                          <a:endParaRPr lang="en-IN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902959040"/>
                      </a:ext>
                    </a:extLst>
                  </a:tr>
                  <a:tr h="59281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2.23</a:t>
                          </a:r>
                          <a:endParaRPr lang="en-IN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73</a:t>
                          </a:r>
                          <a:endParaRPr lang="en-IN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995435011"/>
                      </a:ext>
                    </a:extLst>
                  </a:tr>
                  <a:tr h="59281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2.45</a:t>
                          </a:r>
                          <a:endParaRPr lang="en-IN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38</a:t>
                          </a:r>
                          <a:endParaRPr lang="en-IN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26162301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Table 73">
                <a:extLst>
                  <a:ext uri="{FF2B5EF4-FFF2-40B4-BE49-F238E27FC236}">
                    <a16:creationId xmlns:a16="http://schemas.microsoft.com/office/drawing/2014/main" id="{331BC924-ECD1-4110-8DCB-E43BAF34E4A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927523886"/>
                  </p:ext>
                </p:extLst>
              </p:nvPr>
            </p:nvGraphicFramePr>
            <p:xfrm>
              <a:off x="8253152" y="3504565"/>
              <a:ext cx="3686776" cy="2964085"/>
            </p:xfrm>
            <a:graphic>
              <a:graphicData uri="http://schemas.openxmlformats.org/drawingml/2006/table">
                <a:tbl>
                  <a:tblPr firstRow="1" bandRow="1">
                    <a:tableStyleId>{0505E3EF-67EA-436B-97B2-0124C06EBD24}</a:tableStyleId>
                  </a:tblPr>
                  <a:tblGrid>
                    <a:gridCol w="1843388">
                      <a:extLst>
                        <a:ext uri="{9D8B030D-6E8A-4147-A177-3AD203B41FA5}">
                          <a16:colId xmlns:a16="http://schemas.microsoft.com/office/drawing/2014/main" val="2544636807"/>
                        </a:ext>
                      </a:extLst>
                    </a:gridCol>
                    <a:gridCol w="1843388">
                      <a:extLst>
                        <a:ext uri="{9D8B030D-6E8A-4147-A177-3AD203B41FA5}">
                          <a16:colId xmlns:a16="http://schemas.microsoft.com/office/drawing/2014/main" val="4256753109"/>
                        </a:ext>
                      </a:extLst>
                    </a:gridCol>
                  </a:tblGrid>
                  <a:tr h="592817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6"/>
                          <a:stretch>
                            <a:fillRect l="-330" t="-5102" r="-100660" b="-4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N</a:t>
                          </a:r>
                          <a:endParaRPr lang="en-IN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47530206"/>
                      </a:ext>
                    </a:extLst>
                  </a:tr>
                  <a:tr h="59281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1.76</a:t>
                          </a:r>
                          <a:endParaRPr lang="en-IN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248</a:t>
                          </a:r>
                          <a:endParaRPr lang="en-IN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979793707"/>
                      </a:ext>
                    </a:extLst>
                  </a:tr>
                  <a:tr h="59281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2</a:t>
                          </a:r>
                          <a:endParaRPr lang="en-IN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208</a:t>
                          </a:r>
                          <a:endParaRPr lang="en-IN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902959040"/>
                      </a:ext>
                    </a:extLst>
                  </a:tr>
                  <a:tr h="59281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2.23</a:t>
                          </a:r>
                          <a:endParaRPr lang="en-IN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73</a:t>
                          </a:r>
                          <a:endParaRPr lang="en-IN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995435011"/>
                      </a:ext>
                    </a:extLst>
                  </a:tr>
                  <a:tr h="59281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2.45</a:t>
                          </a:r>
                          <a:endParaRPr lang="en-IN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38</a:t>
                          </a:r>
                          <a:endParaRPr lang="en-IN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261623012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FBA51328-27CC-4D36-9690-CF4C88D37588}"/>
                  </a:ext>
                </a:extLst>
              </p:cNvPr>
              <p:cNvSpPr txBox="1"/>
              <p:nvPr/>
            </p:nvSpPr>
            <p:spPr>
              <a:xfrm>
                <a:off x="7858947" y="1375253"/>
                <a:ext cx="4221315" cy="171136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Particles at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𝛿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 from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bSup>
                  </m:oMath>
                </a14:m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 experiencing greater forces.</a:t>
                </a: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Number of particles experiencing majority of the fluid flow: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FBA51328-27CC-4D36-9690-CF4C88D375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58947" y="1375253"/>
                <a:ext cx="4221315" cy="1711366"/>
              </a:xfrm>
              <a:prstGeom prst="rect">
                <a:avLst/>
              </a:prstGeom>
              <a:blipFill>
                <a:blip r:embed="rId7"/>
                <a:stretch>
                  <a:fillRect l="-866" b="-464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D5D177B0-FD88-4E91-B194-55D2B5D9D253}"/>
              </a:ext>
            </a:extLst>
          </p:cNvPr>
          <p:cNvSpPr txBox="1"/>
          <p:nvPr/>
        </p:nvSpPr>
        <p:spPr>
          <a:xfrm>
            <a:off x="7973347" y="538114"/>
            <a:ext cx="703497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Role of penetration depth</a:t>
            </a:r>
            <a:endParaRPr lang="en-IN" sz="2400"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68F44C8-6B63-4511-B177-1C4237FA74FF}"/>
              </a:ext>
            </a:extLst>
          </p:cNvPr>
          <p:cNvSpPr txBox="1"/>
          <p:nvPr/>
        </p:nvSpPr>
        <p:spPr>
          <a:xfrm>
            <a:off x="2673832" y="6378750"/>
            <a:ext cx="412365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/>
              <a:t>Radial distance from centre (r*)</a:t>
            </a:r>
            <a:endParaRPr lang="en-IN" sz="1400" b="1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7C8C5B3D-461E-4325-ABAF-9C5EC6CD6851}"/>
              </a:ext>
            </a:extLst>
          </p:cNvPr>
          <p:cNvCxnSpPr/>
          <p:nvPr/>
        </p:nvCxnSpPr>
        <p:spPr>
          <a:xfrm>
            <a:off x="5325887" y="6532638"/>
            <a:ext cx="165462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4467C5D1-DB14-4629-A260-14094F9B4ED4}"/>
              </a:ext>
            </a:extLst>
          </p:cNvPr>
          <p:cNvSpPr txBox="1"/>
          <p:nvPr/>
        </p:nvSpPr>
        <p:spPr>
          <a:xfrm rot="16200000">
            <a:off x="-685391" y="3215554"/>
            <a:ext cx="207433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/>
              <a:t>Force &amp; Fluid velocity</a:t>
            </a:r>
            <a:endParaRPr lang="en-IN" sz="1400" b="1"/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F49FAC55-B5A0-468A-A546-69FF971FDBCF}"/>
              </a:ext>
            </a:extLst>
          </p:cNvPr>
          <p:cNvCxnSpPr/>
          <p:nvPr/>
        </p:nvCxnSpPr>
        <p:spPr>
          <a:xfrm flipV="1">
            <a:off x="351775" y="1253613"/>
            <a:ext cx="0" cy="129785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D46D3340-552B-4FEB-BD38-1B8F65437282}"/>
              </a:ext>
            </a:extLst>
          </p:cNvPr>
          <p:cNvCxnSpPr>
            <a:cxnSpLocks/>
          </p:cNvCxnSpPr>
          <p:nvPr/>
        </p:nvCxnSpPr>
        <p:spPr>
          <a:xfrm flipV="1">
            <a:off x="9532916" y="3504565"/>
            <a:ext cx="0" cy="382233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99F2558F-887D-4DC5-AA74-822324639600}"/>
              </a:ext>
            </a:extLst>
          </p:cNvPr>
          <p:cNvCxnSpPr>
            <a:cxnSpLocks/>
          </p:cNvCxnSpPr>
          <p:nvPr/>
        </p:nvCxnSpPr>
        <p:spPr>
          <a:xfrm>
            <a:off x="11351884" y="3504565"/>
            <a:ext cx="0" cy="382233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" name="Rectangle 18">
            <a:extLst>
              <a:ext uri="{FF2B5EF4-FFF2-40B4-BE49-F238E27FC236}">
                <a16:creationId xmlns:a16="http://schemas.microsoft.com/office/drawing/2014/main" id="{7AECA90D-C83E-4F56-9296-6B08D653EDA7}"/>
              </a:ext>
            </a:extLst>
          </p:cNvPr>
          <p:cNvSpPr/>
          <p:nvPr/>
        </p:nvSpPr>
        <p:spPr>
          <a:xfrm>
            <a:off x="174171" y="188686"/>
            <a:ext cx="11843657" cy="645885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61862EE5-CA4E-45D3-889B-D6F7B5AEDC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3CAD28-B1A9-4A64-9DD6-3376C7DEC3B0}" type="slidenum">
              <a:rPr lang="en-IN" smtClean="0"/>
              <a:t>36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893177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4785"/>
    </mc:Choice>
    <mc:Fallback xmlns="">
      <p:transition spd="slow" advTm="54785"/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72FC0FC1-F3D9-4ECF-A7D7-326D0DD67A3F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689721" y="1394772"/>
            <a:ext cx="5219803" cy="4068456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121CA04-211E-4FE4-A33C-A3106309272C}"/>
              </a:ext>
            </a:extLst>
          </p:cNvPr>
          <p:cNvSpPr txBox="1"/>
          <p:nvPr/>
        </p:nvSpPr>
        <p:spPr>
          <a:xfrm>
            <a:off x="3752193" y="499977"/>
            <a:ext cx="750438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Penetration depth &amp; Number of monomers</a:t>
            </a:r>
            <a:endParaRPr lang="en-IN" sz="2400" b="1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3F39FFC2-72BD-4904-98CE-B71BC00BCBCE}"/>
                  </a:ext>
                </a:extLst>
              </p:cNvPr>
              <p:cNvSpPr txBox="1"/>
              <p:nvPr/>
            </p:nvSpPr>
            <p:spPr>
              <a:xfrm>
                <a:off x="6095999" y="1585608"/>
                <a:ext cx="5633545" cy="19525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sz="1600">
                    <a:latin typeface="Arial" panose="020B0604020202020204" pitchFamily="34" charset="0"/>
                    <a:cs typeface="Arial" panose="020B0604020202020204" pitchFamily="34" charset="0"/>
                  </a:rPr>
                  <a:t>Changes with number of particles less 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sub>
                    </m:sSub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&gt;2</m:t>
                    </m:r>
                  </m:oMath>
                </a14:m>
                <a:endParaRPr lang="en-IN" sz="160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IN" sz="1600">
                    <a:latin typeface="Arial" panose="020B0604020202020204" pitchFamily="34" charset="0"/>
                    <a:cs typeface="Arial" panose="020B0604020202020204" pitchFamily="34" charset="0"/>
                  </a:rPr>
                  <a:t>Variations 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sub>
                    </m:sSub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=1.76</m:t>
                    </m:r>
                  </m:oMath>
                </a14:m>
                <a:r>
                  <a:rPr lang="en-IN" sz="1600">
                    <a:latin typeface="Arial" panose="020B0604020202020204" pitchFamily="34" charset="0"/>
                    <a:cs typeface="Arial" panose="020B0604020202020204" pitchFamily="34" charset="0"/>
                  </a:rPr>
                  <a:t> and 2</a:t>
                </a:r>
              </a:p>
              <a:p>
                <a:pPr marL="742950" lvl="1" indent="-285750">
                  <a:lnSpc>
                    <a:spcPct val="150000"/>
                  </a:lnSpc>
                  <a:buFont typeface="Wingdings" panose="05000000000000000000" pitchFamily="2" charset="2"/>
                  <a:buChar char="Ø"/>
                </a:pPr>
                <a:r>
                  <a:rPr lang="en-IN" sz="1600">
                    <a:latin typeface="Arial" panose="020B0604020202020204" pitchFamily="34" charset="0"/>
                    <a:cs typeface="Arial" panose="020B0604020202020204" pitchFamily="34" charset="0"/>
                  </a:rPr>
                  <a:t>Structural behavior</a:t>
                </a: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IN" sz="1600">
                    <a:latin typeface="Arial" panose="020B0604020202020204" pitchFamily="34" charset="0"/>
                    <a:cs typeface="Arial" panose="020B0604020202020204" pitchFamily="34" charset="0"/>
                  </a:rPr>
                  <a:t>Reaches an asymptotic value or the decrease becomes slow as N increases.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3F39FFC2-72BD-4904-98CE-B71BC00BCB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5999" y="1585608"/>
                <a:ext cx="5633545" cy="1952586"/>
              </a:xfrm>
              <a:prstGeom prst="rect">
                <a:avLst/>
              </a:prstGeom>
              <a:blipFill>
                <a:blip r:embed="rId3"/>
                <a:stretch>
                  <a:fillRect l="-433" b="-343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8" name="Table 7">
                <a:extLst>
                  <a:ext uri="{FF2B5EF4-FFF2-40B4-BE49-F238E27FC236}">
                    <a16:creationId xmlns:a16="http://schemas.microsoft.com/office/drawing/2014/main" id="{926F3B77-1A3E-460D-A210-0CB0AF18F17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261875963"/>
                  </p:ext>
                </p:extLst>
              </p:nvPr>
            </p:nvGraphicFramePr>
            <p:xfrm>
              <a:off x="6282478" y="3715662"/>
              <a:ext cx="4705069" cy="2316428"/>
            </p:xfrm>
            <a:graphic>
              <a:graphicData uri="http://schemas.openxmlformats.org/drawingml/2006/table">
                <a:tbl>
                  <a:tblPr firstRow="1" firstCol="1" bandRow="1">
                    <a:tableStyleId>{0505E3EF-67EA-436B-97B2-0124C06EBD24}</a:tableStyleId>
                  </a:tblPr>
                  <a:tblGrid>
                    <a:gridCol w="960131">
                      <a:extLst>
                        <a:ext uri="{9D8B030D-6E8A-4147-A177-3AD203B41FA5}">
                          <a16:colId xmlns:a16="http://schemas.microsoft.com/office/drawing/2014/main" val="28035026"/>
                        </a:ext>
                      </a:extLst>
                    </a:gridCol>
                    <a:gridCol w="960131">
                      <a:extLst>
                        <a:ext uri="{9D8B030D-6E8A-4147-A177-3AD203B41FA5}">
                          <a16:colId xmlns:a16="http://schemas.microsoft.com/office/drawing/2014/main" val="747878634"/>
                        </a:ext>
                      </a:extLst>
                    </a:gridCol>
                    <a:gridCol w="1498259">
                      <a:extLst>
                        <a:ext uri="{9D8B030D-6E8A-4147-A177-3AD203B41FA5}">
                          <a16:colId xmlns:a16="http://schemas.microsoft.com/office/drawing/2014/main" val="4184059163"/>
                        </a:ext>
                      </a:extLst>
                    </a:gridCol>
                    <a:gridCol w="1286548">
                      <a:extLst>
                        <a:ext uri="{9D8B030D-6E8A-4147-A177-3AD203B41FA5}">
                          <a16:colId xmlns:a16="http://schemas.microsoft.com/office/drawing/2014/main" val="2735903538"/>
                        </a:ext>
                      </a:extLst>
                    </a:gridCol>
                  </a:tblGrid>
                  <a:tr h="1004243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1000"/>
                            </a:spcAft>
                          </a:pPr>
                          <a:r>
                            <a:rPr lang="en-US" sz="1100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Fractal</a:t>
                          </a:r>
                          <a:endParaRPr lang="en-IN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10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IN" sz="12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cap="all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𝑫</m:t>
                                    </m:r>
                                  </m:e>
                                  <m:sub>
                                    <m:r>
                                      <a:rPr lang="en-US" sz="1200" cap="all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𝒇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IN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1000"/>
                            </a:spcAft>
                          </a:pPr>
                          <a:r>
                            <a:rPr lang="en-US" sz="1200" cap="all">
                              <a:effectLst/>
                            </a:rPr>
                            <a:t>Average Penetration depth,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IN" sz="1200" i="1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200" cap="all">
                                      <a:effectLst/>
                                      <a:latin typeface="Cambria Math" panose="02040503050406030204" pitchFamily="18" charset="0"/>
                                    </a:rPr>
                                    <m:t>𝜹</m:t>
                                  </m:r>
                                </m:e>
                                <m:sup>
                                  <m:r>
                                    <a:rPr lang="en-US" sz="1200" cap="all">
                                      <a:effectLst/>
                                      <a:latin typeface="Cambria Math" panose="02040503050406030204" pitchFamily="18" charset="0"/>
                                    </a:rPr>
                                    <m:t>∗</m:t>
                                  </m:r>
                                </m:sup>
                              </m:sSup>
                            </m:oMath>
                          </a14:m>
                          <a:endParaRPr lang="en-IN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1000"/>
                            </a:spcAft>
                          </a:pPr>
                          <a14:m>
                            <m:oMath xmlns:m="http://schemas.openxmlformats.org/officeDocument/2006/math">
                              <m:sSubSup>
                                <m:sSubSupPr>
                                  <m:ctrlPr>
                                    <a:rPr lang="en-IN" sz="1200" i="1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1200" cap="all">
                                      <a:effectLst/>
                                      <a:latin typeface="Cambria Math" panose="02040503050406030204" pitchFamily="18" charset="0"/>
                                    </a:rPr>
                                    <m:t>𝜹</m:t>
                                  </m:r>
                                </m:e>
                                <m:sub>
                                  <m:r>
                                    <a:rPr lang="en-US" sz="1200" cap="all">
                                      <a:effectLst/>
                                      <a:latin typeface="Cambria Math" panose="02040503050406030204" pitchFamily="18" charset="0"/>
                                    </a:rPr>
                                    <m:t>𝒆</m:t>
                                  </m:r>
                                </m:sub>
                                <m:sup>
                                  <m:r>
                                    <a:rPr lang="en-US" sz="1200" cap="all">
                                      <a:effectLst/>
                                      <a:latin typeface="Cambria Math" panose="02040503050406030204" pitchFamily="18" charset="0"/>
                                    </a:rPr>
                                    <m:t>∗</m:t>
                                  </m:r>
                                </m:sup>
                              </m:sSubSup>
                            </m:oMath>
                          </a14:m>
                          <a:r>
                            <a:rPr lang="en-US" sz="1200" cap="all">
                              <a:effectLst/>
                            </a:rPr>
                            <a:t> </a:t>
                          </a:r>
                          <a:endParaRPr lang="en-IN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2155189308"/>
                      </a:ext>
                    </a:extLst>
                  </a:tr>
                  <a:tr h="325039">
                    <a:tc rowSpan="4"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1000"/>
                            </a:spcAft>
                          </a:pPr>
                          <a:r>
                            <a:rPr lang="en-US" sz="1100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Tunable Monte Carlo</a:t>
                          </a:r>
                          <a:endParaRPr lang="en-IN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1000"/>
                            </a:spcAft>
                          </a:pPr>
                          <a:r>
                            <a:rPr lang="en-US" sz="1200" cap="all">
                              <a:effectLst/>
                            </a:rPr>
                            <a:t>1.76</a:t>
                          </a:r>
                          <a:endParaRPr lang="en-IN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1000"/>
                            </a:spcAft>
                          </a:pPr>
                          <a:r>
                            <a:rPr lang="en-US" sz="1200">
                              <a:effectLst/>
                            </a:rPr>
                            <a:t>0.6996 ± 0.081</a:t>
                          </a:r>
                          <a:endParaRPr lang="en-IN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1000"/>
                            </a:spcAft>
                          </a:pPr>
                          <a:r>
                            <a:rPr lang="en-US" sz="1200">
                              <a:effectLst/>
                            </a:rPr>
                            <a:t>0.76</a:t>
                          </a:r>
                          <a:endParaRPr lang="en-IN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1849048969"/>
                      </a:ext>
                    </a:extLst>
                  </a:tr>
                  <a:tr h="325039">
                    <a:tc vMerge="1"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1000"/>
                            </a:spcAft>
                          </a:pPr>
                          <a:endParaRPr lang="en-IN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1000"/>
                            </a:spcAft>
                          </a:pPr>
                          <a:r>
                            <a:rPr lang="en-US" sz="1200" cap="all">
                              <a:effectLst/>
                            </a:rPr>
                            <a:t>1.99</a:t>
                          </a:r>
                          <a:endParaRPr lang="en-IN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1000"/>
                            </a:spcAft>
                          </a:pPr>
                          <a:r>
                            <a:rPr lang="en-US" sz="1200">
                              <a:effectLst/>
                            </a:rPr>
                            <a:t>0.484 ± 0.067</a:t>
                          </a:r>
                          <a:endParaRPr lang="en-IN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1000"/>
                            </a:spcAft>
                          </a:pPr>
                          <a:r>
                            <a:rPr lang="en-US" sz="1200">
                              <a:effectLst/>
                            </a:rPr>
                            <a:t>0.42</a:t>
                          </a:r>
                          <a:endParaRPr lang="en-IN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3113449128"/>
                      </a:ext>
                    </a:extLst>
                  </a:tr>
                  <a:tr h="337068">
                    <a:tc vMerge="1"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1000"/>
                            </a:spcAft>
                          </a:pPr>
                          <a:endParaRPr lang="en-IN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1000"/>
                            </a:spcAft>
                          </a:pPr>
                          <a:r>
                            <a:rPr lang="en-US" sz="1200" cap="all">
                              <a:effectLst/>
                            </a:rPr>
                            <a:t>2.23</a:t>
                          </a:r>
                          <a:endParaRPr lang="en-IN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1000"/>
                            </a:spcAft>
                          </a:pPr>
                          <a:r>
                            <a:rPr lang="en-US" sz="1200">
                              <a:effectLst/>
                            </a:rPr>
                            <a:t>0.3523 ± 0.046</a:t>
                          </a:r>
                          <a:endParaRPr lang="en-IN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1000"/>
                            </a:spcAft>
                          </a:pPr>
                          <a:r>
                            <a:rPr lang="en-US" sz="1200">
                              <a:effectLst/>
                            </a:rPr>
                            <a:t>0.34</a:t>
                          </a:r>
                          <a:endParaRPr lang="en-IN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2258484221"/>
                      </a:ext>
                    </a:extLst>
                  </a:tr>
                  <a:tr h="325039">
                    <a:tc vMerge="1"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1000"/>
                            </a:spcAft>
                          </a:pPr>
                          <a:endParaRPr lang="en-IN" sz="1100">
                            <a:solidFill>
                              <a:srgbClr val="FF0000"/>
                            </a:solidFill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1000"/>
                            </a:spcAft>
                          </a:pPr>
                          <a:r>
                            <a:rPr lang="en-US" sz="1200" cap="all">
                              <a:solidFill>
                                <a:schemeClr val="tx1"/>
                              </a:solidFill>
                              <a:effectLst/>
                            </a:rPr>
                            <a:t>2.46</a:t>
                          </a:r>
                          <a:endParaRPr lang="en-IN" sz="1100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1000"/>
                            </a:spcAft>
                          </a:pPr>
                          <a:r>
                            <a:rPr lang="en-US" sz="1200">
                              <a:solidFill>
                                <a:schemeClr val="tx1"/>
                              </a:solidFill>
                              <a:effectLst/>
                            </a:rPr>
                            <a:t>0.2712 ± 0.053</a:t>
                          </a:r>
                          <a:endParaRPr lang="en-IN" sz="1100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1000"/>
                            </a:spcAft>
                          </a:pPr>
                          <a:r>
                            <a:rPr lang="en-US" sz="1200">
                              <a:solidFill>
                                <a:schemeClr val="tx1"/>
                              </a:solidFill>
                              <a:effectLst/>
                            </a:rPr>
                            <a:t>0.24</a:t>
                          </a:r>
                          <a:endParaRPr lang="en-IN" sz="1100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118965890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8" name="Table 7">
                <a:extLst>
                  <a:ext uri="{FF2B5EF4-FFF2-40B4-BE49-F238E27FC236}">
                    <a16:creationId xmlns:a16="http://schemas.microsoft.com/office/drawing/2014/main" id="{926F3B77-1A3E-460D-A210-0CB0AF18F17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261875963"/>
                  </p:ext>
                </p:extLst>
              </p:nvPr>
            </p:nvGraphicFramePr>
            <p:xfrm>
              <a:off x="6282478" y="3715662"/>
              <a:ext cx="4705069" cy="2316428"/>
            </p:xfrm>
            <a:graphic>
              <a:graphicData uri="http://schemas.openxmlformats.org/drawingml/2006/table">
                <a:tbl>
                  <a:tblPr firstRow="1" firstCol="1" bandRow="1">
                    <a:tableStyleId>{0505E3EF-67EA-436B-97B2-0124C06EBD24}</a:tableStyleId>
                  </a:tblPr>
                  <a:tblGrid>
                    <a:gridCol w="960131">
                      <a:extLst>
                        <a:ext uri="{9D8B030D-6E8A-4147-A177-3AD203B41FA5}">
                          <a16:colId xmlns:a16="http://schemas.microsoft.com/office/drawing/2014/main" val="28035026"/>
                        </a:ext>
                      </a:extLst>
                    </a:gridCol>
                    <a:gridCol w="960131">
                      <a:extLst>
                        <a:ext uri="{9D8B030D-6E8A-4147-A177-3AD203B41FA5}">
                          <a16:colId xmlns:a16="http://schemas.microsoft.com/office/drawing/2014/main" val="747878634"/>
                        </a:ext>
                      </a:extLst>
                    </a:gridCol>
                    <a:gridCol w="1498259">
                      <a:extLst>
                        <a:ext uri="{9D8B030D-6E8A-4147-A177-3AD203B41FA5}">
                          <a16:colId xmlns:a16="http://schemas.microsoft.com/office/drawing/2014/main" val="4184059163"/>
                        </a:ext>
                      </a:extLst>
                    </a:gridCol>
                    <a:gridCol w="1286548">
                      <a:extLst>
                        <a:ext uri="{9D8B030D-6E8A-4147-A177-3AD203B41FA5}">
                          <a16:colId xmlns:a16="http://schemas.microsoft.com/office/drawing/2014/main" val="2735903538"/>
                        </a:ext>
                      </a:extLst>
                    </a:gridCol>
                  </a:tblGrid>
                  <a:tr h="1004243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1000"/>
                            </a:spcAft>
                          </a:pPr>
                          <a:r>
                            <a:rPr lang="en-US" sz="1100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Fractal</a:t>
                          </a:r>
                          <a:endParaRPr lang="en-IN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blipFill>
                          <a:blip r:embed="rId4"/>
                          <a:stretch>
                            <a:fillRect l="-101274" t="-4242" r="-292994" b="-13212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blipFill>
                          <a:blip r:embed="rId4"/>
                          <a:stretch>
                            <a:fillRect l="-127935" t="-4242" r="-86235" b="-13212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blipFill>
                          <a:blip r:embed="rId4"/>
                          <a:stretch>
                            <a:fillRect l="-266825" t="-4242" r="-948" b="-13212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55189308"/>
                      </a:ext>
                    </a:extLst>
                  </a:tr>
                  <a:tr h="325039">
                    <a:tc rowSpan="4"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1000"/>
                            </a:spcAft>
                          </a:pPr>
                          <a:r>
                            <a:rPr lang="en-US" sz="1100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Tunable Monte Carlo</a:t>
                          </a:r>
                          <a:endParaRPr lang="en-IN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1000"/>
                            </a:spcAft>
                          </a:pPr>
                          <a:r>
                            <a:rPr lang="en-US" sz="1200" cap="all">
                              <a:effectLst/>
                            </a:rPr>
                            <a:t>1.76</a:t>
                          </a:r>
                          <a:endParaRPr lang="en-IN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1000"/>
                            </a:spcAft>
                          </a:pPr>
                          <a:r>
                            <a:rPr lang="en-US" sz="1200">
                              <a:effectLst/>
                            </a:rPr>
                            <a:t>0.6996 ± 0.081</a:t>
                          </a:r>
                          <a:endParaRPr lang="en-IN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1000"/>
                            </a:spcAft>
                          </a:pPr>
                          <a:r>
                            <a:rPr lang="en-US" sz="1200">
                              <a:effectLst/>
                            </a:rPr>
                            <a:t>0.76</a:t>
                          </a:r>
                          <a:endParaRPr lang="en-IN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1849048969"/>
                      </a:ext>
                    </a:extLst>
                  </a:tr>
                  <a:tr h="325039">
                    <a:tc vMerge="1"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1000"/>
                            </a:spcAft>
                          </a:pPr>
                          <a:endParaRPr lang="en-IN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1000"/>
                            </a:spcAft>
                          </a:pPr>
                          <a:r>
                            <a:rPr lang="en-US" sz="1200" cap="all">
                              <a:effectLst/>
                            </a:rPr>
                            <a:t>1.99</a:t>
                          </a:r>
                          <a:endParaRPr lang="en-IN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1000"/>
                            </a:spcAft>
                          </a:pPr>
                          <a:r>
                            <a:rPr lang="en-US" sz="1200">
                              <a:effectLst/>
                            </a:rPr>
                            <a:t>0.484 ± 0.067</a:t>
                          </a:r>
                          <a:endParaRPr lang="en-IN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1000"/>
                            </a:spcAft>
                          </a:pPr>
                          <a:r>
                            <a:rPr lang="en-US" sz="1200">
                              <a:effectLst/>
                            </a:rPr>
                            <a:t>0.42</a:t>
                          </a:r>
                          <a:endParaRPr lang="en-IN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3113449128"/>
                      </a:ext>
                    </a:extLst>
                  </a:tr>
                  <a:tr h="337068">
                    <a:tc vMerge="1"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1000"/>
                            </a:spcAft>
                          </a:pPr>
                          <a:endParaRPr lang="en-IN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1000"/>
                            </a:spcAft>
                          </a:pPr>
                          <a:r>
                            <a:rPr lang="en-US" sz="1200" cap="all">
                              <a:effectLst/>
                            </a:rPr>
                            <a:t>2.23</a:t>
                          </a:r>
                          <a:endParaRPr lang="en-IN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1000"/>
                            </a:spcAft>
                          </a:pPr>
                          <a:r>
                            <a:rPr lang="en-US" sz="1200">
                              <a:effectLst/>
                            </a:rPr>
                            <a:t>0.3523 ± 0.046</a:t>
                          </a:r>
                          <a:endParaRPr lang="en-IN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1000"/>
                            </a:spcAft>
                          </a:pPr>
                          <a:r>
                            <a:rPr lang="en-US" sz="1200">
                              <a:effectLst/>
                            </a:rPr>
                            <a:t>0.34</a:t>
                          </a:r>
                          <a:endParaRPr lang="en-IN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2258484221"/>
                      </a:ext>
                    </a:extLst>
                  </a:tr>
                  <a:tr h="325039">
                    <a:tc vMerge="1"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1000"/>
                            </a:spcAft>
                          </a:pPr>
                          <a:endParaRPr lang="en-IN" sz="1100">
                            <a:solidFill>
                              <a:srgbClr val="FF0000"/>
                            </a:solidFill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1000"/>
                            </a:spcAft>
                          </a:pPr>
                          <a:r>
                            <a:rPr lang="en-US" sz="1200" cap="all">
                              <a:solidFill>
                                <a:schemeClr val="tx1"/>
                              </a:solidFill>
                              <a:effectLst/>
                            </a:rPr>
                            <a:t>2.46</a:t>
                          </a:r>
                          <a:endParaRPr lang="en-IN" sz="1100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1000"/>
                            </a:spcAft>
                          </a:pPr>
                          <a:r>
                            <a:rPr lang="en-US" sz="1200">
                              <a:solidFill>
                                <a:schemeClr val="tx1"/>
                              </a:solidFill>
                              <a:effectLst/>
                            </a:rPr>
                            <a:t>0.2712 ± 0.053</a:t>
                          </a:r>
                          <a:endParaRPr lang="en-IN" sz="1100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1000"/>
                            </a:spcAft>
                          </a:pPr>
                          <a:r>
                            <a:rPr lang="en-US" sz="1200">
                              <a:solidFill>
                                <a:schemeClr val="tx1"/>
                              </a:solidFill>
                              <a:effectLst/>
                            </a:rPr>
                            <a:t>0.24</a:t>
                          </a:r>
                          <a:endParaRPr lang="en-IN" sz="1100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1189658900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B32461C1-24F6-48E4-92E8-AD2DE85649A6}"/>
              </a:ext>
            </a:extLst>
          </p:cNvPr>
          <p:cNvSpPr txBox="1"/>
          <p:nvPr/>
        </p:nvSpPr>
        <p:spPr>
          <a:xfrm>
            <a:off x="2264479" y="1308609"/>
            <a:ext cx="297542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>
                <a:latin typeface="Arial" panose="020B0604020202020204" pitchFamily="34" charset="0"/>
                <a:cs typeface="Arial" panose="020B0604020202020204" pitchFamily="34" charset="0"/>
              </a:rPr>
              <a:t>Tunable Monte Carlo clusters</a:t>
            </a:r>
            <a:endParaRPr lang="en-IN" sz="1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D328DD4-A899-42E5-A75E-6642951817C6}"/>
              </a:ext>
            </a:extLst>
          </p:cNvPr>
          <p:cNvSpPr/>
          <p:nvPr/>
        </p:nvSpPr>
        <p:spPr>
          <a:xfrm>
            <a:off x="174171" y="188686"/>
            <a:ext cx="11843657" cy="645885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4E456F-C376-42B1-9A95-471B21B19F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3CAD28-B1A9-4A64-9DD6-3376C7DEC3B0}" type="slidenum">
              <a:rPr lang="en-IN" smtClean="0"/>
              <a:t>37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733982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9902"/>
    </mc:Choice>
    <mc:Fallback xmlns="">
      <p:transition spd="slow" advTm="39902"/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DA4E8B4-AABC-48E2-A05B-7723865BA32E}"/>
              </a:ext>
            </a:extLst>
          </p:cNvPr>
          <p:cNvSpPr txBox="1"/>
          <p:nvPr/>
        </p:nvSpPr>
        <p:spPr>
          <a:xfrm>
            <a:off x="2685142" y="477628"/>
            <a:ext cx="6821714" cy="9700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2400" b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Penetration depth and Hydrodynamic ratio</a:t>
            </a:r>
          </a:p>
          <a:p>
            <a:pPr algn="ctr">
              <a:lnSpc>
                <a:spcPct val="150000"/>
              </a:lnSpc>
            </a:pPr>
            <a:r>
              <a:rPr lang="en-US" sz="160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Tunable Monte Carlo clusters</a:t>
            </a:r>
            <a:endParaRPr lang="en-IN" sz="1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2A176E4-FC5B-46A5-8F73-15530D74E4F6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426474" y="2037827"/>
            <a:ext cx="3686395" cy="309778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EEB32B45-2F31-468A-A68E-B7676AC3836C}"/>
                  </a:ext>
                </a:extLst>
              </p:cNvPr>
              <p:cNvSpPr txBox="1"/>
              <p:nvPr/>
            </p:nvSpPr>
            <p:spPr>
              <a:xfrm>
                <a:off x="4365171" y="1936793"/>
                <a:ext cx="8490857" cy="291278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sz="1600">
                    <a:latin typeface="Arial" panose="020B0604020202020204" pitchFamily="34" charset="0"/>
                    <a:cs typeface="Arial" panose="020B0604020202020204" pitchFamily="34" charset="0"/>
                  </a:rPr>
                  <a:t>Fluid penetrates more </a:t>
                </a:r>
                <a:r>
                  <a:rPr lang="en-US" sz="1600">
                    <a:latin typeface="Arial" panose="020B0604020202020204" pitchFamily="34" charset="0"/>
                    <a:cs typeface="Arial" panose="020B0604020202020204" pitchFamily="34" charset="0"/>
                    <a:sym typeface="Wingdings" panose="05000000000000000000" pitchFamily="2" charset="2"/>
                  </a:rPr>
                  <a:t> More resistance to flow</a:t>
                </a:r>
                <a:endParaRPr lang="en-US" sz="160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sz="1600">
                    <a:latin typeface="Arial" panose="020B0604020202020204" pitchFamily="34" charset="0"/>
                    <a:cs typeface="Arial" panose="020B0604020202020204" pitchFamily="34" charset="0"/>
                  </a:rPr>
                  <a:t>Average penetration depth decays exponentially with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𝑔</m:t>
                            </m:r>
                          </m:sub>
                        </m:sSub>
                      </m:den>
                    </m:f>
                  </m:oMath>
                </a14:m>
                <a:r>
                  <a:rPr lang="en-IN" sz="1600">
                    <a:latin typeface="Arial" panose="020B0604020202020204" pitchFamily="34" charset="0"/>
                    <a:cs typeface="Arial" panose="020B0604020202020204" pitchFamily="34" charset="0"/>
                  </a:rPr>
                  <a:t>(also with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sub>
                    </m:sSub>
                  </m:oMath>
                </a14:m>
                <a:r>
                  <a:rPr lang="en-IN" sz="1600">
                    <a:latin typeface="Arial" panose="020B0604020202020204" pitchFamily="34" charset="0"/>
                    <a:cs typeface="Arial" panose="020B0604020202020204" pitchFamily="34" charset="0"/>
                  </a:rPr>
                  <a:t>).</a:t>
                </a: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endParaRPr lang="en-IN" sz="160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endParaRPr lang="en-IN" sz="160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endParaRPr lang="en-IN" sz="160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IN" sz="1600">
                    <a:latin typeface="Arial" panose="020B0604020202020204" pitchFamily="34" charset="0"/>
                    <a:cs typeface="Arial" panose="020B0604020202020204" pitchFamily="34" charset="0"/>
                  </a:rPr>
                  <a:t>Observed only for Tunable cluster-cluster aggregates.</a:t>
                </a: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IN" sz="1600">
                    <a:latin typeface="Arial" panose="020B0604020202020204" pitchFamily="34" charset="0"/>
                    <a:cs typeface="Arial" panose="020B0604020202020204" pitchFamily="34" charset="0"/>
                  </a:rPr>
                  <a:t>Velocity at r*=1 and r*=0.5 also show an exponential decay with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𝐷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𝑓</m:t>
                        </m:r>
                      </m:sub>
                    </m:sSub>
                  </m:oMath>
                </a14:m>
                <a:r>
                  <a:rPr lang="en-IN" sz="1600">
                    <a:latin typeface="Arial" panose="020B0604020202020204" pitchFamily="34" charset="0"/>
                    <a:cs typeface="Arial" panose="020B0604020202020204" pitchFamily="34" charset="0"/>
                  </a:rPr>
                  <a:t>.</a:t>
                </a: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EEB32B45-2F31-468A-A68E-B7676AC383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65171" y="1936793"/>
                <a:ext cx="8490857" cy="2912785"/>
              </a:xfrm>
              <a:prstGeom prst="rect">
                <a:avLst/>
              </a:prstGeom>
              <a:blipFill>
                <a:blip r:embed="rId3"/>
                <a:stretch>
                  <a:fillRect l="-287" b="-104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AB988D79-4149-41CC-AD50-E11187AEB1CA}"/>
                  </a:ext>
                </a:extLst>
              </p:cNvPr>
              <p:cNvSpPr txBox="1"/>
              <p:nvPr/>
            </p:nvSpPr>
            <p:spPr>
              <a:xfrm>
                <a:off x="5602516" y="3195744"/>
                <a:ext cx="6589484" cy="51687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IN" sz="1800" i="1" smtClean="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𝛿</m:t>
                        </m:r>
                      </m:e>
                      <m:sup>
                        <m:r>
                          <a:rPr lang="en-US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∗</m:t>
                        </m:r>
                      </m:sup>
                    </m:sSup>
                    <m:r>
                      <a:rPr lang="en-US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=(4.8±0.2) </m:t>
                    </m:r>
                    <m:r>
                      <m:rPr>
                        <m:sty m:val="p"/>
                      </m:rPr>
                      <a:rPr lang="en-US" sz="18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exp</m:t>
                    </m:r>
                    <m:r>
                      <a:rPr lang="en-US" sz="18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⁡</m:t>
                    </m:r>
                    <m:d>
                      <m:dPr>
                        <m:ctrlPr>
                          <a:rPr lang="en-IN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−</m:t>
                        </m:r>
                        <m:f>
                          <m:fPr>
                            <m:ctrlPr>
                              <a:rPr lang="en-IN" sz="18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sz="1800" b="0" i="1" smtClean="0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800" b="0" i="1" smtClean="0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𝑅</m:t>
                                </m:r>
                              </m:e>
                              <m:sub>
                                <m:r>
                                  <a:rPr lang="en-US" sz="1800" b="0" i="1" smtClean="0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𝑚</m:t>
                                </m:r>
                              </m:sub>
                            </m:sSub>
                            <m:r>
                              <a:rPr lang="en-US" sz="1800" b="0" i="1" smtClean="0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/</m:t>
                            </m:r>
                            <m:sSub>
                              <m:sSubPr>
                                <m:ctrlPr>
                                  <a:rPr lang="en-US" sz="1800" b="0" i="1" smtClean="0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800" b="0" i="1" smtClean="0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𝑅</m:t>
                                </m:r>
                              </m:e>
                              <m:sub>
                                <m:r>
                                  <a:rPr lang="en-US" sz="1800" b="0" i="1" smtClean="0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𝑔</m:t>
                                </m:r>
                              </m:sub>
                            </m:sSub>
                          </m:num>
                          <m:den>
                            <m:r>
                              <a:rPr lang="en-US" sz="18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0.23</m:t>
                            </m:r>
                            <m:r>
                              <a:rPr lang="en-US" sz="1800" b="0" i="1" smtClean="0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lang="en-US" sz="180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endParaRPr lang="en-IN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AB988D79-4149-41CC-AD50-E11187AEB1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02516" y="3195744"/>
                <a:ext cx="6589484" cy="51687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ectangle 6">
            <a:extLst>
              <a:ext uri="{FF2B5EF4-FFF2-40B4-BE49-F238E27FC236}">
                <a16:creationId xmlns:a16="http://schemas.microsoft.com/office/drawing/2014/main" id="{EEC4D0BF-BB6B-4D7D-858D-55BB47E4C2EE}"/>
              </a:ext>
            </a:extLst>
          </p:cNvPr>
          <p:cNvSpPr/>
          <p:nvPr/>
        </p:nvSpPr>
        <p:spPr>
          <a:xfrm>
            <a:off x="174171" y="188686"/>
            <a:ext cx="11843657" cy="645885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212D2D4-06AA-49BD-AD87-55DE4E1808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3CAD28-B1A9-4A64-9DD6-3376C7DEC3B0}" type="slidenum">
              <a:rPr lang="en-IN" smtClean="0"/>
              <a:t>38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00696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8591"/>
    </mc:Choice>
    <mc:Fallback xmlns="">
      <p:transition spd="slow" advTm="48591"/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F45667CE-26A0-41B0-B61A-09309EC414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8421" y="2967690"/>
            <a:ext cx="3304408" cy="2751013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2BF926DE-DC51-408C-B321-5F037C8FE96B}"/>
                  </a:ext>
                </a:extLst>
              </p:cNvPr>
              <p:cNvSpPr txBox="1"/>
              <p:nvPr/>
            </p:nvSpPr>
            <p:spPr>
              <a:xfrm>
                <a:off x="3007353" y="590525"/>
                <a:ext cx="7243119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b="1">
                    <a:solidFill>
                      <a:srgbClr val="C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Fluid velocity comparison at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20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0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𝑹</m:t>
                        </m:r>
                      </m:e>
                      <m:sub>
                        <m:r>
                          <a:rPr lang="en-US" sz="20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𝒎𝒂𝒙</m:t>
                        </m:r>
                      </m:sub>
                      <m:sup>
                        <m:r>
                          <a:rPr lang="en-US" sz="20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bSup>
                    <m:r>
                      <a:rPr lang="en-US" sz="2000" b="1" i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p>
                      <m:sSupPr>
                        <m:ctrlPr>
                          <a:rPr lang="en-US" sz="20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1" i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𝐫</m:t>
                        </m:r>
                      </m:e>
                      <m:sup>
                        <m:r>
                          <a:rPr lang="en-US" sz="2000" b="1" i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sz="2000" b="1" i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b="1" i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sz="2000" b="1" i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000" b="1" i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𝐚𝐧𝐝</m:t>
                    </m:r>
                    <m:r>
                      <a:rPr lang="en-US" sz="2000" b="1" i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sSup>
                      <m:sSupPr>
                        <m:ctrlPr>
                          <a:rPr lang="en-US" sz="20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1" i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𝐫</m:t>
                        </m:r>
                      </m:e>
                      <m:sup>
                        <m:r>
                          <a:rPr lang="en-US" sz="2000" b="1" i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sz="2000" b="1" i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b="1" i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𝟎</m:t>
                    </m:r>
                    <m:r>
                      <a:rPr lang="en-US" sz="2000" b="1" i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sz="2000" b="1" i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𝟓</m:t>
                    </m:r>
                  </m:oMath>
                </a14:m>
                <a:endParaRPr lang="en-IN" sz="2000" b="1">
                  <a:solidFill>
                    <a:srgbClr val="C0000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2BF926DE-DC51-408C-B321-5F037C8FE9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07353" y="590525"/>
                <a:ext cx="7243119" cy="400110"/>
              </a:xfrm>
              <a:prstGeom prst="rect">
                <a:avLst/>
              </a:prstGeom>
              <a:blipFill>
                <a:blip r:embed="rId3"/>
                <a:stretch>
                  <a:fillRect l="-841" t="-7576" b="-2727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extBox 13">
            <a:extLst>
              <a:ext uri="{FF2B5EF4-FFF2-40B4-BE49-F238E27FC236}">
                <a16:creationId xmlns:a16="http://schemas.microsoft.com/office/drawing/2014/main" id="{0143B288-386A-4D6B-809B-1B5FFCADD1CA}"/>
              </a:ext>
            </a:extLst>
          </p:cNvPr>
          <p:cNvSpPr txBox="1"/>
          <p:nvPr/>
        </p:nvSpPr>
        <p:spPr>
          <a:xfrm>
            <a:off x="1309815" y="2688896"/>
            <a:ext cx="339507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>
                <a:latin typeface="Arial" panose="020B0604020202020204" pitchFamily="34" charset="0"/>
                <a:cs typeface="Arial" panose="020B0604020202020204" pitchFamily="34" charset="0"/>
              </a:rPr>
              <a:t>Tunable Monte Carlo clusters</a:t>
            </a:r>
            <a:endParaRPr lang="en-IN" sz="1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4F13F6B-A96A-43B1-873F-137472AB341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7792" y="3008132"/>
            <a:ext cx="3304408" cy="2757215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3EFFDC3A-2AD0-44E5-9457-B9C405981AF1}"/>
              </a:ext>
            </a:extLst>
          </p:cNvPr>
          <p:cNvSpPr/>
          <p:nvPr/>
        </p:nvSpPr>
        <p:spPr>
          <a:xfrm>
            <a:off x="174171" y="188686"/>
            <a:ext cx="11843657" cy="645885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053AD0A-C555-4972-BEB9-CAAB7B5115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3CAD28-B1A9-4A64-9DD6-3376C7DEC3B0}" type="slidenum">
              <a:rPr lang="en-IN" smtClean="0"/>
              <a:t>39</a:t>
            </a:fld>
            <a:endParaRPr lang="en-I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AF6618C2-39EB-4795-8421-828F36813BD5}"/>
                  </a:ext>
                </a:extLst>
              </p:cNvPr>
              <p:cNvSpPr txBox="1"/>
              <p:nvPr/>
            </p:nvSpPr>
            <p:spPr>
              <a:xfrm>
                <a:off x="1007462" y="1358036"/>
                <a:ext cx="9866672" cy="8570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sz="1600">
                    <a:latin typeface="Arial" panose="020B0604020202020204" pitchFamily="34" charset="0"/>
                    <a:cs typeface="Arial" panose="020B0604020202020204" pitchFamily="34" charset="0"/>
                  </a:rPr>
                  <a:t>Fluid velocity at different regions for a particular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sub>
                    </m:sSub>
                  </m:oMath>
                </a14:m>
                <a:r>
                  <a:rPr lang="en-IN" sz="1600">
                    <a:latin typeface="Arial" panose="020B0604020202020204" pitchFamily="34" charset="0"/>
                    <a:cs typeface="Arial" panose="020B0604020202020204" pitchFamily="34" charset="0"/>
                  </a:rPr>
                  <a:t> lie in close range </a:t>
                </a:r>
                <a:r>
                  <a:rPr lang="en-IN" sz="1600" i="1">
                    <a:latin typeface="Arial" panose="020B0604020202020204" pitchFamily="34" charset="0"/>
                    <a:cs typeface="Arial" panose="020B0604020202020204" pitchFamily="34" charset="0"/>
                  </a:rPr>
                  <a:t>(Irrespective of N)</a:t>
                </a: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IN" sz="1600">
                    <a:latin typeface="Arial" panose="020B0604020202020204" pitchFamily="34" charset="0"/>
                    <a:cs typeface="Arial" panose="020B0604020202020204" pitchFamily="34" charset="0"/>
                  </a:rPr>
                  <a:t>Large decay in velocity with respect 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𝐷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𝑓</m:t>
                        </m:r>
                      </m:sub>
                    </m:sSub>
                  </m:oMath>
                </a14:m>
                <a:r>
                  <a:rPr lang="en-IN" sz="1600">
                    <a:latin typeface="Arial" panose="020B0604020202020204" pitchFamily="34" charset="0"/>
                    <a:cs typeface="Arial" panose="020B0604020202020204" pitchFamily="34" charset="0"/>
                  </a:rPr>
                  <a:t> as r* is decreased.</a:t>
                </a: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AF6618C2-39EB-4795-8421-828F36813BD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7462" y="1358036"/>
                <a:ext cx="9866672" cy="857029"/>
              </a:xfrm>
              <a:prstGeom prst="rect">
                <a:avLst/>
              </a:prstGeom>
              <a:blipFill>
                <a:blip r:embed="rId5"/>
                <a:stretch>
                  <a:fillRect l="-247" b="-642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2C06AC92-76DA-47EA-9046-6DD99AAE59F8}"/>
              </a:ext>
            </a:extLst>
          </p:cNvPr>
          <p:cNvSpPr txBox="1"/>
          <p:nvPr/>
        </p:nvSpPr>
        <p:spPr>
          <a:xfrm>
            <a:off x="6990821" y="2753500"/>
            <a:ext cx="323955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>
                <a:latin typeface="Arial" panose="020B0604020202020204" pitchFamily="34" charset="0"/>
                <a:cs typeface="Arial" panose="020B0604020202020204" pitchFamily="34" charset="0"/>
              </a:rPr>
              <a:t>Exponential fits at r*=1 and 0.5</a:t>
            </a:r>
            <a:endParaRPr lang="en-IN" sz="1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808541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79"/>
    </mc:Choice>
    <mc:Fallback xmlns="">
      <p:transition spd="slow" advTm="779"/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AC837D4D-352B-4821-B736-04357180F933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7098656" y="2540240"/>
            <a:ext cx="4143170" cy="352308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C4BAD785-7B94-45D8-9968-C6BB8B205ED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866244567"/>
                  </p:ext>
                </p:extLst>
              </p:nvPr>
            </p:nvGraphicFramePr>
            <p:xfrm>
              <a:off x="1311764" y="3173153"/>
              <a:ext cx="4705159" cy="2503217"/>
            </p:xfrm>
            <a:graphic>
              <a:graphicData uri="http://schemas.openxmlformats.org/drawingml/2006/table">
                <a:tbl>
                  <a:tblPr firstRow="1" firstCol="1" bandRow="1">
                    <a:tableStyleId>{0505E3EF-67EA-436B-97B2-0124C06EBD24}</a:tableStyleId>
                  </a:tblPr>
                  <a:tblGrid>
                    <a:gridCol w="960150">
                      <a:extLst>
                        <a:ext uri="{9D8B030D-6E8A-4147-A177-3AD203B41FA5}">
                          <a16:colId xmlns:a16="http://schemas.microsoft.com/office/drawing/2014/main" val="28035026"/>
                        </a:ext>
                      </a:extLst>
                    </a:gridCol>
                    <a:gridCol w="960150">
                      <a:extLst>
                        <a:ext uri="{9D8B030D-6E8A-4147-A177-3AD203B41FA5}">
                          <a16:colId xmlns:a16="http://schemas.microsoft.com/office/drawing/2014/main" val="747878634"/>
                        </a:ext>
                      </a:extLst>
                    </a:gridCol>
                    <a:gridCol w="1498287">
                      <a:extLst>
                        <a:ext uri="{9D8B030D-6E8A-4147-A177-3AD203B41FA5}">
                          <a16:colId xmlns:a16="http://schemas.microsoft.com/office/drawing/2014/main" val="4184059163"/>
                        </a:ext>
                      </a:extLst>
                    </a:gridCol>
                    <a:gridCol w="1286572">
                      <a:extLst>
                        <a:ext uri="{9D8B030D-6E8A-4147-A177-3AD203B41FA5}">
                          <a16:colId xmlns:a16="http://schemas.microsoft.com/office/drawing/2014/main" val="2098167521"/>
                        </a:ext>
                      </a:extLst>
                    </a:gridCol>
                  </a:tblGrid>
                  <a:tr h="914331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1000"/>
                            </a:spcAft>
                          </a:pPr>
                          <a:r>
                            <a:rPr lang="en-US" sz="1600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Fractal</a:t>
                          </a:r>
                          <a:endParaRPr lang="en-IN" sz="16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10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IN" sz="16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cap="all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𝑫</m:t>
                                    </m:r>
                                  </m:e>
                                  <m:sub>
                                    <m:r>
                                      <a:rPr lang="en-US" sz="1600" cap="all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𝒇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IN" sz="16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1000"/>
                            </a:spcAft>
                          </a:pPr>
                          <a:r>
                            <a:rPr lang="en-US" sz="1600" cap="all">
                              <a:effectLst/>
                            </a:rPr>
                            <a:t>Average Penetration depth,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IN" sz="1600" i="1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600" cap="all">
                                      <a:effectLst/>
                                      <a:latin typeface="Cambria Math" panose="02040503050406030204" pitchFamily="18" charset="0"/>
                                    </a:rPr>
                                    <m:t>𝜹</m:t>
                                  </m:r>
                                </m:e>
                                <m:sup>
                                  <m:r>
                                    <a:rPr lang="en-US" sz="1600" cap="all">
                                      <a:effectLst/>
                                      <a:latin typeface="Cambria Math" panose="02040503050406030204" pitchFamily="18" charset="0"/>
                                    </a:rPr>
                                    <m:t>∗</m:t>
                                  </m:r>
                                </m:sup>
                              </m:sSup>
                            </m:oMath>
                          </a14:m>
                          <a:endParaRPr lang="en-IN" sz="16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1000"/>
                            </a:spcAft>
                          </a:pPr>
                          <a:r>
                            <a:rPr lang="en-US" sz="1600">
                              <a:effectLst/>
                            </a:rPr>
                            <a:t>Average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IN" sz="1600" i="1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600" cap="all">
                                      <a:effectLst/>
                                      <a:latin typeface="Cambria Math" panose="02040503050406030204" pitchFamily="18" charset="0"/>
                                    </a:rPr>
                                    <m:t>𝒖</m:t>
                                  </m:r>
                                </m:e>
                                <m:sub>
                                  <m:r>
                                    <a:rPr lang="en-US" sz="1600" b="1" i="0" cap="all" smtClean="0">
                                      <a:effectLst/>
                                      <a:latin typeface="Cambria Math" panose="02040503050406030204" pitchFamily="18" charset="0"/>
                                    </a:rPr>
                                    <m:t>𝐢</m:t>
                                  </m:r>
                                </m:sub>
                              </m:sSub>
                            </m:oMath>
                          </a14:m>
                          <a:endParaRPr lang="en-IN" sz="16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2155189308"/>
                      </a:ext>
                    </a:extLst>
                  </a:tr>
                  <a:tr h="556820">
                    <a:tc rowSpan="2"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1000"/>
                            </a:spcAft>
                          </a:pPr>
                          <a:r>
                            <a:rPr lang="en-US" sz="1600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Tunable Monte Carlo clusters</a:t>
                          </a:r>
                          <a:endParaRPr lang="en-IN" sz="16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1000"/>
                            </a:spcAft>
                          </a:pPr>
                          <a:r>
                            <a:rPr lang="en-US" sz="1600" cap="all">
                              <a:solidFill>
                                <a:schemeClr val="tx1"/>
                              </a:solidFill>
                              <a:effectLst/>
                            </a:rPr>
                            <a:t>2.23</a:t>
                          </a:r>
                          <a:endParaRPr lang="en-IN" sz="1600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1000"/>
                            </a:spcAft>
                          </a:pPr>
                          <a:r>
                            <a:rPr lang="en-US" sz="1600">
                              <a:solidFill>
                                <a:schemeClr val="tx1"/>
                              </a:solidFill>
                              <a:effectLst/>
                            </a:rPr>
                            <a:t>0.35</a:t>
                          </a:r>
                          <a:endParaRPr lang="en-IN" sz="1600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1000"/>
                            </a:spcAft>
                          </a:pPr>
                          <a:r>
                            <a:rPr lang="en-US" sz="1600">
                              <a:solidFill>
                                <a:schemeClr val="tx1"/>
                              </a:solidFill>
                              <a:effectLst/>
                            </a:rPr>
                            <a:t>0.061</a:t>
                          </a:r>
                          <a:endParaRPr lang="en-IN" sz="1600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2258484221"/>
                      </a:ext>
                    </a:extLst>
                  </a:tr>
                  <a:tr h="0">
                    <a:tc vMerge="1"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1000"/>
                            </a:spcAft>
                          </a:pPr>
                          <a:endParaRPr lang="en-IN" sz="1100">
                            <a:solidFill>
                              <a:srgbClr val="FF0000"/>
                            </a:solidFill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1000"/>
                            </a:spcAft>
                          </a:pPr>
                          <a:r>
                            <a:rPr lang="en-US" sz="1600" cap="all">
                              <a:solidFill>
                                <a:schemeClr val="tx1"/>
                              </a:solidFill>
                              <a:effectLst/>
                            </a:rPr>
                            <a:t>2.46</a:t>
                          </a:r>
                          <a:endParaRPr lang="en-IN" sz="1600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1000"/>
                            </a:spcAft>
                          </a:pPr>
                          <a:r>
                            <a:rPr lang="en-US" sz="1600">
                              <a:solidFill>
                                <a:schemeClr val="tx1"/>
                              </a:solidFill>
                              <a:effectLst/>
                            </a:rPr>
                            <a:t>0.27</a:t>
                          </a:r>
                          <a:endParaRPr lang="en-IN" sz="1600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1000"/>
                            </a:spcAft>
                          </a:pPr>
                          <a:r>
                            <a:rPr lang="en-US" sz="1600">
                              <a:solidFill>
                                <a:schemeClr val="tx1"/>
                              </a:solidFill>
                              <a:effectLst/>
                            </a:rPr>
                            <a:t>0.0016</a:t>
                          </a:r>
                          <a:endParaRPr lang="en-IN" sz="1600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1189658900"/>
                      </a:ext>
                    </a:extLst>
                  </a:tr>
                  <a:tr h="556820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1000"/>
                            </a:spcAft>
                          </a:pPr>
                          <a:r>
                            <a:rPr lang="en-US" sz="1600">
                              <a:solidFill>
                                <a:schemeClr val="tx1"/>
                              </a:solidFill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DLA</a:t>
                          </a:r>
                          <a:endParaRPr lang="en-IN" sz="1600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1000"/>
                            </a:spcAft>
                          </a:pPr>
                          <a:r>
                            <a:rPr lang="en-US" sz="1600" cap="all">
                              <a:solidFill>
                                <a:schemeClr val="tx1"/>
                              </a:solidFill>
                              <a:effectLst/>
                            </a:rPr>
                            <a:t>2.47</a:t>
                          </a:r>
                          <a:endParaRPr lang="en-IN" sz="1600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1000"/>
                            </a:spcAft>
                          </a:pPr>
                          <a:r>
                            <a:rPr lang="en-US" sz="1600">
                              <a:solidFill>
                                <a:schemeClr val="tx1"/>
                              </a:solidFill>
                              <a:effectLst/>
                            </a:rPr>
                            <a:t>0.3</a:t>
                          </a:r>
                          <a:endParaRPr lang="en-IN" sz="1600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1000"/>
                            </a:spcAft>
                          </a:pPr>
                          <a:r>
                            <a:rPr lang="en-US" sz="1600">
                              <a:solidFill>
                                <a:schemeClr val="tx1"/>
                              </a:solidFill>
                              <a:effectLst/>
                            </a:rPr>
                            <a:t>0.003</a:t>
                          </a:r>
                          <a:endParaRPr lang="en-IN" sz="1600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238265254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C4BAD785-7B94-45D8-9968-C6BB8B205ED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866244567"/>
                  </p:ext>
                </p:extLst>
              </p:nvPr>
            </p:nvGraphicFramePr>
            <p:xfrm>
              <a:off x="1311764" y="3173153"/>
              <a:ext cx="4705159" cy="2503217"/>
            </p:xfrm>
            <a:graphic>
              <a:graphicData uri="http://schemas.openxmlformats.org/drawingml/2006/table">
                <a:tbl>
                  <a:tblPr firstRow="1" firstCol="1" bandRow="1">
                    <a:tableStyleId>{0505E3EF-67EA-436B-97B2-0124C06EBD24}</a:tableStyleId>
                  </a:tblPr>
                  <a:tblGrid>
                    <a:gridCol w="960150">
                      <a:extLst>
                        <a:ext uri="{9D8B030D-6E8A-4147-A177-3AD203B41FA5}">
                          <a16:colId xmlns:a16="http://schemas.microsoft.com/office/drawing/2014/main" val="28035026"/>
                        </a:ext>
                      </a:extLst>
                    </a:gridCol>
                    <a:gridCol w="960150">
                      <a:extLst>
                        <a:ext uri="{9D8B030D-6E8A-4147-A177-3AD203B41FA5}">
                          <a16:colId xmlns:a16="http://schemas.microsoft.com/office/drawing/2014/main" val="747878634"/>
                        </a:ext>
                      </a:extLst>
                    </a:gridCol>
                    <a:gridCol w="1498287">
                      <a:extLst>
                        <a:ext uri="{9D8B030D-6E8A-4147-A177-3AD203B41FA5}">
                          <a16:colId xmlns:a16="http://schemas.microsoft.com/office/drawing/2014/main" val="4184059163"/>
                        </a:ext>
                      </a:extLst>
                    </a:gridCol>
                    <a:gridCol w="1286572">
                      <a:extLst>
                        <a:ext uri="{9D8B030D-6E8A-4147-A177-3AD203B41FA5}">
                          <a16:colId xmlns:a16="http://schemas.microsoft.com/office/drawing/2014/main" val="2098167521"/>
                        </a:ext>
                      </a:extLst>
                    </a:gridCol>
                  </a:tblGrid>
                  <a:tr h="914331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1000"/>
                            </a:spcAft>
                          </a:pPr>
                          <a:r>
                            <a:rPr lang="en-US" sz="1600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Fractal</a:t>
                          </a:r>
                          <a:endParaRPr lang="en-IN" sz="16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blipFill>
                          <a:blip r:embed="rId3"/>
                          <a:stretch>
                            <a:fillRect l="-101274" t="-667" r="-292994" b="-176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blipFill>
                          <a:blip r:embed="rId3"/>
                          <a:stretch>
                            <a:fillRect l="-127935" t="-667" r="-86235" b="-176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blipFill>
                          <a:blip r:embed="rId3"/>
                          <a:stretch>
                            <a:fillRect l="-266825" t="-667" r="-948" b="-176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55189308"/>
                      </a:ext>
                    </a:extLst>
                  </a:tr>
                  <a:tr h="556820">
                    <a:tc rowSpan="2"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1000"/>
                            </a:spcAft>
                          </a:pPr>
                          <a:r>
                            <a:rPr lang="en-US" sz="1600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Tunable Monte Carlo clusters</a:t>
                          </a:r>
                          <a:endParaRPr lang="en-IN" sz="16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1000"/>
                            </a:spcAft>
                          </a:pPr>
                          <a:r>
                            <a:rPr lang="en-US" sz="1600" cap="all">
                              <a:solidFill>
                                <a:schemeClr val="tx1"/>
                              </a:solidFill>
                              <a:effectLst/>
                            </a:rPr>
                            <a:t>2.23</a:t>
                          </a:r>
                          <a:endParaRPr lang="en-IN" sz="1600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1000"/>
                            </a:spcAft>
                          </a:pPr>
                          <a:r>
                            <a:rPr lang="en-US" sz="1600">
                              <a:solidFill>
                                <a:schemeClr val="tx1"/>
                              </a:solidFill>
                              <a:effectLst/>
                            </a:rPr>
                            <a:t>0.35</a:t>
                          </a:r>
                          <a:endParaRPr lang="en-IN" sz="1600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1000"/>
                            </a:spcAft>
                          </a:pPr>
                          <a:r>
                            <a:rPr lang="en-US" sz="1600">
                              <a:solidFill>
                                <a:schemeClr val="tx1"/>
                              </a:solidFill>
                              <a:effectLst/>
                            </a:rPr>
                            <a:t>0.061</a:t>
                          </a:r>
                          <a:endParaRPr lang="en-IN" sz="1600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2258484221"/>
                      </a:ext>
                    </a:extLst>
                  </a:tr>
                  <a:tr h="475246">
                    <a:tc vMerge="1"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1000"/>
                            </a:spcAft>
                          </a:pPr>
                          <a:endParaRPr lang="en-IN" sz="1100">
                            <a:solidFill>
                              <a:srgbClr val="FF0000"/>
                            </a:solidFill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1000"/>
                            </a:spcAft>
                          </a:pPr>
                          <a:r>
                            <a:rPr lang="en-US" sz="1600" cap="all">
                              <a:solidFill>
                                <a:schemeClr val="tx1"/>
                              </a:solidFill>
                              <a:effectLst/>
                            </a:rPr>
                            <a:t>2.46</a:t>
                          </a:r>
                          <a:endParaRPr lang="en-IN" sz="1600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1000"/>
                            </a:spcAft>
                          </a:pPr>
                          <a:r>
                            <a:rPr lang="en-US" sz="1600">
                              <a:solidFill>
                                <a:schemeClr val="tx1"/>
                              </a:solidFill>
                              <a:effectLst/>
                            </a:rPr>
                            <a:t>0.27</a:t>
                          </a:r>
                          <a:endParaRPr lang="en-IN" sz="1600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1000"/>
                            </a:spcAft>
                          </a:pPr>
                          <a:r>
                            <a:rPr lang="en-US" sz="1600">
                              <a:solidFill>
                                <a:schemeClr val="tx1"/>
                              </a:solidFill>
                              <a:effectLst/>
                            </a:rPr>
                            <a:t>0.0016</a:t>
                          </a:r>
                          <a:endParaRPr lang="en-IN" sz="1600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1189658900"/>
                      </a:ext>
                    </a:extLst>
                  </a:tr>
                  <a:tr h="556820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1000"/>
                            </a:spcAft>
                          </a:pPr>
                          <a:r>
                            <a:rPr lang="en-US" sz="1600">
                              <a:solidFill>
                                <a:schemeClr val="tx1"/>
                              </a:solidFill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DLA</a:t>
                          </a:r>
                          <a:endParaRPr lang="en-IN" sz="1600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1000"/>
                            </a:spcAft>
                          </a:pPr>
                          <a:r>
                            <a:rPr lang="en-US" sz="1600" cap="all">
                              <a:solidFill>
                                <a:schemeClr val="tx1"/>
                              </a:solidFill>
                              <a:effectLst/>
                            </a:rPr>
                            <a:t>2.47</a:t>
                          </a:r>
                          <a:endParaRPr lang="en-IN" sz="1600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1000"/>
                            </a:spcAft>
                          </a:pPr>
                          <a:r>
                            <a:rPr lang="en-US" sz="1600">
                              <a:solidFill>
                                <a:schemeClr val="tx1"/>
                              </a:solidFill>
                              <a:effectLst/>
                            </a:rPr>
                            <a:t>0.3</a:t>
                          </a:r>
                          <a:endParaRPr lang="en-IN" sz="1600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1000"/>
                            </a:spcAft>
                          </a:pPr>
                          <a:r>
                            <a:rPr lang="en-US" sz="1600">
                              <a:solidFill>
                                <a:schemeClr val="tx1"/>
                              </a:solidFill>
                              <a:effectLst/>
                            </a:rPr>
                            <a:t>0.003</a:t>
                          </a:r>
                          <a:endParaRPr lang="en-IN" sz="1600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2382652541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046AE9F1-CAAB-4A06-942B-EC5BBD4518B6}"/>
                  </a:ext>
                </a:extLst>
              </p:cNvPr>
              <p:cNvSpPr txBox="1"/>
              <p:nvPr/>
            </p:nvSpPr>
            <p:spPr>
              <a:xfrm>
                <a:off x="3664344" y="416895"/>
                <a:ext cx="5219801" cy="76091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400" b="1">
                    <a:solidFill>
                      <a:srgbClr val="C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Role of volume fraction of solids</a:t>
                </a:r>
              </a:p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𝑇𝑀𝐶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IN">
                    <a:latin typeface="Arial" panose="020B0604020202020204" pitchFamily="34" charset="0"/>
                    <a:cs typeface="Arial" panose="020B0604020202020204" pitchFamily="34" charset="0"/>
                  </a:rPr>
                  <a:t> &amp;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𝐷𝐿𝐴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=0.48</m:t>
                    </m:r>
                  </m:oMath>
                </a14:m>
                <a:endParaRPr lang="en-IN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046AE9F1-CAAB-4A06-942B-EC5BBD4518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64344" y="416895"/>
                <a:ext cx="5219801" cy="760914"/>
              </a:xfrm>
              <a:prstGeom prst="rect">
                <a:avLst/>
              </a:prstGeom>
              <a:blipFill>
                <a:blip r:embed="rId4"/>
                <a:stretch>
                  <a:fillRect t="-5600" b="-880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D91ADC2C-036E-45E6-A8FA-39CA964BF21D}"/>
                  </a:ext>
                </a:extLst>
              </p:cNvPr>
              <p:cNvSpPr txBox="1"/>
              <p:nvPr/>
            </p:nvSpPr>
            <p:spPr>
              <a:xfrm>
                <a:off x="821155" y="1398769"/>
                <a:ext cx="8649344" cy="192296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sz="1600">
                    <a:latin typeface="Arial" panose="020B0604020202020204" pitchFamily="34" charset="0"/>
                    <a:cs typeface="Arial" panose="020B0604020202020204" pitchFamily="34" charset="0"/>
                  </a:rPr>
                  <a:t>Pre-factor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sub>
                    </m:sSub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IN" sz="1600">
                    <a:latin typeface="Arial" panose="020B0604020202020204" pitchFamily="34" charset="0"/>
                    <a:cs typeface="Arial" panose="020B0604020202020204" pitchFamily="34" charset="0"/>
                  </a:rPr>
                  <a:t> Function of volume fraction of solids</a:t>
                </a: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IN" sz="1600">
                    <a:latin typeface="Arial" panose="020B0604020202020204" pitchFamily="34" charset="0"/>
                    <a:cs typeface="Arial" panose="020B0604020202020204" pitchFamily="34" charset="0"/>
                  </a:rPr>
                  <a:t>Fluid flow different for DLA and Tunable CCA</a:t>
                </a: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IN" sz="1600">
                    <a:latin typeface="Arial" panose="020B0604020202020204" pitchFamily="34" charset="0"/>
                    <a:cs typeface="Arial" panose="020B0604020202020204" pitchFamily="34" charset="0"/>
                  </a:rPr>
                  <a:t>DLA </a:t>
                </a:r>
                <a:r>
                  <a:rPr lang="en-IN" sz="1600">
                    <a:latin typeface="Arial" panose="020B0604020202020204" pitchFamily="34" charset="0"/>
                    <a:cs typeface="Arial" panose="020B0604020202020204" pitchFamily="34" charset="0"/>
                    <a:sym typeface="Wingdings" panose="05000000000000000000" pitchFamily="2" charset="2"/>
                  </a:rPr>
                  <a:t> More open structure  Fluid flow screened at the center</a:t>
                </a: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IN" sz="1600">
                    <a:latin typeface="Arial" panose="020B0604020202020204" pitchFamily="34" charset="0"/>
                    <a:cs typeface="Arial" panose="020B0604020202020204" pitchFamily="34" charset="0"/>
                    <a:sym typeface="Wingdings" panose="05000000000000000000" pitchFamily="2" charset="2"/>
                  </a:rPr>
                  <a:t>Tunable CCA  Fluid flow is screened by aggregating clusters</a:t>
                </a:r>
              </a:p>
              <a:p>
                <a:pPr>
                  <a:lnSpc>
                    <a:spcPct val="150000"/>
                  </a:lnSpc>
                </a:pPr>
                <a:endParaRPr lang="en-IN" sz="160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D91ADC2C-036E-45E6-A8FA-39CA964BF2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1155" y="1398769"/>
                <a:ext cx="8649344" cy="1922962"/>
              </a:xfrm>
              <a:prstGeom prst="rect">
                <a:avLst/>
              </a:prstGeom>
              <a:blipFill>
                <a:blip r:embed="rId5"/>
                <a:stretch>
                  <a:fillRect l="-282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022E98AE-EC8C-41DD-9264-A646E3F54A09}"/>
                  </a:ext>
                </a:extLst>
              </p:cNvPr>
              <p:cNvSpPr txBox="1"/>
              <p:nvPr/>
            </p:nvSpPr>
            <p:spPr>
              <a:xfrm>
                <a:off x="1002656" y="5904437"/>
                <a:ext cx="6096000" cy="45858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IN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𝛿</m:t>
                          </m:r>
                        </m:e>
                        <m:sub>
                          <m:sSub>
                            <m:sSubPr>
                              <m:ctrlPr>
                                <a:rPr lang="en-IN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e>
                            <m:sub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sub>
                          </m:sSub>
                          <m:r>
                            <a:rPr lang="en-IN" i="0">
                              <a:latin typeface="Cambria Math" panose="02040503050406030204" pitchFamily="18" charset="0"/>
                            </a:rPr>
                            <m:t>=2.23</m:t>
                          </m:r>
                        </m:sub>
                        <m:sup>
                          <m:r>
                            <a:rPr lang="en-IN" i="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bSup>
                      <m:r>
                        <a:rPr lang="en-IN" i="0">
                          <a:latin typeface="Cambria Math" panose="02040503050406030204" pitchFamily="18" charset="0"/>
                        </a:rPr>
                        <m:t>&lt;</m:t>
                      </m:r>
                      <m:sSubSup>
                        <m:sSubSupPr>
                          <m:ctrlPr>
                            <a:rPr lang="en-IN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𝛿</m:t>
                          </m:r>
                        </m:e>
                        <m:sub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𝐷𝐿𝐴</m:t>
                          </m:r>
                          <m:d>
                            <m:d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IN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𝐷</m:t>
                                  </m:r>
                                </m:e>
                                <m:sub>
                                  <m: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sub>
                              </m:sSub>
                              <m:r>
                                <a:rPr lang="en-IN" i="0">
                                  <a:latin typeface="Cambria Math" panose="02040503050406030204" pitchFamily="18" charset="0"/>
                                </a:rPr>
                                <m:t>=2.47</m:t>
                              </m:r>
                            </m:e>
                          </m:d>
                        </m:sub>
                        <m:sup>
                          <m:r>
                            <a:rPr lang="en-IN" i="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bSup>
                      <m:r>
                        <a:rPr lang="en-IN" i="0">
                          <a:latin typeface="Cambria Math" panose="02040503050406030204" pitchFamily="18" charset="0"/>
                        </a:rPr>
                        <m:t>&lt;</m:t>
                      </m:r>
                      <m:sSubSup>
                        <m:sSubSupPr>
                          <m:ctrlPr>
                            <a:rPr lang="en-IN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𝛿</m:t>
                          </m:r>
                        </m:e>
                        <m:sub>
                          <m:sSub>
                            <m:sSubPr>
                              <m:ctrlPr>
                                <a:rPr lang="en-IN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e>
                            <m:sub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sub>
                          </m:sSub>
                          <m:r>
                            <a:rPr lang="en-IN" i="0">
                              <a:latin typeface="Cambria Math" panose="02040503050406030204" pitchFamily="18" charset="0"/>
                            </a:rPr>
                            <m:t>=2.46</m:t>
                          </m:r>
                        </m:sub>
                        <m:sup>
                          <m:r>
                            <a:rPr lang="en-IN" i="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bSup>
                    </m:oMath>
                  </m:oMathPara>
                </a14:m>
                <a:endParaRPr lang="en-IN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022E98AE-EC8C-41DD-9264-A646E3F54A0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2656" y="5904437"/>
                <a:ext cx="6096000" cy="458587"/>
              </a:xfrm>
              <a:prstGeom prst="rect">
                <a:avLst/>
              </a:prstGeom>
              <a:blipFill>
                <a:blip r:embed="rId6"/>
                <a:stretch>
                  <a:fillRect b="-400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Rectangle 10">
            <a:extLst>
              <a:ext uri="{FF2B5EF4-FFF2-40B4-BE49-F238E27FC236}">
                <a16:creationId xmlns:a16="http://schemas.microsoft.com/office/drawing/2014/main" id="{3A64F1DB-D462-47AF-AC74-9A64AB26A289}"/>
              </a:ext>
            </a:extLst>
          </p:cNvPr>
          <p:cNvSpPr/>
          <p:nvPr/>
        </p:nvSpPr>
        <p:spPr>
          <a:xfrm>
            <a:off x="174171" y="188686"/>
            <a:ext cx="11843657" cy="645885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6741695-E105-46C3-9E28-EA23C67EB8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3CAD28-B1A9-4A64-9DD6-3376C7DEC3B0}" type="slidenum">
              <a:rPr lang="en-IN" smtClean="0"/>
              <a:t>40</a:t>
            </a:fld>
            <a:endParaRPr lang="en-I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0EFC2ACB-8645-4257-B1D3-FDAECFC8CAE4}"/>
                  </a:ext>
                </a:extLst>
              </p:cNvPr>
              <p:cNvSpPr txBox="1"/>
              <p:nvPr/>
            </p:nvSpPr>
            <p:spPr>
              <a:xfrm>
                <a:off x="6421270" y="1506042"/>
                <a:ext cx="6098458" cy="76937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sub>
                      </m:sSub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𝑁</m:t>
                      </m:r>
                      <m:sSup>
                        <m:sSup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𝑅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𝑚𝑎𝑥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</m:oMath>
                  </m:oMathPara>
                </a14:m>
                <a:endParaRPr lang="en-IN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0EFC2ACB-8645-4257-B1D3-FDAECFC8CA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21270" y="1506042"/>
                <a:ext cx="6098458" cy="769378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701654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8389"/>
    </mc:Choice>
    <mc:Fallback xmlns="">
      <p:transition spd="slow" advTm="58389"/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8A35A111-4CDE-46DD-8B1C-2AF2DB66D2A4}"/>
                  </a:ext>
                </a:extLst>
              </p:cNvPr>
              <p:cNvSpPr txBox="1"/>
              <p:nvPr/>
            </p:nvSpPr>
            <p:spPr>
              <a:xfrm>
                <a:off x="569408" y="1511978"/>
                <a:ext cx="3477234" cy="427995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>
                    <a:latin typeface="Arial" panose="020B0604020202020204" pitchFamily="34" charset="0"/>
                    <a:cs typeface="Arial" panose="020B0604020202020204" pitchFamily="34" charset="0"/>
                  </a:rPr>
                  <a:t>Volume fraction of solids</a:t>
                </a:r>
                <a:endParaRPr lang="en-US" b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sub>
                      </m:sSub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𝑁</m:t>
                      </m:r>
                      <m:sSup>
                        <m:sSup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𝑅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𝑚𝑎𝑥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→</m:t>
                      </m:r>
                      <m:sSup>
                        <m:sSup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𝛿</m:t>
                          </m:r>
                        </m:e>
                        <m:sup>
                          <m:r>
                            <a:rPr lang="en-IN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ad>
                            <m:radPr>
                              <m:degHide m:val="on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𝜅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𝜙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rad>
                        </m:num>
                        <m:den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b="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𝑅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~</m:t>
                      </m:r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𝑔</m:t>
                          </m:r>
                        </m:sub>
                        <m:sup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𝐷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𝑓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−3</m:t>
                          </m:r>
                        </m:sup>
                      </m:sSubSup>
                    </m:oMath>
                  </m:oMathPara>
                </a14:m>
                <a:endParaRPr lang="en-US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lvl="1">
                  <a:lnSpc>
                    <a:spcPct val="150000"/>
                  </a:lnSpc>
                </a:pPr>
                <a:r>
                  <a:rPr lang="en-US" b="1">
                    <a:solidFill>
                      <a:srgbClr val="C00000"/>
                    </a:solidFill>
                    <a:effectLst/>
                    <a:latin typeface="Arial" panose="020B0604020202020204" pitchFamily="34" charset="0"/>
                    <a:ea typeface="Calibri" panose="020F0502020204030204" pitchFamily="34" charset="0"/>
                    <a:cs typeface="Arial" panose="020B0604020202020204" pitchFamily="34" charset="0"/>
                  </a:rPr>
                  <a:t>Scaling law</a:t>
                </a:r>
                <a:r>
                  <a:rPr lang="en-US" b="0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Calibri" panose="020F0502020204030204" pitchFamily="34" charset="0"/>
                    <a:cs typeface="Arial" panose="020B0604020202020204" pitchFamily="34" charset="0"/>
                  </a:rPr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𝑅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𝑔</m:t>
                        </m:r>
                      </m:sub>
                    </m:sSub>
                    <m:r>
                      <a:rPr lang="en-US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~</m:t>
                    </m:r>
                    <m:sSup>
                      <m:sSupPr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𝑁</m:t>
                        </m:r>
                      </m:e>
                      <m:sup>
                        <m:f>
                          <m:fPr>
                            <m:ctrlP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1</m:t>
                            </m:r>
                          </m:num>
                          <m:den>
                            <m:sSub>
                              <m:sSubPr>
                                <m:ctrlP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𝐷</m:t>
                                </m:r>
                              </m:e>
                              <m:sub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𝑓</m:t>
                                </m:r>
                              </m:sub>
                            </m:sSub>
                          </m:den>
                        </m:f>
                      </m:sup>
                    </m:sSup>
                  </m:oMath>
                </a14:m>
                <a:endParaRPr lang="en-IN">
                  <a:solidFill>
                    <a:srgbClr val="C0000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>
                  <a:lnSpc>
                    <a:spcPct val="150000"/>
                  </a:lnSpc>
                </a:pPr>
                <a:endParaRPr lang="en-US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>
                  <a:lnSpc>
                    <a:spcPct val="150000"/>
                  </a:lnSpc>
                </a:pPr>
                <a:endParaRPr lang="en-US" b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>
                  <a:lnSpc>
                    <a:spcPct val="150000"/>
                  </a:lnSpc>
                </a:pPr>
                <a:endParaRPr lang="en-US" b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endParaRPr lang="en-IN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8A35A111-4CDE-46DD-8B1C-2AF2DB66D2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9408" y="1511978"/>
                <a:ext cx="3477234" cy="4279954"/>
              </a:xfrm>
              <a:prstGeom prst="rect">
                <a:avLst/>
              </a:prstGeom>
              <a:blipFill>
                <a:blip r:embed="rId2"/>
                <a:stretch>
                  <a:fillRect l="-402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id="{CBC35051-2E6E-4FBF-B5ED-52B224FAF30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084438527"/>
                  </p:ext>
                </p:extLst>
              </p:nvPr>
            </p:nvGraphicFramePr>
            <p:xfrm>
              <a:off x="4200664" y="1393102"/>
              <a:ext cx="7369905" cy="2384808"/>
            </p:xfrm>
            <a:graphic>
              <a:graphicData uri="http://schemas.openxmlformats.org/drawingml/2006/table">
                <a:tbl>
                  <a:tblPr firstRow="1" firstCol="1" bandRow="1">
                    <a:tableStyleId>{C083E6E3-FA7D-4D7B-A595-EF9225AFEA82}</a:tableStyleId>
                  </a:tblPr>
                  <a:tblGrid>
                    <a:gridCol w="2751679">
                      <a:extLst>
                        <a:ext uri="{9D8B030D-6E8A-4147-A177-3AD203B41FA5}">
                          <a16:colId xmlns:a16="http://schemas.microsoft.com/office/drawing/2014/main" val="3883489907"/>
                        </a:ext>
                      </a:extLst>
                    </a:gridCol>
                    <a:gridCol w="2133600">
                      <a:extLst>
                        <a:ext uri="{9D8B030D-6E8A-4147-A177-3AD203B41FA5}">
                          <a16:colId xmlns:a16="http://schemas.microsoft.com/office/drawing/2014/main" val="228769965"/>
                        </a:ext>
                      </a:extLst>
                    </a:gridCol>
                    <a:gridCol w="1820320">
                      <a:extLst>
                        <a:ext uri="{9D8B030D-6E8A-4147-A177-3AD203B41FA5}">
                          <a16:colId xmlns:a16="http://schemas.microsoft.com/office/drawing/2014/main" val="3255291553"/>
                        </a:ext>
                      </a:extLst>
                    </a:gridCol>
                    <a:gridCol w="664306">
                      <a:extLst>
                        <a:ext uri="{9D8B030D-6E8A-4147-A177-3AD203B41FA5}">
                          <a16:colId xmlns:a16="http://schemas.microsoft.com/office/drawing/2014/main" val="1647579129"/>
                        </a:ext>
                      </a:extLst>
                    </a:gridCol>
                  </a:tblGrid>
                  <a:tr h="338181">
                    <a:tc>
                      <a:txBody>
                        <a:bodyPr/>
                        <a:lstStyle/>
                        <a:p>
                          <a:pPr marL="457200" algn="ctr">
                            <a:lnSpc>
                              <a:spcPct val="150000"/>
                            </a:lnSpc>
                          </a:pPr>
                          <a:r>
                            <a:rPr lang="en-US" sz="160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Permeability</a:t>
                          </a:r>
                          <a14:m>
                            <m:oMath xmlns:m="http://schemas.openxmlformats.org/officeDocument/2006/math">
                              <m:r>
                                <a:rPr lang="en-US" sz="1600" b="1" i="1" smtClean="0">
                                  <a:effectLst/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1600" b="1" i="1" smtClean="0">
                                  <a:effectLst/>
                                  <a:latin typeface="Cambria Math" panose="02040503050406030204" pitchFamily="18" charset="0"/>
                                </a:rPr>
                                <m:t>𝜿</m:t>
                              </m:r>
                              <m:r>
                                <a:rPr lang="en-US" sz="1600" b="1" i="1" smtClean="0">
                                  <a:effectLst/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oMath>
                          </a14:m>
                          <a:endParaRPr lang="en-IN" sz="160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endParaRPr>
                        </a:p>
                      </a:txBody>
                      <a:tcPr marL="53716" marR="53716" marT="0" marB="0" anchor="ctr"/>
                    </a:tc>
                    <a:tc>
                      <a:txBody>
                        <a:bodyPr/>
                        <a:lstStyle/>
                        <a:p>
                          <a:pPr marL="457200" algn="ctr">
                            <a:lnSpc>
                              <a:spcPct val="150000"/>
                            </a:lnSpc>
                          </a:pPr>
                          <a:r>
                            <a:rPr lang="en-US" sz="160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Source</a:t>
                          </a:r>
                          <a:endParaRPr lang="en-IN" sz="160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endParaRPr>
                        </a:p>
                      </a:txBody>
                      <a:tcPr marL="53716" marR="53716" marT="0" marB="0" anchor="ctr"/>
                    </a:tc>
                    <a:tc>
                      <a:txBody>
                        <a:bodyPr/>
                        <a:lstStyle/>
                        <a:p>
                          <a:pPr marL="457200" algn="ctr">
                            <a:lnSpc>
                              <a:spcPct val="150000"/>
                            </a:lnSpc>
                          </a:pP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US" sz="1800" b="1" i="1" smtClean="0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800" b="1" i="1" smtClean="0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𝜹</m:t>
                                  </m:r>
                                </m:e>
                                <m:sup>
                                  <m:r>
                                    <a:rPr lang="en-US" sz="1800" b="1" i="1" smtClean="0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∗</m:t>
                                  </m:r>
                                </m:sup>
                              </m:sSup>
                            </m:oMath>
                          </a14:m>
                          <a:r>
                            <a:rPr lang="en-IN" sz="1800">
                              <a:effectLst/>
                              <a:latin typeface="Arial" panose="020B0604020202020204" pitchFamily="34" charset="0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  <a:t>(N)</a:t>
                          </a:r>
                        </a:p>
                      </a:txBody>
                      <a:tcPr marL="53716" marR="53716" marT="0" marB="0" anchor="ctr"/>
                    </a:tc>
                    <a:tc>
                      <a:txBody>
                        <a:bodyPr/>
                        <a:lstStyle/>
                        <a:p>
                          <a:pPr marL="457200" algn="ctr">
                            <a:lnSpc>
                              <a:spcPct val="150000"/>
                            </a:lnSpc>
                          </a:pPr>
                          <a:endParaRPr lang="en-IN" sz="180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endParaRPr>
                        </a:p>
                      </a:txBody>
                      <a:tcPr marL="53716" marR="53716" marT="0" marB="0" anchor="ctr"/>
                    </a:tc>
                    <a:extLst>
                      <a:ext uri="{0D108BD9-81ED-4DB2-BD59-A6C34878D82A}">
                        <a16:rowId xmlns:a16="http://schemas.microsoft.com/office/drawing/2014/main" val="2426713918"/>
                      </a:ext>
                    </a:extLst>
                  </a:tr>
                  <a:tr h="929982">
                    <a:tc>
                      <a:txBody>
                        <a:bodyPr/>
                        <a:lstStyle/>
                        <a:p>
                          <a:pPr marL="457200" algn="ctr">
                            <a:lnSpc>
                              <a:spcPct val="150000"/>
                            </a:lnSpc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IN" sz="16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𝜿</m:t>
                                    </m:r>
                                  </m:e>
                                  <m:sub>
                                    <m:r>
                                      <a:rPr lang="en-US" sz="16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𝑫𝑳</m:t>
                                    </m:r>
                                  </m:sub>
                                </m:sSub>
                                <m:r>
                                  <a:rPr lang="en-US" sz="1600">
                                    <a:effectLst/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lang="en-IN" sz="16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16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sSup>
                                      <m:sSupPr>
                                        <m:ctrlPr>
                                          <a:rPr lang="en-IN" sz="1600" i="1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sz="16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𝒂</m:t>
                                        </m:r>
                                      </m:e>
                                      <m:sup>
                                        <m:r>
                                          <a:rPr lang="en-US" sz="16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𝟐</m:t>
                                        </m:r>
                                      </m:sup>
                                    </m:sSup>
                                  </m:num>
                                  <m:den>
                                    <m:r>
                                      <a:rPr lang="en-US" sz="16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𝟗</m:t>
                                    </m:r>
                                    <m:r>
                                      <a:rPr lang="en-US" sz="16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𝝓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IN" sz="160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endParaRPr>
                        </a:p>
                      </a:txBody>
                      <a:tcPr marL="53716" marR="53716" marT="0" marB="0" anchor="ctr"/>
                    </a:tc>
                    <a:tc>
                      <a:txBody>
                        <a:bodyPr/>
                        <a:lstStyle/>
                        <a:p>
                          <a:pPr marL="457200" algn="ctr">
                            <a:lnSpc>
                              <a:spcPct val="150000"/>
                            </a:lnSpc>
                          </a:pPr>
                          <a:r>
                            <a:rPr lang="en-US" sz="160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Happel and Brenner (1991)</a:t>
                          </a:r>
                          <a:endParaRPr lang="en-IN" sz="160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endParaRPr>
                        </a:p>
                      </a:txBody>
                      <a:tcPr marL="53716" marR="53716" marT="0" marB="0" anchor="ctr"/>
                    </a:tc>
                    <a:tc>
                      <a:txBody>
                        <a:bodyPr/>
                        <a:lstStyle/>
                        <a:p>
                          <a:pPr marL="457200" algn="ctr">
                            <a:lnSpc>
                              <a:spcPct val="150000"/>
                            </a:lnSpc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b="0" i="1" smtClean="0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𝐶</m:t>
                                </m:r>
                                <m:r>
                                  <a:rPr lang="en-US" sz="1800" b="0" i="1" smtClean="0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.</m:t>
                                </m:r>
                                <m:sSup>
                                  <m:sSupPr>
                                    <m:ctrlPr>
                                      <a:rPr lang="en-US" sz="1800" b="0" i="1" smtClean="0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1800" b="0" i="1" smtClean="0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𝑁</m:t>
                                    </m:r>
                                  </m:e>
                                  <m:sup>
                                    <m:f>
                                      <m:fPr>
                                        <m:ctrlPr>
                                          <a:rPr lang="en-US" sz="1800" b="0" i="1" smtClean="0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1800" b="0" i="1" smtClean="0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  <m:t>1−</m:t>
                                        </m:r>
                                        <m:sSub>
                                          <m:sSubPr>
                                            <m:ctrlPr>
                                              <a:rPr lang="en-US" sz="1800" b="0" i="1" smtClean="0">
                                                <a:effectLst/>
                                                <a:latin typeface="Cambria Math" panose="02040503050406030204" pitchFamily="18" charset="0"/>
                                                <a:ea typeface="Times New Roman" panose="02020603050405020304" pitchFamily="18" charset="0"/>
                                                <a:cs typeface="Times New Roman" panose="020206030504050203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sz="1800" b="0" i="1" smtClean="0">
                                                <a:effectLst/>
                                                <a:latin typeface="Cambria Math" panose="02040503050406030204" pitchFamily="18" charset="0"/>
                                                <a:ea typeface="Times New Roman" panose="02020603050405020304" pitchFamily="18" charset="0"/>
                                                <a:cs typeface="Times New Roman" panose="02020603050405020304" pitchFamily="18" charset="0"/>
                                              </a:rPr>
                                              <m:t>𝐷</m:t>
                                            </m:r>
                                          </m:e>
                                          <m:sub>
                                            <m:r>
                                              <a:rPr lang="en-US" sz="1800" b="0" i="1" smtClean="0">
                                                <a:effectLst/>
                                                <a:latin typeface="Cambria Math" panose="02040503050406030204" pitchFamily="18" charset="0"/>
                                                <a:ea typeface="Times New Roman" panose="02020603050405020304" pitchFamily="18" charset="0"/>
                                                <a:cs typeface="Times New Roman" panose="02020603050405020304" pitchFamily="18" charset="0"/>
                                              </a:rPr>
                                              <m:t>𝑓</m:t>
                                            </m:r>
                                          </m:sub>
                                        </m:sSub>
                                      </m:num>
                                      <m:den>
                                        <m:r>
                                          <a:rPr lang="en-US" sz="1800" b="0" i="1" smtClean="0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  <m:t>2</m:t>
                                        </m:r>
                                        <m:sSub>
                                          <m:sSubPr>
                                            <m:ctrlPr>
                                              <a:rPr lang="en-US" sz="1800" b="0" i="1" smtClean="0">
                                                <a:effectLst/>
                                                <a:latin typeface="Cambria Math" panose="02040503050406030204" pitchFamily="18" charset="0"/>
                                                <a:ea typeface="Times New Roman" panose="02020603050405020304" pitchFamily="18" charset="0"/>
                                                <a:cs typeface="Times New Roman" panose="020206030504050203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sz="1800" b="0" i="1" smtClean="0">
                                                <a:effectLst/>
                                                <a:latin typeface="Cambria Math" panose="02040503050406030204" pitchFamily="18" charset="0"/>
                                                <a:ea typeface="Times New Roman" panose="02020603050405020304" pitchFamily="18" charset="0"/>
                                                <a:cs typeface="Times New Roman" panose="02020603050405020304" pitchFamily="18" charset="0"/>
                                              </a:rPr>
                                              <m:t>𝐷</m:t>
                                            </m:r>
                                          </m:e>
                                          <m:sub>
                                            <m:r>
                                              <a:rPr lang="en-US" sz="1800" b="0" i="1" smtClean="0">
                                                <a:effectLst/>
                                                <a:latin typeface="Cambria Math" panose="02040503050406030204" pitchFamily="18" charset="0"/>
                                                <a:ea typeface="Times New Roman" panose="02020603050405020304" pitchFamily="18" charset="0"/>
                                                <a:cs typeface="Times New Roman" panose="02020603050405020304" pitchFamily="18" charset="0"/>
                                              </a:rPr>
                                              <m:t>𝑓</m:t>
                                            </m:r>
                                          </m:sub>
                                        </m:sSub>
                                      </m:den>
                                    </m:f>
                                  </m:sup>
                                </m:sSup>
                              </m:oMath>
                            </m:oMathPara>
                          </a14:m>
                          <a:endParaRPr lang="en-IN" sz="180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endParaRPr>
                        </a:p>
                      </a:txBody>
                      <a:tcPr marL="53716" marR="53716" marT="0" marB="0" anchor="ctr"/>
                    </a:tc>
                    <a:tc>
                      <a:txBody>
                        <a:bodyPr/>
                        <a:lstStyle/>
                        <a:p>
                          <a:pPr marL="457200" algn="ctr">
                            <a:lnSpc>
                              <a:spcPct val="150000"/>
                            </a:lnSpc>
                          </a:pPr>
                          <a:endParaRPr lang="en-US" sz="120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endParaRPr>
                        </a:p>
                        <a:p>
                          <a:pPr marL="457200" algn="ctr">
                            <a:lnSpc>
                              <a:spcPct val="150000"/>
                            </a:lnSpc>
                          </a:pPr>
                          <a:r>
                            <a:rPr lang="en-US" sz="1200">
                              <a:effectLst/>
                              <a:latin typeface="Arial" panose="020B0604020202020204" pitchFamily="34" charset="0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  <a:t>1</a:t>
                          </a:r>
                          <a:endParaRPr lang="en-IN" sz="120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endParaRPr>
                        </a:p>
                      </a:txBody>
                      <a:tcPr marL="53716" marR="53716" marT="0" marB="0" anchor="ctr"/>
                    </a:tc>
                    <a:extLst>
                      <a:ext uri="{0D108BD9-81ED-4DB2-BD59-A6C34878D82A}">
                        <a16:rowId xmlns:a16="http://schemas.microsoft.com/office/drawing/2014/main" val="1419726756"/>
                      </a:ext>
                    </a:extLst>
                  </a:tr>
                  <a:tr h="1094146">
                    <a:tc>
                      <a:txBody>
                        <a:bodyPr/>
                        <a:lstStyle/>
                        <a:p>
                          <a:pPr marL="457200" algn="ctr">
                            <a:lnSpc>
                              <a:spcPct val="150000"/>
                            </a:lnSpc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>
                                    <a:effectLst/>
                                    <a:latin typeface="Cambria Math" panose="02040503050406030204" pitchFamily="18" charset="0"/>
                                  </a:rPr>
                                  <m:t>𝜿</m:t>
                                </m:r>
                                <m:r>
                                  <a:rPr lang="en-US" sz="1600">
                                    <a:effectLst/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lang="en-IN" sz="16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sSup>
                                      <m:sSupPr>
                                        <m:ctrlPr>
                                          <a:rPr lang="en-IN" sz="1600" i="1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sz="16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𝒂</m:t>
                                        </m:r>
                                      </m:e>
                                      <m:sup>
                                        <m:r>
                                          <a:rPr lang="en-US" sz="16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𝟐</m:t>
                                        </m:r>
                                      </m:sup>
                                    </m:sSup>
                                  </m:num>
                                  <m:den>
                                    <m:r>
                                      <a:rPr lang="en-US" sz="16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𝟏𝟔</m:t>
                                    </m:r>
                                    <m:sSup>
                                      <m:sSupPr>
                                        <m:ctrlPr>
                                          <a:rPr lang="en-IN" sz="1600" i="1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sz="16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𝝓</m:t>
                                        </m:r>
                                      </m:e>
                                      <m:sup>
                                        <m:r>
                                          <a:rPr lang="en-US" sz="16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𝟏</m:t>
                                        </m:r>
                                        <m:r>
                                          <a:rPr lang="en-US" sz="16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.</m:t>
                                        </m:r>
                                        <m:r>
                                          <a:rPr lang="en-US" sz="16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𝟓</m:t>
                                        </m:r>
                                      </m:sup>
                                    </m:sSup>
                                    <m:d>
                                      <m:dPr>
                                        <m:ctrlPr>
                                          <a:rPr lang="en-IN" sz="1600" i="1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sz="16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𝟏</m:t>
                                        </m:r>
                                        <m:r>
                                          <a:rPr lang="en-US" sz="16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+</m:t>
                                        </m:r>
                                        <m:r>
                                          <a:rPr lang="en-US" sz="16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𝟓𝟔</m:t>
                                        </m:r>
                                        <m:sSup>
                                          <m:sSupPr>
                                            <m:ctrlPr>
                                              <a:rPr lang="en-IN" sz="1600" i="1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pPr>
                                          <m:e>
                                            <m:r>
                                              <a:rPr lang="en-US" sz="1600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  <m:t>𝝓</m:t>
                                            </m:r>
                                          </m:e>
                                          <m:sup>
                                            <m:r>
                                              <a:rPr lang="en-US" sz="1600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  <m:t>𝟑</m:t>
                                            </m:r>
                                          </m:sup>
                                        </m:sSup>
                                      </m:e>
                                    </m:d>
                                  </m:den>
                                </m:f>
                              </m:oMath>
                            </m:oMathPara>
                          </a14:m>
                          <a:endParaRPr lang="en-IN" sz="160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endParaRPr>
                        </a:p>
                      </a:txBody>
                      <a:tcPr marL="53716" marR="53716" marT="0" marB="0" anchor="ctr"/>
                    </a:tc>
                    <a:tc>
                      <a:txBody>
                        <a:bodyPr/>
                        <a:lstStyle/>
                        <a:p>
                          <a:pPr marL="457200" algn="ctr">
                            <a:lnSpc>
                              <a:spcPct val="150000"/>
                            </a:lnSpc>
                          </a:pPr>
                          <a:r>
                            <a:rPr lang="en-US" sz="160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Davies (1952)</a:t>
                          </a:r>
                          <a:endParaRPr lang="en-IN" sz="160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endParaRPr>
                        </a:p>
                      </a:txBody>
                      <a:tcPr marL="53716" marR="53716" marT="0" marB="0" anchor="ctr"/>
                    </a:tc>
                    <a:tc>
                      <a:txBody>
                        <a:bodyPr/>
                        <a:lstStyle/>
                        <a:p>
                          <a:pPr marL="457200" algn="ctr">
                            <a:lnSpc>
                              <a:spcPct val="150000"/>
                            </a:lnSpc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sz="1800" b="0" i="1" smtClean="0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1800" b="0" i="1" smtClean="0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𝐶</m:t>
                                    </m:r>
                                    <m:r>
                                      <a:rPr lang="en-US" sz="1800" b="0" i="1" smtClean="0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.</m:t>
                                    </m:r>
                                    <m:r>
                                      <a:rPr lang="en-US" sz="1800" b="0" i="1" smtClean="0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𝑁</m:t>
                                    </m:r>
                                  </m:e>
                                  <m:sup>
                                    <m:d>
                                      <m:dPr>
                                        <m:ctrlPr>
                                          <a:rPr lang="en-US" sz="1800" b="0" i="1" smtClean="0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dPr>
                                      <m:e>
                                        <m:f>
                                          <m:fPr>
                                            <m:ctrlPr>
                                              <a:rPr lang="en-US" sz="1800" b="0" i="1" smtClean="0">
                                                <a:effectLst/>
                                                <a:latin typeface="Cambria Math" panose="02040503050406030204" pitchFamily="18" charset="0"/>
                                                <a:ea typeface="Times New Roman" panose="02020603050405020304" pitchFamily="18" charset="0"/>
                                                <a:cs typeface="Times New Roman" panose="02020603050405020304" pitchFamily="18" charset="0"/>
                                              </a:rPr>
                                            </m:ctrlPr>
                                          </m:fPr>
                                          <m:num>
                                            <m:r>
                                              <a:rPr lang="en-US" sz="1800" b="0" i="1" smtClean="0">
                                                <a:effectLst/>
                                                <a:latin typeface="Cambria Math" panose="02040503050406030204" pitchFamily="18" charset="0"/>
                                                <a:ea typeface="Times New Roman" panose="02020603050405020304" pitchFamily="18" charset="0"/>
                                                <a:cs typeface="Times New Roman" panose="02020603050405020304" pitchFamily="18" charset="0"/>
                                              </a:rPr>
                                              <m:t>5</m:t>
                                            </m:r>
                                          </m:num>
                                          <m:den>
                                            <m:r>
                                              <a:rPr lang="en-US" sz="1800" b="0" i="1" smtClean="0">
                                                <a:effectLst/>
                                                <a:latin typeface="Cambria Math" panose="02040503050406030204" pitchFamily="18" charset="0"/>
                                                <a:ea typeface="Times New Roman" panose="02020603050405020304" pitchFamily="18" charset="0"/>
                                                <a:cs typeface="Times New Roman" panose="02020603050405020304" pitchFamily="18" charset="0"/>
                                              </a:rPr>
                                              <m:t>4</m:t>
                                            </m:r>
                                            <m:sSub>
                                              <m:sSubPr>
                                                <m:ctrlPr>
                                                  <a:rPr lang="en-US" sz="1800" b="0" i="1" smtClean="0">
                                                    <a:effectLst/>
                                                    <a:latin typeface="Cambria Math" panose="02040503050406030204" pitchFamily="18" charset="0"/>
                                                    <a:ea typeface="Times New Roman" panose="02020603050405020304" pitchFamily="18" charset="0"/>
                                                    <a:cs typeface="Times New Roman" panose="020206030504050203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sz="1800" b="0" i="1" smtClean="0">
                                                    <a:effectLst/>
                                                    <a:latin typeface="Cambria Math" panose="02040503050406030204" pitchFamily="18" charset="0"/>
                                                    <a:ea typeface="Times New Roman" panose="02020603050405020304" pitchFamily="18" charset="0"/>
                                                    <a:cs typeface="Times New Roman" panose="02020603050405020304" pitchFamily="18" charset="0"/>
                                                  </a:rPr>
                                                  <m:t>𝐷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sz="1800" b="0" i="1" smtClean="0">
                                                    <a:effectLst/>
                                                    <a:latin typeface="Cambria Math" panose="02040503050406030204" pitchFamily="18" charset="0"/>
                                                    <a:ea typeface="Times New Roman" panose="02020603050405020304" pitchFamily="18" charset="0"/>
                                                    <a:cs typeface="Times New Roman" panose="02020603050405020304" pitchFamily="18" charset="0"/>
                                                  </a:rPr>
                                                  <m:t>𝑓</m:t>
                                                </m:r>
                                              </m:sub>
                                            </m:sSub>
                                          </m:den>
                                        </m:f>
                                        <m:r>
                                          <a:rPr lang="en-US" sz="1800" b="0" i="1" smtClean="0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  <m:t> −</m:t>
                                        </m:r>
                                        <m:f>
                                          <m:fPr>
                                            <m:ctrlPr>
                                              <a:rPr lang="en-US" sz="1800" b="0" i="1" smtClean="0">
                                                <a:effectLst/>
                                                <a:latin typeface="Cambria Math" panose="02040503050406030204" pitchFamily="18" charset="0"/>
                                                <a:ea typeface="Times New Roman" panose="02020603050405020304" pitchFamily="18" charset="0"/>
                                                <a:cs typeface="Times New Roman" panose="02020603050405020304" pitchFamily="18" charset="0"/>
                                              </a:rPr>
                                            </m:ctrlPr>
                                          </m:fPr>
                                          <m:num>
                                            <m:r>
                                              <a:rPr lang="en-US" sz="1800" b="0" i="1" smtClean="0">
                                                <a:effectLst/>
                                                <a:latin typeface="Cambria Math" panose="02040503050406030204" pitchFamily="18" charset="0"/>
                                                <a:ea typeface="Times New Roman" panose="02020603050405020304" pitchFamily="18" charset="0"/>
                                                <a:cs typeface="Times New Roman" panose="02020603050405020304" pitchFamily="18" charset="0"/>
                                              </a:rPr>
                                              <m:t>3</m:t>
                                            </m:r>
                                          </m:num>
                                          <m:den>
                                            <m:r>
                                              <a:rPr lang="en-US" sz="1800" b="0" i="1" smtClean="0">
                                                <a:effectLst/>
                                                <a:latin typeface="Cambria Math" panose="02040503050406030204" pitchFamily="18" charset="0"/>
                                                <a:ea typeface="Times New Roman" panose="02020603050405020304" pitchFamily="18" charset="0"/>
                                                <a:cs typeface="Times New Roman" panose="02020603050405020304" pitchFamily="18" charset="0"/>
                                              </a:rPr>
                                              <m:t>4</m:t>
                                            </m:r>
                                          </m:den>
                                        </m:f>
                                      </m:e>
                                    </m:d>
                                  </m:sup>
                                </m:sSup>
                              </m:oMath>
                            </m:oMathPara>
                          </a14:m>
                          <a:endParaRPr lang="en-IN" sz="180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endParaRPr>
                        </a:p>
                      </a:txBody>
                      <a:tcPr marL="53716" marR="53716" marT="0" marB="0" anchor="ctr"/>
                    </a:tc>
                    <a:tc>
                      <a:txBody>
                        <a:bodyPr/>
                        <a:lstStyle/>
                        <a:p>
                          <a:pPr marL="457200" algn="ctr">
                            <a:lnSpc>
                              <a:spcPct val="150000"/>
                            </a:lnSpc>
                          </a:pPr>
                          <a:endParaRPr lang="en-US" sz="120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endParaRPr>
                        </a:p>
                        <a:p>
                          <a:pPr marL="457200" algn="ctr">
                            <a:lnSpc>
                              <a:spcPct val="150000"/>
                            </a:lnSpc>
                          </a:pPr>
                          <a:r>
                            <a:rPr lang="en-US" sz="1200">
                              <a:effectLst/>
                              <a:latin typeface="Arial" panose="020B0604020202020204" pitchFamily="34" charset="0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  <a:t>2</a:t>
                          </a:r>
                          <a:endParaRPr lang="en-IN" sz="120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endParaRPr>
                        </a:p>
                      </a:txBody>
                      <a:tcPr marL="53716" marR="53716" marT="0" marB="0" anchor="ctr"/>
                    </a:tc>
                    <a:extLst>
                      <a:ext uri="{0D108BD9-81ED-4DB2-BD59-A6C34878D82A}">
                        <a16:rowId xmlns:a16="http://schemas.microsoft.com/office/drawing/2014/main" val="251562579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id="{CBC35051-2E6E-4FBF-B5ED-52B224FAF30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084438527"/>
                  </p:ext>
                </p:extLst>
              </p:nvPr>
            </p:nvGraphicFramePr>
            <p:xfrm>
              <a:off x="4200664" y="1393102"/>
              <a:ext cx="7369905" cy="2384808"/>
            </p:xfrm>
            <a:graphic>
              <a:graphicData uri="http://schemas.openxmlformats.org/drawingml/2006/table">
                <a:tbl>
                  <a:tblPr firstRow="1" firstCol="1" bandRow="1">
                    <a:tableStyleId>{C083E6E3-FA7D-4D7B-A595-EF9225AFEA82}</a:tableStyleId>
                  </a:tblPr>
                  <a:tblGrid>
                    <a:gridCol w="2751679">
                      <a:extLst>
                        <a:ext uri="{9D8B030D-6E8A-4147-A177-3AD203B41FA5}">
                          <a16:colId xmlns:a16="http://schemas.microsoft.com/office/drawing/2014/main" val="3883489907"/>
                        </a:ext>
                      </a:extLst>
                    </a:gridCol>
                    <a:gridCol w="2133600">
                      <a:extLst>
                        <a:ext uri="{9D8B030D-6E8A-4147-A177-3AD203B41FA5}">
                          <a16:colId xmlns:a16="http://schemas.microsoft.com/office/drawing/2014/main" val="228769965"/>
                        </a:ext>
                      </a:extLst>
                    </a:gridCol>
                    <a:gridCol w="1820320">
                      <a:extLst>
                        <a:ext uri="{9D8B030D-6E8A-4147-A177-3AD203B41FA5}">
                          <a16:colId xmlns:a16="http://schemas.microsoft.com/office/drawing/2014/main" val="3255291553"/>
                        </a:ext>
                      </a:extLst>
                    </a:gridCol>
                    <a:gridCol w="664306">
                      <a:extLst>
                        <a:ext uri="{9D8B030D-6E8A-4147-A177-3AD203B41FA5}">
                          <a16:colId xmlns:a16="http://schemas.microsoft.com/office/drawing/2014/main" val="1647579129"/>
                        </a:ext>
                      </a:extLst>
                    </a:gridCol>
                  </a:tblGrid>
                  <a:tr h="36068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3716" marR="53716" marT="0" marB="0" anchor="ctr">
                        <a:blipFill>
                          <a:blip r:embed="rId3"/>
                          <a:stretch>
                            <a:fillRect t="-1695" r="-167920" b="-56610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457200" algn="ctr">
                            <a:lnSpc>
                              <a:spcPct val="150000"/>
                            </a:lnSpc>
                          </a:pPr>
                          <a:r>
                            <a:rPr lang="en-US" sz="160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Source</a:t>
                          </a:r>
                          <a:endParaRPr lang="en-IN" sz="160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endParaRPr>
                        </a:p>
                      </a:txBody>
                      <a:tcPr marL="53716" marR="53716" marT="0" marB="0"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3716" marR="53716" marT="0" marB="0" anchor="ctr">
                        <a:blipFill>
                          <a:blip r:embed="rId3"/>
                          <a:stretch>
                            <a:fillRect l="-268227" t="-1695" r="-36789" b="-56610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457200" algn="ctr">
                            <a:lnSpc>
                              <a:spcPct val="150000"/>
                            </a:lnSpc>
                          </a:pPr>
                          <a:endParaRPr lang="en-IN" sz="180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endParaRPr>
                        </a:p>
                      </a:txBody>
                      <a:tcPr marL="53716" marR="53716" marT="0" marB="0" anchor="ctr"/>
                    </a:tc>
                    <a:extLst>
                      <a:ext uri="{0D108BD9-81ED-4DB2-BD59-A6C34878D82A}">
                        <a16:rowId xmlns:a16="http://schemas.microsoft.com/office/drawing/2014/main" val="2426713918"/>
                      </a:ext>
                    </a:extLst>
                  </a:tr>
                  <a:tr h="92998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3716" marR="53716" marT="0" marB="0" anchor="ctr">
                        <a:blipFill>
                          <a:blip r:embed="rId3"/>
                          <a:stretch>
                            <a:fillRect t="-39216" r="-167920" b="-11830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457200" algn="ctr">
                            <a:lnSpc>
                              <a:spcPct val="150000"/>
                            </a:lnSpc>
                          </a:pPr>
                          <a:r>
                            <a:rPr lang="en-US" sz="160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Happel and Brenner (1991)</a:t>
                          </a:r>
                          <a:endParaRPr lang="en-IN" sz="160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endParaRPr>
                        </a:p>
                      </a:txBody>
                      <a:tcPr marL="53716" marR="53716" marT="0" marB="0"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3716" marR="53716" marT="0" marB="0" anchor="ctr">
                        <a:blipFill>
                          <a:blip r:embed="rId3"/>
                          <a:stretch>
                            <a:fillRect l="-268227" t="-39216" r="-36789" b="-11830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457200" algn="ctr">
                            <a:lnSpc>
                              <a:spcPct val="150000"/>
                            </a:lnSpc>
                          </a:pPr>
                          <a:endParaRPr lang="en-US" sz="120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endParaRPr>
                        </a:p>
                        <a:p>
                          <a:pPr marL="457200" algn="ctr">
                            <a:lnSpc>
                              <a:spcPct val="150000"/>
                            </a:lnSpc>
                          </a:pPr>
                          <a:r>
                            <a:rPr lang="en-US" sz="1200">
                              <a:effectLst/>
                              <a:latin typeface="Arial" panose="020B0604020202020204" pitchFamily="34" charset="0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  <a:t>1</a:t>
                          </a:r>
                          <a:endParaRPr lang="en-IN" sz="120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endParaRPr>
                        </a:p>
                      </a:txBody>
                      <a:tcPr marL="53716" marR="53716" marT="0" marB="0" anchor="ctr"/>
                    </a:tc>
                    <a:extLst>
                      <a:ext uri="{0D108BD9-81ED-4DB2-BD59-A6C34878D82A}">
                        <a16:rowId xmlns:a16="http://schemas.microsoft.com/office/drawing/2014/main" val="1419726756"/>
                      </a:ext>
                    </a:extLst>
                  </a:tr>
                  <a:tr h="1094146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3716" marR="53716" marT="0" marB="0" anchor="ctr">
                        <a:blipFill>
                          <a:blip r:embed="rId3"/>
                          <a:stretch>
                            <a:fillRect t="-118333" r="-167920" b="-55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457200" algn="ctr">
                            <a:lnSpc>
                              <a:spcPct val="150000"/>
                            </a:lnSpc>
                          </a:pPr>
                          <a:r>
                            <a:rPr lang="en-US" sz="160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Davies (1952)</a:t>
                          </a:r>
                          <a:endParaRPr lang="en-IN" sz="160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endParaRPr>
                        </a:p>
                      </a:txBody>
                      <a:tcPr marL="53716" marR="53716" marT="0" marB="0"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3716" marR="53716" marT="0" marB="0" anchor="ctr">
                        <a:blipFill>
                          <a:blip r:embed="rId3"/>
                          <a:stretch>
                            <a:fillRect l="-268227" t="-118333" r="-36789" b="-55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457200" algn="ctr">
                            <a:lnSpc>
                              <a:spcPct val="150000"/>
                            </a:lnSpc>
                          </a:pPr>
                          <a:endParaRPr lang="en-US" sz="120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endParaRPr>
                        </a:p>
                        <a:p>
                          <a:pPr marL="457200" algn="ctr">
                            <a:lnSpc>
                              <a:spcPct val="150000"/>
                            </a:lnSpc>
                          </a:pPr>
                          <a:r>
                            <a:rPr lang="en-US" sz="1200">
                              <a:effectLst/>
                              <a:latin typeface="Arial" panose="020B0604020202020204" pitchFamily="34" charset="0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  <a:t>2</a:t>
                          </a:r>
                          <a:endParaRPr lang="en-IN" sz="120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endParaRPr>
                        </a:p>
                      </a:txBody>
                      <a:tcPr marL="53716" marR="53716" marT="0" marB="0" anchor="ctr"/>
                    </a:tc>
                    <a:extLst>
                      <a:ext uri="{0D108BD9-81ED-4DB2-BD59-A6C34878D82A}">
                        <a16:rowId xmlns:a16="http://schemas.microsoft.com/office/drawing/2014/main" val="2515625790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32CB4F6A-F3D7-468C-804D-4CC64B26B19E}"/>
              </a:ext>
            </a:extLst>
          </p:cNvPr>
          <p:cNvSpPr txBox="1"/>
          <p:nvPr/>
        </p:nvSpPr>
        <p:spPr>
          <a:xfrm>
            <a:off x="4867293" y="629470"/>
            <a:ext cx="55652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Permeability models</a:t>
            </a:r>
            <a:endParaRPr lang="en-IN" sz="2400" b="1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54B6E59F-E58B-413C-9601-4B2E62095F0B}"/>
                  </a:ext>
                </a:extLst>
              </p:cNvPr>
              <p:cNvSpPr txBox="1"/>
              <p:nvPr/>
            </p:nvSpPr>
            <p:spPr>
              <a:xfrm>
                <a:off x="4200664" y="4236097"/>
                <a:ext cx="7991335" cy="170764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>
                    <a:latin typeface="Arial" panose="020B0604020202020204" pitchFamily="34" charset="0"/>
                    <a:cs typeface="Arial" panose="020B0604020202020204" pitchFamily="34" charset="0"/>
                  </a:rPr>
                  <a:t>Van Sarloos (1987) also predicted (1)</a:t>
                </a: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i="1">
                    <a:latin typeface="Arial" panose="020B0604020202020204" pitchFamily="34" charset="0"/>
                    <a:cs typeface="Arial" panose="020B0604020202020204" pitchFamily="34" charset="0"/>
                  </a:rPr>
                  <a:t>C </a:t>
                </a:r>
                <a:r>
                  <a:rPr lang="en-US">
                    <a:latin typeface="Arial" panose="020B0604020202020204" pitchFamily="34" charset="0"/>
                    <a:cs typeface="Arial" panose="020B0604020202020204" pitchFamily="34" charset="0"/>
                  </a:rPr>
                  <a:t>was assumed to be unity (since one or two particles will be within 2a)</a:t>
                </a: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𝜅</m:t>
                        </m:r>
                      </m:e>
                    </m:rad>
                  </m:oMath>
                </a14:m>
                <a:r>
                  <a:rPr lang="en-IN">
                    <a:latin typeface="Arial" panose="020B0604020202020204" pitchFamily="34" charset="0"/>
                    <a:cs typeface="Arial" panose="020B0604020202020204" pitchFamily="34" charset="0"/>
                  </a:rPr>
                  <a:t> was called the penetration length.</a:t>
                </a: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IN">
                    <a:latin typeface="Arial" panose="020B0604020202020204" pitchFamily="34" charset="0"/>
                    <a:cs typeface="Arial" panose="020B0604020202020204" pitchFamily="34" charset="0"/>
                  </a:rPr>
                  <a:t>All other permeability models are functions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𝜅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𝐷𝐿</m:t>
                        </m:r>
                      </m:sub>
                    </m:sSub>
                  </m:oMath>
                </a14:m>
                <a:r>
                  <a:rPr lang="en-IN">
                    <a:latin typeface="Arial" panose="020B0604020202020204" pitchFamily="34" charset="0"/>
                    <a:cs typeface="Arial" panose="020B0604020202020204" pitchFamily="34" charset="0"/>
                  </a:rPr>
                  <a:t>.</a:t>
                </a: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54B6E59F-E58B-413C-9601-4B2E62095F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00664" y="4236097"/>
                <a:ext cx="7991335" cy="1707647"/>
              </a:xfrm>
              <a:prstGeom prst="rect">
                <a:avLst/>
              </a:prstGeom>
              <a:blipFill>
                <a:blip r:embed="rId4"/>
                <a:stretch>
                  <a:fillRect l="-458" b="-500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Rectangle 8">
            <a:extLst>
              <a:ext uri="{FF2B5EF4-FFF2-40B4-BE49-F238E27FC236}">
                <a16:creationId xmlns:a16="http://schemas.microsoft.com/office/drawing/2014/main" id="{82D042E4-698F-402C-A2C5-E732239318A0}"/>
              </a:ext>
            </a:extLst>
          </p:cNvPr>
          <p:cNvSpPr/>
          <p:nvPr/>
        </p:nvSpPr>
        <p:spPr>
          <a:xfrm>
            <a:off x="174171" y="188686"/>
            <a:ext cx="11843657" cy="645885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382BC08-84BB-4F70-94B5-3935C26C80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3CAD28-B1A9-4A64-9DD6-3376C7DEC3B0}" type="slidenum">
              <a:rPr lang="en-IN" smtClean="0"/>
              <a:t>41</a:t>
            </a:fld>
            <a:endParaRPr lang="en-I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7131A53-F35F-4A6F-B7D2-5758B9AC1EF7}"/>
              </a:ext>
            </a:extLst>
          </p:cNvPr>
          <p:cNvSpPr txBox="1"/>
          <p:nvPr/>
        </p:nvSpPr>
        <p:spPr>
          <a:xfrm>
            <a:off x="214688" y="6125517"/>
            <a:ext cx="383195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/>
              <a:t>*Van Sarloos(1987)</a:t>
            </a:r>
          </a:p>
          <a:p>
            <a:r>
              <a:rPr lang="en-US" sz="1200"/>
              <a:t>*Veerapaneni(2000)</a:t>
            </a:r>
            <a:endParaRPr lang="en-IN" sz="1200"/>
          </a:p>
        </p:txBody>
      </p:sp>
    </p:spTree>
    <p:extLst>
      <p:ext uri="{BB962C8B-B14F-4D97-AF65-F5344CB8AC3E}">
        <p14:creationId xmlns:p14="http://schemas.microsoft.com/office/powerpoint/2010/main" val="13743980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9657"/>
    </mc:Choice>
    <mc:Fallback xmlns="">
      <p:transition spd="slow" advTm="59657"/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DBB61007-A064-4E30-A9D5-329AA25A8FD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229" b="6068"/>
          <a:stretch/>
        </p:blipFill>
        <p:spPr>
          <a:xfrm>
            <a:off x="4968600" y="3358946"/>
            <a:ext cx="3398750" cy="2930008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3ED50315-3168-4B28-ACBB-ADC615B7BB7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5792" b="7401"/>
          <a:stretch/>
        </p:blipFill>
        <p:spPr>
          <a:xfrm>
            <a:off x="1228495" y="352270"/>
            <a:ext cx="3447032" cy="2888424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EEBE8FA1-779E-4C94-B768-A9E1B6A7F38D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6697" b="8604"/>
          <a:stretch/>
        </p:blipFill>
        <p:spPr>
          <a:xfrm>
            <a:off x="1276777" y="3298605"/>
            <a:ext cx="3398750" cy="293000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B87F6DF-CEAF-43F2-96E5-10D5D86A8744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4183" b="6958"/>
          <a:stretch/>
        </p:blipFill>
        <p:spPr>
          <a:xfrm>
            <a:off x="4973855" y="403028"/>
            <a:ext cx="3398750" cy="287538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D26D1C0-E250-4438-9650-9623EBE496AC}"/>
              </a:ext>
            </a:extLst>
          </p:cNvPr>
          <p:cNvSpPr txBox="1"/>
          <p:nvPr/>
        </p:nvSpPr>
        <p:spPr>
          <a:xfrm>
            <a:off x="3525170" y="6215594"/>
            <a:ext cx="412365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/>
              <a:t>Number of monomers (N)</a:t>
            </a:r>
            <a:endParaRPr lang="en-IN" sz="1400" b="1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494FED25-54E7-401B-BFEE-7B79D20A6009}"/>
              </a:ext>
            </a:extLst>
          </p:cNvPr>
          <p:cNvCxnSpPr/>
          <p:nvPr/>
        </p:nvCxnSpPr>
        <p:spPr>
          <a:xfrm>
            <a:off x="5586999" y="6369482"/>
            <a:ext cx="165462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50AA9CA8-A9FD-48F9-9A3C-47647D165DB0}"/>
                  </a:ext>
                </a:extLst>
              </p:cNvPr>
              <p:cNvSpPr txBox="1"/>
              <p:nvPr/>
            </p:nvSpPr>
            <p:spPr>
              <a:xfrm rot="16200000">
                <a:off x="-260888" y="3132238"/>
                <a:ext cx="2074332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400" b="1"/>
                  <a:t>Penetration depth 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400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400" b="1" i="1" smtClean="0">
                            <a:latin typeface="Cambria Math" panose="02040503050406030204" pitchFamily="18" charset="0"/>
                          </a:rPr>
                          <m:t>𝜹</m:t>
                        </m:r>
                      </m:e>
                      <m:sup>
                        <m:r>
                          <a:rPr lang="en-US" sz="1400" b="1" i="1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sz="1400" b="1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IN" sz="1400" b="1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50AA9CA8-A9FD-48F9-9A3C-47647D165D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-260888" y="3132238"/>
                <a:ext cx="2074332" cy="307777"/>
              </a:xfrm>
              <a:prstGeom prst="rect">
                <a:avLst/>
              </a:prstGeom>
              <a:blipFill>
                <a:blip r:embed="rId6"/>
                <a:stretch>
                  <a:fillRect l="-3922" r="-19608" b="-882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979B84CE-7C1C-4FD7-AA56-F65151842E55}"/>
              </a:ext>
            </a:extLst>
          </p:cNvPr>
          <p:cNvCxnSpPr/>
          <p:nvPr/>
        </p:nvCxnSpPr>
        <p:spPr>
          <a:xfrm flipV="1">
            <a:off x="776278" y="1170297"/>
            <a:ext cx="0" cy="129785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90FB37E5-0CF0-43BF-AFF3-E34BC1AEA9E2}"/>
              </a:ext>
            </a:extLst>
          </p:cNvPr>
          <p:cNvSpPr txBox="1"/>
          <p:nvPr/>
        </p:nvSpPr>
        <p:spPr>
          <a:xfrm>
            <a:off x="9178248" y="403028"/>
            <a:ext cx="357051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>
                <a:solidFill>
                  <a:srgbClr val="C00000"/>
                </a:solidFill>
              </a:rPr>
              <a:t>Comparison</a:t>
            </a:r>
            <a:endParaRPr lang="en-IN" sz="2400" b="1">
              <a:solidFill>
                <a:srgbClr val="C0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96304C81-8961-4793-8188-1BBDA8CDCAF5}"/>
                  </a:ext>
                </a:extLst>
              </p:cNvPr>
              <p:cNvSpPr txBox="1"/>
              <p:nvPr/>
            </p:nvSpPr>
            <p:spPr>
              <a:xfrm>
                <a:off x="8367350" y="1170297"/>
                <a:ext cx="3294743" cy="337066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sz="1600">
                    <a:latin typeface="Arial" panose="020B0604020202020204" pitchFamily="34" charset="0"/>
                    <a:cs typeface="Arial" panose="020B0604020202020204" pitchFamily="34" charset="0"/>
                  </a:rPr>
                  <a:t>Values are comparable to the ones obtained by Davies.</a:t>
                </a: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sz="1600">
                    <a:latin typeface="Arial" panose="020B0604020202020204" pitchFamily="34" charset="0"/>
                    <a:cs typeface="Arial" panose="020B0604020202020204" pitchFamily="34" charset="0"/>
                  </a:rPr>
                  <a:t>The decline slows down as N increases.</a:t>
                </a: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sz="1600">
                    <a:solidFill>
                      <a:srgbClr val="C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Approaches a constant value at large N</a:t>
                </a: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sz="1600">
                    <a:solidFill>
                      <a:srgbClr val="C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Other empirical models show a decline in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6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pPr>
                      <m:e>
                        <m:r>
                          <a:rPr lang="en-US" sz="16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𝛿</m:t>
                        </m:r>
                      </m:e>
                      <m:sup>
                        <m:r>
                          <a:rPr lang="en-US" sz="16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sz="1600">
                    <a:solidFill>
                      <a:srgbClr val="C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as N increases</a:t>
                </a:r>
                <a:r>
                  <a:rPr lang="en-US" sz="1600">
                    <a:latin typeface="Arial" panose="020B0604020202020204" pitchFamily="34" charset="0"/>
                    <a:cs typeface="Arial" panose="020B0604020202020204" pitchFamily="34" charset="0"/>
                  </a:rPr>
                  <a:t>.</a:t>
                </a: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endParaRPr lang="en-IN" sz="160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96304C81-8961-4793-8188-1BBDA8CDCAF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67350" y="1170297"/>
                <a:ext cx="3294743" cy="3370666"/>
              </a:xfrm>
              <a:prstGeom prst="rect">
                <a:avLst/>
              </a:prstGeom>
              <a:blipFill>
                <a:blip r:embed="rId7"/>
                <a:stretch>
                  <a:fillRect l="-741" r="-166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Rectangle 11">
            <a:extLst>
              <a:ext uri="{FF2B5EF4-FFF2-40B4-BE49-F238E27FC236}">
                <a16:creationId xmlns:a16="http://schemas.microsoft.com/office/drawing/2014/main" id="{6B32895F-0676-4883-BEE7-60AF5E7A0CFC}"/>
              </a:ext>
            </a:extLst>
          </p:cNvPr>
          <p:cNvSpPr/>
          <p:nvPr/>
        </p:nvSpPr>
        <p:spPr>
          <a:xfrm>
            <a:off x="174171" y="188686"/>
            <a:ext cx="11843657" cy="645885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1D0798E0-ED3A-48AD-B3FF-89CA776349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3CAD28-B1A9-4A64-9DD6-3376C7DEC3B0}" type="slidenum">
              <a:rPr lang="en-IN" smtClean="0"/>
              <a:t>42</a:t>
            </a:fld>
            <a:endParaRPr lang="en-IN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F9091F6-B2DA-4FCF-83F5-A30C5C821178}"/>
              </a:ext>
            </a:extLst>
          </p:cNvPr>
          <p:cNvSpPr txBox="1"/>
          <p:nvPr/>
        </p:nvSpPr>
        <p:spPr>
          <a:xfrm>
            <a:off x="204705" y="6354093"/>
            <a:ext cx="283958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/>
              <a:t>*Davies(1948)</a:t>
            </a:r>
            <a:endParaRPr lang="en-IN" sz="1200"/>
          </a:p>
        </p:txBody>
      </p:sp>
    </p:spTree>
    <p:extLst>
      <p:ext uri="{BB962C8B-B14F-4D97-AF65-F5344CB8AC3E}">
        <p14:creationId xmlns:p14="http://schemas.microsoft.com/office/powerpoint/2010/main" val="36425624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1009"/>
    </mc:Choice>
    <mc:Fallback xmlns="">
      <p:transition spd="slow" advTm="31009"/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84430AF-2892-43AA-8753-90DF9B8C43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3CAD28-B1A9-4A64-9DD6-3376C7DEC3B0}" type="slidenum">
              <a:rPr lang="en-IN" smtClean="0"/>
              <a:t>43</a:t>
            </a:fld>
            <a:endParaRPr lang="en-I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9BE26CBF-5A7B-4E55-AB62-CEF4555408A5}"/>
                  </a:ext>
                </a:extLst>
              </p:cNvPr>
              <p:cNvSpPr txBox="1"/>
              <p:nvPr/>
            </p:nvSpPr>
            <p:spPr>
              <a:xfrm>
                <a:off x="174171" y="616372"/>
                <a:ext cx="11574379" cy="600048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>
                  <a:lnSpc>
                    <a:spcPct val="200000"/>
                  </a:lnSpc>
                </a:pPr>
                <a:r>
                  <a:rPr lang="en-US" b="1">
                    <a:solidFill>
                      <a:srgbClr val="C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Davies(1948) permeability expression and Kim et.al(2002) study</a:t>
                </a:r>
              </a:p>
              <a:p>
                <a:pPr marL="285750" indent="-285750">
                  <a:lnSpc>
                    <a:spcPct val="200000"/>
                  </a:lnSpc>
                  <a:buFont typeface="Arial" panose="020B0604020202020204" pitchFamily="34" charset="0"/>
                  <a:buChar char="•"/>
                </a:pPr>
                <a:r>
                  <a:rPr lang="en-US">
                    <a:solidFill>
                      <a:srgbClr val="C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Davies(1948) equation</a:t>
                </a:r>
              </a:p>
              <a:p>
                <a:pPr marL="742950" lvl="1" indent="-285750">
                  <a:lnSpc>
                    <a:spcPct val="200000"/>
                  </a:lnSpc>
                  <a:buFont typeface="Arial" panose="020B0604020202020204" pitchFamily="34" charset="0"/>
                  <a:buChar char="•"/>
                </a:pPr>
                <a:r>
                  <a:rPr lang="en-US">
                    <a:latin typeface="Arial" panose="020B0604020202020204" pitchFamily="34" charset="0"/>
                    <a:cs typeface="Arial" panose="020B0604020202020204" pitchFamily="34" charset="0"/>
                  </a:rPr>
                  <a:t>For fibrous porous media where fibers are clusters together realistically.</a:t>
                </a:r>
              </a:p>
              <a:p>
                <a:pPr marL="742950" lvl="1" indent="-285750">
                  <a:lnSpc>
                    <a:spcPct val="200000"/>
                  </a:lnSpc>
                  <a:buFont typeface="Arial" panose="020B0604020202020204" pitchFamily="34" charset="0"/>
                  <a:buChar char="•"/>
                </a:pPr>
                <a:r>
                  <a:rPr lang="en-US">
                    <a:latin typeface="Arial" panose="020B0604020202020204" pitchFamily="34" charset="0"/>
                    <a:cs typeface="Arial" panose="020B0604020202020204" pitchFamily="34" charset="0"/>
                  </a:rPr>
                  <a:t>Appropriate for highly porous fractal aggregate [Kim et.al (2002)]</a:t>
                </a:r>
              </a:p>
              <a:p>
                <a:pPr marL="285750" indent="-285750">
                  <a:lnSpc>
                    <a:spcPct val="200000"/>
                  </a:lnSpc>
                  <a:buFont typeface="Arial" panose="020B0604020202020204" pitchFamily="34" charset="0"/>
                  <a:buChar char="•"/>
                </a:pPr>
                <a:r>
                  <a:rPr lang="en-US">
                    <a:solidFill>
                      <a:srgbClr val="C00000"/>
                    </a:solidFill>
                    <a:effectLst/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Kim et.al </a:t>
                </a:r>
                <a:r>
                  <a:rPr lang="en-US">
                    <a:effectLst/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(2002) used Stokesian Dynamics to obtain fluid velocity indirectly.</a:t>
                </a:r>
              </a:p>
              <a:p>
                <a:pPr marL="742950" lvl="1" indent="-285750">
                  <a:lnSpc>
                    <a:spcPct val="200000"/>
                  </a:lnSpc>
                  <a:buFont typeface="Arial" panose="020B0604020202020204" pitchFamily="34" charset="0"/>
                  <a:buChar char="•"/>
                </a:pPr>
                <a:r>
                  <a:rPr lang="en-US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U</a:t>
                </a:r>
                <a:r>
                  <a:rPr lang="en-US">
                    <a:effectLst/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sed “tracer” particle of radius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10</m:t>
                        </m:r>
                      </m:e>
                      <m:sup>
                        <m:r>
                          <a:rPr lang="en-US" b="0" i="1" smtClean="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−3</m:t>
                        </m:r>
                      </m:sup>
                    </m:sSup>
                    <m:r>
                      <a:rPr lang="en-US" b="0" i="1" smtClea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𝑎</m:t>
                    </m:r>
                  </m:oMath>
                </a14:m>
                <a:r>
                  <a:rPr lang="en-US">
                    <a:effectLst/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 flowing through the aggregate.</a:t>
                </a:r>
              </a:p>
              <a:p>
                <a:pPr marL="742950" lvl="1" indent="-285750">
                  <a:lnSpc>
                    <a:spcPct val="200000"/>
                  </a:lnSpc>
                  <a:buFont typeface="Arial" panose="020B0604020202020204" pitchFamily="34" charset="0"/>
                  <a:buChar char="•"/>
                </a:pPr>
                <a:r>
                  <a:rPr lang="en-US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Davies(1948) expression (dotted lines) - </a:t>
                </a:r>
                <a:r>
                  <a:rPr lang="en-US">
                    <a:effectLst/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velocity matching with  Kim et.al(2002) near the ends of the cluster. </a:t>
                </a:r>
              </a:p>
              <a:p>
                <a:pPr marL="742950" lvl="1" indent="-285750">
                  <a:lnSpc>
                    <a:spcPct val="200000"/>
                  </a:lnSpc>
                  <a:buFont typeface="Arial" panose="020B0604020202020204" pitchFamily="34" charset="0"/>
                  <a:buChar char="•"/>
                </a:pPr>
                <a:r>
                  <a:rPr lang="en-US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Velocity </a:t>
                </a:r>
                <a:r>
                  <a:rPr lang="en-US">
                    <a:effectLst/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obtained by Kim et.al(2002) excellent agreement with Brinkman(1947) equation in conjunction with Davies permeability expression(straight line) 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𝐷</m:t>
                        </m:r>
                      </m:e>
                      <m:sub>
                        <m:r>
                          <a:rPr lang="en-US" b="0" i="1" smtClean="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𝑓</m:t>
                        </m:r>
                      </m:sub>
                    </m:sSub>
                    <m:r>
                      <a:rPr lang="en-US" b="0" i="1" smtClea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&lt;2</m:t>
                    </m:r>
                  </m:oMath>
                </a14:m>
                <a:r>
                  <a:rPr lang="en-US">
                    <a:latin typeface="Arial" panose="020B0604020202020204" pitchFamily="34" charset="0"/>
                    <a:cs typeface="Arial" panose="020B0604020202020204" pitchFamily="34" charset="0"/>
                  </a:rPr>
                  <a:t>.</a:t>
                </a:r>
              </a:p>
              <a:p>
                <a:pPr>
                  <a:lnSpc>
                    <a:spcPct val="150000"/>
                  </a:lnSpc>
                </a:pPr>
                <a:endParaRPr lang="en-IN" sz="160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9BE26CBF-5A7B-4E55-AB62-CEF4555408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4171" y="616372"/>
                <a:ext cx="11574379" cy="6000489"/>
              </a:xfrm>
              <a:prstGeom prst="rect">
                <a:avLst/>
              </a:prstGeom>
              <a:blipFill>
                <a:blip r:embed="rId2"/>
                <a:stretch>
                  <a:fillRect l="-36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2A92D5DF-0464-47EF-93FC-38638C767DAE}"/>
              </a:ext>
            </a:extLst>
          </p:cNvPr>
          <p:cNvSpPr/>
          <p:nvPr/>
        </p:nvSpPr>
        <p:spPr>
          <a:xfrm>
            <a:off x="174171" y="188686"/>
            <a:ext cx="11843657" cy="645885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C053D1C-FB7C-4E67-81CF-9C277C06EB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64205" y="1728594"/>
            <a:ext cx="2435990" cy="223503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22419CB-5675-4313-AD75-EECCD4EA7048}"/>
              </a:ext>
            </a:extLst>
          </p:cNvPr>
          <p:cNvSpPr txBox="1"/>
          <p:nvPr/>
        </p:nvSpPr>
        <p:spPr>
          <a:xfrm>
            <a:off x="9712922" y="1302999"/>
            <a:ext cx="203562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>
                <a:latin typeface="Arial" panose="020B0604020202020204" pitchFamily="34" charset="0"/>
                <a:cs typeface="Arial" panose="020B0604020202020204" pitchFamily="34" charset="0"/>
              </a:rPr>
              <a:t>*Kim et.al (2002)</a:t>
            </a:r>
            <a:endParaRPr lang="en-IN" sz="1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95F065F-59B2-4F69-B6B1-7C5AE247D94C}"/>
              </a:ext>
            </a:extLst>
          </p:cNvPr>
          <p:cNvSpPr txBox="1"/>
          <p:nvPr/>
        </p:nvSpPr>
        <p:spPr>
          <a:xfrm>
            <a:off x="174171" y="6356350"/>
            <a:ext cx="196434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/>
              <a:t>*Kim et.al (2002)</a:t>
            </a:r>
            <a:endParaRPr lang="en-IN" sz="1200"/>
          </a:p>
        </p:txBody>
      </p:sp>
    </p:spTree>
    <p:extLst>
      <p:ext uri="{BB962C8B-B14F-4D97-AF65-F5344CB8AC3E}">
        <p14:creationId xmlns:p14="http://schemas.microsoft.com/office/powerpoint/2010/main" val="13336949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8853"/>
    </mc:Choice>
    <mc:Fallback xmlns="">
      <p:transition spd="slow" advTm="108853"/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ED9E7AA-75A5-4E49-978C-03F840059D8E}"/>
              </a:ext>
            </a:extLst>
          </p:cNvPr>
          <p:cNvSpPr/>
          <p:nvPr/>
        </p:nvSpPr>
        <p:spPr>
          <a:xfrm>
            <a:off x="174171" y="188686"/>
            <a:ext cx="11843657" cy="645885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B96DCDC-C755-403A-BF68-39E5DDD972EE}"/>
              </a:ext>
            </a:extLst>
          </p:cNvPr>
          <p:cNvSpPr txBox="1"/>
          <p:nvPr/>
        </p:nvSpPr>
        <p:spPr>
          <a:xfrm>
            <a:off x="5457372" y="493485"/>
            <a:ext cx="400594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Conclusion</a:t>
            </a:r>
            <a:endParaRPr lang="en-IN" sz="2400" b="1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FE9B61-6F56-4435-8E57-FEBAA344D1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3CAD28-B1A9-4A64-9DD6-3376C7DEC3B0}" type="slidenum">
              <a:rPr lang="en-IN" smtClean="0"/>
              <a:t>44</a:t>
            </a:fld>
            <a:endParaRPr lang="en-I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4AA4EFDD-A853-483F-96A1-C3B7DD4C62F7}"/>
                  </a:ext>
                </a:extLst>
              </p:cNvPr>
              <p:cNvSpPr txBox="1"/>
              <p:nvPr/>
            </p:nvSpPr>
            <p:spPr>
              <a:xfrm>
                <a:off x="439992" y="1241705"/>
                <a:ext cx="11312013" cy="473437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600">
                    <a:solidFill>
                      <a:srgbClr val="C00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Arial" panose="020B0604020202020204" pitchFamily="34" charset="0"/>
                    <a:cs typeface="Arial" panose="020B0604020202020204" pitchFamily="34" charset="0"/>
                  </a:rPr>
                  <a:t>Hydrodynamic studies</a:t>
                </a: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/</m:t>
                    </m:r>
                    <m:sSub>
                      <m:sSub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</m:sub>
                    </m:sSub>
                  </m:oMath>
                </a14:m>
                <a:r>
                  <a:rPr lang="en-US" sz="1600">
                    <a:latin typeface="Arial" panose="020B0604020202020204" pitchFamily="34" charset="0"/>
                    <a:cs typeface="Arial" panose="020B0604020202020204" pitchFamily="34" charset="0"/>
                  </a:rPr>
                  <a:t> studied for a wide range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sub>
                    </m:sSub>
                  </m:oMath>
                </a14:m>
                <a:r>
                  <a:rPr lang="en-US" sz="1600">
                    <a:latin typeface="Arial" panose="020B0604020202020204" pitchFamily="34" charset="0"/>
                    <a:cs typeface="Arial" panose="020B0604020202020204" pitchFamily="34" charset="0"/>
                  </a:rPr>
                  <a:t> and fractal types.</a:t>
                </a: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/</m:t>
                    </m:r>
                    <m:sSub>
                      <m:sSub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</m:sub>
                    </m:sSub>
                  </m:oMath>
                </a14:m>
                <a:r>
                  <a:rPr lang="en-IN" sz="1600">
                    <a:latin typeface="Arial" panose="020B0604020202020204" pitchFamily="34" charset="0"/>
                    <a:cs typeface="Arial" panose="020B0604020202020204" pitchFamily="34" charset="0"/>
                  </a:rPr>
                  <a:t> relationship with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sub>
                    </m:sSub>
                  </m:oMath>
                </a14:m>
                <a:r>
                  <a:rPr lang="en-IN" sz="1600">
                    <a:latin typeface="Arial" panose="020B0604020202020204" pitchFamily="34" charset="0"/>
                    <a:cs typeface="Arial" panose="020B0604020202020204" pitchFamily="34" charset="0"/>
                  </a:rPr>
                  <a:t> established and few results match exactly with previous works.</a:t>
                </a: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IN" sz="1600">
                    <a:latin typeface="Arial" panose="020B0604020202020204" pitchFamily="34" charset="0"/>
                    <a:cs typeface="Arial" panose="020B0604020202020204" pitchFamily="34" charset="0"/>
                  </a:rPr>
                  <a:t>Independent nature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/</m:t>
                    </m:r>
                    <m:sSub>
                      <m:sSub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</m:sub>
                    </m:sSub>
                  </m:oMath>
                </a14:m>
                <a:r>
                  <a:rPr lang="en-IN" sz="1600">
                    <a:latin typeface="Arial" panose="020B0604020202020204" pitchFamily="34" charset="0"/>
                    <a:cs typeface="Arial" panose="020B0604020202020204" pitchFamily="34" charset="0"/>
                  </a:rPr>
                  <a:t> with N clearly shown – with better results</a:t>
                </a:r>
              </a:p>
              <a:p>
                <a:pPr marL="742950" lvl="1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IN" sz="1600">
                    <a:latin typeface="Arial" panose="020B0604020202020204" pitchFamily="34" charset="0"/>
                    <a:cs typeface="Arial" panose="020B0604020202020204" pitchFamily="34" charset="0"/>
                  </a:rPr>
                  <a:t>Nyugen and Chopard(2007) – Used LBM to simulate till N = 20000 to show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/</m:t>
                    </m:r>
                    <m:sSub>
                      <m:sSub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</m:sub>
                    </m:sSub>
                  </m:oMath>
                </a14:m>
                <a:r>
                  <a:rPr lang="en-IN" sz="1600">
                    <a:latin typeface="Arial" panose="020B0604020202020204" pitchFamily="34" charset="0"/>
                    <a:cs typeface="Arial" panose="020B0604020202020204" pitchFamily="34" charset="0"/>
                  </a:rPr>
                  <a:t> is independent with N.</a:t>
                </a:r>
              </a:p>
              <a:p>
                <a:pPr marL="742950" lvl="1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IN" sz="1600">
                    <a:latin typeface="Arial" panose="020B0604020202020204" pitchFamily="34" charset="0"/>
                    <a:cs typeface="Arial" panose="020B0604020202020204" pitchFamily="34" charset="0"/>
                  </a:rPr>
                  <a:t>Kirkwood-Riseman theory: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/</m:t>
                    </m:r>
                    <m:sSub>
                      <m:sSub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</m:sub>
                    </m:sSub>
                  </m:oMath>
                </a14:m>
                <a:r>
                  <a:rPr lang="en-IN" sz="1600">
                    <a:latin typeface="Arial" panose="020B0604020202020204" pitchFamily="34" charset="0"/>
                    <a:cs typeface="Arial" panose="020B0604020202020204" pitchFamily="34" charset="0"/>
                  </a:rPr>
                  <a:t> was not shown for large N. Still conclusive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r>
                      <a:rPr lang="en-US" sz="1600" i="1">
                        <a:latin typeface="Cambria Math" panose="02040503050406030204" pitchFamily="18" charset="0"/>
                      </a:rPr>
                      <m:t>/</m:t>
                    </m:r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𝑔</m:t>
                        </m:r>
                      </m:sub>
                    </m:sSub>
                  </m:oMath>
                </a14:m>
                <a:r>
                  <a:rPr lang="en-IN" sz="1600">
                    <a:latin typeface="Arial" panose="020B0604020202020204" pitchFamily="34" charset="0"/>
                    <a:cs typeface="Arial" panose="020B0604020202020204" pitchFamily="34" charset="0"/>
                  </a:rPr>
                  <a:t> does not depend on N.</a:t>
                </a:r>
              </a:p>
              <a:p>
                <a:pPr marL="742950" lvl="1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IN" sz="1600">
                    <a:latin typeface="Arial" panose="020B0604020202020204" pitchFamily="34" charset="0"/>
                    <a:cs typeface="Arial" panose="020B0604020202020204" pitchFamily="34" charset="0"/>
                  </a:rPr>
                  <a:t>Porous sphere models: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/</m:t>
                    </m:r>
                    <m:sSub>
                      <m:sSub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</m:sub>
                    </m:sSub>
                  </m:oMath>
                </a14:m>
                <a:r>
                  <a:rPr lang="en-IN" sz="1600">
                    <a:latin typeface="Arial" panose="020B0604020202020204" pitchFamily="34" charset="0"/>
                    <a:cs typeface="Arial" panose="020B0604020202020204" pitchFamily="34" charset="0"/>
                  </a:rPr>
                  <a:t> varies with N.</a:t>
                </a:r>
              </a:p>
              <a:p>
                <a:pPr>
                  <a:lnSpc>
                    <a:spcPct val="150000"/>
                  </a:lnSpc>
                </a:pPr>
                <a:r>
                  <a:rPr lang="en-IN" sz="1600">
                    <a:solidFill>
                      <a:srgbClr val="C00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Arial" panose="020B0604020202020204" pitchFamily="34" charset="0"/>
                    <a:cs typeface="Arial" panose="020B0604020202020204" pitchFamily="34" charset="0"/>
                  </a:rPr>
                  <a:t>Velocity studies</a:t>
                </a: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IN" sz="1600">
                    <a:solidFill>
                      <a:srgbClr val="C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Penetration depth obtained from velocity varying radially</a:t>
                </a: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𝛿</m:t>
                        </m:r>
                      </m:e>
                      <m:sup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IN" sz="1600">
                    <a:latin typeface="Arial" panose="020B0604020202020204" pitchFamily="34" charset="0"/>
                    <a:cs typeface="Arial" panose="020B0604020202020204" pitchFamily="34" charset="0"/>
                  </a:rPr>
                  <a:t> slowly approaches a constant value with N.</a:t>
                </a: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𝛿</m:t>
                        </m:r>
                      </m:e>
                      <m:sup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IN" sz="1600">
                    <a:latin typeface="Arial" panose="020B0604020202020204" pitchFamily="34" charset="0"/>
                    <a:cs typeface="Arial" panose="020B0604020202020204" pitchFamily="34" charset="0"/>
                  </a:rPr>
                  <a:t> exponential relation with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/</m:t>
                    </m:r>
                    <m:sSub>
                      <m:sSub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</m:sub>
                    </m:sSub>
                  </m:oMath>
                </a14:m>
                <a:endParaRPr lang="en-IN" sz="160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endParaRPr lang="en-IN" sz="160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endParaRPr lang="en-IN" sz="160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4AA4EFDD-A853-483F-96A1-C3B7DD4C62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9992" y="1241705"/>
                <a:ext cx="11312013" cy="4734373"/>
              </a:xfrm>
              <a:prstGeom prst="rect">
                <a:avLst/>
              </a:prstGeom>
              <a:blipFill>
                <a:blip r:embed="rId2"/>
                <a:stretch>
                  <a:fillRect l="-323" t="-51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343989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1343"/>
    </mc:Choice>
    <mc:Fallback xmlns="">
      <p:transition spd="slow" advTm="21343"/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6EF3B8-6E7E-4578-ACDB-B77C1C10710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47020" y="1505821"/>
            <a:ext cx="9144000" cy="2387600"/>
          </a:xfrm>
        </p:spPr>
        <p:txBody>
          <a:bodyPr/>
          <a:lstStyle/>
          <a:p>
            <a:r>
              <a:rPr lang="en-US" b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Thank you</a:t>
            </a:r>
            <a:endParaRPr lang="en-IN" b="1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B58862-DDE9-44FE-A25F-1105123F4B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3CAD28-B1A9-4A64-9DD6-3376C7DEC3B0}" type="slidenum">
              <a:rPr lang="en-IN" smtClean="0"/>
              <a:t>45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33070512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2D0705-B183-4E5E-BCBB-7187B5F682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353582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6600" b="1">
                <a:solidFill>
                  <a:srgbClr val="C00000"/>
                </a:solidFill>
              </a:rPr>
              <a:t>Extras</a:t>
            </a:r>
            <a:endParaRPr lang="en-IN" sz="6600" b="1">
              <a:solidFill>
                <a:srgbClr val="C00000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0863E64-78A3-4F6C-8BFD-391E68F26F0C}"/>
              </a:ext>
            </a:extLst>
          </p:cNvPr>
          <p:cNvSpPr/>
          <p:nvPr/>
        </p:nvSpPr>
        <p:spPr>
          <a:xfrm>
            <a:off x="174171" y="188686"/>
            <a:ext cx="11843657" cy="645885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788CBD-9A69-4B3A-964B-C9FE2B6B42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3CAD28-B1A9-4A64-9DD6-3376C7DEC3B0}" type="slidenum">
              <a:rPr lang="en-IN" smtClean="0"/>
              <a:t>46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53401822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4" name="Table 13">
                <a:extLst>
                  <a:ext uri="{FF2B5EF4-FFF2-40B4-BE49-F238E27FC236}">
                    <a16:creationId xmlns:a16="http://schemas.microsoft.com/office/drawing/2014/main" id="{39A684F6-C365-48DF-9C14-0627F143371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347933475"/>
                  </p:ext>
                </p:extLst>
              </p:nvPr>
            </p:nvGraphicFramePr>
            <p:xfrm>
              <a:off x="331961" y="2114189"/>
              <a:ext cx="6462977" cy="3702837"/>
            </p:xfrm>
            <a:graphic>
              <a:graphicData uri="http://schemas.openxmlformats.org/drawingml/2006/table">
                <a:tbl>
                  <a:tblPr firstRow="1" firstCol="1" bandRow="1">
                    <a:tableStyleId>{0505E3EF-67EA-436B-97B2-0124C06EBD24}</a:tableStyleId>
                  </a:tblPr>
                  <a:tblGrid>
                    <a:gridCol w="1097985">
                      <a:extLst>
                        <a:ext uri="{9D8B030D-6E8A-4147-A177-3AD203B41FA5}">
                          <a16:colId xmlns:a16="http://schemas.microsoft.com/office/drawing/2014/main" val="4039717376"/>
                        </a:ext>
                      </a:extLst>
                    </a:gridCol>
                    <a:gridCol w="5364992">
                      <a:extLst>
                        <a:ext uri="{9D8B030D-6E8A-4147-A177-3AD203B41FA5}">
                          <a16:colId xmlns:a16="http://schemas.microsoft.com/office/drawing/2014/main" val="2252130755"/>
                        </a:ext>
                      </a:extLst>
                    </a:gridCol>
                  </a:tblGrid>
                  <a:tr h="271794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400">
                              <a:effectLst/>
                            </a:rPr>
                            <a:t>Parameter</a:t>
                          </a:r>
                          <a:endParaRPr lang="en-IN" sz="1400">
                            <a:effectLst/>
                            <a:latin typeface="Arial" panose="020B06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400">
                              <a:effectLst/>
                            </a:rPr>
                            <a:t>Effects</a:t>
                          </a:r>
                          <a:endParaRPr lang="en-IN" sz="1400">
                            <a:effectLst/>
                            <a:latin typeface="Arial" panose="020B06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511444456"/>
                      </a:ext>
                    </a:extLst>
                  </a:tr>
                  <a:tr h="349327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200000"/>
                            </a:lnSpc>
                            <a:spcAft>
                              <a:spcPts val="800"/>
                            </a:spcAft>
                          </a:pPr>
                          <a14:m>
                            <m:oMath xmlns:m="http://schemas.openxmlformats.org/officeDocument/2006/math">
                              <m:r>
                                <m:rPr>
                                  <m:sty m:val="p"/>
                                </m:rPr>
                                <a:rPr lang="en-US" sz="1400" b="0">
                                  <a:effectLst/>
                                  <a:latin typeface="Cambria Math" panose="02040503050406030204" pitchFamily="18" charset="0"/>
                                </a:rPr>
                                <m:t>γ</m:t>
                              </m:r>
                            </m:oMath>
                          </a14:m>
                          <a:r>
                            <a:rPr lang="en-US" sz="1400" b="0">
                              <a:effectLst/>
                            </a:rPr>
                            <a:t> &lt; 0</a:t>
                          </a:r>
                          <a:endParaRPr lang="en-IN" sz="1400" b="0">
                            <a:effectLst/>
                            <a:latin typeface="Arial" panose="020B06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342900" lvl="0" indent="-342900">
                            <a:lnSpc>
                              <a:spcPct val="200000"/>
                            </a:lnSpc>
                            <a:spcAft>
                              <a:spcPts val="800"/>
                            </a:spcAft>
                            <a:buFont typeface="Symbol" panose="05050102010706020507" pitchFamily="18" charset="2"/>
                            <a:buChar char=""/>
                          </a:pPr>
                          <a:r>
                            <a:rPr lang="en-US" sz="1400">
                              <a:effectLst/>
                            </a:rPr>
                            <a:t>Small clusters diffuse faster than the larger ones. </a:t>
                          </a:r>
                          <a:endParaRPr lang="en-IN" sz="1400">
                            <a:effectLst/>
                            <a:latin typeface="Arial" panose="020B06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4234857515"/>
                      </a:ext>
                    </a:extLst>
                  </a:tr>
                  <a:tr h="736270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200000"/>
                            </a:lnSpc>
                            <a:spcAft>
                              <a:spcPts val="8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sz="1400" b="0">
                                    <a:effectLst/>
                                    <a:latin typeface="Cambria Math" panose="02040503050406030204" pitchFamily="18" charset="0"/>
                                  </a:rPr>
                                  <m:t>γ</m:t>
                                </m:r>
                                <m:r>
                                  <a:rPr lang="en-US" sz="1400" b="0">
                                    <a:effectLst/>
                                    <a:latin typeface="Cambria Math" panose="02040503050406030204" pitchFamily="18" charset="0"/>
                                  </a:rPr>
                                  <m:t>=0</m:t>
                                </m:r>
                              </m:oMath>
                            </m:oMathPara>
                          </a14:m>
                          <a:endParaRPr lang="en-IN" sz="1400" b="0">
                            <a:effectLst/>
                            <a:latin typeface="Arial" panose="020B06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342900" lvl="0" indent="-342900">
                            <a:lnSpc>
                              <a:spcPct val="200000"/>
                            </a:lnSpc>
                            <a:spcAft>
                              <a:spcPts val="800"/>
                            </a:spcAft>
                            <a:buFont typeface="Symbol" panose="05050102010706020507" pitchFamily="18" charset="2"/>
                            <a:buChar char=""/>
                          </a:pPr>
                          <a:r>
                            <a:rPr lang="en-US" sz="1400">
                              <a:effectLst/>
                            </a:rPr>
                            <a:t>Diffusion coefficient of large and small clusters are the same.</a:t>
                          </a:r>
                          <a:endParaRPr lang="en-IN" sz="1400">
                            <a:effectLst/>
                            <a:latin typeface="Arial" panose="020B06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2219046230"/>
                      </a:ext>
                    </a:extLst>
                  </a:tr>
                  <a:tr h="349327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200000"/>
                            </a:lnSpc>
                            <a:spcAft>
                              <a:spcPts val="800"/>
                            </a:spcAft>
                          </a:pPr>
                          <a14:m>
                            <m:oMath xmlns:m="http://schemas.openxmlformats.org/officeDocument/2006/math">
                              <m:r>
                                <m:rPr>
                                  <m:sty m:val="p"/>
                                </m:rPr>
                                <a:rPr lang="en-US" sz="1400" b="0">
                                  <a:effectLst/>
                                  <a:latin typeface="Cambria Math" panose="02040503050406030204" pitchFamily="18" charset="0"/>
                                </a:rPr>
                                <m:t>γ</m:t>
                              </m:r>
                              <m:r>
                                <a:rPr lang="en-US" sz="1400" b="0">
                                  <a:effectLst/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oMath>
                          </a14:m>
                          <a:r>
                            <a:rPr lang="en-US" sz="1400" b="0">
                              <a:effectLst/>
                            </a:rPr>
                            <a:t>&gt; 0</a:t>
                          </a:r>
                          <a:endParaRPr lang="en-IN" sz="1400" b="0">
                            <a:effectLst/>
                            <a:latin typeface="Arial" panose="020B06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342900" lvl="0" indent="-342900">
                            <a:lnSpc>
                              <a:spcPct val="200000"/>
                            </a:lnSpc>
                            <a:spcAft>
                              <a:spcPts val="800"/>
                            </a:spcAft>
                            <a:buFont typeface="Symbol" panose="05050102010706020507" pitchFamily="18" charset="2"/>
                            <a:buChar char=""/>
                          </a:pPr>
                          <a:r>
                            <a:rPr lang="en-US" sz="1400">
                              <a:effectLst/>
                            </a:rPr>
                            <a:t>Large clusters will diffuse faster than the smaller ones.</a:t>
                          </a:r>
                          <a:endParaRPr lang="en-IN" sz="1400">
                            <a:effectLst/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353587258"/>
                      </a:ext>
                    </a:extLst>
                  </a:tr>
                  <a:tr h="685277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200000"/>
                            </a:lnSpc>
                            <a:spcAft>
                              <a:spcPts val="8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400">
                                    <a:effectLst/>
                                    <a:latin typeface="Cambria Math" panose="02040503050406030204" pitchFamily="18" charset="0"/>
                                  </a:rPr>
                                  <m:t>𝜎</m:t>
                                </m:r>
                                <m:r>
                                  <a:rPr lang="en-US" sz="1400">
                                    <a:effectLst/>
                                    <a:latin typeface="Cambria Math" panose="02040503050406030204" pitchFamily="18" charset="0"/>
                                  </a:rPr>
                                  <m:t>&lt;0</m:t>
                                </m:r>
                              </m:oMath>
                            </m:oMathPara>
                          </a14:m>
                          <a:endParaRPr lang="en-IN" sz="1400">
                            <a:effectLst/>
                            <a:latin typeface="Arial" panose="020B06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342900" lvl="0" indent="-342900">
                            <a:lnSpc>
                              <a:spcPct val="200000"/>
                            </a:lnSpc>
                            <a:spcAft>
                              <a:spcPts val="800"/>
                            </a:spcAft>
                            <a:buFont typeface="Symbol" panose="05050102010706020507" pitchFamily="18" charset="2"/>
                            <a:buChar char=""/>
                          </a:pPr>
                          <a:r>
                            <a:rPr lang="en-US" sz="1400">
                              <a:effectLst/>
                            </a:rPr>
                            <a:t>Sticking probability decreases as the cluster size increases.</a:t>
                          </a:r>
                          <a:endParaRPr lang="en-IN" sz="1400">
                            <a:effectLst/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2908714758"/>
                      </a:ext>
                    </a:extLst>
                  </a:tr>
                  <a:tr h="511960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200000"/>
                            </a:lnSpc>
                            <a:spcAft>
                              <a:spcPts val="8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400">
                                    <a:effectLst/>
                                    <a:latin typeface="Cambria Math" panose="02040503050406030204" pitchFamily="18" charset="0"/>
                                  </a:rPr>
                                  <m:t>𝜎</m:t>
                                </m:r>
                                <m:r>
                                  <a:rPr lang="en-US" sz="1400">
                                    <a:effectLst/>
                                    <a:latin typeface="Cambria Math" panose="02040503050406030204" pitchFamily="18" charset="0"/>
                                  </a:rPr>
                                  <m:t>=0</m:t>
                                </m:r>
                              </m:oMath>
                            </m:oMathPara>
                          </a14:m>
                          <a:endParaRPr lang="en-IN" sz="1400">
                            <a:effectLst/>
                            <a:latin typeface="Arial" panose="020B06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342900" lvl="0" indent="-342900">
                            <a:lnSpc>
                              <a:spcPct val="200000"/>
                            </a:lnSpc>
                            <a:spcAft>
                              <a:spcPts val="800"/>
                            </a:spcAft>
                            <a:buFont typeface="Symbol" panose="05050102010706020507" pitchFamily="18" charset="2"/>
                            <a:buChar char=""/>
                          </a:pPr>
                          <a:r>
                            <a:rPr lang="en-US" sz="1400">
                              <a:effectLst/>
                            </a:rPr>
                            <a:t>Sticking probability independent of cluster size.</a:t>
                          </a:r>
                          <a:endParaRPr lang="en-IN" sz="1400">
                            <a:effectLst/>
                            <a:latin typeface="Arial" panose="020B06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748032976"/>
                      </a:ext>
                    </a:extLst>
                  </a:tr>
                  <a:tr h="736270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200000"/>
                            </a:lnSpc>
                            <a:spcAft>
                              <a:spcPts val="8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400">
                                    <a:effectLst/>
                                    <a:latin typeface="Cambria Math" panose="02040503050406030204" pitchFamily="18" charset="0"/>
                                  </a:rPr>
                                  <m:t>𝜎</m:t>
                                </m:r>
                                <m:r>
                                  <a:rPr lang="en-US" sz="1400">
                                    <a:effectLst/>
                                    <a:latin typeface="Cambria Math" panose="02040503050406030204" pitchFamily="18" charset="0"/>
                                  </a:rPr>
                                  <m:t>&gt;0</m:t>
                                </m:r>
                              </m:oMath>
                            </m:oMathPara>
                          </a14:m>
                          <a:endParaRPr lang="en-IN" sz="1400">
                            <a:effectLst/>
                            <a:latin typeface="Arial" panose="020B06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342900" lvl="0" indent="-342900">
                            <a:lnSpc>
                              <a:spcPct val="200000"/>
                            </a:lnSpc>
                            <a:spcAft>
                              <a:spcPts val="800"/>
                            </a:spcAft>
                            <a:buFont typeface="Symbol" panose="05050102010706020507" pitchFamily="18" charset="2"/>
                            <a:buChar char=""/>
                          </a:pPr>
                          <a:r>
                            <a:rPr lang="en-US" sz="1400">
                              <a:effectLst/>
                            </a:rPr>
                            <a:t>Sticking probability increases with increase in the cluster size.</a:t>
                          </a:r>
                          <a:endParaRPr lang="en-IN" sz="1400">
                            <a:effectLst/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33387684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4" name="Table 13">
                <a:extLst>
                  <a:ext uri="{FF2B5EF4-FFF2-40B4-BE49-F238E27FC236}">
                    <a16:creationId xmlns:a16="http://schemas.microsoft.com/office/drawing/2014/main" id="{39A684F6-C365-48DF-9C14-0627F143371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347933475"/>
                  </p:ext>
                </p:extLst>
              </p:nvPr>
            </p:nvGraphicFramePr>
            <p:xfrm>
              <a:off x="331961" y="2114189"/>
              <a:ext cx="6462977" cy="3702837"/>
            </p:xfrm>
            <a:graphic>
              <a:graphicData uri="http://schemas.openxmlformats.org/drawingml/2006/table">
                <a:tbl>
                  <a:tblPr firstRow="1" firstCol="1" bandRow="1">
                    <a:tableStyleId>{0505E3EF-67EA-436B-97B2-0124C06EBD24}</a:tableStyleId>
                  </a:tblPr>
                  <a:tblGrid>
                    <a:gridCol w="1097985">
                      <a:extLst>
                        <a:ext uri="{9D8B030D-6E8A-4147-A177-3AD203B41FA5}">
                          <a16:colId xmlns:a16="http://schemas.microsoft.com/office/drawing/2014/main" val="4039717376"/>
                        </a:ext>
                      </a:extLst>
                    </a:gridCol>
                    <a:gridCol w="5364992">
                      <a:extLst>
                        <a:ext uri="{9D8B030D-6E8A-4147-A177-3AD203B41FA5}">
                          <a16:colId xmlns:a16="http://schemas.microsoft.com/office/drawing/2014/main" val="2252130755"/>
                        </a:ext>
                      </a:extLst>
                    </a:gridCol>
                  </a:tblGrid>
                  <a:tr h="285560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400">
                              <a:effectLst/>
                            </a:rPr>
                            <a:t>Parameter</a:t>
                          </a:r>
                          <a:endParaRPr lang="en-IN" sz="1400">
                            <a:effectLst/>
                            <a:latin typeface="Arial" panose="020B06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400">
                              <a:effectLst/>
                            </a:rPr>
                            <a:t>Effects</a:t>
                          </a:r>
                          <a:endParaRPr lang="en-IN" sz="1400">
                            <a:effectLst/>
                            <a:latin typeface="Arial" panose="020B06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511444456"/>
                      </a:ext>
                    </a:extLst>
                  </a:tr>
                  <a:tr h="36557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blipFill>
                          <a:blip r:embed="rId2"/>
                          <a:stretch>
                            <a:fillRect l="-556" t="-80000" r="-490556" b="-84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342900" lvl="0" indent="-342900">
                            <a:lnSpc>
                              <a:spcPct val="200000"/>
                            </a:lnSpc>
                            <a:spcAft>
                              <a:spcPts val="800"/>
                            </a:spcAft>
                            <a:buFont typeface="Symbol" panose="05050102010706020507" pitchFamily="18" charset="2"/>
                            <a:buChar char=""/>
                          </a:pPr>
                          <a:r>
                            <a:rPr lang="en-US" sz="1400">
                              <a:effectLst/>
                            </a:rPr>
                            <a:t>Small clusters diffuse faster than the larger ones. </a:t>
                          </a:r>
                          <a:endParaRPr lang="en-IN" sz="1400">
                            <a:effectLst/>
                            <a:latin typeface="Arial" panose="020B06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4234857515"/>
                      </a:ext>
                    </a:extLst>
                  </a:tr>
                  <a:tr h="73627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blipFill>
                          <a:blip r:embed="rId2"/>
                          <a:stretch>
                            <a:fillRect l="-556" t="-89256" r="-490556" b="-31652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342900" lvl="0" indent="-342900">
                            <a:lnSpc>
                              <a:spcPct val="200000"/>
                            </a:lnSpc>
                            <a:spcAft>
                              <a:spcPts val="800"/>
                            </a:spcAft>
                            <a:buFont typeface="Symbol" panose="05050102010706020507" pitchFamily="18" charset="2"/>
                            <a:buChar char=""/>
                          </a:pPr>
                          <a:r>
                            <a:rPr lang="en-US" sz="1400">
                              <a:effectLst/>
                            </a:rPr>
                            <a:t>Diffusion coefficient of large and small clusters are the same.</a:t>
                          </a:r>
                          <a:endParaRPr lang="en-IN" sz="1400">
                            <a:effectLst/>
                            <a:latin typeface="Arial" panose="020B06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2219046230"/>
                      </a:ext>
                    </a:extLst>
                  </a:tr>
                  <a:tr h="36557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blipFill>
                          <a:blip r:embed="rId2"/>
                          <a:stretch>
                            <a:fillRect l="-556" t="-381667" r="-490556" b="-538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342900" lvl="0" indent="-342900">
                            <a:lnSpc>
                              <a:spcPct val="200000"/>
                            </a:lnSpc>
                            <a:spcAft>
                              <a:spcPts val="800"/>
                            </a:spcAft>
                            <a:buFont typeface="Symbol" panose="05050102010706020507" pitchFamily="18" charset="2"/>
                            <a:buChar char=""/>
                          </a:pPr>
                          <a:r>
                            <a:rPr lang="en-US" sz="1400">
                              <a:effectLst/>
                            </a:rPr>
                            <a:t>Large clusters will diffuse faster than the smaller ones.</a:t>
                          </a:r>
                          <a:endParaRPr lang="en-IN" sz="1400">
                            <a:effectLst/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353587258"/>
                      </a:ext>
                    </a:extLst>
                  </a:tr>
                  <a:tr h="685277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blipFill>
                          <a:blip r:embed="rId2"/>
                          <a:stretch>
                            <a:fillRect l="-556" t="-255752" r="-490556" b="-18584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342900" lvl="0" indent="-342900">
                            <a:lnSpc>
                              <a:spcPct val="200000"/>
                            </a:lnSpc>
                            <a:spcAft>
                              <a:spcPts val="800"/>
                            </a:spcAft>
                            <a:buFont typeface="Symbol" panose="05050102010706020507" pitchFamily="18" charset="2"/>
                            <a:buChar char=""/>
                          </a:pPr>
                          <a:r>
                            <a:rPr lang="en-US" sz="1400">
                              <a:effectLst/>
                            </a:rPr>
                            <a:t>Sticking probability decreases as the cluster size increases.</a:t>
                          </a:r>
                          <a:endParaRPr lang="en-IN" sz="1400">
                            <a:effectLst/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2908714758"/>
                      </a:ext>
                    </a:extLst>
                  </a:tr>
                  <a:tr h="52832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blipFill>
                          <a:blip r:embed="rId2"/>
                          <a:stretch>
                            <a:fillRect l="-556" t="-462069" r="-490556" b="-1413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342900" lvl="0" indent="-342900">
                            <a:lnSpc>
                              <a:spcPct val="200000"/>
                            </a:lnSpc>
                            <a:spcAft>
                              <a:spcPts val="800"/>
                            </a:spcAft>
                            <a:buFont typeface="Symbol" panose="05050102010706020507" pitchFamily="18" charset="2"/>
                            <a:buChar char=""/>
                          </a:pPr>
                          <a:r>
                            <a:rPr lang="en-US" sz="1400">
                              <a:effectLst/>
                            </a:rPr>
                            <a:t>Sticking probability independent of cluster size.</a:t>
                          </a:r>
                          <a:endParaRPr lang="en-IN" sz="1400">
                            <a:effectLst/>
                            <a:latin typeface="Arial" panose="020B06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748032976"/>
                      </a:ext>
                    </a:extLst>
                  </a:tr>
                  <a:tr h="73627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blipFill>
                          <a:blip r:embed="rId2"/>
                          <a:stretch>
                            <a:fillRect l="-556" t="-404132" r="-490556" b="-165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342900" lvl="0" indent="-342900">
                            <a:lnSpc>
                              <a:spcPct val="200000"/>
                            </a:lnSpc>
                            <a:spcAft>
                              <a:spcPts val="800"/>
                            </a:spcAft>
                            <a:buFont typeface="Symbol" panose="05050102010706020507" pitchFamily="18" charset="2"/>
                            <a:buChar char=""/>
                          </a:pPr>
                          <a:r>
                            <a:rPr lang="en-US" sz="1400">
                              <a:effectLst/>
                            </a:rPr>
                            <a:t>Sticking probability increases with increase in the cluster size.</a:t>
                          </a:r>
                          <a:endParaRPr lang="en-IN" sz="1400">
                            <a:effectLst/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333876842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7BBB15AC-0A1D-48C4-9398-3F80A36DE965}"/>
                  </a:ext>
                </a:extLst>
              </p:cNvPr>
              <p:cNvSpPr txBox="1"/>
              <p:nvPr/>
            </p:nvSpPr>
            <p:spPr>
              <a:xfrm>
                <a:off x="-365473" y="913860"/>
                <a:ext cx="8122107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>
                  <a:lnSpc>
                    <a:spcPct val="150000"/>
                  </a:lnSpc>
                </a:pPr>
                <a:r>
                  <a:rPr lang="en-US" b="1">
                    <a:solidFill>
                      <a:srgbClr val="C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Effect of parameters </a:t>
                </a:r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rgbClr val="C0000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𝜸</m:t>
                    </m:r>
                  </m:oMath>
                </a14:m>
                <a:r>
                  <a:rPr lang="en-IN" b="1">
                    <a:solidFill>
                      <a:srgbClr val="C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b="1" i="1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𝝈</m:t>
                    </m:r>
                  </m:oMath>
                </a14:m>
                <a:endParaRPr lang="en-US" b="1">
                  <a:solidFill>
                    <a:srgbClr val="C00000"/>
                  </a:solidFill>
                  <a:latin typeface="Arial" panose="020B0604020202020204" pitchFamily="34" charset="0"/>
                  <a:ea typeface="Times New Roman" panose="02020603050405020304" pitchFamily="18" charset="0"/>
                  <a:cs typeface="Arial" panose="020B0604020202020204" pitchFamily="34" charset="0"/>
                </a:endParaRPr>
              </a:p>
              <a:p>
                <a:pPr algn="ctr"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i="1" smtClea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𝛾</m:t>
                    </m:r>
                  </m:oMath>
                </a14:m>
                <a:r>
                  <a:rPr lang="en-IN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IN">
                    <a:latin typeface="Arial" panose="020B0604020202020204" pitchFamily="34" charset="0"/>
                    <a:cs typeface="Arial" panose="020B0604020202020204" pitchFamily="34" charset="0"/>
                    <a:sym typeface="Wingdings" panose="05000000000000000000" pitchFamily="2" charset="2"/>
                  </a:rPr>
                  <a:t> Diffusivity exponent and</a:t>
                </a:r>
                <a14:m>
                  <m:oMath xmlns:m="http://schemas.openxmlformats.org/officeDocument/2006/math">
                    <m:r>
                      <a:rPr lang="en-US" b="0" i="0" smtClea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i="1" smtClea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𝜎</m:t>
                    </m:r>
                  </m:oMath>
                </a14:m>
                <a:r>
                  <a:rPr lang="en-IN">
                    <a:latin typeface="Arial" panose="020B0604020202020204" pitchFamily="34" charset="0"/>
                    <a:cs typeface="Arial" panose="020B0604020202020204" pitchFamily="34" charset="0"/>
                    <a:sym typeface="Wingdings" panose="05000000000000000000" pitchFamily="2" charset="2"/>
                  </a:rPr>
                  <a:t>  Sticking probability exponent</a:t>
                </a:r>
                <a:endParaRPr lang="en-IN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ctr"/>
                <a:endParaRPr lang="en-IN" b="1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7BBB15AC-0A1D-48C4-9398-3F80A36DE9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365473" y="913860"/>
                <a:ext cx="8122107" cy="120032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Picture 7">
            <a:extLst>
              <a:ext uri="{FF2B5EF4-FFF2-40B4-BE49-F238E27FC236}">
                <a16:creationId xmlns:a16="http://schemas.microsoft.com/office/drawing/2014/main" id="{DF5DC161-F711-4E18-903E-D9E95D7B00DD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09667" y="2114189"/>
            <a:ext cx="4950372" cy="3137337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4A6AE7F7-1B16-441A-862B-C048D0546AFA}"/>
              </a:ext>
            </a:extLst>
          </p:cNvPr>
          <p:cNvSpPr txBox="1"/>
          <p:nvPr/>
        </p:nvSpPr>
        <p:spPr>
          <a:xfrm>
            <a:off x="8592207" y="960027"/>
            <a:ext cx="39886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GUI for DLCCA</a:t>
            </a:r>
            <a:endParaRPr lang="en-IN" b="1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062ABA9-DB94-4711-BB85-E0BBA8D097E6}"/>
              </a:ext>
            </a:extLst>
          </p:cNvPr>
          <p:cNvSpPr/>
          <p:nvPr/>
        </p:nvSpPr>
        <p:spPr>
          <a:xfrm>
            <a:off x="174171" y="188686"/>
            <a:ext cx="11843657" cy="645885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60CDFDB-01E3-40D9-864E-F5217CF1A3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3CAD28-B1A9-4A64-9DD6-3376C7DEC3B0}" type="slidenum">
              <a:rPr lang="en-IN" smtClean="0"/>
              <a:t>47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44949889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9BC0A8E-3E8D-40BD-ACA0-7B3BB2141FB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72" t="8619" r="11389" b="3930"/>
          <a:stretch/>
        </p:blipFill>
        <p:spPr>
          <a:xfrm>
            <a:off x="764281" y="2033751"/>
            <a:ext cx="5100491" cy="4209393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E81987E2-B0C5-44C3-9A3F-4B552DB2B707}"/>
              </a:ext>
            </a:extLst>
          </p:cNvPr>
          <p:cNvSpPr txBox="1"/>
          <p:nvPr/>
        </p:nvSpPr>
        <p:spPr>
          <a:xfrm>
            <a:off x="5108028" y="614856"/>
            <a:ext cx="510049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Particle distribution</a:t>
            </a:r>
            <a:endParaRPr lang="en-IN" sz="2400" b="1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FB8A2B91-3094-4839-AAD3-302164E16D5B}"/>
                  </a:ext>
                </a:extLst>
              </p:cNvPr>
              <p:cNvSpPr txBox="1"/>
              <p:nvPr/>
            </p:nvSpPr>
            <p:spPr>
              <a:xfrm>
                <a:off x="2387060" y="1655433"/>
                <a:ext cx="1854931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>
                    <a:latin typeface="Arial" panose="020B0604020202020204" pitchFamily="34" charset="0"/>
                    <a:cs typeface="Arial" panose="020B0604020202020204" pitchFamily="34" charset="0"/>
                  </a:rPr>
                  <a:t>N=2000</a:t>
                </a:r>
              </a:p>
              <a:p>
                <a:r>
                  <a:rPr lang="en-US" sz="1400">
                    <a:latin typeface="Arial" panose="020B0604020202020204" pitchFamily="34" charset="0"/>
                    <a:cs typeface="Arial" panose="020B0604020202020204" pitchFamily="34" charset="0"/>
                  </a:rPr>
                  <a:t>DLA(</a:t>
                </a:r>
                <a:r>
                  <a:rPr lang="en-IN" sz="1400">
                    <a:latin typeface="Arial" panose="020B0604020202020204" pitchFamily="34" charset="0"/>
                    <a:cs typeface="Arial" panose="020B0604020202020204" pitchFamily="34" charset="0"/>
                  </a:rPr>
                  <a:t>◇</a:t>
                </a:r>
                <a:r>
                  <a:rPr lang="en-US" sz="1400">
                    <a:latin typeface="Arial" panose="020B0604020202020204" pitchFamily="34" charset="0"/>
                    <a:cs typeface="Arial" panose="020B0604020202020204" pitchFamily="34" charset="0"/>
                  </a:rPr>
                  <a:t>) and TMC(</a:t>
                </a:r>
                <a14:m>
                  <m:oMath xmlns:m="http://schemas.openxmlformats.org/officeDocument/2006/math">
                    <m:r>
                      <a:rPr lang="en-US" sz="1400" i="1" smtClean="0">
                        <a:solidFill>
                          <a:srgbClr val="FF000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●</m:t>
                    </m:r>
                  </m:oMath>
                </a14:m>
                <a:r>
                  <a:rPr lang="en-US" sz="1400">
                    <a:latin typeface="Arial" panose="020B0604020202020204" pitchFamily="34" charset="0"/>
                    <a:cs typeface="Arial" panose="020B0604020202020204" pitchFamily="34" charset="0"/>
                  </a:rPr>
                  <a:t>)</a:t>
                </a:r>
                <a:endParaRPr lang="en-IN" sz="140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FB8A2B91-3094-4839-AAD3-302164E16D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87060" y="1655433"/>
                <a:ext cx="1854931" cy="523220"/>
              </a:xfrm>
              <a:prstGeom prst="rect">
                <a:avLst/>
              </a:prstGeom>
              <a:blipFill>
                <a:blip r:embed="rId3"/>
                <a:stretch>
                  <a:fillRect l="-987" t="-2353" r="-329" b="-1176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830C0B89-025B-41E2-A00D-F31C55A0BA1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03693183"/>
                  </p:ext>
                </p:extLst>
              </p:nvPr>
            </p:nvGraphicFramePr>
            <p:xfrm>
              <a:off x="6483064" y="2027401"/>
              <a:ext cx="3725454" cy="1286383"/>
            </p:xfrm>
            <a:graphic>
              <a:graphicData uri="http://schemas.openxmlformats.org/drawingml/2006/table">
                <a:tbl>
                  <a:tblPr firstRow="1" firstCol="1" bandRow="1">
                    <a:tableStyleId>{0505E3EF-67EA-436B-97B2-0124C06EBD24}</a:tableStyleId>
                  </a:tblPr>
                  <a:tblGrid>
                    <a:gridCol w="1245973">
                      <a:extLst>
                        <a:ext uri="{9D8B030D-6E8A-4147-A177-3AD203B41FA5}">
                          <a16:colId xmlns:a16="http://schemas.microsoft.com/office/drawing/2014/main" val="141691002"/>
                        </a:ext>
                      </a:extLst>
                    </a:gridCol>
                    <a:gridCol w="1245973">
                      <a:extLst>
                        <a:ext uri="{9D8B030D-6E8A-4147-A177-3AD203B41FA5}">
                          <a16:colId xmlns:a16="http://schemas.microsoft.com/office/drawing/2014/main" val="2054306741"/>
                        </a:ext>
                      </a:extLst>
                    </a:gridCol>
                    <a:gridCol w="1233508">
                      <a:extLst>
                        <a:ext uri="{9D8B030D-6E8A-4147-A177-3AD203B41FA5}">
                          <a16:colId xmlns:a16="http://schemas.microsoft.com/office/drawing/2014/main" val="3631706336"/>
                        </a:ext>
                      </a:extLst>
                    </a:gridCol>
                  </a:tblGrid>
                  <a:tr h="336303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800" b="1" i="0">
                              <a:solidFill>
                                <a:schemeClr val="tx1"/>
                              </a:solidFill>
                              <a:effectLst/>
                              <a:latin typeface="Arial" panose="020B0604020202020204" pitchFamily="34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  <a:t>Fractal</a:t>
                          </a:r>
                          <a:endParaRPr lang="en-IN" sz="1800" b="1" i="0">
                            <a:solidFill>
                              <a:schemeClr val="tx1"/>
                            </a:solidFill>
                            <a:effectLst/>
                            <a:latin typeface="Arial" panose="020B06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7261" marR="67261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b="1" i="1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1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𝑫</m:t>
                                    </m:r>
                                  </m:e>
                                  <m:sub>
                                    <m:r>
                                      <a:rPr lang="en-US" sz="1800" b="1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𝒇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IN" sz="1800" b="1" i="0">
                            <a:solidFill>
                              <a:schemeClr val="tx1"/>
                            </a:solidFill>
                            <a:effectLst/>
                            <a:latin typeface="Arial" panose="020B06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7261" marR="67261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b="1" i="1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1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𝒌</m:t>
                                    </m:r>
                                  </m:e>
                                  <m:sub>
                                    <m:r>
                                      <a:rPr lang="en-US" sz="1800" b="1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𝒇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IN" sz="1800" b="1" i="0">
                            <a:solidFill>
                              <a:schemeClr val="tx1"/>
                            </a:solidFill>
                            <a:effectLst/>
                            <a:latin typeface="Arial" panose="020B06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7261" marR="67261" marT="0" marB="0"/>
                    </a:tc>
                    <a:extLst>
                      <a:ext uri="{0D108BD9-81ED-4DB2-BD59-A6C34878D82A}">
                        <a16:rowId xmlns:a16="http://schemas.microsoft.com/office/drawing/2014/main" val="4196466771"/>
                      </a:ext>
                    </a:extLst>
                  </a:tr>
                  <a:tr h="336303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800" b="1">
                              <a:solidFill>
                                <a:schemeClr val="tx1"/>
                              </a:solidFill>
                              <a:effectLst/>
                            </a:rPr>
                            <a:t>TMC</a:t>
                          </a:r>
                          <a:endParaRPr lang="en-IN" sz="1800" b="1" i="0">
                            <a:solidFill>
                              <a:schemeClr val="tx1"/>
                            </a:solidFill>
                            <a:effectLst/>
                            <a:latin typeface="Arial" panose="020B06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7261" marR="67261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IN" sz="1800" b="1">
                              <a:solidFill>
                                <a:schemeClr val="tx1"/>
                              </a:solidFill>
                              <a:effectLst/>
                            </a:rPr>
                            <a:t>2.46</a:t>
                          </a:r>
                          <a:endParaRPr lang="en-IN" sz="1800" b="1" i="0">
                            <a:solidFill>
                              <a:schemeClr val="tx1"/>
                            </a:solidFill>
                            <a:effectLst/>
                            <a:latin typeface="Arial" panose="020B06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7261" marR="67261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800" b="1">
                              <a:solidFill>
                                <a:srgbClr val="C00000"/>
                              </a:solidFill>
                              <a:effectLst/>
                            </a:rPr>
                            <a:t>1.05</a:t>
                          </a:r>
                          <a:endParaRPr lang="en-IN" sz="1800" b="1" i="0">
                            <a:solidFill>
                              <a:srgbClr val="C00000"/>
                            </a:solidFill>
                            <a:effectLst/>
                            <a:latin typeface="Arial" panose="020B06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7261" marR="67261" marT="0" marB="0"/>
                    </a:tc>
                    <a:extLst>
                      <a:ext uri="{0D108BD9-81ED-4DB2-BD59-A6C34878D82A}">
                        <a16:rowId xmlns:a16="http://schemas.microsoft.com/office/drawing/2014/main" val="3907755246"/>
                      </a:ext>
                    </a:extLst>
                  </a:tr>
                  <a:tr h="240333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800" b="1">
                              <a:solidFill>
                                <a:schemeClr val="tx1"/>
                              </a:solidFill>
                              <a:effectLst/>
                            </a:rPr>
                            <a:t>DLA</a:t>
                          </a:r>
                          <a:endParaRPr lang="en-IN" sz="1800" b="1" i="0">
                            <a:solidFill>
                              <a:schemeClr val="tx1"/>
                            </a:solidFill>
                            <a:effectLst/>
                            <a:latin typeface="Arial" panose="020B06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7261" marR="67261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IN" sz="1800" b="1">
                              <a:solidFill>
                                <a:schemeClr val="tx1"/>
                              </a:solidFill>
                              <a:effectLst/>
                            </a:rPr>
                            <a:t>2.47</a:t>
                          </a:r>
                          <a:endParaRPr lang="en-IN" sz="1800" b="1" i="0">
                            <a:solidFill>
                              <a:schemeClr val="tx1"/>
                            </a:solidFill>
                            <a:effectLst/>
                            <a:latin typeface="Arial" panose="020B06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7261" marR="67261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IN" sz="1800" b="1">
                              <a:solidFill>
                                <a:srgbClr val="C00000"/>
                              </a:solidFill>
                              <a:effectLst/>
                            </a:rPr>
                            <a:t>0.48</a:t>
                          </a:r>
                          <a:endParaRPr lang="en-IN" sz="1800" b="1" i="0">
                            <a:solidFill>
                              <a:srgbClr val="C00000"/>
                            </a:solidFill>
                            <a:effectLst/>
                            <a:latin typeface="Arial" panose="020B06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7261" marR="67261" marT="0" marB="0"/>
                    </a:tc>
                    <a:extLst>
                      <a:ext uri="{0D108BD9-81ED-4DB2-BD59-A6C34878D82A}">
                        <a16:rowId xmlns:a16="http://schemas.microsoft.com/office/drawing/2014/main" val="89083723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830C0B89-025B-41E2-A00D-F31C55A0BA1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03693183"/>
                  </p:ext>
                </p:extLst>
              </p:nvPr>
            </p:nvGraphicFramePr>
            <p:xfrm>
              <a:off x="6483064" y="2027401"/>
              <a:ext cx="3725454" cy="1286383"/>
            </p:xfrm>
            <a:graphic>
              <a:graphicData uri="http://schemas.openxmlformats.org/drawingml/2006/table">
                <a:tbl>
                  <a:tblPr firstRow="1" firstCol="1" bandRow="1">
                    <a:tableStyleId>{0505E3EF-67EA-436B-97B2-0124C06EBD24}</a:tableStyleId>
                  </a:tblPr>
                  <a:tblGrid>
                    <a:gridCol w="1245973">
                      <a:extLst>
                        <a:ext uri="{9D8B030D-6E8A-4147-A177-3AD203B41FA5}">
                          <a16:colId xmlns:a16="http://schemas.microsoft.com/office/drawing/2014/main" val="141691002"/>
                        </a:ext>
                      </a:extLst>
                    </a:gridCol>
                    <a:gridCol w="1245973">
                      <a:extLst>
                        <a:ext uri="{9D8B030D-6E8A-4147-A177-3AD203B41FA5}">
                          <a16:colId xmlns:a16="http://schemas.microsoft.com/office/drawing/2014/main" val="2054306741"/>
                        </a:ext>
                      </a:extLst>
                    </a:gridCol>
                    <a:gridCol w="1233508">
                      <a:extLst>
                        <a:ext uri="{9D8B030D-6E8A-4147-A177-3AD203B41FA5}">
                          <a16:colId xmlns:a16="http://schemas.microsoft.com/office/drawing/2014/main" val="3631706336"/>
                        </a:ext>
                      </a:extLst>
                    </a:gridCol>
                  </a:tblGrid>
                  <a:tr h="552069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800" b="1" i="0">
                              <a:solidFill>
                                <a:schemeClr val="tx1"/>
                              </a:solidFill>
                              <a:effectLst/>
                              <a:latin typeface="Arial" panose="020B0604020202020204" pitchFamily="34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  <a:t>Fractal</a:t>
                          </a:r>
                          <a:endParaRPr lang="en-IN" sz="1800" b="1" i="0">
                            <a:solidFill>
                              <a:schemeClr val="tx1"/>
                            </a:solidFill>
                            <a:effectLst/>
                            <a:latin typeface="Arial" panose="020B06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7261" marR="67261" marT="0" marB="0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7261" marR="67261" marT="0" marB="0">
                        <a:blipFill>
                          <a:blip r:embed="rId4"/>
                          <a:stretch>
                            <a:fillRect l="-100980" t="-1099" r="-100490" b="-15934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7261" marR="67261" marT="0" marB="0">
                        <a:blipFill>
                          <a:blip r:embed="rId4"/>
                          <a:stretch>
                            <a:fillRect l="-201970" t="-1099" r="-985" b="-15934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96466771"/>
                      </a:ext>
                    </a:extLst>
                  </a:tr>
                  <a:tr h="367157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800" b="1">
                              <a:solidFill>
                                <a:schemeClr val="tx1"/>
                              </a:solidFill>
                              <a:effectLst/>
                            </a:rPr>
                            <a:t>TMC</a:t>
                          </a:r>
                          <a:endParaRPr lang="en-IN" sz="1800" b="1" i="0">
                            <a:solidFill>
                              <a:schemeClr val="tx1"/>
                            </a:solidFill>
                            <a:effectLst/>
                            <a:latin typeface="Arial" panose="020B06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7261" marR="67261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IN" sz="1800" b="1">
                              <a:solidFill>
                                <a:schemeClr val="tx1"/>
                              </a:solidFill>
                              <a:effectLst/>
                            </a:rPr>
                            <a:t>2.46</a:t>
                          </a:r>
                          <a:endParaRPr lang="en-IN" sz="1800" b="1" i="0">
                            <a:solidFill>
                              <a:schemeClr val="tx1"/>
                            </a:solidFill>
                            <a:effectLst/>
                            <a:latin typeface="Arial" panose="020B06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7261" marR="67261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800" b="1">
                              <a:solidFill>
                                <a:srgbClr val="C00000"/>
                              </a:solidFill>
                              <a:effectLst/>
                            </a:rPr>
                            <a:t>1.05</a:t>
                          </a:r>
                          <a:endParaRPr lang="en-IN" sz="1800" b="1" i="0">
                            <a:solidFill>
                              <a:srgbClr val="C00000"/>
                            </a:solidFill>
                            <a:effectLst/>
                            <a:latin typeface="Arial" panose="020B06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7261" marR="67261" marT="0" marB="0"/>
                    </a:tc>
                    <a:extLst>
                      <a:ext uri="{0D108BD9-81ED-4DB2-BD59-A6C34878D82A}">
                        <a16:rowId xmlns:a16="http://schemas.microsoft.com/office/drawing/2014/main" val="3907755246"/>
                      </a:ext>
                    </a:extLst>
                  </a:tr>
                  <a:tr h="367157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800" b="1">
                              <a:solidFill>
                                <a:schemeClr val="tx1"/>
                              </a:solidFill>
                              <a:effectLst/>
                            </a:rPr>
                            <a:t>DLA</a:t>
                          </a:r>
                          <a:endParaRPr lang="en-IN" sz="1800" b="1" i="0">
                            <a:solidFill>
                              <a:schemeClr val="tx1"/>
                            </a:solidFill>
                            <a:effectLst/>
                            <a:latin typeface="Arial" panose="020B06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7261" marR="67261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IN" sz="1800" b="1">
                              <a:solidFill>
                                <a:schemeClr val="tx1"/>
                              </a:solidFill>
                              <a:effectLst/>
                            </a:rPr>
                            <a:t>2.47</a:t>
                          </a:r>
                          <a:endParaRPr lang="en-IN" sz="1800" b="1" i="0">
                            <a:solidFill>
                              <a:schemeClr val="tx1"/>
                            </a:solidFill>
                            <a:effectLst/>
                            <a:latin typeface="Arial" panose="020B06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7261" marR="67261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IN" sz="1800" b="1">
                              <a:solidFill>
                                <a:srgbClr val="C00000"/>
                              </a:solidFill>
                              <a:effectLst/>
                            </a:rPr>
                            <a:t>0.48</a:t>
                          </a:r>
                          <a:endParaRPr lang="en-IN" sz="1800" b="1" i="0">
                            <a:solidFill>
                              <a:srgbClr val="C00000"/>
                            </a:solidFill>
                            <a:effectLst/>
                            <a:latin typeface="Arial" panose="020B06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7261" marR="67261" marT="0" marB="0"/>
                    </a:tc>
                    <a:extLst>
                      <a:ext uri="{0D108BD9-81ED-4DB2-BD59-A6C34878D82A}">
                        <a16:rowId xmlns:a16="http://schemas.microsoft.com/office/drawing/2014/main" val="890837234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B85E0972-CB22-435E-966A-598F0596A2B9}"/>
              </a:ext>
            </a:extLst>
          </p:cNvPr>
          <p:cNvSpPr txBox="1"/>
          <p:nvPr/>
        </p:nvSpPr>
        <p:spPr>
          <a:xfrm>
            <a:off x="6108792" y="3622279"/>
            <a:ext cx="55103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Small pre-factor, particles widely distributed</a:t>
            </a:r>
            <a:endParaRPr lang="en-IN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30C88DB-3D11-4AB3-86D4-41D28855D483}"/>
              </a:ext>
            </a:extLst>
          </p:cNvPr>
          <p:cNvSpPr/>
          <p:nvPr/>
        </p:nvSpPr>
        <p:spPr>
          <a:xfrm>
            <a:off x="174171" y="188686"/>
            <a:ext cx="11843657" cy="645885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97CC08DF-4F6D-49E9-9558-FABD4F7E96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3CAD28-B1A9-4A64-9DD6-3376C7DEC3B0}" type="slidenum">
              <a:rPr lang="en-IN" smtClean="0"/>
              <a:t>48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96305147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D4335CF-52C8-4612-9112-F7A4DCAAAAC7}"/>
              </a:ext>
            </a:extLst>
          </p:cNvPr>
          <p:cNvSpPr txBox="1"/>
          <p:nvPr/>
        </p:nvSpPr>
        <p:spPr>
          <a:xfrm>
            <a:off x="4424219" y="452827"/>
            <a:ext cx="3537527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/>
              <a:t>Results Reproduced</a:t>
            </a:r>
          </a:p>
          <a:p>
            <a:pPr algn="ctr"/>
            <a:r>
              <a:rPr lang="en-US"/>
              <a:t>Durlofsky et.al (1987)</a:t>
            </a:r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08F78AF-CDA5-483F-97B2-1D48559B1B1C}"/>
              </a:ext>
            </a:extLst>
          </p:cNvPr>
          <p:cNvSpPr txBox="1"/>
          <p:nvPr/>
        </p:nvSpPr>
        <p:spPr>
          <a:xfrm>
            <a:off x="752762" y="1191491"/>
            <a:ext cx="11148291" cy="25423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/>
              <a:t>Drag coefficient: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/>
              <a:t>Linear chain of 7 spheres(In x direction) falling vertically(z direction) with inter-particle distance r = 2.005,2.2,2.6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/>
              <a:t>Linear chain of 5,9,15 spheres falling vertically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/>
              <a:t>Spheres at the end of square and vertices of a equilateral triangle.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/>
              <a:t>Trajectory of three spheres at x=-5,0,7 falling vertically till t=600</a:t>
            </a:r>
          </a:p>
        </p:txBody>
      </p:sp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202561CC-0CE7-44A4-8CEA-7E84859FE567}"/>
              </a:ext>
            </a:extLst>
          </p:cNvPr>
          <p:cNvGraphicFramePr>
            <a:graphicFrameLocks/>
          </p:cNvGraphicFramePr>
          <p:nvPr/>
        </p:nvGraphicFramePr>
        <p:xfrm>
          <a:off x="892840" y="3733854"/>
          <a:ext cx="4251816" cy="274083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9324B7C0-15D5-4C23-AB3A-B231C7F56003}"/>
              </a:ext>
            </a:extLst>
          </p:cNvPr>
          <p:cNvSpPr txBox="1"/>
          <p:nvPr/>
        </p:nvSpPr>
        <p:spPr>
          <a:xfrm>
            <a:off x="5375564" y="3733854"/>
            <a:ext cx="499687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/>
              <a:t>-Each point indicates 10 dimensionless time units</a:t>
            </a:r>
          </a:p>
          <a:p>
            <a:r>
              <a:rPr lang="en-US" sz="1400"/>
              <a:t>-Difference because of the way resistance scalars are interpolated.</a:t>
            </a:r>
          </a:p>
          <a:p>
            <a:r>
              <a:rPr lang="en-US" sz="1400"/>
              <a:t>-Trajectory sensitive to initial configuration.</a:t>
            </a:r>
            <a:endParaRPr lang="en-IN" sz="140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AE0C3B5-2B30-423F-A5FC-5AD3AC3DEB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75564" y="4501014"/>
            <a:ext cx="5560291" cy="197387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B28A2F2-3099-42C1-91B6-17246F3FCE6C}"/>
              </a:ext>
            </a:extLst>
          </p:cNvPr>
          <p:cNvSpPr txBox="1"/>
          <p:nvPr/>
        </p:nvSpPr>
        <p:spPr>
          <a:xfrm>
            <a:off x="240145" y="203200"/>
            <a:ext cx="11739419" cy="647469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5B0BCC-2387-4E7F-86CC-05F8242626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3CAD28-B1A9-4A64-9DD6-3376C7DEC3B0}" type="slidenum">
              <a:rPr lang="en-IN" smtClean="0"/>
              <a:t>49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93283124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E52EFFA0-3C71-42BB-8BDE-00E85FBF1ABD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4496" y="1696717"/>
            <a:ext cx="4084320" cy="4404360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68477C1-DA89-499B-9619-1B80A610DCD4}"/>
              </a:ext>
            </a:extLst>
          </p:cNvPr>
          <p:cNvSpPr txBox="1"/>
          <p:nvPr/>
        </p:nvSpPr>
        <p:spPr>
          <a:xfrm>
            <a:off x="1245478" y="1293600"/>
            <a:ext cx="673187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Algorithm used for Stokesian Dynamics</a:t>
            </a:r>
            <a:endParaRPr lang="en-IN" sz="2000" b="1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00231FB-2A7F-44BF-8237-7462BEF8A1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75709" y="1996487"/>
            <a:ext cx="4303521" cy="359092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C3F90F4E-D365-47A3-9EF5-3D1E3638BB84}"/>
                  </a:ext>
                </a:extLst>
              </p:cNvPr>
              <p:cNvSpPr txBox="1"/>
              <p:nvPr/>
            </p:nvSpPr>
            <p:spPr>
              <a:xfrm>
                <a:off x="7598979" y="1304179"/>
                <a:ext cx="3780251" cy="429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b="1">
                    <a:solidFill>
                      <a:srgbClr val="C00000"/>
                    </a:solidFill>
                  </a:rPr>
                  <a:t>Time taken for TMC</a:t>
                </a:r>
                <a14:m>
                  <m:oMath xmlns:m="http://schemas.openxmlformats.org/officeDocument/2006/math">
                    <m:r>
                      <a:rPr lang="en-US" sz="2000" b="1" i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sz="20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𝑫</m:t>
                        </m:r>
                      </m:e>
                      <m:sub>
                        <m:r>
                          <a:rPr lang="en-US" sz="20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𝒇</m:t>
                        </m:r>
                      </m:sub>
                    </m:sSub>
                    <m:r>
                      <a:rPr lang="en-US" sz="20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𝟐</m:t>
                    </m:r>
                    <m:r>
                      <a:rPr lang="en-US" sz="20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sz="20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𝟐𝟑</m:t>
                    </m:r>
                    <m:r>
                      <a:rPr lang="en-US" sz="20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IN" sz="2000" b="1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C3F90F4E-D365-47A3-9EF5-3D1E3638BB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98979" y="1304179"/>
                <a:ext cx="3780251" cy="429220"/>
              </a:xfrm>
              <a:prstGeom prst="rect">
                <a:avLst/>
              </a:prstGeom>
              <a:blipFill>
                <a:blip r:embed="rId4"/>
                <a:stretch>
                  <a:fillRect l="-1774" t="-7143" b="-2000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7A0BFAFC-7FC4-4BA8-A3DE-CA6181F61B42}"/>
                  </a:ext>
                </a:extLst>
              </p:cNvPr>
              <p:cNvSpPr txBox="1"/>
              <p:nvPr/>
            </p:nvSpPr>
            <p:spPr>
              <a:xfrm>
                <a:off x="7788166" y="5774315"/>
                <a:ext cx="3401876" cy="37555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𝒕𝒊𝒎𝒆</m:t>
                      </m:r>
                      <m:r>
                        <a:rPr lang="en-US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~</m:t>
                      </m:r>
                      <m:r>
                        <a:rPr lang="en-US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𝑶</m:t>
                      </m:r>
                      <m:r>
                        <a:rPr lang="en-US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en-US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𝑵</m:t>
                          </m:r>
                        </m:e>
                        <m:sup>
                          <m:r>
                            <a:rPr lang="en-US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US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IN" b="1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7A0BFAFC-7FC4-4BA8-A3DE-CA6181F61B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88166" y="5774315"/>
                <a:ext cx="3401876" cy="375552"/>
              </a:xfrm>
              <a:prstGeom prst="rect">
                <a:avLst/>
              </a:prstGeom>
              <a:blipFill>
                <a:blip r:embed="rId5"/>
                <a:stretch>
                  <a:fillRect b="-1290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Rectangle 7">
            <a:extLst>
              <a:ext uri="{FF2B5EF4-FFF2-40B4-BE49-F238E27FC236}">
                <a16:creationId xmlns:a16="http://schemas.microsoft.com/office/drawing/2014/main" id="{35E0FE9A-D8B7-4F56-BA5E-1ACD40CDC118}"/>
              </a:ext>
            </a:extLst>
          </p:cNvPr>
          <p:cNvSpPr/>
          <p:nvPr/>
        </p:nvSpPr>
        <p:spPr>
          <a:xfrm>
            <a:off x="174171" y="188686"/>
            <a:ext cx="11843657" cy="645885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A5A6555-D75A-47BA-8746-71DC4FCF1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3CAD28-B1A9-4A64-9DD6-3376C7DEC3B0}" type="slidenum">
              <a:rPr lang="en-IN" smtClean="0"/>
              <a:t>50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43398833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2D5B1226-278D-4CCF-B694-8D86ECB549D9}"/>
              </a:ext>
            </a:extLst>
          </p:cNvPr>
          <p:cNvPicPr>
            <a:picLocks noGrp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714" t="31620" r="7571" b="39999"/>
          <a:stretch/>
        </p:blipFill>
        <p:spPr bwMode="auto">
          <a:xfrm>
            <a:off x="3048000" y="2723215"/>
            <a:ext cx="4386534" cy="1140862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860D0D9-228D-4C73-9BA7-49419495319F}"/>
              </a:ext>
            </a:extLst>
          </p:cNvPr>
          <p:cNvSpPr txBox="1"/>
          <p:nvPr/>
        </p:nvSpPr>
        <p:spPr>
          <a:xfrm>
            <a:off x="915963" y="267824"/>
            <a:ext cx="10667848" cy="32316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2400" b="1" dirty="0">
                <a:solidFill>
                  <a:srgbClr val="C00000"/>
                </a:solidFill>
              </a:rPr>
              <a:t>Problem of </a:t>
            </a:r>
            <a:r>
              <a:rPr lang="en-US" sz="2400" b="1" dirty="0" err="1">
                <a:solidFill>
                  <a:srgbClr val="C00000"/>
                </a:solidFill>
              </a:rPr>
              <a:t>sedimenting</a:t>
            </a:r>
            <a:r>
              <a:rPr lang="en-US" sz="2400" b="1" dirty="0">
                <a:solidFill>
                  <a:srgbClr val="C00000"/>
                </a:solidFill>
              </a:rPr>
              <a:t> particles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/>
              <a:t>A linear chain of seven spheres of unit radii falling vertically.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/>
              <a:t>Spheres placed horizontally with equal </a:t>
            </a:r>
            <a:r>
              <a:rPr lang="en-US" dirty="0" err="1"/>
              <a:t>centre</a:t>
            </a:r>
            <a:r>
              <a:rPr lang="en-US" dirty="0"/>
              <a:t>-to-</a:t>
            </a:r>
            <a:r>
              <a:rPr lang="en-US" dirty="0" err="1"/>
              <a:t>centre</a:t>
            </a:r>
            <a:r>
              <a:rPr lang="en-US" dirty="0"/>
              <a:t> distance.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/>
              <a:t>Unit force is given in a direction perpendicular to the plane of the sphere.</a:t>
            </a:r>
          </a:p>
          <a:p>
            <a:endParaRPr lang="en-US" dirty="0"/>
          </a:p>
          <a:p>
            <a:endParaRPr lang="en-US" sz="1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009976AF-A63A-4ABC-9679-F959FD852CE3}"/>
                  </a:ext>
                </a:extLst>
              </p:cNvPr>
              <p:cNvSpPr txBox="1"/>
              <p:nvPr/>
            </p:nvSpPr>
            <p:spPr>
              <a:xfrm>
                <a:off x="915963" y="3709856"/>
                <a:ext cx="9316841" cy="2521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85750" indent="-285750">
                  <a:lnSpc>
                    <a:spcPct val="200000"/>
                  </a:lnSpc>
                  <a:buFont typeface="Arial" panose="020B0604020202020204" pitchFamily="34" charset="0"/>
                  <a:buChar char="•"/>
                </a:pPr>
                <a:r>
                  <a:rPr lang="en-US" dirty="0"/>
                  <a:t>Velocity of a sphere varies depending on</a:t>
                </a:r>
              </a:p>
              <a:p>
                <a:pPr>
                  <a:lnSpc>
                    <a:spcPct val="200000"/>
                  </a:lnSpc>
                </a:pPr>
                <a:r>
                  <a:rPr lang="en-US" dirty="0"/>
                  <a:t>	a. Position of the sphere in this chain</a:t>
                </a:r>
              </a:p>
              <a:p>
                <a:pPr>
                  <a:lnSpc>
                    <a:spcPct val="200000"/>
                  </a:lnSpc>
                </a:pPr>
                <a:r>
                  <a:rPr lang="en-US" dirty="0"/>
                  <a:t>	b. Centre-to-</a:t>
                </a:r>
                <a:r>
                  <a:rPr lang="en-US" dirty="0" err="1"/>
                  <a:t>centre</a:t>
                </a:r>
                <a:r>
                  <a:rPr lang="en-US" dirty="0"/>
                  <a:t> distance between the spheres</a:t>
                </a:r>
              </a:p>
              <a:p>
                <a:pPr marL="285750" indent="-285750">
                  <a:lnSpc>
                    <a:spcPct val="200000"/>
                  </a:lnSpc>
                  <a:buFont typeface="Arial" panose="020B0604020202020204" pitchFamily="34" charset="0"/>
                  <a:buChar char="•"/>
                </a:pPr>
                <a:r>
                  <a:rPr lang="en-US" dirty="0"/>
                  <a:t>Stokes law,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𝑈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6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𝜋𝜇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</m:den>
                    </m:f>
                  </m:oMath>
                </a14:m>
                <a:r>
                  <a:rPr lang="en-US" dirty="0"/>
                  <a:t>  </a:t>
                </a:r>
                <a:r>
                  <a:rPr lang="en-US" dirty="0">
                    <a:sym typeface="Wingdings" panose="05000000000000000000" pitchFamily="2" charset="2"/>
                  </a:rPr>
                  <a:t>                 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∆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  <m:t>𝐹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  <m:t>∆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  <m:t>𝑡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6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𝜋𝜇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</m:den>
                    </m:f>
                  </m:oMath>
                </a14:m>
                <a:r>
                  <a:rPr lang="en-US" dirty="0"/>
                  <a:t>                     </a:t>
                </a:r>
                <a:r>
                  <a:rPr lang="en-US" dirty="0">
                    <a:sym typeface="Wingdings" panose="05000000000000000000" pitchFamily="2" charset="2"/>
                  </a:rPr>
                  <a:t>  velocity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fPr>
                      <m:num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  <m:t>∆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  <m:t>𝑥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  <m:t>/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  <m:t>𝑎</m:t>
                        </m:r>
                      </m:num>
                      <m:den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𝐹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∆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𝑡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/6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𝜋𝜇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009976AF-A63A-4ABC-9679-F959FD852C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5963" y="3709856"/>
                <a:ext cx="9316841" cy="2521331"/>
              </a:xfrm>
              <a:prstGeom prst="rect">
                <a:avLst/>
              </a:prstGeom>
              <a:blipFill>
                <a:blip r:embed="rId3"/>
                <a:stretch>
                  <a:fillRect l="-392" b="-72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40D45577-3816-41CB-BCFB-3679C21EB42D}"/>
              </a:ext>
            </a:extLst>
          </p:cNvPr>
          <p:cNvCxnSpPr/>
          <p:nvPr/>
        </p:nvCxnSpPr>
        <p:spPr>
          <a:xfrm>
            <a:off x="3463025" y="5930850"/>
            <a:ext cx="61902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F3B4DFF6-4E43-4931-A965-9725F9817511}"/>
              </a:ext>
            </a:extLst>
          </p:cNvPr>
          <p:cNvCxnSpPr/>
          <p:nvPr/>
        </p:nvCxnSpPr>
        <p:spPr>
          <a:xfrm>
            <a:off x="5595526" y="5930850"/>
            <a:ext cx="61902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14D83203-9752-4ED4-A665-B99BDEF089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EE58D4-405A-440C-A704-BF1BC7FA81F1}" type="slidenum">
              <a:rPr lang="en-IN" smtClean="0"/>
              <a:t>51</a:t>
            </a:fld>
            <a:endParaRPr lang="en-IN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F881BAC-897E-4326-8BC1-E97BC8155981}"/>
              </a:ext>
            </a:extLst>
          </p:cNvPr>
          <p:cNvSpPr/>
          <p:nvPr/>
        </p:nvSpPr>
        <p:spPr>
          <a:xfrm>
            <a:off x="174171" y="188686"/>
            <a:ext cx="11843657" cy="645885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26611822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BD7BC1-A3AF-4AE4-9571-8E1A03B3D0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96539" y="2902926"/>
            <a:ext cx="4615373" cy="3289486"/>
          </a:xfrm>
        </p:spPr>
        <p:txBody>
          <a:bodyPr>
            <a:normAutofit/>
          </a:bodyPr>
          <a:lstStyle/>
          <a:p>
            <a:pPr marL="0" indent="0">
              <a:lnSpc>
                <a:spcPct val="200000"/>
              </a:lnSpc>
              <a:buNone/>
            </a:pPr>
            <a:r>
              <a:rPr lang="en-US" sz="1600" u="sng" dirty="0"/>
              <a:t>Conclusion</a:t>
            </a:r>
            <a:r>
              <a:rPr lang="en-US" sz="1600" dirty="0"/>
              <a:t>:</a:t>
            </a:r>
          </a:p>
          <a:p>
            <a:pPr>
              <a:lnSpc>
                <a:spcPct val="200000"/>
              </a:lnSpc>
            </a:pPr>
            <a:r>
              <a:rPr lang="en-US" sz="1600" dirty="0"/>
              <a:t>Drag coefficient at the ends of the chain is more compared to the particles near the center.</a:t>
            </a:r>
          </a:p>
          <a:p>
            <a:pPr>
              <a:lnSpc>
                <a:spcPct val="200000"/>
              </a:lnSpc>
            </a:pPr>
            <a:r>
              <a:rPr lang="en-US" sz="1600" dirty="0"/>
              <a:t>Spheres closer together, particles fall faster.</a:t>
            </a:r>
          </a:p>
          <a:p>
            <a:pPr>
              <a:lnSpc>
                <a:spcPct val="200000"/>
              </a:lnSpc>
            </a:pPr>
            <a:r>
              <a:rPr lang="en-US" sz="1600" dirty="0"/>
              <a:t>Particles at the center fall faster.</a:t>
            </a:r>
          </a:p>
          <a:p>
            <a:pPr marL="0" indent="0">
              <a:buNone/>
            </a:pPr>
            <a:endParaRPr lang="en-IN" sz="20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7E20DB4-0644-4E50-8FC3-2F58EDA21FE0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691980" y="2902925"/>
            <a:ext cx="6359609" cy="315875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3E33A392-E8CD-4AC5-955D-83AADE62BF84}"/>
                  </a:ext>
                </a:extLst>
              </p:cNvPr>
              <p:cNvSpPr txBox="1"/>
              <p:nvPr/>
            </p:nvSpPr>
            <p:spPr>
              <a:xfrm>
                <a:off x="910281" y="370754"/>
                <a:ext cx="10371438" cy="296940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>
                  <a:lnSpc>
                    <a:spcPct val="200000"/>
                  </a:lnSpc>
                </a:pPr>
                <a:r>
                  <a:rPr lang="en-US" b="1" dirty="0">
                    <a:solidFill>
                      <a:srgbClr val="C00000"/>
                    </a:solidFill>
                  </a:rPr>
                  <a:t>Comparison of results with </a:t>
                </a:r>
                <a:r>
                  <a:rPr lang="en-US" b="1" dirty="0" err="1">
                    <a:solidFill>
                      <a:srgbClr val="C00000"/>
                    </a:solidFill>
                  </a:rPr>
                  <a:t>Durlofsky</a:t>
                </a:r>
                <a:r>
                  <a:rPr lang="en-US" b="1" dirty="0">
                    <a:solidFill>
                      <a:srgbClr val="C00000"/>
                    </a:solidFill>
                  </a:rPr>
                  <a:t> et.al (</a:t>
                </a:r>
                <a:r>
                  <a:rPr lang="en-US" b="1">
                    <a:solidFill>
                      <a:srgbClr val="C00000"/>
                    </a:solidFill>
                  </a:rPr>
                  <a:t>1987)</a:t>
                </a:r>
                <a:endParaRPr lang="en-US" dirty="0"/>
              </a:p>
              <a:p>
                <a:pPr marL="285750" indent="-285750">
                  <a:lnSpc>
                    <a:spcPct val="200000"/>
                  </a:lnSpc>
                  <a:buFont typeface="Arial" panose="020B0604020202020204" pitchFamily="34" charset="0"/>
                  <a:buChar char="•"/>
                </a:pPr>
                <a:r>
                  <a:rPr lang="en-US" sz="1600" dirty="0"/>
                  <a:t>Odd number of spheres -&gt; Drag coefficient is symmetric about central sphere</a:t>
                </a:r>
                <a:r>
                  <a:rPr lang="en-US" dirty="0"/>
                  <a:t>.</a:t>
                </a:r>
              </a:p>
              <a:p>
                <a:pPr marL="285750" indent="-285750">
                  <a:lnSpc>
                    <a:spcPct val="200000"/>
                  </a:lnSpc>
                  <a:buFont typeface="Arial" panose="020B0604020202020204" pitchFamily="34" charset="0"/>
                  <a:buChar char="•"/>
                </a:pPr>
                <a:r>
                  <a:rPr lang="en-US" sz="1600" dirty="0"/>
                  <a:t>Dimensionless </a:t>
                </a:r>
                <a:r>
                  <a:rPr lang="en-US" sz="1600" dirty="0" err="1"/>
                  <a:t>centre</a:t>
                </a:r>
                <a:r>
                  <a:rPr lang="en-US" sz="1600" dirty="0"/>
                  <a:t>-to-</a:t>
                </a:r>
                <a:r>
                  <a:rPr lang="en-US" sz="1600" dirty="0" err="1"/>
                  <a:t>centre</a:t>
                </a:r>
                <a:r>
                  <a:rPr lang="en-US" sz="1600" dirty="0"/>
                  <a:t> distance is varied as r=2.005,2.2 and 2.6.</a:t>
                </a: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sz="1600" dirty="0"/>
                  <a:t>Drag coefficient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∝</m:t>
                    </m:r>
                    <m:f>
                      <m:fPr>
                        <m:ctrlP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Force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velocity</m:t>
                        </m:r>
                      </m:den>
                    </m:f>
                  </m:oMath>
                </a14:m>
                <a:endParaRPr lang="en-US" dirty="0"/>
              </a:p>
              <a:p>
                <a:endParaRPr lang="en-US" dirty="0"/>
              </a:p>
              <a:p>
                <a:endParaRPr lang="en-IN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3E33A392-E8CD-4AC5-955D-83AADE62BF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0281" y="370754"/>
                <a:ext cx="10371438" cy="2969403"/>
              </a:xfrm>
              <a:prstGeom prst="rect">
                <a:avLst/>
              </a:prstGeom>
              <a:blipFill>
                <a:blip r:embed="rId3"/>
                <a:stretch>
                  <a:fillRect l="-23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721F8E05-296A-4FE6-99A0-16099E8502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EE58D4-405A-440C-A704-BF1BC7FA81F1}" type="slidenum">
              <a:rPr lang="en-IN" smtClean="0"/>
              <a:t>52</a:t>
            </a:fld>
            <a:endParaRPr lang="en-I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086E784-4762-4259-8D93-F30D2E070EBD}"/>
              </a:ext>
            </a:extLst>
          </p:cNvPr>
          <p:cNvSpPr/>
          <p:nvPr/>
        </p:nvSpPr>
        <p:spPr>
          <a:xfrm>
            <a:off x="174171" y="188686"/>
            <a:ext cx="11843657" cy="645885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29522759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5B68DF6C-E5D5-4324-A896-F2C45B6667D9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7426168" y="1949522"/>
            <a:ext cx="4173438" cy="3344339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EF683A30-0022-4C34-B038-BA048A88DE5A}"/>
                  </a:ext>
                </a:extLst>
              </p:cNvPr>
              <p:cNvSpPr txBox="1"/>
              <p:nvPr/>
            </p:nvSpPr>
            <p:spPr>
              <a:xfrm>
                <a:off x="4483866" y="545690"/>
                <a:ext cx="5471651" cy="429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0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𝑹</m:t>
                        </m:r>
                      </m:e>
                      <m:sub>
                        <m:r>
                          <a:rPr lang="en-US" sz="20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𝒎</m:t>
                        </m:r>
                      </m:sub>
                    </m:sSub>
                    <m:r>
                      <a:rPr lang="en-US" sz="20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/</m:t>
                    </m:r>
                    <m:sSub>
                      <m:sSubPr>
                        <m:ctrlPr>
                          <a:rPr lang="en-US" sz="20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𝑹</m:t>
                        </m:r>
                      </m:e>
                      <m:sub>
                        <m:r>
                          <a:rPr lang="en-US" sz="20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𝒈</m:t>
                        </m:r>
                      </m:sub>
                    </m:sSub>
                  </m:oMath>
                </a14:m>
                <a:r>
                  <a:rPr lang="en-IN" sz="2000" b="1">
                    <a:solidFill>
                      <a:srgbClr val="C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and interparticle distance</a:t>
                </a: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EF683A30-0022-4C34-B038-BA048A88DE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83866" y="545690"/>
                <a:ext cx="5471651" cy="429220"/>
              </a:xfrm>
              <a:prstGeom prst="rect">
                <a:avLst/>
              </a:prstGeom>
              <a:blipFill>
                <a:blip r:embed="rId4"/>
                <a:stretch>
                  <a:fillRect t="-8571" b="-1857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31701EB8-95E3-4D26-A4ED-2ECFB3004EC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023032448"/>
                  </p:ext>
                </p:extLst>
              </p:nvPr>
            </p:nvGraphicFramePr>
            <p:xfrm>
              <a:off x="991135" y="2455239"/>
              <a:ext cx="5618070" cy="2332903"/>
            </p:xfrm>
            <a:graphic>
              <a:graphicData uri="http://schemas.openxmlformats.org/drawingml/2006/table">
                <a:tbl>
                  <a:tblPr firstRow="1" firstCol="1" bandRow="1">
                    <a:tableStyleId>{0505E3EF-67EA-436B-97B2-0124C06EBD24}</a:tableStyleId>
                  </a:tblPr>
                  <a:tblGrid>
                    <a:gridCol w="2044474">
                      <a:extLst>
                        <a:ext uri="{9D8B030D-6E8A-4147-A177-3AD203B41FA5}">
                          <a16:colId xmlns:a16="http://schemas.microsoft.com/office/drawing/2014/main" val="38982279"/>
                        </a:ext>
                      </a:extLst>
                    </a:gridCol>
                    <a:gridCol w="1878559">
                      <a:extLst>
                        <a:ext uri="{9D8B030D-6E8A-4147-A177-3AD203B41FA5}">
                          <a16:colId xmlns:a16="http://schemas.microsoft.com/office/drawing/2014/main" val="872883637"/>
                        </a:ext>
                      </a:extLst>
                    </a:gridCol>
                    <a:gridCol w="1695037">
                      <a:extLst>
                        <a:ext uri="{9D8B030D-6E8A-4147-A177-3AD203B41FA5}">
                          <a16:colId xmlns:a16="http://schemas.microsoft.com/office/drawing/2014/main" val="3933599767"/>
                        </a:ext>
                      </a:extLst>
                    </a:gridCol>
                  </a:tblGrid>
                  <a:tr h="807995">
                    <a:tc>
                      <a:txBody>
                        <a:bodyPr/>
                        <a:lstStyle/>
                        <a:p>
                          <a:pPr marL="457200" algn="ctr">
                            <a:lnSpc>
                              <a:spcPct val="150000"/>
                            </a:lnSpc>
                          </a:pPr>
                          <a:r>
                            <a:rPr lang="en-IN" sz="1200">
                              <a:effectLst/>
                            </a:rPr>
                            <a:t>Interparticle distance</a:t>
                          </a:r>
                          <a:endParaRPr lang="en-IN" sz="12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457200" algn="ctr">
                            <a:lnSpc>
                              <a:spcPct val="150000"/>
                            </a:lnSpc>
                          </a:pPr>
                          <a:r>
                            <a:rPr lang="en-IN" sz="1200">
                              <a:effectLst/>
                            </a:rPr>
                            <a:t>Pre-factor,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IN" sz="1200" i="1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1200">
                                      <a:effectLst/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e>
                                <m:sub>
                                  <m:r>
                                    <a:rPr lang="en-IN" sz="1200">
                                      <a:effectLst/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sub>
                              </m:sSub>
                            </m:oMath>
                          </a14:m>
                          <a:endParaRPr lang="en-IN" sz="12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457200" algn="ctr">
                            <a:lnSpc>
                              <a:spcPct val="150000"/>
                            </a:lnSpc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IN" sz="12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IN" sz="12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𝑅</m:t>
                                    </m:r>
                                  </m:e>
                                  <m:sub>
                                    <m:r>
                                      <a:rPr lang="en-IN" sz="12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sub>
                                </m:sSub>
                                <m:r>
                                  <a:rPr lang="en-IN" sz="1200">
                                    <a:effectLst/>
                                    <a:latin typeface="Cambria Math" panose="02040503050406030204" pitchFamily="18" charset="0"/>
                                  </a:rPr>
                                  <m:t>/</m:t>
                                </m:r>
                                <m:sSub>
                                  <m:sSubPr>
                                    <m:ctrlPr>
                                      <a:rPr lang="en-IN" sz="12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IN" sz="12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𝑅</m:t>
                                    </m:r>
                                  </m:e>
                                  <m:sub>
                                    <m:r>
                                      <a:rPr lang="en-IN" sz="12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𝑔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IN" sz="12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113431240"/>
                      </a:ext>
                    </a:extLst>
                  </a:tr>
                  <a:tr h="381227">
                    <a:tc>
                      <a:txBody>
                        <a:bodyPr/>
                        <a:lstStyle/>
                        <a:p>
                          <a:pPr marL="457200" algn="ctr">
                            <a:lnSpc>
                              <a:spcPct val="150000"/>
                            </a:lnSpc>
                          </a:pPr>
                          <a:r>
                            <a:rPr lang="en-IN" sz="1200">
                              <a:effectLst/>
                            </a:rPr>
                            <a:t>2.01</a:t>
                          </a:r>
                          <a:endParaRPr lang="en-IN" sz="12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457200" algn="ctr">
                            <a:lnSpc>
                              <a:spcPct val="150000"/>
                            </a:lnSpc>
                          </a:pPr>
                          <a:r>
                            <a:rPr lang="en-IN" sz="1200">
                              <a:effectLst/>
                            </a:rPr>
                            <a:t>0.5266</a:t>
                          </a:r>
                          <a:endParaRPr lang="en-IN" sz="12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457200" algn="ctr">
                            <a:lnSpc>
                              <a:spcPct val="150000"/>
                            </a:lnSpc>
                          </a:pPr>
                          <a:r>
                            <a:rPr lang="en-IN" sz="1200">
                              <a:effectLst/>
                            </a:rPr>
                            <a:t>1.1377</a:t>
                          </a:r>
                          <a:endParaRPr lang="en-IN" sz="12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596259586"/>
                      </a:ext>
                    </a:extLst>
                  </a:tr>
                  <a:tr h="381227">
                    <a:tc>
                      <a:txBody>
                        <a:bodyPr/>
                        <a:lstStyle/>
                        <a:p>
                          <a:pPr marL="457200" algn="ctr">
                            <a:lnSpc>
                              <a:spcPct val="150000"/>
                            </a:lnSpc>
                          </a:pPr>
                          <a:r>
                            <a:rPr lang="en-IN" sz="1200">
                              <a:effectLst/>
                            </a:rPr>
                            <a:t>2.02</a:t>
                          </a:r>
                          <a:endParaRPr lang="en-IN" sz="12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457200" algn="ctr">
                            <a:lnSpc>
                              <a:spcPct val="150000"/>
                            </a:lnSpc>
                          </a:pPr>
                          <a:r>
                            <a:rPr lang="en-IN" sz="1200">
                              <a:effectLst/>
                            </a:rPr>
                            <a:t>0.5202</a:t>
                          </a:r>
                          <a:endParaRPr lang="en-IN" sz="12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457200" algn="ctr">
                            <a:lnSpc>
                              <a:spcPct val="150000"/>
                            </a:lnSpc>
                          </a:pPr>
                          <a:r>
                            <a:rPr lang="en-IN" sz="1200">
                              <a:effectLst/>
                            </a:rPr>
                            <a:t>1.1371</a:t>
                          </a:r>
                          <a:endParaRPr lang="en-IN" sz="12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3241801697"/>
                      </a:ext>
                    </a:extLst>
                  </a:tr>
                  <a:tr h="381227">
                    <a:tc>
                      <a:txBody>
                        <a:bodyPr/>
                        <a:lstStyle/>
                        <a:p>
                          <a:pPr marL="457200" algn="ctr">
                            <a:lnSpc>
                              <a:spcPct val="150000"/>
                            </a:lnSpc>
                          </a:pPr>
                          <a:r>
                            <a:rPr lang="en-IN" sz="1200">
                              <a:effectLst/>
                            </a:rPr>
                            <a:t>2.03</a:t>
                          </a:r>
                          <a:endParaRPr lang="en-IN" sz="12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457200" algn="ctr">
                            <a:lnSpc>
                              <a:spcPct val="150000"/>
                            </a:lnSpc>
                          </a:pPr>
                          <a:r>
                            <a:rPr lang="en-IN" sz="1200">
                              <a:effectLst/>
                            </a:rPr>
                            <a:t>0.514</a:t>
                          </a:r>
                          <a:endParaRPr lang="en-IN" sz="12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457200" algn="ctr">
                            <a:lnSpc>
                              <a:spcPct val="150000"/>
                            </a:lnSpc>
                          </a:pPr>
                          <a:r>
                            <a:rPr lang="en-IN" sz="1200">
                              <a:effectLst/>
                            </a:rPr>
                            <a:t>1.1365</a:t>
                          </a:r>
                          <a:endParaRPr lang="en-IN" sz="12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3387801556"/>
                      </a:ext>
                    </a:extLst>
                  </a:tr>
                  <a:tr h="381227">
                    <a:tc>
                      <a:txBody>
                        <a:bodyPr/>
                        <a:lstStyle/>
                        <a:p>
                          <a:pPr marL="457200" algn="ctr">
                            <a:lnSpc>
                              <a:spcPct val="150000"/>
                            </a:lnSpc>
                          </a:pPr>
                          <a:r>
                            <a:rPr lang="en-IN" sz="1200">
                              <a:effectLst/>
                            </a:rPr>
                            <a:t>2.1</a:t>
                          </a:r>
                          <a:endParaRPr lang="en-IN" sz="12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457200" algn="ctr">
                            <a:lnSpc>
                              <a:spcPct val="150000"/>
                            </a:lnSpc>
                          </a:pPr>
                          <a:r>
                            <a:rPr lang="en-IN" sz="1200">
                              <a:effectLst/>
                            </a:rPr>
                            <a:t>0.4734</a:t>
                          </a:r>
                          <a:endParaRPr lang="en-IN" sz="12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457200" algn="ctr">
                            <a:lnSpc>
                              <a:spcPct val="150000"/>
                            </a:lnSpc>
                          </a:pPr>
                          <a:r>
                            <a:rPr lang="en-IN" sz="1200">
                              <a:effectLst/>
                            </a:rPr>
                            <a:t>1.1325</a:t>
                          </a:r>
                          <a:endParaRPr lang="en-IN" sz="12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192776257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31701EB8-95E3-4D26-A4ED-2ECFB3004EC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023032448"/>
                  </p:ext>
                </p:extLst>
              </p:nvPr>
            </p:nvGraphicFramePr>
            <p:xfrm>
              <a:off x="991135" y="2455239"/>
              <a:ext cx="5618070" cy="2332903"/>
            </p:xfrm>
            <a:graphic>
              <a:graphicData uri="http://schemas.openxmlformats.org/drawingml/2006/table">
                <a:tbl>
                  <a:tblPr firstRow="1" firstCol="1" bandRow="1">
                    <a:tableStyleId>{0505E3EF-67EA-436B-97B2-0124C06EBD24}</a:tableStyleId>
                  </a:tblPr>
                  <a:tblGrid>
                    <a:gridCol w="2044474">
                      <a:extLst>
                        <a:ext uri="{9D8B030D-6E8A-4147-A177-3AD203B41FA5}">
                          <a16:colId xmlns:a16="http://schemas.microsoft.com/office/drawing/2014/main" val="38982279"/>
                        </a:ext>
                      </a:extLst>
                    </a:gridCol>
                    <a:gridCol w="1878559">
                      <a:extLst>
                        <a:ext uri="{9D8B030D-6E8A-4147-A177-3AD203B41FA5}">
                          <a16:colId xmlns:a16="http://schemas.microsoft.com/office/drawing/2014/main" val="872883637"/>
                        </a:ext>
                      </a:extLst>
                    </a:gridCol>
                    <a:gridCol w="1695037">
                      <a:extLst>
                        <a:ext uri="{9D8B030D-6E8A-4147-A177-3AD203B41FA5}">
                          <a16:colId xmlns:a16="http://schemas.microsoft.com/office/drawing/2014/main" val="3933599767"/>
                        </a:ext>
                      </a:extLst>
                    </a:gridCol>
                  </a:tblGrid>
                  <a:tr h="807995">
                    <a:tc>
                      <a:txBody>
                        <a:bodyPr/>
                        <a:lstStyle/>
                        <a:p>
                          <a:pPr marL="457200" algn="ctr">
                            <a:lnSpc>
                              <a:spcPct val="150000"/>
                            </a:lnSpc>
                          </a:pPr>
                          <a:r>
                            <a:rPr lang="en-IN" sz="1200">
                              <a:effectLst/>
                            </a:rPr>
                            <a:t>Interparticle distance</a:t>
                          </a:r>
                          <a:endParaRPr lang="en-IN" sz="12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blipFill>
                          <a:blip r:embed="rId5"/>
                          <a:stretch>
                            <a:fillRect l="-109061" t="-752" r="-90615" b="-19022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blipFill>
                          <a:blip r:embed="rId5"/>
                          <a:stretch>
                            <a:fillRect l="-232374" t="-752" r="-719" b="-19022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3431240"/>
                      </a:ext>
                    </a:extLst>
                  </a:tr>
                  <a:tr h="381227">
                    <a:tc>
                      <a:txBody>
                        <a:bodyPr/>
                        <a:lstStyle/>
                        <a:p>
                          <a:pPr marL="457200" algn="ctr">
                            <a:lnSpc>
                              <a:spcPct val="150000"/>
                            </a:lnSpc>
                          </a:pPr>
                          <a:r>
                            <a:rPr lang="en-IN" sz="1200">
                              <a:effectLst/>
                            </a:rPr>
                            <a:t>2.01</a:t>
                          </a:r>
                          <a:endParaRPr lang="en-IN" sz="12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457200" algn="ctr">
                            <a:lnSpc>
                              <a:spcPct val="150000"/>
                            </a:lnSpc>
                          </a:pPr>
                          <a:r>
                            <a:rPr lang="en-IN" sz="1200">
                              <a:effectLst/>
                            </a:rPr>
                            <a:t>0.5266</a:t>
                          </a:r>
                          <a:endParaRPr lang="en-IN" sz="12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457200" algn="ctr">
                            <a:lnSpc>
                              <a:spcPct val="150000"/>
                            </a:lnSpc>
                          </a:pPr>
                          <a:r>
                            <a:rPr lang="en-IN" sz="1200">
                              <a:effectLst/>
                            </a:rPr>
                            <a:t>1.1377</a:t>
                          </a:r>
                          <a:endParaRPr lang="en-IN" sz="12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596259586"/>
                      </a:ext>
                    </a:extLst>
                  </a:tr>
                  <a:tr h="381227">
                    <a:tc>
                      <a:txBody>
                        <a:bodyPr/>
                        <a:lstStyle/>
                        <a:p>
                          <a:pPr marL="457200" algn="ctr">
                            <a:lnSpc>
                              <a:spcPct val="150000"/>
                            </a:lnSpc>
                          </a:pPr>
                          <a:r>
                            <a:rPr lang="en-IN" sz="1200">
                              <a:effectLst/>
                            </a:rPr>
                            <a:t>2.02</a:t>
                          </a:r>
                          <a:endParaRPr lang="en-IN" sz="12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457200" algn="ctr">
                            <a:lnSpc>
                              <a:spcPct val="150000"/>
                            </a:lnSpc>
                          </a:pPr>
                          <a:r>
                            <a:rPr lang="en-IN" sz="1200">
                              <a:effectLst/>
                            </a:rPr>
                            <a:t>0.5202</a:t>
                          </a:r>
                          <a:endParaRPr lang="en-IN" sz="12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457200" algn="ctr">
                            <a:lnSpc>
                              <a:spcPct val="150000"/>
                            </a:lnSpc>
                          </a:pPr>
                          <a:r>
                            <a:rPr lang="en-IN" sz="1200">
                              <a:effectLst/>
                            </a:rPr>
                            <a:t>1.1371</a:t>
                          </a:r>
                          <a:endParaRPr lang="en-IN" sz="12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3241801697"/>
                      </a:ext>
                    </a:extLst>
                  </a:tr>
                  <a:tr h="381227">
                    <a:tc>
                      <a:txBody>
                        <a:bodyPr/>
                        <a:lstStyle/>
                        <a:p>
                          <a:pPr marL="457200" algn="ctr">
                            <a:lnSpc>
                              <a:spcPct val="150000"/>
                            </a:lnSpc>
                          </a:pPr>
                          <a:r>
                            <a:rPr lang="en-IN" sz="1200">
                              <a:effectLst/>
                            </a:rPr>
                            <a:t>2.03</a:t>
                          </a:r>
                          <a:endParaRPr lang="en-IN" sz="12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457200" algn="ctr">
                            <a:lnSpc>
                              <a:spcPct val="150000"/>
                            </a:lnSpc>
                          </a:pPr>
                          <a:r>
                            <a:rPr lang="en-IN" sz="1200">
                              <a:effectLst/>
                            </a:rPr>
                            <a:t>0.514</a:t>
                          </a:r>
                          <a:endParaRPr lang="en-IN" sz="12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457200" algn="ctr">
                            <a:lnSpc>
                              <a:spcPct val="150000"/>
                            </a:lnSpc>
                          </a:pPr>
                          <a:r>
                            <a:rPr lang="en-IN" sz="1200">
                              <a:effectLst/>
                            </a:rPr>
                            <a:t>1.1365</a:t>
                          </a:r>
                          <a:endParaRPr lang="en-IN" sz="12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3387801556"/>
                      </a:ext>
                    </a:extLst>
                  </a:tr>
                  <a:tr h="381227">
                    <a:tc>
                      <a:txBody>
                        <a:bodyPr/>
                        <a:lstStyle/>
                        <a:p>
                          <a:pPr marL="457200" algn="ctr">
                            <a:lnSpc>
                              <a:spcPct val="150000"/>
                            </a:lnSpc>
                          </a:pPr>
                          <a:r>
                            <a:rPr lang="en-IN" sz="1200">
                              <a:effectLst/>
                            </a:rPr>
                            <a:t>2.1</a:t>
                          </a:r>
                          <a:endParaRPr lang="en-IN" sz="12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457200" algn="ctr">
                            <a:lnSpc>
                              <a:spcPct val="150000"/>
                            </a:lnSpc>
                          </a:pPr>
                          <a:r>
                            <a:rPr lang="en-IN" sz="1200">
                              <a:effectLst/>
                            </a:rPr>
                            <a:t>0.4734</a:t>
                          </a:r>
                          <a:endParaRPr lang="en-IN" sz="12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457200" algn="ctr">
                            <a:lnSpc>
                              <a:spcPct val="150000"/>
                            </a:lnSpc>
                          </a:pPr>
                          <a:r>
                            <a:rPr lang="en-IN" sz="1200">
                              <a:effectLst/>
                            </a:rPr>
                            <a:t>1.1325</a:t>
                          </a:r>
                          <a:endParaRPr lang="en-IN" sz="12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1927762572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6" name="Rectangle 5">
            <a:extLst>
              <a:ext uri="{FF2B5EF4-FFF2-40B4-BE49-F238E27FC236}">
                <a16:creationId xmlns:a16="http://schemas.microsoft.com/office/drawing/2014/main" id="{58BED053-562E-4E6C-9854-0669B06D1EF3}"/>
              </a:ext>
            </a:extLst>
          </p:cNvPr>
          <p:cNvSpPr/>
          <p:nvPr/>
        </p:nvSpPr>
        <p:spPr>
          <a:xfrm>
            <a:off x="174171" y="188686"/>
            <a:ext cx="11843657" cy="645885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4608F7E-6EBA-4116-9A7C-448FD0BF72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3CAD28-B1A9-4A64-9DD6-3376C7DEC3B0}" type="slidenum">
              <a:rPr lang="en-IN" smtClean="0"/>
              <a:t>53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77153140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9E48A9B-9EED-4F97-9312-A865EF63FC0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288" b="5779"/>
          <a:stretch/>
        </p:blipFill>
        <p:spPr>
          <a:xfrm>
            <a:off x="4160038" y="3496696"/>
            <a:ext cx="3481614" cy="294309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3D65EC4-C5E3-48C3-9CDF-C69035DECEA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288" b="6726"/>
          <a:stretch/>
        </p:blipFill>
        <p:spPr>
          <a:xfrm>
            <a:off x="678425" y="3557740"/>
            <a:ext cx="3481614" cy="294309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C1FFFAA-184B-4431-8E30-6B2AE718CE8B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5339" b="5909"/>
          <a:stretch/>
        </p:blipFill>
        <p:spPr>
          <a:xfrm>
            <a:off x="4233863" y="524266"/>
            <a:ext cx="3407789" cy="291138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C3DCC6F-150C-4A03-A277-A98FD488ABA4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3288" b="4191"/>
          <a:stretch/>
        </p:blipFill>
        <p:spPr>
          <a:xfrm>
            <a:off x="678425" y="584120"/>
            <a:ext cx="3481613" cy="294309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F43D1D1-B257-4F6F-87A2-CB358440EE66}"/>
              </a:ext>
            </a:extLst>
          </p:cNvPr>
          <p:cNvSpPr txBox="1"/>
          <p:nvPr/>
        </p:nvSpPr>
        <p:spPr>
          <a:xfrm>
            <a:off x="2673832" y="6378750"/>
            <a:ext cx="412365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/>
              <a:t>Number of monomers (N)</a:t>
            </a:r>
            <a:endParaRPr lang="en-IN" sz="1400" b="1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3B7B5DFD-4087-4091-AAA0-D2B0DAC2743D}"/>
              </a:ext>
            </a:extLst>
          </p:cNvPr>
          <p:cNvCxnSpPr/>
          <p:nvPr/>
        </p:nvCxnSpPr>
        <p:spPr>
          <a:xfrm>
            <a:off x="5325887" y="6532638"/>
            <a:ext cx="165462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A9538CBE-703F-4A74-BD13-CA5044F9979D}"/>
                  </a:ext>
                </a:extLst>
              </p:cNvPr>
              <p:cNvSpPr txBox="1"/>
              <p:nvPr/>
            </p:nvSpPr>
            <p:spPr>
              <a:xfrm rot="16200000">
                <a:off x="-685391" y="3215554"/>
                <a:ext cx="2074332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400" b="1"/>
                  <a:t>Penetration depth 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400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400" b="1" i="1" smtClean="0">
                            <a:latin typeface="Cambria Math" panose="02040503050406030204" pitchFamily="18" charset="0"/>
                          </a:rPr>
                          <m:t>𝜹</m:t>
                        </m:r>
                      </m:e>
                      <m:sup>
                        <m:r>
                          <a:rPr lang="en-US" sz="1400" b="1" i="1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sz="1400" b="1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IN" sz="1400" b="1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A9538CBE-703F-4A74-BD13-CA5044F997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-685391" y="3215554"/>
                <a:ext cx="2074332" cy="307777"/>
              </a:xfrm>
              <a:prstGeom prst="rect">
                <a:avLst/>
              </a:prstGeom>
              <a:blipFill>
                <a:blip r:embed="rId6"/>
                <a:stretch>
                  <a:fillRect l="-1961" r="-19608" b="-882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19BE9A93-2CB3-4B45-8C64-064CB3479D25}"/>
              </a:ext>
            </a:extLst>
          </p:cNvPr>
          <p:cNvCxnSpPr/>
          <p:nvPr/>
        </p:nvCxnSpPr>
        <p:spPr>
          <a:xfrm flipV="1">
            <a:off x="351775" y="1253613"/>
            <a:ext cx="0" cy="129785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3388828D-E0EB-4199-9CD4-27E42F216117}"/>
              </a:ext>
            </a:extLst>
          </p:cNvPr>
          <p:cNvSpPr/>
          <p:nvPr/>
        </p:nvSpPr>
        <p:spPr>
          <a:xfrm>
            <a:off x="174171" y="188686"/>
            <a:ext cx="11843657" cy="645885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0E646FF-8357-452B-AC3C-14FB5FB4CE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3CAD28-B1A9-4A64-9DD6-3376C7DEC3B0}" type="slidenum">
              <a:rPr lang="en-IN" smtClean="0"/>
              <a:t>54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3583181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77A5ECA-BB72-437E-91E9-6022996DBABE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3425752" y="2758638"/>
            <a:ext cx="4585622" cy="285609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51158CC-B83F-477B-AF30-37BF783B596E}"/>
              </a:ext>
            </a:extLst>
          </p:cNvPr>
          <p:cNvSpPr txBox="1"/>
          <p:nvPr/>
        </p:nvSpPr>
        <p:spPr>
          <a:xfrm>
            <a:off x="1855956" y="433471"/>
            <a:ext cx="1054743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C00000"/>
                </a:solidFill>
              </a:rPr>
              <a:t>Does the penetration depth change as ambient fluid velocity increases?</a:t>
            </a:r>
            <a:endParaRPr lang="en-IN" sz="2400" b="1" dirty="0">
              <a:solidFill>
                <a:srgbClr val="C0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CFFCAC78-BFD3-4399-A7B0-F5870A5CB8BD}"/>
                  </a:ext>
                </a:extLst>
              </p:cNvPr>
              <p:cNvSpPr txBox="1"/>
              <p:nvPr/>
            </p:nvSpPr>
            <p:spPr>
              <a:xfrm>
                <a:off x="848031" y="1112112"/>
                <a:ext cx="9158749" cy="112274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lnSpc>
                    <a:spcPct val="200000"/>
                  </a:lnSpc>
                  <a:buFont typeface="Arial" panose="020B0604020202020204" pitchFamily="34" charset="0"/>
                  <a:buChar char="•"/>
                </a:pPr>
                <a:r>
                  <a:rPr lang="en-US" dirty="0"/>
                  <a:t>Ambient fluid velocity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is increased from 1 to 2 and 3.</a:t>
                </a:r>
              </a:p>
              <a:p>
                <a:pPr marL="285750" indent="-285750">
                  <a:lnSpc>
                    <a:spcPct val="200000"/>
                  </a:lnSpc>
                  <a:buFont typeface="Arial" panose="020B0604020202020204" pitchFamily="34" charset="0"/>
                  <a:buChar char="•"/>
                </a:pPr>
                <a:r>
                  <a:rPr lang="en-US" dirty="0"/>
                  <a:t>Fluid velocity within increases by a factor of 2 and 3.</a:t>
                </a:r>
                <a:endParaRPr lang="en-IN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CFFCAC78-BFD3-4399-A7B0-F5870A5CB8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8031" y="1112112"/>
                <a:ext cx="9158749" cy="1122743"/>
              </a:xfrm>
              <a:prstGeom prst="rect">
                <a:avLst/>
              </a:prstGeom>
              <a:blipFill>
                <a:blip r:embed="rId3"/>
                <a:stretch>
                  <a:fillRect l="-399" b="-756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ectangle 5">
            <a:extLst>
              <a:ext uri="{FF2B5EF4-FFF2-40B4-BE49-F238E27FC236}">
                <a16:creationId xmlns:a16="http://schemas.microsoft.com/office/drawing/2014/main" id="{598D6E01-2305-4182-ACEA-687416839AA6}"/>
              </a:ext>
            </a:extLst>
          </p:cNvPr>
          <p:cNvSpPr/>
          <p:nvPr/>
        </p:nvSpPr>
        <p:spPr>
          <a:xfrm>
            <a:off x="174171" y="188686"/>
            <a:ext cx="11843657" cy="645885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CF68EAB-7221-4B6E-9A9E-22BE029B9D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3CAD28-B1A9-4A64-9DD6-3376C7DEC3B0}" type="slidenum">
              <a:rPr lang="en-IN" smtClean="0"/>
              <a:t>55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26224164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F1FEFD4F-7CA6-4C92-88C9-A9CB0370E51C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7030318" y="2096745"/>
            <a:ext cx="3840882" cy="3256676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3DF8A8BE-13DD-4297-9EC0-FC068C3409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3629" y="2096745"/>
            <a:ext cx="3970603" cy="336624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0A728C5-31FB-4A85-892A-FCDD4AB81095}"/>
              </a:ext>
            </a:extLst>
          </p:cNvPr>
          <p:cNvSpPr txBox="1"/>
          <p:nvPr/>
        </p:nvSpPr>
        <p:spPr>
          <a:xfrm>
            <a:off x="3329175" y="551545"/>
            <a:ext cx="6908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Penetration depth for spherical aggregate</a:t>
            </a:r>
            <a:endParaRPr lang="en-IN" sz="2400" b="1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0B8ADF3-B969-4B4C-B8D7-1FEDBF393D6B}"/>
              </a:ext>
            </a:extLst>
          </p:cNvPr>
          <p:cNvSpPr/>
          <p:nvPr/>
        </p:nvSpPr>
        <p:spPr>
          <a:xfrm>
            <a:off x="174171" y="188686"/>
            <a:ext cx="11843657" cy="645885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CD9D8C0-834A-42CC-9A83-D43E2D4F47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3CAD28-B1A9-4A64-9DD6-3376C7DEC3B0}" type="slidenum">
              <a:rPr lang="en-IN" smtClean="0"/>
              <a:t>56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02993790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7B38ED8-36A8-4249-AF0B-E6AEFC9C0FAA}"/>
              </a:ext>
            </a:extLst>
          </p:cNvPr>
          <p:cNvSpPr txBox="1"/>
          <p:nvPr/>
        </p:nvSpPr>
        <p:spPr>
          <a:xfrm>
            <a:off x="3715657" y="435428"/>
            <a:ext cx="51090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Deformable aggregates</a:t>
            </a:r>
            <a:endParaRPr lang="en-IN" sz="2400" b="1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0351EF57-9202-4FFE-83BB-CEBA0F9E8620}"/>
                  </a:ext>
                </a:extLst>
              </p:cNvPr>
              <p:cNvSpPr txBox="1"/>
              <p:nvPr/>
            </p:nvSpPr>
            <p:spPr>
              <a:xfrm>
                <a:off x="471715" y="938378"/>
                <a:ext cx="10377714" cy="506420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sz="180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Depending on the type of interparticle interaction, the structure can stay rigid or deform.</a:t>
                </a: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sz="180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Interaction potentials depends either on centre-to-centre distance or surface separation distance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>
                    <a:latin typeface="Times New Roman" panose="02020603050405020304" pitchFamily="18" charset="0"/>
                  </a:rPr>
                  <a:t>Spring-like interactions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1800" i="1" smtClean="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𝑝</m:t>
                          </m:r>
                          <m: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 </m:t>
                          </m:r>
                        </m:sub>
                      </m:sSub>
                      <m:r>
                        <a:rPr lang="en-IN" sz="180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IN" sz="1800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𝑘</m:t>
                      </m:r>
                      <m:nary>
                        <m:naryPr>
                          <m:chr m:val="∑"/>
                          <m:ctrlPr>
                            <a:rPr lang="en-IN" sz="18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𝑗</m:t>
                          </m:r>
                          <m: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=1,</m:t>
                          </m:r>
                          <m: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𝑗</m:t>
                          </m:r>
                          <m:r>
                            <a:rPr lang="en-IN" sz="18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≠</m:t>
                          </m:r>
                          <m: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3</m:t>
                          </m:r>
                        </m:sup>
                        <m:e>
                          <m:f>
                            <m:fPr>
                              <m:ctrlPr>
                                <a:rPr lang="en-IN" sz="18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fPr>
                            <m:num>
                              <m:d>
                                <m:dPr>
                                  <m:ctrlPr>
                                    <a:rPr lang="en-IN" sz="1800" i="1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en-IN" sz="1800" i="1">
                                          <a:effectLst/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IN" sz="1800" i="1">
                                              <a:effectLst/>
                                              <a:latin typeface="Cambria Math" panose="02040503050406030204" pitchFamily="18" charset="0"/>
                                              <a:ea typeface="Calibri" panose="020F0502020204030204" pitchFamily="34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800" i="1">
                                              <a:effectLst/>
                                              <a:latin typeface="Cambria Math" panose="02040503050406030204" pitchFamily="18" charset="0"/>
                                              <a:ea typeface="Calibri" panose="020F0502020204030204" pitchFamily="34" charset="0"/>
                                              <a:cs typeface="Times New Roman" panose="02020603050405020304" pitchFamily="18" charset="0"/>
                                            </a:rPr>
                                            <m:t>𝑟</m:t>
                                          </m:r>
                                        </m:e>
                                        <m:sub>
                                          <m:r>
                                            <a:rPr lang="en-IN" sz="1800" i="1">
                                              <a:effectLst/>
                                              <a:latin typeface="Cambria Math" panose="02040503050406030204" pitchFamily="18" charset="0"/>
                                              <a:ea typeface="Calibri" panose="020F0502020204030204" pitchFamily="34" charset="0"/>
                                              <a:cs typeface="Times New Roman" panose="02020603050405020304" pitchFamily="18" charset="0"/>
                                            </a:rPr>
                                            <m:t>𝑖</m:t>
                                          </m:r>
                                          <m:r>
                                            <a:rPr lang="en-US" sz="1800" i="1">
                                              <a:effectLst/>
                                              <a:latin typeface="Cambria Math" panose="02040503050406030204" pitchFamily="18" charset="0"/>
                                              <a:ea typeface="Calibri" panose="020F0502020204030204" pitchFamily="34" charset="0"/>
                                              <a:cs typeface="Times New Roman" panose="02020603050405020304" pitchFamily="18" charset="0"/>
                                            </a:rPr>
                                            <m:t>𝑗</m:t>
                                          </m:r>
                                        </m:sub>
                                      </m:sSub>
                                    </m:e>
                                  </m:d>
                                  <m:r>
                                    <a:rPr lang="en-IN" sz="1800" i="1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IN" sz="1800" i="1">
                                          <a:effectLst/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800" i="1">
                                          <a:effectLst/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  <m:t>𝑟</m:t>
                                      </m:r>
                                    </m:e>
                                    <m:sub>
                                      <m:r>
                                        <a:rPr lang="en-US" sz="1800" i="1">
                                          <a:effectLst/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</m:e>
                              </m:d>
                              <m:sSub>
                                <m:sSubPr>
                                  <m:ctrlPr>
                                    <a:rPr lang="en-IN" sz="1800" i="1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 i="1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𝑟</m:t>
                                  </m:r>
                                </m:e>
                                <m:sub>
                                  <m:r>
                                    <a:rPr lang="en-US" sz="1800" i="1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𝑖𝑗</m:t>
                                  </m:r>
                                </m:sub>
                              </m:sSub>
                            </m:num>
                            <m:den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IN" sz="1800" i="1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IN" sz="1800" i="1">
                                          <a:effectLst/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800" i="1">
                                          <a:effectLst/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  <m:t>𝑟</m:t>
                                      </m:r>
                                    </m:e>
                                    <m:sub>
                                      <m:r>
                                        <a:rPr lang="en-US" sz="1800" i="1">
                                          <a:effectLst/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  <m:t>𝑖𝑗</m:t>
                                      </m:r>
                                    </m:sub>
                                  </m:sSub>
                                </m:e>
                              </m:d>
                            </m:den>
                          </m:f>
                        </m:e>
                      </m:nary>
                    </m:oMath>
                  </m:oMathPara>
                </a14:m>
                <a:endParaRPr lang="en-IN" sz="180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285750" indent="-285750">
                  <a:spcAft>
                    <a:spcPts val="800"/>
                  </a:spcAft>
                  <a:buFont typeface="Arial" panose="020B0604020202020204" pitchFamily="34" charset="0"/>
                  <a:buChar char="•"/>
                </a:pPr>
                <a:endParaRPr lang="en-IN" sz="180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285750" indent="-285750">
                  <a:spcAft>
                    <a:spcPts val="800"/>
                  </a:spcAft>
                  <a:buFont typeface="Arial" panose="020B0604020202020204" pitchFamily="34" charset="0"/>
                  <a:buChar char="•"/>
                </a:pPr>
                <a:r>
                  <a:rPr lang="en-IN" sz="1800" i="1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van der Waals + Born repulsion</a:t>
                </a:r>
                <a:endParaRPr lang="en-IN" sz="180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algn="ctr"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18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𝑝</m:t>
                          </m:r>
                        </m:sub>
                      </m:sSub>
                      <m:r>
                        <a:rPr lang="en-US" sz="1800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IN" sz="18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d>
                            <m:dPr>
                              <m:begChr m:val="["/>
                              <m:endChr m:val="]"/>
                              <m:ctrlPr>
                                <a:rPr lang="en-IN" sz="18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en-IN" sz="1800" i="1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1800" i="1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𝐴</m:t>
                                  </m:r>
                                </m:num>
                                <m:den>
                                  <m:r>
                                    <a:rPr lang="en-US" sz="1800" i="1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12</m:t>
                                  </m:r>
                                  <m:r>
                                    <a:rPr lang="en-US" sz="1800" i="1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𝑎</m:t>
                                  </m:r>
                                  <m:sSup>
                                    <m:sSupPr>
                                      <m:ctrlPr>
                                        <a:rPr lang="en-IN" sz="1800" i="1">
                                          <a:effectLst/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1800" i="1">
                                          <a:effectLst/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  <m:t>h</m:t>
                                      </m:r>
                                    </m:e>
                                    <m:sup>
                                      <m:r>
                                        <a:rPr lang="en-US" sz="1800" i="1">
                                          <a:effectLst/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den>
                              </m:f>
                              <m: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lang="en-IN" sz="1800" i="1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1800" i="1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𝐴</m:t>
                                  </m:r>
                                </m:num>
                                <m:den>
                                  <m:r>
                                    <a:rPr lang="en-US" sz="1800" i="1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360</m:t>
                                  </m:r>
                                  <m:r>
                                    <a:rPr lang="en-US" sz="1800" i="1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𝑎</m:t>
                                  </m:r>
                                </m:den>
                              </m:f>
                              <m:sSup>
                                <m:sSupPr>
                                  <m:ctrlPr>
                                    <a:rPr lang="en-IN" sz="1800" i="1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IN" sz="1800" i="1">
                                          <a:effectLst/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dPr>
                                    <m:e>
                                      <m:f>
                                        <m:fPr>
                                          <m:ctrlPr>
                                            <a:rPr lang="en-IN" sz="1800" i="1">
                                              <a:effectLst/>
                                              <a:latin typeface="Cambria Math" panose="02040503050406030204" pitchFamily="18" charset="0"/>
                                              <a:ea typeface="Calibri" panose="020F0502020204030204" pitchFamily="34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a:rPr lang="en-US" sz="1800" i="1">
                                              <a:effectLst/>
                                              <a:latin typeface="Cambria Math" panose="02040503050406030204" pitchFamily="18" charset="0"/>
                                              <a:ea typeface="Calibri" panose="020F0502020204030204" pitchFamily="34" charset="0"/>
                                              <a:cs typeface="Times New Roman" panose="02020603050405020304" pitchFamily="18" charset="0"/>
                                            </a:rPr>
                                            <m:t>𝜎</m:t>
                                          </m:r>
                                        </m:num>
                                        <m:den>
                                          <m:r>
                                            <a:rPr lang="en-US" sz="1800" i="1">
                                              <a:effectLst/>
                                              <a:latin typeface="Cambria Math" panose="02040503050406030204" pitchFamily="18" charset="0"/>
                                              <a:ea typeface="Calibri" panose="020F0502020204030204" pitchFamily="34" charset="0"/>
                                              <a:cs typeface="Times New Roman" panose="02020603050405020304" pitchFamily="18" charset="0"/>
                                            </a:rPr>
                                            <m:t>𝑎</m:t>
                                          </m:r>
                                        </m:den>
                                      </m:f>
                                    </m:e>
                                  </m:d>
                                </m:e>
                                <m:sup>
                                  <m:r>
                                    <a:rPr lang="en-US" sz="1800" i="1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6</m:t>
                                  </m:r>
                                </m:sup>
                              </m:sSup>
                              <m:f>
                                <m:fPr>
                                  <m:ctrlPr>
                                    <a:rPr lang="en-IN" sz="1800" i="1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1800" i="1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sSup>
                                    <m:sSupPr>
                                      <m:ctrlPr>
                                        <a:rPr lang="en-IN" sz="1800" i="1">
                                          <a:effectLst/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1800" i="1">
                                          <a:effectLst/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  <m:t>h</m:t>
                                      </m:r>
                                    </m:e>
                                    <m:sup>
                                      <m:r>
                                        <a:rPr lang="en-US" sz="1800" i="1">
                                          <a:effectLst/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  <m:t>8</m:t>
                                      </m:r>
                                    </m:sup>
                                  </m:sSup>
                                </m:den>
                              </m:f>
                            </m:e>
                          </m:d>
                        </m:num>
                        <m:den>
                          <m: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6</m:t>
                          </m:r>
                          <m: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𝜋𝜂</m:t>
                          </m:r>
                          <m: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𝑎</m:t>
                          </m:r>
                          <m:sSub>
                            <m:sSubPr>
                              <m:ctrlPr>
                                <a:rPr lang="en-IN" sz="18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𝑈</m:t>
                              </m:r>
                            </m:e>
                            <m:sub>
                              <m: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𝑠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IN"/>
              </a:p>
              <a:p>
                <a:pPr algn="ctr">
                  <a:spcAft>
                    <a:spcPts val="800"/>
                  </a:spcAft>
                </a:pPr>
                <a:r>
                  <a:rPr lang="en-IN"/>
                  <a:t>with minima at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𝑜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=0.5673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IN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</m:ctrlPr>
                          </m:fPr>
                          <m:num>
                            <m:r>
                              <a:rPr lang="en-US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𝜎</m:t>
                            </m:r>
                          </m:num>
                          <m:den>
                            <m:r>
                              <a:rPr lang="en-US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𝑎</m:t>
                            </m:r>
                          </m:den>
                        </m:f>
                      </m:e>
                    </m:d>
                  </m:oMath>
                </a14:m>
                <a:endParaRPr lang="en-IN"/>
              </a:p>
              <a:p>
                <a:r>
                  <a:rPr lang="en-US" b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New particle position obtained by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U</m:t>
                      </m:r>
                      <m:r>
                        <a:rPr lang="en-US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u</m:t>
                          </m:r>
                        </m:e>
                        <m:sub>
                          <m:r>
                            <a:rPr lang="en-US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∞</m:t>
                          </m:r>
                        </m:sub>
                      </m:sSub>
                      <m:r>
                        <a:rPr lang="en-US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IN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IN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R</m:t>
                          </m:r>
                        </m:e>
                        <m:sup>
                          <m:r>
                            <a:rPr lang="en-IN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r>
                        <a:rPr lang="en-US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[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F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p</m:t>
                          </m:r>
                        </m:sub>
                      </m:sSub>
                      <m:r>
                        <a:rPr lang="en-US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F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e</m:t>
                          </m:r>
                        </m:sub>
                      </m:sSub>
                      <m:r>
                        <a:rPr lang="en-US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en-IN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ctr">
                  <a:spcAft>
                    <a:spcPts val="800"/>
                  </a:spcAft>
                </a:pPr>
                <a:endParaRPr lang="en-IN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0351EF57-9202-4FFE-83BB-CEBA0F9E86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1715" y="938378"/>
                <a:ext cx="10377714" cy="5064207"/>
              </a:xfrm>
              <a:prstGeom prst="rect">
                <a:avLst/>
              </a:prstGeom>
              <a:blipFill>
                <a:blip r:embed="rId2"/>
                <a:stretch>
                  <a:fillRect l="-47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6B33D66-5E7D-4422-8082-1313B4A71934}"/>
                  </a:ext>
                </a:extLst>
              </p:cNvPr>
              <p:cNvSpPr txBox="1"/>
              <p:nvPr/>
            </p:nvSpPr>
            <p:spPr>
              <a:xfrm>
                <a:off x="7572827" y="3636263"/>
                <a:ext cx="3860801" cy="127682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1400" i="1" smtClean="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h</m:t>
                      </m:r>
                      <m:r>
                        <a:rPr lang="en-IN" sz="1400" i="1" smtClean="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400" b="0" i="1" smtClean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IN" sz="1400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𝑠𝑢𝑟𝑓𝑎𝑐𝑒</m:t>
                          </m:r>
                          <m:r>
                            <a:rPr lang="en-IN" sz="1400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 </m:t>
                          </m:r>
                          <m:r>
                            <a:rPr lang="en-IN" sz="1400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𝑡𝑜</m:t>
                          </m:r>
                          <m:r>
                            <a:rPr lang="en-IN" sz="1400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 </m:t>
                          </m:r>
                          <m:r>
                            <a:rPr lang="en-IN" sz="1400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𝑠𝑢𝑟𝑓𝑎𝑐𝑒</m:t>
                          </m:r>
                          <m:r>
                            <a:rPr lang="en-US" sz="1400" b="0" i="1" smtClean="0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 </m:t>
                          </m:r>
                          <m:r>
                            <a:rPr lang="en-US" sz="1400" b="0" i="1" smtClean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𝑑𝑖𝑠𝑡𝑎𝑛𝑐𝑒</m:t>
                          </m:r>
                        </m:num>
                        <m:den>
                          <m:r>
                            <a:rPr lang="en-US" sz="1400" b="0" i="1" smtClean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𝑝𝑎𝑟𝑡𝑖𝑐𝑙𝑒</m:t>
                          </m:r>
                          <m:r>
                            <a:rPr lang="en-US" sz="1400" b="0" i="1" smtClean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 </m:t>
                          </m:r>
                          <m:r>
                            <a:rPr lang="en-US" sz="1400" b="0" i="1" smtClean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𝑟𝑎𝑑𝑖𝑢𝑠</m:t>
                          </m:r>
                        </m:den>
                      </m:f>
                      <m:r>
                        <a:rPr lang="en-IN" sz="1400" i="1" smtClean="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  </m:t>
                      </m:r>
                    </m:oMath>
                  </m:oMathPara>
                </a14:m>
                <a:endParaRPr lang="en-US" sz="1400" i="1">
                  <a:effectLst/>
                  <a:latin typeface="Cambria Math" panose="02040503050406030204" pitchFamily="18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1400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𝐴</m:t>
                      </m:r>
                      <m:r>
                        <a:rPr lang="en-IN" sz="1400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IN" sz="1400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𝐻𝑎𝑚𝑎𝑘𝑎𝑟</m:t>
                      </m:r>
                      <m:r>
                        <a:rPr lang="en-IN" sz="1400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lang="en-IN" sz="1400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𝑐𝑜𝑛𝑠𝑡𝑎𝑛𝑡</m:t>
                      </m:r>
                      <m:r>
                        <a:rPr lang="en-US" sz="1400" b="0" i="0" smtClean="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en-US" sz="1400" b="0" i="0" smtClean="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J</m:t>
                      </m:r>
                      <m:r>
                        <a:rPr lang="en-US" sz="1400" b="0" i="0" smtClean="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)</m:t>
                      </m:r>
                    </m:oMath>
                  </m:oMathPara>
                </a14:m>
                <a:endParaRPr lang="en-IN" sz="140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1400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lang="en-IN" sz="1400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𝑎</m:t>
                      </m:r>
                      <m:r>
                        <a:rPr lang="en-IN" sz="1400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IN" sz="1400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𝑚𝑜𝑛𝑜𝑚𝑒𝑟</m:t>
                      </m:r>
                      <m:r>
                        <a:rPr lang="en-IN" sz="1400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lang="en-IN" sz="1400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𝑟𝑎𝑑𝑖𝑢𝑠</m:t>
                      </m:r>
                      <m:r>
                        <a:rPr lang="en-US" sz="1400" b="0" i="1" smtClean="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(</m:t>
                      </m:r>
                      <m:r>
                        <a:rPr lang="en-US" sz="1400" b="0" i="1" smtClean="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𝑚</m:t>
                      </m:r>
                      <m:r>
                        <a:rPr lang="en-US" sz="1400" b="0" i="1" smtClean="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)</m:t>
                      </m:r>
                    </m:oMath>
                  </m:oMathPara>
                </a14:m>
                <a:endParaRPr lang="en-IN" sz="140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6B33D66-5E7D-4422-8082-1313B4A719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72827" y="3636263"/>
                <a:ext cx="3860801" cy="127682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Rectangle 7">
            <a:extLst>
              <a:ext uri="{FF2B5EF4-FFF2-40B4-BE49-F238E27FC236}">
                <a16:creationId xmlns:a16="http://schemas.microsoft.com/office/drawing/2014/main" id="{A62BC4C3-5658-48E6-B6F2-FBC213503E2B}"/>
              </a:ext>
            </a:extLst>
          </p:cNvPr>
          <p:cNvSpPr/>
          <p:nvPr/>
        </p:nvSpPr>
        <p:spPr>
          <a:xfrm>
            <a:off x="174171" y="188686"/>
            <a:ext cx="11843657" cy="645885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718CF05-83D0-4B5E-A919-110C80E274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3CAD28-B1A9-4A64-9DD6-3376C7DEC3B0}" type="slidenum">
              <a:rPr lang="en-IN" smtClean="0"/>
              <a:t>57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640854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19"/>
    </mc:Choice>
    <mc:Fallback xmlns="">
      <p:transition spd="slow" advTm="2019"/>
    </mc:Fallback>
  </mc:AlternateContent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0DCD69F-A5AC-49C6-812A-027EEBA53D9C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5550944" y="4450857"/>
            <a:ext cx="2769506" cy="207444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FE46ED5-3977-46A0-8C5E-4C9EB0E36396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8615907" y="4440742"/>
            <a:ext cx="2632664" cy="207444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E48BCA4-7322-4B0B-8A4F-C438753A82F5}"/>
              </a:ext>
            </a:extLst>
          </p:cNvPr>
          <p:cNvPicPr/>
          <p:nvPr/>
        </p:nvPicPr>
        <p:blipFill rotWithShape="1">
          <a:blip r:embed="rId4"/>
          <a:srcRect t="8646" b="669"/>
          <a:stretch/>
        </p:blipFill>
        <p:spPr bwMode="auto">
          <a:xfrm>
            <a:off x="5675086" y="2276293"/>
            <a:ext cx="2645364" cy="2074449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C252813-32DB-46B9-9639-A00815B8559F}"/>
              </a:ext>
            </a:extLst>
          </p:cNvPr>
          <p:cNvPicPr/>
          <p:nvPr/>
        </p:nvPicPr>
        <p:blipFill rotWithShape="1">
          <a:blip r:embed="rId5"/>
          <a:srcRect t="7289"/>
          <a:stretch/>
        </p:blipFill>
        <p:spPr bwMode="auto">
          <a:xfrm>
            <a:off x="8615907" y="2276292"/>
            <a:ext cx="2531064" cy="207445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0F0B8771-E916-4440-B5B5-F2C88C48DE28}"/>
              </a:ext>
            </a:extLst>
          </p:cNvPr>
          <p:cNvSpPr txBox="1"/>
          <p:nvPr/>
        </p:nvSpPr>
        <p:spPr>
          <a:xfrm>
            <a:off x="528094" y="2333252"/>
            <a:ext cx="6096000" cy="4580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i="1">
                <a:latin typeface="Arial" panose="020B0604020202020204" pitchFamily="34" charset="0"/>
                <a:cs typeface="Arial" panose="020B0604020202020204" pitchFamily="34" charset="0"/>
              </a:rPr>
              <a:t>Spring-like interactions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2E1E34D-9B49-4E68-8538-F4E609EA64CC}"/>
              </a:ext>
            </a:extLst>
          </p:cNvPr>
          <p:cNvPicPr/>
          <p:nvPr/>
        </p:nvPicPr>
        <p:blipFill>
          <a:blip r:embed="rId6"/>
          <a:stretch>
            <a:fillRect/>
          </a:stretch>
        </p:blipFill>
        <p:spPr>
          <a:xfrm>
            <a:off x="783771" y="816692"/>
            <a:ext cx="1543050" cy="122872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B1431D13-3068-4CA6-B3A0-B4F8929E881A}"/>
                  </a:ext>
                </a:extLst>
              </p:cNvPr>
              <p:cNvSpPr txBox="1"/>
              <p:nvPr/>
            </p:nvSpPr>
            <p:spPr>
              <a:xfrm>
                <a:off x="1722596" y="447360"/>
                <a:ext cx="9424375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400" b="1">
                    <a:solidFill>
                      <a:srgbClr val="C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Three-particle system</a:t>
                </a:r>
              </a:p>
              <a:p>
                <a:pPr algn="ctr"/>
                <a:r>
                  <a:rPr lang="en-US" sz="1600">
                    <a:latin typeface="Arial" panose="020B0604020202020204" pitchFamily="34" charset="0"/>
                    <a:cs typeface="Arial" panose="020B0604020202020204" pitchFamily="34" charset="0"/>
                  </a:rPr>
                  <a:t>Attaining equilibrium distances </a:t>
                </a:r>
                <a:r>
                  <a:rPr lang="en-IN" sz="1600">
                    <a:effectLst/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without fluid flowing 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IN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IN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𝑢</m:t>
                        </m:r>
                      </m:e>
                      <m:sup>
                        <m:r>
                          <a:rPr lang="en-IN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∞</m:t>
                        </m:r>
                      </m:sup>
                    </m:sSup>
                    <m:r>
                      <a:rPr lang="en-IN" sz="16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=0</m:t>
                    </m:r>
                  </m:oMath>
                </a14:m>
                <a:r>
                  <a:rPr lang="en-IN" sz="1600">
                    <a:effectLst/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) or any forces acting.</a:t>
                </a:r>
                <a:endParaRPr lang="en-IN" sz="160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B1431D13-3068-4CA6-B3A0-B4F8929E88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22596" y="447360"/>
                <a:ext cx="9424375" cy="707886"/>
              </a:xfrm>
              <a:prstGeom prst="rect">
                <a:avLst/>
              </a:prstGeom>
              <a:blipFill>
                <a:blip r:embed="rId7"/>
                <a:stretch>
                  <a:fillRect t="-5983" b="-9402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3F599684-D9D5-414F-89E8-A406E5FE2C55}"/>
                  </a:ext>
                </a:extLst>
              </p:cNvPr>
              <p:cNvSpPr txBox="1"/>
              <p:nvPr/>
            </p:nvSpPr>
            <p:spPr>
              <a:xfrm>
                <a:off x="783771" y="2736613"/>
                <a:ext cx="3504995" cy="120032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1800" i="1" smtClean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IN" sz="1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IN" sz="1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12</m:t>
                          </m:r>
                        </m:sub>
                      </m:sSub>
                      <m:r>
                        <a:rPr lang="en-IN" sz="1800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IN" sz="1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IN" sz="1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IN" sz="1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13</m:t>
                          </m:r>
                        </m:sub>
                      </m:sSub>
                      <m:r>
                        <a:rPr lang="en-IN" sz="1800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sz="1800" b="0" i="1" smtClean="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2.5</m:t>
                      </m:r>
                    </m:oMath>
                  </m:oMathPara>
                </a14:m>
                <a:endParaRPr lang="en-IN" sz="180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IN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IN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23</m:t>
                        </m:r>
                      </m:sub>
                    </m:sSub>
                    <m:r>
                      <a:rPr lang="en-US" sz="1800" b="0" i="1" smtClea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=2.113</m:t>
                    </m:r>
                  </m:oMath>
                </a14:m>
                <a:r>
                  <a:rPr lang="en-IN" sz="180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</a:p>
              <a:p>
                <a:r>
                  <a:rPr lang="en-US"/>
                  <a:t>Equilibrium distance,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𝑜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=2.5</m:t>
                    </m:r>
                  </m:oMath>
                </a14:m>
                <a:endParaRPr lang="en-IN"/>
              </a:p>
              <a:p>
                <a:r>
                  <a:rPr lang="en-US" b="0"/>
                  <a:t>Spring constant,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=0.5</m:t>
                    </m:r>
                  </m:oMath>
                </a14:m>
                <a:endParaRPr lang="en-IN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3F599684-D9D5-414F-89E8-A406E5FE2C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3771" y="2736613"/>
                <a:ext cx="3504995" cy="1200329"/>
              </a:xfrm>
              <a:prstGeom prst="rect">
                <a:avLst/>
              </a:prstGeom>
              <a:blipFill>
                <a:blip r:embed="rId8"/>
                <a:stretch>
                  <a:fillRect l="-1565" b="-710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AE8FD8DA-C4A5-4C3E-ADC4-7529FEF1A55E}"/>
                  </a:ext>
                </a:extLst>
              </p:cNvPr>
              <p:cNvSpPr txBox="1"/>
              <p:nvPr/>
            </p:nvSpPr>
            <p:spPr>
              <a:xfrm>
                <a:off x="901768" y="4809943"/>
                <a:ext cx="3800861" cy="156921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1800" i="1" smtClean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IN" sz="1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IN" sz="1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12</m:t>
                          </m:r>
                        </m:sub>
                      </m:sSub>
                      <m:r>
                        <a:rPr lang="en-IN" sz="1800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IN" sz="1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IN" sz="1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IN" sz="1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13</m:t>
                          </m:r>
                        </m:sub>
                      </m:sSub>
                      <m:r>
                        <a:rPr lang="en-IN" sz="1800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sz="1800" b="0" i="1" smtClean="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2.0113</m:t>
                      </m:r>
                    </m:oMath>
                  </m:oMathPara>
                </a14:m>
                <a:endParaRPr lang="en-US" sz="1800" b="0" i="1">
                  <a:effectLst/>
                  <a:latin typeface="Cambria Math" panose="02040503050406030204" pitchFamily="18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1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IN" sz="1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IN" sz="1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23</m:t>
                          </m:r>
                        </m:sub>
                      </m:sSub>
                      <m:r>
                        <a:rPr lang="en-US" sz="1800" b="0" i="1" smtClean="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=2.1</m:t>
                      </m:r>
                    </m:oMath>
                  </m:oMathPara>
                </a14:m>
                <a:endParaRPr lang="en-IN" sz="180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r>
                  <a:rPr lang="en-US"/>
                  <a:t>Equilibrium distance,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𝑜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=2.0113</m:t>
                    </m:r>
                  </m:oMath>
                </a14:m>
                <a:endParaRPr lang="en-IN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=1 ×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10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−20</m:t>
                          </m:r>
                        </m:sup>
                      </m:sSup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J</m:t>
                      </m:r>
                    </m:oMath>
                  </m:oMathPara>
                </a14:m>
                <a:endParaRPr lang="en-US" b="0">
                  <a:ea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=0.02</m:t>
                    </m:r>
                  </m:oMath>
                </a14:m>
                <a:r>
                  <a:rPr lang="en-US" b="0">
                    <a:ea typeface="Cambria Math" panose="02040503050406030204" pitchFamily="18" charset="0"/>
                  </a:rPr>
                  <a:t> where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=10 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𝑛𝑚</m:t>
                    </m:r>
                  </m:oMath>
                </a14:m>
                <a:endParaRPr lang="en-US" b="0"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AE8FD8DA-C4A5-4C3E-ADC4-7529FEF1A5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1768" y="4809943"/>
                <a:ext cx="3800861" cy="1569212"/>
              </a:xfrm>
              <a:prstGeom prst="rect">
                <a:avLst/>
              </a:prstGeom>
              <a:blipFill>
                <a:blip r:embed="rId9"/>
                <a:stretch>
                  <a:fillRect l="-1445" b="-194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TextBox 16">
            <a:extLst>
              <a:ext uri="{FF2B5EF4-FFF2-40B4-BE49-F238E27FC236}">
                <a16:creationId xmlns:a16="http://schemas.microsoft.com/office/drawing/2014/main" id="{0C1500C5-F83B-430A-8611-328D13030212}"/>
              </a:ext>
            </a:extLst>
          </p:cNvPr>
          <p:cNvSpPr txBox="1"/>
          <p:nvPr/>
        </p:nvSpPr>
        <p:spPr>
          <a:xfrm>
            <a:off x="528094" y="4422747"/>
            <a:ext cx="6096000" cy="416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lang="en-IN" sz="1600" i="1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van der Waals + Born repulsion</a:t>
            </a:r>
            <a:endParaRPr lang="en-IN" sz="1600"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758C00F-E136-4B80-8735-49EB15E13355}"/>
              </a:ext>
            </a:extLst>
          </p:cNvPr>
          <p:cNvSpPr/>
          <p:nvPr/>
        </p:nvSpPr>
        <p:spPr>
          <a:xfrm>
            <a:off x="174171" y="188686"/>
            <a:ext cx="11843657" cy="645885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A037F7F-D4A5-4994-9402-C1C41DF622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3CAD28-B1A9-4A64-9DD6-3376C7DEC3B0}" type="slidenum">
              <a:rPr lang="en-IN" smtClean="0"/>
              <a:t>58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227614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12"/>
    </mc:Choice>
    <mc:Fallback xmlns="">
      <p:transition spd="slow" advTm="212"/>
    </mc:Fallback>
  </mc:AlternateContent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68E72D8A-04B9-41CD-9D17-19DC4942B9EC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6607265" y="3375072"/>
            <a:ext cx="3817802" cy="2959916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97151446-C336-4E88-8EE0-0D4576E2C434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1352414" y="3375072"/>
            <a:ext cx="3817802" cy="2959916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7251C679-9C30-4EAA-A72A-29435E2F88F2}"/>
              </a:ext>
            </a:extLst>
          </p:cNvPr>
          <p:cNvPicPr/>
          <p:nvPr/>
        </p:nvPicPr>
        <p:blipFill>
          <a:blip r:embed="rId4"/>
          <a:stretch>
            <a:fillRect/>
          </a:stretch>
        </p:blipFill>
        <p:spPr>
          <a:xfrm>
            <a:off x="8244909" y="1028632"/>
            <a:ext cx="1021080" cy="166016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06EB16A-E35E-4A69-A406-AB1F9F6CEA2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90245" y="1101407"/>
            <a:ext cx="1628775" cy="1257300"/>
          </a:xfrm>
          <a:prstGeom prst="rect">
            <a:avLst/>
          </a:prstGeom>
        </p:spPr>
      </p:pic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7A6AE126-51B7-4E31-9F72-56FA07660E39}"/>
              </a:ext>
            </a:extLst>
          </p:cNvPr>
          <p:cNvCxnSpPr>
            <a:cxnSpLocks/>
          </p:cNvCxnSpPr>
          <p:nvPr/>
        </p:nvCxnSpPr>
        <p:spPr>
          <a:xfrm flipH="1" flipV="1">
            <a:off x="3645742" y="2035503"/>
            <a:ext cx="461801" cy="27375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D5FE43E6-9E11-4F6D-B414-0A511B58FDE6}"/>
              </a:ext>
            </a:extLst>
          </p:cNvPr>
          <p:cNvSpPr txBox="1"/>
          <p:nvPr/>
        </p:nvSpPr>
        <p:spPr>
          <a:xfrm>
            <a:off x="4108706" y="2234939"/>
            <a:ext cx="18515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/>
              <a:t>Particle 2 given a force in positive z-direction</a:t>
            </a:r>
            <a:endParaRPr lang="en-IN" sz="120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CC80809-5102-4FDA-AFEB-7E67F164BC9A}"/>
              </a:ext>
            </a:extLst>
          </p:cNvPr>
          <p:cNvSpPr txBox="1"/>
          <p:nvPr/>
        </p:nvSpPr>
        <p:spPr>
          <a:xfrm>
            <a:off x="7772242" y="2645419"/>
            <a:ext cx="457476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/>
              <a:t>Particle 3 given a force in negative-z direction</a:t>
            </a:r>
            <a:endParaRPr lang="en-IN" sz="120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1B58C1D-72D5-4466-BB8D-8F82940221FE}"/>
              </a:ext>
            </a:extLst>
          </p:cNvPr>
          <p:cNvSpPr txBox="1"/>
          <p:nvPr/>
        </p:nvSpPr>
        <p:spPr>
          <a:xfrm>
            <a:off x="3645741" y="2979468"/>
            <a:ext cx="52548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>
                <a:latin typeface="Arial" panose="020B0604020202020204" pitchFamily="34" charset="0"/>
                <a:cs typeface="Arial" panose="020B0604020202020204" pitchFamily="34" charset="0"/>
              </a:rPr>
              <a:t>Pair 2-3 comes closer and 1-2 goes a little further away</a:t>
            </a:r>
            <a:endParaRPr lang="en-IN" sz="1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B446642-E966-4F9B-BF6F-8653BA8F5934}"/>
              </a:ext>
            </a:extLst>
          </p:cNvPr>
          <p:cNvSpPr txBox="1"/>
          <p:nvPr/>
        </p:nvSpPr>
        <p:spPr>
          <a:xfrm>
            <a:off x="3048000" y="346646"/>
            <a:ext cx="609600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Three-particle system</a:t>
            </a:r>
          </a:p>
          <a:p>
            <a:pPr algn="ctr"/>
            <a:r>
              <a:rPr lang="en-US">
                <a:latin typeface="Times New Roman" panose="02020603050405020304" pitchFamily="18" charset="0"/>
              </a:rPr>
              <a:t>Spring-like interactions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FA2E076-EABC-4F27-947D-32D1995EE890}"/>
              </a:ext>
            </a:extLst>
          </p:cNvPr>
          <p:cNvSpPr/>
          <p:nvPr/>
        </p:nvSpPr>
        <p:spPr>
          <a:xfrm>
            <a:off x="174171" y="188686"/>
            <a:ext cx="11843657" cy="645885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0A4B427-9798-4DD1-ADEA-460C09FE56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3CAD28-B1A9-4A64-9DD6-3376C7DEC3B0}" type="slidenum">
              <a:rPr lang="en-IN" smtClean="0"/>
              <a:t>59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713772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81"/>
    </mc:Choice>
    <mc:Fallback xmlns="">
      <p:transition spd="slow" advTm="381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 panose="020F030202020403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Calibri" panose="020F0502020204030204"/>
      <a:ea typeface=""/>
      <a:cs typeface=""/>
      <a:font script="Jpan" typeface="游明朝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6703</TotalTime>
  <Words>4838</Words>
  <Application>Microsoft Office PowerPoint</Application>
  <PresentationFormat>Widescreen</PresentationFormat>
  <Paragraphs>982</Paragraphs>
  <Slides>59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59</vt:i4>
      </vt:variant>
    </vt:vector>
  </HeadingPairs>
  <TitlesOfParts>
    <vt:vector size="67" baseType="lpstr">
      <vt:lpstr>Arial</vt:lpstr>
      <vt:lpstr>Calibri</vt:lpstr>
      <vt:lpstr>Calibri Light</vt:lpstr>
      <vt:lpstr>Cambria Math</vt:lpstr>
      <vt:lpstr>Symbol</vt:lpstr>
      <vt:lpstr>Times New Roman</vt:lpstr>
      <vt:lpstr>Wingdings</vt:lpstr>
      <vt:lpstr>Office Theme</vt:lpstr>
      <vt:lpstr>Hydrodynamics of Fractal Aggregates</vt:lpstr>
      <vt:lpstr>MOTIVATION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</vt:lpstr>
      <vt:lpstr>Extras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Ashwin Amalaruban</dc:creator>
  <cp:lastModifiedBy>Ashwin Amalaruban</cp:lastModifiedBy>
  <cp:revision>183</cp:revision>
  <dcterms:created xsi:type="dcterms:W3CDTF">2021-07-03T07:39:46Z</dcterms:created>
  <dcterms:modified xsi:type="dcterms:W3CDTF">2023-03-30T15:01:11Z</dcterms:modified>
</cp:coreProperties>
</file>