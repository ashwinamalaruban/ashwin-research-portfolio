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140756613" r:id="rId2"/>
    <p:sldId id="2140756634" r:id="rId3"/>
    <p:sldId id="2140756618" r:id="rId4"/>
    <p:sldId id="264" r:id="rId5"/>
    <p:sldId id="2140756627" r:id="rId6"/>
    <p:sldId id="2140756631" r:id="rId7"/>
    <p:sldId id="2140756628" r:id="rId8"/>
    <p:sldId id="2140756624" r:id="rId9"/>
    <p:sldId id="2140756615" r:id="rId10"/>
    <p:sldId id="2140756616" r:id="rId11"/>
    <p:sldId id="2140756633" r:id="rId12"/>
    <p:sldId id="2140756620" r:id="rId13"/>
    <p:sldId id="214075662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id="{B5E17A6D-E906-4D9B-88B1-017B5641C009}">
          <p14:sldIdLst>
            <p14:sldId id="2140756613"/>
          </p14:sldIdLst>
        </p14:section>
        <p14:section name="Introduction" id="{0C768C0F-7A4D-42ED-A5B5-3977BCB3E828}">
          <p14:sldIdLst>
            <p14:sldId id="2140756634"/>
            <p14:sldId id="2140756618"/>
          </p14:sldIdLst>
        </p14:section>
        <p14:section name="Paper #1" id="{4934739C-8083-47C0-90BF-093877010614}">
          <p14:sldIdLst>
            <p14:sldId id="264"/>
            <p14:sldId id="2140756627"/>
            <p14:sldId id="2140756631"/>
            <p14:sldId id="2140756628"/>
          </p14:sldIdLst>
        </p14:section>
        <p14:section name="Paper #2" id="{7DC483B1-630E-45EF-ADA6-6E2E4BD73B6A}">
          <p14:sldIdLst>
            <p14:sldId id="2140756624"/>
            <p14:sldId id="2140756615"/>
            <p14:sldId id="2140756616"/>
          </p14:sldIdLst>
        </p14:section>
        <p14:section name="Extras" id="{DB30114F-FF41-4F91-A71C-F5166C72E11F}">
          <p14:sldIdLst>
            <p14:sldId id="2140756633"/>
            <p14:sldId id="2140756620"/>
            <p14:sldId id="21407566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E00"/>
    <a:srgbClr val="60A500"/>
    <a:srgbClr val="FF8181"/>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0068" autoAdjust="0"/>
  </p:normalViewPr>
  <p:slideViewPr>
    <p:cSldViewPr snapToGrid="0">
      <p:cViewPr varScale="1">
        <p:scale>
          <a:sx n="109" d="100"/>
          <a:sy n="109" d="100"/>
        </p:scale>
        <p:origin x="116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3E19B-FDD9-42F0-A03D-A20669E03820}" type="datetimeFigureOut">
              <a:rPr lang="en-IN" smtClean="0"/>
              <a:t>28/04/26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366559-A847-402F-8308-8C848C66C50F}" type="slidenum">
              <a:rPr lang="en-IN" smtClean="0"/>
              <a:t>‹#›</a:t>
            </a:fld>
            <a:endParaRPr lang="en-IN"/>
          </a:p>
        </p:txBody>
      </p:sp>
    </p:spTree>
    <p:extLst>
      <p:ext uri="{BB962C8B-B14F-4D97-AF65-F5344CB8AC3E}">
        <p14:creationId xmlns:p14="http://schemas.microsoft.com/office/powerpoint/2010/main" val="2823226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F248E-36C2-8CEC-4A59-4464DF84F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1E9DB-2828-76E7-0C20-24CE5F821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DF34E3-E979-0619-53E8-A5B9A6A7A22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8E7BF65-66DB-81EB-C0A0-49506A29E4BC}"/>
              </a:ext>
            </a:extLst>
          </p:cNvPr>
          <p:cNvSpPr>
            <a:spLocks noGrp="1"/>
          </p:cNvSpPr>
          <p:nvPr>
            <p:ph type="sldNum" sz="quarter" idx="5"/>
          </p:nvPr>
        </p:nvSpPr>
        <p:spPr/>
        <p:txBody>
          <a:bodyPr/>
          <a:lstStyle/>
          <a:p>
            <a:fld id="{35DF1F71-334D-41F0-BAC4-FA8E521FB9D3}" type="slidenum">
              <a:rPr lang="en-IN" smtClean="0"/>
              <a:t>1</a:t>
            </a:fld>
            <a:endParaRPr lang="en-IN"/>
          </a:p>
        </p:txBody>
      </p:sp>
    </p:spTree>
    <p:extLst>
      <p:ext uri="{BB962C8B-B14F-4D97-AF65-F5344CB8AC3E}">
        <p14:creationId xmlns:p14="http://schemas.microsoft.com/office/powerpoint/2010/main" val="2188824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F248E-36C2-8CEC-4A59-4464DF84F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1E9DB-2828-76E7-0C20-24CE5F821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DF34E3-E979-0619-53E8-A5B9A6A7A22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8E7BF65-66DB-81EB-C0A0-49506A29E4BC}"/>
              </a:ext>
            </a:extLst>
          </p:cNvPr>
          <p:cNvSpPr>
            <a:spLocks noGrp="1"/>
          </p:cNvSpPr>
          <p:nvPr>
            <p:ph type="sldNum" sz="quarter" idx="5"/>
          </p:nvPr>
        </p:nvSpPr>
        <p:spPr/>
        <p:txBody>
          <a:bodyPr/>
          <a:lstStyle/>
          <a:p>
            <a:fld id="{35DF1F71-334D-41F0-BAC4-FA8E521FB9D3}" type="slidenum">
              <a:rPr lang="en-IN" smtClean="0"/>
              <a:t>2</a:t>
            </a:fld>
            <a:endParaRPr lang="en-IN"/>
          </a:p>
        </p:txBody>
      </p:sp>
    </p:spTree>
    <p:extLst>
      <p:ext uri="{BB962C8B-B14F-4D97-AF65-F5344CB8AC3E}">
        <p14:creationId xmlns:p14="http://schemas.microsoft.com/office/powerpoint/2010/main" val="1068229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F248E-36C2-8CEC-4A59-4464DF84F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1E9DB-2828-76E7-0C20-24CE5F821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DF34E3-E979-0619-53E8-A5B9A6A7A22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8E7BF65-66DB-81EB-C0A0-49506A29E4BC}"/>
              </a:ext>
            </a:extLst>
          </p:cNvPr>
          <p:cNvSpPr>
            <a:spLocks noGrp="1"/>
          </p:cNvSpPr>
          <p:nvPr>
            <p:ph type="sldNum" sz="quarter" idx="5"/>
          </p:nvPr>
        </p:nvSpPr>
        <p:spPr/>
        <p:txBody>
          <a:bodyPr/>
          <a:lstStyle/>
          <a:p>
            <a:fld id="{35DF1F71-334D-41F0-BAC4-FA8E521FB9D3}" type="slidenum">
              <a:rPr lang="en-IN" smtClean="0"/>
              <a:t>3</a:t>
            </a:fld>
            <a:endParaRPr lang="en-IN"/>
          </a:p>
        </p:txBody>
      </p:sp>
    </p:spTree>
    <p:extLst>
      <p:ext uri="{BB962C8B-B14F-4D97-AF65-F5344CB8AC3E}">
        <p14:creationId xmlns:p14="http://schemas.microsoft.com/office/powerpoint/2010/main" val="2245258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5DF1F71-334D-41F0-BAC4-FA8E521FB9D3}" type="slidenum">
              <a:rPr lang="en-IN" smtClean="0"/>
              <a:t>4</a:t>
            </a:fld>
            <a:endParaRPr lang="en-IN"/>
          </a:p>
        </p:txBody>
      </p:sp>
    </p:spTree>
    <p:extLst>
      <p:ext uri="{BB962C8B-B14F-4D97-AF65-F5344CB8AC3E}">
        <p14:creationId xmlns:p14="http://schemas.microsoft.com/office/powerpoint/2010/main" val="937621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5DF1F71-334D-41F0-BAC4-FA8E521FB9D3}" type="slidenum">
              <a:rPr lang="en-IN" smtClean="0"/>
              <a:t>6</a:t>
            </a:fld>
            <a:endParaRPr lang="en-IN"/>
          </a:p>
        </p:txBody>
      </p:sp>
    </p:spTree>
    <p:extLst>
      <p:ext uri="{BB962C8B-B14F-4D97-AF65-F5344CB8AC3E}">
        <p14:creationId xmlns:p14="http://schemas.microsoft.com/office/powerpoint/2010/main" val="2263149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F248E-36C2-8CEC-4A59-4464DF84F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1E9DB-2828-76E7-0C20-24CE5F821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DF34E3-E979-0619-53E8-A5B9A6A7A22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8E7BF65-66DB-81EB-C0A0-49506A29E4BC}"/>
              </a:ext>
            </a:extLst>
          </p:cNvPr>
          <p:cNvSpPr>
            <a:spLocks noGrp="1"/>
          </p:cNvSpPr>
          <p:nvPr>
            <p:ph type="sldNum" sz="quarter" idx="5"/>
          </p:nvPr>
        </p:nvSpPr>
        <p:spPr/>
        <p:txBody>
          <a:bodyPr/>
          <a:lstStyle/>
          <a:p>
            <a:fld id="{35DF1F71-334D-41F0-BAC4-FA8E521FB9D3}" type="slidenum">
              <a:rPr lang="en-IN" smtClean="0"/>
              <a:t>7</a:t>
            </a:fld>
            <a:endParaRPr lang="en-IN"/>
          </a:p>
        </p:txBody>
      </p:sp>
    </p:spTree>
    <p:extLst>
      <p:ext uri="{BB962C8B-B14F-4D97-AF65-F5344CB8AC3E}">
        <p14:creationId xmlns:p14="http://schemas.microsoft.com/office/powerpoint/2010/main" val="659491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5DF1F71-334D-41F0-BAC4-FA8E521FB9D3}" type="slidenum">
              <a:rPr lang="en-IN" smtClean="0"/>
              <a:t>8</a:t>
            </a:fld>
            <a:endParaRPr lang="en-IN"/>
          </a:p>
        </p:txBody>
      </p:sp>
    </p:spTree>
    <p:extLst>
      <p:ext uri="{BB962C8B-B14F-4D97-AF65-F5344CB8AC3E}">
        <p14:creationId xmlns:p14="http://schemas.microsoft.com/office/powerpoint/2010/main" val="2872409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F248E-36C2-8CEC-4A59-4464DF84F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1E9DB-2828-76E7-0C20-24CE5F821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DF34E3-E979-0619-53E8-A5B9A6A7A22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8E7BF65-66DB-81EB-C0A0-49506A29E4BC}"/>
              </a:ext>
            </a:extLst>
          </p:cNvPr>
          <p:cNvSpPr>
            <a:spLocks noGrp="1"/>
          </p:cNvSpPr>
          <p:nvPr>
            <p:ph type="sldNum" sz="quarter" idx="5"/>
          </p:nvPr>
        </p:nvSpPr>
        <p:spPr/>
        <p:txBody>
          <a:bodyPr/>
          <a:lstStyle/>
          <a:p>
            <a:fld id="{35DF1F71-334D-41F0-BAC4-FA8E521FB9D3}" type="slidenum">
              <a:rPr lang="en-IN" smtClean="0"/>
              <a:t>11</a:t>
            </a:fld>
            <a:endParaRPr lang="en-IN"/>
          </a:p>
        </p:txBody>
      </p:sp>
    </p:spTree>
    <p:extLst>
      <p:ext uri="{BB962C8B-B14F-4D97-AF65-F5344CB8AC3E}">
        <p14:creationId xmlns:p14="http://schemas.microsoft.com/office/powerpoint/2010/main" val="3820586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5DF1F71-334D-41F0-BAC4-FA8E521FB9D3}" type="slidenum">
              <a:rPr lang="en-IN" smtClean="0"/>
              <a:t>12</a:t>
            </a:fld>
            <a:endParaRPr lang="en-IN"/>
          </a:p>
        </p:txBody>
      </p:sp>
    </p:spTree>
    <p:extLst>
      <p:ext uri="{BB962C8B-B14F-4D97-AF65-F5344CB8AC3E}">
        <p14:creationId xmlns:p14="http://schemas.microsoft.com/office/powerpoint/2010/main" val="2678116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D0A02-E4A7-F131-21EC-D2577FC64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F305978-2598-83C9-34EF-F07984916A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69A11D-09F4-8FA3-D810-649B7E1A2854}"/>
              </a:ext>
            </a:extLst>
          </p:cNvPr>
          <p:cNvSpPr>
            <a:spLocks noGrp="1"/>
          </p:cNvSpPr>
          <p:nvPr>
            <p:ph type="dt" sz="half" idx="10"/>
          </p:nvPr>
        </p:nvSpPr>
        <p:spPr/>
        <p:txBody>
          <a:bodyPr/>
          <a:lstStyle/>
          <a:p>
            <a:fld id="{BC60FCC4-9F66-4DE7-B184-69B554A6CFC6}" type="datetime1">
              <a:rPr lang="en-IN" smtClean="0"/>
              <a:t>28/04/26</a:t>
            </a:fld>
            <a:endParaRPr lang="en-IN"/>
          </a:p>
        </p:txBody>
      </p:sp>
      <p:sp>
        <p:nvSpPr>
          <p:cNvPr id="5" name="Footer Placeholder 4">
            <a:extLst>
              <a:ext uri="{FF2B5EF4-FFF2-40B4-BE49-F238E27FC236}">
                <a16:creationId xmlns:a16="http://schemas.microsoft.com/office/drawing/2014/main" id="{350BCA02-50B2-159D-5D8B-261F42AC27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454164-0151-E867-85E7-FA59F6A1C625}"/>
              </a:ext>
            </a:extLst>
          </p:cNvPr>
          <p:cNvSpPr>
            <a:spLocks noGrp="1"/>
          </p:cNvSpPr>
          <p:nvPr>
            <p:ph type="sldNum" sz="quarter" idx="12"/>
          </p:nvPr>
        </p:nvSpPr>
        <p:spPr/>
        <p:txBody>
          <a:bodyPr/>
          <a:lstStyle/>
          <a:p>
            <a:fld id="{6DA720D1-8748-4EBF-A048-37349D77FEC8}" type="slidenum">
              <a:rPr lang="en-IN" smtClean="0"/>
              <a:t>‹#›</a:t>
            </a:fld>
            <a:endParaRPr lang="en-IN"/>
          </a:p>
        </p:txBody>
      </p:sp>
    </p:spTree>
    <p:extLst>
      <p:ext uri="{BB962C8B-B14F-4D97-AF65-F5344CB8AC3E}">
        <p14:creationId xmlns:p14="http://schemas.microsoft.com/office/powerpoint/2010/main" val="1175739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D7360-57AA-F448-5992-79BFF20A94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398AC0-F4B6-9DC5-6BD8-64740A621C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2D90F4-F52F-D56B-7BCC-CCC5D88F4A1C}"/>
              </a:ext>
            </a:extLst>
          </p:cNvPr>
          <p:cNvSpPr>
            <a:spLocks noGrp="1"/>
          </p:cNvSpPr>
          <p:nvPr>
            <p:ph type="dt" sz="half" idx="10"/>
          </p:nvPr>
        </p:nvSpPr>
        <p:spPr/>
        <p:txBody>
          <a:bodyPr/>
          <a:lstStyle/>
          <a:p>
            <a:fld id="{7AF62F1A-955E-47AC-8872-43FA4F810072}" type="datetime1">
              <a:rPr lang="en-IN" smtClean="0"/>
              <a:t>28/04/26</a:t>
            </a:fld>
            <a:endParaRPr lang="en-IN"/>
          </a:p>
        </p:txBody>
      </p:sp>
      <p:sp>
        <p:nvSpPr>
          <p:cNvPr id="5" name="Footer Placeholder 4">
            <a:extLst>
              <a:ext uri="{FF2B5EF4-FFF2-40B4-BE49-F238E27FC236}">
                <a16:creationId xmlns:a16="http://schemas.microsoft.com/office/drawing/2014/main" id="{A7F76C55-9C09-E7EE-C69A-64B917A491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3CE4C7-9DEE-945D-EA29-552EEA5E3317}"/>
              </a:ext>
            </a:extLst>
          </p:cNvPr>
          <p:cNvSpPr>
            <a:spLocks noGrp="1"/>
          </p:cNvSpPr>
          <p:nvPr>
            <p:ph type="sldNum" sz="quarter" idx="12"/>
          </p:nvPr>
        </p:nvSpPr>
        <p:spPr/>
        <p:txBody>
          <a:bodyPr/>
          <a:lstStyle/>
          <a:p>
            <a:fld id="{6DA720D1-8748-4EBF-A048-37349D77FEC8}" type="slidenum">
              <a:rPr lang="en-IN" smtClean="0"/>
              <a:t>‹#›</a:t>
            </a:fld>
            <a:endParaRPr lang="en-IN"/>
          </a:p>
        </p:txBody>
      </p:sp>
    </p:spTree>
    <p:extLst>
      <p:ext uri="{BB962C8B-B14F-4D97-AF65-F5344CB8AC3E}">
        <p14:creationId xmlns:p14="http://schemas.microsoft.com/office/powerpoint/2010/main" val="1388410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A0248-2339-ECF8-6D78-932DC45CB3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4E904A-9B4A-E21D-12C0-92C95C3E96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AB0F50-1822-05F9-5A98-84E41CABB6B3}"/>
              </a:ext>
            </a:extLst>
          </p:cNvPr>
          <p:cNvSpPr>
            <a:spLocks noGrp="1"/>
          </p:cNvSpPr>
          <p:nvPr>
            <p:ph type="dt" sz="half" idx="10"/>
          </p:nvPr>
        </p:nvSpPr>
        <p:spPr/>
        <p:txBody>
          <a:bodyPr/>
          <a:lstStyle/>
          <a:p>
            <a:fld id="{FBFB22E9-F7FE-465C-9E96-BC0AC9AD6CBA}" type="datetime1">
              <a:rPr lang="en-IN" smtClean="0"/>
              <a:t>28/04/26</a:t>
            </a:fld>
            <a:endParaRPr lang="en-IN"/>
          </a:p>
        </p:txBody>
      </p:sp>
      <p:sp>
        <p:nvSpPr>
          <p:cNvPr id="5" name="Footer Placeholder 4">
            <a:extLst>
              <a:ext uri="{FF2B5EF4-FFF2-40B4-BE49-F238E27FC236}">
                <a16:creationId xmlns:a16="http://schemas.microsoft.com/office/drawing/2014/main" id="{9C4FCC35-B41C-23B7-D999-9C33178672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681502-1967-71B7-BAA4-812BA8CA6723}"/>
              </a:ext>
            </a:extLst>
          </p:cNvPr>
          <p:cNvSpPr>
            <a:spLocks noGrp="1"/>
          </p:cNvSpPr>
          <p:nvPr>
            <p:ph type="sldNum" sz="quarter" idx="12"/>
          </p:nvPr>
        </p:nvSpPr>
        <p:spPr/>
        <p:txBody>
          <a:bodyPr/>
          <a:lstStyle/>
          <a:p>
            <a:fld id="{6DA720D1-8748-4EBF-A048-37349D77FEC8}" type="slidenum">
              <a:rPr lang="en-IN" smtClean="0"/>
              <a:t>‹#›</a:t>
            </a:fld>
            <a:endParaRPr lang="en-IN"/>
          </a:p>
        </p:txBody>
      </p:sp>
    </p:spTree>
    <p:extLst>
      <p:ext uri="{BB962C8B-B14F-4D97-AF65-F5344CB8AC3E}">
        <p14:creationId xmlns:p14="http://schemas.microsoft.com/office/powerpoint/2010/main" val="409330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66147-41D1-DCE7-747B-D568D44DE8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BFD5FC-CDA8-A29D-3F14-3DA4F8748A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3A1DC60-9EFF-21CD-73B7-4CE257DB7C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053CD9A-BFC3-A320-36A3-B25B3EEDA6B5}"/>
              </a:ext>
            </a:extLst>
          </p:cNvPr>
          <p:cNvSpPr>
            <a:spLocks noGrp="1"/>
          </p:cNvSpPr>
          <p:nvPr>
            <p:ph type="dt" sz="half" idx="10"/>
          </p:nvPr>
        </p:nvSpPr>
        <p:spPr/>
        <p:txBody>
          <a:bodyPr/>
          <a:lstStyle/>
          <a:p>
            <a:fld id="{2C8CF4EB-6BFC-47AC-B5C3-D3A5569DD7FD}" type="datetime1">
              <a:rPr lang="en-IN" smtClean="0"/>
              <a:t>28/04/26</a:t>
            </a:fld>
            <a:endParaRPr lang="en-IN"/>
          </a:p>
        </p:txBody>
      </p:sp>
      <p:sp>
        <p:nvSpPr>
          <p:cNvPr id="6" name="Footer Placeholder 5">
            <a:extLst>
              <a:ext uri="{FF2B5EF4-FFF2-40B4-BE49-F238E27FC236}">
                <a16:creationId xmlns:a16="http://schemas.microsoft.com/office/drawing/2014/main" id="{44F3DD72-1D54-2007-A6D2-F56D247309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549C7E-51C0-9F44-C73C-3F252F9C6CF0}"/>
              </a:ext>
            </a:extLst>
          </p:cNvPr>
          <p:cNvSpPr>
            <a:spLocks noGrp="1"/>
          </p:cNvSpPr>
          <p:nvPr>
            <p:ph type="sldNum" sz="quarter" idx="12"/>
          </p:nvPr>
        </p:nvSpPr>
        <p:spPr/>
        <p:txBody>
          <a:bodyPr/>
          <a:lstStyle/>
          <a:p>
            <a:fld id="{6DA720D1-8748-4EBF-A048-37349D77FEC8}" type="slidenum">
              <a:rPr lang="en-IN" smtClean="0"/>
              <a:t>‹#›</a:t>
            </a:fld>
            <a:endParaRPr lang="en-IN"/>
          </a:p>
        </p:txBody>
      </p:sp>
    </p:spTree>
    <p:extLst>
      <p:ext uri="{BB962C8B-B14F-4D97-AF65-F5344CB8AC3E}">
        <p14:creationId xmlns:p14="http://schemas.microsoft.com/office/powerpoint/2010/main" val="3220674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0C804-EBFE-6864-F5CD-38F4A19994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387D47-9625-ED64-9993-FA8495BA82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7ECF1B-65D3-3794-6C6D-5316DE65B8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88EA09D-0574-228B-FDEF-8F2CBC222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12456D-4E85-BC6E-9F38-A54877CA16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A22402-50F0-859F-3038-626FD5893D00}"/>
              </a:ext>
            </a:extLst>
          </p:cNvPr>
          <p:cNvSpPr>
            <a:spLocks noGrp="1"/>
          </p:cNvSpPr>
          <p:nvPr>
            <p:ph type="dt" sz="half" idx="10"/>
          </p:nvPr>
        </p:nvSpPr>
        <p:spPr/>
        <p:txBody>
          <a:bodyPr/>
          <a:lstStyle/>
          <a:p>
            <a:fld id="{D8FCBE23-0A62-418B-A941-6300C142B229}" type="datetime1">
              <a:rPr lang="en-IN" smtClean="0"/>
              <a:t>28/04/26</a:t>
            </a:fld>
            <a:endParaRPr lang="en-IN"/>
          </a:p>
        </p:txBody>
      </p:sp>
      <p:sp>
        <p:nvSpPr>
          <p:cNvPr id="8" name="Footer Placeholder 7">
            <a:extLst>
              <a:ext uri="{FF2B5EF4-FFF2-40B4-BE49-F238E27FC236}">
                <a16:creationId xmlns:a16="http://schemas.microsoft.com/office/drawing/2014/main" id="{E8B1D898-5CC9-549D-4C99-D99229684BE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26A34B1-568E-8542-8E37-89952AD6F093}"/>
              </a:ext>
            </a:extLst>
          </p:cNvPr>
          <p:cNvSpPr>
            <a:spLocks noGrp="1"/>
          </p:cNvSpPr>
          <p:nvPr>
            <p:ph type="sldNum" sz="quarter" idx="12"/>
          </p:nvPr>
        </p:nvSpPr>
        <p:spPr/>
        <p:txBody>
          <a:bodyPr/>
          <a:lstStyle/>
          <a:p>
            <a:fld id="{6DA720D1-8748-4EBF-A048-37349D77FEC8}" type="slidenum">
              <a:rPr lang="en-IN" smtClean="0"/>
              <a:t>‹#›</a:t>
            </a:fld>
            <a:endParaRPr lang="en-IN"/>
          </a:p>
        </p:txBody>
      </p:sp>
    </p:spTree>
    <p:extLst>
      <p:ext uri="{BB962C8B-B14F-4D97-AF65-F5344CB8AC3E}">
        <p14:creationId xmlns:p14="http://schemas.microsoft.com/office/powerpoint/2010/main" val="1099851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98BA2-7D68-B960-D919-5DBD7BC1F4B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66DFAC0-B308-A7EB-7BA9-5491278BE455}"/>
              </a:ext>
            </a:extLst>
          </p:cNvPr>
          <p:cNvSpPr>
            <a:spLocks noGrp="1"/>
          </p:cNvSpPr>
          <p:nvPr>
            <p:ph type="dt" sz="half" idx="10"/>
          </p:nvPr>
        </p:nvSpPr>
        <p:spPr/>
        <p:txBody>
          <a:bodyPr/>
          <a:lstStyle/>
          <a:p>
            <a:fld id="{64F9045A-7321-423C-BF0E-E1AF39140F99}" type="datetime1">
              <a:rPr lang="en-IN" smtClean="0"/>
              <a:t>28/04/26</a:t>
            </a:fld>
            <a:endParaRPr lang="en-IN"/>
          </a:p>
        </p:txBody>
      </p:sp>
      <p:sp>
        <p:nvSpPr>
          <p:cNvPr id="4" name="Footer Placeholder 3">
            <a:extLst>
              <a:ext uri="{FF2B5EF4-FFF2-40B4-BE49-F238E27FC236}">
                <a16:creationId xmlns:a16="http://schemas.microsoft.com/office/drawing/2014/main" id="{F004B337-1F5C-24C7-AD54-F7AC177F18F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25114A-A40E-C9AF-59DE-51F251475E30}"/>
              </a:ext>
            </a:extLst>
          </p:cNvPr>
          <p:cNvSpPr>
            <a:spLocks noGrp="1"/>
          </p:cNvSpPr>
          <p:nvPr>
            <p:ph type="sldNum" sz="quarter" idx="12"/>
          </p:nvPr>
        </p:nvSpPr>
        <p:spPr/>
        <p:txBody>
          <a:bodyPr/>
          <a:lstStyle/>
          <a:p>
            <a:fld id="{6DA720D1-8748-4EBF-A048-37349D77FEC8}" type="slidenum">
              <a:rPr lang="en-IN" smtClean="0"/>
              <a:t>‹#›</a:t>
            </a:fld>
            <a:endParaRPr lang="en-IN"/>
          </a:p>
        </p:txBody>
      </p:sp>
    </p:spTree>
    <p:extLst>
      <p:ext uri="{BB962C8B-B14F-4D97-AF65-F5344CB8AC3E}">
        <p14:creationId xmlns:p14="http://schemas.microsoft.com/office/powerpoint/2010/main" val="767169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15B5BD-BF8D-228C-AC23-7875C4794D11}"/>
              </a:ext>
            </a:extLst>
          </p:cNvPr>
          <p:cNvSpPr>
            <a:spLocks noGrp="1"/>
          </p:cNvSpPr>
          <p:nvPr>
            <p:ph type="dt" sz="half" idx="10"/>
          </p:nvPr>
        </p:nvSpPr>
        <p:spPr/>
        <p:txBody>
          <a:bodyPr/>
          <a:lstStyle/>
          <a:p>
            <a:fld id="{4409352A-3162-4BF4-A913-139B1AD367F0}" type="datetime1">
              <a:rPr lang="en-IN" smtClean="0"/>
              <a:t>28/04/26</a:t>
            </a:fld>
            <a:endParaRPr lang="en-IN"/>
          </a:p>
        </p:txBody>
      </p:sp>
      <p:sp>
        <p:nvSpPr>
          <p:cNvPr id="3" name="Footer Placeholder 2">
            <a:extLst>
              <a:ext uri="{FF2B5EF4-FFF2-40B4-BE49-F238E27FC236}">
                <a16:creationId xmlns:a16="http://schemas.microsoft.com/office/drawing/2014/main" id="{67FC8B59-4207-D224-5969-36EA085345A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D4FC56-9A8E-35CA-82B8-4B591A0F61F9}"/>
              </a:ext>
            </a:extLst>
          </p:cNvPr>
          <p:cNvSpPr>
            <a:spLocks noGrp="1"/>
          </p:cNvSpPr>
          <p:nvPr>
            <p:ph type="sldNum" sz="quarter" idx="12"/>
          </p:nvPr>
        </p:nvSpPr>
        <p:spPr/>
        <p:txBody>
          <a:bodyPr/>
          <a:lstStyle/>
          <a:p>
            <a:fld id="{6DA720D1-8748-4EBF-A048-37349D77FEC8}" type="slidenum">
              <a:rPr lang="en-IN" smtClean="0"/>
              <a:t>‹#›</a:t>
            </a:fld>
            <a:endParaRPr lang="en-IN"/>
          </a:p>
        </p:txBody>
      </p:sp>
    </p:spTree>
    <p:extLst>
      <p:ext uri="{BB962C8B-B14F-4D97-AF65-F5344CB8AC3E}">
        <p14:creationId xmlns:p14="http://schemas.microsoft.com/office/powerpoint/2010/main" val="2171255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0F040-3546-6C16-4A84-830F8DB7F2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4DCA615-5DCB-01BA-232D-61E553D659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E7A12D-20C4-7A81-6EA4-074F95E76C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7CE53E-376E-BCA2-1632-8651E188A724}"/>
              </a:ext>
            </a:extLst>
          </p:cNvPr>
          <p:cNvSpPr>
            <a:spLocks noGrp="1"/>
          </p:cNvSpPr>
          <p:nvPr>
            <p:ph type="dt" sz="half" idx="10"/>
          </p:nvPr>
        </p:nvSpPr>
        <p:spPr/>
        <p:txBody>
          <a:bodyPr/>
          <a:lstStyle/>
          <a:p>
            <a:fld id="{D6598F5C-130F-4CED-86C2-57688858C44F}" type="datetime1">
              <a:rPr lang="en-IN" smtClean="0"/>
              <a:t>28/04/26</a:t>
            </a:fld>
            <a:endParaRPr lang="en-IN"/>
          </a:p>
        </p:txBody>
      </p:sp>
      <p:sp>
        <p:nvSpPr>
          <p:cNvPr id="6" name="Footer Placeholder 5">
            <a:extLst>
              <a:ext uri="{FF2B5EF4-FFF2-40B4-BE49-F238E27FC236}">
                <a16:creationId xmlns:a16="http://schemas.microsoft.com/office/drawing/2014/main" id="{D2687EC4-42C6-33E4-B331-1135AFAB93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1A690D-49C0-A5A1-ED39-F492901CC284}"/>
              </a:ext>
            </a:extLst>
          </p:cNvPr>
          <p:cNvSpPr>
            <a:spLocks noGrp="1"/>
          </p:cNvSpPr>
          <p:nvPr>
            <p:ph type="sldNum" sz="quarter" idx="12"/>
          </p:nvPr>
        </p:nvSpPr>
        <p:spPr/>
        <p:txBody>
          <a:bodyPr/>
          <a:lstStyle/>
          <a:p>
            <a:fld id="{6DA720D1-8748-4EBF-A048-37349D77FEC8}" type="slidenum">
              <a:rPr lang="en-IN" smtClean="0"/>
              <a:t>‹#›</a:t>
            </a:fld>
            <a:endParaRPr lang="en-IN"/>
          </a:p>
        </p:txBody>
      </p:sp>
    </p:spTree>
    <p:extLst>
      <p:ext uri="{BB962C8B-B14F-4D97-AF65-F5344CB8AC3E}">
        <p14:creationId xmlns:p14="http://schemas.microsoft.com/office/powerpoint/2010/main" val="994683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ABAD2-555A-D0CC-920B-503CE9500D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23C54C8-4054-797B-801A-E3E58897C7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6451802-258A-BAE3-7AD6-EF36828BBA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772AAB-E596-E17E-F7E4-495B2E08804A}"/>
              </a:ext>
            </a:extLst>
          </p:cNvPr>
          <p:cNvSpPr>
            <a:spLocks noGrp="1"/>
          </p:cNvSpPr>
          <p:nvPr>
            <p:ph type="dt" sz="half" idx="10"/>
          </p:nvPr>
        </p:nvSpPr>
        <p:spPr/>
        <p:txBody>
          <a:bodyPr/>
          <a:lstStyle/>
          <a:p>
            <a:fld id="{84470DE3-8887-44CF-A69E-3630F99E8B56}" type="datetime1">
              <a:rPr lang="en-IN" smtClean="0"/>
              <a:t>28/04/26</a:t>
            </a:fld>
            <a:endParaRPr lang="en-IN"/>
          </a:p>
        </p:txBody>
      </p:sp>
      <p:sp>
        <p:nvSpPr>
          <p:cNvPr id="6" name="Footer Placeholder 5">
            <a:extLst>
              <a:ext uri="{FF2B5EF4-FFF2-40B4-BE49-F238E27FC236}">
                <a16:creationId xmlns:a16="http://schemas.microsoft.com/office/drawing/2014/main" id="{1AD759AA-D90A-E230-C036-D2F1B6B47D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888C18-B490-028A-7B42-07FBD901B026}"/>
              </a:ext>
            </a:extLst>
          </p:cNvPr>
          <p:cNvSpPr>
            <a:spLocks noGrp="1"/>
          </p:cNvSpPr>
          <p:nvPr>
            <p:ph type="sldNum" sz="quarter" idx="12"/>
          </p:nvPr>
        </p:nvSpPr>
        <p:spPr/>
        <p:txBody>
          <a:bodyPr/>
          <a:lstStyle/>
          <a:p>
            <a:fld id="{6DA720D1-8748-4EBF-A048-37349D77FEC8}" type="slidenum">
              <a:rPr lang="en-IN" smtClean="0"/>
              <a:t>‹#›</a:t>
            </a:fld>
            <a:endParaRPr lang="en-IN"/>
          </a:p>
        </p:txBody>
      </p:sp>
    </p:spTree>
    <p:extLst>
      <p:ext uri="{BB962C8B-B14F-4D97-AF65-F5344CB8AC3E}">
        <p14:creationId xmlns:p14="http://schemas.microsoft.com/office/powerpoint/2010/main" val="792033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44542-9BF9-9066-5FA7-C48D386EBFA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0F54D7-6896-296D-8FE0-FA44B07056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48A188-97EC-E65F-0248-174520A1DAA6}"/>
              </a:ext>
            </a:extLst>
          </p:cNvPr>
          <p:cNvSpPr>
            <a:spLocks noGrp="1"/>
          </p:cNvSpPr>
          <p:nvPr>
            <p:ph type="dt" sz="half" idx="10"/>
          </p:nvPr>
        </p:nvSpPr>
        <p:spPr/>
        <p:txBody>
          <a:bodyPr/>
          <a:lstStyle/>
          <a:p>
            <a:fld id="{51726711-9E53-4923-9A20-0010E90A244E}" type="datetime1">
              <a:rPr lang="en-IN" smtClean="0"/>
              <a:t>28/04/26</a:t>
            </a:fld>
            <a:endParaRPr lang="en-IN"/>
          </a:p>
        </p:txBody>
      </p:sp>
      <p:sp>
        <p:nvSpPr>
          <p:cNvPr id="5" name="Footer Placeholder 4">
            <a:extLst>
              <a:ext uri="{FF2B5EF4-FFF2-40B4-BE49-F238E27FC236}">
                <a16:creationId xmlns:a16="http://schemas.microsoft.com/office/drawing/2014/main" id="{0A8CD096-6EFB-2AC6-9F5C-9DA2DE46B2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84A5D1-383A-A062-CDEE-7B6C8A7A7F05}"/>
              </a:ext>
            </a:extLst>
          </p:cNvPr>
          <p:cNvSpPr>
            <a:spLocks noGrp="1"/>
          </p:cNvSpPr>
          <p:nvPr>
            <p:ph type="sldNum" sz="quarter" idx="12"/>
          </p:nvPr>
        </p:nvSpPr>
        <p:spPr/>
        <p:txBody>
          <a:bodyPr/>
          <a:lstStyle/>
          <a:p>
            <a:fld id="{6DA720D1-8748-4EBF-A048-37349D77FEC8}" type="slidenum">
              <a:rPr lang="en-IN" smtClean="0"/>
              <a:t>‹#›</a:t>
            </a:fld>
            <a:endParaRPr lang="en-IN"/>
          </a:p>
        </p:txBody>
      </p:sp>
    </p:spTree>
    <p:extLst>
      <p:ext uri="{BB962C8B-B14F-4D97-AF65-F5344CB8AC3E}">
        <p14:creationId xmlns:p14="http://schemas.microsoft.com/office/powerpoint/2010/main" val="2306432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6B420D-D19B-55F3-C37E-DCB629D217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A8E522-C92A-7D15-AAFE-FD91F48668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B2AA45-FEC4-5F6B-8E8E-8679017B7292}"/>
              </a:ext>
            </a:extLst>
          </p:cNvPr>
          <p:cNvSpPr>
            <a:spLocks noGrp="1"/>
          </p:cNvSpPr>
          <p:nvPr>
            <p:ph type="dt" sz="half" idx="10"/>
          </p:nvPr>
        </p:nvSpPr>
        <p:spPr/>
        <p:txBody>
          <a:bodyPr/>
          <a:lstStyle/>
          <a:p>
            <a:fld id="{2F774BA8-81FF-404E-9486-74820FA7EF91}" type="datetime1">
              <a:rPr lang="en-IN" smtClean="0"/>
              <a:t>28/04/26</a:t>
            </a:fld>
            <a:endParaRPr lang="en-IN"/>
          </a:p>
        </p:txBody>
      </p:sp>
      <p:sp>
        <p:nvSpPr>
          <p:cNvPr id="5" name="Footer Placeholder 4">
            <a:extLst>
              <a:ext uri="{FF2B5EF4-FFF2-40B4-BE49-F238E27FC236}">
                <a16:creationId xmlns:a16="http://schemas.microsoft.com/office/drawing/2014/main" id="{43BDA7A8-2756-CB11-A097-CE12963874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E7DB59-103C-B9FE-CDA0-6DC207C5A3DE}"/>
              </a:ext>
            </a:extLst>
          </p:cNvPr>
          <p:cNvSpPr>
            <a:spLocks noGrp="1"/>
          </p:cNvSpPr>
          <p:nvPr>
            <p:ph type="sldNum" sz="quarter" idx="12"/>
          </p:nvPr>
        </p:nvSpPr>
        <p:spPr/>
        <p:txBody>
          <a:bodyPr/>
          <a:lstStyle/>
          <a:p>
            <a:fld id="{6DA720D1-8748-4EBF-A048-37349D77FEC8}" type="slidenum">
              <a:rPr lang="en-IN" smtClean="0"/>
              <a:t>‹#›</a:t>
            </a:fld>
            <a:endParaRPr lang="en-IN"/>
          </a:p>
        </p:txBody>
      </p:sp>
    </p:spTree>
    <p:extLst>
      <p:ext uri="{BB962C8B-B14F-4D97-AF65-F5344CB8AC3E}">
        <p14:creationId xmlns:p14="http://schemas.microsoft.com/office/powerpoint/2010/main" val="959780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69B75A-C3FE-B5AD-C812-545C0DA9FE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032B0C-AB8B-1855-629A-99532342A9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3E4380-564E-0C64-364A-AA9469A8CF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8CF7F3-7675-4176-8403-24999E9CABEA}" type="datetime1">
              <a:rPr lang="en-IN" smtClean="0"/>
              <a:t>28/04/26</a:t>
            </a:fld>
            <a:endParaRPr lang="en-IN"/>
          </a:p>
        </p:txBody>
      </p:sp>
      <p:sp>
        <p:nvSpPr>
          <p:cNvPr id="5" name="Footer Placeholder 4">
            <a:extLst>
              <a:ext uri="{FF2B5EF4-FFF2-40B4-BE49-F238E27FC236}">
                <a16:creationId xmlns:a16="http://schemas.microsoft.com/office/drawing/2014/main" id="{E9E6CE40-F59E-52E3-B69B-D9625F78D8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1C36E93-1D2A-46A4-DA4C-4E318D0DFE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A720D1-8748-4EBF-A048-37349D77FEC8}" type="slidenum">
              <a:rPr lang="en-IN" smtClean="0"/>
              <a:t>‹#›</a:t>
            </a:fld>
            <a:endParaRPr lang="en-IN"/>
          </a:p>
        </p:txBody>
      </p:sp>
    </p:spTree>
    <p:extLst>
      <p:ext uri="{BB962C8B-B14F-4D97-AF65-F5344CB8AC3E}">
        <p14:creationId xmlns:p14="http://schemas.microsoft.com/office/powerpoint/2010/main" val="571189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11.png"/><Relationship Id="rId7" Type="http://schemas.openxmlformats.org/officeDocument/2006/relationships/image" Target="../media/image21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30.png"/><Relationship Id="rId4" Type="http://schemas.openxmlformats.org/officeDocument/2006/relationships/image" Target="../media/image180.png"/><Relationship Id="rId9"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D239F3-FE11-B39B-1B72-8D50D290785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6369F93-BAE8-F878-8F46-7EEE50EBCCDF}"/>
              </a:ext>
            </a:extLst>
          </p:cNvPr>
          <p:cNvSpPr txBox="1">
            <a:spLocks/>
          </p:cNvSpPr>
          <p:nvPr/>
        </p:nvSpPr>
        <p:spPr>
          <a:xfrm>
            <a:off x="167390" y="-198081"/>
            <a:ext cx="12370159" cy="32301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200000"/>
              </a:lnSpc>
            </a:pPr>
            <a:r>
              <a:rPr lang="en-US" sz="5400" b="1">
                <a:solidFill>
                  <a:srgbClr val="C00000"/>
                </a:solidFill>
                <a:latin typeface="Times New Roman" panose="02020603050405020304" pitchFamily="18" charset="0"/>
                <a:cs typeface="Times New Roman" panose="02020603050405020304" pitchFamily="18" charset="0"/>
              </a:rPr>
              <a:t>Catalytic enzymes are active matter</a:t>
            </a:r>
          </a:p>
        </p:txBody>
      </p:sp>
      <p:sp>
        <p:nvSpPr>
          <p:cNvPr id="5" name="Subtitle 2">
            <a:extLst>
              <a:ext uri="{FF2B5EF4-FFF2-40B4-BE49-F238E27FC236}">
                <a16:creationId xmlns:a16="http://schemas.microsoft.com/office/drawing/2014/main" id="{C9DEE78C-01CF-F92D-9C42-0DF1E13E2072}"/>
              </a:ext>
            </a:extLst>
          </p:cNvPr>
          <p:cNvSpPr txBox="1">
            <a:spLocks/>
          </p:cNvSpPr>
          <p:nvPr/>
        </p:nvSpPr>
        <p:spPr>
          <a:xfrm>
            <a:off x="2713220" y="3074258"/>
            <a:ext cx="9144000" cy="16557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200000"/>
              </a:lnSpc>
              <a:buNone/>
            </a:pPr>
            <a:r>
              <a:rPr lang="en-US" sz="3600" b="1">
                <a:latin typeface="Times New Roman" panose="02020603050405020304" pitchFamily="18" charset="0"/>
                <a:cs typeface="Times New Roman" panose="02020603050405020304" pitchFamily="18" charset="0"/>
              </a:rPr>
              <a:t>Preliminary exam: 06/07/2024</a:t>
            </a:r>
          </a:p>
          <a:p>
            <a:pPr marL="0" indent="0" algn="ctr">
              <a:lnSpc>
                <a:spcPct val="200000"/>
              </a:lnSpc>
              <a:buNone/>
            </a:pPr>
            <a:r>
              <a:rPr lang="en-US" sz="3600" b="1">
                <a:latin typeface="Times New Roman" panose="02020603050405020304" pitchFamily="18" charset="0"/>
                <a:cs typeface="Times New Roman" panose="02020603050405020304" pitchFamily="18" charset="0"/>
              </a:rPr>
              <a:t>Ashwin Amalaruban</a:t>
            </a:r>
          </a:p>
          <a:p>
            <a:pPr marL="0" indent="0" algn="ctr">
              <a:lnSpc>
                <a:spcPct val="200000"/>
              </a:lnSpc>
              <a:buNone/>
            </a:pPr>
            <a:endParaRPr lang="en-IN" sz="3600" b="1">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86010E3F-1504-46E2-E155-B4DC74AAAB6E}"/>
              </a:ext>
            </a:extLst>
          </p:cNvPr>
          <p:cNvSpPr/>
          <p:nvPr/>
        </p:nvSpPr>
        <p:spPr>
          <a:xfrm>
            <a:off x="314794" y="247504"/>
            <a:ext cx="11542426" cy="6280879"/>
          </a:xfrm>
          <a:prstGeom prst="rect">
            <a:avLst/>
          </a:prstGeom>
          <a:no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030" name="Picture 6">
            <a:extLst>
              <a:ext uri="{FF2B5EF4-FFF2-40B4-BE49-F238E27FC236}">
                <a16:creationId xmlns:a16="http://schemas.microsoft.com/office/drawing/2014/main" id="{679DE8CF-2573-95C0-0E6F-E3F177A084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293" y="1892592"/>
            <a:ext cx="4114800" cy="61722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0C963DA-2B3E-5F39-932D-4125599D6AB0}"/>
              </a:ext>
            </a:extLst>
          </p:cNvPr>
          <p:cNvSpPr/>
          <p:nvPr/>
        </p:nvSpPr>
        <p:spPr>
          <a:xfrm>
            <a:off x="167390" y="59233"/>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lide Number Placeholder 1">
            <a:extLst>
              <a:ext uri="{FF2B5EF4-FFF2-40B4-BE49-F238E27FC236}">
                <a16:creationId xmlns:a16="http://schemas.microsoft.com/office/drawing/2014/main" id="{65D1EBA4-9896-8CA0-6B66-A00C7F7BF2DE}"/>
              </a:ext>
            </a:extLst>
          </p:cNvPr>
          <p:cNvSpPr>
            <a:spLocks noGrp="1"/>
          </p:cNvSpPr>
          <p:nvPr>
            <p:ph type="sldNum" sz="quarter" idx="12"/>
          </p:nvPr>
        </p:nvSpPr>
        <p:spPr>
          <a:xfrm>
            <a:off x="9261424" y="6427933"/>
            <a:ext cx="2743200" cy="365125"/>
          </a:xfrm>
        </p:spPr>
        <p:txBody>
          <a:bodyPr/>
          <a:lstStyle/>
          <a:p>
            <a:fld id="{6DA720D1-8748-4EBF-A048-37349D77FEC8}" type="slidenum">
              <a:rPr lang="en-IN" smtClean="0"/>
              <a:t>1</a:t>
            </a:fld>
            <a:endParaRPr lang="en-IN"/>
          </a:p>
        </p:txBody>
      </p:sp>
    </p:spTree>
    <p:extLst>
      <p:ext uri="{BB962C8B-B14F-4D97-AF65-F5344CB8AC3E}">
        <p14:creationId xmlns:p14="http://schemas.microsoft.com/office/powerpoint/2010/main" val="4183634366"/>
      </p:ext>
    </p:extLst>
  </p:cSld>
  <p:clrMapOvr>
    <a:masterClrMapping/>
  </p:clrMapOvr>
  <mc:AlternateContent xmlns:mc="http://schemas.openxmlformats.org/markup-compatibility/2006" xmlns:p14="http://schemas.microsoft.com/office/powerpoint/2010/main">
    <mc:Choice Requires="p14">
      <p:transition spd="slow" p14:dur="2000" advTm="17158"/>
    </mc:Choice>
    <mc:Fallback xmlns="">
      <p:transition spd="slow" advTm="1715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239F3-FE11-B39B-1B72-8D50D2907855}"/>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9C5491A5-7D6E-5576-55D5-F64AB5F57697}"/>
              </a:ext>
            </a:extLst>
          </p:cNvPr>
          <p:cNvSpPr txBox="1"/>
          <p:nvPr/>
        </p:nvSpPr>
        <p:spPr>
          <a:xfrm>
            <a:off x="4252380" y="1537846"/>
            <a:ext cx="7519780" cy="2081573"/>
          </a:xfrm>
          <a:prstGeom prst="rect">
            <a:avLst/>
          </a:prstGeom>
          <a:noFill/>
          <a:ln>
            <a:solidFill>
              <a:schemeClr val="bg1">
                <a:lumMod val="75000"/>
              </a:schemeClr>
            </a:solidFill>
            <a:prstDash val="dash"/>
          </a:ln>
        </p:spPr>
        <p:txBody>
          <a:bodyPr wrap="square" rtlCol="0">
            <a:spAutoFit/>
          </a:bodyPr>
          <a:lstStyle/>
          <a:p>
            <a:pPr>
              <a:lnSpc>
                <a:spcPct val="150000"/>
              </a:lnSpc>
            </a:pPr>
            <a:endParaRPr lang="en-IN" sz="2800">
              <a:latin typeface="Times New Roman" panose="02020603050405020304" pitchFamily="18" charset="0"/>
              <a:cs typeface="Times New Roman" panose="02020603050405020304" pitchFamily="18" charset="0"/>
            </a:endParaRPr>
          </a:p>
        </p:txBody>
      </p:sp>
      <p:sp>
        <p:nvSpPr>
          <p:cNvPr id="19" name="Title 1">
            <a:extLst>
              <a:ext uri="{FF2B5EF4-FFF2-40B4-BE49-F238E27FC236}">
                <a16:creationId xmlns:a16="http://schemas.microsoft.com/office/drawing/2014/main" id="{DAD441E3-B7B9-FFC0-E8DD-2424E433C50B}"/>
              </a:ext>
            </a:extLst>
          </p:cNvPr>
          <p:cNvSpPr>
            <a:spLocks noGrp="1"/>
          </p:cNvSpPr>
          <p:nvPr>
            <p:ph type="title"/>
          </p:nvPr>
        </p:nvSpPr>
        <p:spPr>
          <a:xfrm>
            <a:off x="334780" y="277504"/>
            <a:ext cx="11542426" cy="1098569"/>
          </a:xfrm>
        </p:spPr>
        <p:txBody>
          <a:bodyPr>
            <a:normAutofit/>
          </a:bodyPr>
          <a:lstStyle/>
          <a:p>
            <a:pPr algn="ctr"/>
            <a:r>
              <a:rPr lang="en-US" sz="3600" b="1">
                <a:solidFill>
                  <a:srgbClr val="C00000"/>
                </a:solidFill>
                <a:latin typeface="Times New Roman" panose="02020603050405020304" pitchFamily="18" charset="0"/>
                <a:cs typeface="Times New Roman" panose="02020603050405020304" pitchFamily="18" charset="0"/>
              </a:rPr>
              <a:t>ACTIVE MATTER AND WHY IT MATTERS</a:t>
            </a:r>
            <a:endParaRPr lang="en-IN" sz="3600" b="1">
              <a:solidFill>
                <a:srgbClr val="C0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548AA25-7B6C-0BAF-04E1-ED32FBE7E851}"/>
              </a:ext>
            </a:extLst>
          </p:cNvPr>
          <p:cNvSpPr txBox="1"/>
          <p:nvPr/>
        </p:nvSpPr>
        <p:spPr>
          <a:xfrm>
            <a:off x="3766794" y="1023422"/>
            <a:ext cx="5477906" cy="461665"/>
          </a:xfrm>
          <a:prstGeom prst="rect">
            <a:avLst/>
          </a:prstGeom>
          <a:noFill/>
        </p:spPr>
        <p:txBody>
          <a:bodyPr wrap="square" rtlCol="0">
            <a:spAutoFit/>
          </a:bodyPr>
          <a:lstStyle/>
          <a:p>
            <a:r>
              <a:rPr lang="en-US" sz="2400">
                <a:latin typeface="Times New Roman" panose="02020603050405020304" pitchFamily="18" charset="0"/>
                <a:cs typeface="Times New Roman" panose="02020603050405020304" pitchFamily="18" charset="0"/>
              </a:rPr>
              <a:t>It’s a bird. It’s a plane..It’s active matter.</a:t>
            </a:r>
            <a:endParaRPr lang="en-IN" sz="2400">
              <a:latin typeface="Times New Roman" panose="02020603050405020304" pitchFamily="18" charset="0"/>
              <a:cs typeface="Times New Roman" panose="02020603050405020304" pitchFamily="18" charset="0"/>
            </a:endParaRPr>
          </a:p>
        </p:txBody>
      </p:sp>
      <p:pic>
        <p:nvPicPr>
          <p:cNvPr id="1026" name="Picture 2" descr="Active matter systems are commonly found in nature (a-b) and engineered in the lab (ce). (a) Monolayer of cells invading an artifical wound 150 (Copyright (2007) National Academy of Sciences). (b) Bird flocks undergoing collective motion 22 (Credits COBBS Lab, Institute for Complex Systems, Rome). (c) Interrupted motility-induced phase separation in self-propelled colloids 197 (Courtesy of O. Dauchot). (d) Non-linear travelling wave of Quincke colloidal rollers 31 (Courtesy of D. Bartolo and A. Morin). (e) Dynamic lane formation and breaking by self-propelled droplets 192 .">
            <a:extLst>
              <a:ext uri="{FF2B5EF4-FFF2-40B4-BE49-F238E27FC236}">
                <a16:creationId xmlns:a16="http://schemas.microsoft.com/office/drawing/2014/main" id="{3DD92C8A-DA8A-32F5-68B8-045338F768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0201"/>
          <a:stretch/>
        </p:blipFill>
        <p:spPr bwMode="auto">
          <a:xfrm>
            <a:off x="1047405" y="1642994"/>
            <a:ext cx="2267457" cy="160897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3149CCC3-6D87-53E0-371B-B5C347405F1E}"/>
              </a:ext>
            </a:extLst>
          </p:cNvPr>
          <p:cNvSpPr>
            <a:spLocks noGrp="1"/>
          </p:cNvSpPr>
          <p:nvPr>
            <p:ph type="sldNum" sz="quarter" idx="12"/>
          </p:nvPr>
        </p:nvSpPr>
        <p:spPr>
          <a:xfrm>
            <a:off x="9114020" y="6510629"/>
            <a:ext cx="2743200" cy="365125"/>
          </a:xfrm>
        </p:spPr>
        <p:txBody>
          <a:bodyPr/>
          <a:lstStyle/>
          <a:p>
            <a:fld id="{C6784A8F-7002-44D0-9341-76CE0EB505BE}" type="slidenum">
              <a:rPr lang="en-IN" smtClean="0"/>
              <a:t>2</a:t>
            </a:fld>
            <a:endParaRPr lang="en-IN"/>
          </a:p>
        </p:txBody>
      </p:sp>
      <p:pic>
        <p:nvPicPr>
          <p:cNvPr id="8" name="Picture 7">
            <a:extLst>
              <a:ext uri="{FF2B5EF4-FFF2-40B4-BE49-F238E27FC236}">
                <a16:creationId xmlns:a16="http://schemas.microsoft.com/office/drawing/2014/main" id="{91B45375-1293-122A-7AC8-AB2EA4025D2B}"/>
              </a:ext>
            </a:extLst>
          </p:cNvPr>
          <p:cNvPicPr>
            <a:picLocks noChangeAspect="1"/>
          </p:cNvPicPr>
          <p:nvPr/>
        </p:nvPicPr>
        <p:blipFill>
          <a:blip r:embed="rId4"/>
          <a:stretch>
            <a:fillRect/>
          </a:stretch>
        </p:blipFill>
        <p:spPr>
          <a:xfrm>
            <a:off x="4373190" y="1642099"/>
            <a:ext cx="2148456" cy="1575680"/>
          </a:xfrm>
          <a:prstGeom prst="rect">
            <a:avLst/>
          </a:prstGeom>
        </p:spPr>
      </p:pic>
      <p:sp>
        <p:nvSpPr>
          <p:cNvPr id="9" name="TextBox 8">
            <a:extLst>
              <a:ext uri="{FF2B5EF4-FFF2-40B4-BE49-F238E27FC236}">
                <a16:creationId xmlns:a16="http://schemas.microsoft.com/office/drawing/2014/main" id="{BF72B039-55A3-EF20-1F83-6D971EF52312}"/>
              </a:ext>
            </a:extLst>
          </p:cNvPr>
          <p:cNvSpPr txBox="1"/>
          <p:nvPr/>
        </p:nvSpPr>
        <p:spPr>
          <a:xfrm>
            <a:off x="4336526" y="3227874"/>
            <a:ext cx="4847286" cy="400110"/>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b) Janus colloids</a:t>
            </a:r>
            <a:endParaRPr lang="en-IN" sz="2000" i="1">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B62E1419-149E-5795-C40F-9E2E14B61B34}"/>
              </a:ext>
            </a:extLst>
          </p:cNvPr>
          <p:cNvSpPr/>
          <p:nvPr/>
        </p:nvSpPr>
        <p:spPr>
          <a:xfrm>
            <a:off x="167390" y="90765"/>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2">
            <a:extLst>
              <a:ext uri="{FF2B5EF4-FFF2-40B4-BE49-F238E27FC236}">
                <a16:creationId xmlns:a16="http://schemas.microsoft.com/office/drawing/2014/main" id="{6E6ED0E0-2802-7B83-E8ED-C785D014BE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08554" y="1672076"/>
            <a:ext cx="1649609" cy="1539493"/>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ED6423FC-DB9A-1F6A-8780-FD8D221B70E5}"/>
              </a:ext>
            </a:extLst>
          </p:cNvPr>
          <p:cNvCxnSpPr>
            <a:cxnSpLocks/>
          </p:cNvCxnSpPr>
          <p:nvPr/>
        </p:nvCxnSpPr>
        <p:spPr>
          <a:xfrm>
            <a:off x="6521646" y="2500896"/>
            <a:ext cx="726121" cy="0"/>
          </a:xfrm>
          <a:prstGeom prst="straightConnector1">
            <a:avLst/>
          </a:prstGeom>
          <a:ln w="38100">
            <a:solidFill>
              <a:schemeClr val="tx1"/>
            </a:solidFill>
            <a:headEnd type="triangle"/>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251EF564-D1EF-7B2A-FACC-C22EEE4E486F}"/>
              </a:ext>
            </a:extLst>
          </p:cNvPr>
          <p:cNvSpPr txBox="1"/>
          <p:nvPr/>
        </p:nvSpPr>
        <p:spPr>
          <a:xfrm>
            <a:off x="922203" y="3219308"/>
            <a:ext cx="3062536" cy="400110"/>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a) Collective behaviour</a:t>
            </a:r>
            <a:endParaRPr lang="en-IN" sz="2000" i="1">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0432D820-848D-3633-C5C3-241E3FFCD20F}"/>
              </a:ext>
            </a:extLst>
          </p:cNvPr>
          <p:cNvPicPr>
            <a:picLocks noChangeAspect="1"/>
          </p:cNvPicPr>
          <p:nvPr/>
        </p:nvPicPr>
        <p:blipFill>
          <a:blip r:embed="rId6"/>
          <a:stretch>
            <a:fillRect/>
          </a:stretch>
        </p:blipFill>
        <p:spPr>
          <a:xfrm>
            <a:off x="7247767" y="1615392"/>
            <a:ext cx="2034666" cy="1714290"/>
          </a:xfrm>
          <a:prstGeom prst="rect">
            <a:avLst/>
          </a:prstGeom>
        </p:spPr>
      </p:pic>
      <p:sp>
        <p:nvSpPr>
          <p:cNvPr id="42" name="TextBox 41">
            <a:extLst>
              <a:ext uri="{FF2B5EF4-FFF2-40B4-BE49-F238E27FC236}">
                <a16:creationId xmlns:a16="http://schemas.microsoft.com/office/drawing/2014/main" id="{2CEE689B-69E3-7774-8F4A-4BF09FE3D95E}"/>
              </a:ext>
            </a:extLst>
          </p:cNvPr>
          <p:cNvSpPr txBox="1"/>
          <p:nvPr/>
        </p:nvSpPr>
        <p:spPr>
          <a:xfrm>
            <a:off x="564256" y="3638984"/>
            <a:ext cx="9557075" cy="461665"/>
          </a:xfrm>
          <a:prstGeom prst="rect">
            <a:avLst/>
          </a:prstGeom>
          <a:noFill/>
        </p:spPr>
        <p:txBody>
          <a:bodyPr wrap="square">
            <a:spAutoFit/>
          </a:bodyPr>
          <a:lstStyle/>
          <a:p>
            <a:pPr marL="342900" indent="-342900" defTabSz="777240">
              <a:spcAft>
                <a:spcPts val="600"/>
              </a:spcAft>
              <a:buFont typeface="Wingdings" panose="05000000000000000000" pitchFamily="2" charset="2"/>
              <a:buChar char="§"/>
            </a:pPr>
            <a:r>
              <a:rPr lang="en-US" sz="2400" b="1" kern="1200">
                <a:solidFill>
                  <a:schemeClr val="tx1"/>
                </a:solidFill>
                <a:latin typeface="Times New Roman" panose="02020603050405020304" pitchFamily="18" charset="0"/>
                <a:cs typeface="Times New Roman" panose="02020603050405020304" pitchFamily="18" charset="0"/>
              </a:rPr>
              <a:t>Self-Propulsion: </a:t>
            </a:r>
            <a:r>
              <a:rPr lang="en-US" sz="2400" kern="1200">
                <a:solidFill>
                  <a:schemeClr val="tx1"/>
                </a:solidFill>
                <a:latin typeface="Times New Roman" panose="02020603050405020304" pitchFamily="18" charset="0"/>
                <a:cs typeface="Times New Roman" panose="02020603050405020304" pitchFamily="18" charset="0"/>
              </a:rPr>
              <a:t>Ability to move on its own by consuming energy.</a:t>
            </a:r>
          </a:p>
        </p:txBody>
      </p:sp>
      <p:sp>
        <p:nvSpPr>
          <p:cNvPr id="44" name="TextBox 43">
            <a:extLst>
              <a:ext uri="{FF2B5EF4-FFF2-40B4-BE49-F238E27FC236}">
                <a16:creationId xmlns:a16="http://schemas.microsoft.com/office/drawing/2014/main" id="{E071CD90-BE3E-6A47-DCDB-1D1E0C89297F}"/>
              </a:ext>
            </a:extLst>
          </p:cNvPr>
          <p:cNvSpPr txBox="1"/>
          <p:nvPr/>
        </p:nvSpPr>
        <p:spPr>
          <a:xfrm>
            <a:off x="224552" y="6530820"/>
            <a:ext cx="14153730" cy="276999"/>
          </a:xfrm>
          <a:prstGeom prst="rect">
            <a:avLst/>
          </a:prstGeom>
          <a:noFill/>
        </p:spPr>
        <p:txBody>
          <a:bodyPr wrap="square">
            <a:spAutoFit/>
          </a:bodyPr>
          <a:lstStyle/>
          <a:p>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Ebbens, S. J. (2016). Active colloids: Progress and challenges towards realising autonomous applications.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Current opinion in colloid &amp; interface science</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21</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 14-23.</a:t>
            </a:r>
            <a:endParaRPr lang="en-IN" sz="12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BFDF490-E00E-ECB6-9E83-8C6E18572B8F}"/>
              </a:ext>
            </a:extLst>
          </p:cNvPr>
          <p:cNvSpPr txBox="1"/>
          <p:nvPr/>
        </p:nvSpPr>
        <p:spPr>
          <a:xfrm>
            <a:off x="62836" y="4270132"/>
            <a:ext cx="9557075" cy="1354217"/>
          </a:xfrm>
          <a:prstGeom prst="rect">
            <a:avLst/>
          </a:prstGeom>
          <a:noFill/>
        </p:spPr>
        <p:txBody>
          <a:bodyPr wrap="square">
            <a:spAutoFit/>
          </a:bodyPr>
          <a:lstStyle/>
          <a:p>
            <a:pPr marL="438912" lvl="1" defTabSz="877824">
              <a:spcAft>
                <a:spcPts val="600"/>
              </a:spcAft>
            </a:pPr>
            <a:r>
              <a:rPr lang="en-IN" sz="2400" b="1" kern="1200">
                <a:solidFill>
                  <a:schemeClr val="tx1"/>
                </a:solidFill>
                <a:latin typeface="Times New Roman" panose="02020603050405020304" pitchFamily="18" charset="0"/>
                <a:cs typeface="Times New Roman" panose="02020603050405020304" pitchFamily="18" charset="0"/>
              </a:rPr>
              <a:t>ENZYMES ARE ACTIVE MATTER?</a:t>
            </a:r>
          </a:p>
          <a:p>
            <a:pPr marL="781812" lvl="1" indent="-342900" defTabSz="877824">
              <a:spcAft>
                <a:spcPts val="600"/>
              </a:spcAft>
              <a:buFont typeface="Wingdings" panose="05000000000000000000" pitchFamily="2" charset="2"/>
              <a:buChar char="§"/>
            </a:pPr>
            <a:r>
              <a:rPr lang="en-IN" sz="2400" kern="1200">
                <a:solidFill>
                  <a:schemeClr val="tx1"/>
                </a:solidFill>
                <a:latin typeface="Times New Roman" panose="02020603050405020304" pitchFamily="18" charset="0"/>
                <a:cs typeface="Times New Roman" panose="02020603050405020304" pitchFamily="18" charset="0"/>
              </a:rPr>
              <a:t>Understanding principles of  self-assembly.</a:t>
            </a:r>
          </a:p>
          <a:p>
            <a:pPr marL="1410462" lvl="2" indent="-514350" defTabSz="877824">
              <a:spcAft>
                <a:spcPts val="600"/>
              </a:spcAft>
              <a:buFont typeface="Wingdings" panose="05000000000000000000" pitchFamily="2" charset="2"/>
              <a:buChar char="Ø"/>
            </a:pPr>
            <a:r>
              <a:rPr lang="en-US" sz="2400" b="0" i="0">
                <a:solidFill>
                  <a:srgbClr val="000000"/>
                </a:solidFill>
                <a:effectLst/>
                <a:highlight>
                  <a:srgbClr val="FFFFFF"/>
                </a:highlight>
                <a:latin typeface="Times New Roman" panose="02020603050405020304" pitchFamily="18" charset="0"/>
                <a:cs typeface="Times New Roman" panose="02020603050405020304" pitchFamily="18" charset="0"/>
              </a:rPr>
              <a:t>Conversion of substrate by the confined catalysts. </a:t>
            </a:r>
          </a:p>
        </p:txBody>
      </p:sp>
      <p:cxnSp>
        <p:nvCxnSpPr>
          <p:cNvPr id="13" name="Straight Connector 12">
            <a:extLst>
              <a:ext uri="{FF2B5EF4-FFF2-40B4-BE49-F238E27FC236}">
                <a16:creationId xmlns:a16="http://schemas.microsoft.com/office/drawing/2014/main" id="{3611B284-7B5B-D283-E1B0-8F8C54832D78}"/>
              </a:ext>
            </a:extLst>
          </p:cNvPr>
          <p:cNvCxnSpPr>
            <a:cxnSpLocks/>
          </p:cNvCxnSpPr>
          <p:nvPr/>
        </p:nvCxnSpPr>
        <p:spPr>
          <a:xfrm flipH="1">
            <a:off x="564256" y="4120346"/>
            <a:ext cx="10820766" cy="0"/>
          </a:xfrm>
          <a:prstGeom prst="line">
            <a:avLst/>
          </a:prstGeom>
          <a:ln w="12700">
            <a:solidFill>
              <a:schemeClr val="bg1">
                <a:lumMod val="50000"/>
              </a:schemeClr>
            </a:solidFill>
            <a:prstDash val="solid"/>
          </a:ln>
        </p:spPr>
        <p:style>
          <a:lnRef idx="1">
            <a:schemeClr val="dk1"/>
          </a:lnRef>
          <a:fillRef idx="0">
            <a:schemeClr val="dk1"/>
          </a:fillRef>
          <a:effectRef idx="0">
            <a:schemeClr val="dk1"/>
          </a:effectRef>
          <a:fontRef idx="minor">
            <a:schemeClr val="tx1"/>
          </a:fontRef>
        </p:style>
      </p:cxnSp>
      <p:pic>
        <p:nvPicPr>
          <p:cNvPr id="28" name="Picture 27">
            <a:extLst>
              <a:ext uri="{FF2B5EF4-FFF2-40B4-BE49-F238E27FC236}">
                <a16:creationId xmlns:a16="http://schemas.microsoft.com/office/drawing/2014/main" id="{20DFFD53-382E-EDB5-C1E0-69B346F9ECB7}"/>
              </a:ext>
            </a:extLst>
          </p:cNvPr>
          <p:cNvPicPr>
            <a:picLocks noChangeAspect="1"/>
          </p:cNvPicPr>
          <p:nvPr/>
        </p:nvPicPr>
        <p:blipFill>
          <a:blip r:embed="rId7"/>
          <a:stretch>
            <a:fillRect/>
          </a:stretch>
        </p:blipFill>
        <p:spPr>
          <a:xfrm>
            <a:off x="8885674" y="4188479"/>
            <a:ext cx="1708378" cy="1714290"/>
          </a:xfrm>
          <a:prstGeom prst="rect">
            <a:avLst/>
          </a:prstGeom>
        </p:spPr>
      </p:pic>
      <p:cxnSp>
        <p:nvCxnSpPr>
          <p:cNvPr id="29" name="Straight Arrow Connector 28">
            <a:extLst>
              <a:ext uri="{FF2B5EF4-FFF2-40B4-BE49-F238E27FC236}">
                <a16:creationId xmlns:a16="http://schemas.microsoft.com/office/drawing/2014/main" id="{D91C5F10-C2B5-4E7F-6023-74F8869D9CD8}"/>
              </a:ext>
            </a:extLst>
          </p:cNvPr>
          <p:cNvCxnSpPr>
            <a:cxnSpLocks/>
          </p:cNvCxnSpPr>
          <p:nvPr/>
        </p:nvCxnSpPr>
        <p:spPr>
          <a:xfrm>
            <a:off x="9256851" y="2500896"/>
            <a:ext cx="726121" cy="0"/>
          </a:xfrm>
          <a:prstGeom prst="straightConnector1">
            <a:avLst/>
          </a:prstGeom>
          <a:ln w="38100">
            <a:solidFill>
              <a:schemeClr val="tx1"/>
            </a:solidFill>
            <a:headEnd type="triangle"/>
            <a:tailEnd type="triangle"/>
          </a:ln>
        </p:spPr>
        <p:style>
          <a:lnRef idx="2">
            <a:schemeClr val="dk1"/>
          </a:lnRef>
          <a:fillRef idx="0">
            <a:schemeClr val="dk1"/>
          </a:fillRef>
          <a:effectRef idx="1">
            <a:schemeClr val="dk1"/>
          </a:effectRef>
          <a:fontRef idx="minor">
            <a:schemeClr val="tx1"/>
          </a:fontRef>
        </p:style>
      </p:cxnSp>
      <p:sp>
        <p:nvSpPr>
          <p:cNvPr id="31" name="TextBox 30">
            <a:extLst>
              <a:ext uri="{FF2B5EF4-FFF2-40B4-BE49-F238E27FC236}">
                <a16:creationId xmlns:a16="http://schemas.microsoft.com/office/drawing/2014/main" id="{255AA65A-B690-20EA-410F-EB4C0069DDB0}"/>
              </a:ext>
            </a:extLst>
          </p:cNvPr>
          <p:cNvSpPr txBox="1"/>
          <p:nvPr/>
        </p:nvSpPr>
        <p:spPr>
          <a:xfrm>
            <a:off x="10121331" y="3234049"/>
            <a:ext cx="4847286" cy="400110"/>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d)“Two-face”</a:t>
            </a:r>
            <a:endParaRPr lang="en-IN" sz="2000" i="1">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63C41167-3842-7941-2347-2ABE3CA061D3}"/>
              </a:ext>
            </a:extLst>
          </p:cNvPr>
          <p:cNvSpPr txBox="1"/>
          <p:nvPr/>
        </p:nvSpPr>
        <p:spPr>
          <a:xfrm>
            <a:off x="883333" y="1528772"/>
            <a:ext cx="2614296" cy="2099212"/>
          </a:xfrm>
          <a:prstGeom prst="rect">
            <a:avLst/>
          </a:prstGeom>
          <a:noFill/>
          <a:ln>
            <a:solidFill>
              <a:schemeClr val="bg1">
                <a:lumMod val="75000"/>
              </a:schemeClr>
            </a:solidFill>
            <a:prstDash val="dash"/>
          </a:ln>
        </p:spPr>
        <p:txBody>
          <a:bodyPr wrap="square" rtlCol="0">
            <a:spAutoFit/>
          </a:bodyPr>
          <a:lstStyle/>
          <a:p>
            <a:pPr>
              <a:lnSpc>
                <a:spcPct val="150000"/>
              </a:lnSpc>
            </a:pPr>
            <a:endParaRPr lang="en-IN" sz="280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749B6E0B-BB90-621B-73B9-272A9E00F57E}"/>
              </a:ext>
            </a:extLst>
          </p:cNvPr>
          <p:cNvSpPr txBox="1"/>
          <p:nvPr/>
        </p:nvSpPr>
        <p:spPr>
          <a:xfrm>
            <a:off x="7177324" y="3261750"/>
            <a:ext cx="4847286" cy="400110"/>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c) Self-propulsion</a:t>
            </a:r>
            <a:endParaRPr lang="en-IN" sz="2000" i="1">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E2EDD46D-6159-F012-7749-B1DBF845F451}"/>
              </a:ext>
            </a:extLst>
          </p:cNvPr>
          <p:cNvSpPr txBox="1"/>
          <p:nvPr/>
        </p:nvSpPr>
        <p:spPr>
          <a:xfrm>
            <a:off x="7386438" y="5772753"/>
            <a:ext cx="4847286" cy="707886"/>
          </a:xfrm>
          <a:prstGeom prst="rect">
            <a:avLst/>
          </a:prstGeom>
          <a:noFill/>
        </p:spPr>
        <p:txBody>
          <a:bodyPr wrap="square" rtlCol="0">
            <a:spAutoFit/>
          </a:bodyPr>
          <a:lstStyle/>
          <a:p>
            <a:pPr algn="ctr"/>
            <a:r>
              <a:rPr lang="en-US" sz="2000" i="1">
                <a:latin typeface="Times New Roman" panose="02020603050405020304" pitchFamily="18" charset="0"/>
                <a:cs typeface="Times New Roman" panose="02020603050405020304" pitchFamily="18" charset="0"/>
                <a:sym typeface="Wingdings" panose="05000000000000000000" pitchFamily="2" charset="2"/>
              </a:rPr>
              <a:t>e) Enzyme cascade </a:t>
            </a:r>
          </a:p>
          <a:p>
            <a:pPr algn="ctr"/>
            <a:r>
              <a:rPr lang="en-US" sz="2000">
                <a:latin typeface="Times New Roman" panose="02020603050405020304" pitchFamily="18" charset="0"/>
                <a:cs typeface="Times New Roman" panose="02020603050405020304" pitchFamily="18" charset="0"/>
              </a:rPr>
              <a:t>Self-propulsion + Collective behaviour</a:t>
            </a:r>
            <a:r>
              <a:rPr lang="en-US" sz="2000">
                <a:latin typeface="Times New Roman" panose="02020603050405020304" pitchFamily="18" charset="0"/>
                <a:cs typeface="Times New Roman" panose="02020603050405020304" pitchFamily="18" charset="0"/>
                <a:sym typeface="Wingdings" panose="05000000000000000000" pitchFamily="2" charset="2"/>
              </a:rPr>
              <a:t> ?</a:t>
            </a:r>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5831687"/>
      </p:ext>
    </p:extLst>
  </p:cSld>
  <p:clrMapOvr>
    <a:masterClrMapping/>
  </p:clrMapOvr>
  <mc:AlternateContent xmlns:mc="http://schemas.openxmlformats.org/markup-compatibility/2006" xmlns:p14="http://schemas.microsoft.com/office/powerpoint/2010/main">
    <mc:Choice Requires="p14">
      <p:transition spd="slow" p14:dur="2000" advTm="57239"/>
    </mc:Choice>
    <mc:Fallback xmlns="">
      <p:transition spd="slow" advTm="57239"/>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D239F3-FE11-B39B-1B72-8D50D2907855}"/>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BE50856-A2AE-AEC8-3FE7-441EF5E8249F}"/>
              </a:ext>
            </a:extLst>
          </p:cNvPr>
          <p:cNvSpPr>
            <a:spLocks/>
          </p:cNvSpPr>
          <p:nvPr/>
        </p:nvSpPr>
        <p:spPr>
          <a:xfrm>
            <a:off x="727585" y="1460554"/>
            <a:ext cx="9140759" cy="3626406"/>
          </a:xfrm>
          <a:prstGeom prst="rect">
            <a:avLst/>
          </a:prstGeom>
        </p:spPr>
        <p:txBody>
          <a:bodyPr>
            <a:noAutofit/>
          </a:bodyPr>
          <a:lstStyle/>
          <a:p>
            <a:pPr marL="274320" indent="-342900" defTabSz="777240">
              <a:lnSpc>
                <a:spcPct val="150000"/>
              </a:lnSpc>
              <a:spcAft>
                <a:spcPts val="600"/>
              </a:spcAft>
              <a:buFont typeface="Wingdings" panose="05000000000000000000" pitchFamily="2" charset="2"/>
              <a:buChar char="q"/>
            </a:pPr>
            <a:endParaRPr lang="en-US" sz="2400" kern="1200">
              <a:solidFill>
                <a:schemeClr val="tx1"/>
              </a:solidFill>
              <a:latin typeface="Times New Roman" panose="02020603050405020304" pitchFamily="18" charset="0"/>
              <a:cs typeface="Times New Roman" panose="02020603050405020304" pitchFamily="18" charset="0"/>
            </a:endParaRPr>
          </a:p>
        </p:txBody>
      </p:sp>
      <p:sp>
        <p:nvSpPr>
          <p:cNvPr id="19" name="Title 1">
            <a:extLst>
              <a:ext uri="{FF2B5EF4-FFF2-40B4-BE49-F238E27FC236}">
                <a16:creationId xmlns:a16="http://schemas.microsoft.com/office/drawing/2014/main" id="{DAD441E3-B7B9-FFC0-E8DD-2424E433C50B}"/>
              </a:ext>
            </a:extLst>
          </p:cNvPr>
          <p:cNvSpPr>
            <a:spLocks noGrp="1"/>
          </p:cNvSpPr>
          <p:nvPr>
            <p:ph type="title"/>
          </p:nvPr>
        </p:nvSpPr>
        <p:spPr>
          <a:xfrm>
            <a:off x="341204" y="174750"/>
            <a:ext cx="11542426" cy="1098569"/>
          </a:xfrm>
        </p:spPr>
        <p:txBody>
          <a:bodyPr>
            <a:normAutofit/>
          </a:bodyPr>
          <a:lstStyle/>
          <a:p>
            <a:pPr algn="ctr"/>
            <a:r>
              <a:rPr lang="en-US" sz="3600" b="1">
                <a:solidFill>
                  <a:srgbClr val="C00000"/>
                </a:solidFill>
                <a:latin typeface="Times New Roman" panose="02020603050405020304" pitchFamily="18" charset="0"/>
                <a:cs typeface="Times New Roman" panose="02020603050405020304" pitchFamily="18" charset="0"/>
              </a:rPr>
              <a:t>PRESENTATION OUTLINE</a:t>
            </a:r>
            <a:endParaRPr lang="en-IN" sz="3600" b="1">
              <a:solidFill>
                <a:srgbClr val="C00000"/>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3149CCC3-6D87-53E0-371B-B5C347405F1E}"/>
              </a:ext>
            </a:extLst>
          </p:cNvPr>
          <p:cNvSpPr>
            <a:spLocks noGrp="1"/>
          </p:cNvSpPr>
          <p:nvPr>
            <p:ph type="sldNum" sz="quarter" idx="12"/>
          </p:nvPr>
        </p:nvSpPr>
        <p:spPr>
          <a:xfrm>
            <a:off x="9114020" y="6510629"/>
            <a:ext cx="2743200" cy="365125"/>
          </a:xfrm>
        </p:spPr>
        <p:txBody>
          <a:bodyPr/>
          <a:lstStyle/>
          <a:p>
            <a:fld id="{C6784A8F-7002-44D0-9341-76CE0EB505BE}" type="slidenum">
              <a:rPr lang="en-IN" smtClean="0"/>
              <a:t>3</a:t>
            </a:fld>
            <a:endParaRPr lang="en-IN"/>
          </a:p>
        </p:txBody>
      </p:sp>
      <p:sp>
        <p:nvSpPr>
          <p:cNvPr id="11" name="TextBox 10">
            <a:extLst>
              <a:ext uri="{FF2B5EF4-FFF2-40B4-BE49-F238E27FC236}">
                <a16:creationId xmlns:a16="http://schemas.microsoft.com/office/drawing/2014/main" id="{939F328A-4A7B-C62A-DA9A-D7DE4B1485FE}"/>
              </a:ext>
            </a:extLst>
          </p:cNvPr>
          <p:cNvSpPr txBox="1"/>
          <p:nvPr/>
        </p:nvSpPr>
        <p:spPr>
          <a:xfrm>
            <a:off x="180246" y="1000879"/>
            <a:ext cx="11857220" cy="661207"/>
          </a:xfrm>
          <a:prstGeom prst="rect">
            <a:avLst/>
          </a:prstGeom>
          <a:noFill/>
          <a:ln>
            <a:solidFill>
              <a:schemeClr val="bg1">
                <a:lumMod val="75000"/>
              </a:schemeClr>
            </a:solidFill>
            <a:prstDash val="dash"/>
          </a:ln>
        </p:spPr>
        <p:txBody>
          <a:bodyPr wrap="square" rtlCol="0">
            <a:spAutoFit/>
          </a:bodyPr>
          <a:lstStyle/>
          <a:p>
            <a:pPr>
              <a:lnSpc>
                <a:spcPct val="150000"/>
              </a:lnSpc>
            </a:pPr>
            <a:r>
              <a:rPr lang="en-US" sz="2800" b="1">
                <a:latin typeface="Times New Roman" panose="02020603050405020304" pitchFamily="18" charset="0"/>
                <a:cs typeface="Times New Roman" panose="02020603050405020304" pitchFamily="18" charset="0"/>
              </a:rPr>
              <a:t>Paper #1 – Catalytic Enzymes are active matter</a:t>
            </a:r>
            <a:endParaRPr lang="en-IN" sz="280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259C4A25-F13C-E645-2E29-4B918CCFC42D}"/>
              </a:ext>
            </a:extLst>
          </p:cNvPr>
          <p:cNvSpPr txBox="1"/>
          <p:nvPr/>
        </p:nvSpPr>
        <p:spPr>
          <a:xfrm>
            <a:off x="8673369" y="3062068"/>
            <a:ext cx="3179295" cy="338554"/>
          </a:xfrm>
          <a:prstGeom prst="rect">
            <a:avLst/>
          </a:prstGeom>
          <a:noFill/>
          <a:ln w="38100">
            <a:solidFill>
              <a:schemeClr val="accent1"/>
            </a:solidFill>
          </a:ln>
        </p:spPr>
        <p:txBody>
          <a:bodyPr wrap="square" rtlCol="0">
            <a:spAutoFit/>
          </a:bodyPr>
          <a:lstStyle/>
          <a:p>
            <a:r>
              <a:rPr lang="en-US" sz="1600">
                <a:latin typeface="Times New Roman" panose="02020603050405020304" pitchFamily="18" charset="0"/>
                <a:cs typeface="Times New Roman" panose="02020603050405020304" pitchFamily="18" charset="0"/>
              </a:rPr>
              <a:t>PNAS; 125 Citations; Nov 2018</a:t>
            </a:r>
          </a:p>
        </p:txBody>
      </p:sp>
      <p:sp>
        <p:nvSpPr>
          <p:cNvPr id="13" name="TextBox 12">
            <a:extLst>
              <a:ext uri="{FF2B5EF4-FFF2-40B4-BE49-F238E27FC236}">
                <a16:creationId xmlns:a16="http://schemas.microsoft.com/office/drawing/2014/main" id="{9160F89C-FCFB-0C68-B873-1C148CE39C2B}"/>
              </a:ext>
            </a:extLst>
          </p:cNvPr>
          <p:cNvSpPr txBox="1"/>
          <p:nvPr/>
        </p:nvSpPr>
        <p:spPr>
          <a:xfrm>
            <a:off x="8284188" y="5891913"/>
            <a:ext cx="3599442" cy="338554"/>
          </a:xfrm>
          <a:prstGeom prst="rect">
            <a:avLst/>
          </a:prstGeom>
          <a:noFill/>
          <a:ln w="38100">
            <a:solidFill>
              <a:schemeClr val="accent1"/>
            </a:solidFill>
          </a:ln>
        </p:spPr>
        <p:txBody>
          <a:bodyPr wrap="square" rtlCol="0">
            <a:spAutoFit/>
          </a:bodyPr>
          <a:lstStyle/>
          <a:p>
            <a:r>
              <a:rPr lang="en-US" sz="1600">
                <a:latin typeface="Times New Roman" panose="02020603050405020304" pitchFamily="18" charset="0"/>
                <a:cs typeface="Times New Roman" panose="02020603050405020304" pitchFamily="18" charset="0"/>
              </a:rPr>
              <a:t>Phys Rev Letter; 63 Citations; Sep 2019</a:t>
            </a:r>
          </a:p>
        </p:txBody>
      </p:sp>
      <p:sp>
        <p:nvSpPr>
          <p:cNvPr id="15" name="TextBox 14">
            <a:extLst>
              <a:ext uri="{FF2B5EF4-FFF2-40B4-BE49-F238E27FC236}">
                <a16:creationId xmlns:a16="http://schemas.microsoft.com/office/drawing/2014/main" id="{0A2C98F4-6443-740C-7D88-0B5B14E06CD1}"/>
              </a:ext>
            </a:extLst>
          </p:cNvPr>
          <p:cNvSpPr txBox="1"/>
          <p:nvPr/>
        </p:nvSpPr>
        <p:spPr>
          <a:xfrm>
            <a:off x="180246" y="6535323"/>
            <a:ext cx="11284169" cy="276999"/>
          </a:xfrm>
          <a:prstGeom prst="rect">
            <a:avLst/>
          </a:prstGeom>
          <a:noFill/>
        </p:spPr>
        <p:txBody>
          <a:bodyPr wrap="square">
            <a:spAutoFit/>
          </a:bodyPr>
          <a:lstStyle/>
          <a:p>
            <a:r>
              <a:rPr lang="en-IN" sz="1200" b="0" i="0">
                <a:solidFill>
                  <a:srgbClr val="222222"/>
                </a:solidFill>
                <a:effectLst/>
                <a:highlight>
                  <a:srgbClr val="FFFFFF"/>
                </a:highlight>
                <a:latin typeface="Arial" panose="020B0604020202020204" pitchFamily="34" charset="0"/>
              </a:rPr>
              <a:t>Xu, M., Ross, J. L., Valdez, L., &amp; Sen, A. (2019). Direct single molecule imaging of enhanced enzyme diffusion. </a:t>
            </a:r>
            <a:r>
              <a:rPr lang="en-IN" sz="1200" b="0" i="1">
                <a:solidFill>
                  <a:srgbClr val="222222"/>
                </a:solidFill>
                <a:effectLst/>
                <a:highlight>
                  <a:srgbClr val="FFFFFF"/>
                </a:highlight>
                <a:latin typeface="Arial" panose="020B0604020202020204" pitchFamily="34" charset="0"/>
              </a:rPr>
              <a:t>Physical review letters</a:t>
            </a:r>
            <a:r>
              <a:rPr lang="en-IN" sz="1200" b="0" i="0">
                <a:solidFill>
                  <a:srgbClr val="222222"/>
                </a:solidFill>
                <a:effectLst/>
                <a:highlight>
                  <a:srgbClr val="FFFFFF"/>
                </a:highlight>
                <a:latin typeface="Arial" panose="020B0604020202020204" pitchFamily="34" charset="0"/>
              </a:rPr>
              <a:t>, </a:t>
            </a:r>
            <a:r>
              <a:rPr lang="en-IN" sz="1200" b="0" i="1">
                <a:solidFill>
                  <a:srgbClr val="222222"/>
                </a:solidFill>
                <a:effectLst/>
                <a:highlight>
                  <a:srgbClr val="FFFFFF"/>
                </a:highlight>
                <a:latin typeface="Arial" panose="020B0604020202020204" pitchFamily="34" charset="0"/>
              </a:rPr>
              <a:t>123</a:t>
            </a:r>
            <a:r>
              <a:rPr lang="en-IN" sz="1200" b="0" i="0">
                <a:solidFill>
                  <a:srgbClr val="222222"/>
                </a:solidFill>
                <a:effectLst/>
                <a:highlight>
                  <a:srgbClr val="FFFFFF"/>
                </a:highlight>
                <a:latin typeface="Arial" panose="020B0604020202020204" pitchFamily="34" charset="0"/>
              </a:rPr>
              <a:t>(12), 128101.</a:t>
            </a:r>
            <a:endParaRPr lang="en-IN" sz="1200"/>
          </a:p>
        </p:txBody>
      </p:sp>
      <p:sp>
        <p:nvSpPr>
          <p:cNvPr id="17" name="TextBox 16">
            <a:extLst>
              <a:ext uri="{FF2B5EF4-FFF2-40B4-BE49-F238E27FC236}">
                <a16:creationId xmlns:a16="http://schemas.microsoft.com/office/drawing/2014/main" id="{82A1E1B7-57EE-7AFA-05D4-08048B3F7023}"/>
              </a:ext>
            </a:extLst>
          </p:cNvPr>
          <p:cNvSpPr txBox="1"/>
          <p:nvPr/>
        </p:nvSpPr>
        <p:spPr>
          <a:xfrm>
            <a:off x="167390" y="6315528"/>
            <a:ext cx="11857220" cy="276999"/>
          </a:xfrm>
          <a:prstGeom prst="rect">
            <a:avLst/>
          </a:prstGeom>
          <a:noFill/>
        </p:spPr>
        <p:txBody>
          <a:bodyPr wrap="square">
            <a:spAutoFit/>
          </a:bodyPr>
          <a:lstStyle/>
          <a:p>
            <a:r>
              <a:rPr lang="en-US" sz="1200" b="0" i="0">
                <a:solidFill>
                  <a:srgbClr val="222222"/>
                </a:solidFill>
                <a:effectLst/>
                <a:highlight>
                  <a:srgbClr val="FFFFFF"/>
                </a:highlight>
                <a:latin typeface="Arial" panose="020B0604020202020204" pitchFamily="34" charset="0"/>
              </a:rPr>
              <a:t>Jee, A. Y., Cho, Y. K., Granick, S., &amp; Tlusty, T. (2018). Catalytic enzymes are active matter. </a:t>
            </a:r>
            <a:r>
              <a:rPr lang="en-US" sz="1200" b="0" i="1">
                <a:solidFill>
                  <a:srgbClr val="222222"/>
                </a:solidFill>
                <a:effectLst/>
                <a:highlight>
                  <a:srgbClr val="FFFFFF"/>
                </a:highlight>
                <a:latin typeface="Arial" panose="020B0604020202020204" pitchFamily="34" charset="0"/>
              </a:rPr>
              <a:t>Proceedings of the National Academy of Sciences</a:t>
            </a:r>
            <a:r>
              <a:rPr lang="en-US" sz="1200" b="0" i="0">
                <a:solidFill>
                  <a:srgbClr val="222222"/>
                </a:solidFill>
                <a:effectLst/>
                <a:highlight>
                  <a:srgbClr val="FFFFFF"/>
                </a:highlight>
                <a:latin typeface="Arial" panose="020B0604020202020204" pitchFamily="34" charset="0"/>
              </a:rPr>
              <a:t>, </a:t>
            </a:r>
            <a:r>
              <a:rPr lang="en-US" sz="1200" b="0" i="1">
                <a:solidFill>
                  <a:srgbClr val="222222"/>
                </a:solidFill>
                <a:effectLst/>
                <a:highlight>
                  <a:srgbClr val="FFFFFF"/>
                </a:highlight>
                <a:latin typeface="Arial" panose="020B0604020202020204" pitchFamily="34" charset="0"/>
              </a:rPr>
              <a:t>115</a:t>
            </a:r>
            <a:r>
              <a:rPr lang="en-US" sz="1200" b="0" i="0">
                <a:solidFill>
                  <a:srgbClr val="222222"/>
                </a:solidFill>
                <a:effectLst/>
                <a:highlight>
                  <a:srgbClr val="FFFFFF"/>
                </a:highlight>
                <a:latin typeface="Arial" panose="020B0604020202020204" pitchFamily="34" charset="0"/>
              </a:rPr>
              <a:t>(46), E10812-E10821.</a:t>
            </a:r>
            <a:endParaRPr lang="en-IN" sz="1200"/>
          </a:p>
        </p:txBody>
      </p:sp>
      <p:sp>
        <p:nvSpPr>
          <p:cNvPr id="18" name="Rectangle 17">
            <a:extLst>
              <a:ext uri="{FF2B5EF4-FFF2-40B4-BE49-F238E27FC236}">
                <a16:creationId xmlns:a16="http://schemas.microsoft.com/office/drawing/2014/main" id="{7120D854-91C9-E59F-0A85-F56CA8131E4B}"/>
              </a:ext>
            </a:extLst>
          </p:cNvPr>
          <p:cNvSpPr/>
          <p:nvPr/>
        </p:nvSpPr>
        <p:spPr>
          <a:xfrm>
            <a:off x="167390" y="59233"/>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81C2355-8040-5390-C001-E133142B1538}"/>
              </a:ext>
            </a:extLst>
          </p:cNvPr>
          <p:cNvSpPr txBox="1"/>
          <p:nvPr/>
        </p:nvSpPr>
        <p:spPr>
          <a:xfrm>
            <a:off x="1295570" y="2001962"/>
            <a:ext cx="2578783" cy="461665"/>
          </a:xfrm>
          <a:prstGeom prst="rect">
            <a:avLst/>
          </a:prstGeom>
          <a:noFill/>
          <a:ln w="38100">
            <a:solidFill>
              <a:schemeClr val="tx1"/>
            </a:solidFill>
          </a:ln>
        </p:spPr>
        <p:txBody>
          <a:bodyPr wrap="square" rtlCol="0">
            <a:spAutoFit/>
          </a:bodyPr>
          <a:lstStyle/>
          <a:p>
            <a:r>
              <a:rPr lang="en-US" sz="2400">
                <a:latin typeface="Times New Roman" panose="02020603050405020304" pitchFamily="18" charset="0"/>
                <a:cs typeface="Times New Roman" panose="02020603050405020304" pitchFamily="18" charset="0"/>
              </a:rPr>
              <a:t>Enhanced diffusion</a:t>
            </a:r>
            <a:endParaRPr lang="en-IN" sz="24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EC618D9-FAAE-178A-C871-81ACD56AD82F}"/>
              </a:ext>
            </a:extLst>
          </p:cNvPr>
          <p:cNvSpPr txBox="1"/>
          <p:nvPr/>
        </p:nvSpPr>
        <p:spPr>
          <a:xfrm>
            <a:off x="5201835" y="1991143"/>
            <a:ext cx="2683748" cy="461665"/>
          </a:xfrm>
          <a:prstGeom prst="rect">
            <a:avLst/>
          </a:prstGeom>
          <a:noFill/>
          <a:ln w="38100">
            <a:solidFill>
              <a:schemeClr val="tx1"/>
            </a:solidFill>
          </a:ln>
        </p:spPr>
        <p:txBody>
          <a:bodyPr wrap="none" rtlCol="0">
            <a:spAutoFit/>
          </a:bodyPr>
          <a:lstStyle/>
          <a:p>
            <a:r>
              <a:rPr lang="en-US" sz="2400">
                <a:latin typeface="Times New Roman" panose="02020603050405020304" pitchFamily="18" charset="0"/>
                <a:cs typeface="Times New Roman" panose="02020603050405020304" pitchFamily="18" charset="0"/>
              </a:rPr>
              <a:t>Directional mobility</a:t>
            </a:r>
            <a:endParaRPr lang="en-IN" sz="24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804EB20-DC21-4EA1-604E-E39F093A308E}"/>
              </a:ext>
            </a:extLst>
          </p:cNvPr>
          <p:cNvSpPr txBox="1"/>
          <p:nvPr/>
        </p:nvSpPr>
        <p:spPr>
          <a:xfrm>
            <a:off x="8810656" y="1978672"/>
            <a:ext cx="2904723" cy="830997"/>
          </a:xfrm>
          <a:prstGeom prst="rect">
            <a:avLst/>
          </a:prstGeom>
          <a:noFill/>
          <a:ln w="38100">
            <a:solidFill>
              <a:schemeClr val="tx1"/>
            </a:solidFill>
          </a:ln>
        </p:spPr>
        <p:txBody>
          <a:bodyPr wrap="square" rtlCol="0">
            <a:spAutoFit/>
          </a:bodyPr>
          <a:lstStyle/>
          <a:p>
            <a:r>
              <a:rPr lang="en-US" sz="2400">
                <a:latin typeface="Times New Roman" panose="02020603050405020304" pitchFamily="18" charset="0"/>
                <a:cs typeface="Times New Roman" panose="02020603050405020304" pitchFamily="18" charset="0"/>
              </a:rPr>
              <a:t>Limitations outweigh the positives?</a:t>
            </a:r>
            <a:endParaRPr lang="en-IN" sz="24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AC96956-879B-5B77-087D-295058C0440E}"/>
              </a:ext>
            </a:extLst>
          </p:cNvPr>
          <p:cNvSpPr txBox="1"/>
          <p:nvPr/>
        </p:nvSpPr>
        <p:spPr>
          <a:xfrm>
            <a:off x="835212" y="2683422"/>
            <a:ext cx="3493777" cy="461665"/>
          </a:xfrm>
          <a:prstGeom prst="rect">
            <a:avLst/>
          </a:prstGeom>
          <a:noFill/>
          <a:ln w="38100">
            <a:solidFill>
              <a:schemeClr val="tx1"/>
            </a:solidFill>
          </a:ln>
        </p:spPr>
        <p:txBody>
          <a:bodyPr wrap="none" rtlCol="0">
            <a:spAutoFit/>
          </a:bodyPr>
          <a:lstStyle/>
          <a:p>
            <a:r>
              <a:rPr lang="en-US" sz="2400">
                <a:latin typeface="Times New Roman" panose="02020603050405020304" pitchFamily="18" charset="0"/>
                <a:cs typeface="Times New Roman" panose="02020603050405020304" pitchFamily="18" charset="0"/>
              </a:rPr>
              <a:t>With and without substrate</a:t>
            </a:r>
            <a:endParaRPr lang="en-I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2D34703-90BF-BC4B-0939-65C62533895C}"/>
              </a:ext>
            </a:extLst>
          </p:cNvPr>
          <p:cNvSpPr txBox="1"/>
          <p:nvPr/>
        </p:nvSpPr>
        <p:spPr>
          <a:xfrm>
            <a:off x="2584963" y="4469698"/>
            <a:ext cx="2578783" cy="461665"/>
          </a:xfrm>
          <a:prstGeom prst="rect">
            <a:avLst/>
          </a:prstGeom>
          <a:noFill/>
          <a:ln w="38100">
            <a:solidFill>
              <a:schemeClr val="tx1"/>
            </a:solidFill>
          </a:ln>
        </p:spPr>
        <p:txBody>
          <a:bodyPr wrap="none" rtlCol="0">
            <a:spAutoFit/>
          </a:bodyPr>
          <a:lstStyle/>
          <a:p>
            <a:r>
              <a:rPr lang="en-US" sz="2400">
                <a:latin typeface="Times New Roman" panose="02020603050405020304" pitchFamily="18" charset="0"/>
                <a:cs typeface="Times New Roman" panose="02020603050405020304" pitchFamily="18" charset="0"/>
              </a:rPr>
              <a:t>Enhanced diffusion</a:t>
            </a:r>
            <a:endParaRPr lang="en-IN" sz="240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922C5CA-6FAA-9B6D-80B8-06305A8B4D70}"/>
              </a:ext>
            </a:extLst>
          </p:cNvPr>
          <p:cNvSpPr txBox="1"/>
          <p:nvPr/>
        </p:nvSpPr>
        <p:spPr>
          <a:xfrm>
            <a:off x="2875220" y="5301650"/>
            <a:ext cx="2065185" cy="830997"/>
          </a:xfrm>
          <a:prstGeom prst="rect">
            <a:avLst/>
          </a:prstGeom>
          <a:noFill/>
          <a:ln w="38100">
            <a:solidFill>
              <a:schemeClr val="tx1"/>
            </a:solidFill>
          </a:ln>
        </p:spPr>
        <p:txBody>
          <a:bodyPr wrap="square" rtlCol="0">
            <a:spAutoFit/>
          </a:bodyPr>
          <a:lstStyle/>
          <a:p>
            <a:r>
              <a:rPr lang="en-US" sz="2400">
                <a:latin typeface="Times New Roman" panose="02020603050405020304" pitchFamily="18" charset="0"/>
                <a:cs typeface="Times New Roman" panose="02020603050405020304" pitchFamily="18" charset="0"/>
              </a:rPr>
              <a:t>Compare with previous study.</a:t>
            </a:r>
            <a:endParaRPr lang="en-IN" sz="240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2D1D82C-85BE-E579-FC77-805C479CF076}"/>
              </a:ext>
            </a:extLst>
          </p:cNvPr>
          <p:cNvSpPr txBox="1"/>
          <p:nvPr/>
        </p:nvSpPr>
        <p:spPr>
          <a:xfrm>
            <a:off x="5797382" y="5000679"/>
            <a:ext cx="5109091" cy="461665"/>
          </a:xfrm>
          <a:prstGeom prst="rect">
            <a:avLst/>
          </a:prstGeom>
          <a:noFill/>
          <a:ln w="38100">
            <a:solidFill>
              <a:schemeClr val="tx1"/>
            </a:solidFill>
          </a:ln>
        </p:spPr>
        <p:txBody>
          <a:bodyPr wrap="none" rtlCol="0">
            <a:spAutoFit/>
          </a:bodyPr>
          <a:lstStyle/>
          <a:p>
            <a:r>
              <a:rPr lang="en-US" sz="2400">
                <a:latin typeface="Times New Roman" panose="02020603050405020304" pitchFamily="18" charset="0"/>
                <a:cs typeface="Times New Roman" panose="02020603050405020304" pitchFamily="18" charset="0"/>
              </a:rPr>
              <a:t>What causes the enhancement? X factor</a:t>
            </a:r>
            <a:endParaRPr lang="en-IN" sz="240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F2A4C676-2513-7342-8F90-2BE8D32EE320}"/>
              </a:ext>
            </a:extLst>
          </p:cNvPr>
          <p:cNvSpPr txBox="1"/>
          <p:nvPr/>
        </p:nvSpPr>
        <p:spPr>
          <a:xfrm>
            <a:off x="180247" y="3566763"/>
            <a:ext cx="11844364" cy="661207"/>
          </a:xfrm>
          <a:prstGeom prst="rect">
            <a:avLst/>
          </a:prstGeom>
          <a:noFill/>
          <a:ln>
            <a:solidFill>
              <a:schemeClr val="bg1">
                <a:lumMod val="65000"/>
              </a:schemeClr>
            </a:solidFill>
            <a:prstDash val="dash"/>
          </a:ln>
        </p:spPr>
        <p:txBody>
          <a:bodyPr wrap="square">
            <a:spAutoFit/>
          </a:bodyPr>
          <a:lstStyle/>
          <a:p>
            <a:pPr>
              <a:lnSpc>
                <a:spcPct val="150000"/>
              </a:lnSpc>
            </a:pPr>
            <a:r>
              <a:rPr lang="en-US" sz="2800" b="1">
                <a:latin typeface="Times New Roman" panose="02020603050405020304" pitchFamily="18" charset="0"/>
                <a:cs typeface="Times New Roman" panose="02020603050405020304" pitchFamily="18" charset="0"/>
              </a:rPr>
              <a:t>Paper #2 – Direct single molecule imaging of enhanced enzyme diffusion </a:t>
            </a:r>
          </a:p>
        </p:txBody>
      </p:sp>
      <p:sp>
        <p:nvSpPr>
          <p:cNvPr id="24" name="TextBox 23">
            <a:extLst>
              <a:ext uri="{FF2B5EF4-FFF2-40B4-BE49-F238E27FC236}">
                <a16:creationId xmlns:a16="http://schemas.microsoft.com/office/drawing/2014/main" id="{4BB4999D-4DE4-653E-886D-CD4B6C937161}"/>
              </a:ext>
            </a:extLst>
          </p:cNvPr>
          <p:cNvSpPr txBox="1"/>
          <p:nvPr/>
        </p:nvSpPr>
        <p:spPr>
          <a:xfrm>
            <a:off x="4791526" y="2590536"/>
            <a:ext cx="3674329" cy="830997"/>
          </a:xfrm>
          <a:prstGeom prst="rect">
            <a:avLst/>
          </a:prstGeom>
          <a:noFill/>
          <a:ln w="38100">
            <a:solidFill>
              <a:schemeClr val="tx1"/>
            </a:solidFill>
          </a:ln>
        </p:spPr>
        <p:txBody>
          <a:bodyPr wrap="square">
            <a:spAutoFit/>
          </a:bodyPr>
          <a:lstStyle/>
          <a:p>
            <a:pPr marL="0" lvl="1"/>
            <a:r>
              <a:rPr lang="en-US" sz="2400">
                <a:latin typeface="Times New Roman" panose="02020603050405020304" pitchFamily="18" charset="0"/>
                <a:cs typeface="Times New Roman" panose="02020603050405020304" pitchFamily="18" charset="0"/>
              </a:rPr>
              <a:t>Towards or away from high substrate concentration.</a:t>
            </a:r>
          </a:p>
        </p:txBody>
      </p:sp>
      <p:cxnSp>
        <p:nvCxnSpPr>
          <p:cNvPr id="26" name="Straight Connector 25">
            <a:extLst>
              <a:ext uri="{FF2B5EF4-FFF2-40B4-BE49-F238E27FC236}">
                <a16:creationId xmlns:a16="http://schemas.microsoft.com/office/drawing/2014/main" id="{17BEC802-2498-CD4B-44B5-A50CFC3D601D}"/>
              </a:ext>
            </a:extLst>
          </p:cNvPr>
          <p:cNvCxnSpPr>
            <a:cxnSpLocks/>
            <a:stCxn id="4" idx="2"/>
          </p:cNvCxnSpPr>
          <p:nvPr/>
        </p:nvCxnSpPr>
        <p:spPr>
          <a:xfrm>
            <a:off x="2584962" y="2463627"/>
            <a:ext cx="0" cy="229478"/>
          </a:xfrm>
          <a:prstGeom prst="line">
            <a:avLst/>
          </a:prstGeom>
          <a:ln w="38100">
            <a:solidFill>
              <a:srgbClr val="C00000"/>
            </a:solidFill>
          </a:ln>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1948EAA6-CEF2-04CF-139D-9854F56BE145}"/>
              </a:ext>
            </a:extLst>
          </p:cNvPr>
          <p:cNvCxnSpPr/>
          <p:nvPr/>
        </p:nvCxnSpPr>
        <p:spPr>
          <a:xfrm>
            <a:off x="3871399" y="4929693"/>
            <a:ext cx="1" cy="386083"/>
          </a:xfrm>
          <a:prstGeom prst="line">
            <a:avLst/>
          </a:prstGeom>
          <a:ln w="38100">
            <a:solidFill>
              <a:srgbClr val="C00000"/>
            </a:solidFill>
          </a:ln>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1D77AFC8-6248-908C-32D6-6D2A98D06640}"/>
              </a:ext>
            </a:extLst>
          </p:cNvPr>
          <p:cNvCxnSpPr>
            <a:cxnSpLocks/>
            <a:endCxn id="4" idx="0"/>
          </p:cNvCxnSpPr>
          <p:nvPr/>
        </p:nvCxnSpPr>
        <p:spPr>
          <a:xfrm>
            <a:off x="2581230" y="1650952"/>
            <a:ext cx="3732" cy="351010"/>
          </a:xfrm>
          <a:prstGeom prst="line">
            <a:avLst/>
          </a:prstGeom>
          <a:ln w="38100">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8DAFF098-30EA-576E-C5A4-243B27004DB8}"/>
              </a:ext>
            </a:extLst>
          </p:cNvPr>
          <p:cNvCxnSpPr>
            <a:cxnSpLocks/>
          </p:cNvCxnSpPr>
          <p:nvPr/>
        </p:nvCxnSpPr>
        <p:spPr>
          <a:xfrm>
            <a:off x="3865527" y="4223386"/>
            <a:ext cx="0" cy="229863"/>
          </a:xfrm>
          <a:prstGeom prst="line">
            <a:avLst/>
          </a:prstGeom>
          <a:ln w="38100">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23CDDCA5-0FBA-0CE4-5447-656D71A46601}"/>
              </a:ext>
            </a:extLst>
          </p:cNvPr>
          <p:cNvCxnSpPr>
            <a:cxnSpLocks/>
          </p:cNvCxnSpPr>
          <p:nvPr/>
        </p:nvCxnSpPr>
        <p:spPr>
          <a:xfrm>
            <a:off x="8284188" y="4223386"/>
            <a:ext cx="0" cy="777293"/>
          </a:xfrm>
          <a:prstGeom prst="line">
            <a:avLst/>
          </a:prstGeom>
          <a:ln w="38100">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7909CDE6-5D6F-BB34-BE5E-B2865C6A2995}"/>
              </a:ext>
            </a:extLst>
          </p:cNvPr>
          <p:cNvCxnSpPr>
            <a:cxnSpLocks/>
          </p:cNvCxnSpPr>
          <p:nvPr/>
        </p:nvCxnSpPr>
        <p:spPr>
          <a:xfrm>
            <a:off x="3865527" y="4223386"/>
            <a:ext cx="4418661" cy="0"/>
          </a:xfrm>
          <a:prstGeom prst="line">
            <a:avLst/>
          </a:prstGeom>
          <a:ln w="38100">
            <a:prstDash val="dash"/>
          </a:ln>
        </p:spPr>
        <p:style>
          <a:lnRef idx="2">
            <a:schemeClr val="dk1"/>
          </a:lnRef>
          <a:fillRef idx="0">
            <a:schemeClr val="dk1"/>
          </a:fillRef>
          <a:effectRef idx="1">
            <a:schemeClr val="dk1"/>
          </a:effectRef>
          <a:fontRef idx="minor">
            <a:schemeClr val="tx1"/>
          </a:fontRef>
        </p:style>
      </p:cxnSp>
      <p:cxnSp>
        <p:nvCxnSpPr>
          <p:cNvPr id="42" name="Straight Connector 41">
            <a:extLst>
              <a:ext uri="{FF2B5EF4-FFF2-40B4-BE49-F238E27FC236}">
                <a16:creationId xmlns:a16="http://schemas.microsoft.com/office/drawing/2014/main" id="{C02FE884-FCAC-D422-D3D8-05AB025B1D70}"/>
              </a:ext>
            </a:extLst>
          </p:cNvPr>
          <p:cNvCxnSpPr>
            <a:cxnSpLocks/>
          </p:cNvCxnSpPr>
          <p:nvPr/>
        </p:nvCxnSpPr>
        <p:spPr>
          <a:xfrm flipV="1">
            <a:off x="2575274" y="1681038"/>
            <a:ext cx="7575787" cy="4274"/>
          </a:xfrm>
          <a:prstGeom prst="line">
            <a:avLst/>
          </a:prstGeom>
          <a:ln w="38100">
            <a:prstDash val="dash"/>
          </a:ln>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74D5643E-4D31-DDA2-4962-7FAC10479452}"/>
              </a:ext>
            </a:extLst>
          </p:cNvPr>
          <p:cNvCxnSpPr>
            <a:cxnSpLocks/>
          </p:cNvCxnSpPr>
          <p:nvPr/>
        </p:nvCxnSpPr>
        <p:spPr>
          <a:xfrm>
            <a:off x="6549834" y="1678535"/>
            <a:ext cx="0" cy="300137"/>
          </a:xfrm>
          <a:prstGeom prst="line">
            <a:avLst/>
          </a:prstGeom>
          <a:ln w="38100">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47" name="Straight Connector 46">
            <a:extLst>
              <a:ext uri="{FF2B5EF4-FFF2-40B4-BE49-F238E27FC236}">
                <a16:creationId xmlns:a16="http://schemas.microsoft.com/office/drawing/2014/main" id="{2A08B10C-0A20-687C-090B-60A7A97B9B97}"/>
              </a:ext>
            </a:extLst>
          </p:cNvPr>
          <p:cNvCxnSpPr>
            <a:cxnSpLocks/>
          </p:cNvCxnSpPr>
          <p:nvPr/>
        </p:nvCxnSpPr>
        <p:spPr>
          <a:xfrm>
            <a:off x="10151061" y="1666098"/>
            <a:ext cx="0" cy="299019"/>
          </a:xfrm>
          <a:prstGeom prst="line">
            <a:avLst/>
          </a:prstGeom>
          <a:ln w="38100">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53" name="Straight Connector 52">
            <a:extLst>
              <a:ext uri="{FF2B5EF4-FFF2-40B4-BE49-F238E27FC236}">
                <a16:creationId xmlns:a16="http://schemas.microsoft.com/office/drawing/2014/main" id="{FCA06487-96B7-F9A4-A67A-257B11CCD69C}"/>
              </a:ext>
            </a:extLst>
          </p:cNvPr>
          <p:cNvCxnSpPr>
            <a:cxnSpLocks/>
          </p:cNvCxnSpPr>
          <p:nvPr/>
        </p:nvCxnSpPr>
        <p:spPr>
          <a:xfrm>
            <a:off x="6543709" y="2467818"/>
            <a:ext cx="0" cy="122718"/>
          </a:xfrm>
          <a:prstGeom prst="line">
            <a:avLst/>
          </a:prstGeom>
          <a:ln w="38100">
            <a:solidFill>
              <a:srgbClr val="C00000"/>
            </a:solidFill>
          </a:ln>
        </p:spPr>
        <p:style>
          <a:lnRef idx="2">
            <a:schemeClr val="dk1"/>
          </a:lnRef>
          <a:fillRef idx="0">
            <a:schemeClr val="dk1"/>
          </a:fillRef>
          <a:effectRef idx="1">
            <a:schemeClr val="dk1"/>
          </a:effectRef>
          <a:fontRef idx="minor">
            <a:schemeClr val="tx1"/>
          </a:fontRef>
        </p:style>
      </p:cxnSp>
      <p:sp>
        <p:nvSpPr>
          <p:cNvPr id="55" name="TextBox 54">
            <a:extLst>
              <a:ext uri="{FF2B5EF4-FFF2-40B4-BE49-F238E27FC236}">
                <a16:creationId xmlns:a16="http://schemas.microsoft.com/office/drawing/2014/main" id="{BD3F368A-0854-51D7-6A66-7EE0B2E19893}"/>
              </a:ext>
            </a:extLst>
          </p:cNvPr>
          <p:cNvSpPr txBox="1"/>
          <p:nvPr/>
        </p:nvSpPr>
        <p:spPr>
          <a:xfrm>
            <a:off x="640438" y="3107673"/>
            <a:ext cx="4777532" cy="338554"/>
          </a:xfrm>
          <a:prstGeom prst="rect">
            <a:avLst/>
          </a:prstGeom>
          <a:noFill/>
        </p:spPr>
        <p:txBody>
          <a:bodyPr wrap="square" rtlCol="0">
            <a:spAutoFit/>
          </a:bodyPr>
          <a:lstStyle/>
          <a:p>
            <a:r>
              <a:rPr lang="en-US" sz="16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Substrate: Reactants in enzymatic reactions</a:t>
            </a:r>
            <a:endParaRPr lang="en-IN" sz="16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829AF008-EBBF-97A8-10C2-E732C74F1BD0}"/>
              </a:ext>
            </a:extLst>
          </p:cNvPr>
          <p:cNvSpPr txBox="1"/>
          <p:nvPr/>
        </p:nvSpPr>
        <p:spPr>
          <a:xfrm>
            <a:off x="8625636" y="1139789"/>
            <a:ext cx="3179294" cy="400110"/>
          </a:xfrm>
          <a:prstGeom prst="rect">
            <a:avLst/>
          </a:prstGeom>
          <a:solidFill>
            <a:schemeClr val="accent2">
              <a:lumMod val="40000"/>
              <a:lumOff val="60000"/>
            </a:schemeClr>
          </a:solidFill>
          <a:ln>
            <a:solidFill>
              <a:srgbClr val="C00000"/>
            </a:solidFill>
          </a:ln>
        </p:spPr>
        <p:txBody>
          <a:bodyPr wrap="square" rtlCol="0">
            <a:spAutoFit/>
          </a:bodyPr>
          <a:lstStyle/>
          <a:p>
            <a:r>
              <a:rPr lang="en-US" sz="2000">
                <a:latin typeface="Times New Roman" panose="02020603050405020304" pitchFamily="18" charset="0"/>
                <a:cs typeface="Times New Roman" panose="02020603050405020304" pitchFamily="18" charset="0"/>
              </a:rPr>
              <a:t>CONTINUUM APPROACH</a:t>
            </a:r>
            <a:endParaRPr lang="en-IN" sz="2000">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8C00C3D9-65CC-7718-A5A2-19585080D4AF}"/>
              </a:ext>
            </a:extLst>
          </p:cNvPr>
          <p:cNvSpPr txBox="1"/>
          <p:nvPr/>
        </p:nvSpPr>
        <p:spPr>
          <a:xfrm>
            <a:off x="8548925" y="4371055"/>
            <a:ext cx="3303739" cy="400110"/>
          </a:xfrm>
          <a:prstGeom prst="rect">
            <a:avLst/>
          </a:prstGeom>
          <a:solidFill>
            <a:schemeClr val="accent2">
              <a:lumMod val="40000"/>
              <a:lumOff val="60000"/>
            </a:schemeClr>
          </a:solidFill>
          <a:ln>
            <a:solidFill>
              <a:srgbClr val="C00000"/>
            </a:solidFill>
          </a:ln>
        </p:spPr>
        <p:txBody>
          <a:bodyPr wrap="square" rtlCol="0">
            <a:spAutoFit/>
          </a:bodyPr>
          <a:lstStyle/>
          <a:p>
            <a:r>
              <a:rPr lang="en-US" sz="2000">
                <a:latin typeface="Times New Roman" panose="02020603050405020304" pitchFamily="18" charset="0"/>
                <a:cs typeface="Times New Roman" panose="02020603050405020304" pitchFamily="18" charset="0"/>
              </a:rPr>
              <a:t>MOLECULAR APPROACH</a:t>
            </a:r>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1084310"/>
      </p:ext>
    </p:extLst>
  </p:cSld>
  <p:clrMapOvr>
    <a:masterClrMapping/>
  </p:clrMapOvr>
  <mc:AlternateContent xmlns:mc="http://schemas.openxmlformats.org/markup-compatibility/2006" xmlns:p14="http://schemas.microsoft.com/office/powerpoint/2010/main">
    <mc:Choice Requires="p14">
      <p:transition spd="slow" p14:dur="2000" advTm="34929"/>
    </mc:Choice>
    <mc:Fallback xmlns="">
      <p:transition spd="slow" advTm="3492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9C8E14F9-9423-DB2F-27FA-734DE4498399}"/>
              </a:ext>
            </a:extLst>
          </p:cNvPr>
          <p:cNvSpPr txBox="1"/>
          <p:nvPr/>
        </p:nvSpPr>
        <p:spPr>
          <a:xfrm>
            <a:off x="1806288" y="1075132"/>
            <a:ext cx="12017061" cy="461665"/>
          </a:xfrm>
          <a:prstGeom prst="rect">
            <a:avLst/>
          </a:prstGeom>
          <a:noFill/>
          <a:ln>
            <a:noFill/>
          </a:ln>
        </p:spPr>
        <p:txBody>
          <a:bodyPr wrap="square">
            <a:spAutoFit/>
          </a:bodyPr>
          <a:lstStyle/>
          <a:p>
            <a:pPr defTabSz="877824">
              <a:spcAft>
                <a:spcPts val="600"/>
              </a:spcAft>
            </a:pPr>
            <a:r>
              <a:rPr lang="en-US" sz="2400" kern="1200">
                <a:solidFill>
                  <a:schemeClr val="tx1"/>
                </a:solidFill>
                <a:latin typeface="Times New Roman" panose="02020603050405020304" pitchFamily="18" charset="0"/>
                <a:cs typeface="Times New Roman" panose="02020603050405020304" pitchFamily="18" charset="0"/>
              </a:rPr>
              <a:t>Reinterpretation of the principle of catalysis (Reaction + motion)</a:t>
            </a:r>
          </a:p>
        </p:txBody>
      </p:sp>
      <p:pic>
        <p:nvPicPr>
          <p:cNvPr id="30" name="Picture 29">
            <a:extLst>
              <a:ext uri="{FF2B5EF4-FFF2-40B4-BE49-F238E27FC236}">
                <a16:creationId xmlns:a16="http://schemas.microsoft.com/office/drawing/2014/main" id="{C29C29B7-1BCA-6F4E-4E83-78C1C6EC4D8C}"/>
              </a:ext>
            </a:extLst>
          </p:cNvPr>
          <p:cNvPicPr>
            <a:picLocks noChangeAspect="1"/>
          </p:cNvPicPr>
          <p:nvPr/>
        </p:nvPicPr>
        <p:blipFill>
          <a:blip r:embed="rId3"/>
          <a:stretch>
            <a:fillRect/>
          </a:stretch>
        </p:blipFill>
        <p:spPr>
          <a:xfrm>
            <a:off x="538719" y="3323894"/>
            <a:ext cx="5465662" cy="2614012"/>
          </a:xfrm>
          <a:prstGeom prst="rect">
            <a:avLst/>
          </a:prstGeom>
        </p:spPr>
      </p:pic>
      <p:sp>
        <p:nvSpPr>
          <p:cNvPr id="43" name="TextBox 42">
            <a:extLst>
              <a:ext uri="{FF2B5EF4-FFF2-40B4-BE49-F238E27FC236}">
                <a16:creationId xmlns:a16="http://schemas.microsoft.com/office/drawing/2014/main" id="{245916E5-7106-9AD2-F549-A9C36FA1347F}"/>
              </a:ext>
            </a:extLst>
          </p:cNvPr>
          <p:cNvSpPr txBox="1"/>
          <p:nvPr/>
        </p:nvSpPr>
        <p:spPr>
          <a:xfrm>
            <a:off x="6375710" y="5903038"/>
            <a:ext cx="7230805" cy="400110"/>
          </a:xfrm>
          <a:prstGeom prst="rect">
            <a:avLst/>
          </a:prstGeom>
          <a:noFill/>
        </p:spPr>
        <p:txBody>
          <a:bodyPr wrap="square">
            <a:spAutoFit/>
          </a:bodyPr>
          <a:lstStyle/>
          <a:p>
            <a:r>
              <a:rPr lang="en-US" sz="2000" i="1">
                <a:latin typeface="Times New Roman" panose="02020603050405020304" pitchFamily="18" charset="0"/>
                <a:cs typeface="Times New Roman" panose="02020603050405020304" pitchFamily="18" charset="0"/>
              </a:rPr>
              <a:t>b) Increase in diffusivity with urea concentration</a:t>
            </a:r>
            <a:endParaRPr lang="en-IN" sz="2000" i="1">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FBB57F75-E20C-D0E4-BD0F-FEB3C27DB1A1}"/>
              </a:ext>
            </a:extLst>
          </p:cNvPr>
          <p:cNvSpPr>
            <a:spLocks noGrp="1"/>
          </p:cNvSpPr>
          <p:nvPr>
            <p:ph type="sldNum" sz="quarter" idx="12"/>
          </p:nvPr>
        </p:nvSpPr>
        <p:spPr>
          <a:xfrm>
            <a:off x="9149456" y="6487977"/>
            <a:ext cx="2743200" cy="365125"/>
          </a:xfrm>
        </p:spPr>
        <p:txBody>
          <a:bodyPr/>
          <a:lstStyle/>
          <a:p>
            <a:fld id="{C6784A8F-7002-44D0-9341-76CE0EB505BE}" type="slidenum">
              <a:rPr lang="en-IN" smtClean="0"/>
              <a:t>4</a:t>
            </a:fld>
            <a:endParaRPr lang="en-IN"/>
          </a:p>
        </p:txBody>
      </p:sp>
      <p:sp>
        <p:nvSpPr>
          <p:cNvPr id="22" name="Rectangle 21">
            <a:extLst>
              <a:ext uri="{FF2B5EF4-FFF2-40B4-BE49-F238E27FC236}">
                <a16:creationId xmlns:a16="http://schemas.microsoft.com/office/drawing/2014/main" id="{B69DAE25-E5FA-5D6D-F38E-C8A9AD411953}"/>
              </a:ext>
            </a:extLst>
          </p:cNvPr>
          <p:cNvSpPr/>
          <p:nvPr/>
        </p:nvSpPr>
        <p:spPr>
          <a:xfrm>
            <a:off x="167390" y="72190"/>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E8725277-D7B7-AEFF-CE05-D06DD7B3812C}"/>
              </a:ext>
            </a:extLst>
          </p:cNvPr>
          <p:cNvSpPr txBox="1"/>
          <p:nvPr/>
        </p:nvSpPr>
        <p:spPr>
          <a:xfrm>
            <a:off x="167390" y="6559872"/>
            <a:ext cx="11461531" cy="276999"/>
          </a:xfrm>
          <a:prstGeom prst="rect">
            <a:avLst/>
          </a:prstGeom>
          <a:noFill/>
        </p:spPr>
        <p:txBody>
          <a:bodyPr wrap="square">
            <a:spAutoFit/>
          </a:bodyPr>
          <a:lstStyle/>
          <a:p>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Ghosh, S., Somasundar, A., &amp; Sen, A. (2021). Enzymes as active matter.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Annual Review of Condensed Matter Physics</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12</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 177-200.</a:t>
            </a:r>
            <a:endParaRPr lang="en-IN" sz="120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810E7850-7E66-CB34-1A47-CE6520DDD808}"/>
              </a:ext>
            </a:extLst>
          </p:cNvPr>
          <p:cNvSpPr txBox="1"/>
          <p:nvPr/>
        </p:nvSpPr>
        <p:spPr>
          <a:xfrm>
            <a:off x="204881" y="412112"/>
            <a:ext cx="11556534" cy="646331"/>
          </a:xfrm>
          <a:prstGeom prst="rect">
            <a:avLst/>
          </a:prstGeom>
          <a:noFill/>
        </p:spPr>
        <p:txBody>
          <a:bodyPr wrap="square">
            <a:spAutoFit/>
          </a:bodyPr>
          <a:lstStyle/>
          <a:p>
            <a:pPr algn="ctr"/>
            <a:r>
              <a:rPr lang="en-IN" sz="3600" b="1">
                <a:solidFill>
                  <a:srgbClr val="C00000"/>
                </a:solidFill>
                <a:highlight>
                  <a:srgbClr val="FFFFFF"/>
                </a:highlight>
                <a:latin typeface="Times New Roman" panose="02020603050405020304" pitchFamily="18" charset="0"/>
                <a:cs typeface="Times New Roman" panose="02020603050405020304" pitchFamily="18" charset="0"/>
              </a:rPr>
              <a:t>Paper #1 – </a:t>
            </a:r>
            <a:r>
              <a:rPr lang="en-IN" sz="3600" b="1" i="0">
                <a:solidFill>
                  <a:srgbClr val="C00000"/>
                </a:solidFill>
                <a:effectLst/>
                <a:highlight>
                  <a:srgbClr val="FFFFFF"/>
                </a:highlight>
                <a:latin typeface="Times New Roman" panose="02020603050405020304" pitchFamily="18" charset="0"/>
                <a:cs typeface="Times New Roman" panose="02020603050405020304" pitchFamily="18" charset="0"/>
              </a:rPr>
              <a:t>Catalytic Enzymes Are Active Matter</a:t>
            </a:r>
            <a:endParaRPr lang="en-IN" sz="360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2BC4D12-9BB0-0D6C-6C20-38D76927E43F}"/>
              </a:ext>
            </a:extLst>
          </p:cNvPr>
          <p:cNvSpPr txBox="1"/>
          <p:nvPr/>
        </p:nvSpPr>
        <p:spPr>
          <a:xfrm>
            <a:off x="167390" y="6367575"/>
            <a:ext cx="11857220" cy="276999"/>
          </a:xfrm>
          <a:prstGeom prst="rect">
            <a:avLst/>
          </a:prstGeom>
          <a:noFill/>
        </p:spPr>
        <p:txBody>
          <a:bodyPr wrap="square">
            <a:spAutoFit/>
          </a:bodyPr>
          <a:lstStyle/>
          <a:p>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Jee, A. Y., Cho, Y. K., Granick, S., &amp; Tlusty, T. (2018). Catalytic enzymes are active matter.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Proceedings of the National Academy of Sciences</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115</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(46), E10812-E10821.</a:t>
            </a:r>
            <a:endParaRPr lang="en-IN" sz="120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BF13931-8FDE-33DF-B226-DB23D5F7EA0F}"/>
              </a:ext>
            </a:extLst>
          </p:cNvPr>
          <p:cNvSpPr txBox="1"/>
          <p:nvPr/>
        </p:nvSpPr>
        <p:spPr>
          <a:xfrm>
            <a:off x="778499" y="5885896"/>
            <a:ext cx="6125252" cy="400110"/>
          </a:xfrm>
          <a:prstGeom prst="rect">
            <a:avLst/>
          </a:prstGeom>
          <a:noFill/>
        </p:spPr>
        <p:txBody>
          <a:bodyPr wrap="square" rtlCol="0">
            <a:spAutoFit/>
          </a:bodyPr>
          <a:lstStyle/>
          <a:p>
            <a:pPr marL="457200" indent="-457200">
              <a:buAutoNum type="alphaLcParenR"/>
            </a:pPr>
            <a:r>
              <a:rPr lang="en-US" sz="2000" i="1">
                <a:latin typeface="Times New Roman" panose="02020603050405020304" pitchFamily="18" charset="0"/>
                <a:cs typeface="Times New Roman" panose="02020603050405020304" pitchFamily="18" charset="0"/>
              </a:rPr>
              <a:t>Catalytic conversion of urea by urease</a:t>
            </a:r>
          </a:p>
        </p:txBody>
      </p:sp>
      <p:sp>
        <p:nvSpPr>
          <p:cNvPr id="7" name="TextBox 6">
            <a:extLst>
              <a:ext uri="{FF2B5EF4-FFF2-40B4-BE49-F238E27FC236}">
                <a16:creationId xmlns:a16="http://schemas.microsoft.com/office/drawing/2014/main" id="{527A7BB9-05A3-BDEE-B04E-82DA99EBF5AA}"/>
              </a:ext>
            </a:extLst>
          </p:cNvPr>
          <p:cNvSpPr txBox="1"/>
          <p:nvPr/>
        </p:nvSpPr>
        <p:spPr>
          <a:xfrm>
            <a:off x="538719" y="1597489"/>
            <a:ext cx="10718872" cy="830997"/>
          </a:xfrm>
          <a:prstGeom prst="rect">
            <a:avLst/>
          </a:prstGeom>
          <a:noFill/>
          <a:ln w="38100">
            <a:solidFill>
              <a:schemeClr val="accent1"/>
            </a:solidFill>
          </a:ln>
        </p:spPr>
        <p:txBody>
          <a:bodyPr wrap="square">
            <a:spAutoFit/>
          </a:bodyPr>
          <a:lstStyle/>
          <a:p>
            <a:pPr algn="ctr"/>
            <a:r>
              <a:rPr lang="en-US" sz="2400" b="0" i="0" u="none" strike="noStrike" baseline="0">
                <a:latin typeface="Times New Roman" panose="02020603050405020304" pitchFamily="18" charset="0"/>
                <a:cs typeface="Times New Roman" panose="02020603050405020304" pitchFamily="18" charset="0"/>
              </a:rPr>
              <a:t>“Catalysis and mobility of reactants in fluid are normally thought to be decoupled. </a:t>
            </a:r>
          </a:p>
          <a:p>
            <a:pPr algn="ctr"/>
            <a:r>
              <a:rPr lang="en-US" sz="2400" b="0" i="0" u="none" strike="noStrike" baseline="0">
                <a:latin typeface="Times New Roman" panose="02020603050405020304" pitchFamily="18" charset="0"/>
                <a:cs typeface="Times New Roman" panose="02020603050405020304" pitchFamily="18" charset="0"/>
              </a:rPr>
              <a:t>Violating this classical paradigm, this paper presents the catalyst laws of motion.”</a:t>
            </a:r>
            <a:endParaRPr lang="en-IN"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D9E5176-A523-2953-CC77-EC4318C709B0}"/>
              </a:ext>
            </a:extLst>
          </p:cNvPr>
          <p:cNvSpPr txBox="1"/>
          <p:nvPr/>
        </p:nvSpPr>
        <p:spPr>
          <a:xfrm>
            <a:off x="778499" y="2432205"/>
            <a:ext cx="11857220" cy="907941"/>
          </a:xfrm>
          <a:prstGeom prst="rect">
            <a:avLst/>
          </a:prstGeom>
          <a:noFill/>
        </p:spPr>
        <p:txBody>
          <a:bodyPr wrap="square" rtlCol="0">
            <a:spAutoFit/>
          </a:bodyPr>
          <a:lstStyle/>
          <a:p>
            <a:pPr defTabSz="877824">
              <a:spcAft>
                <a:spcPts val="600"/>
              </a:spcAft>
            </a:pPr>
            <a:r>
              <a:rPr lang="en-US" sz="2400" i="1" kern="1200">
                <a:solidFill>
                  <a:schemeClr val="tx1"/>
                </a:solidFill>
                <a:latin typeface="Times New Roman" panose="02020603050405020304" pitchFamily="18" charset="0"/>
                <a:cs typeface="Times New Roman" panose="02020603050405020304" pitchFamily="18" charset="0"/>
              </a:rPr>
              <a:t>Enhanced diffusion</a:t>
            </a:r>
            <a:r>
              <a:rPr lang="en-US" sz="2400" kern="1200">
                <a:solidFill>
                  <a:schemeClr val="tx1"/>
                </a:solidFill>
                <a:latin typeface="Times New Roman" panose="02020603050405020304" pitchFamily="18" charset="0"/>
                <a:cs typeface="Times New Roman" panose="02020603050405020304" pitchFamily="18" charset="0"/>
              </a:rPr>
              <a:t>: I</a:t>
            </a:r>
            <a:r>
              <a:rPr lang="en-US" sz="2400">
                <a:latin typeface="Times New Roman" panose="02020603050405020304" pitchFamily="18" charset="0"/>
                <a:cs typeface="Times New Roman" panose="02020603050405020304" pitchFamily="18" charset="0"/>
              </a:rPr>
              <a:t>ncreases with substrate* concentration.</a:t>
            </a:r>
          </a:p>
          <a:p>
            <a:pPr algn="ctr"/>
            <a:endParaRPr lang="en-IN" sz="240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96C2DDA4-B1D7-01E7-518A-F16BC7090469}"/>
              </a:ext>
            </a:extLst>
          </p:cNvPr>
          <p:cNvPicPr>
            <a:picLocks noChangeAspect="1"/>
          </p:cNvPicPr>
          <p:nvPr/>
        </p:nvPicPr>
        <p:blipFill>
          <a:blip r:embed="rId4"/>
          <a:stretch>
            <a:fillRect/>
          </a:stretch>
        </p:blipFill>
        <p:spPr>
          <a:xfrm>
            <a:off x="6488445" y="2978455"/>
            <a:ext cx="4439270" cy="2924583"/>
          </a:xfrm>
          <a:prstGeom prst="rect">
            <a:avLst/>
          </a:prstGeom>
        </p:spPr>
      </p:pic>
      <p:cxnSp>
        <p:nvCxnSpPr>
          <p:cNvPr id="23" name="Straight Arrow Connector 22">
            <a:extLst>
              <a:ext uri="{FF2B5EF4-FFF2-40B4-BE49-F238E27FC236}">
                <a16:creationId xmlns:a16="http://schemas.microsoft.com/office/drawing/2014/main" id="{0A1DAC88-7399-2362-1BE4-81365D584524}"/>
              </a:ext>
            </a:extLst>
          </p:cNvPr>
          <p:cNvCxnSpPr>
            <a:cxnSpLocks/>
          </p:cNvCxnSpPr>
          <p:nvPr/>
        </p:nvCxnSpPr>
        <p:spPr>
          <a:xfrm>
            <a:off x="9871877" y="5871788"/>
            <a:ext cx="76555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1E4FE19F-0584-9615-BFEC-F617324C211E}"/>
              </a:ext>
            </a:extLst>
          </p:cNvPr>
          <p:cNvSpPr txBox="1"/>
          <p:nvPr/>
        </p:nvSpPr>
        <p:spPr>
          <a:xfrm>
            <a:off x="7233316" y="3479711"/>
            <a:ext cx="2044931" cy="338554"/>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0 M urea</a:t>
            </a:r>
            <a:endParaRPr lang="en-IN" sz="1600">
              <a:latin typeface="Times New Roman" panose="02020603050405020304" pitchFamily="18" charset="0"/>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02D454DB-8B21-3013-5745-7167FE444AC8}"/>
              </a:ext>
            </a:extLst>
          </p:cNvPr>
          <p:cNvCxnSpPr>
            <a:cxnSpLocks/>
          </p:cNvCxnSpPr>
          <p:nvPr/>
        </p:nvCxnSpPr>
        <p:spPr>
          <a:xfrm>
            <a:off x="7698440" y="3818265"/>
            <a:ext cx="0" cy="1052993"/>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112658F7-004E-F041-88EE-3AE09C69EB07}"/>
              </a:ext>
            </a:extLst>
          </p:cNvPr>
          <p:cNvPicPr>
            <a:picLocks noChangeAspect="1"/>
          </p:cNvPicPr>
          <p:nvPr/>
        </p:nvPicPr>
        <p:blipFill>
          <a:blip r:embed="rId5"/>
          <a:stretch>
            <a:fillRect/>
          </a:stretch>
        </p:blipFill>
        <p:spPr>
          <a:xfrm>
            <a:off x="4725638" y="5146938"/>
            <a:ext cx="1137074" cy="204938"/>
          </a:xfrm>
          <a:prstGeom prst="rect">
            <a:avLst/>
          </a:prstGeom>
        </p:spPr>
      </p:pic>
      <p:pic>
        <p:nvPicPr>
          <p:cNvPr id="8" name="Picture 7">
            <a:extLst>
              <a:ext uri="{FF2B5EF4-FFF2-40B4-BE49-F238E27FC236}">
                <a16:creationId xmlns:a16="http://schemas.microsoft.com/office/drawing/2014/main" id="{A5DDAB2B-2131-4722-187C-BF24B44A4247}"/>
              </a:ext>
            </a:extLst>
          </p:cNvPr>
          <p:cNvPicPr>
            <a:picLocks noChangeAspect="1"/>
          </p:cNvPicPr>
          <p:nvPr/>
        </p:nvPicPr>
        <p:blipFill>
          <a:blip r:embed="rId6"/>
          <a:stretch>
            <a:fillRect/>
          </a:stretch>
        </p:blipFill>
        <p:spPr>
          <a:xfrm>
            <a:off x="5059848" y="4392233"/>
            <a:ext cx="468653" cy="193710"/>
          </a:xfrm>
          <a:prstGeom prst="rect">
            <a:avLst/>
          </a:prstGeom>
        </p:spPr>
      </p:pic>
      <p:sp>
        <p:nvSpPr>
          <p:cNvPr id="3" name="TextBox 2">
            <a:extLst>
              <a:ext uri="{FF2B5EF4-FFF2-40B4-BE49-F238E27FC236}">
                <a16:creationId xmlns:a16="http://schemas.microsoft.com/office/drawing/2014/main" id="{DB597517-6749-2916-96F9-1B157A2095D8}"/>
              </a:ext>
            </a:extLst>
          </p:cNvPr>
          <p:cNvSpPr txBox="1"/>
          <p:nvPr/>
        </p:nvSpPr>
        <p:spPr>
          <a:xfrm>
            <a:off x="778499" y="2879140"/>
            <a:ext cx="6847783"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*Substrate: Reactants in enzymatic reactions</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7808131"/>
      </p:ext>
    </p:extLst>
  </p:cSld>
  <p:clrMapOvr>
    <a:masterClrMapping/>
  </p:clrMapOvr>
  <mc:AlternateContent xmlns:mc="http://schemas.openxmlformats.org/markup-compatibility/2006" xmlns:p14="http://schemas.microsoft.com/office/powerpoint/2010/main">
    <mc:Choice Requires="p14">
      <p:transition spd="slow" p14:dur="2000" advTm="76769"/>
    </mc:Choice>
    <mc:Fallback xmlns="">
      <p:transition spd="slow" advTm="7676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E1677-D643-1E08-80FA-F322D3C60B63}"/>
              </a:ext>
            </a:extLst>
          </p:cNvPr>
          <p:cNvSpPr>
            <a:spLocks noGrp="1"/>
          </p:cNvSpPr>
          <p:nvPr>
            <p:ph type="title"/>
          </p:nvPr>
        </p:nvSpPr>
        <p:spPr>
          <a:xfrm>
            <a:off x="838200" y="-99808"/>
            <a:ext cx="10515600" cy="1325563"/>
          </a:xfrm>
        </p:spPr>
        <p:txBody>
          <a:bodyPr>
            <a:normAutofit/>
          </a:bodyPr>
          <a:lstStyle/>
          <a:p>
            <a:pPr algn="ctr"/>
            <a:r>
              <a:rPr lang="en-US" sz="3600" b="1">
                <a:solidFill>
                  <a:srgbClr val="C00000"/>
                </a:solidFill>
                <a:latin typeface="Times New Roman" panose="02020603050405020304" pitchFamily="18" charset="0"/>
                <a:cs typeface="Times New Roman" panose="02020603050405020304" pitchFamily="18" charset="0"/>
              </a:rPr>
              <a:t>Evidence of Enhanced Motion</a:t>
            </a:r>
            <a:endParaRPr lang="en-IN" sz="3600" b="1">
              <a:solidFill>
                <a:srgbClr val="C00000"/>
              </a:solidFill>
              <a:latin typeface="Times New Roman" panose="02020603050405020304" pitchFamily="18" charset="0"/>
              <a:cs typeface="Times New Roman" panose="02020603050405020304" pitchFamily="18" charset="0"/>
            </a:endParaRPr>
          </a:p>
        </p:txBody>
      </p:sp>
      <p:pic>
        <p:nvPicPr>
          <p:cNvPr id="63" name="Picture 62">
            <a:extLst>
              <a:ext uri="{FF2B5EF4-FFF2-40B4-BE49-F238E27FC236}">
                <a16:creationId xmlns:a16="http://schemas.microsoft.com/office/drawing/2014/main" id="{6C99FDA5-E6C3-6BE5-F2BD-5F2FF9A2F003}"/>
              </a:ext>
            </a:extLst>
          </p:cNvPr>
          <p:cNvPicPr>
            <a:picLocks noChangeAspect="1"/>
          </p:cNvPicPr>
          <p:nvPr/>
        </p:nvPicPr>
        <p:blipFill>
          <a:blip r:embed="rId2"/>
          <a:stretch>
            <a:fillRect/>
          </a:stretch>
        </p:blipFill>
        <p:spPr>
          <a:xfrm>
            <a:off x="238781" y="2980014"/>
            <a:ext cx="3936203" cy="3139904"/>
          </a:xfrm>
          <a:prstGeom prst="rect">
            <a:avLst/>
          </a:prstGeom>
          <a:ln>
            <a:noFill/>
          </a:ln>
        </p:spPr>
      </p:pic>
      <p:sp>
        <p:nvSpPr>
          <p:cNvPr id="85" name="TextBox 84">
            <a:extLst>
              <a:ext uri="{FF2B5EF4-FFF2-40B4-BE49-F238E27FC236}">
                <a16:creationId xmlns:a16="http://schemas.microsoft.com/office/drawing/2014/main" id="{D54616E0-C80B-0825-DF90-C8C2C81666F2}"/>
              </a:ext>
            </a:extLst>
          </p:cNvPr>
          <p:cNvSpPr txBox="1"/>
          <p:nvPr/>
        </p:nvSpPr>
        <p:spPr>
          <a:xfrm>
            <a:off x="535466" y="6052887"/>
            <a:ext cx="3499374" cy="400110"/>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b) Time distribution with width</a:t>
            </a:r>
            <a:endParaRPr lang="en-IN" sz="2000" i="1">
              <a:latin typeface="Times New Roman" panose="02020603050405020304" pitchFamily="18" charset="0"/>
              <a:cs typeface="Times New Roman" panose="02020603050405020304" pitchFamily="18" charset="0"/>
            </a:endParaRPr>
          </a:p>
        </p:txBody>
      </p:sp>
      <p:sp>
        <p:nvSpPr>
          <p:cNvPr id="90" name="Slide Number Placeholder 89">
            <a:extLst>
              <a:ext uri="{FF2B5EF4-FFF2-40B4-BE49-F238E27FC236}">
                <a16:creationId xmlns:a16="http://schemas.microsoft.com/office/drawing/2014/main" id="{C130E1B6-C06B-7FE5-49EA-46C7FB40F265}"/>
              </a:ext>
            </a:extLst>
          </p:cNvPr>
          <p:cNvSpPr>
            <a:spLocks noGrp="1"/>
          </p:cNvSpPr>
          <p:nvPr>
            <p:ph type="sldNum" sz="quarter" idx="12"/>
          </p:nvPr>
        </p:nvSpPr>
        <p:spPr>
          <a:xfrm>
            <a:off x="9134006" y="6528383"/>
            <a:ext cx="2743200" cy="365125"/>
          </a:xfrm>
        </p:spPr>
        <p:txBody>
          <a:bodyPr/>
          <a:lstStyle/>
          <a:p>
            <a:fld id="{C6784A8F-7002-44D0-9341-76CE0EB505BE}" type="slidenum">
              <a:rPr lang="en-IN" smtClean="0"/>
              <a:t>5</a:t>
            </a:fld>
            <a:endParaRPr lang="en-IN"/>
          </a:p>
        </p:txBody>
      </p:sp>
      <p:sp>
        <p:nvSpPr>
          <p:cNvPr id="10" name="TextBox 9">
            <a:extLst>
              <a:ext uri="{FF2B5EF4-FFF2-40B4-BE49-F238E27FC236}">
                <a16:creationId xmlns:a16="http://schemas.microsoft.com/office/drawing/2014/main" id="{0B1409DB-3784-C20A-ADA8-407556137331}"/>
              </a:ext>
            </a:extLst>
          </p:cNvPr>
          <p:cNvSpPr txBox="1"/>
          <p:nvPr/>
        </p:nvSpPr>
        <p:spPr>
          <a:xfrm>
            <a:off x="-1038675" y="738082"/>
            <a:ext cx="13508502" cy="830997"/>
          </a:xfrm>
          <a:prstGeom prst="rect">
            <a:avLst/>
          </a:prstGeom>
          <a:noFill/>
        </p:spPr>
        <p:txBody>
          <a:bodyPr wrap="square">
            <a:spAutoFit/>
          </a:bodyPr>
          <a:lstStyle/>
          <a:p>
            <a:pPr lvl="1" algn="ctr"/>
            <a:r>
              <a:rPr lang="en-US" sz="2400">
                <a:latin typeface="Times New Roman" panose="02020603050405020304" pitchFamily="18" charset="0"/>
                <a:cs typeface="Times New Roman" panose="02020603050405020304" pitchFamily="18" charset="0"/>
              </a:rPr>
              <a:t>Using Superresolution microscopy and Flourescence Correlation Spectroscopy(FCS)</a:t>
            </a:r>
          </a:p>
          <a:p>
            <a:pPr lvl="1" algn="ctr"/>
            <a:endParaRPr lang="en-US" sz="2400" kern="1200">
              <a:solidFill>
                <a:schemeClr val="tx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B74DB62-F9DC-20EE-E0B6-8885A81404AB}"/>
              </a:ext>
            </a:extLst>
          </p:cNvPr>
          <p:cNvSpPr txBox="1"/>
          <p:nvPr/>
        </p:nvSpPr>
        <p:spPr>
          <a:xfrm>
            <a:off x="148833" y="6545695"/>
            <a:ext cx="11857220" cy="276999"/>
          </a:xfrm>
          <a:prstGeom prst="rect">
            <a:avLst/>
          </a:prstGeom>
          <a:noFill/>
        </p:spPr>
        <p:txBody>
          <a:bodyPr wrap="square">
            <a:spAutoFit/>
          </a:bodyPr>
          <a:lstStyle/>
          <a:p>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Jee, A. Y., Cho, Y. K., Granick, S., &amp; Tlusty, T. (2018). Catalytic enzymes are active matter.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Proceedings of the National Academy of Sciences</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115</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(46), E10812-E10821.</a:t>
            </a:r>
            <a:endParaRPr lang="en-IN" sz="120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8AA190AD-5327-DA63-1BCE-48ABA587C10C}"/>
              </a:ext>
            </a:extLst>
          </p:cNvPr>
          <p:cNvSpPr/>
          <p:nvPr/>
        </p:nvSpPr>
        <p:spPr>
          <a:xfrm>
            <a:off x="167390" y="59233"/>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FAEB035-7298-5110-FC77-EA564FC92E33}"/>
                  </a:ext>
                </a:extLst>
              </p:cNvPr>
              <p:cNvSpPr txBox="1"/>
              <p:nvPr/>
            </p:nvSpPr>
            <p:spPr>
              <a:xfrm>
                <a:off x="3128956" y="2165792"/>
                <a:ext cx="8877097" cy="461665"/>
              </a:xfrm>
              <a:prstGeom prst="rect">
                <a:avLst/>
              </a:prstGeom>
              <a:noFill/>
            </p:spPr>
            <p:txBody>
              <a:bodyPr wrap="square">
                <a:spAutoFit/>
              </a:bodyPr>
              <a:lstStyle/>
              <a:p>
                <a:r>
                  <a:rPr lang="en-US" sz="2400" b="0">
                    <a:solidFill>
                      <a:schemeClr val="tx1"/>
                    </a:solidFill>
                    <a:latin typeface="Times New Roman" panose="02020603050405020304" pitchFamily="18" charset="0"/>
                    <a:cs typeface="Times New Roman" panose="02020603050405020304" pitchFamily="18" charset="0"/>
                  </a:rPr>
                  <a:t>Enhanced diffusion, </a:t>
                </a:r>
                <a14:m>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m:rPr>
                            <m:sty m:val="p"/>
                          </m:rPr>
                          <a:rPr lang="en-US" sz="2400" b="0" i="0" smtClean="0">
                            <a:solidFill>
                              <a:schemeClr val="tx1"/>
                            </a:solidFill>
                            <a:latin typeface="Cambria Math" panose="02040503050406030204" pitchFamily="18" charset="0"/>
                            <a:cs typeface="Times New Roman" panose="02020603050405020304" pitchFamily="18" charset="0"/>
                          </a:rPr>
                          <m:t>D</m:t>
                        </m:r>
                      </m:e>
                      <m:sub>
                        <m:r>
                          <m:rPr>
                            <m:sty m:val="p"/>
                          </m:rPr>
                          <a:rPr lang="en-US" sz="2400" b="0" i="0" smtClean="0">
                            <a:solidFill>
                              <a:schemeClr val="tx1"/>
                            </a:solidFill>
                            <a:latin typeface="Cambria Math" panose="02040503050406030204" pitchFamily="18" charset="0"/>
                            <a:cs typeface="Times New Roman" panose="02020603050405020304" pitchFamily="18" charset="0"/>
                          </a:rPr>
                          <m:t>E</m:t>
                        </m:r>
                      </m:sub>
                    </m:sSub>
                    <m:r>
                      <a:rPr lang="en-US" sz="2400" b="0" i="0" smtClean="0">
                        <a:solidFill>
                          <a:schemeClr val="tx1"/>
                        </a:solidFill>
                        <a:latin typeface="Cambria Math" panose="02040503050406030204" pitchFamily="18" charset="0"/>
                        <a:cs typeface="Times New Roman" panose="02020603050405020304" pitchFamily="18" charset="0"/>
                      </a:rPr>
                      <m:t>=</m:t>
                    </m:r>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m:rPr>
                            <m:sty m:val="p"/>
                          </m:rPr>
                          <a:rPr lang="en-US" sz="2400" b="0" i="0" smtClean="0">
                            <a:solidFill>
                              <a:schemeClr val="tx1"/>
                            </a:solidFill>
                            <a:latin typeface="Cambria Math" panose="02040503050406030204" pitchFamily="18" charset="0"/>
                            <a:cs typeface="Times New Roman" panose="02020603050405020304" pitchFamily="18" charset="0"/>
                          </a:rPr>
                          <m:t>D</m:t>
                        </m:r>
                      </m:e>
                      <m:sub>
                        <m:r>
                          <m:rPr>
                            <m:sty m:val="p"/>
                          </m:rPr>
                          <a:rPr lang="en-US" sz="2400" b="0" i="0" smtClean="0">
                            <a:solidFill>
                              <a:schemeClr val="tx1"/>
                            </a:solidFill>
                            <a:latin typeface="Cambria Math" panose="02040503050406030204" pitchFamily="18" charset="0"/>
                            <a:cs typeface="Times New Roman" panose="02020603050405020304" pitchFamily="18" charset="0"/>
                          </a:rPr>
                          <m:t>O</m:t>
                        </m:r>
                      </m:sub>
                    </m:sSub>
                    <m:r>
                      <a:rPr lang="en-US" sz="2400" b="0" i="0" smtClean="0">
                        <a:solidFill>
                          <a:schemeClr val="tx1"/>
                        </a:solidFill>
                        <a:latin typeface="Cambria Math" panose="02040503050406030204" pitchFamily="18" charset="0"/>
                        <a:cs typeface="Times New Roman" panose="02020603050405020304" pitchFamily="18" charset="0"/>
                      </a:rPr>
                      <m:t>+</m:t>
                    </m:r>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m:rPr>
                            <m:sty m:val="p"/>
                          </m:rPr>
                          <a:rPr lang="en-US" sz="2400" b="0" i="0" smtClean="0">
                            <a:solidFill>
                              <a:schemeClr val="tx1"/>
                            </a:solidFill>
                            <a:latin typeface="Cambria Math" panose="02040503050406030204" pitchFamily="18" charset="0"/>
                            <a:cs typeface="Times New Roman" panose="02020603050405020304" pitchFamily="18" charset="0"/>
                          </a:rPr>
                          <m:t>D</m:t>
                        </m:r>
                      </m:e>
                      <m:sub>
                        <m:r>
                          <m:rPr>
                            <m:sty m:val="p"/>
                          </m:rPr>
                          <a:rPr lang="en-US" sz="2400" b="0" i="0" smtClean="0">
                            <a:solidFill>
                              <a:schemeClr val="tx1"/>
                            </a:solidFill>
                            <a:latin typeface="Cambria Math" panose="02040503050406030204" pitchFamily="18" charset="0"/>
                            <a:cs typeface="Times New Roman" panose="02020603050405020304" pitchFamily="18" charset="0"/>
                          </a:rPr>
                          <m:t>B</m:t>
                        </m:r>
                      </m:sub>
                    </m:sSub>
                  </m:oMath>
                </a14:m>
                <a:r>
                  <a:rPr lang="en-IN" sz="2400">
                    <a:solidFill>
                      <a:schemeClr val="tx1"/>
                    </a:solidFill>
                    <a:latin typeface="Times New Roman" panose="02020603050405020304" pitchFamily="18" charset="0"/>
                    <a:cs typeface="Times New Roman" panose="02020603050405020304" pitchFamily="18" charset="0"/>
                  </a:rPr>
                  <a:t> where </a:t>
                </a:r>
                <a14:m>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𝐷</m:t>
                        </m:r>
                      </m:e>
                      <m:sub>
                        <m:r>
                          <a:rPr lang="en-US" sz="2400" b="0" i="1" smtClean="0">
                            <a:solidFill>
                              <a:schemeClr val="tx1"/>
                            </a:solidFill>
                            <a:latin typeface="Cambria Math" panose="02040503050406030204" pitchFamily="18" charset="0"/>
                            <a:cs typeface="Times New Roman" panose="02020603050405020304" pitchFamily="18" charset="0"/>
                          </a:rPr>
                          <m:t>𝐵</m:t>
                        </m:r>
                      </m:sub>
                    </m:sSub>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𝑓</m:t>
                    </m:r>
                    <m:r>
                      <a:rPr lang="en-US" sz="2400" b="0" i="1" smtClean="0">
                        <a:solidFill>
                          <a:schemeClr val="tx1"/>
                        </a:solidFill>
                        <a:latin typeface="Cambria Math" panose="02040503050406030204" pitchFamily="18" charset="0"/>
                        <a:cs typeface="Times New Roman" panose="02020603050405020304" pitchFamily="18" charset="0"/>
                      </a:rPr>
                      <m:t>(</m:t>
                    </m:r>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𝜏</m:t>
                        </m:r>
                      </m:e>
                      <m:sub>
                        <m:r>
                          <a:rPr lang="en-US" sz="2400" b="0" i="1" smtClean="0">
                            <a:solidFill>
                              <a:schemeClr val="tx1"/>
                            </a:solidFill>
                            <a:latin typeface="Cambria Math" panose="02040503050406030204" pitchFamily="18" charset="0"/>
                            <a:cs typeface="Times New Roman" panose="02020603050405020304" pitchFamily="18" charset="0"/>
                          </a:rPr>
                          <m:t>𝐵</m:t>
                        </m:r>
                      </m:sub>
                    </m:sSub>
                    <m:r>
                      <a:rPr lang="en-US" sz="2400" b="0" i="1" smtClean="0">
                        <a:solidFill>
                          <a:schemeClr val="tx1"/>
                        </a:solidFill>
                        <a:latin typeface="Cambria Math" panose="02040503050406030204" pitchFamily="18" charset="0"/>
                        <a:cs typeface="Times New Roman" panose="02020603050405020304" pitchFamily="18" charset="0"/>
                      </a:rPr>
                      <m:t>,</m:t>
                    </m:r>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𝜏</m:t>
                        </m:r>
                      </m:e>
                      <m:sub>
                        <m:r>
                          <a:rPr lang="en-US" sz="2400" b="0" i="1" smtClean="0">
                            <a:solidFill>
                              <a:schemeClr val="tx1"/>
                            </a:solidFill>
                            <a:latin typeface="Cambria Math" panose="02040503050406030204" pitchFamily="18" charset="0"/>
                            <a:cs typeface="Times New Roman" panose="02020603050405020304" pitchFamily="18" charset="0"/>
                          </a:rPr>
                          <m:t>𝑅</m:t>
                        </m:r>
                      </m:sub>
                    </m:sSub>
                    <m:r>
                      <a:rPr lang="en-US" sz="2400" b="0" i="1" smtClean="0">
                        <a:solidFill>
                          <a:schemeClr val="tx1"/>
                        </a:solidFill>
                        <a:latin typeface="Cambria Math" panose="02040503050406030204" pitchFamily="18" charset="0"/>
                        <a:cs typeface="Times New Roman" panose="02020603050405020304" pitchFamily="18" charset="0"/>
                      </a:rPr>
                      <m:t>)</m:t>
                    </m:r>
                  </m:oMath>
                </a14:m>
                <a:endParaRPr lang="en-IN" sz="2400">
                  <a:solidFill>
                    <a:schemeClr val="tx1"/>
                  </a:solidFill>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7FAEB035-7298-5110-FC77-EA564FC92E33}"/>
                  </a:ext>
                </a:extLst>
              </p:cNvPr>
              <p:cNvSpPr txBox="1">
                <a:spLocks noRot="1" noChangeAspect="1" noMove="1" noResize="1" noEditPoints="1" noAdjustHandles="1" noChangeArrowheads="1" noChangeShapeType="1" noTextEdit="1"/>
              </p:cNvSpPr>
              <p:nvPr/>
            </p:nvSpPr>
            <p:spPr>
              <a:xfrm>
                <a:off x="3128956" y="2165792"/>
                <a:ext cx="8877097" cy="461665"/>
              </a:xfrm>
              <a:prstGeom prst="rect">
                <a:avLst/>
              </a:prstGeom>
              <a:blipFill>
                <a:blip r:embed="rId3"/>
                <a:stretch>
                  <a:fillRect l="-1030" t="-10526" b="-28947"/>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67011858-5EA5-F658-3D6A-194611C8264C}"/>
              </a:ext>
            </a:extLst>
          </p:cNvPr>
          <p:cNvPicPr>
            <a:picLocks noChangeAspect="1"/>
          </p:cNvPicPr>
          <p:nvPr/>
        </p:nvPicPr>
        <p:blipFill>
          <a:blip r:embed="rId4"/>
          <a:stretch>
            <a:fillRect/>
          </a:stretch>
        </p:blipFill>
        <p:spPr>
          <a:xfrm>
            <a:off x="1453740" y="4734275"/>
            <a:ext cx="494089" cy="714384"/>
          </a:xfrm>
          <a:prstGeom prst="rect">
            <a:avLst/>
          </a:prstGeom>
        </p:spPr>
      </p:pic>
      <p:sp>
        <p:nvSpPr>
          <p:cNvPr id="17" name="TextBox 16">
            <a:extLst>
              <a:ext uri="{FF2B5EF4-FFF2-40B4-BE49-F238E27FC236}">
                <a16:creationId xmlns:a16="http://schemas.microsoft.com/office/drawing/2014/main" id="{7F808735-9A89-7116-97EC-A36AADE69C94}"/>
              </a:ext>
            </a:extLst>
          </p:cNvPr>
          <p:cNvSpPr txBox="1"/>
          <p:nvPr/>
        </p:nvSpPr>
        <p:spPr>
          <a:xfrm>
            <a:off x="3074545" y="1314974"/>
            <a:ext cx="8445265" cy="461665"/>
          </a:xfrm>
          <a:prstGeom prst="rect">
            <a:avLst/>
          </a:prstGeom>
          <a:solidFill>
            <a:schemeClr val="tx2">
              <a:lumMod val="10000"/>
              <a:lumOff val="90000"/>
            </a:schemeClr>
          </a:solidFill>
          <a:ln w="38100">
            <a:solidFill>
              <a:schemeClr val="accent1"/>
            </a:solidFill>
          </a:ln>
        </p:spPr>
        <p:txBody>
          <a:bodyPr wrap="square">
            <a:spAutoFit/>
          </a:bodyPr>
          <a:lstStyle/>
          <a:p>
            <a:pPr algn="ctr" defTabSz="777240">
              <a:spcAft>
                <a:spcPts val="600"/>
              </a:spcAft>
            </a:pPr>
            <a:r>
              <a:rPr lang="en-US" sz="2400">
                <a:latin typeface="Times New Roman" panose="02020603050405020304" pitchFamily="18" charset="0"/>
                <a:cs typeface="Times New Roman" panose="02020603050405020304" pitchFamily="18" charset="0"/>
              </a:rPr>
              <a:t>Upto </a:t>
            </a:r>
            <a:r>
              <a:rPr lang="en-US" sz="2400" b="1">
                <a:latin typeface="Times New Roman" panose="02020603050405020304" pitchFamily="18" charset="0"/>
                <a:cs typeface="Times New Roman" panose="02020603050405020304" pitchFamily="18" charset="0"/>
              </a:rPr>
              <a:t>50 nm observation region </a:t>
            </a:r>
            <a:r>
              <a:rPr lang="en-US" sz="2400">
                <a:latin typeface="Times New Roman" panose="02020603050405020304" pitchFamily="18" charset="0"/>
                <a:cs typeface="Times New Roman" panose="02020603050405020304" pitchFamily="18" charset="0"/>
              </a:rPr>
              <a:t>compared to 200 nm (FCS only)</a:t>
            </a:r>
            <a:endParaRPr lang="en-US" sz="2400"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5C207AB-F35E-40E3-F4C3-0F08CC3872B5}"/>
                  </a:ext>
                </a:extLst>
              </p:cNvPr>
              <p:cNvSpPr txBox="1"/>
              <p:nvPr/>
            </p:nvSpPr>
            <p:spPr>
              <a:xfrm>
                <a:off x="4174984" y="2989314"/>
                <a:ext cx="7590573" cy="3362459"/>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2400" b="1">
                    <a:latin typeface="Times New Roman" panose="02020603050405020304" pitchFamily="18" charset="0"/>
                    <a:cs typeface="Times New Roman" panose="02020603050405020304" pitchFamily="18" charset="0"/>
                  </a:rPr>
                  <a:t>Mean Square Displacement</a:t>
                </a:r>
                <a14:m>
                  <m:oMath xmlns:m="http://schemas.openxmlformats.org/officeDocument/2006/math">
                    <m:r>
                      <a:rPr lang="en-US" sz="2400" b="1" i="0" smtClean="0">
                        <a:latin typeface="Cambria Math" panose="02040503050406030204" pitchFamily="18" charset="0"/>
                      </a:rPr>
                      <m:t> ∝</m:t>
                    </m:r>
                    <m:sSup>
                      <m:sSupPr>
                        <m:ctrlPr>
                          <a:rPr lang="en-US" sz="2400" b="1" i="1" smtClean="0">
                            <a:latin typeface="Cambria Math" panose="02040503050406030204" pitchFamily="18" charset="0"/>
                            <a:ea typeface="Cambria Math" panose="02040503050406030204" pitchFamily="18" charset="0"/>
                          </a:rPr>
                        </m:ctrlPr>
                      </m:sSupPr>
                      <m:e>
                        <m:r>
                          <a:rPr lang="en-US" sz="2400" b="1" i="0" smtClean="0">
                            <a:latin typeface="Cambria Math" panose="02040503050406030204" pitchFamily="18" charset="0"/>
                            <a:ea typeface="Cambria Math" panose="02040503050406030204" pitchFamily="18" charset="0"/>
                          </a:rPr>
                          <m:t>𝐰</m:t>
                        </m:r>
                      </m:e>
                      <m:sup>
                        <m:r>
                          <a:rPr lang="en-US" sz="2400" b="1" i="0" smtClean="0">
                            <a:latin typeface="Cambria Math" panose="02040503050406030204" pitchFamily="18" charset="0"/>
                            <a:ea typeface="Cambria Math" panose="02040503050406030204" pitchFamily="18" charset="0"/>
                          </a:rPr>
                          <m:t>𝟐</m:t>
                        </m:r>
                      </m:sup>
                    </m:sSup>
                  </m:oMath>
                </a14:m>
                <a:r>
                  <a:rPr lang="en-IN" sz="2400" b="1">
                    <a:latin typeface="Times New Roman" panose="02020603050405020304" pitchFamily="18" charset="0"/>
                    <a:cs typeface="Times New Roman" panose="02020603050405020304" pitchFamily="18" charset="0"/>
                  </a:rPr>
                  <a:t> </a:t>
                </a:r>
                <a:r>
                  <a:rPr lang="en-IN" sz="2400">
                    <a:latin typeface="Times New Roman" panose="02020603050405020304" pitchFamily="18" charset="0"/>
                    <a:cs typeface="Times New Roman" panose="02020603050405020304" pitchFamily="18" charset="0"/>
                  </a:rPr>
                  <a:t>with </a:t>
                </a:r>
                <a:r>
                  <a:rPr lang="en-IN" sz="2400">
                    <a:latin typeface="Times New Roman" panose="02020603050405020304" pitchFamily="18" charset="0"/>
                    <a:cs typeface="Times New Roman" panose="02020603050405020304" pitchFamily="18" charset="0"/>
                    <a:sym typeface="Wingdings" panose="05000000000000000000" pitchFamily="2" charset="2"/>
                  </a:rPr>
                  <a:t>beam waist,w.</a:t>
                </a:r>
                <a:endParaRPr lang="en-US" sz="2400" b="1">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
                </a:pPr>
                <a:r>
                  <a:rPr lang="en-US" sz="2400" b="1">
                    <a:latin typeface="Times New Roman" panose="02020603050405020304" pitchFamily="18" charset="0"/>
                    <a:cs typeface="Times New Roman" panose="02020603050405020304" pitchFamily="18" charset="0"/>
                  </a:rPr>
                  <a:t>Without reaction</a:t>
                </a:r>
                <a:r>
                  <a:rPr lang="en-US" sz="2400">
                    <a:latin typeface="Times New Roman" panose="02020603050405020304" pitchFamily="18" charset="0"/>
                    <a:cs typeface="Times New Roman" panose="02020603050405020304" pitchFamily="18" charset="0"/>
                  </a:rPr>
                  <a:t>: Gaussian distribution </a:t>
                </a:r>
                <a:endParaRPr lang="en-US" sz="2400">
                  <a:latin typeface="Times New Roman" panose="02020603050405020304" pitchFamily="18" charset="0"/>
                  <a:cs typeface="Times New Roman" panose="02020603050405020304" pitchFamily="18" charset="0"/>
                  <a:sym typeface="Wingdings" panose="05000000000000000000" pitchFamily="2" charset="2"/>
                </a:endParaRPr>
              </a:p>
              <a:p>
                <a:pPr marL="0" indent="0">
                  <a:lnSpc>
                    <a:spcPct val="150000"/>
                  </a:lnSpc>
                  <a:buNone/>
                </a:pPr>
                <a:r>
                  <a:rPr lang="en-US" sz="2400">
                    <a:latin typeface="Times New Roman" panose="02020603050405020304" pitchFamily="18" charset="0"/>
                    <a:cs typeface="Times New Roman" panose="02020603050405020304" pitchFamily="18" charset="0"/>
                  </a:rPr>
                  <a:t>	Brownian diffusion,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D</m:t>
                        </m:r>
                      </m:e>
                      <m:sub>
                        <m:r>
                          <m:rPr>
                            <m:sty m:val="p"/>
                          </m:rPr>
                          <a:rPr lang="en-US" sz="2400" b="0" i="0" smtClean="0">
                            <a:latin typeface="Cambria Math" panose="02040503050406030204" pitchFamily="18" charset="0"/>
                            <a:cs typeface="Times New Roman" panose="02020603050405020304" pitchFamily="18" charset="0"/>
                          </a:rPr>
                          <m:t>o</m:t>
                        </m:r>
                      </m:sub>
                    </m:sSub>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from</m:t>
                    </m:r>
                    <m:r>
                      <a:rPr lang="en-US" sz="2400" b="0" i="0" smtClean="0">
                        <a:latin typeface="Cambria Math" panose="02040503050406030204" pitchFamily="18" charset="0"/>
                        <a:ea typeface="Cambria Math" panose="02040503050406030204" pitchFamily="18" charset="0"/>
                        <a:cs typeface="Times New Roman" panose="02020603050405020304" pitchFamily="18" charset="0"/>
                      </a:rPr>
                      <m:t> </m:t>
                    </m:r>
                    <m:sSup>
                      <m:sSupPr>
                        <m:ctrlPr>
                          <a:rPr lang="en-US" sz="2400" b="0" i="1" smtClean="0">
                            <a:latin typeface="Cambria Math" panose="02040503050406030204" pitchFamily="18" charset="0"/>
                            <a:cs typeface="Times New Roman" panose="02020603050405020304" pitchFamily="18" charset="0"/>
                          </a:rPr>
                        </m:ctrlPr>
                      </m:sSupPr>
                      <m:e>
                        <m:r>
                          <m:rPr>
                            <m:sty m:val="p"/>
                          </m:rPr>
                          <a:rPr lang="en-US" sz="2400" b="0" i="0" smtClean="0">
                            <a:latin typeface="Cambria Math" panose="02040503050406030204" pitchFamily="18" charset="0"/>
                            <a:cs typeface="Times New Roman" panose="02020603050405020304" pitchFamily="18" charset="0"/>
                          </a:rPr>
                          <m:t>w</m:t>
                        </m:r>
                      </m:e>
                      <m:sup>
                        <m:r>
                          <a:rPr lang="en-US" sz="2400" b="0" i="0" smtClean="0">
                            <a:latin typeface="Cambria Math" panose="02040503050406030204" pitchFamily="18" charset="0"/>
                            <a:cs typeface="Times New Roman" panose="02020603050405020304" pitchFamily="18" charset="0"/>
                          </a:rPr>
                          <m:t>2</m:t>
                        </m:r>
                      </m:sup>
                    </m:sSup>
                    <m:r>
                      <a:rPr lang="en-US" sz="2400" b="0" i="0"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α</m:t>
                    </m:r>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D</m:t>
                        </m:r>
                      </m:e>
                      <m:sub>
                        <m:r>
                          <m:rPr>
                            <m:sty m:val="p"/>
                          </m:rPr>
                          <a:rPr lang="en-US" sz="2400" b="0" i="0" smtClean="0">
                            <a:latin typeface="Cambria Math" panose="02040503050406030204" pitchFamily="18" charset="0"/>
                            <a:cs typeface="Times New Roman" panose="02020603050405020304" pitchFamily="18" charset="0"/>
                          </a:rPr>
                          <m:t>o</m:t>
                        </m:r>
                      </m:sub>
                    </m:sSub>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t</m:t>
                        </m:r>
                      </m:e>
                      <m:sub>
                        <m:r>
                          <m:rPr>
                            <m:sty m:val="p"/>
                          </m:rPr>
                          <a:rPr lang="en-US" sz="2400" b="0" i="0" smtClean="0">
                            <a:latin typeface="Cambria Math" panose="02040503050406030204" pitchFamily="18" charset="0"/>
                            <a:cs typeface="Times New Roman" panose="02020603050405020304" pitchFamily="18" charset="0"/>
                          </a:rPr>
                          <m:t>w</m:t>
                        </m:r>
                      </m:sub>
                    </m:sSub>
                  </m:oMath>
                </a14:m>
                <a:endParaRPr lang="en-US" sz="240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
                </a:pPr>
                <a:r>
                  <a:rPr lang="en-US" sz="2400" b="1">
                    <a:latin typeface="Times New Roman" panose="02020603050405020304" pitchFamily="18" charset="0"/>
                    <a:cs typeface="Times New Roman" panose="02020603050405020304" pitchFamily="18" charset="0"/>
                  </a:rPr>
                  <a:t>With reaction</a:t>
                </a:r>
                <a:r>
                  <a:rPr lang="en-US" sz="2400">
                    <a:latin typeface="Times New Roman" panose="02020603050405020304" pitchFamily="18" charset="0"/>
                    <a:cs typeface="Times New Roman" panose="02020603050405020304" pitchFamily="18" charset="0"/>
                  </a:rPr>
                  <a:t>(w</a:t>
                </a:r>
                <a14:m>
                  <m:oMath xmlns:m="http://schemas.openxmlformats.org/officeDocument/2006/math">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a:latin typeface="Times New Roman" panose="02020603050405020304" pitchFamily="18" charset="0"/>
                    <a:cs typeface="Times New Roman" panose="02020603050405020304" pitchFamily="18" charset="0"/>
                  </a:rPr>
                  <a:t>100 nm): Bimodal distribution </a:t>
                </a:r>
              </a:p>
              <a:p>
                <a:pPr>
                  <a:lnSpc>
                    <a:spcPct val="150000"/>
                  </a:lnSpc>
                </a:pPr>
                <a:r>
                  <a:rPr lang="en-US" sz="2400">
                    <a:latin typeface="Times New Roman" panose="02020603050405020304" pitchFamily="18" charset="0"/>
                    <a:cs typeface="Times New Roman" panose="02020603050405020304" pitchFamily="18" charset="0"/>
                  </a:rPr>
                  <a:t>	Parameters(</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τ</m:t>
                        </m:r>
                      </m:e>
                      <m:sub>
                        <m:r>
                          <m:rPr>
                            <m:sty m:val="p"/>
                          </m:rPr>
                          <a:rPr lang="en-US" sz="2400" b="0" i="0" smtClean="0">
                            <a:latin typeface="Cambria Math" panose="02040503050406030204" pitchFamily="18" charset="0"/>
                            <a:cs typeface="Times New Roman" panose="02020603050405020304" pitchFamily="18" charset="0"/>
                          </a:rPr>
                          <m:t>R</m:t>
                        </m:r>
                      </m:sub>
                    </m:sSub>
                    <m:r>
                      <a:rPr lang="en-US" sz="2400" b="0" i="0"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τ</m:t>
                        </m:r>
                      </m:e>
                      <m:sub>
                        <m:r>
                          <m:rPr>
                            <m:sty m:val="p"/>
                          </m:rPr>
                          <a:rPr lang="en-US" sz="2400" b="0" i="0" smtClean="0">
                            <a:latin typeface="Cambria Math" panose="02040503050406030204" pitchFamily="18" charset="0"/>
                            <a:cs typeface="Times New Roman" panose="02020603050405020304" pitchFamily="18" charset="0"/>
                          </a:rPr>
                          <m:t>B</m:t>
                        </m:r>
                      </m:sub>
                    </m:sSub>
                  </m:oMath>
                </a14:m>
                <a:r>
                  <a:rPr lang="en-US" sz="2400">
                    <a:latin typeface="Times New Roman" panose="02020603050405020304" pitchFamily="18" charset="0"/>
                    <a:cs typeface="Times New Roman" panose="02020603050405020304" pitchFamily="18" charset="0"/>
                  </a:rPr>
                  <a:t>) for Boosted diffusion.</a:t>
                </a:r>
              </a:p>
              <a:p>
                <a:pPr algn="ctr">
                  <a:lnSpc>
                    <a:spcPct val="150000"/>
                  </a:lnSpc>
                </a:pPr>
                <a:r>
                  <a:rPr lang="en-US" sz="2400" b="1">
                    <a:solidFill>
                      <a:srgbClr val="C00000"/>
                    </a:solidFill>
                    <a:latin typeface="Times New Roman" panose="02020603050405020304" pitchFamily="18" charset="0"/>
                    <a:cs typeface="Times New Roman" panose="02020603050405020304" pitchFamily="18" charset="0"/>
                  </a:rPr>
                  <a:t>“Run-and-tumble” mechanism</a:t>
                </a:r>
                <a:endParaRPr lang="en-IN" sz="2400" b="1">
                  <a:solidFill>
                    <a:srgbClr val="C00000"/>
                  </a:solidFill>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45C207AB-F35E-40E3-F4C3-0F08CC3872B5}"/>
                  </a:ext>
                </a:extLst>
              </p:cNvPr>
              <p:cNvSpPr txBox="1">
                <a:spLocks noRot="1" noChangeAspect="1" noMove="1" noResize="1" noEditPoints="1" noAdjustHandles="1" noChangeArrowheads="1" noChangeShapeType="1" noTextEdit="1"/>
              </p:cNvSpPr>
              <p:nvPr/>
            </p:nvSpPr>
            <p:spPr>
              <a:xfrm>
                <a:off x="4174984" y="2989314"/>
                <a:ext cx="7590573" cy="3362459"/>
              </a:xfrm>
              <a:prstGeom prst="rect">
                <a:avLst/>
              </a:prstGeom>
              <a:blipFill>
                <a:blip r:embed="rId5"/>
                <a:stretch>
                  <a:fillRect l="-1124" b="-3261"/>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23B8B9BB-989A-EB98-D5B9-DE220154DB37}"/>
              </a:ext>
            </a:extLst>
          </p:cNvPr>
          <p:cNvSpPr txBox="1"/>
          <p:nvPr/>
        </p:nvSpPr>
        <p:spPr>
          <a:xfrm>
            <a:off x="10756275" y="2543957"/>
            <a:ext cx="1777062" cy="584775"/>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Rotational timescale</a:t>
            </a:r>
            <a:endParaRPr lang="en-IN" sz="160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2B63BA3-845B-93BE-6465-E344E5DC5417}"/>
              </a:ext>
            </a:extLst>
          </p:cNvPr>
          <p:cNvSpPr txBox="1"/>
          <p:nvPr/>
        </p:nvSpPr>
        <p:spPr>
          <a:xfrm>
            <a:off x="10741035" y="1848760"/>
            <a:ext cx="1557549" cy="584775"/>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Boosted timescale</a:t>
            </a:r>
            <a:endParaRPr lang="en-IN" sz="16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9A54B82-901D-3FD6-8C7A-D8E74514CBAD}"/>
              </a:ext>
            </a:extLst>
          </p:cNvPr>
          <p:cNvPicPr>
            <a:picLocks noChangeAspect="1"/>
          </p:cNvPicPr>
          <p:nvPr/>
        </p:nvPicPr>
        <p:blipFill rotWithShape="1">
          <a:blip r:embed="rId6"/>
          <a:srcRect r="39511" b="65086"/>
          <a:stretch/>
        </p:blipFill>
        <p:spPr>
          <a:xfrm>
            <a:off x="672190" y="1298762"/>
            <a:ext cx="1697944" cy="1211684"/>
          </a:xfrm>
          <a:prstGeom prst="rect">
            <a:avLst/>
          </a:prstGeom>
          <a:ln>
            <a:noFill/>
          </a:ln>
        </p:spPr>
      </p:pic>
      <p:cxnSp>
        <p:nvCxnSpPr>
          <p:cNvPr id="31" name="Connector: Elbow 30">
            <a:extLst>
              <a:ext uri="{FF2B5EF4-FFF2-40B4-BE49-F238E27FC236}">
                <a16:creationId xmlns:a16="http://schemas.microsoft.com/office/drawing/2014/main" id="{E686683C-95E3-CE2D-B6A6-CE18AF1D390C}"/>
              </a:ext>
            </a:extLst>
          </p:cNvPr>
          <p:cNvCxnSpPr>
            <a:cxnSpLocks/>
            <a:endCxn id="20" idx="1"/>
          </p:cNvCxnSpPr>
          <p:nvPr/>
        </p:nvCxnSpPr>
        <p:spPr>
          <a:xfrm flipV="1">
            <a:off x="9676015" y="2141148"/>
            <a:ext cx="1065020" cy="106780"/>
          </a:xfrm>
          <a:prstGeom prst="bentConnector3">
            <a:avLst>
              <a:gd name="adj1" fmla="val 46"/>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Connector: Elbow 33">
            <a:extLst>
              <a:ext uri="{FF2B5EF4-FFF2-40B4-BE49-F238E27FC236}">
                <a16:creationId xmlns:a16="http://schemas.microsoft.com/office/drawing/2014/main" id="{AB4CFF76-F6EB-C8FD-15DB-DC36D9CAF748}"/>
              </a:ext>
            </a:extLst>
          </p:cNvPr>
          <p:cNvCxnSpPr>
            <a:cxnSpLocks/>
            <a:endCxn id="18" idx="1"/>
          </p:cNvCxnSpPr>
          <p:nvPr/>
        </p:nvCxnSpPr>
        <p:spPr>
          <a:xfrm>
            <a:off x="10153694" y="2644769"/>
            <a:ext cx="602581" cy="191576"/>
          </a:xfrm>
          <a:prstGeom prst="bentConnector3">
            <a:avLst>
              <a:gd name="adj1" fmla="val -2422"/>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F9F901F7-C881-5BEF-199A-F5CD9642B79C}"/>
              </a:ext>
            </a:extLst>
          </p:cNvPr>
          <p:cNvSpPr txBox="1"/>
          <p:nvPr/>
        </p:nvSpPr>
        <p:spPr>
          <a:xfrm>
            <a:off x="771204" y="2462620"/>
            <a:ext cx="3499374" cy="400110"/>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a) FCS setup</a:t>
            </a:r>
            <a:endParaRPr lang="en-IN" sz="2000" i="1">
              <a:latin typeface="Times New Roman" panose="02020603050405020304" pitchFamily="18" charset="0"/>
              <a:cs typeface="Times New Roman" panose="02020603050405020304" pitchFamily="18" charset="0"/>
            </a:endParaRPr>
          </a:p>
        </p:txBody>
      </p:sp>
      <p:cxnSp>
        <p:nvCxnSpPr>
          <p:cNvPr id="5" name="Connector: Curved 4">
            <a:extLst>
              <a:ext uri="{FF2B5EF4-FFF2-40B4-BE49-F238E27FC236}">
                <a16:creationId xmlns:a16="http://schemas.microsoft.com/office/drawing/2014/main" id="{241B34C2-7CFB-55DC-DCA5-76DFF8DD61D9}"/>
              </a:ext>
            </a:extLst>
          </p:cNvPr>
          <p:cNvCxnSpPr>
            <a:cxnSpLocks/>
          </p:cNvCxnSpPr>
          <p:nvPr/>
        </p:nvCxnSpPr>
        <p:spPr>
          <a:xfrm>
            <a:off x="3915931" y="3756271"/>
            <a:ext cx="354647" cy="150711"/>
          </a:xfrm>
          <a:prstGeom prst="curvedConnector3">
            <a:avLst/>
          </a:prstGeom>
          <a:ln w="38100">
            <a:prstDash val="solid"/>
            <a:tailEnd type="triangle"/>
          </a:ln>
        </p:spPr>
        <p:style>
          <a:lnRef idx="2">
            <a:schemeClr val="dk1"/>
          </a:lnRef>
          <a:fillRef idx="0">
            <a:schemeClr val="dk1"/>
          </a:fillRef>
          <a:effectRef idx="1">
            <a:schemeClr val="dk1"/>
          </a:effectRef>
          <a:fontRef idx="minor">
            <a:schemeClr val="tx1"/>
          </a:fontRef>
        </p:style>
      </p:cxnSp>
      <p:cxnSp>
        <p:nvCxnSpPr>
          <p:cNvPr id="14" name="Connector: Curved 13">
            <a:extLst>
              <a:ext uri="{FF2B5EF4-FFF2-40B4-BE49-F238E27FC236}">
                <a16:creationId xmlns:a16="http://schemas.microsoft.com/office/drawing/2014/main" id="{AB1B01C7-1CEA-5A68-D7D1-8ACCF5E019BE}"/>
              </a:ext>
            </a:extLst>
          </p:cNvPr>
          <p:cNvCxnSpPr>
            <a:cxnSpLocks/>
          </p:cNvCxnSpPr>
          <p:nvPr/>
        </p:nvCxnSpPr>
        <p:spPr>
          <a:xfrm>
            <a:off x="3915931" y="4843501"/>
            <a:ext cx="354647" cy="150711"/>
          </a:xfrm>
          <a:prstGeom prst="curvedConnector3">
            <a:avLst>
              <a:gd name="adj1" fmla="val 26561"/>
            </a:avLst>
          </a:prstGeom>
          <a:ln w="38100">
            <a:prstDash val="solid"/>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79098316"/>
      </p:ext>
    </p:extLst>
  </p:cSld>
  <p:clrMapOvr>
    <a:masterClrMapping/>
  </p:clrMapOvr>
  <mc:AlternateContent xmlns:mc="http://schemas.openxmlformats.org/markup-compatibility/2006" xmlns:p14="http://schemas.microsoft.com/office/powerpoint/2010/main">
    <mc:Choice Requires="p14">
      <p:transition spd="slow" p14:dur="2000" advTm="101922"/>
    </mc:Choice>
    <mc:Fallback xmlns="">
      <p:transition spd="slow" advTm="10192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A8FBAEED-CA20-8217-9F43-C0F8D97A86C5}"/>
              </a:ext>
            </a:extLst>
          </p:cNvPr>
          <p:cNvSpPr txBox="1"/>
          <p:nvPr/>
        </p:nvSpPr>
        <p:spPr>
          <a:xfrm>
            <a:off x="1685670" y="1129725"/>
            <a:ext cx="10042471" cy="2195794"/>
          </a:xfrm>
          <a:prstGeom prst="rect">
            <a:avLst/>
          </a:prstGeom>
          <a:noFill/>
        </p:spPr>
        <p:txBody>
          <a:bodyPr wrap="square" rtlCol="0">
            <a:spAutoFit/>
          </a:bodyPr>
          <a:lstStyle/>
          <a:p>
            <a:pPr>
              <a:lnSpc>
                <a:spcPct val="200000"/>
              </a:lnSpc>
            </a:pPr>
            <a:r>
              <a:rPr lang="en-US" sz="2400">
                <a:latin typeface="Times New Roman" panose="02020603050405020304" pitchFamily="18" charset="0"/>
                <a:cs typeface="Times New Roman" panose="02020603050405020304" pitchFamily="18" charset="0"/>
              </a:rPr>
              <a:t>Microfluidic assays with FCS</a:t>
            </a:r>
          </a:p>
          <a:p>
            <a:pPr>
              <a:lnSpc>
                <a:spcPct val="200000"/>
              </a:lnSpc>
            </a:pPr>
            <a:endParaRPr lang="en-US" sz="2400" b="1">
              <a:latin typeface="Times New Roman" panose="02020603050405020304" pitchFamily="18" charset="0"/>
              <a:cs typeface="Times New Roman" panose="02020603050405020304" pitchFamily="18" charset="0"/>
            </a:endParaRPr>
          </a:p>
          <a:p>
            <a:pPr>
              <a:lnSpc>
                <a:spcPct val="200000"/>
              </a:lnSpc>
            </a:pPr>
            <a:endParaRPr lang="en-IN" sz="2400" b="1">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0064F006-69C2-33C6-BF6F-D26606394229}"/>
              </a:ext>
            </a:extLst>
          </p:cNvPr>
          <p:cNvSpPr txBox="1"/>
          <p:nvPr/>
        </p:nvSpPr>
        <p:spPr>
          <a:xfrm>
            <a:off x="1152019" y="3926703"/>
            <a:ext cx="1692730" cy="400110"/>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a) Setup</a:t>
            </a:r>
            <a:endParaRPr lang="en-IN" sz="2000" i="1">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9E45D9D8-C0CA-2AC5-2FF2-5A69FD31B7BE}"/>
              </a:ext>
            </a:extLst>
          </p:cNvPr>
          <p:cNvSpPr txBox="1"/>
          <p:nvPr/>
        </p:nvSpPr>
        <p:spPr>
          <a:xfrm>
            <a:off x="3348631" y="4012190"/>
            <a:ext cx="4424216" cy="707886"/>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b) Concentration of enzyme and substrate downstream</a:t>
            </a:r>
            <a:endParaRPr lang="en-IN" sz="2000" i="1">
              <a:latin typeface="Times New Roman" panose="02020603050405020304" pitchFamily="18" charset="0"/>
              <a:cs typeface="Times New Roman" panose="02020603050405020304" pitchFamily="18" charset="0"/>
            </a:endParaRPr>
          </a:p>
        </p:txBody>
      </p:sp>
      <p:sp>
        <p:nvSpPr>
          <p:cNvPr id="30" name="Slide Number Placeholder 29">
            <a:extLst>
              <a:ext uri="{FF2B5EF4-FFF2-40B4-BE49-F238E27FC236}">
                <a16:creationId xmlns:a16="http://schemas.microsoft.com/office/drawing/2014/main" id="{C9861D55-6104-43FD-EA9F-538D1C803256}"/>
              </a:ext>
            </a:extLst>
          </p:cNvPr>
          <p:cNvSpPr>
            <a:spLocks noGrp="1"/>
          </p:cNvSpPr>
          <p:nvPr>
            <p:ph type="sldNum" sz="quarter" idx="12"/>
          </p:nvPr>
        </p:nvSpPr>
        <p:spPr>
          <a:xfrm>
            <a:off x="9147612" y="6471085"/>
            <a:ext cx="2743200" cy="365125"/>
          </a:xfrm>
        </p:spPr>
        <p:txBody>
          <a:bodyPr/>
          <a:lstStyle/>
          <a:p>
            <a:fld id="{C6784A8F-7002-44D0-9341-76CE0EB505BE}" type="slidenum">
              <a:rPr lang="en-IN" smtClean="0"/>
              <a:t>6</a:t>
            </a:fld>
            <a:endParaRPr lang="en-IN"/>
          </a:p>
        </p:txBody>
      </p:sp>
      <p:sp>
        <p:nvSpPr>
          <p:cNvPr id="2" name="TextBox 1">
            <a:extLst>
              <a:ext uri="{FF2B5EF4-FFF2-40B4-BE49-F238E27FC236}">
                <a16:creationId xmlns:a16="http://schemas.microsoft.com/office/drawing/2014/main" id="{106ED99E-7BA6-56AE-09BD-921C4202160B}"/>
              </a:ext>
            </a:extLst>
          </p:cNvPr>
          <p:cNvSpPr txBox="1"/>
          <p:nvPr/>
        </p:nvSpPr>
        <p:spPr>
          <a:xfrm>
            <a:off x="1143796" y="197694"/>
            <a:ext cx="9924393" cy="646331"/>
          </a:xfrm>
          <a:prstGeom prst="rect">
            <a:avLst/>
          </a:prstGeom>
          <a:noFill/>
        </p:spPr>
        <p:txBody>
          <a:bodyPr wrap="square">
            <a:spAutoFit/>
          </a:bodyPr>
          <a:lstStyle/>
          <a:p>
            <a:pPr algn="ctr" defTabSz="877824">
              <a:spcAft>
                <a:spcPts val="600"/>
              </a:spcAft>
            </a:pPr>
            <a:r>
              <a:rPr lang="en-US" sz="3600" b="1" kern="1200">
                <a:solidFill>
                  <a:srgbClr val="C00000"/>
                </a:solidFill>
                <a:latin typeface="Times New Roman" panose="02020603050405020304" pitchFamily="18" charset="0"/>
                <a:cs typeface="Times New Roman" panose="02020603050405020304" pitchFamily="18" charset="0"/>
              </a:rPr>
              <a:t>Anti-chemotaxis</a:t>
            </a:r>
          </a:p>
        </p:txBody>
      </p:sp>
      <p:sp>
        <p:nvSpPr>
          <p:cNvPr id="4" name="TextBox 3">
            <a:extLst>
              <a:ext uri="{FF2B5EF4-FFF2-40B4-BE49-F238E27FC236}">
                <a16:creationId xmlns:a16="http://schemas.microsoft.com/office/drawing/2014/main" id="{294BF6B1-EC03-91A9-C19D-41A2BE14FA03}"/>
              </a:ext>
            </a:extLst>
          </p:cNvPr>
          <p:cNvSpPr txBox="1"/>
          <p:nvPr/>
        </p:nvSpPr>
        <p:spPr>
          <a:xfrm>
            <a:off x="2763721" y="783331"/>
            <a:ext cx="9270881"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Enzymes moving away from high substrate concentration</a:t>
            </a:r>
            <a:endParaRPr lang="en-IN" sz="2400"/>
          </a:p>
        </p:txBody>
      </p:sp>
      <p:sp>
        <p:nvSpPr>
          <p:cNvPr id="7" name="TextBox 6">
            <a:extLst>
              <a:ext uri="{FF2B5EF4-FFF2-40B4-BE49-F238E27FC236}">
                <a16:creationId xmlns:a16="http://schemas.microsoft.com/office/drawing/2014/main" id="{48BF694D-042C-0D07-6628-018DAE61D418}"/>
              </a:ext>
            </a:extLst>
          </p:cNvPr>
          <p:cNvSpPr txBox="1"/>
          <p:nvPr/>
        </p:nvSpPr>
        <p:spPr>
          <a:xfrm>
            <a:off x="157396" y="6535163"/>
            <a:ext cx="11857220" cy="276999"/>
          </a:xfrm>
          <a:prstGeom prst="rect">
            <a:avLst/>
          </a:prstGeom>
          <a:noFill/>
        </p:spPr>
        <p:txBody>
          <a:bodyPr wrap="square">
            <a:spAutoFit/>
          </a:bodyPr>
          <a:lstStyle/>
          <a:p>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Jee, A. Y., Cho, Y. K., Granick, S., &amp; Tlusty, T. (2018). Catalytic enzymes are active matter.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Proceedings of the National Academy of Sciences</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115</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(46), E10812-E10821.</a:t>
            </a:r>
            <a:endParaRPr lang="en-IN" sz="120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2A760E17-4BF7-A088-8FE0-15E541435CC5}"/>
              </a:ext>
            </a:extLst>
          </p:cNvPr>
          <p:cNvSpPr/>
          <p:nvPr/>
        </p:nvSpPr>
        <p:spPr>
          <a:xfrm>
            <a:off x="167390" y="59233"/>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29EFA92C-9846-D83D-7B4A-7572C430AAD7}"/>
              </a:ext>
            </a:extLst>
          </p:cNvPr>
          <p:cNvPicPr>
            <a:picLocks noChangeAspect="1"/>
          </p:cNvPicPr>
          <p:nvPr/>
        </p:nvPicPr>
        <p:blipFill>
          <a:blip r:embed="rId3"/>
          <a:stretch>
            <a:fillRect/>
          </a:stretch>
        </p:blipFill>
        <p:spPr>
          <a:xfrm>
            <a:off x="7925549" y="2241913"/>
            <a:ext cx="3664985" cy="2374173"/>
          </a:xfrm>
          <a:prstGeom prst="rect">
            <a:avLst/>
          </a:prstGeom>
        </p:spPr>
      </p:pic>
      <p:sp>
        <p:nvSpPr>
          <p:cNvPr id="12" name="TextBox 11">
            <a:extLst>
              <a:ext uri="{FF2B5EF4-FFF2-40B4-BE49-F238E27FC236}">
                <a16:creationId xmlns:a16="http://schemas.microsoft.com/office/drawing/2014/main" id="{566581C0-148B-3443-FD28-FB4E1E2D673A}"/>
              </a:ext>
            </a:extLst>
          </p:cNvPr>
          <p:cNvSpPr txBox="1"/>
          <p:nvPr/>
        </p:nvSpPr>
        <p:spPr>
          <a:xfrm>
            <a:off x="7247727" y="5222699"/>
            <a:ext cx="4582664" cy="830997"/>
          </a:xfrm>
          <a:prstGeom prst="rect">
            <a:avLst/>
          </a:prstGeom>
          <a:solidFill>
            <a:schemeClr val="tx2">
              <a:lumMod val="10000"/>
              <a:lumOff val="90000"/>
            </a:schemeClr>
          </a:solidFill>
          <a:ln w="38100">
            <a:solidFill>
              <a:schemeClr val="accent1"/>
            </a:solidFill>
          </a:ln>
        </p:spPr>
        <p:txBody>
          <a:bodyPr wrap="square" rtlCol="0">
            <a:spAutoFit/>
          </a:bodyPr>
          <a:lstStyle/>
          <a:p>
            <a:pPr algn="ctr"/>
            <a:r>
              <a:rPr lang="en-US" sz="2400">
                <a:latin typeface="Times New Roman" panose="02020603050405020304" pitchFamily="18" charset="0"/>
                <a:cs typeface="Times New Roman" panose="02020603050405020304" pitchFamily="18" charset="0"/>
              </a:rPr>
              <a:t>Jee et al. calls this “Chemokinesis”, not Chemotaxis.</a:t>
            </a:r>
            <a:endParaRPr lang="en-US" sz="2400" strike="sngStrike">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CA14C62-C36B-0520-F9AC-F98356CC4FD7}"/>
              </a:ext>
            </a:extLst>
          </p:cNvPr>
          <p:cNvSpPr txBox="1"/>
          <p:nvPr/>
        </p:nvSpPr>
        <p:spPr>
          <a:xfrm>
            <a:off x="7191886" y="1338547"/>
            <a:ext cx="4638504" cy="859050"/>
          </a:xfrm>
          <a:prstGeom prst="rect">
            <a:avLst/>
          </a:prstGeom>
          <a:solidFill>
            <a:schemeClr val="accent2">
              <a:lumMod val="20000"/>
              <a:lumOff val="80000"/>
            </a:schemeClr>
          </a:solidFill>
          <a:ln w="38100">
            <a:solidFill>
              <a:srgbClr val="C00000"/>
            </a:solidFill>
          </a:ln>
        </p:spPr>
        <p:txBody>
          <a:bodyPr wrap="square" rtlCol="0">
            <a:spAutoFit/>
          </a:bodyPr>
          <a:lstStyle/>
          <a:p>
            <a:pPr algn="ctr"/>
            <a:r>
              <a:rPr lang="en-US" sz="2400">
                <a:latin typeface="Times New Roman" panose="02020603050405020304" pitchFamily="18" charset="0"/>
                <a:cs typeface="Times New Roman" panose="02020603050405020304" pitchFamily="18" charset="0"/>
              </a:rPr>
              <a:t>All other groups have tagged these enzymes as </a:t>
            </a:r>
            <a:r>
              <a:rPr lang="en-US" sz="2400" b="1">
                <a:latin typeface="Times New Roman" panose="02020603050405020304" pitchFamily="18" charset="0"/>
                <a:cs typeface="Times New Roman" panose="02020603050405020304" pitchFamily="18" charset="0"/>
              </a:rPr>
              <a:t>Chemotaxis</a:t>
            </a:r>
            <a:r>
              <a:rPr lang="en-US" sz="2400">
                <a:latin typeface="Times New Roman" panose="02020603050405020304" pitchFamily="18" charset="0"/>
                <a:cs typeface="Times New Roman" panose="02020603050405020304" pitchFamily="18" charset="0"/>
              </a:rPr>
              <a:t>.</a:t>
            </a:r>
            <a:endParaRPr lang="en-IN" sz="240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2768EBE-9EC8-22B0-1179-D5806332C86D}"/>
              </a:ext>
            </a:extLst>
          </p:cNvPr>
          <p:cNvSpPr txBox="1"/>
          <p:nvPr/>
        </p:nvSpPr>
        <p:spPr>
          <a:xfrm>
            <a:off x="177384" y="6305029"/>
            <a:ext cx="11857218" cy="276999"/>
          </a:xfrm>
          <a:prstGeom prst="rect">
            <a:avLst/>
          </a:prstGeom>
          <a:noFill/>
        </p:spPr>
        <p:txBody>
          <a:bodyPr wrap="square">
            <a:spAutoFit/>
          </a:bodyPr>
          <a:lstStyle/>
          <a:p>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Dey, K. K., Das, S., Poyton, M. F., Sengupta, S., Butler, P. J., Cremer, P. S., &amp; Sen, A. (2014). Chemotactic separation of enzymes. </a:t>
            </a:r>
            <a:r>
              <a:rPr lang="en-IN" sz="1200" b="0" i="1">
                <a:solidFill>
                  <a:srgbClr val="222222"/>
                </a:solidFill>
                <a:effectLst/>
                <a:highlight>
                  <a:srgbClr val="FFFFFF"/>
                </a:highlight>
                <a:latin typeface="Times New Roman" panose="02020603050405020304" pitchFamily="18" charset="0"/>
                <a:cs typeface="Times New Roman" panose="02020603050405020304" pitchFamily="18" charset="0"/>
              </a:rPr>
              <a:t>ACS nano</a:t>
            </a:r>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IN" sz="1200" b="0" i="1">
                <a:solidFill>
                  <a:srgbClr val="222222"/>
                </a:solidFill>
                <a:effectLst/>
                <a:highlight>
                  <a:srgbClr val="FFFFFF"/>
                </a:highlight>
                <a:latin typeface="Times New Roman" panose="02020603050405020304" pitchFamily="18" charset="0"/>
                <a:cs typeface="Times New Roman" panose="02020603050405020304" pitchFamily="18" charset="0"/>
              </a:rPr>
              <a:t>8</a:t>
            </a:r>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(12), 11941-11949.</a:t>
            </a:r>
            <a:endParaRPr lang="en-IN" sz="1200">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85FB8E53-7B96-299B-8752-6D107B67B240}"/>
              </a:ext>
            </a:extLst>
          </p:cNvPr>
          <p:cNvCxnSpPr>
            <a:cxnSpLocks/>
          </p:cNvCxnSpPr>
          <p:nvPr/>
        </p:nvCxnSpPr>
        <p:spPr>
          <a:xfrm flipV="1">
            <a:off x="6981401" y="1338547"/>
            <a:ext cx="0" cy="4783944"/>
          </a:xfrm>
          <a:prstGeom prst="line">
            <a:avLst/>
          </a:prstGeom>
          <a:ln w="28575">
            <a:prstDash val="dash"/>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F1649905-664C-DF5C-33F0-177F5306CCB3}"/>
              </a:ext>
            </a:extLst>
          </p:cNvPr>
          <p:cNvPicPr>
            <a:picLocks noChangeAspect="1"/>
          </p:cNvPicPr>
          <p:nvPr/>
        </p:nvPicPr>
        <p:blipFill>
          <a:blip r:embed="rId4"/>
          <a:stretch>
            <a:fillRect/>
          </a:stretch>
        </p:blipFill>
        <p:spPr>
          <a:xfrm>
            <a:off x="500335" y="1919072"/>
            <a:ext cx="2532028" cy="2096187"/>
          </a:xfrm>
          <a:prstGeom prst="rect">
            <a:avLst/>
          </a:prstGeom>
        </p:spPr>
      </p:pic>
      <p:pic>
        <p:nvPicPr>
          <p:cNvPr id="23" name="Picture 22">
            <a:extLst>
              <a:ext uri="{FF2B5EF4-FFF2-40B4-BE49-F238E27FC236}">
                <a16:creationId xmlns:a16="http://schemas.microsoft.com/office/drawing/2014/main" id="{D244E63E-3EAA-D896-EB5F-95BEA99C80A4}"/>
              </a:ext>
            </a:extLst>
          </p:cNvPr>
          <p:cNvPicPr>
            <a:picLocks noChangeAspect="1"/>
          </p:cNvPicPr>
          <p:nvPr/>
        </p:nvPicPr>
        <p:blipFill>
          <a:blip r:embed="rId5"/>
          <a:stretch>
            <a:fillRect/>
          </a:stretch>
        </p:blipFill>
        <p:spPr>
          <a:xfrm>
            <a:off x="3670078" y="1842498"/>
            <a:ext cx="2966225" cy="2166634"/>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53DEC48-FFFF-62A4-4F6E-481009AC1A64}"/>
                  </a:ext>
                </a:extLst>
              </p:cNvPr>
              <p:cNvSpPr txBox="1"/>
              <p:nvPr/>
            </p:nvSpPr>
            <p:spPr>
              <a:xfrm>
                <a:off x="177384" y="5222699"/>
                <a:ext cx="6804017" cy="830997"/>
              </a:xfrm>
              <a:prstGeom prst="rect">
                <a:avLst/>
              </a:prstGeom>
              <a:noFill/>
              <a:ln>
                <a:solidFill>
                  <a:schemeClr val="bg1">
                    <a:lumMod val="65000"/>
                  </a:schemeClr>
                </a:solidFill>
                <a:prstDash val="lgDash"/>
              </a:ln>
            </p:spPr>
            <p:txBody>
              <a:bodyPr wrap="square">
                <a:spAutoFit/>
              </a:bodyPr>
              <a:lstStyle/>
              <a:p>
                <a:pPr algn="ctr"/>
                <a:r>
                  <a:rPr lang="en-US" sz="2400">
                    <a:latin typeface="Times New Roman" panose="02020603050405020304" pitchFamily="18" charset="0"/>
                    <a:cs typeface="Times New Roman" panose="02020603050405020304" pitchFamily="18" charset="0"/>
                  </a:rPr>
                  <a:t>Enzyme concentration, </a:t>
                </a:r>
                <a14:m>
                  <m:oMath xmlns:m="http://schemas.openxmlformats.org/officeDocument/2006/math">
                    <m:r>
                      <m:rPr>
                        <m:sty m:val="p"/>
                      </m:rPr>
                      <a:rPr lang="en-US" sz="2400" b="0" i="0" smtClean="0">
                        <a:latin typeface="Cambria Math" panose="02040503050406030204" pitchFamily="18" charset="0"/>
                      </a:rPr>
                      <m:t>ρ</m:t>
                    </m:r>
                    <m:d>
                      <m:dPr>
                        <m:ctrlPr>
                          <a:rPr lang="en-US" sz="2400" i="1">
                            <a:latin typeface="Cambria Math" panose="02040503050406030204" pitchFamily="18" charset="0"/>
                          </a:rPr>
                        </m:ctrlPr>
                      </m:dPr>
                      <m:e>
                        <m:r>
                          <m:rPr>
                            <m:sty m:val="p"/>
                          </m:rPr>
                          <a:rPr lang="en-US" sz="2400" b="0" i="0" smtClean="0">
                            <a:latin typeface="Cambria Math" panose="02040503050406030204" pitchFamily="18" charset="0"/>
                          </a:rPr>
                          <m:t>x</m:t>
                        </m:r>
                      </m:e>
                    </m:d>
                    <m:r>
                      <a:rPr lang="en-US" sz="2400" b="0" i="0" smtClean="0">
                        <a:latin typeface="Cambria Math" panose="02040503050406030204" pitchFamily="18" charset="0"/>
                        <a:ea typeface="Cambria Math" panose="02040503050406030204" pitchFamily="18" charset="0"/>
                      </a:rPr>
                      <m:t>∝1/</m:t>
                    </m:r>
                    <m:sSub>
                      <m:sSubPr>
                        <m:ctrlPr>
                          <a:rPr lang="en-US" sz="2400" b="0" i="1" smtClean="0">
                            <a:latin typeface="Cambria Math" panose="02040503050406030204" pitchFamily="18" charset="0"/>
                            <a:ea typeface="Cambria Math" panose="02040503050406030204" pitchFamily="18" charset="0"/>
                          </a:rPr>
                        </m:ctrlPr>
                      </m:sSubPr>
                      <m:e>
                        <m:r>
                          <m:rPr>
                            <m:sty m:val="p"/>
                          </m:rPr>
                          <a:rPr lang="en-US" sz="2400" b="0" i="0" smtClean="0">
                            <a:latin typeface="Cambria Math" panose="02040503050406030204" pitchFamily="18" charset="0"/>
                            <a:ea typeface="Cambria Math" panose="02040503050406030204" pitchFamily="18" charset="0"/>
                          </a:rPr>
                          <m:t>D</m:t>
                        </m:r>
                      </m:e>
                      <m:sub>
                        <m:r>
                          <m:rPr>
                            <m:sty m:val="p"/>
                          </m:rPr>
                          <a:rPr lang="en-US" sz="2400" b="0" i="0" smtClean="0">
                            <a:latin typeface="Cambria Math" panose="02040503050406030204" pitchFamily="18" charset="0"/>
                            <a:ea typeface="Cambria Math" panose="02040503050406030204" pitchFamily="18" charset="0"/>
                          </a:rPr>
                          <m:t>E</m:t>
                        </m:r>
                      </m:sub>
                    </m:sSub>
                    <m:d>
                      <m:dPr>
                        <m:ctrlPr>
                          <a:rPr lang="en-US" sz="2400" b="0" i="1" smtClean="0">
                            <a:latin typeface="Cambria Math" panose="02040503050406030204" pitchFamily="18" charset="0"/>
                            <a:ea typeface="Cambria Math" panose="02040503050406030204" pitchFamily="18" charset="0"/>
                          </a:rPr>
                        </m:ctrlPr>
                      </m:dPr>
                      <m:e>
                        <m:r>
                          <m:rPr>
                            <m:sty m:val="p"/>
                          </m:rPr>
                          <a:rPr lang="en-US" sz="2400" b="0" i="0" smtClean="0">
                            <a:latin typeface="Cambria Math" panose="02040503050406030204" pitchFamily="18" charset="0"/>
                            <a:ea typeface="Cambria Math" panose="02040503050406030204" pitchFamily="18" charset="0"/>
                          </a:rPr>
                          <m:t>c</m:t>
                        </m:r>
                      </m:e>
                    </m:d>
                  </m:oMath>
                </a14:m>
                <a:endParaRPr lang="en-IN" sz="2400">
                  <a:latin typeface="Times New Roman" panose="02020603050405020304" pitchFamily="18" charset="0"/>
                  <a:cs typeface="Times New Roman" panose="02020603050405020304" pitchFamily="18" charset="0"/>
                </a:endParaRPr>
              </a:p>
              <a:p>
                <a:pPr algn="ct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𝐸</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𝑐</m:t>
                        </m:r>
                      </m:e>
                    </m:d>
                  </m:oMath>
                </a14:m>
                <a:r>
                  <a:rPr lang="en-IN" sz="2400">
                    <a:latin typeface="Times New Roman" panose="02020603050405020304" pitchFamily="18" charset="0"/>
                    <a:cs typeface="Times New Roman" panose="02020603050405020304" pitchFamily="18" charset="0"/>
                    <a:sym typeface="Wingdings" panose="05000000000000000000" pitchFamily="2" charset="2"/>
                  </a:rPr>
                  <a:t> Substate concentration dependent diffusion</a:t>
                </a:r>
                <a:endParaRPr lang="en-IN" sz="2400">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C53DEC48-FFFF-62A4-4F6E-481009AC1A64}"/>
                  </a:ext>
                </a:extLst>
              </p:cNvPr>
              <p:cNvSpPr txBox="1">
                <a:spLocks noRot="1" noChangeAspect="1" noMove="1" noResize="1" noEditPoints="1" noAdjustHandles="1" noChangeArrowheads="1" noChangeShapeType="1" noTextEdit="1"/>
              </p:cNvSpPr>
              <p:nvPr/>
            </p:nvSpPr>
            <p:spPr>
              <a:xfrm>
                <a:off x="177384" y="5222699"/>
                <a:ext cx="6804017" cy="830997"/>
              </a:xfrm>
              <a:prstGeom prst="rect">
                <a:avLst/>
              </a:prstGeom>
              <a:blipFill>
                <a:blip r:embed="rId6"/>
                <a:stretch>
                  <a:fillRect t="-5072" b="-15217"/>
                </a:stretch>
              </a:blipFill>
              <a:ln>
                <a:solidFill>
                  <a:schemeClr val="bg1">
                    <a:lumMod val="65000"/>
                  </a:schemeClr>
                </a:solidFill>
                <a:prstDash val="lgDash"/>
              </a:ln>
            </p:spPr>
            <p:txBody>
              <a:bodyPr/>
              <a:lstStyle/>
              <a:p>
                <a:r>
                  <a:rPr lang="en-IN">
                    <a:noFill/>
                  </a:rPr>
                  <a:t> </a:t>
                </a:r>
              </a:p>
            </p:txBody>
          </p:sp>
        </mc:Fallback>
      </mc:AlternateContent>
      <p:sp>
        <p:nvSpPr>
          <p:cNvPr id="17" name="TextBox 16">
            <a:extLst>
              <a:ext uri="{FF2B5EF4-FFF2-40B4-BE49-F238E27FC236}">
                <a16:creationId xmlns:a16="http://schemas.microsoft.com/office/drawing/2014/main" id="{85FEA7C6-A35B-B8BD-81AD-B75AD51A54FE}"/>
              </a:ext>
            </a:extLst>
          </p:cNvPr>
          <p:cNvSpPr txBox="1"/>
          <p:nvPr/>
        </p:nvSpPr>
        <p:spPr>
          <a:xfrm>
            <a:off x="7488307" y="4518972"/>
            <a:ext cx="4424216" cy="707886"/>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c) 2-inlet 1-outlet microfluidic device:</a:t>
            </a:r>
          </a:p>
          <a:p>
            <a:r>
              <a:rPr lang="en-US" sz="2000" i="1">
                <a:latin typeface="Times New Roman" panose="02020603050405020304" pitchFamily="18" charset="0"/>
                <a:cs typeface="Times New Roman" panose="02020603050405020304" pitchFamily="18" charset="0"/>
              </a:rPr>
              <a:t>Enzyme migration with substrate</a:t>
            </a:r>
            <a:endParaRPr lang="en-IN" sz="2000" i="1">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691996E9-AF9F-AF6F-EC60-A0AA7845C84E}"/>
              </a:ext>
            </a:extLst>
          </p:cNvPr>
          <p:cNvSpPr txBox="1"/>
          <p:nvPr/>
        </p:nvSpPr>
        <p:spPr>
          <a:xfrm>
            <a:off x="1923371" y="3652239"/>
            <a:ext cx="1605120" cy="276999"/>
          </a:xfrm>
          <a:prstGeom prst="rect">
            <a:avLst/>
          </a:prstGeom>
          <a:noFill/>
        </p:spPr>
        <p:txBody>
          <a:bodyPr wrap="square" rtlCol="0">
            <a:spAutoFit/>
          </a:bodyPr>
          <a:lstStyle/>
          <a:p>
            <a:r>
              <a:rPr lang="en-US" sz="1200" b="1" i="1">
                <a:solidFill>
                  <a:schemeClr val="tx1">
                    <a:lumMod val="85000"/>
                    <a:lumOff val="15000"/>
                  </a:schemeClr>
                </a:solidFill>
                <a:latin typeface="Georgia" panose="02040502050405020303" pitchFamily="18" charset="0"/>
              </a:rPr>
              <a:t>(width=2.5mm)</a:t>
            </a:r>
            <a:endParaRPr lang="en-IN" sz="1200" b="1" i="1">
              <a:solidFill>
                <a:schemeClr val="tx1">
                  <a:lumMod val="85000"/>
                  <a:lumOff val="15000"/>
                </a:schemeClr>
              </a:solidFill>
              <a:latin typeface="Georgia" panose="02040502050405020303" pitchFamily="18" charset="0"/>
            </a:endParaRPr>
          </a:p>
        </p:txBody>
      </p:sp>
    </p:spTree>
    <p:extLst>
      <p:ext uri="{BB962C8B-B14F-4D97-AF65-F5344CB8AC3E}">
        <p14:creationId xmlns:p14="http://schemas.microsoft.com/office/powerpoint/2010/main" val="3476019406"/>
      </p:ext>
    </p:extLst>
  </p:cSld>
  <p:clrMapOvr>
    <a:masterClrMapping/>
  </p:clrMapOvr>
  <mc:AlternateContent xmlns:mc="http://schemas.openxmlformats.org/markup-compatibility/2006" xmlns:p14="http://schemas.microsoft.com/office/powerpoint/2010/main">
    <mc:Choice Requires="p14">
      <p:transition spd="slow" p14:dur="2000" advTm="89719"/>
    </mc:Choice>
    <mc:Fallback xmlns="">
      <p:transition spd="slow" advTm="8971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239F3-FE11-B39B-1B72-8D50D2907855}"/>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BE50856-A2AE-AEC8-3FE7-441EF5E8249F}"/>
              </a:ext>
            </a:extLst>
          </p:cNvPr>
          <p:cNvSpPr>
            <a:spLocks/>
          </p:cNvSpPr>
          <p:nvPr/>
        </p:nvSpPr>
        <p:spPr>
          <a:xfrm>
            <a:off x="5429614" y="913860"/>
            <a:ext cx="5930366" cy="5275294"/>
          </a:xfrm>
          <a:prstGeom prst="rect">
            <a:avLst/>
          </a:prstGeom>
        </p:spPr>
        <p:txBody>
          <a:bodyPr>
            <a:noAutofit/>
          </a:bodyPr>
          <a:lstStyle/>
          <a:p>
            <a:pPr algn="ctr" defTabSz="777240">
              <a:lnSpc>
                <a:spcPct val="150000"/>
              </a:lnSpc>
              <a:spcAft>
                <a:spcPts val="600"/>
              </a:spcAft>
            </a:pPr>
            <a:r>
              <a:rPr lang="en-US" sz="2400" b="1">
                <a:latin typeface="Times New Roman" panose="02020603050405020304" pitchFamily="18" charset="0"/>
                <a:cs typeface="Times New Roman" panose="02020603050405020304" pitchFamily="18" charset="0"/>
              </a:rPr>
              <a:t>Limitations</a:t>
            </a:r>
          </a:p>
          <a:p>
            <a:pPr marL="800100" lvl="1" indent="-342900" defTabSz="777240">
              <a:lnSpc>
                <a:spcPct val="150000"/>
              </a:lnSpc>
              <a:spcAft>
                <a:spcPts val="600"/>
              </a:spcAft>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800100" lvl="1" indent="-342900" defTabSz="777240">
              <a:lnSpc>
                <a:spcPct val="150000"/>
              </a:lnSpc>
              <a:spcAft>
                <a:spcPts val="600"/>
              </a:spcAft>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Dissociation of enzymes?</a:t>
            </a:r>
          </a:p>
          <a:p>
            <a:pPr marL="800100" lvl="1" indent="-342900" defTabSz="777240">
              <a:lnSpc>
                <a:spcPct val="150000"/>
              </a:lnSpc>
              <a:spcAft>
                <a:spcPts val="600"/>
              </a:spcAft>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Signals from several particles.</a:t>
            </a:r>
          </a:p>
          <a:p>
            <a:pPr marL="342900" indent="-342900" defTabSz="777240">
              <a:lnSpc>
                <a:spcPct val="150000"/>
              </a:lnSpc>
              <a:spcAft>
                <a:spcPts val="600"/>
              </a:spcAft>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p:txBody>
      </p:sp>
      <p:sp>
        <p:nvSpPr>
          <p:cNvPr id="19" name="Title 1">
            <a:extLst>
              <a:ext uri="{FF2B5EF4-FFF2-40B4-BE49-F238E27FC236}">
                <a16:creationId xmlns:a16="http://schemas.microsoft.com/office/drawing/2014/main" id="{DAD441E3-B7B9-FFC0-E8DD-2424E433C50B}"/>
              </a:ext>
            </a:extLst>
          </p:cNvPr>
          <p:cNvSpPr>
            <a:spLocks noGrp="1"/>
          </p:cNvSpPr>
          <p:nvPr>
            <p:ph type="title"/>
          </p:nvPr>
        </p:nvSpPr>
        <p:spPr>
          <a:xfrm>
            <a:off x="1581111" y="-89721"/>
            <a:ext cx="9001318" cy="1458012"/>
          </a:xfrm>
        </p:spPr>
        <p:txBody>
          <a:bodyPr>
            <a:normAutofit/>
          </a:bodyPr>
          <a:lstStyle/>
          <a:p>
            <a:pPr algn="ctr"/>
            <a:r>
              <a:rPr lang="en-US" sz="3600" b="1">
                <a:solidFill>
                  <a:srgbClr val="C00000"/>
                </a:solidFill>
                <a:latin typeface="Times New Roman" panose="02020603050405020304" pitchFamily="18" charset="0"/>
                <a:cs typeface="Times New Roman" panose="02020603050405020304" pitchFamily="18" charset="0"/>
              </a:rPr>
              <a:t>Paper #1 - Conclusion</a:t>
            </a:r>
            <a:endParaRPr lang="en-IN" sz="3600" b="1">
              <a:solidFill>
                <a:srgbClr val="C00000"/>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57B2E22-C834-A416-F506-2042D087FACC}"/>
              </a:ext>
            </a:extLst>
          </p:cNvPr>
          <p:cNvSpPr>
            <a:spLocks noGrp="1"/>
          </p:cNvSpPr>
          <p:nvPr>
            <p:ph type="sldNum" sz="quarter" idx="12"/>
          </p:nvPr>
        </p:nvSpPr>
        <p:spPr>
          <a:xfrm>
            <a:off x="9234953" y="6487977"/>
            <a:ext cx="2743200" cy="365125"/>
          </a:xfrm>
        </p:spPr>
        <p:txBody>
          <a:bodyPr/>
          <a:lstStyle/>
          <a:p>
            <a:fld id="{C6784A8F-7002-44D0-9341-76CE0EB505BE}" type="slidenum">
              <a:rPr lang="en-IN" smtClean="0"/>
              <a:t>7</a:t>
            </a:fld>
            <a:endParaRPr lang="en-IN"/>
          </a:p>
        </p:txBody>
      </p:sp>
      <p:sp>
        <p:nvSpPr>
          <p:cNvPr id="13" name="Rectangle 12">
            <a:extLst>
              <a:ext uri="{FF2B5EF4-FFF2-40B4-BE49-F238E27FC236}">
                <a16:creationId xmlns:a16="http://schemas.microsoft.com/office/drawing/2014/main" id="{18E80762-7E85-91C5-04BF-8D629AC7D104}"/>
              </a:ext>
            </a:extLst>
          </p:cNvPr>
          <p:cNvSpPr/>
          <p:nvPr/>
        </p:nvSpPr>
        <p:spPr>
          <a:xfrm>
            <a:off x="167390" y="59233"/>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7FD586F-0ADE-2E07-2112-CBBB99B4916D}"/>
              </a:ext>
            </a:extLst>
          </p:cNvPr>
          <p:cNvSpPr txBox="1"/>
          <p:nvPr/>
        </p:nvSpPr>
        <p:spPr>
          <a:xfrm>
            <a:off x="167390" y="6521768"/>
            <a:ext cx="11857220" cy="276999"/>
          </a:xfrm>
          <a:prstGeom prst="rect">
            <a:avLst/>
          </a:prstGeom>
          <a:noFill/>
        </p:spPr>
        <p:txBody>
          <a:bodyPr wrap="square">
            <a:spAutoFit/>
          </a:bodyPr>
          <a:lstStyle/>
          <a:p>
            <a:r>
              <a:rPr lang="en-US" sz="1200" b="0" i="0">
                <a:solidFill>
                  <a:srgbClr val="222222"/>
                </a:solidFill>
                <a:effectLst/>
                <a:highlight>
                  <a:srgbClr val="FFFFFF"/>
                </a:highlight>
                <a:latin typeface="Arial" panose="020B0604020202020204" pitchFamily="34" charset="0"/>
              </a:rPr>
              <a:t>Jee, A. Y., Cho, Y. K., Granick, S., &amp; Tlusty, T. (2018</a:t>
            </a:r>
            <a:r>
              <a:rPr lang="en-US" sz="1200" b="0" i="0">
                <a:effectLst/>
                <a:highlight>
                  <a:srgbClr val="FFFFFF"/>
                </a:highlight>
                <a:latin typeface="Arial" panose="020B0604020202020204" pitchFamily="34" charset="0"/>
              </a:rPr>
              <a:t>). Catalytic enzymes are active matter</a:t>
            </a:r>
            <a:r>
              <a:rPr lang="en-US" sz="1200" b="0" i="0">
                <a:solidFill>
                  <a:srgbClr val="222222"/>
                </a:solidFill>
                <a:effectLst/>
                <a:highlight>
                  <a:srgbClr val="FFFFFF"/>
                </a:highlight>
                <a:latin typeface="Arial" panose="020B0604020202020204" pitchFamily="34" charset="0"/>
              </a:rPr>
              <a:t>. </a:t>
            </a:r>
            <a:r>
              <a:rPr lang="en-US" sz="1200" b="0" i="1">
                <a:solidFill>
                  <a:srgbClr val="222222"/>
                </a:solidFill>
                <a:effectLst/>
                <a:highlight>
                  <a:srgbClr val="FFFFFF"/>
                </a:highlight>
                <a:latin typeface="Arial" panose="020B0604020202020204" pitchFamily="34" charset="0"/>
              </a:rPr>
              <a:t>Proceedings of the National Academy of Sciences</a:t>
            </a:r>
            <a:r>
              <a:rPr lang="en-US" sz="1200" b="0" i="0">
                <a:solidFill>
                  <a:srgbClr val="222222"/>
                </a:solidFill>
                <a:effectLst/>
                <a:highlight>
                  <a:srgbClr val="FFFFFF"/>
                </a:highlight>
                <a:latin typeface="Arial" panose="020B0604020202020204" pitchFamily="34" charset="0"/>
              </a:rPr>
              <a:t>, </a:t>
            </a:r>
            <a:r>
              <a:rPr lang="en-US" sz="1200" b="0" i="1">
                <a:solidFill>
                  <a:srgbClr val="222222"/>
                </a:solidFill>
                <a:effectLst/>
                <a:highlight>
                  <a:srgbClr val="FFFFFF"/>
                </a:highlight>
                <a:latin typeface="Arial" panose="020B0604020202020204" pitchFamily="34" charset="0"/>
              </a:rPr>
              <a:t>115</a:t>
            </a:r>
            <a:r>
              <a:rPr lang="en-US" sz="1200" b="0" i="0">
                <a:solidFill>
                  <a:srgbClr val="222222"/>
                </a:solidFill>
                <a:effectLst/>
                <a:highlight>
                  <a:srgbClr val="FFFFFF"/>
                </a:highlight>
                <a:latin typeface="Arial" panose="020B0604020202020204" pitchFamily="34" charset="0"/>
              </a:rPr>
              <a:t>(46), E10812-E10821.</a:t>
            </a:r>
            <a:endParaRPr lang="en-IN" sz="120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42BCB36-CB64-C011-8332-111AAB41FA70}"/>
                  </a:ext>
                </a:extLst>
              </p:cNvPr>
              <p:cNvSpPr txBox="1"/>
              <p:nvPr/>
            </p:nvSpPr>
            <p:spPr>
              <a:xfrm>
                <a:off x="347876" y="5229148"/>
                <a:ext cx="5372640" cy="960006"/>
              </a:xfrm>
              <a:prstGeom prst="rect">
                <a:avLst/>
              </a:prstGeom>
              <a:noFill/>
            </p:spPr>
            <p:txBody>
              <a:bodyPr wrap="square" rtlCol="0">
                <a:spAutoFit/>
              </a:bodyPr>
              <a:lstStyle/>
              <a:p>
                <a:pPr>
                  <a:lnSpc>
                    <a:spcPct val="150000"/>
                  </a:lnSpc>
                </a:pPr>
                <a:r>
                  <a:rPr lang="en-US" sz="2000" b="1">
                    <a:latin typeface="Times New Roman" panose="02020603050405020304" pitchFamily="18" charset="0"/>
                    <a:cs typeface="Times New Roman" panose="02020603050405020304" pitchFamily="18" charset="0"/>
                  </a:rPr>
                  <a:t>Without inhibitors(</a:t>
                </a:r>
                <a:r>
                  <a:rPr lang="en-US" sz="2000" b="1">
                    <a:latin typeface="Times New Roman" panose="02020603050405020304" pitchFamily="18" charset="0"/>
                    <a:cs typeface="Times New Roman" panose="02020603050405020304" pitchFamily="18" charset="0"/>
                    <a:sym typeface="Symbol" panose="05050102010706020507" pitchFamily="18" charset="2"/>
                  </a:rPr>
                  <a:t>●</a:t>
                </a:r>
                <a:r>
                  <a:rPr lang="en-US" sz="2000" b="1">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Two plateau regions</a:t>
                </a:r>
              </a:p>
              <a:p>
                <a:pPr>
                  <a:lnSpc>
                    <a:spcPct val="150000"/>
                  </a:lnSpc>
                </a:pPr>
                <a:r>
                  <a:rPr lang="en-US" sz="2000" b="1">
                    <a:latin typeface="Times New Roman" panose="02020603050405020304" pitchFamily="18" charset="0"/>
                    <a:cs typeface="Times New Roman" panose="02020603050405020304" pitchFamily="18" charset="0"/>
                  </a:rPr>
                  <a:t>With inhibitors(</a:t>
                </a:r>
                <a:r>
                  <a:rPr lang="en-US" sz="2000" b="1">
                    <a:solidFill>
                      <a:srgbClr val="002060"/>
                    </a:solidFill>
                    <a:latin typeface="Times New Roman" panose="02020603050405020304" pitchFamily="18" charset="0"/>
                    <a:ea typeface="Cambria Math" panose="02040503050406030204" pitchFamily="18" charset="0"/>
                    <a:cs typeface="Times New Roman" panose="02020603050405020304" pitchFamily="18" charset="0"/>
                  </a:rPr>
                  <a:t>△,</a:t>
                </a:r>
                <a:r>
                  <a:rPr lang="en-US" sz="2000" b="1">
                    <a:solidFill>
                      <a:schemeClr val="bg1">
                        <a:lumMod val="50000"/>
                      </a:schemeClr>
                    </a:solidFill>
                    <a:latin typeface="Times New Roman" panose="02020603050405020304" pitchFamily="18" charset="0"/>
                    <a:ea typeface="Cambria Math" panose="02040503050406030204" pitchFamily="18" charset="0"/>
                    <a:cs typeface="Times New Roman" panose="02020603050405020304" pitchFamily="18" charset="0"/>
                  </a:rPr>
                  <a:t> □</a:t>
                </a:r>
                <a:r>
                  <a:rPr lang="en-US" sz="2000" b="1">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m:rPr>
                            <m:sty m:val="p"/>
                          </m:rPr>
                          <a:rPr lang="en-US" sz="2000" b="0" i="0" smtClean="0">
                            <a:latin typeface="Cambria Math" panose="02040503050406030204" pitchFamily="18" charset="0"/>
                            <a:cs typeface="Times New Roman" panose="02020603050405020304" pitchFamily="18" charset="0"/>
                          </a:rPr>
                          <m:t>D</m:t>
                        </m:r>
                      </m:e>
                      <m:sub>
                        <m:r>
                          <m:rPr>
                            <m:sty m:val="p"/>
                          </m:rPr>
                          <a:rPr lang="en-US" sz="2000" b="0" i="0" smtClean="0">
                            <a:latin typeface="Cambria Math" panose="02040503050406030204" pitchFamily="18" charset="0"/>
                            <a:cs typeface="Times New Roman" panose="02020603050405020304" pitchFamily="18" charset="0"/>
                          </a:rPr>
                          <m:t>E</m:t>
                        </m:r>
                      </m:sub>
                    </m:sSub>
                  </m:oMath>
                </a14:m>
                <a:r>
                  <a:rPr lang="en-US" sz="2000">
                    <a:latin typeface="Times New Roman" panose="02020603050405020304" pitchFamily="18" charset="0"/>
                    <a:cs typeface="Times New Roman" panose="02020603050405020304" pitchFamily="18" charset="0"/>
                  </a:rPr>
                  <a:t> at high concentrations.</a:t>
                </a:r>
              </a:p>
            </p:txBody>
          </p:sp>
        </mc:Choice>
        <mc:Fallback xmlns="">
          <p:sp>
            <p:nvSpPr>
              <p:cNvPr id="10" name="TextBox 9">
                <a:extLst>
                  <a:ext uri="{FF2B5EF4-FFF2-40B4-BE49-F238E27FC236}">
                    <a16:creationId xmlns:a16="http://schemas.microsoft.com/office/drawing/2014/main" id="{042BCB36-CB64-C011-8332-111AAB41FA70}"/>
                  </a:ext>
                </a:extLst>
              </p:cNvPr>
              <p:cNvSpPr txBox="1">
                <a:spLocks noRot="1" noChangeAspect="1" noMove="1" noResize="1" noEditPoints="1" noAdjustHandles="1" noChangeArrowheads="1" noChangeShapeType="1" noTextEdit="1"/>
              </p:cNvSpPr>
              <p:nvPr/>
            </p:nvSpPr>
            <p:spPr>
              <a:xfrm>
                <a:off x="347876" y="5229148"/>
                <a:ext cx="5372640" cy="960006"/>
              </a:xfrm>
              <a:prstGeom prst="rect">
                <a:avLst/>
              </a:prstGeom>
              <a:blipFill>
                <a:blip r:embed="rId3"/>
                <a:stretch>
                  <a:fillRect l="-1135" r="-795" b="-10828"/>
                </a:stretch>
              </a:blipFill>
            </p:spPr>
            <p:txBody>
              <a:bodyPr/>
              <a:lstStyle/>
              <a:p>
                <a:r>
                  <a:rPr lang="en-IN">
                    <a:noFill/>
                  </a:rPr>
                  <a:t> </a:t>
                </a:r>
              </a:p>
            </p:txBody>
          </p:sp>
        </mc:Fallback>
      </mc:AlternateContent>
      <p:cxnSp>
        <p:nvCxnSpPr>
          <p:cNvPr id="14" name="Straight Connector 13">
            <a:extLst>
              <a:ext uri="{FF2B5EF4-FFF2-40B4-BE49-F238E27FC236}">
                <a16:creationId xmlns:a16="http://schemas.microsoft.com/office/drawing/2014/main" id="{CA916754-BA75-3A36-16B3-465BD292F058}"/>
              </a:ext>
            </a:extLst>
          </p:cNvPr>
          <p:cNvCxnSpPr>
            <a:cxnSpLocks/>
          </p:cNvCxnSpPr>
          <p:nvPr/>
        </p:nvCxnSpPr>
        <p:spPr>
          <a:xfrm>
            <a:off x="5720516" y="1132416"/>
            <a:ext cx="0" cy="5372457"/>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A6EAF3EE-7220-3AB6-0A72-7BD7551EF9C6}"/>
              </a:ext>
            </a:extLst>
          </p:cNvPr>
          <p:cNvSpPr txBox="1"/>
          <p:nvPr/>
        </p:nvSpPr>
        <p:spPr>
          <a:xfrm>
            <a:off x="-2065333" y="1020898"/>
            <a:ext cx="9924393" cy="461665"/>
          </a:xfrm>
          <a:prstGeom prst="rect">
            <a:avLst/>
          </a:prstGeom>
          <a:noFill/>
        </p:spPr>
        <p:txBody>
          <a:bodyPr wrap="square">
            <a:spAutoFit/>
          </a:bodyPr>
          <a:lstStyle/>
          <a:p>
            <a:pPr algn="ctr" defTabSz="877824">
              <a:spcAft>
                <a:spcPts val="600"/>
              </a:spcAft>
            </a:pPr>
            <a:r>
              <a:rPr lang="en-US" sz="2400" b="1" kern="1200">
                <a:latin typeface="Times New Roman" panose="02020603050405020304" pitchFamily="18" charset="0"/>
                <a:cs typeface="Times New Roman" panose="02020603050405020304" pitchFamily="18" charset="0"/>
              </a:rPr>
              <a:t>Michaelis-Menten kinetics</a:t>
            </a:r>
          </a:p>
        </p:txBody>
      </p:sp>
      <p:sp>
        <p:nvSpPr>
          <p:cNvPr id="17" name="TextBox 16">
            <a:extLst>
              <a:ext uri="{FF2B5EF4-FFF2-40B4-BE49-F238E27FC236}">
                <a16:creationId xmlns:a16="http://schemas.microsoft.com/office/drawing/2014/main" id="{AA9F121F-C1DC-EAAB-B09F-33631B49BD66}"/>
              </a:ext>
            </a:extLst>
          </p:cNvPr>
          <p:cNvSpPr txBox="1"/>
          <p:nvPr/>
        </p:nvSpPr>
        <p:spPr>
          <a:xfrm>
            <a:off x="5946326" y="1710030"/>
            <a:ext cx="5271782" cy="461665"/>
          </a:xfrm>
          <a:prstGeom prst="rect">
            <a:avLst/>
          </a:prstGeom>
          <a:solidFill>
            <a:schemeClr val="accent2">
              <a:lumMod val="20000"/>
              <a:lumOff val="80000"/>
            </a:schemeClr>
          </a:solidFill>
          <a:ln w="38100">
            <a:solidFill>
              <a:srgbClr val="C00000"/>
            </a:solidFill>
          </a:ln>
        </p:spPr>
        <p:txBody>
          <a:bodyPr wrap="square">
            <a:spAutoFit/>
          </a:bodyPr>
          <a:lstStyle/>
          <a:p>
            <a:pPr algn="ctr"/>
            <a:r>
              <a:rPr lang="en-US" sz="2400" b="0" i="0">
                <a:solidFill>
                  <a:srgbClr val="0D0D0D"/>
                </a:solidFill>
                <a:effectLst/>
                <a:latin typeface="Times New Roman" panose="02020603050405020304" pitchFamily="18" charset="0"/>
                <a:cs typeface="Times New Roman" panose="02020603050405020304" pitchFamily="18" charset="0"/>
              </a:rPr>
              <a:t>Potential Artifacts in FCS</a:t>
            </a:r>
          </a:p>
        </p:txBody>
      </p:sp>
      <p:sp>
        <p:nvSpPr>
          <p:cNvPr id="22" name="TextBox 21">
            <a:extLst>
              <a:ext uri="{FF2B5EF4-FFF2-40B4-BE49-F238E27FC236}">
                <a16:creationId xmlns:a16="http://schemas.microsoft.com/office/drawing/2014/main" id="{1F4773F1-17FB-3418-118B-84CFFDACA5EF}"/>
              </a:ext>
            </a:extLst>
          </p:cNvPr>
          <p:cNvSpPr txBox="1"/>
          <p:nvPr/>
        </p:nvSpPr>
        <p:spPr>
          <a:xfrm>
            <a:off x="5910276" y="4726321"/>
            <a:ext cx="5307832" cy="843298"/>
          </a:xfrm>
          <a:prstGeom prst="rect">
            <a:avLst/>
          </a:prstGeom>
          <a:noFill/>
          <a:ln w="38100">
            <a:solidFill>
              <a:srgbClr val="C00000"/>
            </a:solidFill>
          </a:ln>
        </p:spPr>
        <p:txBody>
          <a:bodyPr wrap="square">
            <a:spAutoFit/>
          </a:bodyPr>
          <a:lstStyle/>
          <a:p>
            <a:pPr algn="ctr"/>
            <a:r>
              <a:rPr lang="en-US" sz="2400" b="0" i="0">
                <a:effectLst/>
                <a:highlight>
                  <a:srgbClr val="FFFFFF"/>
                </a:highlight>
                <a:latin typeface="Times New Roman" panose="02020603050405020304" pitchFamily="18" charset="0"/>
                <a:cs typeface="Times New Roman" panose="02020603050405020304" pitchFamily="18" charset="0"/>
              </a:rPr>
              <a:t>Assumptions for theoretical models may not hold in all biological contexts.</a:t>
            </a:r>
            <a:endParaRPr lang="en-IN" sz="24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EC08370-D960-D31F-9555-3D56DAAAE600}"/>
              </a:ext>
            </a:extLst>
          </p:cNvPr>
          <p:cNvSpPr txBox="1"/>
          <p:nvPr/>
        </p:nvSpPr>
        <p:spPr>
          <a:xfrm>
            <a:off x="347875" y="4864354"/>
            <a:ext cx="5156922" cy="400110"/>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Enhanced diffusion vs substrate concentration</a:t>
            </a:r>
            <a:endParaRPr lang="en-IN" sz="2000" i="1">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64B69E5C-E5CF-EB2F-6C25-1A87B86AE2CB}"/>
              </a:ext>
            </a:extLst>
          </p:cNvPr>
          <p:cNvSpPr txBox="1"/>
          <p:nvPr/>
        </p:nvSpPr>
        <p:spPr>
          <a:xfrm>
            <a:off x="5933080" y="3760749"/>
            <a:ext cx="5262224" cy="579967"/>
          </a:xfrm>
          <a:prstGeom prst="rect">
            <a:avLst/>
          </a:prstGeom>
          <a:solidFill>
            <a:schemeClr val="accent2">
              <a:lumMod val="20000"/>
              <a:lumOff val="80000"/>
            </a:schemeClr>
          </a:solidFill>
          <a:ln w="38100">
            <a:solidFill>
              <a:srgbClr val="C00000"/>
            </a:solidFill>
          </a:ln>
        </p:spPr>
        <p:txBody>
          <a:bodyPr wrap="square">
            <a:spAutoFit/>
          </a:bodyPr>
          <a:lstStyle/>
          <a:p>
            <a:pPr algn="ctr" defTabSz="777240">
              <a:lnSpc>
                <a:spcPct val="150000"/>
              </a:lnSpc>
              <a:spcAft>
                <a:spcPts val="600"/>
              </a:spcAft>
            </a:pPr>
            <a:r>
              <a:rPr lang="en-US" sz="2400">
                <a:latin typeface="Times New Roman" panose="02020603050405020304" pitchFamily="18" charset="0"/>
                <a:cs typeface="Times New Roman" panose="02020603050405020304" pitchFamily="18" charset="0"/>
              </a:rPr>
              <a:t>Mechanism: UNCLEAR.</a:t>
            </a:r>
          </a:p>
        </p:txBody>
      </p:sp>
      <p:pic>
        <p:nvPicPr>
          <p:cNvPr id="7" name="Picture 6">
            <a:extLst>
              <a:ext uri="{FF2B5EF4-FFF2-40B4-BE49-F238E27FC236}">
                <a16:creationId xmlns:a16="http://schemas.microsoft.com/office/drawing/2014/main" id="{256BC954-4E7F-9A31-67EB-5E1B63087F69}"/>
              </a:ext>
            </a:extLst>
          </p:cNvPr>
          <p:cNvPicPr>
            <a:picLocks noChangeAspect="1"/>
          </p:cNvPicPr>
          <p:nvPr/>
        </p:nvPicPr>
        <p:blipFill>
          <a:blip r:embed="rId4"/>
          <a:stretch>
            <a:fillRect/>
          </a:stretch>
        </p:blipFill>
        <p:spPr>
          <a:xfrm>
            <a:off x="665224" y="1676857"/>
            <a:ext cx="4089012" cy="3187497"/>
          </a:xfrm>
          <a:prstGeom prst="rect">
            <a:avLst/>
          </a:prstGeom>
        </p:spPr>
      </p:pic>
      <p:sp>
        <p:nvSpPr>
          <p:cNvPr id="12" name="Content Placeholder 2">
            <a:extLst>
              <a:ext uri="{FF2B5EF4-FFF2-40B4-BE49-F238E27FC236}">
                <a16:creationId xmlns:a16="http://schemas.microsoft.com/office/drawing/2014/main" id="{8E756E5A-C635-509D-9A68-FC8980274B39}"/>
              </a:ext>
            </a:extLst>
          </p:cNvPr>
          <p:cNvSpPr>
            <a:spLocks noGrp="1"/>
          </p:cNvSpPr>
          <p:nvPr>
            <p:ph idx="1"/>
          </p:nvPr>
        </p:nvSpPr>
        <p:spPr>
          <a:xfrm>
            <a:off x="1311029" y="1993646"/>
            <a:ext cx="2549437" cy="1079371"/>
          </a:xfrm>
        </p:spPr>
        <p:txBody>
          <a:bodyPr>
            <a:noAutofit/>
          </a:bodyPr>
          <a:lstStyle/>
          <a:p>
            <a:pPr marL="0" indent="0">
              <a:lnSpc>
                <a:spcPct val="100000"/>
              </a:lnSpc>
              <a:buNone/>
            </a:pPr>
            <a:r>
              <a:rPr lang="en-US" sz="1600" b="1">
                <a:latin typeface="Times New Roman" panose="02020603050405020304" pitchFamily="18" charset="0"/>
                <a:cs typeface="Times New Roman" panose="02020603050405020304" pitchFamily="18" charset="0"/>
                <a:sym typeface="Symbol" panose="05050102010706020507" pitchFamily="18" charset="2"/>
              </a:rPr>
              <a:t>● </a:t>
            </a:r>
            <a:r>
              <a:rPr lang="en-US" sz="1600">
                <a:latin typeface="Times New Roman" panose="02020603050405020304" pitchFamily="18" charset="0"/>
                <a:cs typeface="Times New Roman" panose="02020603050405020304" pitchFamily="18" charset="0"/>
              </a:rPr>
              <a:t>Enzyme</a:t>
            </a:r>
          </a:p>
          <a:p>
            <a:pPr marL="0" indent="0">
              <a:lnSpc>
                <a:spcPct val="100000"/>
              </a:lnSpc>
              <a:buNone/>
            </a:pPr>
            <a:r>
              <a:rPr lang="en-US" sz="1600" b="1">
                <a:solidFill>
                  <a:srgbClr val="002060"/>
                </a:solidFill>
                <a:latin typeface="Times New Roman" panose="02020603050405020304" pitchFamily="18" charset="0"/>
                <a:ea typeface="Cambria Math" panose="02040503050406030204" pitchFamily="18" charset="0"/>
                <a:cs typeface="Times New Roman" panose="02020603050405020304" pitchFamily="18" charset="0"/>
              </a:rPr>
              <a:t>△,</a:t>
            </a:r>
            <a:r>
              <a:rPr lang="en-US" sz="1600" b="1">
                <a:solidFill>
                  <a:schemeClr val="bg1">
                    <a:lumMod val="50000"/>
                  </a:schemeClr>
                </a:solidFill>
                <a:latin typeface="Times New Roman" panose="02020603050405020304" pitchFamily="18" charset="0"/>
                <a:ea typeface="Cambria Math" panose="02040503050406030204" pitchFamily="18" charset="0"/>
                <a:cs typeface="Times New Roman" panose="02020603050405020304" pitchFamily="18" charset="0"/>
              </a:rPr>
              <a:t> □ </a:t>
            </a:r>
            <a:r>
              <a:rPr lang="en-US" sz="1600">
                <a:latin typeface="Times New Roman" panose="02020603050405020304" pitchFamily="18" charset="0"/>
                <a:cs typeface="Times New Roman" panose="02020603050405020304" pitchFamily="18" charset="0"/>
              </a:rPr>
              <a:t>Enzyme + Inhibitor</a:t>
            </a:r>
            <a:endParaRPr lang="en-IN" sz="1600">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2646AAFA-0134-B1FA-4C09-1A789602E26D}"/>
              </a:ext>
            </a:extLst>
          </p:cNvPr>
          <p:cNvCxnSpPr/>
          <p:nvPr/>
        </p:nvCxnSpPr>
        <p:spPr>
          <a:xfrm>
            <a:off x="4372495" y="4538749"/>
            <a:ext cx="249381" cy="1664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1E05C574-C8F9-B350-1717-453BBE08A831}"/>
              </a:ext>
            </a:extLst>
          </p:cNvPr>
          <p:cNvSpPr txBox="1"/>
          <p:nvPr/>
        </p:nvSpPr>
        <p:spPr>
          <a:xfrm>
            <a:off x="4557912" y="4592162"/>
            <a:ext cx="675377" cy="307777"/>
          </a:xfrm>
          <a:prstGeom prst="rect">
            <a:avLst/>
          </a:prstGeom>
          <a:noFill/>
        </p:spPr>
        <p:txBody>
          <a:bodyPr wrap="square" rtlCol="0">
            <a:spAutoFit/>
          </a:bodyPr>
          <a:lstStyle/>
          <a:p>
            <a:r>
              <a:rPr lang="en-US" sz="1400">
                <a:effectLst>
                  <a:outerShdw blurRad="38100" dist="38100" dir="2700000" algn="tl">
                    <a:srgbClr val="000000">
                      <a:alpha val="43137"/>
                    </a:srgbClr>
                  </a:outerShdw>
                </a:effectLst>
              </a:rPr>
              <a:t>1 M</a:t>
            </a:r>
            <a:endParaRPr lang="en-IN" sz="1400">
              <a:effectLst>
                <a:outerShdw blurRad="38100" dist="38100" dir="2700000" algn="tl">
                  <a:srgbClr val="000000">
                    <a:alpha val="43137"/>
                  </a:srgbClr>
                </a:outerShdw>
              </a:effectLst>
            </a:endParaRPr>
          </a:p>
        </p:txBody>
      </p:sp>
      <p:sp>
        <p:nvSpPr>
          <p:cNvPr id="18" name="TextBox 17">
            <a:extLst>
              <a:ext uri="{FF2B5EF4-FFF2-40B4-BE49-F238E27FC236}">
                <a16:creationId xmlns:a16="http://schemas.microsoft.com/office/drawing/2014/main" id="{4DBC9F24-D834-7473-A26A-F538ED2B7319}"/>
              </a:ext>
            </a:extLst>
          </p:cNvPr>
          <p:cNvSpPr txBox="1"/>
          <p:nvPr/>
        </p:nvSpPr>
        <p:spPr>
          <a:xfrm>
            <a:off x="3594944" y="4678954"/>
            <a:ext cx="827649" cy="307777"/>
          </a:xfrm>
          <a:prstGeom prst="rect">
            <a:avLst/>
          </a:prstGeom>
          <a:noFill/>
        </p:spPr>
        <p:txBody>
          <a:bodyPr wrap="square" rtlCol="0">
            <a:spAutoFit/>
          </a:bodyPr>
          <a:lstStyle/>
          <a:p>
            <a:r>
              <a:rPr lang="en-US" sz="1400">
                <a:effectLst>
                  <a:outerShdw blurRad="38100" dist="38100" dir="2700000" algn="tl">
                    <a:srgbClr val="000000">
                      <a:alpha val="43137"/>
                    </a:srgbClr>
                  </a:outerShdw>
                </a:effectLst>
              </a:rPr>
              <a:t>0.01 M</a:t>
            </a:r>
            <a:endParaRPr lang="en-IN" sz="1400">
              <a:effectLst>
                <a:outerShdw blurRad="38100" dist="38100" dir="2700000" algn="tl">
                  <a:srgbClr val="000000">
                    <a:alpha val="43137"/>
                  </a:srgbClr>
                </a:outerShdw>
              </a:effectLst>
            </a:endParaRPr>
          </a:p>
        </p:txBody>
      </p:sp>
      <p:cxnSp>
        <p:nvCxnSpPr>
          <p:cNvPr id="20" name="Straight Arrow Connector 19">
            <a:extLst>
              <a:ext uri="{FF2B5EF4-FFF2-40B4-BE49-F238E27FC236}">
                <a16:creationId xmlns:a16="http://schemas.microsoft.com/office/drawing/2014/main" id="{9B706283-54D5-D00C-654A-A4D65AEB02BE}"/>
              </a:ext>
            </a:extLst>
          </p:cNvPr>
          <p:cNvCxnSpPr/>
          <p:nvPr/>
        </p:nvCxnSpPr>
        <p:spPr>
          <a:xfrm>
            <a:off x="3446437" y="4525649"/>
            <a:ext cx="249381" cy="1664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42235630"/>
      </p:ext>
    </p:extLst>
  </p:cSld>
  <p:clrMapOvr>
    <a:masterClrMapping/>
  </p:clrMapOvr>
  <mc:AlternateContent xmlns:mc="http://schemas.openxmlformats.org/markup-compatibility/2006" xmlns:p14="http://schemas.microsoft.com/office/powerpoint/2010/main">
    <mc:Choice Requires="p14">
      <p:transition spd="slow" p14:dur="2000" advTm="89644"/>
    </mc:Choice>
    <mc:Fallback xmlns="">
      <p:transition spd="slow" advTm="8964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B57F75-E20C-D0E4-BD0F-FEB3C27DB1A1}"/>
              </a:ext>
            </a:extLst>
          </p:cNvPr>
          <p:cNvSpPr>
            <a:spLocks noGrp="1"/>
          </p:cNvSpPr>
          <p:nvPr>
            <p:ph type="sldNum" sz="quarter" idx="12"/>
          </p:nvPr>
        </p:nvSpPr>
        <p:spPr>
          <a:xfrm>
            <a:off x="9149456" y="6487977"/>
            <a:ext cx="2743200" cy="365125"/>
          </a:xfrm>
        </p:spPr>
        <p:txBody>
          <a:bodyPr/>
          <a:lstStyle/>
          <a:p>
            <a:fld id="{C6784A8F-7002-44D0-9341-76CE0EB505BE}" type="slidenum">
              <a:rPr lang="en-IN" smtClean="0"/>
              <a:t>8</a:t>
            </a:fld>
            <a:endParaRPr lang="en-IN"/>
          </a:p>
        </p:txBody>
      </p:sp>
      <p:sp>
        <p:nvSpPr>
          <p:cNvPr id="17" name="TextBox 16">
            <a:extLst>
              <a:ext uri="{FF2B5EF4-FFF2-40B4-BE49-F238E27FC236}">
                <a16:creationId xmlns:a16="http://schemas.microsoft.com/office/drawing/2014/main" id="{F93C9776-36A0-498E-A082-692F1B37EE82}"/>
              </a:ext>
            </a:extLst>
          </p:cNvPr>
          <p:cNvSpPr txBox="1"/>
          <p:nvPr/>
        </p:nvSpPr>
        <p:spPr>
          <a:xfrm>
            <a:off x="951684" y="305789"/>
            <a:ext cx="10288632" cy="1200329"/>
          </a:xfrm>
          <a:prstGeom prst="rect">
            <a:avLst/>
          </a:prstGeom>
          <a:noFill/>
        </p:spPr>
        <p:txBody>
          <a:bodyPr wrap="square">
            <a:spAutoFit/>
          </a:bodyPr>
          <a:lstStyle/>
          <a:p>
            <a:pPr algn="ctr"/>
            <a:r>
              <a:rPr lang="en-IN" sz="3600" b="1">
                <a:solidFill>
                  <a:srgbClr val="C00000"/>
                </a:solidFill>
                <a:highlight>
                  <a:srgbClr val="FFFFFF"/>
                </a:highlight>
                <a:latin typeface="Times New Roman" panose="02020603050405020304" pitchFamily="18" charset="0"/>
                <a:cs typeface="Times New Roman" panose="02020603050405020304" pitchFamily="18" charset="0"/>
              </a:rPr>
              <a:t>Paper #2 - </a:t>
            </a:r>
            <a:r>
              <a:rPr lang="en-IN" sz="3600" b="1" i="0">
                <a:solidFill>
                  <a:srgbClr val="C00000"/>
                </a:solidFill>
                <a:effectLst/>
                <a:highlight>
                  <a:srgbClr val="FFFFFF"/>
                </a:highlight>
                <a:latin typeface="Times New Roman" panose="02020603050405020304" pitchFamily="18" charset="0"/>
                <a:cs typeface="Times New Roman" panose="02020603050405020304" pitchFamily="18" charset="0"/>
              </a:rPr>
              <a:t>Direct Single Molecule Imaging of Enhanced enzyme diffusion</a:t>
            </a:r>
            <a:endParaRPr lang="en-IN" sz="36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F2E1E8B7-BCBA-3108-8736-8554600CDE11}"/>
              </a:ext>
            </a:extLst>
          </p:cNvPr>
          <p:cNvSpPr txBox="1"/>
          <p:nvPr/>
        </p:nvSpPr>
        <p:spPr>
          <a:xfrm>
            <a:off x="180246" y="6535323"/>
            <a:ext cx="11284169" cy="276999"/>
          </a:xfrm>
          <a:prstGeom prst="rect">
            <a:avLst/>
          </a:prstGeom>
          <a:noFill/>
        </p:spPr>
        <p:txBody>
          <a:bodyPr wrap="square">
            <a:spAutoFit/>
          </a:bodyPr>
          <a:lstStyle/>
          <a:p>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Xu, M., Ross, J. L., Valdez, L., &amp; Sen, A. (2019). Direct single molecule imaging of enhanced enzyme diffusion. </a:t>
            </a:r>
            <a:r>
              <a:rPr lang="en-IN" sz="1200" b="0" i="1">
                <a:solidFill>
                  <a:srgbClr val="222222"/>
                </a:solidFill>
                <a:effectLst/>
                <a:highlight>
                  <a:srgbClr val="FFFFFF"/>
                </a:highlight>
                <a:latin typeface="Times New Roman" panose="02020603050405020304" pitchFamily="18" charset="0"/>
                <a:cs typeface="Times New Roman" panose="02020603050405020304" pitchFamily="18" charset="0"/>
              </a:rPr>
              <a:t>Physical review letters</a:t>
            </a:r>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IN" sz="1200" b="0" i="1">
                <a:solidFill>
                  <a:srgbClr val="222222"/>
                </a:solidFill>
                <a:effectLst/>
                <a:highlight>
                  <a:srgbClr val="FFFFFF"/>
                </a:highlight>
                <a:latin typeface="Times New Roman" panose="02020603050405020304" pitchFamily="18" charset="0"/>
                <a:cs typeface="Times New Roman" panose="02020603050405020304" pitchFamily="18" charset="0"/>
              </a:rPr>
              <a:t>123</a:t>
            </a:r>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(12), 128101.</a:t>
            </a:r>
            <a:endParaRPr lang="en-IN" sz="1200">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9A854FB6-5295-296C-018E-9121C89AC20F}"/>
              </a:ext>
            </a:extLst>
          </p:cNvPr>
          <p:cNvSpPr/>
          <p:nvPr/>
        </p:nvSpPr>
        <p:spPr>
          <a:xfrm>
            <a:off x="167390" y="59233"/>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B3450491-B7B7-749A-F761-2BC9AF48CF6D}"/>
              </a:ext>
            </a:extLst>
          </p:cNvPr>
          <p:cNvSpPr txBox="1"/>
          <p:nvPr/>
        </p:nvSpPr>
        <p:spPr>
          <a:xfrm>
            <a:off x="3719460" y="4087156"/>
            <a:ext cx="4257783" cy="400110"/>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b) MSD with and without substrate</a:t>
            </a:r>
            <a:endParaRPr lang="en-IN" sz="2000" i="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CF0CB6C-40C4-9668-79E8-6AB618F847B2}"/>
                  </a:ext>
                </a:extLst>
              </p:cNvPr>
              <p:cNvSpPr txBox="1"/>
              <p:nvPr/>
            </p:nvSpPr>
            <p:spPr>
              <a:xfrm>
                <a:off x="402829" y="4631759"/>
                <a:ext cx="7480584" cy="875111"/>
              </a:xfrm>
              <a:prstGeom prst="rect">
                <a:avLst/>
              </a:prstGeom>
              <a:noFill/>
              <a:ln>
                <a:solidFill>
                  <a:schemeClr val="bg1">
                    <a:lumMod val="75000"/>
                  </a:schemeClr>
                </a:solidFill>
                <a:prstDash val="lgDash"/>
              </a:ln>
            </p:spPr>
            <p:txBody>
              <a:bodyPr wrap="square" rtlCol="0">
                <a:spAutoFit/>
              </a:bodyPr>
              <a:lstStyle/>
              <a:p>
                <a:pPr marL="457200"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Trajectory visualization for enzymes in solution.</a:t>
                </a:r>
              </a:p>
              <a:p>
                <a:pPr marL="457200"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Mean square displacement, </a:t>
                </a:r>
                <a14:m>
                  <m:oMath xmlns:m="http://schemas.openxmlformats.org/officeDocument/2006/math">
                    <m:d>
                      <m:dPr>
                        <m:begChr m:val="⟨"/>
                        <m:endChr m:val="⟩"/>
                        <m:ctrlPr>
                          <a:rPr lang="en-US" sz="2400" b="1" i="1" smtClean="0">
                            <a:latin typeface="Cambria Math" panose="02040503050406030204" pitchFamily="18" charset="0"/>
                            <a:ea typeface="Cambria Math" panose="02040503050406030204" pitchFamily="18" charset="0"/>
                          </a:rPr>
                        </m:ctrlPr>
                      </m:dPr>
                      <m:e>
                        <m:sSup>
                          <m:sSupPr>
                            <m:ctrlPr>
                              <a:rPr lang="en-US" sz="2400" b="1" i="1">
                                <a:latin typeface="Cambria Math" panose="02040503050406030204" pitchFamily="18" charset="0"/>
                                <a:ea typeface="Cambria Math" panose="02040503050406030204" pitchFamily="18" charset="0"/>
                              </a:rPr>
                            </m:ctrlPr>
                          </m:sSupPr>
                          <m:e>
                            <m:d>
                              <m:dPr>
                                <m:ctrlPr>
                                  <a:rPr lang="en-US" sz="2400" b="1" i="1">
                                    <a:latin typeface="Cambria Math" panose="02040503050406030204" pitchFamily="18" charset="0"/>
                                    <a:ea typeface="Cambria Math" panose="02040503050406030204" pitchFamily="18" charset="0"/>
                                  </a:rPr>
                                </m:ctrlPr>
                              </m:dPr>
                              <m:e>
                                <m:r>
                                  <a:rPr lang="en-US" sz="2400" b="1" i="0">
                                    <a:latin typeface="Cambria Math" panose="02040503050406030204" pitchFamily="18" charset="0"/>
                                    <a:ea typeface="Cambria Math" panose="02040503050406030204" pitchFamily="18" charset="0"/>
                                  </a:rPr>
                                  <m:t>∆</m:t>
                                </m:r>
                                <m:r>
                                  <a:rPr lang="en-US" sz="2400" b="1" i="0">
                                    <a:latin typeface="Cambria Math" panose="02040503050406030204" pitchFamily="18" charset="0"/>
                                    <a:ea typeface="Cambria Math" panose="02040503050406030204" pitchFamily="18" charset="0"/>
                                  </a:rPr>
                                  <m:t>𝐫</m:t>
                                </m:r>
                              </m:e>
                            </m:d>
                          </m:e>
                          <m:sup>
                            <m:r>
                              <a:rPr lang="en-US" sz="2400" b="1" i="0">
                                <a:latin typeface="Cambria Math" panose="02040503050406030204" pitchFamily="18" charset="0"/>
                                <a:ea typeface="Cambria Math" panose="02040503050406030204" pitchFamily="18" charset="0"/>
                              </a:rPr>
                              <m:t>𝟐</m:t>
                            </m:r>
                          </m:sup>
                        </m:sSup>
                      </m:e>
                    </m:d>
                  </m:oMath>
                </a14:m>
                <a:r>
                  <a:rPr lang="en-US" sz="2400" b="1">
                    <a:latin typeface="Times New Roman" panose="02020603050405020304" pitchFamily="18" charset="0"/>
                    <a:cs typeface="Times New Roman" panose="02020603050405020304" pitchFamily="18" charset="0"/>
                  </a:rPr>
                  <a:t> = 4Dt</a:t>
                </a:r>
              </a:p>
            </p:txBody>
          </p:sp>
        </mc:Choice>
        <mc:Fallback xmlns="">
          <p:sp>
            <p:nvSpPr>
              <p:cNvPr id="3" name="TextBox 2">
                <a:extLst>
                  <a:ext uri="{FF2B5EF4-FFF2-40B4-BE49-F238E27FC236}">
                    <a16:creationId xmlns:a16="http://schemas.microsoft.com/office/drawing/2014/main" id="{7CF0CB6C-40C4-9668-79E8-6AB618F847B2}"/>
                  </a:ext>
                </a:extLst>
              </p:cNvPr>
              <p:cNvSpPr txBox="1">
                <a:spLocks noRot="1" noChangeAspect="1" noMove="1" noResize="1" noEditPoints="1" noAdjustHandles="1" noChangeArrowheads="1" noChangeShapeType="1" noTextEdit="1"/>
              </p:cNvSpPr>
              <p:nvPr/>
            </p:nvSpPr>
            <p:spPr>
              <a:xfrm>
                <a:off x="402829" y="4631759"/>
                <a:ext cx="7480584" cy="875111"/>
              </a:xfrm>
              <a:prstGeom prst="rect">
                <a:avLst/>
              </a:prstGeom>
              <a:blipFill>
                <a:blip r:embed="rId3"/>
                <a:stretch>
                  <a:fillRect l="-976" t="-4828" b="-12414"/>
                </a:stretch>
              </a:blipFill>
              <a:ln>
                <a:solidFill>
                  <a:schemeClr val="bg1">
                    <a:lumMod val="75000"/>
                  </a:schemeClr>
                </a:solidFill>
                <a:prstDash val="lgDash"/>
              </a:ln>
            </p:spPr>
            <p:txBody>
              <a:bodyPr/>
              <a:lstStyle/>
              <a:p>
                <a:r>
                  <a:rPr lang="en-IN">
                    <a:noFill/>
                  </a:rPr>
                  <a:t> </a:t>
                </a:r>
              </a:p>
            </p:txBody>
          </p:sp>
        </mc:Fallback>
      </mc:AlternateContent>
      <p:pic>
        <p:nvPicPr>
          <p:cNvPr id="24" name="Picture 23">
            <a:extLst>
              <a:ext uri="{FF2B5EF4-FFF2-40B4-BE49-F238E27FC236}">
                <a16:creationId xmlns:a16="http://schemas.microsoft.com/office/drawing/2014/main" id="{EE811AE1-90CF-39D0-DF7F-57B404E36BD6}"/>
              </a:ext>
            </a:extLst>
          </p:cNvPr>
          <p:cNvPicPr>
            <a:picLocks noChangeAspect="1"/>
          </p:cNvPicPr>
          <p:nvPr/>
        </p:nvPicPr>
        <p:blipFill>
          <a:blip r:embed="rId4"/>
          <a:stretch>
            <a:fillRect/>
          </a:stretch>
        </p:blipFill>
        <p:spPr>
          <a:xfrm>
            <a:off x="4157949" y="1568711"/>
            <a:ext cx="2742037" cy="2522046"/>
          </a:xfrm>
          <a:prstGeom prst="rect">
            <a:avLst/>
          </a:prstGeom>
        </p:spPr>
      </p:pic>
      <p:pic>
        <p:nvPicPr>
          <p:cNvPr id="25" name="Picture 24">
            <a:extLst>
              <a:ext uri="{FF2B5EF4-FFF2-40B4-BE49-F238E27FC236}">
                <a16:creationId xmlns:a16="http://schemas.microsoft.com/office/drawing/2014/main" id="{1A8CEAF6-45F3-E4C7-5FB1-964C29533045}"/>
              </a:ext>
            </a:extLst>
          </p:cNvPr>
          <p:cNvPicPr>
            <a:picLocks noChangeAspect="1"/>
          </p:cNvPicPr>
          <p:nvPr/>
        </p:nvPicPr>
        <p:blipFill>
          <a:blip r:embed="rId5"/>
          <a:stretch>
            <a:fillRect/>
          </a:stretch>
        </p:blipFill>
        <p:spPr>
          <a:xfrm rot="282006">
            <a:off x="5964257" y="2796470"/>
            <a:ext cx="551688" cy="479011"/>
          </a:xfrm>
          <a:prstGeom prst="rect">
            <a:avLst/>
          </a:prstGeom>
        </p:spPr>
      </p:pic>
      <p:pic>
        <p:nvPicPr>
          <p:cNvPr id="26" name="Picture 25">
            <a:extLst>
              <a:ext uri="{FF2B5EF4-FFF2-40B4-BE49-F238E27FC236}">
                <a16:creationId xmlns:a16="http://schemas.microsoft.com/office/drawing/2014/main" id="{DBF52B34-D102-0BA0-795C-8E5005B80CA1}"/>
              </a:ext>
            </a:extLst>
          </p:cNvPr>
          <p:cNvPicPr>
            <a:picLocks noChangeAspect="1"/>
          </p:cNvPicPr>
          <p:nvPr/>
        </p:nvPicPr>
        <p:blipFill>
          <a:blip r:embed="rId6"/>
          <a:stretch>
            <a:fillRect/>
          </a:stretch>
        </p:blipFill>
        <p:spPr>
          <a:xfrm rot="12045321">
            <a:off x="5072042" y="2240293"/>
            <a:ext cx="675171" cy="547580"/>
          </a:xfrm>
          <a:prstGeom prst="rect">
            <a:avLst/>
          </a:prstGeom>
        </p:spPr>
      </p:pic>
      <p:pic>
        <p:nvPicPr>
          <p:cNvPr id="7" name="Picture 6">
            <a:extLst>
              <a:ext uri="{FF2B5EF4-FFF2-40B4-BE49-F238E27FC236}">
                <a16:creationId xmlns:a16="http://schemas.microsoft.com/office/drawing/2014/main" id="{6CF3D6D8-8F4B-3621-3339-DD887BF01ABC}"/>
              </a:ext>
            </a:extLst>
          </p:cNvPr>
          <p:cNvPicPr>
            <a:picLocks noChangeAspect="1"/>
          </p:cNvPicPr>
          <p:nvPr/>
        </p:nvPicPr>
        <p:blipFill>
          <a:blip r:embed="rId7"/>
          <a:stretch>
            <a:fillRect/>
          </a:stretch>
        </p:blipFill>
        <p:spPr>
          <a:xfrm>
            <a:off x="7919342" y="2462584"/>
            <a:ext cx="3969584" cy="3193769"/>
          </a:xfrm>
          <a:prstGeom prst="rect">
            <a:avLst/>
          </a:prstGeom>
        </p:spPr>
      </p:pic>
      <p:sp>
        <p:nvSpPr>
          <p:cNvPr id="11" name="TextBox 10">
            <a:extLst>
              <a:ext uri="{FF2B5EF4-FFF2-40B4-BE49-F238E27FC236}">
                <a16:creationId xmlns:a16="http://schemas.microsoft.com/office/drawing/2014/main" id="{E1B1BAD9-6D64-1D07-6055-A006542A2A36}"/>
              </a:ext>
            </a:extLst>
          </p:cNvPr>
          <p:cNvSpPr txBox="1"/>
          <p:nvPr/>
        </p:nvSpPr>
        <p:spPr>
          <a:xfrm>
            <a:off x="7783658" y="1912473"/>
            <a:ext cx="4042657" cy="461665"/>
          </a:xfrm>
          <a:prstGeom prst="rect">
            <a:avLst/>
          </a:prstGeom>
          <a:solidFill>
            <a:schemeClr val="tx2">
              <a:lumMod val="10000"/>
              <a:lumOff val="90000"/>
            </a:schemeClr>
          </a:solidFill>
          <a:ln w="38100">
            <a:solidFill>
              <a:schemeClr val="accent1"/>
            </a:solidFill>
          </a:ln>
        </p:spPr>
        <p:txBody>
          <a:bodyPr wrap="square">
            <a:spAutoFit/>
          </a:bodyPr>
          <a:lstStyle/>
          <a:p>
            <a:r>
              <a:rPr lang="en-US" sz="2400">
                <a:solidFill>
                  <a:srgbClr val="0D0D0D"/>
                </a:solidFill>
                <a:latin typeface="Times New Roman" panose="02020603050405020304" pitchFamily="18" charset="0"/>
                <a:cs typeface="Times New Roman" panose="02020603050405020304" pitchFamily="18" charset="0"/>
              </a:rPr>
              <a:t>2.5x increase compared to 1.6x</a:t>
            </a:r>
          </a:p>
        </p:txBody>
      </p:sp>
      <p:sp>
        <p:nvSpPr>
          <p:cNvPr id="8" name="TextBox 7">
            <a:extLst>
              <a:ext uri="{FF2B5EF4-FFF2-40B4-BE49-F238E27FC236}">
                <a16:creationId xmlns:a16="http://schemas.microsoft.com/office/drawing/2014/main" id="{196F609F-783A-46DB-5878-1CD43D03EBB5}"/>
              </a:ext>
            </a:extLst>
          </p:cNvPr>
          <p:cNvSpPr txBox="1"/>
          <p:nvPr/>
        </p:nvSpPr>
        <p:spPr>
          <a:xfrm>
            <a:off x="8011946" y="5758035"/>
            <a:ext cx="4391690" cy="707886"/>
          </a:xfrm>
          <a:prstGeom prst="rect">
            <a:avLst/>
          </a:prstGeom>
          <a:noFill/>
        </p:spPr>
        <p:txBody>
          <a:bodyPr wrap="square" rtlCol="0">
            <a:spAutoFit/>
          </a:bodyPr>
          <a:lstStyle/>
          <a:p>
            <a:pPr algn="ctr"/>
            <a:r>
              <a:rPr lang="en-US" sz="2000" i="1">
                <a:latin typeface="Times New Roman" panose="02020603050405020304" pitchFamily="18" charset="0"/>
                <a:cs typeface="Times New Roman" panose="02020603050405020304" pitchFamily="18" charset="0"/>
              </a:rPr>
              <a:t>c) Enhanced diffusion with urea concentration</a:t>
            </a:r>
            <a:endParaRPr lang="en-IN" sz="2000" i="1">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182DDA8-328C-3CEA-A6B3-BC024D9AE56C}"/>
              </a:ext>
            </a:extLst>
          </p:cNvPr>
          <p:cNvSpPr txBox="1"/>
          <p:nvPr/>
        </p:nvSpPr>
        <p:spPr>
          <a:xfrm>
            <a:off x="538934" y="3903991"/>
            <a:ext cx="2735344" cy="707886"/>
          </a:xfrm>
          <a:prstGeom prst="rect">
            <a:avLst/>
          </a:prstGeom>
          <a:noFill/>
        </p:spPr>
        <p:txBody>
          <a:bodyPr wrap="square" rtlCol="0">
            <a:spAutoFit/>
          </a:bodyPr>
          <a:lstStyle/>
          <a:p>
            <a:pPr algn="ctr"/>
            <a:r>
              <a:rPr lang="en-US" sz="2000" i="1">
                <a:latin typeface="Times New Roman" panose="02020603050405020304" pitchFamily="18" charset="0"/>
                <a:cs typeface="Times New Roman" panose="02020603050405020304" pitchFamily="18" charset="0"/>
              </a:rPr>
              <a:t>a) Trajectory of a single enzyme</a:t>
            </a:r>
            <a:endParaRPr lang="en-IN" sz="2000" i="1">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CBAB2C6B-635C-025C-81BC-521E6AF8A165}"/>
              </a:ext>
            </a:extLst>
          </p:cNvPr>
          <p:cNvPicPr>
            <a:picLocks noChangeAspect="1"/>
          </p:cNvPicPr>
          <p:nvPr/>
        </p:nvPicPr>
        <p:blipFill>
          <a:blip r:embed="rId8"/>
          <a:stretch>
            <a:fillRect/>
          </a:stretch>
        </p:blipFill>
        <p:spPr>
          <a:xfrm>
            <a:off x="921661" y="1553464"/>
            <a:ext cx="2570083" cy="2356799"/>
          </a:xfrm>
          <a:prstGeom prst="rect">
            <a:avLst/>
          </a:prstGeom>
        </p:spPr>
      </p:pic>
      <p:sp>
        <p:nvSpPr>
          <p:cNvPr id="21" name="TextBox 20">
            <a:extLst>
              <a:ext uri="{FF2B5EF4-FFF2-40B4-BE49-F238E27FC236}">
                <a16:creationId xmlns:a16="http://schemas.microsoft.com/office/drawing/2014/main" id="{0009F4FD-FF22-DDBE-18EF-9C7F96D73755}"/>
              </a:ext>
            </a:extLst>
          </p:cNvPr>
          <p:cNvSpPr txBox="1"/>
          <p:nvPr/>
        </p:nvSpPr>
        <p:spPr>
          <a:xfrm>
            <a:off x="402829" y="5691630"/>
            <a:ext cx="7480584" cy="584775"/>
          </a:xfrm>
          <a:prstGeom prst="rect">
            <a:avLst/>
          </a:prstGeom>
          <a:noFill/>
          <a:ln>
            <a:solidFill>
              <a:schemeClr val="bg1">
                <a:lumMod val="75000"/>
              </a:schemeClr>
            </a:solidFill>
            <a:prstDash val="lgDash"/>
          </a:ln>
        </p:spPr>
        <p:txBody>
          <a:bodyPr wrap="square" rtlCol="0">
            <a:spAutoFit/>
          </a:bodyPr>
          <a:lstStyle/>
          <a:p>
            <a:r>
              <a:rPr lang="en-US" sz="2400">
                <a:latin typeface="Times New Roman" panose="02020603050405020304" pitchFamily="18" charset="0"/>
                <a:cs typeface="Times New Roman" panose="02020603050405020304" pitchFamily="18" charset="0"/>
              </a:rPr>
              <a:t>I. Diffusion is enhanced </a:t>
            </a:r>
            <a:r>
              <a:rPr lang="en-IN" sz="3200" b="1" i="0">
                <a:solidFill>
                  <a:srgbClr val="005E00"/>
                </a:solidFill>
                <a:effectLst/>
                <a:highlight>
                  <a:srgbClr val="FFFFFF"/>
                </a:highlight>
                <a:latin typeface="Google Sans"/>
              </a:rPr>
              <a:t>✔</a:t>
            </a:r>
            <a:endParaRPr lang="en-US" sz="3200" b="1">
              <a:solidFill>
                <a:srgbClr val="005E00"/>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5C9C350B-4DE1-4A5E-CB24-86F3EB1A2CBE}"/>
              </a:ext>
            </a:extLst>
          </p:cNvPr>
          <p:cNvSpPr txBox="1"/>
          <p:nvPr/>
        </p:nvSpPr>
        <p:spPr>
          <a:xfrm>
            <a:off x="4135031" y="5669574"/>
            <a:ext cx="6201294" cy="58477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II. Does enzyme dissociate </a:t>
            </a:r>
            <a:r>
              <a:rPr lang="en-US" sz="3200" b="1">
                <a:solidFill>
                  <a:srgbClr val="C00000"/>
                </a:solidFill>
                <a:latin typeface="Times New Roman" panose="02020603050405020304" pitchFamily="18" charset="0"/>
                <a:cs typeface="Times New Roman" panose="02020603050405020304" pitchFamily="18" charset="0"/>
              </a:rPr>
              <a:t>?</a:t>
            </a:r>
            <a:r>
              <a:rPr lang="en-US" sz="1800" b="1">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99817249"/>
      </p:ext>
    </p:extLst>
  </p:cSld>
  <p:clrMapOvr>
    <a:masterClrMapping/>
  </p:clrMapOvr>
  <mc:AlternateContent xmlns:mc="http://schemas.openxmlformats.org/markup-compatibility/2006" xmlns:p14="http://schemas.microsoft.com/office/powerpoint/2010/main">
    <mc:Choice Requires="p14">
      <p:transition spd="slow" p14:dur="2000" advTm="64567"/>
    </mc:Choice>
    <mc:Fallback xmlns="">
      <p:transition spd="slow" advTm="6456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0C0E8F-1B14-B06F-0C2D-39DEE62D515D}"/>
              </a:ext>
            </a:extLst>
          </p:cNvPr>
          <p:cNvSpPr txBox="1">
            <a:spLocks/>
          </p:cNvSpPr>
          <p:nvPr/>
        </p:nvSpPr>
        <p:spPr>
          <a:xfrm>
            <a:off x="3335027" y="236097"/>
            <a:ext cx="8330732" cy="86007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IN" sz="3600" b="1">
                <a:solidFill>
                  <a:srgbClr val="C00000"/>
                </a:solidFill>
                <a:highlight>
                  <a:srgbClr val="FFFFFF"/>
                </a:highlight>
                <a:latin typeface="Times New Roman" panose="02020603050405020304" pitchFamily="18" charset="0"/>
                <a:cs typeface="Times New Roman" panose="02020603050405020304" pitchFamily="18" charset="0"/>
              </a:rPr>
              <a:t>Photobleaching experiments</a:t>
            </a:r>
            <a:endParaRPr lang="en-IN" sz="3600" b="1" i="0">
              <a:solidFill>
                <a:srgbClr val="C00000"/>
              </a:solidFill>
              <a:effectLst/>
              <a:highlight>
                <a:srgbClr val="FFFFFF"/>
              </a:highlight>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5BB8998-6B19-CAE7-72DC-948222CB3893}"/>
              </a:ext>
            </a:extLst>
          </p:cNvPr>
          <p:cNvSpPr txBox="1"/>
          <p:nvPr/>
        </p:nvSpPr>
        <p:spPr>
          <a:xfrm>
            <a:off x="1103344" y="600786"/>
            <a:ext cx="10042471" cy="1133965"/>
          </a:xfrm>
          <a:prstGeom prst="rect">
            <a:avLst/>
          </a:prstGeom>
          <a:noFill/>
        </p:spPr>
        <p:txBody>
          <a:bodyPr wrap="square" rtlCol="0">
            <a:spAutoFit/>
          </a:bodyPr>
          <a:lstStyle/>
          <a:p>
            <a:pPr algn="ctr">
              <a:lnSpc>
                <a:spcPct val="150000"/>
              </a:lnSpc>
            </a:pPr>
            <a:r>
              <a:rPr lang="en-US" sz="2400">
                <a:latin typeface="Times New Roman" panose="02020603050405020304" pitchFamily="18" charset="0"/>
                <a:cs typeface="Times New Roman" panose="02020603050405020304" pitchFamily="18" charset="0"/>
              </a:rPr>
              <a:t>To reveal the number of urease monomers.</a:t>
            </a:r>
          </a:p>
          <a:p>
            <a:pPr algn="ctr">
              <a:lnSpc>
                <a:spcPct val="150000"/>
              </a:lnSpc>
            </a:pPr>
            <a:endParaRPr lang="en-IN" sz="240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137B224B-CD15-9BCF-EDF9-FDC8AED089DE}"/>
              </a:ext>
            </a:extLst>
          </p:cNvPr>
          <p:cNvSpPr txBox="1"/>
          <p:nvPr/>
        </p:nvSpPr>
        <p:spPr>
          <a:xfrm>
            <a:off x="180246" y="6535323"/>
            <a:ext cx="11284169" cy="276999"/>
          </a:xfrm>
          <a:prstGeom prst="rect">
            <a:avLst/>
          </a:prstGeom>
          <a:noFill/>
        </p:spPr>
        <p:txBody>
          <a:bodyPr wrap="square">
            <a:spAutoFit/>
          </a:bodyPr>
          <a:lstStyle/>
          <a:p>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Xu, M., Ross, J. L., Valdez, L., &amp; Sen, A. (2019). Direct single molecule imaging of enhanced enzyme diffusion. </a:t>
            </a:r>
            <a:r>
              <a:rPr lang="en-IN" sz="1200" b="0" i="1">
                <a:solidFill>
                  <a:srgbClr val="222222"/>
                </a:solidFill>
                <a:effectLst/>
                <a:highlight>
                  <a:srgbClr val="FFFFFF"/>
                </a:highlight>
                <a:latin typeface="Times New Roman" panose="02020603050405020304" pitchFamily="18" charset="0"/>
                <a:cs typeface="Times New Roman" panose="02020603050405020304" pitchFamily="18" charset="0"/>
              </a:rPr>
              <a:t>Physical review letters</a:t>
            </a:r>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IN" sz="1200" b="0" i="1">
                <a:solidFill>
                  <a:srgbClr val="222222"/>
                </a:solidFill>
                <a:effectLst/>
                <a:highlight>
                  <a:srgbClr val="FFFFFF"/>
                </a:highlight>
                <a:latin typeface="Times New Roman" panose="02020603050405020304" pitchFamily="18" charset="0"/>
                <a:cs typeface="Times New Roman" panose="02020603050405020304" pitchFamily="18" charset="0"/>
              </a:rPr>
              <a:t>123</a:t>
            </a:r>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(12), 128101.</a:t>
            </a:r>
            <a:endParaRPr lang="en-IN" sz="1200">
              <a:latin typeface="Times New Roman" panose="02020603050405020304" pitchFamily="18" charset="0"/>
              <a:cs typeface="Times New Roman" panose="02020603050405020304" pitchFamily="18" charset="0"/>
            </a:endParaRPr>
          </a:p>
        </p:txBody>
      </p:sp>
      <p:sp>
        <p:nvSpPr>
          <p:cNvPr id="32" name="Rectangle 31">
            <a:extLst>
              <a:ext uri="{FF2B5EF4-FFF2-40B4-BE49-F238E27FC236}">
                <a16:creationId xmlns:a16="http://schemas.microsoft.com/office/drawing/2014/main" id="{B40E981F-12C2-F6A0-89F3-42451CD11B9E}"/>
              </a:ext>
            </a:extLst>
          </p:cNvPr>
          <p:cNvSpPr/>
          <p:nvPr/>
        </p:nvSpPr>
        <p:spPr>
          <a:xfrm>
            <a:off x="167390" y="59233"/>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EC4F6C7A-933B-D106-231D-CC876FFE6B77}"/>
              </a:ext>
            </a:extLst>
          </p:cNvPr>
          <p:cNvSpPr txBox="1"/>
          <p:nvPr/>
        </p:nvSpPr>
        <p:spPr>
          <a:xfrm>
            <a:off x="5433984" y="5820291"/>
            <a:ext cx="2596092" cy="400110"/>
          </a:xfrm>
          <a:prstGeom prst="rect">
            <a:avLst/>
          </a:prstGeom>
          <a:noFill/>
        </p:spPr>
        <p:txBody>
          <a:bodyPr wrap="square" rtlCol="0">
            <a:spAutoFit/>
          </a:bodyPr>
          <a:lstStyle/>
          <a:p>
            <a:r>
              <a:rPr lang="en-US" sz="2000" i="1">
                <a:latin typeface="Times New Roman" panose="02020603050405020304" pitchFamily="18" charset="0"/>
                <a:cs typeface="Times New Roman" panose="02020603050405020304" pitchFamily="18" charset="0"/>
              </a:rPr>
              <a:t>a) Intensity traces</a:t>
            </a:r>
            <a:endParaRPr lang="en-IN" sz="2000" i="1">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C2B2254-30B5-30F9-130C-85B16ECB4197}"/>
              </a:ext>
            </a:extLst>
          </p:cNvPr>
          <p:cNvSpPr txBox="1"/>
          <p:nvPr/>
        </p:nvSpPr>
        <p:spPr>
          <a:xfrm>
            <a:off x="8222399" y="5786044"/>
            <a:ext cx="3831840" cy="735723"/>
          </a:xfrm>
          <a:prstGeom prst="rect">
            <a:avLst/>
          </a:prstGeom>
          <a:noFill/>
        </p:spPr>
        <p:txBody>
          <a:bodyPr wrap="square" rtlCol="0">
            <a:spAutoFit/>
          </a:bodyPr>
          <a:lstStyle/>
          <a:p>
            <a:pPr algn="ctr"/>
            <a:r>
              <a:rPr lang="en-US" sz="2000" i="1">
                <a:latin typeface="Times New Roman" panose="02020603050405020304" pitchFamily="18" charset="0"/>
                <a:cs typeface="Times New Roman" panose="02020603050405020304" pitchFamily="18" charset="0"/>
              </a:rPr>
              <a:t>b) Distribution of Photobleaching steps</a:t>
            </a:r>
            <a:endParaRPr lang="en-IN" sz="2000" i="1">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CB57159-4213-CE7D-A455-57A82E5E1D03}"/>
              </a:ext>
            </a:extLst>
          </p:cNvPr>
          <p:cNvSpPr txBox="1"/>
          <p:nvPr/>
        </p:nvSpPr>
        <p:spPr>
          <a:xfrm>
            <a:off x="330082" y="5341504"/>
            <a:ext cx="3974099" cy="830997"/>
          </a:xfrm>
          <a:prstGeom prst="rect">
            <a:avLst/>
          </a:prstGeom>
          <a:solidFill>
            <a:schemeClr val="tx2">
              <a:lumMod val="10000"/>
              <a:lumOff val="90000"/>
            </a:schemeClr>
          </a:solidFill>
          <a:ln w="38100">
            <a:solidFill>
              <a:schemeClr val="accent1"/>
            </a:solidFill>
          </a:ln>
        </p:spPr>
        <p:txBody>
          <a:bodyPr wrap="square">
            <a:spAutoFit/>
          </a:bodyPr>
          <a:lstStyle/>
          <a:p>
            <a:r>
              <a:rPr lang="en-US" sz="2400">
                <a:solidFill>
                  <a:srgbClr val="0D0D0D"/>
                </a:solidFill>
                <a:latin typeface="Times New Roman" panose="02020603050405020304" pitchFamily="18" charset="0"/>
                <a:cs typeface="Times New Roman" panose="02020603050405020304" pitchFamily="18" charset="0"/>
              </a:rPr>
              <a:t>Enhanced diffusion NOT due to dissociation.</a:t>
            </a:r>
            <a:endParaRPr lang="en-US" sz="2400" strike="sngStrike">
              <a:solidFill>
                <a:srgbClr val="0D0D0D"/>
              </a:solidFill>
              <a:latin typeface="Times New Roman" panose="02020603050405020304" pitchFamily="18" charset="0"/>
              <a:cs typeface="Times New Roman" panose="02020603050405020304" pitchFamily="18" charset="0"/>
            </a:endParaRPr>
          </a:p>
        </p:txBody>
      </p:sp>
      <p:sp>
        <p:nvSpPr>
          <p:cNvPr id="19" name="Slide Number Placeholder 18">
            <a:extLst>
              <a:ext uri="{FF2B5EF4-FFF2-40B4-BE49-F238E27FC236}">
                <a16:creationId xmlns:a16="http://schemas.microsoft.com/office/drawing/2014/main" id="{E9C484FD-14DC-50E7-0C10-73F8A1BA1929}"/>
              </a:ext>
            </a:extLst>
          </p:cNvPr>
          <p:cNvSpPr>
            <a:spLocks noGrp="1"/>
          </p:cNvSpPr>
          <p:nvPr>
            <p:ph type="sldNum" sz="quarter" idx="12"/>
          </p:nvPr>
        </p:nvSpPr>
        <p:spPr>
          <a:xfrm>
            <a:off x="9109081" y="6447197"/>
            <a:ext cx="2743200" cy="365125"/>
          </a:xfrm>
        </p:spPr>
        <p:txBody>
          <a:bodyPr/>
          <a:lstStyle/>
          <a:p>
            <a:fld id="{6DA720D1-8748-4EBF-A048-37349D77FEC8}" type="slidenum">
              <a:rPr lang="en-IN" smtClean="0"/>
              <a:t>9</a:t>
            </a:fld>
            <a:endParaRPr lang="en-IN"/>
          </a:p>
        </p:txBody>
      </p:sp>
      <p:pic>
        <p:nvPicPr>
          <p:cNvPr id="8" name="Picture 7">
            <a:extLst>
              <a:ext uri="{FF2B5EF4-FFF2-40B4-BE49-F238E27FC236}">
                <a16:creationId xmlns:a16="http://schemas.microsoft.com/office/drawing/2014/main" id="{AFC8E14C-CDD7-2484-9C7B-7BEA7D5D8C22}"/>
              </a:ext>
            </a:extLst>
          </p:cNvPr>
          <p:cNvPicPr>
            <a:picLocks noChangeAspect="1"/>
          </p:cNvPicPr>
          <p:nvPr/>
        </p:nvPicPr>
        <p:blipFill>
          <a:blip r:embed="rId2"/>
          <a:stretch>
            <a:fillRect/>
          </a:stretch>
        </p:blipFill>
        <p:spPr>
          <a:xfrm>
            <a:off x="4466875" y="2025689"/>
            <a:ext cx="3400508" cy="3808850"/>
          </a:xfrm>
          <a:prstGeom prst="rect">
            <a:avLst/>
          </a:prstGeom>
        </p:spPr>
      </p:pic>
      <p:pic>
        <p:nvPicPr>
          <p:cNvPr id="12" name="Picture 11">
            <a:extLst>
              <a:ext uri="{FF2B5EF4-FFF2-40B4-BE49-F238E27FC236}">
                <a16:creationId xmlns:a16="http://schemas.microsoft.com/office/drawing/2014/main" id="{66CF3FA7-D846-F512-A67E-E2F3F960371F}"/>
              </a:ext>
            </a:extLst>
          </p:cNvPr>
          <p:cNvPicPr>
            <a:picLocks noChangeAspect="1"/>
          </p:cNvPicPr>
          <p:nvPr/>
        </p:nvPicPr>
        <p:blipFill>
          <a:blip r:embed="rId3"/>
          <a:stretch>
            <a:fillRect/>
          </a:stretch>
        </p:blipFill>
        <p:spPr>
          <a:xfrm>
            <a:off x="8020440" y="2049673"/>
            <a:ext cx="3831841" cy="3693257"/>
          </a:xfrm>
          <a:prstGeom prst="rect">
            <a:avLst/>
          </a:prstGeom>
        </p:spPr>
      </p:pic>
      <p:sp>
        <p:nvSpPr>
          <p:cNvPr id="2" name="TextBox 1">
            <a:extLst>
              <a:ext uri="{FF2B5EF4-FFF2-40B4-BE49-F238E27FC236}">
                <a16:creationId xmlns:a16="http://schemas.microsoft.com/office/drawing/2014/main" id="{76D1303E-3D49-EA03-74AF-F4C10D8E4618}"/>
              </a:ext>
            </a:extLst>
          </p:cNvPr>
          <p:cNvSpPr txBox="1"/>
          <p:nvPr/>
        </p:nvSpPr>
        <p:spPr>
          <a:xfrm>
            <a:off x="1753865" y="1332842"/>
            <a:ext cx="8638316" cy="471933"/>
          </a:xfrm>
          <a:prstGeom prst="rect">
            <a:avLst/>
          </a:prstGeom>
          <a:noFill/>
        </p:spPr>
        <p:txBody>
          <a:bodyPr wrap="square" rtlCol="0">
            <a:spAutoFit/>
          </a:bodyPr>
          <a:lstStyle/>
          <a:p>
            <a:r>
              <a:rPr lang="en-US" sz="2400">
                <a:latin typeface="Times New Roman" panose="02020603050405020304" pitchFamily="18" charset="0"/>
                <a:cs typeface="Times New Roman" panose="02020603050405020304" pitchFamily="18" charset="0"/>
              </a:rPr>
              <a:t>Urease: </a:t>
            </a:r>
            <a:r>
              <a:rPr lang="en-US" sz="2400">
                <a:latin typeface="Times New Roman" panose="02020603050405020304" pitchFamily="18" charset="0"/>
                <a:cs typeface="Times New Roman" panose="02020603050405020304" pitchFamily="18" charset="0"/>
                <a:sym typeface="Wingdings" panose="05000000000000000000" pitchFamily="2" charset="2"/>
              </a:rPr>
              <a:t>Hexamer  Maximum number of photobleaching steps: 6</a:t>
            </a:r>
            <a:endParaRPr lang="en-I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E3F6F35-6D60-29F7-43FA-21FDDE59AED6}"/>
              </a:ext>
            </a:extLst>
          </p:cNvPr>
          <p:cNvSpPr txBox="1"/>
          <p:nvPr/>
        </p:nvSpPr>
        <p:spPr>
          <a:xfrm>
            <a:off x="330082" y="2264420"/>
            <a:ext cx="3974099" cy="2677656"/>
          </a:xfrm>
          <a:prstGeom prst="rect">
            <a:avLst/>
          </a:prstGeom>
          <a:noFill/>
          <a:ln w="38100">
            <a:solidFill>
              <a:schemeClr val="bg1">
                <a:lumMod val="75000"/>
              </a:schemeClr>
            </a:solidFill>
            <a:prstDash val="dash"/>
          </a:ln>
        </p:spPr>
        <p:txBody>
          <a:bodyPr wrap="square">
            <a:spAutoFit/>
          </a:bodyPr>
          <a:lstStyle/>
          <a:p>
            <a:pPr marL="514350" indent="-514350">
              <a:buAutoNum type="romanLcParenR"/>
            </a:pPr>
            <a:r>
              <a:rPr lang="en-US" sz="2400">
                <a:latin typeface="Times New Roman" panose="02020603050405020304" pitchFamily="18" charset="0"/>
                <a:cs typeface="Times New Roman" panose="02020603050405020304" pitchFamily="18" charset="0"/>
                <a:sym typeface="Wingdings" panose="05000000000000000000" pitchFamily="2" charset="2"/>
              </a:rPr>
              <a:t>Each monomer labeled with one fluorophore.</a:t>
            </a:r>
          </a:p>
          <a:p>
            <a:pPr marL="514350" indent="-514350">
              <a:buAutoNum type="romanLcParenR"/>
            </a:pPr>
            <a:r>
              <a:rPr lang="en-US" sz="2400" u="sng">
                <a:latin typeface="Times New Roman" panose="02020603050405020304" pitchFamily="18" charset="0"/>
                <a:cs typeface="Times New Roman" panose="02020603050405020304" pitchFamily="18" charset="0"/>
                <a:sym typeface="Wingdings" panose="05000000000000000000" pitchFamily="2" charset="2"/>
              </a:rPr>
              <a:t>Fluorescence intensity</a:t>
            </a:r>
            <a:r>
              <a:rPr lang="en-US" sz="2400">
                <a:latin typeface="Times New Roman" panose="02020603050405020304" pitchFamily="18" charset="0"/>
                <a:cs typeface="Times New Roman" panose="02020603050405020304" pitchFamily="18" charset="0"/>
                <a:sym typeface="Wingdings" panose="05000000000000000000" pitchFamily="2" charset="2"/>
              </a:rPr>
              <a:t> decrease:  Photobleaching</a:t>
            </a:r>
          </a:p>
          <a:p>
            <a:pPr marL="514350" indent="-514350">
              <a:buFontTx/>
              <a:buAutoNum type="romanLcParenR"/>
            </a:pPr>
            <a:r>
              <a:rPr lang="en-US" sz="2400">
                <a:latin typeface="Times New Roman" panose="02020603050405020304" pitchFamily="18" charset="0"/>
                <a:cs typeface="Times New Roman" panose="02020603050405020304" pitchFamily="18" charset="0"/>
                <a:sym typeface="Wingdings" panose="05000000000000000000" pitchFamily="2" charset="2"/>
              </a:rPr>
              <a:t>No difference in distribution with and without substrate</a:t>
            </a:r>
          </a:p>
        </p:txBody>
      </p:sp>
      <p:cxnSp>
        <p:nvCxnSpPr>
          <p:cNvPr id="21" name="Connector: Curved 20">
            <a:extLst>
              <a:ext uri="{FF2B5EF4-FFF2-40B4-BE49-F238E27FC236}">
                <a16:creationId xmlns:a16="http://schemas.microsoft.com/office/drawing/2014/main" id="{4D7DD717-D1D7-5F5C-338B-16FE08AD5514}"/>
              </a:ext>
            </a:extLst>
          </p:cNvPr>
          <p:cNvCxnSpPr>
            <a:cxnSpLocks/>
          </p:cNvCxnSpPr>
          <p:nvPr/>
        </p:nvCxnSpPr>
        <p:spPr>
          <a:xfrm>
            <a:off x="3707476" y="3301358"/>
            <a:ext cx="759397" cy="96664"/>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pic>
        <p:nvPicPr>
          <p:cNvPr id="41" name="Picture 40">
            <a:extLst>
              <a:ext uri="{FF2B5EF4-FFF2-40B4-BE49-F238E27FC236}">
                <a16:creationId xmlns:a16="http://schemas.microsoft.com/office/drawing/2014/main" id="{22EF92C0-11C5-177B-48DC-E965E2B5E3E9}"/>
              </a:ext>
            </a:extLst>
          </p:cNvPr>
          <p:cNvPicPr>
            <a:picLocks noChangeAspect="1"/>
          </p:cNvPicPr>
          <p:nvPr/>
        </p:nvPicPr>
        <p:blipFill>
          <a:blip r:embed="rId4"/>
          <a:stretch>
            <a:fillRect/>
          </a:stretch>
        </p:blipFill>
        <p:spPr>
          <a:xfrm>
            <a:off x="8780339" y="3983814"/>
            <a:ext cx="328742" cy="467160"/>
          </a:xfrm>
          <a:prstGeom prst="rect">
            <a:avLst/>
          </a:prstGeom>
        </p:spPr>
      </p:pic>
      <p:pic>
        <p:nvPicPr>
          <p:cNvPr id="44" name="Picture 43">
            <a:extLst>
              <a:ext uri="{FF2B5EF4-FFF2-40B4-BE49-F238E27FC236}">
                <a16:creationId xmlns:a16="http://schemas.microsoft.com/office/drawing/2014/main" id="{6962C7C6-6F96-E270-8AA8-6FB17D9C40C9}"/>
              </a:ext>
            </a:extLst>
          </p:cNvPr>
          <p:cNvPicPr>
            <a:picLocks noChangeAspect="1"/>
          </p:cNvPicPr>
          <p:nvPr/>
        </p:nvPicPr>
        <p:blipFill>
          <a:blip r:embed="rId5"/>
          <a:stretch>
            <a:fillRect/>
          </a:stretch>
        </p:blipFill>
        <p:spPr>
          <a:xfrm>
            <a:off x="10793738" y="4552218"/>
            <a:ext cx="328742" cy="326174"/>
          </a:xfrm>
          <a:prstGeom prst="rect">
            <a:avLst/>
          </a:prstGeom>
        </p:spPr>
      </p:pic>
      <p:pic>
        <p:nvPicPr>
          <p:cNvPr id="45" name="Picture 44">
            <a:extLst>
              <a:ext uri="{FF2B5EF4-FFF2-40B4-BE49-F238E27FC236}">
                <a16:creationId xmlns:a16="http://schemas.microsoft.com/office/drawing/2014/main" id="{63F81A35-848F-9BF3-A131-6FCCEF6BC167}"/>
              </a:ext>
            </a:extLst>
          </p:cNvPr>
          <p:cNvPicPr>
            <a:picLocks noChangeAspect="1"/>
          </p:cNvPicPr>
          <p:nvPr/>
        </p:nvPicPr>
        <p:blipFill rotWithShape="1">
          <a:blip r:embed="rId5"/>
          <a:srcRect b="46724"/>
          <a:stretch/>
        </p:blipFill>
        <p:spPr>
          <a:xfrm>
            <a:off x="10793738" y="4937476"/>
            <a:ext cx="328742" cy="173774"/>
          </a:xfrm>
          <a:prstGeom prst="rect">
            <a:avLst/>
          </a:prstGeom>
        </p:spPr>
      </p:pic>
    </p:spTree>
    <p:extLst>
      <p:ext uri="{BB962C8B-B14F-4D97-AF65-F5344CB8AC3E}">
        <p14:creationId xmlns:p14="http://schemas.microsoft.com/office/powerpoint/2010/main" val="716004956"/>
      </p:ext>
    </p:extLst>
  </p:cSld>
  <p:clrMapOvr>
    <a:masterClrMapping/>
  </p:clrMapOvr>
  <mc:AlternateContent xmlns:mc="http://schemas.openxmlformats.org/markup-compatibility/2006" xmlns:p14="http://schemas.microsoft.com/office/powerpoint/2010/main">
    <mc:Choice Requires="p14">
      <p:transition spd="slow" p14:dur="2000" advTm="100157"/>
    </mc:Choice>
    <mc:Fallback xmlns="">
      <p:transition spd="slow" advTm="10015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1D0842E-9721-4FC1-3930-EA4A16059F50}"/>
              </a:ext>
            </a:extLst>
          </p:cNvPr>
          <p:cNvSpPr txBox="1">
            <a:spLocks/>
          </p:cNvSpPr>
          <p:nvPr/>
        </p:nvSpPr>
        <p:spPr>
          <a:xfrm>
            <a:off x="314794" y="511416"/>
            <a:ext cx="11522439" cy="103725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a:solidFill>
                  <a:srgbClr val="C00000"/>
                </a:solidFill>
                <a:highlight>
                  <a:srgbClr val="FFFFFF"/>
                </a:highlight>
                <a:latin typeface="Times New Roman" panose="02020603050405020304" pitchFamily="18" charset="0"/>
                <a:cs typeface="Times New Roman" panose="02020603050405020304" pitchFamily="18" charset="0"/>
              </a:rPr>
              <a:t>PAPER #2 - C</a:t>
            </a:r>
            <a:r>
              <a:rPr lang="en-IN" sz="3600" b="1">
                <a:solidFill>
                  <a:srgbClr val="C00000"/>
                </a:solidFill>
                <a:highlight>
                  <a:srgbClr val="FFFFFF"/>
                </a:highlight>
                <a:latin typeface="Times New Roman" panose="02020603050405020304" pitchFamily="18" charset="0"/>
                <a:cs typeface="Times New Roman" panose="02020603050405020304" pitchFamily="18" charset="0"/>
              </a:rPr>
              <a:t>ONCLUSION</a:t>
            </a:r>
            <a:endParaRPr lang="en-IN" sz="3600" b="1" i="0">
              <a:solidFill>
                <a:srgbClr val="C00000"/>
              </a:solidFill>
              <a:effectLst/>
              <a:highlight>
                <a:srgbClr val="FFFFFF"/>
              </a:highligh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4447BF0-A803-D32F-521C-B2FAFB2CA463}"/>
              </a:ext>
            </a:extLst>
          </p:cNvPr>
          <p:cNvSpPr txBox="1"/>
          <p:nvPr/>
        </p:nvSpPr>
        <p:spPr>
          <a:xfrm>
            <a:off x="180246" y="6535323"/>
            <a:ext cx="11284169" cy="276999"/>
          </a:xfrm>
          <a:prstGeom prst="rect">
            <a:avLst/>
          </a:prstGeom>
          <a:noFill/>
        </p:spPr>
        <p:txBody>
          <a:bodyPr wrap="square">
            <a:spAutoFit/>
          </a:bodyPr>
          <a:lstStyle/>
          <a:p>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Xu, M., Ross, J. L., Valdez, L., &amp; Sen, A. (2019). Direct single molecule imaging of enhanced enzyme diffusion. </a:t>
            </a:r>
            <a:r>
              <a:rPr lang="en-IN" sz="1200" b="0" i="1">
                <a:solidFill>
                  <a:srgbClr val="222222"/>
                </a:solidFill>
                <a:effectLst/>
                <a:highlight>
                  <a:srgbClr val="FFFFFF"/>
                </a:highlight>
                <a:latin typeface="Times New Roman" panose="02020603050405020304" pitchFamily="18" charset="0"/>
                <a:cs typeface="Times New Roman" panose="02020603050405020304" pitchFamily="18" charset="0"/>
              </a:rPr>
              <a:t>Physical review letters</a:t>
            </a:r>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IN" sz="1200" b="0" i="1">
                <a:solidFill>
                  <a:srgbClr val="222222"/>
                </a:solidFill>
                <a:effectLst/>
                <a:highlight>
                  <a:srgbClr val="FFFFFF"/>
                </a:highlight>
                <a:latin typeface="Times New Roman" panose="02020603050405020304" pitchFamily="18" charset="0"/>
                <a:cs typeface="Times New Roman" panose="02020603050405020304" pitchFamily="18" charset="0"/>
              </a:rPr>
              <a:t>123</a:t>
            </a:r>
            <a:r>
              <a:rPr lang="en-IN" sz="1200" b="0" i="0">
                <a:solidFill>
                  <a:srgbClr val="222222"/>
                </a:solidFill>
                <a:effectLst/>
                <a:highlight>
                  <a:srgbClr val="FFFFFF"/>
                </a:highlight>
                <a:latin typeface="Times New Roman" panose="02020603050405020304" pitchFamily="18" charset="0"/>
                <a:cs typeface="Times New Roman" panose="02020603050405020304" pitchFamily="18" charset="0"/>
              </a:rPr>
              <a:t>(12), 128101.</a:t>
            </a:r>
            <a:endParaRPr lang="en-IN" sz="120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33F4A7E5-B6A0-FF23-385D-C63F55AA45DA}"/>
              </a:ext>
            </a:extLst>
          </p:cNvPr>
          <p:cNvSpPr/>
          <p:nvPr/>
        </p:nvSpPr>
        <p:spPr>
          <a:xfrm>
            <a:off x="167390" y="59233"/>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3B3FBB2-8E5E-ED04-40F0-4D8E73091F9B}"/>
              </a:ext>
            </a:extLst>
          </p:cNvPr>
          <p:cNvSpPr txBox="1"/>
          <p:nvPr/>
        </p:nvSpPr>
        <p:spPr>
          <a:xfrm>
            <a:off x="2946790" y="4859581"/>
            <a:ext cx="6601753" cy="461665"/>
          </a:xfrm>
          <a:prstGeom prst="rect">
            <a:avLst/>
          </a:prstGeom>
          <a:noFill/>
          <a:ln w="38100">
            <a:solidFill>
              <a:srgbClr val="C00000"/>
            </a:solidFill>
          </a:ln>
        </p:spPr>
        <p:txBody>
          <a:bodyPr wrap="square">
            <a:spAutoFit/>
          </a:bodyPr>
          <a:lstStyle/>
          <a:p>
            <a:pPr algn="ctr"/>
            <a:r>
              <a:rPr lang="en-US" sz="2400">
                <a:solidFill>
                  <a:srgbClr val="0D0D0D"/>
                </a:solidFill>
                <a:latin typeface="Times New Roman" panose="02020603050405020304" pitchFamily="18" charset="0"/>
                <a:cs typeface="Times New Roman" panose="02020603050405020304" pitchFamily="18" charset="0"/>
              </a:rPr>
              <a:t>Needs better s</a:t>
            </a:r>
            <a:r>
              <a:rPr lang="en-US" sz="2400" b="0" i="0">
                <a:solidFill>
                  <a:srgbClr val="0D0D0D"/>
                </a:solidFill>
                <a:effectLst/>
                <a:latin typeface="Times New Roman" panose="02020603050405020304" pitchFamily="18" charset="0"/>
                <a:cs typeface="Times New Roman" panose="02020603050405020304" pitchFamily="18" charset="0"/>
              </a:rPr>
              <a:t>patial and temporal resolution.</a:t>
            </a:r>
          </a:p>
        </p:txBody>
      </p:sp>
      <p:sp>
        <p:nvSpPr>
          <p:cNvPr id="13" name="TextBox 12">
            <a:extLst>
              <a:ext uri="{FF2B5EF4-FFF2-40B4-BE49-F238E27FC236}">
                <a16:creationId xmlns:a16="http://schemas.microsoft.com/office/drawing/2014/main" id="{C7D6774A-CC26-8FFB-96C9-231B559516D2}"/>
              </a:ext>
            </a:extLst>
          </p:cNvPr>
          <p:cNvSpPr txBox="1"/>
          <p:nvPr/>
        </p:nvSpPr>
        <p:spPr>
          <a:xfrm>
            <a:off x="800325" y="3124550"/>
            <a:ext cx="10455682" cy="461665"/>
          </a:xfrm>
          <a:prstGeom prst="rect">
            <a:avLst/>
          </a:prstGeom>
          <a:noFill/>
          <a:ln w="38100">
            <a:solidFill>
              <a:srgbClr val="C00000"/>
            </a:solidFill>
          </a:ln>
        </p:spPr>
        <p:txBody>
          <a:bodyPr wrap="square">
            <a:spAutoFit/>
          </a:bodyPr>
          <a:lstStyle/>
          <a:p>
            <a:pPr algn="ctr"/>
            <a:r>
              <a:rPr lang="en-IN" sz="2400">
                <a:latin typeface="Times New Roman" panose="02020603050405020304" pitchFamily="18" charset="0"/>
                <a:ea typeface="Aptos" panose="020B0004020202020204" pitchFamily="34" charset="0"/>
                <a:cs typeface="Times New Roman" panose="02020603050405020304" pitchFamily="18" charset="0"/>
              </a:rPr>
              <a:t>E</a:t>
            </a:r>
            <a:r>
              <a:rPr lang="en-IN" sz="2400">
                <a:effectLst/>
                <a:latin typeface="Times New Roman" panose="02020603050405020304" pitchFamily="18" charset="0"/>
                <a:ea typeface="Aptos" panose="020B0004020202020204" pitchFamily="34" charset="0"/>
                <a:cs typeface="Times New Roman" panose="02020603050405020304" pitchFamily="18" charset="0"/>
              </a:rPr>
              <a:t>xperimental uncertainty from the 2D projection of the 3D Brownian paths</a:t>
            </a:r>
            <a:r>
              <a:rPr lang="en-US" sz="2400" b="0" i="0">
                <a:solidFill>
                  <a:srgbClr val="0D0D0D"/>
                </a:solidFill>
                <a:effectLst/>
                <a:latin typeface="Times New Roman" panose="02020603050405020304" pitchFamily="18" charset="0"/>
                <a:cs typeface="Times New Roman" panose="02020603050405020304" pitchFamily="18" charset="0"/>
              </a:rPr>
              <a:t>.</a:t>
            </a:r>
          </a:p>
        </p:txBody>
      </p:sp>
      <p:sp>
        <p:nvSpPr>
          <p:cNvPr id="5" name="Slide Number Placeholder 4">
            <a:extLst>
              <a:ext uri="{FF2B5EF4-FFF2-40B4-BE49-F238E27FC236}">
                <a16:creationId xmlns:a16="http://schemas.microsoft.com/office/drawing/2014/main" id="{A2E67790-19D4-7736-C651-87156273DF31}"/>
              </a:ext>
            </a:extLst>
          </p:cNvPr>
          <p:cNvSpPr>
            <a:spLocks noGrp="1"/>
          </p:cNvSpPr>
          <p:nvPr>
            <p:ph type="sldNum" sz="quarter" idx="12"/>
          </p:nvPr>
        </p:nvSpPr>
        <p:spPr>
          <a:xfrm>
            <a:off x="9268519" y="6433642"/>
            <a:ext cx="2743200" cy="365125"/>
          </a:xfrm>
        </p:spPr>
        <p:txBody>
          <a:bodyPr/>
          <a:lstStyle/>
          <a:p>
            <a:fld id="{6DA720D1-8748-4EBF-A048-37349D77FEC8}" type="slidenum">
              <a:rPr lang="en-IN" smtClean="0"/>
              <a:t>10</a:t>
            </a:fld>
            <a:endParaRPr lang="en-IN"/>
          </a:p>
        </p:txBody>
      </p:sp>
      <p:sp>
        <p:nvSpPr>
          <p:cNvPr id="8" name="TextBox 7">
            <a:extLst>
              <a:ext uri="{FF2B5EF4-FFF2-40B4-BE49-F238E27FC236}">
                <a16:creationId xmlns:a16="http://schemas.microsoft.com/office/drawing/2014/main" id="{340DCDDD-513F-4C0D-496B-DFD2DCC5F89B}"/>
              </a:ext>
            </a:extLst>
          </p:cNvPr>
          <p:cNvSpPr txBox="1"/>
          <p:nvPr/>
        </p:nvSpPr>
        <p:spPr>
          <a:xfrm>
            <a:off x="2775644" y="2037205"/>
            <a:ext cx="6093372" cy="927177"/>
          </a:xfrm>
          <a:prstGeom prst="rect">
            <a:avLst/>
          </a:prstGeom>
          <a:noFill/>
        </p:spPr>
        <p:txBody>
          <a:bodyPr wrap="square">
            <a:spAutoFit/>
          </a:bodyPr>
          <a:lstStyle/>
          <a:p>
            <a:pPr algn="ctr">
              <a:lnSpc>
                <a:spcPct val="200000"/>
              </a:lnSpc>
            </a:pPr>
            <a:r>
              <a:rPr lang="en-US" sz="3200" b="1" i="0">
                <a:solidFill>
                  <a:srgbClr val="0D0D0D"/>
                </a:solidFill>
                <a:effectLst/>
                <a:highlight>
                  <a:srgbClr val="FFFFFF"/>
                </a:highlight>
                <a:latin typeface="Times New Roman" panose="02020603050405020304" pitchFamily="18" charset="0"/>
                <a:cs typeface="Times New Roman" panose="02020603050405020304" pitchFamily="18" charset="0"/>
              </a:rPr>
              <a:t>Limitations</a:t>
            </a:r>
            <a:endParaRPr lang="en-US" sz="3200" b="0" i="0">
              <a:solidFill>
                <a:srgbClr val="0D0D0D"/>
              </a:solidFill>
              <a:effectLst/>
              <a:highlight>
                <a:srgbClr val="FFFFFF"/>
              </a:highligh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68522C3-BA74-D876-8567-2CA994A57BA4}"/>
              </a:ext>
            </a:extLst>
          </p:cNvPr>
          <p:cNvSpPr txBox="1"/>
          <p:nvPr/>
        </p:nvSpPr>
        <p:spPr>
          <a:xfrm>
            <a:off x="1848599" y="1260677"/>
            <a:ext cx="8454827" cy="579967"/>
          </a:xfrm>
          <a:prstGeom prst="rect">
            <a:avLst/>
          </a:prstGeom>
          <a:noFill/>
          <a:ln w="38100">
            <a:solidFill>
              <a:schemeClr val="accent1"/>
            </a:solidFill>
          </a:ln>
        </p:spPr>
        <p:txBody>
          <a:bodyPr wrap="square">
            <a:spAutoFit/>
          </a:bodyPr>
          <a:lstStyle/>
          <a:p>
            <a:pPr algn="ctr">
              <a:lnSpc>
                <a:spcPct val="150000"/>
              </a:lnSpc>
            </a:pPr>
            <a:r>
              <a:rPr lang="en-US" sz="2400">
                <a:solidFill>
                  <a:srgbClr val="0D0D0D"/>
                </a:solidFill>
                <a:highlight>
                  <a:srgbClr val="FFFFFF"/>
                </a:highlight>
                <a:latin typeface="Times New Roman" panose="02020603050405020304" pitchFamily="18" charset="0"/>
                <a:cs typeface="Times New Roman" panose="02020603050405020304" pitchFamily="18" charset="0"/>
              </a:rPr>
              <a:t>Addresses the limitations of Fluorescence Correlation spectroscopy</a:t>
            </a:r>
          </a:p>
        </p:txBody>
      </p:sp>
      <p:sp>
        <p:nvSpPr>
          <p:cNvPr id="12" name="TextBox 11">
            <a:extLst>
              <a:ext uri="{FF2B5EF4-FFF2-40B4-BE49-F238E27FC236}">
                <a16:creationId xmlns:a16="http://schemas.microsoft.com/office/drawing/2014/main" id="{96C52685-B08C-9B10-CEE8-FCFA15A236CC}"/>
              </a:ext>
            </a:extLst>
          </p:cNvPr>
          <p:cNvSpPr txBox="1"/>
          <p:nvPr/>
        </p:nvSpPr>
        <p:spPr>
          <a:xfrm>
            <a:off x="5717705" y="4027897"/>
            <a:ext cx="5529817" cy="461665"/>
          </a:xfrm>
          <a:prstGeom prst="rect">
            <a:avLst/>
          </a:prstGeom>
          <a:noFill/>
          <a:ln w="38100">
            <a:solidFill>
              <a:srgbClr val="C00000"/>
            </a:solidFill>
          </a:ln>
        </p:spPr>
        <p:txBody>
          <a:bodyPr wrap="square">
            <a:spAutoFit/>
          </a:bodyPr>
          <a:lstStyle/>
          <a:p>
            <a:pPr algn="ctr"/>
            <a:r>
              <a:rPr lang="en-US" sz="2400" b="0" i="0">
                <a:solidFill>
                  <a:srgbClr val="0D0D0D"/>
                </a:solidFill>
                <a:effectLst/>
                <a:latin typeface="Times New Roman" panose="02020603050405020304" pitchFamily="18" charset="0"/>
                <a:cs typeface="Times New Roman" panose="02020603050405020304" pitchFamily="18" charset="0"/>
              </a:rPr>
              <a:t>Conformational changes cannot be probed.</a:t>
            </a:r>
          </a:p>
        </p:txBody>
      </p:sp>
      <p:sp>
        <p:nvSpPr>
          <p:cNvPr id="18" name="TextBox 17">
            <a:extLst>
              <a:ext uri="{FF2B5EF4-FFF2-40B4-BE49-F238E27FC236}">
                <a16:creationId xmlns:a16="http://schemas.microsoft.com/office/drawing/2014/main" id="{0428ED0F-8F54-27B2-7099-A98310D66071}"/>
              </a:ext>
            </a:extLst>
          </p:cNvPr>
          <p:cNvSpPr txBox="1"/>
          <p:nvPr/>
        </p:nvSpPr>
        <p:spPr>
          <a:xfrm>
            <a:off x="800325" y="4002057"/>
            <a:ext cx="4292930" cy="461666"/>
          </a:xfrm>
          <a:prstGeom prst="rect">
            <a:avLst/>
          </a:prstGeom>
          <a:noFill/>
          <a:ln w="38100">
            <a:solidFill>
              <a:srgbClr val="C00000"/>
            </a:solidFill>
          </a:ln>
        </p:spPr>
        <p:txBody>
          <a:bodyPr wrap="square">
            <a:spAutoFit/>
          </a:bodyPr>
          <a:lstStyle/>
          <a:p>
            <a:pPr algn="ctr"/>
            <a:r>
              <a:rPr lang="en-US" sz="2400" b="0" i="0">
                <a:solidFill>
                  <a:srgbClr val="0D0D0D"/>
                </a:solidFill>
                <a:effectLst/>
                <a:latin typeface="Times New Roman" panose="02020603050405020304" pitchFamily="18" charset="0"/>
                <a:cs typeface="Times New Roman" panose="02020603050405020304" pitchFamily="18" charset="0"/>
              </a:rPr>
              <a:t>Mechanism: STILL UNCLEAR</a:t>
            </a:r>
          </a:p>
        </p:txBody>
      </p:sp>
      <p:cxnSp>
        <p:nvCxnSpPr>
          <p:cNvPr id="20" name="Straight Arrow Connector 19">
            <a:extLst>
              <a:ext uri="{FF2B5EF4-FFF2-40B4-BE49-F238E27FC236}">
                <a16:creationId xmlns:a16="http://schemas.microsoft.com/office/drawing/2014/main" id="{543AFF83-D824-C254-446C-C9875A2115C6}"/>
              </a:ext>
            </a:extLst>
          </p:cNvPr>
          <p:cNvCxnSpPr/>
          <p:nvPr/>
        </p:nvCxnSpPr>
        <p:spPr>
          <a:xfrm>
            <a:off x="4039985" y="4470919"/>
            <a:ext cx="565266" cy="35623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316C90BC-DD37-E845-8A58-FF8470DF23D9}"/>
              </a:ext>
            </a:extLst>
          </p:cNvPr>
          <p:cNvCxnSpPr>
            <a:cxnSpLocks/>
          </p:cNvCxnSpPr>
          <p:nvPr/>
        </p:nvCxnSpPr>
        <p:spPr>
          <a:xfrm flipH="1">
            <a:off x="6603966" y="4503215"/>
            <a:ext cx="755179" cy="356264"/>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33894065"/>
      </p:ext>
    </p:extLst>
  </p:cSld>
  <p:clrMapOvr>
    <a:masterClrMapping/>
  </p:clrMapOvr>
  <mc:AlternateContent xmlns:mc="http://schemas.openxmlformats.org/markup-compatibility/2006" xmlns:p14="http://schemas.microsoft.com/office/powerpoint/2010/main">
    <mc:Choice Requires="p14">
      <p:transition spd="slow" p14:dur="2000" advTm="47188"/>
    </mc:Choice>
    <mc:Fallback xmlns="">
      <p:transition spd="slow" advTm="47188"/>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D239F3-FE11-B39B-1B72-8D50D290785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6369F93-BAE8-F878-8F46-7EEE50EBCCDF}"/>
              </a:ext>
            </a:extLst>
          </p:cNvPr>
          <p:cNvSpPr txBox="1">
            <a:spLocks/>
          </p:cNvSpPr>
          <p:nvPr/>
        </p:nvSpPr>
        <p:spPr>
          <a:xfrm>
            <a:off x="-178159" y="1340407"/>
            <a:ext cx="12370159" cy="323018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200000"/>
              </a:lnSpc>
            </a:pPr>
            <a:r>
              <a:rPr lang="en-US" sz="7200" b="1">
                <a:solidFill>
                  <a:srgbClr val="C00000"/>
                </a:solidFill>
                <a:latin typeface="Times New Roman" panose="02020603050405020304" pitchFamily="18" charset="0"/>
                <a:cs typeface="Times New Roman" panose="02020603050405020304" pitchFamily="18" charset="0"/>
              </a:rPr>
              <a:t>EXTRAS</a:t>
            </a:r>
          </a:p>
        </p:txBody>
      </p:sp>
      <p:sp>
        <p:nvSpPr>
          <p:cNvPr id="6" name="Rectangle 5">
            <a:extLst>
              <a:ext uri="{FF2B5EF4-FFF2-40B4-BE49-F238E27FC236}">
                <a16:creationId xmlns:a16="http://schemas.microsoft.com/office/drawing/2014/main" id="{86010E3F-1504-46E2-E155-B4DC74AAAB6E}"/>
              </a:ext>
            </a:extLst>
          </p:cNvPr>
          <p:cNvSpPr/>
          <p:nvPr/>
        </p:nvSpPr>
        <p:spPr>
          <a:xfrm>
            <a:off x="314794" y="247504"/>
            <a:ext cx="11542426" cy="6280879"/>
          </a:xfrm>
          <a:prstGeom prst="rect">
            <a:avLst/>
          </a:prstGeom>
          <a:no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030" name="Picture 6">
            <a:extLst>
              <a:ext uri="{FF2B5EF4-FFF2-40B4-BE49-F238E27FC236}">
                <a16:creationId xmlns:a16="http://schemas.microsoft.com/office/drawing/2014/main" id="{679DE8CF-2573-95C0-0E6F-E3F177A084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293" y="1892592"/>
            <a:ext cx="4114800" cy="61722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0C963DA-2B3E-5F39-932D-4125599D6AB0}"/>
              </a:ext>
            </a:extLst>
          </p:cNvPr>
          <p:cNvSpPr/>
          <p:nvPr/>
        </p:nvSpPr>
        <p:spPr>
          <a:xfrm>
            <a:off x="167390" y="59233"/>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lide Number Placeholder 1">
            <a:extLst>
              <a:ext uri="{FF2B5EF4-FFF2-40B4-BE49-F238E27FC236}">
                <a16:creationId xmlns:a16="http://schemas.microsoft.com/office/drawing/2014/main" id="{65D1EBA4-9896-8CA0-6B66-A00C7F7BF2DE}"/>
              </a:ext>
            </a:extLst>
          </p:cNvPr>
          <p:cNvSpPr>
            <a:spLocks noGrp="1"/>
          </p:cNvSpPr>
          <p:nvPr>
            <p:ph type="sldNum" sz="quarter" idx="12"/>
          </p:nvPr>
        </p:nvSpPr>
        <p:spPr>
          <a:xfrm>
            <a:off x="9261424" y="6427933"/>
            <a:ext cx="2743200" cy="365125"/>
          </a:xfrm>
        </p:spPr>
        <p:txBody>
          <a:bodyPr/>
          <a:lstStyle/>
          <a:p>
            <a:fld id="{6DA720D1-8748-4EBF-A048-37349D77FEC8}" type="slidenum">
              <a:rPr lang="en-IN" smtClean="0"/>
              <a:t>11</a:t>
            </a:fld>
            <a:endParaRPr lang="en-IN"/>
          </a:p>
        </p:txBody>
      </p:sp>
    </p:spTree>
    <p:extLst>
      <p:ext uri="{BB962C8B-B14F-4D97-AF65-F5344CB8AC3E}">
        <p14:creationId xmlns:p14="http://schemas.microsoft.com/office/powerpoint/2010/main" val="2636291270"/>
      </p:ext>
    </p:extLst>
  </p:cSld>
  <p:clrMapOvr>
    <a:masterClrMapping/>
  </p:clrMapOvr>
  <mc:AlternateContent xmlns:mc="http://schemas.openxmlformats.org/markup-compatibility/2006" xmlns:p14="http://schemas.microsoft.com/office/powerpoint/2010/main">
    <mc:Choice Requires="p14">
      <p:transition spd="slow" p14:dur="2000" advTm="1535"/>
    </mc:Choice>
    <mc:Fallback xmlns="">
      <p:transition spd="slow" advTm="1535"/>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 name="Slide Number Placeholder 29">
            <a:extLst>
              <a:ext uri="{FF2B5EF4-FFF2-40B4-BE49-F238E27FC236}">
                <a16:creationId xmlns:a16="http://schemas.microsoft.com/office/drawing/2014/main" id="{C9861D55-6104-43FD-EA9F-538D1C803256}"/>
              </a:ext>
            </a:extLst>
          </p:cNvPr>
          <p:cNvSpPr>
            <a:spLocks noGrp="1"/>
          </p:cNvSpPr>
          <p:nvPr>
            <p:ph type="sldNum" sz="quarter" idx="12"/>
          </p:nvPr>
        </p:nvSpPr>
        <p:spPr>
          <a:xfrm>
            <a:off x="9147612" y="6471085"/>
            <a:ext cx="2743200" cy="365125"/>
          </a:xfrm>
        </p:spPr>
        <p:txBody>
          <a:bodyPr/>
          <a:lstStyle/>
          <a:p>
            <a:fld id="{C6784A8F-7002-44D0-9341-76CE0EB505BE}" type="slidenum">
              <a:rPr lang="en-IN" smtClean="0"/>
              <a:t>12</a:t>
            </a:fld>
            <a:endParaRPr lang="en-IN"/>
          </a:p>
        </p:txBody>
      </p:sp>
      <p:sp>
        <p:nvSpPr>
          <p:cNvPr id="2" name="TextBox 1">
            <a:extLst>
              <a:ext uri="{FF2B5EF4-FFF2-40B4-BE49-F238E27FC236}">
                <a16:creationId xmlns:a16="http://schemas.microsoft.com/office/drawing/2014/main" id="{106ED99E-7BA6-56AE-09BD-921C4202160B}"/>
              </a:ext>
            </a:extLst>
          </p:cNvPr>
          <p:cNvSpPr txBox="1"/>
          <p:nvPr/>
        </p:nvSpPr>
        <p:spPr>
          <a:xfrm>
            <a:off x="1123810" y="329617"/>
            <a:ext cx="9924393" cy="646331"/>
          </a:xfrm>
          <a:prstGeom prst="rect">
            <a:avLst/>
          </a:prstGeom>
          <a:noFill/>
        </p:spPr>
        <p:txBody>
          <a:bodyPr wrap="square">
            <a:spAutoFit/>
          </a:bodyPr>
          <a:lstStyle/>
          <a:p>
            <a:pPr algn="ctr" defTabSz="877824">
              <a:spcAft>
                <a:spcPts val="600"/>
              </a:spcAft>
            </a:pPr>
            <a:r>
              <a:rPr lang="en-US" sz="3600" b="1" kern="1200">
                <a:solidFill>
                  <a:srgbClr val="C00000"/>
                </a:solidFill>
                <a:latin typeface="Times New Roman" panose="02020603050405020304" pitchFamily="18" charset="0"/>
                <a:cs typeface="Times New Roman" panose="02020603050405020304" pitchFamily="18" charset="0"/>
              </a:rPr>
              <a:t>Anti-chemotaxis: Theory</a:t>
            </a:r>
          </a:p>
        </p:txBody>
      </p:sp>
      <p:sp>
        <p:nvSpPr>
          <p:cNvPr id="7" name="TextBox 6">
            <a:extLst>
              <a:ext uri="{FF2B5EF4-FFF2-40B4-BE49-F238E27FC236}">
                <a16:creationId xmlns:a16="http://schemas.microsoft.com/office/drawing/2014/main" id="{48BF694D-042C-0D07-6628-018DAE61D418}"/>
              </a:ext>
            </a:extLst>
          </p:cNvPr>
          <p:cNvSpPr txBox="1"/>
          <p:nvPr/>
        </p:nvSpPr>
        <p:spPr>
          <a:xfrm>
            <a:off x="157396" y="6535163"/>
            <a:ext cx="11857220" cy="276999"/>
          </a:xfrm>
          <a:prstGeom prst="rect">
            <a:avLst/>
          </a:prstGeom>
          <a:noFill/>
        </p:spPr>
        <p:txBody>
          <a:bodyPr wrap="square">
            <a:spAutoFit/>
          </a:bodyPr>
          <a:lstStyle/>
          <a:p>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Jee, A. Y., Cho, Y. K., Granick, S., &amp; Tlusty, T. (2018). Catalytic enzymes are active matter.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Proceedings of the National Academy of Sciences</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 </a:t>
            </a:r>
            <a:r>
              <a:rPr lang="en-US" sz="1200" b="0" i="1">
                <a:solidFill>
                  <a:srgbClr val="222222"/>
                </a:solidFill>
                <a:effectLst/>
                <a:highlight>
                  <a:srgbClr val="FFFFFF"/>
                </a:highlight>
                <a:latin typeface="Times New Roman" panose="02020603050405020304" pitchFamily="18" charset="0"/>
                <a:cs typeface="Times New Roman" panose="02020603050405020304" pitchFamily="18" charset="0"/>
              </a:rPr>
              <a:t>115</a:t>
            </a:r>
            <a:r>
              <a:rPr lang="en-US" sz="1200" b="0" i="0">
                <a:solidFill>
                  <a:srgbClr val="222222"/>
                </a:solidFill>
                <a:effectLst/>
                <a:highlight>
                  <a:srgbClr val="FFFFFF"/>
                </a:highlight>
                <a:latin typeface="Times New Roman" panose="02020603050405020304" pitchFamily="18" charset="0"/>
                <a:cs typeface="Times New Roman" panose="02020603050405020304" pitchFamily="18" charset="0"/>
              </a:rPr>
              <a:t>(46), E10812-E10821.</a:t>
            </a:r>
            <a:endParaRPr lang="en-IN" sz="120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2A760E17-4BF7-A088-8FE0-15E541435CC5}"/>
              </a:ext>
            </a:extLst>
          </p:cNvPr>
          <p:cNvSpPr/>
          <p:nvPr/>
        </p:nvSpPr>
        <p:spPr>
          <a:xfrm>
            <a:off x="167390" y="59233"/>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3805F54-1DCE-7D7C-B3FC-350C4D2C2319}"/>
                  </a:ext>
                </a:extLst>
              </p:cNvPr>
              <p:cNvSpPr txBox="1"/>
              <p:nvPr/>
            </p:nvSpPr>
            <p:spPr>
              <a:xfrm>
                <a:off x="1425234" y="1050643"/>
                <a:ext cx="9093978" cy="5663795"/>
              </a:xfrm>
              <a:prstGeom prst="rect">
                <a:avLst/>
              </a:prstGeom>
              <a:noFill/>
            </p:spPr>
            <p:txBody>
              <a:bodyPr wrap="square" rtlCol="0">
                <a:spAutoFit/>
              </a:bodyPr>
              <a:lstStyle/>
              <a:p>
                <a:pPr algn="ctr"/>
                <a:r>
                  <a:rPr lang="en-IN" sz="2400" i="1">
                    <a:latin typeface="Times New Roman" panose="02020603050405020304" pitchFamily="18" charset="0"/>
                    <a:cs typeface="Times New Roman" panose="02020603050405020304" pitchFamily="18" charset="0"/>
                  </a:rPr>
                  <a:t>Diffusion equation</a:t>
                </a:r>
              </a:p>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IN" sz="2400" i="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ρ</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r</m:t>
                              </m:r>
                              <m:r>
                                <a:rPr lang="en-US" sz="2400" b="0" i="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t</m:t>
                              </m:r>
                            </m:e>
                          </m:d>
                        </m:num>
                        <m:den>
                          <m:r>
                            <a:rPr lang="en-US" sz="2400" b="0" i="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t</m:t>
                          </m:r>
                        </m:den>
                      </m:f>
                      <m:r>
                        <a:rPr lang="en-US" sz="2400" b="0" i="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J</m:t>
                          </m:r>
                        </m:e>
                        <m:sub>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E</m:t>
                          </m:r>
                        </m:sub>
                      </m:sSub>
                      <m:r>
                        <a:rPr lang="en-US" sz="2400" b="0" i="0"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m:t>
                          </m:r>
                        </m:e>
                        <m:sup>
                          <m:r>
                            <a:rPr lang="en-US" sz="2400" b="0" i="0"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sz="2400" b="0" i="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D</m:t>
                          </m:r>
                        </m:e>
                        <m:sub>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E</m:t>
                          </m:r>
                        </m:sub>
                      </m:sSub>
                      <m:r>
                        <a:rPr lang="en-US" sz="2400" b="0" i="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C</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r</m:t>
                          </m:r>
                          <m:r>
                            <a:rPr lang="en-US" sz="2400" b="0" i="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t</m:t>
                          </m:r>
                        </m:e>
                      </m:d>
                      <m:r>
                        <a:rPr lang="en-US" sz="2400" i="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i="0">
                          <a:latin typeface="Cambria Math" panose="02040503050406030204" pitchFamily="18" charset="0"/>
                          <a:ea typeface="Cambria Math" panose="02040503050406030204" pitchFamily="18" charset="0"/>
                          <a:cs typeface="Times New Roman" panose="02020603050405020304" pitchFamily="18" charset="0"/>
                        </a:rPr>
                        <m:t>ρ</m:t>
                      </m:r>
                      <m:d>
                        <m:d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r</m:t>
                          </m:r>
                          <m:r>
                            <a:rPr lang="en-US" sz="2400" b="0" i="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ea typeface="Cambria Math" panose="02040503050406030204" pitchFamily="18" charset="0"/>
                              <a:cs typeface="Times New Roman" panose="02020603050405020304" pitchFamily="18" charset="0"/>
                            </a:rPr>
                            <m:t>t</m:t>
                          </m:r>
                        </m:e>
                      </m:d>
                      <m:r>
                        <a:rPr lang="en-US" sz="2400" b="0" i="0"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IN" sz="2400">
                  <a:latin typeface="Times New Roman" panose="02020603050405020304" pitchFamily="18" charset="0"/>
                  <a:cs typeface="Times New Roman" panose="02020603050405020304" pitchFamily="18" charset="0"/>
                </a:endParaRPr>
              </a:p>
              <a:p>
                <a:pPr algn="ctr">
                  <a:lnSpc>
                    <a:spcPct val="150000"/>
                  </a:lnSpc>
                </a:pPr>
                <a:r>
                  <a:rPr lang="en-IN" sz="2400" i="1">
                    <a:latin typeface="Times New Roman" panose="02020603050405020304" pitchFamily="18" charset="0"/>
                    <a:cs typeface="Times New Roman" panose="02020603050405020304" pitchFamily="18" charset="0"/>
                  </a:rPr>
                  <a:t>Assumptions</a:t>
                </a:r>
              </a:p>
              <a:p>
                <a:pPr marL="342900" indent="-342900">
                  <a:lnSpc>
                    <a:spcPct val="150000"/>
                  </a:lnSpc>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Steady state</a:t>
                </a:r>
              </a:p>
              <a:p>
                <a:pPr marL="342900" indent="-342900">
                  <a:lnSpc>
                    <a:spcPct val="150000"/>
                  </a:lnSpc>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Depends only on the direction, </a:t>
                </a:r>
                <a14:m>
                  <m:oMath xmlns:m="http://schemas.openxmlformats.org/officeDocument/2006/math">
                    <m:r>
                      <a:rPr lang="en-US" sz="2400" b="0" i="1" smtClean="0">
                        <a:latin typeface="Cambria Math" panose="02040503050406030204" pitchFamily="18" charset="0"/>
                      </a:rPr>
                      <m:t>𝑥</m:t>
                    </m:r>
                  </m:oMath>
                </a14:m>
                <a:endParaRPr lang="en-IN" sz="2400" i="1">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
                </a:pPr>
                <a:r>
                  <a:rPr lang="en-IN" sz="2400">
                    <a:latin typeface="Times New Roman" panose="02020603050405020304" pitchFamily="18" charset="0"/>
                    <a:cs typeface="Times New Roman" panose="02020603050405020304" pitchFamily="18" charset="0"/>
                  </a:rPr>
                  <a:t>Overall flux = 0</a:t>
                </a:r>
              </a:p>
              <a:p>
                <a:pPr>
                  <a:lnSpc>
                    <a:spcPct val="150000"/>
                  </a:lnSpc>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J</m:t>
                          </m:r>
                        </m:e>
                        <m:sub>
                          <m:r>
                            <m:rPr>
                              <m:sty m:val="p"/>
                            </m:rPr>
                            <a:rPr lang="en-US" sz="2400" b="0" i="0" smtClean="0">
                              <a:latin typeface="Cambria Math" panose="02040503050406030204" pitchFamily="18" charset="0"/>
                            </a:rPr>
                            <m:t>E</m:t>
                          </m:r>
                        </m:sub>
                      </m:sSub>
                      <m:r>
                        <a:rPr lang="en-US" sz="2400" b="0" i="0" smtClean="0">
                          <a:latin typeface="Cambria Math" panose="02040503050406030204" pitchFamily="18" charset="0"/>
                        </a:rPr>
                        <m:t>=−</m:t>
                      </m:r>
                      <m:r>
                        <m:rPr>
                          <m:sty m:val="p"/>
                        </m:rPr>
                        <a:rPr lang="en-IN" sz="2400" i="0"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m:rPr>
                              <m:sty m:val="p"/>
                            </m:rPr>
                            <a:rPr lang="en-US" sz="2400" i="0">
                              <a:latin typeface="Cambria Math" panose="02040503050406030204" pitchFamily="18" charset="0"/>
                            </a:rPr>
                            <m:t>ρ</m:t>
                          </m:r>
                          <m:d>
                            <m:dPr>
                              <m:ctrlPr>
                                <a:rPr lang="en-US" sz="2400" i="1">
                                  <a:latin typeface="Cambria Math" panose="02040503050406030204" pitchFamily="18" charset="0"/>
                                </a:rPr>
                              </m:ctrlPr>
                            </m:dPr>
                            <m:e>
                              <m:r>
                                <m:rPr>
                                  <m:sty m:val="p"/>
                                </m:rPr>
                                <a:rPr lang="en-US" sz="2400" b="0" i="0" smtClean="0">
                                  <a:latin typeface="Cambria Math" panose="02040503050406030204" pitchFamily="18" charset="0"/>
                                </a:rPr>
                                <m:t>x</m:t>
                              </m:r>
                            </m:e>
                          </m:d>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D</m:t>
                              </m:r>
                            </m:e>
                            <m:sub>
                              <m:r>
                                <m:rPr>
                                  <m:sty m:val="p"/>
                                </m:rPr>
                                <a:rPr lang="en-US" sz="2400" b="0" i="0" smtClean="0">
                                  <a:latin typeface="Cambria Math" panose="02040503050406030204" pitchFamily="18" charset="0"/>
                                </a:rPr>
                                <m:t>E</m:t>
                              </m:r>
                            </m:sub>
                          </m:sSub>
                          <m:d>
                            <m:dPr>
                              <m:ctrlPr>
                                <a:rPr lang="en-US" sz="2400" b="0" i="1" smtClean="0">
                                  <a:latin typeface="Cambria Math" panose="02040503050406030204" pitchFamily="18" charset="0"/>
                                </a:rPr>
                              </m:ctrlPr>
                            </m:dPr>
                            <m:e>
                              <m:r>
                                <m:rPr>
                                  <m:sty m:val="p"/>
                                </m:rPr>
                                <a:rPr lang="en-US" sz="2400" b="0" i="0" smtClean="0">
                                  <a:latin typeface="Cambria Math" panose="02040503050406030204" pitchFamily="18" charset="0"/>
                                </a:rPr>
                                <m:t>C</m:t>
                              </m:r>
                            </m:e>
                          </m:d>
                        </m:e>
                      </m:d>
                      <m:r>
                        <a:rPr lang="en-US" sz="2400" b="0" i="0" smtClean="0">
                          <a:latin typeface="Cambria Math" panose="02040503050406030204" pitchFamily="18" charset="0"/>
                        </a:rPr>
                        <m:t>=0</m:t>
                      </m:r>
                    </m:oMath>
                  </m:oMathPara>
                </a14:m>
                <a:endParaRPr lang="en-US" sz="2400" b="0">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𝛒</m:t>
                      </m:r>
                      <m:d>
                        <m:dPr>
                          <m:ctrlPr>
                            <a:rPr lang="en-US" sz="2400" b="1" i="1">
                              <a:latin typeface="Cambria Math" panose="02040503050406030204" pitchFamily="18" charset="0"/>
                            </a:rPr>
                          </m:ctrlPr>
                        </m:dPr>
                        <m:e>
                          <m:r>
                            <a:rPr lang="en-US" sz="2400" b="1" i="0" smtClean="0">
                              <a:latin typeface="Cambria Math" panose="02040503050406030204" pitchFamily="18" charset="0"/>
                            </a:rPr>
                            <m:t>𝐱</m:t>
                          </m:r>
                        </m:e>
                      </m:d>
                      <m:r>
                        <a:rPr lang="en-US" sz="2400" b="1" i="0" smtClean="0">
                          <a:latin typeface="Cambria Math" panose="02040503050406030204" pitchFamily="18" charset="0"/>
                          <a:ea typeface="Cambria Math" panose="02040503050406030204" pitchFamily="18" charset="0"/>
                        </a:rPr>
                        <m:t>∝</m:t>
                      </m:r>
                      <m:f>
                        <m:fPr>
                          <m:ctrlPr>
                            <a:rPr lang="en-US" sz="2400" b="1" i="1" smtClean="0">
                              <a:latin typeface="Cambria Math" panose="02040503050406030204" pitchFamily="18" charset="0"/>
                              <a:ea typeface="Cambria Math" panose="02040503050406030204" pitchFamily="18" charset="0"/>
                            </a:rPr>
                          </m:ctrlPr>
                        </m:fPr>
                        <m:num>
                          <m:r>
                            <a:rPr lang="en-US" sz="2400" b="1" i="0" smtClean="0">
                              <a:latin typeface="Cambria Math" panose="02040503050406030204" pitchFamily="18" charset="0"/>
                              <a:ea typeface="Cambria Math" panose="02040503050406030204" pitchFamily="18" charset="0"/>
                            </a:rPr>
                            <m:t>𝟏</m:t>
                          </m:r>
                        </m:num>
                        <m:den>
                          <m:sSub>
                            <m:sSubPr>
                              <m:ctrlPr>
                                <a:rPr lang="en-US" sz="2400" b="1" i="1" smtClean="0">
                                  <a:latin typeface="Cambria Math" panose="02040503050406030204" pitchFamily="18" charset="0"/>
                                  <a:ea typeface="Cambria Math" panose="02040503050406030204" pitchFamily="18" charset="0"/>
                                </a:rPr>
                              </m:ctrlPr>
                            </m:sSubPr>
                            <m:e>
                              <m:r>
                                <a:rPr lang="en-US" sz="2400" b="1" i="0" smtClean="0">
                                  <a:latin typeface="Cambria Math" panose="02040503050406030204" pitchFamily="18" charset="0"/>
                                  <a:ea typeface="Cambria Math" panose="02040503050406030204" pitchFamily="18" charset="0"/>
                                </a:rPr>
                                <m:t>𝐃</m:t>
                              </m:r>
                            </m:e>
                            <m:sub>
                              <m:r>
                                <a:rPr lang="en-US" sz="2400" b="1" i="0" smtClean="0">
                                  <a:latin typeface="Cambria Math" panose="02040503050406030204" pitchFamily="18" charset="0"/>
                                  <a:ea typeface="Cambria Math" panose="02040503050406030204" pitchFamily="18" charset="0"/>
                                </a:rPr>
                                <m:t>𝐄</m:t>
                              </m:r>
                            </m:sub>
                          </m:sSub>
                          <m:d>
                            <m:dPr>
                              <m:ctrlPr>
                                <a:rPr lang="en-US" sz="2400" b="1" i="1" smtClean="0">
                                  <a:latin typeface="Cambria Math" panose="02040503050406030204" pitchFamily="18" charset="0"/>
                                  <a:ea typeface="Cambria Math" panose="02040503050406030204" pitchFamily="18" charset="0"/>
                                </a:rPr>
                              </m:ctrlPr>
                            </m:dPr>
                            <m:e>
                              <m:r>
                                <a:rPr lang="en-US" sz="2400" b="1" i="0" smtClean="0">
                                  <a:latin typeface="Cambria Math" panose="02040503050406030204" pitchFamily="18" charset="0"/>
                                  <a:ea typeface="Cambria Math" panose="02040503050406030204" pitchFamily="18" charset="0"/>
                                </a:rPr>
                                <m:t>𝐂</m:t>
                              </m:r>
                            </m:e>
                          </m:d>
                        </m:den>
                      </m:f>
                      <m:r>
                        <a:rPr lang="en-US" sz="2400" b="0" i="0"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0" smtClean="0">
                              <a:latin typeface="Cambria Math" panose="02040503050406030204" pitchFamily="18" charset="0"/>
                              <a:ea typeface="Cambria Math" panose="02040503050406030204" pitchFamily="18" charset="0"/>
                            </a:rPr>
                            <m:t>1</m:t>
                          </m:r>
                        </m:num>
                        <m:den>
                          <m:sSub>
                            <m:sSubPr>
                              <m:ctrlPr>
                                <a:rPr lang="en-US" sz="2400" b="0" i="1" smtClean="0">
                                  <a:latin typeface="Cambria Math" panose="02040503050406030204" pitchFamily="18" charset="0"/>
                                  <a:ea typeface="Cambria Math" panose="02040503050406030204" pitchFamily="18" charset="0"/>
                                </a:rPr>
                              </m:ctrlPr>
                            </m:sSubPr>
                            <m:e>
                              <m:r>
                                <m:rPr>
                                  <m:sty m:val="p"/>
                                </m:rPr>
                                <a:rPr lang="en-US" sz="2400" b="0" i="0" smtClean="0">
                                  <a:latin typeface="Cambria Math" panose="02040503050406030204" pitchFamily="18" charset="0"/>
                                  <a:ea typeface="Cambria Math" panose="02040503050406030204" pitchFamily="18" charset="0"/>
                                </a:rPr>
                                <m:t>D</m:t>
                              </m:r>
                            </m:e>
                            <m:sub>
                              <m:r>
                                <m:rPr>
                                  <m:sty m:val="p"/>
                                </m:rPr>
                                <a:rPr lang="en-US" sz="2400" b="0" i="0" smtClean="0">
                                  <a:latin typeface="Cambria Math" panose="02040503050406030204" pitchFamily="18" charset="0"/>
                                  <a:ea typeface="Cambria Math" panose="02040503050406030204" pitchFamily="18" charset="0"/>
                                </a:rPr>
                                <m:t>O</m:t>
                              </m:r>
                            </m:sub>
                          </m:sSub>
                          <m:r>
                            <a:rPr lang="en-US" sz="2400" i="0">
                              <a:latin typeface="Cambria Math" panose="02040503050406030204" pitchFamily="18" charset="0"/>
                              <a:ea typeface="Cambria Math" panose="02040503050406030204" pitchFamily="18" charset="0"/>
                            </a:rPr>
                            <m:t>+</m:t>
                          </m:r>
                          <m:r>
                            <m:rPr>
                              <m:sty m:val="p"/>
                            </m:rPr>
                            <a:rPr lang="en-US" sz="2400" i="0">
                              <a:latin typeface="Cambria Math" panose="02040503050406030204" pitchFamily="18" charset="0"/>
                              <a:ea typeface="Cambria Math" panose="02040503050406030204" pitchFamily="18" charset="0"/>
                            </a:rPr>
                            <m:t>αV</m:t>
                          </m:r>
                          <m:d>
                            <m:dPr>
                              <m:ctrlPr>
                                <a:rPr lang="en-US" sz="2400" i="1">
                                  <a:latin typeface="Cambria Math" panose="02040503050406030204" pitchFamily="18" charset="0"/>
                                  <a:ea typeface="Cambria Math" panose="02040503050406030204" pitchFamily="18" charset="0"/>
                                </a:rPr>
                              </m:ctrlPr>
                            </m:dPr>
                            <m:e>
                              <m:r>
                                <m:rPr>
                                  <m:sty m:val="p"/>
                                </m:rPr>
                                <a:rPr lang="en-US" sz="2400" b="0" i="0" smtClean="0">
                                  <a:latin typeface="Cambria Math" panose="02040503050406030204" pitchFamily="18" charset="0"/>
                                  <a:ea typeface="Cambria Math" panose="02040503050406030204" pitchFamily="18" charset="0"/>
                                </a:rPr>
                                <m:t>C</m:t>
                              </m:r>
                              <m:d>
                                <m:dPr>
                                  <m:ctrlPr>
                                    <a:rPr lang="en-US" sz="2400" i="1">
                                      <a:latin typeface="Cambria Math" panose="02040503050406030204" pitchFamily="18" charset="0"/>
                                      <a:ea typeface="Cambria Math" panose="02040503050406030204" pitchFamily="18" charset="0"/>
                                    </a:rPr>
                                  </m:ctrlPr>
                                </m:dPr>
                                <m:e>
                                  <m:r>
                                    <m:rPr>
                                      <m:sty m:val="p"/>
                                    </m:rPr>
                                    <a:rPr lang="en-US" sz="2400" i="0">
                                      <a:latin typeface="Cambria Math" panose="02040503050406030204" pitchFamily="18" charset="0"/>
                                      <a:ea typeface="Cambria Math" panose="02040503050406030204" pitchFamily="18" charset="0"/>
                                    </a:rPr>
                                    <m:t>x</m:t>
                                  </m:r>
                                </m:e>
                              </m:d>
                            </m:e>
                          </m:d>
                        </m:den>
                      </m:f>
                    </m:oMath>
                  </m:oMathPara>
                </a14:m>
                <a:endParaRPr lang="en-IN" sz="2400">
                  <a:latin typeface="Times New Roman" panose="02020603050405020304" pitchFamily="18" charset="0"/>
                  <a:cs typeface="Times New Roman" panose="02020603050405020304" pitchFamily="18" charset="0"/>
                </a:endParaRPr>
              </a:p>
              <a:p>
                <a:pPr>
                  <a:lnSpc>
                    <a:spcPct val="150000"/>
                  </a:lnSpc>
                </a:pPr>
                <a:endParaRPr lang="en-IN" sz="240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53805F54-1DCE-7D7C-B3FC-350C4D2C2319}"/>
                  </a:ext>
                </a:extLst>
              </p:cNvPr>
              <p:cNvSpPr txBox="1">
                <a:spLocks noRot="1" noChangeAspect="1" noMove="1" noResize="1" noEditPoints="1" noAdjustHandles="1" noChangeArrowheads="1" noChangeShapeType="1" noTextEdit="1"/>
              </p:cNvSpPr>
              <p:nvPr/>
            </p:nvSpPr>
            <p:spPr>
              <a:xfrm>
                <a:off x="1425234" y="1050643"/>
                <a:ext cx="9093978" cy="5663795"/>
              </a:xfrm>
              <a:prstGeom prst="rect">
                <a:avLst/>
              </a:prstGeom>
              <a:blipFill>
                <a:blip r:embed="rId3"/>
                <a:stretch>
                  <a:fillRect l="-938" t="-861"/>
                </a:stretch>
              </a:blipFill>
            </p:spPr>
            <p:txBody>
              <a:bodyPr/>
              <a:lstStyle/>
              <a:p>
                <a:r>
                  <a:rPr lang="en-IN">
                    <a:noFill/>
                  </a:rPr>
                  <a:t> </a:t>
                </a:r>
              </a:p>
            </p:txBody>
          </p:sp>
        </mc:Fallback>
      </mc:AlternateContent>
    </p:spTree>
    <p:extLst>
      <p:ext uri="{BB962C8B-B14F-4D97-AF65-F5344CB8AC3E}">
        <p14:creationId xmlns:p14="http://schemas.microsoft.com/office/powerpoint/2010/main" val="1377809636"/>
      </p:ext>
    </p:extLst>
  </p:cSld>
  <p:clrMapOvr>
    <a:masterClrMapping/>
  </p:clrMapOvr>
  <mc:AlternateContent xmlns:mc="http://schemas.openxmlformats.org/markup-compatibility/2006" xmlns:p14="http://schemas.microsoft.com/office/powerpoint/2010/main">
    <mc:Choice Requires="p14">
      <p:transition spd="slow" p14:dur="2000" advTm="116232"/>
    </mc:Choice>
    <mc:Fallback xmlns="">
      <p:transition spd="slow" advTm="116232"/>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E1677-D643-1E08-80FA-F322D3C60B63}"/>
              </a:ext>
            </a:extLst>
          </p:cNvPr>
          <p:cNvSpPr>
            <a:spLocks noGrp="1"/>
          </p:cNvSpPr>
          <p:nvPr>
            <p:ph type="title"/>
          </p:nvPr>
        </p:nvSpPr>
        <p:spPr>
          <a:xfrm>
            <a:off x="838200" y="-99808"/>
            <a:ext cx="10515600" cy="1325563"/>
          </a:xfrm>
        </p:spPr>
        <p:txBody>
          <a:bodyPr>
            <a:normAutofit/>
          </a:bodyPr>
          <a:lstStyle/>
          <a:p>
            <a:pPr algn="ctr"/>
            <a:r>
              <a:rPr lang="en-US" sz="3600" b="1">
                <a:solidFill>
                  <a:srgbClr val="C00000"/>
                </a:solidFill>
                <a:latin typeface="Times New Roman" panose="02020603050405020304" pitchFamily="18" charset="0"/>
                <a:cs typeface="Times New Roman" panose="02020603050405020304" pitchFamily="18" charset="0"/>
              </a:rPr>
              <a:t>Evidence of Ballistic Motion</a:t>
            </a:r>
            <a:endParaRPr lang="en-IN" sz="3600" b="1">
              <a:solidFill>
                <a:srgbClr val="C0000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F723336-E67E-EE32-E25C-48609F91D647}"/>
              </a:ext>
            </a:extLst>
          </p:cNvPr>
          <p:cNvPicPr>
            <a:picLocks noChangeAspect="1"/>
          </p:cNvPicPr>
          <p:nvPr/>
        </p:nvPicPr>
        <p:blipFill rotWithShape="1">
          <a:blip r:embed="rId2"/>
          <a:srcRect b="65086"/>
          <a:stretch/>
        </p:blipFill>
        <p:spPr>
          <a:xfrm>
            <a:off x="612994" y="1455795"/>
            <a:ext cx="2807020" cy="1211684"/>
          </a:xfrm>
          <a:prstGeom prst="rect">
            <a:avLst/>
          </a:prstGeom>
          <a:ln>
            <a:noFill/>
          </a:ln>
        </p:spPr>
      </p:pic>
      <p:pic>
        <p:nvPicPr>
          <p:cNvPr id="63" name="Picture 62">
            <a:extLst>
              <a:ext uri="{FF2B5EF4-FFF2-40B4-BE49-F238E27FC236}">
                <a16:creationId xmlns:a16="http://schemas.microsoft.com/office/drawing/2014/main" id="{6C99FDA5-E6C3-6BE5-F2BD-5F2FF9A2F003}"/>
              </a:ext>
            </a:extLst>
          </p:cNvPr>
          <p:cNvPicPr>
            <a:picLocks noChangeAspect="1"/>
          </p:cNvPicPr>
          <p:nvPr/>
        </p:nvPicPr>
        <p:blipFill>
          <a:blip r:embed="rId3"/>
          <a:stretch>
            <a:fillRect/>
          </a:stretch>
        </p:blipFill>
        <p:spPr>
          <a:xfrm>
            <a:off x="239991" y="3208752"/>
            <a:ext cx="3399139" cy="2711489"/>
          </a:xfrm>
          <a:prstGeom prst="rect">
            <a:avLst/>
          </a:prstGeom>
          <a:ln>
            <a:noFill/>
          </a:ln>
        </p:spPr>
      </p:pic>
      <p:sp>
        <p:nvSpPr>
          <p:cNvPr id="85" name="TextBox 84">
            <a:extLst>
              <a:ext uri="{FF2B5EF4-FFF2-40B4-BE49-F238E27FC236}">
                <a16:creationId xmlns:a16="http://schemas.microsoft.com/office/drawing/2014/main" id="{D54616E0-C80B-0825-DF90-C8C2C81666F2}"/>
              </a:ext>
            </a:extLst>
          </p:cNvPr>
          <p:cNvSpPr txBox="1"/>
          <p:nvPr/>
        </p:nvSpPr>
        <p:spPr>
          <a:xfrm>
            <a:off x="234112" y="5863760"/>
            <a:ext cx="3499374" cy="400110"/>
          </a:xfrm>
          <a:prstGeom prst="rect">
            <a:avLst/>
          </a:prstGeom>
          <a:noFill/>
        </p:spPr>
        <p:txBody>
          <a:bodyPr wrap="square" rtlCol="0">
            <a:spAutoFit/>
          </a:bodyPr>
          <a:lstStyle/>
          <a:p>
            <a:r>
              <a:rPr lang="en-US" sz="2000">
                <a:latin typeface="Times New Roman" panose="02020603050405020304" pitchFamily="18" charset="0"/>
                <a:cs typeface="Times New Roman" panose="02020603050405020304" pitchFamily="18" charset="0"/>
              </a:rPr>
              <a:t>a) Time distribution with width</a:t>
            </a:r>
            <a:endParaRPr lang="en-IN" sz="2000">
              <a:latin typeface="Times New Roman" panose="02020603050405020304" pitchFamily="18" charset="0"/>
              <a:cs typeface="Times New Roman" panose="02020603050405020304" pitchFamily="18" charset="0"/>
            </a:endParaRPr>
          </a:p>
        </p:txBody>
      </p:sp>
      <p:sp>
        <p:nvSpPr>
          <p:cNvPr id="90" name="Slide Number Placeholder 89">
            <a:extLst>
              <a:ext uri="{FF2B5EF4-FFF2-40B4-BE49-F238E27FC236}">
                <a16:creationId xmlns:a16="http://schemas.microsoft.com/office/drawing/2014/main" id="{C130E1B6-C06B-7FE5-49EA-46C7FB40F265}"/>
              </a:ext>
            </a:extLst>
          </p:cNvPr>
          <p:cNvSpPr>
            <a:spLocks noGrp="1"/>
          </p:cNvSpPr>
          <p:nvPr>
            <p:ph type="sldNum" sz="quarter" idx="12"/>
          </p:nvPr>
        </p:nvSpPr>
        <p:spPr>
          <a:xfrm>
            <a:off x="9134006" y="6528383"/>
            <a:ext cx="2743200" cy="365125"/>
          </a:xfrm>
        </p:spPr>
        <p:txBody>
          <a:bodyPr/>
          <a:lstStyle/>
          <a:p>
            <a:fld id="{C6784A8F-7002-44D0-9341-76CE0EB505BE}" type="slidenum">
              <a:rPr lang="en-IN" smtClean="0"/>
              <a:t>13</a:t>
            </a:fld>
            <a:endParaRPr lang="en-IN"/>
          </a:p>
        </p:txBody>
      </p:sp>
      <p:sp>
        <p:nvSpPr>
          <p:cNvPr id="10" name="TextBox 9">
            <a:extLst>
              <a:ext uri="{FF2B5EF4-FFF2-40B4-BE49-F238E27FC236}">
                <a16:creationId xmlns:a16="http://schemas.microsoft.com/office/drawing/2014/main" id="{0B1409DB-3784-C20A-ADA8-407556137331}"/>
              </a:ext>
            </a:extLst>
          </p:cNvPr>
          <p:cNvSpPr txBox="1"/>
          <p:nvPr/>
        </p:nvSpPr>
        <p:spPr>
          <a:xfrm>
            <a:off x="-1054440" y="689933"/>
            <a:ext cx="13508502" cy="1200329"/>
          </a:xfrm>
          <a:prstGeom prst="rect">
            <a:avLst/>
          </a:prstGeom>
          <a:noFill/>
        </p:spPr>
        <p:txBody>
          <a:bodyPr wrap="square">
            <a:spAutoFit/>
          </a:bodyPr>
          <a:lstStyle/>
          <a:p>
            <a:pPr lvl="1" algn="ctr"/>
            <a:r>
              <a:rPr lang="en-US" sz="2400" kern="1200">
                <a:solidFill>
                  <a:schemeClr val="tx1"/>
                </a:solidFill>
                <a:latin typeface="Times New Roman" panose="02020603050405020304" pitchFamily="18" charset="0"/>
                <a:cs typeface="Times New Roman" panose="02020603050405020304" pitchFamily="18" charset="0"/>
              </a:rPr>
              <a:t>Performance of </a:t>
            </a:r>
            <a:r>
              <a:rPr lang="en-US" sz="2400">
                <a:latin typeface="Times New Roman" panose="02020603050405020304" pitchFamily="18" charset="0"/>
                <a:cs typeface="Times New Roman" panose="02020603050405020304" pitchFamily="18" charset="0"/>
              </a:rPr>
              <a:t>enzyme with and without substrate</a:t>
            </a:r>
            <a:r>
              <a:rPr lang="en-US" sz="2400" kern="1200">
                <a:solidFill>
                  <a:schemeClr val="tx1"/>
                </a:solidFill>
                <a:latin typeface="Times New Roman" panose="02020603050405020304" pitchFamily="18" charset="0"/>
                <a:cs typeface="Times New Roman" panose="02020603050405020304" pitchFamily="18" charset="0"/>
              </a:rPr>
              <a:t> are compared</a:t>
            </a:r>
          </a:p>
          <a:p>
            <a:pPr lvl="1" algn="ctr"/>
            <a:r>
              <a:rPr lang="en-US" sz="2400">
                <a:latin typeface="Times New Roman" panose="02020603050405020304" pitchFamily="18" charset="0"/>
                <a:cs typeface="Times New Roman" panose="02020603050405020304" pitchFamily="18" charset="0"/>
              </a:rPr>
              <a:t>Using STED microscopy and Flourescence Correlation Spectroscopy(FCS)</a:t>
            </a:r>
          </a:p>
          <a:p>
            <a:pPr lvl="1" algn="ctr"/>
            <a:endParaRPr lang="en-US" sz="2400" kern="1200">
              <a:solidFill>
                <a:schemeClr val="tx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B74DB62-F9DC-20EE-E0B6-8885A81404AB}"/>
              </a:ext>
            </a:extLst>
          </p:cNvPr>
          <p:cNvSpPr txBox="1"/>
          <p:nvPr/>
        </p:nvSpPr>
        <p:spPr>
          <a:xfrm>
            <a:off x="148833" y="6545695"/>
            <a:ext cx="11857220" cy="276999"/>
          </a:xfrm>
          <a:prstGeom prst="rect">
            <a:avLst/>
          </a:prstGeom>
          <a:noFill/>
        </p:spPr>
        <p:txBody>
          <a:bodyPr wrap="square">
            <a:spAutoFit/>
          </a:bodyPr>
          <a:lstStyle/>
          <a:p>
            <a:r>
              <a:rPr lang="en-US" sz="1200" b="0" i="0">
                <a:solidFill>
                  <a:srgbClr val="222222"/>
                </a:solidFill>
                <a:effectLst/>
                <a:highlight>
                  <a:srgbClr val="FFFFFF"/>
                </a:highlight>
                <a:latin typeface="Arial" panose="020B0604020202020204" pitchFamily="34" charset="0"/>
              </a:rPr>
              <a:t>Jee, A. Y., Cho, Y. K., Granick, S., &amp; Tlusty, T. (2018). Catalytic enzymes are active matter. </a:t>
            </a:r>
            <a:r>
              <a:rPr lang="en-US" sz="1200" b="0" i="1">
                <a:solidFill>
                  <a:srgbClr val="222222"/>
                </a:solidFill>
                <a:effectLst/>
                <a:highlight>
                  <a:srgbClr val="FFFFFF"/>
                </a:highlight>
                <a:latin typeface="Arial" panose="020B0604020202020204" pitchFamily="34" charset="0"/>
              </a:rPr>
              <a:t>Proceedings of the National Academy of Sciences</a:t>
            </a:r>
            <a:r>
              <a:rPr lang="en-US" sz="1200" b="0" i="0">
                <a:solidFill>
                  <a:srgbClr val="222222"/>
                </a:solidFill>
                <a:effectLst/>
                <a:highlight>
                  <a:srgbClr val="FFFFFF"/>
                </a:highlight>
                <a:latin typeface="Arial" panose="020B0604020202020204" pitchFamily="34" charset="0"/>
              </a:rPr>
              <a:t>, </a:t>
            </a:r>
            <a:r>
              <a:rPr lang="en-US" sz="1200" b="0" i="1">
                <a:solidFill>
                  <a:srgbClr val="222222"/>
                </a:solidFill>
                <a:effectLst/>
                <a:highlight>
                  <a:srgbClr val="FFFFFF"/>
                </a:highlight>
                <a:latin typeface="Arial" panose="020B0604020202020204" pitchFamily="34" charset="0"/>
              </a:rPr>
              <a:t>115</a:t>
            </a:r>
            <a:r>
              <a:rPr lang="en-US" sz="1200" b="0" i="0">
                <a:solidFill>
                  <a:srgbClr val="222222"/>
                </a:solidFill>
                <a:effectLst/>
                <a:highlight>
                  <a:srgbClr val="FFFFFF"/>
                </a:highlight>
                <a:latin typeface="Arial" panose="020B0604020202020204" pitchFamily="34" charset="0"/>
              </a:rPr>
              <a:t>(46), E10812-E10821.</a:t>
            </a:r>
            <a:endParaRPr lang="en-IN" sz="1200"/>
          </a:p>
        </p:txBody>
      </p:sp>
      <p:sp>
        <p:nvSpPr>
          <p:cNvPr id="13" name="Rectangle 12">
            <a:extLst>
              <a:ext uri="{FF2B5EF4-FFF2-40B4-BE49-F238E27FC236}">
                <a16:creationId xmlns:a16="http://schemas.microsoft.com/office/drawing/2014/main" id="{8AA190AD-5327-DA63-1BCE-48ABA587C10C}"/>
              </a:ext>
            </a:extLst>
          </p:cNvPr>
          <p:cNvSpPr/>
          <p:nvPr/>
        </p:nvSpPr>
        <p:spPr>
          <a:xfrm>
            <a:off x="167390" y="59233"/>
            <a:ext cx="11857220" cy="67395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FAEB035-7298-5110-FC77-EA564FC92E33}"/>
                  </a:ext>
                </a:extLst>
              </p:cNvPr>
              <p:cNvSpPr txBox="1"/>
              <p:nvPr/>
            </p:nvSpPr>
            <p:spPr>
              <a:xfrm>
                <a:off x="3865618" y="2165642"/>
                <a:ext cx="7590573" cy="615425"/>
              </a:xfrm>
              <a:prstGeom prst="rect">
                <a:avLst/>
              </a:prstGeom>
              <a:noFill/>
            </p:spPr>
            <p:txBody>
              <a:bodyPr wrap="square">
                <a:spAutoFit/>
              </a:bodyPr>
              <a:lstStyle/>
              <a:p>
                <a:r>
                  <a:rPr lang="en-US" sz="2000" b="0">
                    <a:solidFill>
                      <a:schemeClr val="tx1"/>
                    </a:solidFill>
                    <a:latin typeface="Times New Roman" panose="02020603050405020304" pitchFamily="18" charset="0"/>
                    <a:cs typeface="Times New Roman" panose="02020603050405020304" pitchFamily="18" charset="0"/>
                  </a:rPr>
                  <a:t>Enhanced diffusion, </a:t>
                </a:r>
                <a14:m>
                  <m:oMath xmlns:m="http://schemas.openxmlformats.org/officeDocument/2006/math">
                    <m:sSub>
                      <m:sSubPr>
                        <m:ctrlPr>
                          <a:rPr lang="en-US" b="0" i="1" smtClean="0">
                            <a:solidFill>
                              <a:schemeClr val="tx1"/>
                            </a:solidFill>
                            <a:latin typeface="Cambria Math" panose="02040503050406030204" pitchFamily="18" charset="0"/>
                            <a:cs typeface="Times New Roman" panose="02020603050405020304" pitchFamily="18" charset="0"/>
                          </a:rPr>
                        </m:ctrlPr>
                      </m:sSubPr>
                      <m:e>
                        <m:r>
                          <m:rPr>
                            <m:sty m:val="p"/>
                          </m:rPr>
                          <a:rPr lang="en-US" b="0" i="0" smtClean="0">
                            <a:solidFill>
                              <a:schemeClr val="tx1"/>
                            </a:solidFill>
                            <a:latin typeface="Cambria Math" panose="02040503050406030204" pitchFamily="18" charset="0"/>
                            <a:cs typeface="Times New Roman" panose="02020603050405020304" pitchFamily="18" charset="0"/>
                          </a:rPr>
                          <m:t>D</m:t>
                        </m:r>
                      </m:e>
                      <m:sub>
                        <m:r>
                          <m:rPr>
                            <m:sty m:val="p"/>
                          </m:rPr>
                          <a:rPr lang="en-US" b="0" i="0" smtClean="0">
                            <a:solidFill>
                              <a:schemeClr val="tx1"/>
                            </a:solidFill>
                            <a:latin typeface="Cambria Math" panose="02040503050406030204" pitchFamily="18" charset="0"/>
                            <a:cs typeface="Times New Roman" panose="02020603050405020304" pitchFamily="18" charset="0"/>
                          </a:rPr>
                          <m:t>E</m:t>
                        </m:r>
                      </m:sub>
                    </m:sSub>
                    <m:r>
                      <a:rPr lang="en-US" b="0" i="0" smtClean="0">
                        <a:solidFill>
                          <a:schemeClr val="tx1"/>
                        </a:solidFill>
                        <a:latin typeface="Cambria Math" panose="02040503050406030204" pitchFamily="18" charset="0"/>
                        <a:cs typeface="Times New Roman" panose="02020603050405020304" pitchFamily="18" charset="0"/>
                      </a:rPr>
                      <m:t>=</m:t>
                    </m:r>
                    <m:sSub>
                      <m:sSubPr>
                        <m:ctrlPr>
                          <a:rPr lang="en-US" b="0" i="1" smtClean="0">
                            <a:solidFill>
                              <a:schemeClr val="tx1"/>
                            </a:solidFill>
                            <a:latin typeface="Cambria Math" panose="02040503050406030204" pitchFamily="18" charset="0"/>
                            <a:cs typeface="Times New Roman" panose="02020603050405020304" pitchFamily="18" charset="0"/>
                          </a:rPr>
                        </m:ctrlPr>
                      </m:sSubPr>
                      <m:e>
                        <m:r>
                          <m:rPr>
                            <m:sty m:val="p"/>
                          </m:rPr>
                          <a:rPr lang="en-US" b="0" i="0" smtClean="0">
                            <a:solidFill>
                              <a:schemeClr val="tx1"/>
                            </a:solidFill>
                            <a:latin typeface="Cambria Math" panose="02040503050406030204" pitchFamily="18" charset="0"/>
                            <a:cs typeface="Times New Roman" panose="02020603050405020304" pitchFamily="18" charset="0"/>
                          </a:rPr>
                          <m:t>D</m:t>
                        </m:r>
                      </m:e>
                      <m:sub>
                        <m:r>
                          <m:rPr>
                            <m:sty m:val="p"/>
                          </m:rPr>
                          <a:rPr lang="en-US" b="0" i="0" smtClean="0">
                            <a:solidFill>
                              <a:schemeClr val="tx1"/>
                            </a:solidFill>
                            <a:latin typeface="Cambria Math" panose="02040503050406030204" pitchFamily="18" charset="0"/>
                            <a:cs typeface="Times New Roman" panose="02020603050405020304" pitchFamily="18" charset="0"/>
                          </a:rPr>
                          <m:t>O</m:t>
                        </m:r>
                      </m:sub>
                    </m:sSub>
                    <m:r>
                      <a:rPr lang="en-US" b="0" i="0" smtClean="0">
                        <a:solidFill>
                          <a:schemeClr val="tx1"/>
                        </a:solidFill>
                        <a:latin typeface="Cambria Math" panose="02040503050406030204" pitchFamily="18" charset="0"/>
                        <a:cs typeface="Times New Roman" panose="02020603050405020304" pitchFamily="18" charset="0"/>
                      </a:rPr>
                      <m:t>+</m:t>
                    </m:r>
                    <m:sSub>
                      <m:sSubPr>
                        <m:ctrlPr>
                          <a:rPr lang="en-US" b="0" i="1" smtClean="0">
                            <a:solidFill>
                              <a:schemeClr val="tx1"/>
                            </a:solidFill>
                            <a:latin typeface="Cambria Math" panose="02040503050406030204" pitchFamily="18" charset="0"/>
                            <a:cs typeface="Times New Roman" panose="02020603050405020304" pitchFamily="18" charset="0"/>
                          </a:rPr>
                        </m:ctrlPr>
                      </m:sSubPr>
                      <m:e>
                        <m:r>
                          <m:rPr>
                            <m:sty m:val="p"/>
                          </m:rPr>
                          <a:rPr lang="en-US" b="0" i="0" smtClean="0">
                            <a:solidFill>
                              <a:schemeClr val="tx1"/>
                            </a:solidFill>
                            <a:latin typeface="Cambria Math" panose="02040503050406030204" pitchFamily="18" charset="0"/>
                            <a:cs typeface="Times New Roman" panose="02020603050405020304" pitchFamily="18" charset="0"/>
                          </a:rPr>
                          <m:t>D</m:t>
                        </m:r>
                      </m:e>
                      <m:sub>
                        <m:r>
                          <m:rPr>
                            <m:sty m:val="p"/>
                          </m:rPr>
                          <a:rPr lang="en-US" b="0" i="0" smtClean="0">
                            <a:solidFill>
                              <a:schemeClr val="tx1"/>
                            </a:solidFill>
                            <a:latin typeface="Cambria Math" panose="02040503050406030204" pitchFamily="18" charset="0"/>
                            <a:cs typeface="Times New Roman" panose="02020603050405020304" pitchFamily="18" charset="0"/>
                          </a:rPr>
                          <m:t>B</m:t>
                        </m:r>
                      </m:sub>
                    </m:sSub>
                    <m:r>
                      <a:rPr lang="en-US" b="0" i="0" smtClean="0">
                        <a:solidFill>
                          <a:schemeClr val="tx1"/>
                        </a:solidFill>
                        <a:latin typeface="Cambria Math" panose="02040503050406030204" pitchFamily="18" charset="0"/>
                        <a:cs typeface="Times New Roman" panose="02020603050405020304" pitchFamily="18" charset="0"/>
                      </a:rPr>
                      <m:t>=</m:t>
                    </m:r>
                    <m:sSub>
                      <m:sSubPr>
                        <m:ctrlPr>
                          <a:rPr lang="en-US" b="0" i="1" smtClean="0">
                            <a:solidFill>
                              <a:schemeClr val="tx1"/>
                            </a:solidFill>
                            <a:latin typeface="Cambria Math" panose="02040503050406030204" pitchFamily="18" charset="0"/>
                            <a:cs typeface="Times New Roman" panose="02020603050405020304" pitchFamily="18" charset="0"/>
                          </a:rPr>
                        </m:ctrlPr>
                      </m:sSubPr>
                      <m:e>
                        <m:r>
                          <m:rPr>
                            <m:sty m:val="p"/>
                          </m:rPr>
                          <a:rPr lang="en-US" b="0" i="0" smtClean="0">
                            <a:solidFill>
                              <a:schemeClr val="tx1"/>
                            </a:solidFill>
                            <a:latin typeface="Cambria Math" panose="02040503050406030204" pitchFamily="18" charset="0"/>
                            <a:cs typeface="Times New Roman" panose="02020603050405020304" pitchFamily="18" charset="0"/>
                          </a:rPr>
                          <m:t>D</m:t>
                        </m:r>
                      </m:e>
                      <m:sub>
                        <m:r>
                          <m:rPr>
                            <m:sty m:val="p"/>
                          </m:rPr>
                          <a:rPr lang="en-US" b="0" i="0" smtClean="0">
                            <a:solidFill>
                              <a:schemeClr val="tx1"/>
                            </a:solidFill>
                            <a:latin typeface="Cambria Math" panose="02040503050406030204" pitchFamily="18" charset="0"/>
                            <a:cs typeface="Times New Roman" panose="02020603050405020304" pitchFamily="18" charset="0"/>
                          </a:rPr>
                          <m:t>o</m:t>
                        </m:r>
                      </m:sub>
                    </m:sSub>
                    <m:r>
                      <a:rPr lang="en-US" b="0" i="0" smtClean="0">
                        <a:solidFill>
                          <a:schemeClr val="tx1"/>
                        </a:solidFill>
                        <a:latin typeface="Cambria Math" panose="02040503050406030204" pitchFamily="18" charset="0"/>
                        <a:cs typeface="Times New Roman" panose="02020603050405020304" pitchFamily="18" charset="0"/>
                      </a:rPr>
                      <m:t>+</m:t>
                    </m:r>
                    <m:f>
                      <m:fPr>
                        <m:ctrlPr>
                          <a:rPr lang="en-US" b="0" i="1" smtClean="0">
                            <a:solidFill>
                              <a:schemeClr val="tx1"/>
                            </a:solidFill>
                            <a:latin typeface="Cambria Math" panose="02040503050406030204" pitchFamily="18" charset="0"/>
                            <a:cs typeface="Times New Roman" panose="02020603050405020304" pitchFamily="18" charset="0"/>
                          </a:rPr>
                        </m:ctrlPr>
                      </m:fPr>
                      <m:num>
                        <m:r>
                          <m:rPr>
                            <m:sty m:val="p"/>
                          </m:rPr>
                          <a:rPr lang="en-US" b="0" i="0" smtClean="0">
                            <a:solidFill>
                              <a:schemeClr val="tx1"/>
                            </a:solidFill>
                            <a:latin typeface="Cambria Math" panose="02040503050406030204" pitchFamily="18" charset="0"/>
                            <a:cs typeface="Times New Roman" panose="02020603050405020304" pitchFamily="18" charset="0"/>
                          </a:rPr>
                          <m:t>V</m:t>
                        </m:r>
                      </m:num>
                      <m:den>
                        <m:r>
                          <a:rPr lang="en-US" b="0" i="0" smtClean="0">
                            <a:solidFill>
                              <a:schemeClr val="tx1"/>
                            </a:solidFill>
                            <a:latin typeface="Cambria Math" panose="02040503050406030204" pitchFamily="18" charset="0"/>
                            <a:cs typeface="Times New Roman" panose="02020603050405020304" pitchFamily="18" charset="0"/>
                          </a:rPr>
                          <m:t>3</m:t>
                        </m:r>
                      </m:den>
                    </m:f>
                    <m:sSup>
                      <m:sSupPr>
                        <m:ctrlPr>
                          <a:rPr lang="en-US" b="0" i="1" smtClean="0">
                            <a:solidFill>
                              <a:schemeClr val="tx1"/>
                            </a:solidFill>
                            <a:latin typeface="Cambria Math" panose="02040503050406030204" pitchFamily="18" charset="0"/>
                            <a:cs typeface="Times New Roman" panose="02020603050405020304" pitchFamily="18" charset="0"/>
                          </a:rPr>
                        </m:ctrlPr>
                      </m:sSupPr>
                      <m:e>
                        <m:d>
                          <m:dPr>
                            <m:ctrlPr>
                              <a:rPr lang="en-US" b="0" i="1" smtClean="0">
                                <a:solidFill>
                                  <a:schemeClr val="tx1"/>
                                </a:solidFill>
                                <a:latin typeface="Cambria Math" panose="02040503050406030204" pitchFamily="18" charset="0"/>
                                <a:cs typeface="Times New Roman" panose="02020603050405020304" pitchFamily="18" charset="0"/>
                              </a:rPr>
                            </m:ctrlPr>
                          </m:dPr>
                          <m:e>
                            <m:f>
                              <m:fPr>
                                <m:ctrlPr>
                                  <a:rPr lang="en-US" b="0" i="1" smtClean="0">
                                    <a:solidFill>
                                      <a:schemeClr val="tx1"/>
                                    </a:solidFill>
                                    <a:latin typeface="Cambria Math" panose="02040503050406030204" pitchFamily="18" charset="0"/>
                                    <a:cs typeface="Times New Roman" panose="02020603050405020304" pitchFamily="18" charset="0"/>
                                  </a:rPr>
                                </m:ctrlPr>
                              </m:fPr>
                              <m:num>
                                <m:sSub>
                                  <m:sSubPr>
                                    <m:ctrlPr>
                                      <a:rPr lang="en-US" b="0" i="1" smtClean="0">
                                        <a:solidFill>
                                          <a:schemeClr val="tx1"/>
                                        </a:solidFill>
                                        <a:latin typeface="Cambria Math" panose="02040503050406030204" pitchFamily="18" charset="0"/>
                                        <a:cs typeface="Times New Roman" panose="02020603050405020304" pitchFamily="18" charset="0"/>
                                      </a:rPr>
                                    </m:ctrlPr>
                                  </m:sSubPr>
                                  <m:e>
                                    <m:r>
                                      <m:rPr>
                                        <m:sty m:val="p"/>
                                      </m:rPr>
                                      <a:rPr lang="en-US" b="0" i="0" smtClean="0">
                                        <a:solidFill>
                                          <a:schemeClr val="tx1"/>
                                        </a:solidFill>
                                        <a:latin typeface="Cambria Math" panose="02040503050406030204" pitchFamily="18" charset="0"/>
                                        <a:cs typeface="Times New Roman" panose="02020603050405020304" pitchFamily="18" charset="0"/>
                                      </a:rPr>
                                      <m:t>f</m:t>
                                    </m:r>
                                  </m:e>
                                  <m:sub>
                                    <m:r>
                                      <m:rPr>
                                        <m:sty m:val="p"/>
                                      </m:rPr>
                                      <a:rPr lang="en-US" b="0" i="0" smtClean="0">
                                        <a:solidFill>
                                          <a:schemeClr val="tx1"/>
                                        </a:solidFill>
                                        <a:latin typeface="Cambria Math" panose="02040503050406030204" pitchFamily="18" charset="0"/>
                                        <a:cs typeface="Times New Roman" panose="02020603050405020304" pitchFamily="18" charset="0"/>
                                      </a:rPr>
                                      <m:t>B</m:t>
                                    </m:r>
                                  </m:sub>
                                </m:sSub>
                                <m:sSub>
                                  <m:sSubPr>
                                    <m:ctrlPr>
                                      <a:rPr lang="en-US" b="0" i="1" smtClean="0">
                                        <a:solidFill>
                                          <a:schemeClr val="tx1"/>
                                        </a:solidFill>
                                        <a:latin typeface="Cambria Math" panose="02040503050406030204" pitchFamily="18" charset="0"/>
                                        <a:cs typeface="Times New Roman" panose="02020603050405020304" pitchFamily="18" charset="0"/>
                                      </a:rPr>
                                    </m:ctrlPr>
                                  </m:sSubPr>
                                  <m:e>
                                    <m:r>
                                      <m:rPr>
                                        <m:sty m:val="p"/>
                                      </m:rPr>
                                      <a:rPr lang="en-US" b="0" i="0" smtClean="0">
                                        <a:solidFill>
                                          <a:schemeClr val="tx1"/>
                                        </a:solidFill>
                                        <a:latin typeface="Cambria Math" panose="02040503050406030204" pitchFamily="18" charset="0"/>
                                        <a:cs typeface="Times New Roman" panose="02020603050405020304" pitchFamily="18" charset="0"/>
                                      </a:rPr>
                                      <m:t>τ</m:t>
                                    </m:r>
                                  </m:e>
                                  <m:sub>
                                    <m:r>
                                      <m:rPr>
                                        <m:sty m:val="p"/>
                                      </m:rPr>
                                      <a:rPr lang="en-US" b="0" i="0" smtClean="0">
                                        <a:solidFill>
                                          <a:schemeClr val="tx1"/>
                                        </a:solidFill>
                                        <a:latin typeface="Cambria Math" panose="02040503050406030204" pitchFamily="18" charset="0"/>
                                        <a:cs typeface="Times New Roman" panose="02020603050405020304" pitchFamily="18" charset="0"/>
                                      </a:rPr>
                                      <m:t>B</m:t>
                                    </m:r>
                                  </m:sub>
                                </m:sSub>
                              </m:num>
                              <m:den>
                                <m:r>
                                  <m:rPr>
                                    <m:sty m:val="p"/>
                                  </m:rPr>
                                  <a:rPr lang="en-US" b="0" i="0" smtClean="0">
                                    <a:solidFill>
                                      <a:schemeClr val="tx1"/>
                                    </a:solidFill>
                                    <a:latin typeface="Cambria Math" panose="02040503050406030204" pitchFamily="18" charset="0"/>
                                    <a:cs typeface="Times New Roman" panose="02020603050405020304" pitchFamily="18" charset="0"/>
                                  </a:rPr>
                                  <m:t>γ</m:t>
                                </m:r>
                              </m:den>
                            </m:f>
                          </m:e>
                        </m:d>
                      </m:e>
                      <m:sup>
                        <m:r>
                          <a:rPr lang="en-US" b="0" i="0" smtClean="0">
                            <a:solidFill>
                              <a:schemeClr val="tx1"/>
                            </a:solidFill>
                            <a:latin typeface="Cambria Math" panose="02040503050406030204" pitchFamily="18" charset="0"/>
                            <a:cs typeface="Times New Roman" panose="02020603050405020304" pitchFamily="18" charset="0"/>
                          </a:rPr>
                          <m:t>2</m:t>
                        </m:r>
                      </m:sup>
                    </m:sSup>
                    <m:d>
                      <m:dPr>
                        <m:ctrlPr>
                          <a:rPr lang="en-US" b="0" i="1" smtClean="0">
                            <a:solidFill>
                              <a:schemeClr val="tx1"/>
                            </a:solidFill>
                            <a:latin typeface="Cambria Math" panose="02040503050406030204" pitchFamily="18" charset="0"/>
                            <a:cs typeface="Times New Roman" panose="02020603050405020304" pitchFamily="18" charset="0"/>
                          </a:rPr>
                        </m:ctrlPr>
                      </m:dPr>
                      <m:e>
                        <m:sSup>
                          <m:sSupPr>
                            <m:ctrlPr>
                              <a:rPr lang="en-US" b="0" i="1" smtClean="0">
                                <a:solidFill>
                                  <a:schemeClr val="tx1"/>
                                </a:solidFill>
                                <a:latin typeface="Cambria Math" panose="02040503050406030204" pitchFamily="18" charset="0"/>
                                <a:cs typeface="Times New Roman" panose="02020603050405020304" pitchFamily="18" charset="0"/>
                              </a:rPr>
                            </m:ctrlPr>
                          </m:sSupPr>
                          <m:e>
                            <m:r>
                              <m:rPr>
                                <m:sty m:val="p"/>
                              </m:rPr>
                              <a:rPr lang="en-US" b="0" i="0" smtClean="0">
                                <a:solidFill>
                                  <a:schemeClr val="tx1"/>
                                </a:solidFill>
                                <a:latin typeface="Cambria Math" panose="02040503050406030204" pitchFamily="18" charset="0"/>
                                <a:cs typeface="Times New Roman" panose="02020603050405020304" pitchFamily="18" charset="0"/>
                              </a:rPr>
                              <m:t>e</m:t>
                            </m:r>
                          </m:e>
                          <m:sup>
                            <m:r>
                              <a:rPr lang="en-US" b="0" i="0" smtClean="0">
                                <a:solidFill>
                                  <a:schemeClr val="tx1"/>
                                </a:solidFill>
                                <a:latin typeface="Cambria Math" panose="02040503050406030204" pitchFamily="18" charset="0"/>
                                <a:cs typeface="Times New Roman" panose="02020603050405020304" pitchFamily="18" charset="0"/>
                              </a:rPr>
                              <m:t>− </m:t>
                            </m:r>
                            <m:f>
                              <m:fPr>
                                <m:ctrlPr>
                                  <a:rPr lang="en-US" b="0" i="1" smtClean="0">
                                    <a:solidFill>
                                      <a:schemeClr val="tx1"/>
                                    </a:solidFill>
                                    <a:latin typeface="Cambria Math" panose="02040503050406030204" pitchFamily="18" charset="0"/>
                                    <a:cs typeface="Times New Roman" panose="02020603050405020304" pitchFamily="18" charset="0"/>
                                  </a:rPr>
                                </m:ctrlPr>
                              </m:fPr>
                              <m:num>
                                <m:sSub>
                                  <m:sSubPr>
                                    <m:ctrlPr>
                                      <a:rPr lang="en-US" b="0" i="1" smtClean="0">
                                        <a:solidFill>
                                          <a:schemeClr val="tx1"/>
                                        </a:solidFill>
                                        <a:latin typeface="Cambria Math" panose="02040503050406030204" pitchFamily="18" charset="0"/>
                                        <a:cs typeface="Times New Roman" panose="02020603050405020304" pitchFamily="18" charset="0"/>
                                      </a:rPr>
                                    </m:ctrlPr>
                                  </m:sSubPr>
                                  <m:e>
                                    <m:r>
                                      <m:rPr>
                                        <m:sty m:val="p"/>
                                      </m:rPr>
                                      <a:rPr lang="en-US" b="0" i="0" smtClean="0">
                                        <a:solidFill>
                                          <a:schemeClr val="tx1"/>
                                        </a:solidFill>
                                        <a:latin typeface="Cambria Math" panose="02040503050406030204" pitchFamily="18" charset="0"/>
                                        <a:cs typeface="Times New Roman" panose="02020603050405020304" pitchFamily="18" charset="0"/>
                                      </a:rPr>
                                      <m:t>τ</m:t>
                                    </m:r>
                                  </m:e>
                                  <m:sub>
                                    <m:r>
                                      <m:rPr>
                                        <m:sty m:val="p"/>
                                      </m:rPr>
                                      <a:rPr lang="en-US" b="0" i="0" smtClean="0">
                                        <a:solidFill>
                                          <a:schemeClr val="tx1"/>
                                        </a:solidFill>
                                        <a:latin typeface="Cambria Math" panose="02040503050406030204" pitchFamily="18" charset="0"/>
                                        <a:cs typeface="Times New Roman" panose="02020603050405020304" pitchFamily="18" charset="0"/>
                                      </a:rPr>
                                      <m:t>B</m:t>
                                    </m:r>
                                  </m:sub>
                                </m:sSub>
                              </m:num>
                              <m:den>
                                <m:sSub>
                                  <m:sSubPr>
                                    <m:ctrlPr>
                                      <a:rPr lang="en-US" b="0" i="1" smtClean="0">
                                        <a:solidFill>
                                          <a:schemeClr val="tx1"/>
                                        </a:solidFill>
                                        <a:latin typeface="Cambria Math" panose="02040503050406030204" pitchFamily="18" charset="0"/>
                                        <a:cs typeface="Times New Roman" panose="02020603050405020304" pitchFamily="18" charset="0"/>
                                      </a:rPr>
                                    </m:ctrlPr>
                                  </m:sSubPr>
                                  <m:e>
                                    <m:r>
                                      <m:rPr>
                                        <m:sty m:val="p"/>
                                      </m:rPr>
                                      <a:rPr lang="en-US" b="0" i="0" smtClean="0">
                                        <a:solidFill>
                                          <a:schemeClr val="tx1"/>
                                        </a:solidFill>
                                        <a:latin typeface="Cambria Math" panose="02040503050406030204" pitchFamily="18" charset="0"/>
                                        <a:cs typeface="Times New Roman" panose="02020603050405020304" pitchFamily="18" charset="0"/>
                                      </a:rPr>
                                      <m:t>τ</m:t>
                                    </m:r>
                                  </m:e>
                                  <m:sub>
                                    <m:r>
                                      <m:rPr>
                                        <m:sty m:val="p"/>
                                      </m:rPr>
                                      <a:rPr lang="en-US" b="0" i="0" smtClean="0">
                                        <a:solidFill>
                                          <a:schemeClr val="tx1"/>
                                        </a:solidFill>
                                        <a:latin typeface="Cambria Math" panose="02040503050406030204" pitchFamily="18" charset="0"/>
                                        <a:cs typeface="Times New Roman" panose="02020603050405020304" pitchFamily="18" charset="0"/>
                                      </a:rPr>
                                      <m:t>R</m:t>
                                    </m:r>
                                  </m:sub>
                                </m:sSub>
                              </m:den>
                            </m:f>
                          </m:sup>
                        </m:sSup>
                        <m:r>
                          <a:rPr lang="en-US" b="0" i="0" smtClean="0">
                            <a:solidFill>
                              <a:schemeClr val="tx1"/>
                            </a:solidFill>
                            <a:latin typeface="Cambria Math" panose="02040503050406030204" pitchFamily="18" charset="0"/>
                            <a:cs typeface="Times New Roman" panose="02020603050405020304" pitchFamily="18" charset="0"/>
                          </a:rPr>
                          <m:t>−1+</m:t>
                        </m:r>
                        <m:f>
                          <m:fPr>
                            <m:ctrlPr>
                              <a:rPr lang="en-US" b="0" i="1" smtClean="0">
                                <a:solidFill>
                                  <a:schemeClr val="tx1"/>
                                </a:solidFill>
                                <a:latin typeface="Cambria Math" panose="02040503050406030204" pitchFamily="18" charset="0"/>
                                <a:cs typeface="Times New Roman" panose="02020603050405020304" pitchFamily="18" charset="0"/>
                              </a:rPr>
                            </m:ctrlPr>
                          </m:fPr>
                          <m:num>
                            <m:sSub>
                              <m:sSubPr>
                                <m:ctrlPr>
                                  <a:rPr lang="en-US" b="0" i="1" smtClean="0">
                                    <a:solidFill>
                                      <a:schemeClr val="tx1"/>
                                    </a:solidFill>
                                    <a:latin typeface="Cambria Math" panose="02040503050406030204" pitchFamily="18" charset="0"/>
                                    <a:cs typeface="Times New Roman" panose="02020603050405020304" pitchFamily="18" charset="0"/>
                                  </a:rPr>
                                </m:ctrlPr>
                              </m:sSubPr>
                              <m:e>
                                <m:r>
                                  <m:rPr>
                                    <m:sty m:val="p"/>
                                  </m:rPr>
                                  <a:rPr lang="en-US" b="0" i="0" smtClean="0">
                                    <a:solidFill>
                                      <a:schemeClr val="tx1"/>
                                    </a:solidFill>
                                    <a:latin typeface="Cambria Math" panose="02040503050406030204" pitchFamily="18" charset="0"/>
                                    <a:cs typeface="Times New Roman" panose="02020603050405020304" pitchFamily="18" charset="0"/>
                                  </a:rPr>
                                  <m:t>τ</m:t>
                                </m:r>
                              </m:e>
                              <m:sub>
                                <m:r>
                                  <m:rPr>
                                    <m:sty m:val="p"/>
                                  </m:rPr>
                                  <a:rPr lang="en-US" b="0" i="0" smtClean="0">
                                    <a:solidFill>
                                      <a:schemeClr val="tx1"/>
                                    </a:solidFill>
                                    <a:latin typeface="Cambria Math" panose="02040503050406030204" pitchFamily="18" charset="0"/>
                                    <a:cs typeface="Times New Roman" panose="02020603050405020304" pitchFamily="18" charset="0"/>
                                  </a:rPr>
                                  <m:t>B</m:t>
                                </m:r>
                              </m:sub>
                            </m:sSub>
                          </m:num>
                          <m:den>
                            <m:sSub>
                              <m:sSubPr>
                                <m:ctrlPr>
                                  <a:rPr lang="en-US" b="0" i="1" smtClean="0">
                                    <a:solidFill>
                                      <a:schemeClr val="tx1"/>
                                    </a:solidFill>
                                    <a:latin typeface="Cambria Math" panose="02040503050406030204" pitchFamily="18" charset="0"/>
                                    <a:cs typeface="Times New Roman" panose="02020603050405020304" pitchFamily="18" charset="0"/>
                                  </a:rPr>
                                </m:ctrlPr>
                              </m:sSubPr>
                              <m:e>
                                <m:r>
                                  <m:rPr>
                                    <m:sty m:val="p"/>
                                  </m:rPr>
                                  <a:rPr lang="en-US" b="0" i="0" smtClean="0">
                                    <a:solidFill>
                                      <a:schemeClr val="tx1"/>
                                    </a:solidFill>
                                    <a:latin typeface="Cambria Math" panose="02040503050406030204" pitchFamily="18" charset="0"/>
                                    <a:cs typeface="Times New Roman" panose="02020603050405020304" pitchFamily="18" charset="0"/>
                                  </a:rPr>
                                  <m:t>τ</m:t>
                                </m:r>
                              </m:e>
                              <m:sub>
                                <m:r>
                                  <m:rPr>
                                    <m:sty m:val="p"/>
                                  </m:rPr>
                                  <a:rPr lang="en-US" b="0" i="0" smtClean="0">
                                    <a:solidFill>
                                      <a:schemeClr val="tx1"/>
                                    </a:solidFill>
                                    <a:latin typeface="Cambria Math" panose="02040503050406030204" pitchFamily="18" charset="0"/>
                                    <a:cs typeface="Times New Roman" panose="02020603050405020304" pitchFamily="18" charset="0"/>
                                  </a:rPr>
                                  <m:t>R</m:t>
                                </m:r>
                              </m:sub>
                            </m:sSub>
                          </m:den>
                        </m:f>
                      </m:e>
                    </m:d>
                  </m:oMath>
                </a14:m>
                <a:endParaRPr lang="en-IN">
                  <a:solidFill>
                    <a:schemeClr val="tx1"/>
                  </a:solidFill>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7FAEB035-7298-5110-FC77-EA564FC92E33}"/>
                  </a:ext>
                </a:extLst>
              </p:cNvPr>
              <p:cNvSpPr txBox="1">
                <a:spLocks noRot="1" noChangeAspect="1" noMove="1" noResize="1" noEditPoints="1" noAdjustHandles="1" noChangeArrowheads="1" noChangeShapeType="1" noTextEdit="1"/>
              </p:cNvSpPr>
              <p:nvPr/>
            </p:nvSpPr>
            <p:spPr>
              <a:xfrm>
                <a:off x="3865618" y="2165642"/>
                <a:ext cx="7590573" cy="615425"/>
              </a:xfrm>
              <a:prstGeom prst="rect">
                <a:avLst/>
              </a:prstGeom>
              <a:blipFill>
                <a:blip r:embed="rId4"/>
                <a:stretch>
                  <a:fillRect l="-803" b="-990"/>
                </a:stretch>
              </a:blipFill>
            </p:spPr>
            <p:txBody>
              <a:bodyPr/>
              <a:lstStyle/>
              <a:p>
                <a:r>
                  <a:rPr lang="en-IN">
                    <a:noFill/>
                  </a:rPr>
                  <a:t> </a:t>
                </a:r>
              </a:p>
            </p:txBody>
          </p:sp>
        </mc:Fallback>
      </mc:AlternateContent>
      <p:pic>
        <p:nvPicPr>
          <p:cNvPr id="57" name="Picture 56">
            <a:extLst>
              <a:ext uri="{FF2B5EF4-FFF2-40B4-BE49-F238E27FC236}">
                <a16:creationId xmlns:a16="http://schemas.microsoft.com/office/drawing/2014/main" id="{56DC4B7E-2F0E-A57A-ADE5-4F024721D817}"/>
              </a:ext>
            </a:extLst>
          </p:cNvPr>
          <p:cNvPicPr>
            <a:picLocks noChangeAspect="1"/>
          </p:cNvPicPr>
          <p:nvPr/>
        </p:nvPicPr>
        <p:blipFill rotWithShape="1">
          <a:blip r:embed="rId5"/>
          <a:srcRect t="4872" r="10777"/>
          <a:stretch/>
        </p:blipFill>
        <p:spPr>
          <a:xfrm>
            <a:off x="3594565" y="3238463"/>
            <a:ext cx="3286923" cy="2704951"/>
          </a:xfrm>
          <a:prstGeom prst="rect">
            <a:avLst/>
          </a:prstGeom>
        </p:spPr>
      </p:pic>
      <p:sp>
        <p:nvSpPr>
          <p:cNvPr id="58" name="TextBox 57">
            <a:extLst>
              <a:ext uri="{FF2B5EF4-FFF2-40B4-BE49-F238E27FC236}">
                <a16:creationId xmlns:a16="http://schemas.microsoft.com/office/drawing/2014/main" id="{E1EAE19A-7F9E-49DF-136E-A66498DD6DA1}"/>
              </a:ext>
            </a:extLst>
          </p:cNvPr>
          <p:cNvSpPr txBox="1"/>
          <p:nvPr/>
        </p:nvSpPr>
        <p:spPr>
          <a:xfrm>
            <a:off x="3865618" y="5857544"/>
            <a:ext cx="3441539" cy="400110"/>
          </a:xfrm>
          <a:prstGeom prst="rect">
            <a:avLst/>
          </a:prstGeom>
          <a:noFill/>
        </p:spPr>
        <p:txBody>
          <a:bodyPr wrap="square" rtlCol="0">
            <a:spAutoFit/>
          </a:bodyPr>
          <a:lstStyle/>
          <a:p>
            <a:r>
              <a:rPr lang="en-US" sz="2000">
                <a:latin typeface="Times New Roman" panose="02020603050405020304" pitchFamily="18" charset="0"/>
                <a:cs typeface="Times New Roman" panose="02020603050405020304" pitchFamily="18" charset="0"/>
              </a:rPr>
              <a:t>b) Beam waist vs transit time</a:t>
            </a:r>
          </a:p>
        </p:txBody>
      </p:sp>
      <p:sp>
        <p:nvSpPr>
          <p:cNvPr id="65" name="TextBox 64">
            <a:extLst>
              <a:ext uri="{FF2B5EF4-FFF2-40B4-BE49-F238E27FC236}">
                <a16:creationId xmlns:a16="http://schemas.microsoft.com/office/drawing/2014/main" id="{02C48300-68E5-920C-AFBE-29788882DD5F}"/>
              </a:ext>
            </a:extLst>
          </p:cNvPr>
          <p:cNvSpPr txBox="1"/>
          <p:nvPr/>
        </p:nvSpPr>
        <p:spPr>
          <a:xfrm>
            <a:off x="1735302" y="2830149"/>
            <a:ext cx="6392905" cy="400110"/>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Boosted Diffusion from transit time</a:t>
            </a:r>
            <a:endParaRPr lang="en-IN" sz="2000"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8B159EBB-6619-C919-2C15-6F003884D84E}"/>
                  </a:ext>
                </a:extLst>
              </p:cNvPr>
              <p:cNvSpPr txBox="1"/>
              <p:nvPr/>
            </p:nvSpPr>
            <p:spPr>
              <a:xfrm>
                <a:off x="10972168" y="2259770"/>
                <a:ext cx="1982448" cy="428131"/>
              </a:xfrm>
              <a:prstGeom prst="rect">
                <a:avLst/>
              </a:prstGeom>
              <a:noFill/>
            </p:spPr>
            <p:txBody>
              <a:bodyPr wrap="square">
                <a:spAutoFit/>
              </a:bodyPr>
              <a:lstStyle/>
              <a:p>
                <a14:m>
                  <m:oMath xmlns:m="http://schemas.openxmlformats.org/officeDocument/2006/math">
                    <m:r>
                      <a:rPr lang="en-US" sz="1400" b="0" i="1" smtClean="0">
                        <a:latin typeface="Cambria Math" panose="02040503050406030204" pitchFamily="18" charset="0"/>
                      </a:rPr>
                      <m:t>𝑉</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𝑘</m:t>
                            </m:r>
                          </m:e>
                          <m:sub>
                            <m:r>
                              <a:rPr lang="en-US" sz="1400" b="0" i="1" smtClean="0">
                                <a:latin typeface="Cambria Math" panose="02040503050406030204" pitchFamily="18" charset="0"/>
                              </a:rPr>
                              <m:t>𝑐𝑎𝑡</m:t>
                            </m:r>
                          </m:sub>
                        </m:sSub>
                        <m:r>
                          <a:rPr lang="en-US" sz="1400" b="0" i="1" smtClean="0">
                            <a:latin typeface="Cambria Math" panose="02040503050406030204" pitchFamily="18" charset="0"/>
                          </a:rPr>
                          <m:t>𝑐</m:t>
                        </m:r>
                      </m:num>
                      <m:den>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𝐾</m:t>
                            </m:r>
                          </m:e>
                          <m:sub>
                            <m:r>
                              <a:rPr lang="en-US" sz="1400" b="0" i="1" smtClean="0">
                                <a:latin typeface="Cambria Math" panose="02040503050406030204" pitchFamily="18" charset="0"/>
                              </a:rPr>
                              <m:t>𝑀</m:t>
                            </m:r>
                          </m:sub>
                        </m:sSub>
                        <m:r>
                          <a:rPr lang="en-US" sz="1400" b="0" i="1" smtClean="0">
                            <a:latin typeface="Cambria Math" panose="02040503050406030204" pitchFamily="18" charset="0"/>
                          </a:rPr>
                          <m:t>+</m:t>
                        </m:r>
                        <m:r>
                          <a:rPr lang="en-US" sz="1400" b="0" i="1" smtClean="0">
                            <a:latin typeface="Cambria Math" panose="02040503050406030204" pitchFamily="18" charset="0"/>
                          </a:rPr>
                          <m:t>𝑐</m:t>
                        </m:r>
                      </m:den>
                    </m:f>
                  </m:oMath>
                </a14:m>
                <a:r>
                  <a:rPr lang="en-IN" sz="1400"/>
                  <a:t> </a:t>
                </a:r>
              </a:p>
            </p:txBody>
          </p:sp>
        </mc:Choice>
        <mc:Fallback xmlns="">
          <p:sp>
            <p:nvSpPr>
              <p:cNvPr id="66" name="TextBox 65">
                <a:extLst>
                  <a:ext uri="{FF2B5EF4-FFF2-40B4-BE49-F238E27FC236}">
                    <a16:creationId xmlns:a16="http://schemas.microsoft.com/office/drawing/2014/main" id="{8B159EBB-6619-C919-2C15-6F003884D84E}"/>
                  </a:ext>
                </a:extLst>
              </p:cNvPr>
              <p:cNvSpPr txBox="1">
                <a:spLocks noRot="1" noChangeAspect="1" noMove="1" noResize="1" noEditPoints="1" noAdjustHandles="1" noChangeArrowheads="1" noChangeShapeType="1" noTextEdit="1"/>
              </p:cNvSpPr>
              <p:nvPr/>
            </p:nvSpPr>
            <p:spPr>
              <a:xfrm>
                <a:off x="10972168" y="2259770"/>
                <a:ext cx="1982448" cy="428131"/>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BA95DDDC-C468-49DD-6F0D-4875A5F1B116}"/>
                  </a:ext>
                </a:extLst>
              </p:cNvPr>
              <p:cNvSpPr>
                <a:spLocks noGrp="1"/>
              </p:cNvSpPr>
              <p:nvPr>
                <p:ph idx="1"/>
              </p:nvPr>
            </p:nvSpPr>
            <p:spPr>
              <a:xfrm>
                <a:off x="5699811" y="3199657"/>
                <a:ext cx="7535919" cy="4590941"/>
              </a:xfrm>
            </p:spPr>
            <p:txBody>
              <a:bodyPr>
                <a:normAutofit/>
              </a:bodyPr>
              <a:lstStyle/>
              <a:p>
                <a:pPr marL="0" indent="0" algn="ctr">
                  <a:lnSpc>
                    <a:spcPct val="100000"/>
                  </a:lnSpc>
                  <a:buNone/>
                </a:pPr>
                <a14:m>
                  <m:oMathPara xmlns:m="http://schemas.openxmlformats.org/officeDocument/2006/math">
                    <m:oMathParaPr>
                      <m:jc m:val="centerGroup"/>
                    </m:oMathParaPr>
                    <m:oMath xmlns:m="http://schemas.openxmlformats.org/officeDocument/2006/math">
                      <m:r>
                        <m:rPr>
                          <m:sty m:val="p"/>
                        </m:rPr>
                        <a:rPr lang="en-US" sz="1800" b="0" i="0" smtClean="0">
                          <a:latin typeface="Cambria Math" panose="02040503050406030204" pitchFamily="18" charset="0"/>
                        </a:rPr>
                        <m:t>MSD</m:t>
                      </m:r>
                      <m:r>
                        <a:rPr lang="en-US" sz="1800" b="0" i="0" smtClean="0">
                          <a:latin typeface="Cambria Math" panose="02040503050406030204" pitchFamily="18" charset="0"/>
                        </a:rPr>
                        <m:t> ∝</m:t>
                      </m:r>
                      <m:sSup>
                        <m:sSupPr>
                          <m:ctrlPr>
                            <a:rPr lang="en-US" sz="1800" b="0" i="1" smtClean="0">
                              <a:latin typeface="Cambria Math" panose="02040503050406030204" pitchFamily="18" charset="0"/>
                              <a:ea typeface="Cambria Math" panose="02040503050406030204" pitchFamily="18" charset="0"/>
                            </a:rPr>
                          </m:ctrlPr>
                        </m:sSupPr>
                        <m:e>
                          <m:r>
                            <m:rPr>
                              <m:sty m:val="p"/>
                            </m:rPr>
                            <a:rPr lang="en-US" sz="1800" b="0" i="0" smtClean="0">
                              <a:latin typeface="Cambria Math" panose="02040503050406030204" pitchFamily="18" charset="0"/>
                              <a:ea typeface="Cambria Math" panose="02040503050406030204" pitchFamily="18" charset="0"/>
                            </a:rPr>
                            <m:t>w</m:t>
                          </m:r>
                        </m:e>
                        <m:sup>
                          <m:r>
                            <a:rPr lang="en-US" sz="1800" b="0" i="0" smtClean="0">
                              <a:latin typeface="Cambria Math" panose="02040503050406030204" pitchFamily="18" charset="0"/>
                              <a:ea typeface="Cambria Math" panose="02040503050406030204" pitchFamily="18" charset="0"/>
                            </a:rPr>
                            <m:t>2</m:t>
                          </m:r>
                        </m:sup>
                      </m:sSup>
                    </m:oMath>
                  </m:oMathPara>
                </a14:m>
                <a:endParaRPr lang="en-US" sz="1800">
                  <a:latin typeface="Times New Roman" panose="02020603050405020304" pitchFamily="18" charset="0"/>
                  <a:cs typeface="Times New Roman" panose="02020603050405020304" pitchFamily="18" charset="0"/>
                </a:endParaRPr>
              </a:p>
              <a:p>
                <a:pPr marL="0" indent="0" algn="ctr">
                  <a:lnSpc>
                    <a:spcPct val="100000"/>
                  </a:lnSpc>
                  <a:buNone/>
                </a:pPr>
                <a:r>
                  <a:rPr lang="en-US" sz="1800">
                    <a:latin typeface="Times New Roman" panose="02020603050405020304" pitchFamily="18" charset="0"/>
                    <a:cs typeface="Times New Roman" panose="02020603050405020304" pitchFamily="18" charset="0"/>
                  </a:rPr>
                  <a:t>Standard Brownian Motion – Without substrate</a:t>
                </a:r>
              </a:p>
              <a:p>
                <a:pPr marL="0" indent="0">
                  <a:lnSpc>
                    <a:spcPct val="100000"/>
                  </a:lnSpc>
                  <a:buNone/>
                </a:pPr>
                <a14:m>
                  <m:oMathPara xmlns:m="http://schemas.openxmlformats.org/officeDocument/2006/math">
                    <m:oMathParaPr>
                      <m:jc m:val="centerGroup"/>
                    </m:oMathParaPr>
                    <m:oMath xmlns:m="http://schemas.openxmlformats.org/officeDocument/2006/math">
                      <m:sSup>
                        <m:sSupPr>
                          <m:ctrlPr>
                            <a:rPr lang="en-US" sz="1800" i="1" smtClean="0">
                              <a:solidFill>
                                <a:schemeClr val="tx1"/>
                              </a:solidFill>
                              <a:latin typeface="Cambria Math" panose="02040503050406030204" pitchFamily="18" charset="0"/>
                            </a:rPr>
                          </m:ctrlPr>
                        </m:sSupPr>
                        <m:e>
                          <m:r>
                            <m:rPr>
                              <m:sty m:val="p"/>
                            </m:rPr>
                            <a:rPr lang="en-US" sz="1800" b="0" i="0" smtClean="0">
                              <a:solidFill>
                                <a:schemeClr val="tx1"/>
                              </a:solidFill>
                              <a:latin typeface="Cambria Math" panose="02040503050406030204" pitchFamily="18" charset="0"/>
                            </a:rPr>
                            <m:t>w</m:t>
                          </m:r>
                        </m:e>
                        <m:sup>
                          <m:r>
                            <a:rPr lang="en-US" sz="1800" b="0" i="0" smtClean="0">
                              <a:solidFill>
                                <a:schemeClr val="tx1"/>
                              </a:solidFill>
                              <a:latin typeface="Cambria Math" panose="02040503050406030204" pitchFamily="18" charset="0"/>
                            </a:rPr>
                            <m:t>2</m:t>
                          </m:r>
                        </m:sup>
                      </m:sSup>
                      <m:r>
                        <a:rPr lang="en-US" sz="1800" b="0" i="0" smtClean="0">
                          <a:solidFill>
                            <a:schemeClr val="tx1"/>
                          </a:solidFill>
                          <a:latin typeface="Cambria Math" panose="02040503050406030204" pitchFamily="18" charset="0"/>
                        </a:rPr>
                        <m:t>=</m:t>
                      </m:r>
                      <m:r>
                        <m:rPr>
                          <m:sty m:val="p"/>
                        </m:rPr>
                        <a:rPr lang="en-US" sz="1800" b="0" i="0" smtClean="0">
                          <a:solidFill>
                            <a:schemeClr val="tx1"/>
                          </a:solidFill>
                          <a:latin typeface="Cambria Math" panose="02040503050406030204" pitchFamily="18" charset="0"/>
                        </a:rPr>
                        <m:t>α</m:t>
                      </m:r>
                      <m:r>
                        <a:rPr lang="en-US" sz="1800" b="0" i="0" smtClean="0">
                          <a:solidFill>
                            <a:schemeClr val="tx1"/>
                          </a:solidFill>
                          <a:latin typeface="Cambria Math" panose="02040503050406030204" pitchFamily="18" charset="0"/>
                        </a:rPr>
                        <m:t>6</m:t>
                      </m:r>
                      <m:sSub>
                        <m:sSubPr>
                          <m:ctrlPr>
                            <a:rPr lang="en-US" sz="1800" i="1" smtClean="0">
                              <a:solidFill>
                                <a:schemeClr val="tx1"/>
                              </a:solidFill>
                              <a:latin typeface="Cambria Math" panose="02040503050406030204" pitchFamily="18" charset="0"/>
                            </a:rPr>
                          </m:ctrlPr>
                        </m:sSubPr>
                        <m:e>
                          <m:r>
                            <m:rPr>
                              <m:sty m:val="p"/>
                            </m:rPr>
                            <a:rPr lang="en-US" sz="1800" b="0" i="0" smtClean="0">
                              <a:solidFill>
                                <a:schemeClr val="tx1"/>
                              </a:solidFill>
                              <a:latin typeface="Cambria Math" panose="02040503050406030204" pitchFamily="18" charset="0"/>
                            </a:rPr>
                            <m:t>D</m:t>
                          </m:r>
                        </m:e>
                        <m:sub>
                          <m:r>
                            <m:rPr>
                              <m:sty m:val="p"/>
                            </m:rPr>
                            <a:rPr lang="en-US" sz="1800" b="0" i="0" smtClean="0">
                              <a:solidFill>
                                <a:schemeClr val="tx1"/>
                              </a:solidFill>
                              <a:latin typeface="Cambria Math" panose="02040503050406030204" pitchFamily="18" charset="0"/>
                            </a:rPr>
                            <m:t>O</m:t>
                          </m:r>
                        </m:sub>
                      </m:sSub>
                      <m:sSub>
                        <m:sSubPr>
                          <m:ctrlPr>
                            <a:rPr lang="en-US" sz="1800" i="1" smtClean="0">
                              <a:solidFill>
                                <a:schemeClr val="tx1"/>
                              </a:solidFill>
                              <a:latin typeface="Cambria Math" panose="02040503050406030204" pitchFamily="18" charset="0"/>
                            </a:rPr>
                          </m:ctrlPr>
                        </m:sSubPr>
                        <m:e>
                          <m:r>
                            <m:rPr>
                              <m:sty m:val="p"/>
                            </m:rPr>
                            <a:rPr lang="en-US" sz="1800" b="0" i="0" smtClean="0">
                              <a:solidFill>
                                <a:schemeClr val="tx1"/>
                              </a:solidFill>
                              <a:latin typeface="Cambria Math" panose="02040503050406030204" pitchFamily="18" charset="0"/>
                            </a:rPr>
                            <m:t>t</m:t>
                          </m:r>
                        </m:e>
                        <m:sub>
                          <m:r>
                            <m:rPr>
                              <m:sty m:val="p"/>
                            </m:rPr>
                            <a:rPr lang="en-US" sz="1800" b="0" i="0" smtClean="0">
                              <a:solidFill>
                                <a:schemeClr val="tx1"/>
                              </a:solidFill>
                              <a:latin typeface="Cambria Math" panose="02040503050406030204" pitchFamily="18" charset="0"/>
                            </a:rPr>
                            <m:t>w</m:t>
                          </m:r>
                        </m:sub>
                      </m:sSub>
                      <m:r>
                        <a:rPr lang="en-US" sz="1800" b="0" i="0" smtClean="0">
                          <a:solidFill>
                            <a:schemeClr val="tx1"/>
                          </a:solidFill>
                          <a:latin typeface="Cambria Math" panose="02040503050406030204" pitchFamily="18" charset="0"/>
                        </a:rPr>
                        <m:t>=</m:t>
                      </m:r>
                      <m:r>
                        <a:rPr lang="en-US" sz="1800" b="1" i="0" smtClean="0">
                          <a:solidFill>
                            <a:schemeClr val="tx1"/>
                          </a:solidFill>
                          <a:effectLst/>
                          <a:latin typeface="Cambria Math" panose="02040503050406030204" pitchFamily="18" charset="0"/>
                        </a:rPr>
                        <m:t>𝐀</m:t>
                      </m:r>
                      <m:r>
                        <a:rPr lang="en-US" sz="1800" b="0" i="0" smtClean="0">
                          <a:solidFill>
                            <a:schemeClr val="tx1"/>
                          </a:solidFill>
                          <a:latin typeface="Cambria Math" panose="02040503050406030204" pitchFamily="18" charset="0"/>
                        </a:rPr>
                        <m:t>.</m:t>
                      </m:r>
                      <m:sSub>
                        <m:sSubPr>
                          <m:ctrlPr>
                            <a:rPr lang="en-US" sz="1800" i="1" smtClean="0">
                              <a:solidFill>
                                <a:schemeClr val="tx1"/>
                              </a:solidFill>
                              <a:latin typeface="Cambria Math" panose="02040503050406030204" pitchFamily="18" charset="0"/>
                            </a:rPr>
                          </m:ctrlPr>
                        </m:sSubPr>
                        <m:e>
                          <m:r>
                            <m:rPr>
                              <m:sty m:val="p"/>
                            </m:rPr>
                            <a:rPr lang="en-US" sz="1800" b="0" i="0" smtClean="0">
                              <a:solidFill>
                                <a:schemeClr val="tx1"/>
                              </a:solidFill>
                              <a:latin typeface="Cambria Math" panose="02040503050406030204" pitchFamily="18" charset="0"/>
                            </a:rPr>
                            <m:t>t</m:t>
                          </m:r>
                        </m:e>
                        <m:sub>
                          <m:r>
                            <m:rPr>
                              <m:sty m:val="p"/>
                            </m:rPr>
                            <a:rPr lang="en-US" sz="1800" b="0" i="0" smtClean="0">
                              <a:solidFill>
                                <a:schemeClr val="tx1"/>
                              </a:solidFill>
                              <a:latin typeface="Cambria Math" panose="02040503050406030204" pitchFamily="18" charset="0"/>
                            </a:rPr>
                            <m:t>w</m:t>
                          </m:r>
                        </m:sub>
                      </m:sSub>
                    </m:oMath>
                  </m:oMathPara>
                </a14:m>
                <a:endParaRPr lang="en-US" sz="1800">
                  <a:latin typeface="Times New Roman" panose="02020603050405020304" pitchFamily="18" charset="0"/>
                  <a:cs typeface="Times New Roman" panose="02020603050405020304" pitchFamily="18" charset="0"/>
                </a:endParaRPr>
              </a:p>
              <a:p>
                <a:pPr marL="0" indent="0" algn="ctr">
                  <a:lnSpc>
                    <a:spcPct val="100000"/>
                  </a:lnSpc>
                  <a:buNone/>
                </a:pPr>
                <a:r>
                  <a:rPr lang="en-US" sz="1800">
                    <a:latin typeface="Times New Roman" panose="02020603050405020304" pitchFamily="18" charset="0"/>
                    <a:cs typeface="Times New Roman" panose="02020603050405020304" pitchFamily="18" charset="0"/>
                  </a:rPr>
                  <a:t>Fast component</a:t>
                </a:r>
              </a:p>
              <a:p>
                <a:pPr marL="0" indent="0" algn="ctr">
                  <a:lnSpc>
                    <a:spcPct val="100000"/>
                  </a:lnSpc>
                  <a:buNone/>
                </a:pPr>
                <a:r>
                  <a:rPr lang="en-US" sz="180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1800" i="1" smtClean="0">
                            <a:solidFill>
                              <a:schemeClr val="tx1"/>
                            </a:solidFill>
                            <a:latin typeface="Cambria Math" panose="02040503050406030204" pitchFamily="18" charset="0"/>
                          </a:rPr>
                        </m:ctrlPr>
                      </m:sSupPr>
                      <m:e>
                        <m:r>
                          <m:rPr>
                            <m:sty m:val="p"/>
                          </m:rPr>
                          <a:rPr lang="en-US" sz="1800" b="0" i="0" smtClean="0">
                            <a:solidFill>
                              <a:schemeClr val="tx1"/>
                            </a:solidFill>
                            <a:latin typeface="Cambria Math" panose="02040503050406030204" pitchFamily="18" charset="0"/>
                          </a:rPr>
                          <m:t>w</m:t>
                        </m:r>
                      </m:e>
                      <m:sup>
                        <m:r>
                          <a:rPr lang="en-US" sz="1800" b="0" i="0" smtClean="0">
                            <a:solidFill>
                              <a:schemeClr val="tx1"/>
                            </a:solidFill>
                            <a:latin typeface="Cambria Math" panose="02040503050406030204" pitchFamily="18" charset="0"/>
                          </a:rPr>
                          <m:t>2</m:t>
                        </m:r>
                      </m:sup>
                    </m:sSup>
                    <m:r>
                      <a:rPr lang="en-US" sz="1800" b="0" i="0" smtClean="0">
                        <a:solidFill>
                          <a:schemeClr val="tx1"/>
                        </a:solidFill>
                        <a:latin typeface="Cambria Math" panose="02040503050406030204" pitchFamily="18" charset="0"/>
                      </a:rPr>
                      <m:t>=</m:t>
                    </m:r>
                    <m:r>
                      <m:rPr>
                        <m:sty m:val="p"/>
                      </m:rPr>
                      <a:rPr lang="en-US" sz="1800" b="0" i="0" smtClean="0">
                        <a:solidFill>
                          <a:schemeClr val="tx1"/>
                        </a:solidFill>
                        <a:latin typeface="Cambria Math" panose="02040503050406030204" pitchFamily="18" charset="0"/>
                      </a:rPr>
                      <m:t>A</m:t>
                    </m:r>
                    <m:r>
                      <a:rPr lang="en-US" sz="1800" b="0" i="0" smtClean="0">
                        <a:solidFill>
                          <a:schemeClr val="tx1"/>
                        </a:solidFill>
                        <a:latin typeface="Cambria Math" panose="02040503050406030204" pitchFamily="18" charset="0"/>
                      </a:rPr>
                      <m:t>.</m:t>
                    </m:r>
                    <m:sSub>
                      <m:sSubPr>
                        <m:ctrlPr>
                          <a:rPr lang="en-US" sz="1800" i="1" smtClean="0">
                            <a:solidFill>
                              <a:schemeClr val="tx1"/>
                            </a:solidFill>
                            <a:latin typeface="Cambria Math" panose="02040503050406030204" pitchFamily="18" charset="0"/>
                          </a:rPr>
                        </m:ctrlPr>
                      </m:sSubPr>
                      <m:e>
                        <m:r>
                          <m:rPr>
                            <m:sty m:val="p"/>
                          </m:rPr>
                          <a:rPr lang="en-US" sz="1800" b="0" i="0" smtClean="0">
                            <a:solidFill>
                              <a:schemeClr val="tx1"/>
                            </a:solidFill>
                            <a:latin typeface="Cambria Math" panose="02040503050406030204" pitchFamily="18" charset="0"/>
                          </a:rPr>
                          <m:t>t</m:t>
                        </m:r>
                      </m:e>
                      <m:sub>
                        <m:r>
                          <m:rPr>
                            <m:sty m:val="p"/>
                          </m:rPr>
                          <a:rPr lang="en-US" sz="1800" b="0" i="0" smtClean="0">
                            <a:solidFill>
                              <a:schemeClr val="tx1"/>
                            </a:solidFill>
                            <a:latin typeface="Cambria Math" panose="02040503050406030204" pitchFamily="18" charset="0"/>
                          </a:rPr>
                          <m:t>w</m:t>
                        </m:r>
                      </m:sub>
                    </m:sSub>
                    <m:r>
                      <a:rPr lang="en-US" sz="1800" b="0" i="0" smtClean="0">
                        <a:solidFill>
                          <a:schemeClr val="tx1"/>
                        </a:solidFill>
                        <a:latin typeface="Cambria Math" panose="02040503050406030204" pitchFamily="18" charset="0"/>
                      </a:rPr>
                      <m:t>+</m:t>
                    </m:r>
                    <m:r>
                      <a:rPr lang="en-US" sz="1800" b="1" i="0" smtClean="0">
                        <a:solidFill>
                          <a:schemeClr val="tx1"/>
                        </a:solidFill>
                        <a:latin typeface="Cambria Math" panose="02040503050406030204" pitchFamily="18" charset="0"/>
                      </a:rPr>
                      <m:t>𝐁</m:t>
                    </m:r>
                    <m:r>
                      <a:rPr lang="en-US" sz="1800" b="0" i="0" smtClean="0">
                        <a:solidFill>
                          <a:schemeClr val="tx1"/>
                        </a:solidFill>
                        <a:latin typeface="Cambria Math" panose="02040503050406030204" pitchFamily="18" charset="0"/>
                      </a:rPr>
                      <m:t>.</m:t>
                    </m:r>
                    <m:d>
                      <m:dPr>
                        <m:begChr m:val="["/>
                        <m:endChr m:val="]"/>
                        <m:ctrlPr>
                          <a:rPr lang="en-US" sz="1800" i="1" smtClean="0">
                            <a:solidFill>
                              <a:schemeClr val="tx1"/>
                            </a:solidFill>
                            <a:latin typeface="Cambria Math" panose="02040503050406030204" pitchFamily="18" charset="0"/>
                          </a:rPr>
                        </m:ctrlPr>
                      </m:dPr>
                      <m:e>
                        <m:func>
                          <m:funcPr>
                            <m:ctrlPr>
                              <a:rPr lang="en-US" sz="1800" i="1" smtClean="0">
                                <a:solidFill>
                                  <a:schemeClr val="tx1"/>
                                </a:solidFill>
                                <a:latin typeface="Cambria Math" panose="02040503050406030204" pitchFamily="18" charset="0"/>
                              </a:rPr>
                            </m:ctrlPr>
                          </m:funcPr>
                          <m:fName>
                            <m:r>
                              <m:rPr>
                                <m:sty m:val="p"/>
                              </m:rPr>
                              <a:rPr lang="en-US" sz="1800" b="0" i="0" smtClean="0">
                                <a:solidFill>
                                  <a:schemeClr val="tx1"/>
                                </a:solidFill>
                                <a:latin typeface="Cambria Math" panose="02040503050406030204" pitchFamily="18" charset="0"/>
                              </a:rPr>
                              <m:t>exp</m:t>
                            </m:r>
                          </m:fName>
                          <m:e>
                            <m:d>
                              <m:dPr>
                                <m:ctrlPr>
                                  <a:rPr lang="en-US" sz="1800" i="1" smtClean="0">
                                    <a:solidFill>
                                      <a:schemeClr val="tx1"/>
                                    </a:solidFill>
                                    <a:latin typeface="Cambria Math" panose="02040503050406030204" pitchFamily="18" charset="0"/>
                                  </a:rPr>
                                </m:ctrlPr>
                              </m:dPr>
                              <m:e>
                                <m:r>
                                  <a:rPr lang="en-US" sz="1800" b="0" i="0" smtClean="0">
                                    <a:solidFill>
                                      <a:schemeClr val="tx1"/>
                                    </a:solidFill>
                                    <a:latin typeface="Cambria Math" panose="02040503050406030204" pitchFamily="18" charset="0"/>
                                  </a:rPr>
                                  <m:t>−</m:t>
                                </m:r>
                                <m:f>
                                  <m:fPr>
                                    <m:ctrlPr>
                                      <a:rPr lang="en-US" sz="1800" i="1" smtClean="0">
                                        <a:solidFill>
                                          <a:schemeClr val="tx1"/>
                                        </a:solidFill>
                                        <a:latin typeface="Cambria Math" panose="02040503050406030204" pitchFamily="18" charset="0"/>
                                      </a:rPr>
                                    </m:ctrlPr>
                                  </m:fPr>
                                  <m:num>
                                    <m:sSub>
                                      <m:sSubPr>
                                        <m:ctrlPr>
                                          <a:rPr lang="en-US" sz="1800" i="1" smtClean="0">
                                            <a:solidFill>
                                              <a:schemeClr val="tx1"/>
                                            </a:solidFill>
                                            <a:latin typeface="Cambria Math" panose="02040503050406030204" pitchFamily="18" charset="0"/>
                                          </a:rPr>
                                        </m:ctrlPr>
                                      </m:sSubPr>
                                      <m:e>
                                        <m:r>
                                          <m:rPr>
                                            <m:sty m:val="p"/>
                                          </m:rPr>
                                          <a:rPr lang="en-US" sz="1800" b="0" i="0" smtClean="0">
                                            <a:solidFill>
                                              <a:schemeClr val="tx1"/>
                                            </a:solidFill>
                                            <a:latin typeface="Cambria Math" panose="02040503050406030204" pitchFamily="18" charset="0"/>
                                          </a:rPr>
                                          <m:t>t</m:t>
                                        </m:r>
                                      </m:e>
                                      <m:sub>
                                        <m:r>
                                          <m:rPr>
                                            <m:sty m:val="p"/>
                                          </m:rPr>
                                          <a:rPr lang="en-US" sz="1800" b="0" i="0" smtClean="0">
                                            <a:solidFill>
                                              <a:schemeClr val="tx1"/>
                                            </a:solidFill>
                                            <a:latin typeface="Cambria Math" panose="02040503050406030204" pitchFamily="18" charset="0"/>
                                          </a:rPr>
                                          <m:t>w</m:t>
                                        </m:r>
                                      </m:sub>
                                    </m:sSub>
                                  </m:num>
                                  <m:den>
                                    <m:sSub>
                                      <m:sSubPr>
                                        <m:ctrlPr>
                                          <a:rPr lang="en-US" sz="1800" b="1" i="1" smtClean="0">
                                            <a:solidFill>
                                              <a:schemeClr val="tx1"/>
                                            </a:solidFill>
                                            <a:latin typeface="Cambria Math" panose="02040503050406030204" pitchFamily="18" charset="0"/>
                                          </a:rPr>
                                        </m:ctrlPr>
                                      </m:sSubPr>
                                      <m:e>
                                        <m:r>
                                          <a:rPr lang="en-US" sz="1800" b="1" i="0" smtClean="0">
                                            <a:solidFill>
                                              <a:schemeClr val="tx1"/>
                                            </a:solidFill>
                                            <a:latin typeface="Cambria Math" panose="02040503050406030204" pitchFamily="18" charset="0"/>
                                          </a:rPr>
                                          <m:t>𝛕</m:t>
                                        </m:r>
                                      </m:e>
                                      <m:sub>
                                        <m:r>
                                          <a:rPr lang="en-US" sz="1800" b="1" i="0" smtClean="0">
                                            <a:solidFill>
                                              <a:schemeClr val="tx1"/>
                                            </a:solidFill>
                                            <a:latin typeface="Cambria Math" panose="02040503050406030204" pitchFamily="18" charset="0"/>
                                          </a:rPr>
                                          <m:t>𝐑</m:t>
                                        </m:r>
                                      </m:sub>
                                    </m:sSub>
                                  </m:den>
                                </m:f>
                              </m:e>
                            </m:d>
                          </m:e>
                        </m:func>
                        <m:r>
                          <a:rPr lang="en-US" sz="1800" b="0" i="0" smtClean="0">
                            <a:solidFill>
                              <a:schemeClr val="tx1"/>
                            </a:solidFill>
                            <a:latin typeface="Cambria Math" panose="02040503050406030204" pitchFamily="18" charset="0"/>
                          </a:rPr>
                          <m:t>−1+</m:t>
                        </m:r>
                        <m:f>
                          <m:fPr>
                            <m:ctrlPr>
                              <a:rPr lang="en-US" sz="1800" i="1" smtClean="0">
                                <a:solidFill>
                                  <a:schemeClr val="tx1"/>
                                </a:solidFill>
                                <a:latin typeface="Cambria Math" panose="02040503050406030204" pitchFamily="18" charset="0"/>
                              </a:rPr>
                            </m:ctrlPr>
                          </m:fPr>
                          <m:num>
                            <m:sSub>
                              <m:sSubPr>
                                <m:ctrlPr>
                                  <a:rPr lang="en-US" sz="1800" i="1" smtClean="0">
                                    <a:solidFill>
                                      <a:schemeClr val="tx1"/>
                                    </a:solidFill>
                                    <a:latin typeface="Cambria Math" panose="02040503050406030204" pitchFamily="18" charset="0"/>
                                  </a:rPr>
                                </m:ctrlPr>
                              </m:sSubPr>
                              <m:e>
                                <m:r>
                                  <m:rPr>
                                    <m:sty m:val="p"/>
                                  </m:rPr>
                                  <a:rPr lang="en-US" sz="1800" b="0" i="0" smtClean="0">
                                    <a:solidFill>
                                      <a:schemeClr val="tx1"/>
                                    </a:solidFill>
                                    <a:latin typeface="Cambria Math" panose="02040503050406030204" pitchFamily="18" charset="0"/>
                                  </a:rPr>
                                  <m:t>t</m:t>
                                </m:r>
                              </m:e>
                              <m:sub>
                                <m:r>
                                  <m:rPr>
                                    <m:sty m:val="p"/>
                                  </m:rPr>
                                  <a:rPr lang="en-US" sz="1800" b="0" i="0" smtClean="0">
                                    <a:solidFill>
                                      <a:schemeClr val="tx1"/>
                                    </a:solidFill>
                                    <a:latin typeface="Cambria Math" panose="02040503050406030204" pitchFamily="18" charset="0"/>
                                  </a:rPr>
                                  <m:t>w</m:t>
                                </m:r>
                              </m:sub>
                            </m:sSub>
                          </m:num>
                          <m:den>
                            <m:sSub>
                              <m:sSubPr>
                                <m:ctrlPr>
                                  <a:rPr lang="en-US" sz="1800" b="1" i="1" smtClean="0">
                                    <a:solidFill>
                                      <a:schemeClr val="tx1"/>
                                    </a:solidFill>
                                    <a:latin typeface="Cambria Math" panose="02040503050406030204" pitchFamily="18" charset="0"/>
                                  </a:rPr>
                                </m:ctrlPr>
                              </m:sSubPr>
                              <m:e>
                                <m:r>
                                  <a:rPr lang="en-US" sz="1800" b="1" i="0" smtClean="0">
                                    <a:solidFill>
                                      <a:schemeClr val="tx1"/>
                                    </a:solidFill>
                                    <a:latin typeface="Cambria Math" panose="02040503050406030204" pitchFamily="18" charset="0"/>
                                  </a:rPr>
                                  <m:t>𝛕</m:t>
                                </m:r>
                              </m:e>
                              <m:sub>
                                <m:r>
                                  <a:rPr lang="en-US" sz="1800" b="1" i="0" smtClean="0">
                                    <a:solidFill>
                                      <a:schemeClr val="tx1"/>
                                    </a:solidFill>
                                    <a:latin typeface="Cambria Math" panose="02040503050406030204" pitchFamily="18" charset="0"/>
                                  </a:rPr>
                                  <m:t>𝐑</m:t>
                                </m:r>
                              </m:sub>
                            </m:sSub>
                          </m:den>
                        </m:f>
                      </m:e>
                    </m:d>
                  </m:oMath>
                </a14:m>
                <a:endParaRPr lang="en-US" sz="1800">
                  <a:latin typeface="Times New Roman" panose="02020603050405020304" pitchFamily="18" charset="0"/>
                  <a:cs typeface="Times New Roman" panose="02020603050405020304" pitchFamily="18" charset="0"/>
                </a:endParaRPr>
              </a:p>
              <a:p>
                <a:pPr marL="0" indent="0" algn="ctr">
                  <a:lnSpc>
                    <a:spcPct val="100000"/>
                  </a:lnSpc>
                  <a:buNone/>
                </a:pPr>
                <a:r>
                  <a:rPr lang="en-US" sz="1800" b="0">
                    <a:latin typeface="Times New Roman" panose="02020603050405020304" pitchFamily="18" charset="0"/>
                    <a:cs typeface="Times New Roman" panose="02020603050405020304" pitchFamily="18" charset="0"/>
                  </a:rPr>
                  <a:t>Slow component</a:t>
                </a:r>
              </a:p>
              <a:p>
                <a:pPr marL="0" indent="0" algn="ctr">
                  <a:lnSpc>
                    <a:spcPct val="100000"/>
                  </a:lnSpc>
                  <a:buNone/>
                </a:pPr>
                <a14:m>
                  <m:oMathPara xmlns:m="http://schemas.openxmlformats.org/officeDocument/2006/math">
                    <m:oMathParaPr>
                      <m:jc m:val="centerGroup"/>
                    </m:oMathParaPr>
                    <m:oMath xmlns:m="http://schemas.openxmlformats.org/officeDocument/2006/math">
                      <m:sSup>
                        <m:sSupPr>
                          <m:ctrlPr>
                            <a:rPr lang="en-US" sz="1800" i="1" smtClean="0">
                              <a:solidFill>
                                <a:schemeClr val="tx1"/>
                              </a:solidFill>
                              <a:latin typeface="Cambria Math" panose="02040503050406030204" pitchFamily="18" charset="0"/>
                            </a:rPr>
                          </m:ctrlPr>
                        </m:sSupPr>
                        <m:e>
                          <m:r>
                            <m:rPr>
                              <m:sty m:val="p"/>
                            </m:rPr>
                            <a:rPr lang="en-US" sz="1800" b="0" i="0" smtClean="0">
                              <a:solidFill>
                                <a:schemeClr val="tx1"/>
                              </a:solidFill>
                              <a:latin typeface="Cambria Math" panose="02040503050406030204" pitchFamily="18" charset="0"/>
                            </a:rPr>
                            <m:t>w</m:t>
                          </m:r>
                        </m:e>
                        <m:sup>
                          <m:r>
                            <a:rPr lang="en-US" sz="1800" b="0" i="0" smtClean="0">
                              <a:solidFill>
                                <a:schemeClr val="tx1"/>
                              </a:solidFill>
                              <a:latin typeface="Cambria Math" panose="02040503050406030204" pitchFamily="18" charset="0"/>
                            </a:rPr>
                            <m:t>2</m:t>
                          </m:r>
                        </m:sup>
                      </m:sSup>
                      <m:r>
                        <a:rPr lang="en-US" sz="1800" b="0" i="0" smtClean="0">
                          <a:solidFill>
                            <a:schemeClr val="tx1"/>
                          </a:solidFill>
                          <a:latin typeface="Cambria Math" panose="02040503050406030204" pitchFamily="18" charset="0"/>
                        </a:rPr>
                        <m:t>=</m:t>
                      </m:r>
                      <m:r>
                        <m:rPr>
                          <m:sty m:val="p"/>
                        </m:rPr>
                        <a:rPr lang="en-US" sz="1800" b="0" i="0" smtClean="0">
                          <a:solidFill>
                            <a:schemeClr val="tx1"/>
                          </a:solidFill>
                          <a:latin typeface="Cambria Math" panose="02040503050406030204" pitchFamily="18" charset="0"/>
                        </a:rPr>
                        <m:t>A</m:t>
                      </m:r>
                      <m:r>
                        <a:rPr lang="en-US" sz="1800" b="0" i="0" smtClean="0">
                          <a:solidFill>
                            <a:schemeClr val="tx1"/>
                          </a:solidFill>
                          <a:latin typeface="Cambria Math" panose="02040503050406030204" pitchFamily="18" charset="0"/>
                        </a:rPr>
                        <m:t>.</m:t>
                      </m:r>
                      <m:sSub>
                        <m:sSubPr>
                          <m:ctrlPr>
                            <a:rPr lang="en-US" sz="1800" i="1" smtClean="0">
                              <a:solidFill>
                                <a:schemeClr val="tx1"/>
                              </a:solidFill>
                              <a:latin typeface="Cambria Math" panose="02040503050406030204" pitchFamily="18" charset="0"/>
                            </a:rPr>
                          </m:ctrlPr>
                        </m:sSubPr>
                        <m:e>
                          <m:r>
                            <m:rPr>
                              <m:sty m:val="p"/>
                            </m:rPr>
                            <a:rPr lang="en-US" sz="1800" b="0" i="0" smtClean="0">
                              <a:solidFill>
                                <a:schemeClr val="tx1"/>
                              </a:solidFill>
                              <a:latin typeface="Cambria Math" panose="02040503050406030204" pitchFamily="18" charset="0"/>
                            </a:rPr>
                            <m:t>t</m:t>
                          </m:r>
                        </m:e>
                        <m:sub>
                          <m:r>
                            <m:rPr>
                              <m:sty m:val="p"/>
                            </m:rPr>
                            <a:rPr lang="en-US" sz="1800" b="0" i="0" smtClean="0">
                              <a:solidFill>
                                <a:schemeClr val="tx1"/>
                              </a:solidFill>
                              <a:latin typeface="Cambria Math" panose="02040503050406030204" pitchFamily="18" charset="0"/>
                            </a:rPr>
                            <m:t>w</m:t>
                          </m:r>
                        </m:sub>
                      </m:sSub>
                      <m:r>
                        <a:rPr lang="en-US" sz="1800" b="0" i="0" smtClean="0">
                          <a:solidFill>
                            <a:schemeClr val="tx1"/>
                          </a:solidFill>
                          <a:latin typeface="Cambria Math" panose="02040503050406030204" pitchFamily="18" charset="0"/>
                        </a:rPr>
                        <m:t>+</m:t>
                      </m:r>
                      <m:r>
                        <m:rPr>
                          <m:sty m:val="p"/>
                        </m:rPr>
                        <a:rPr lang="en-US" sz="1800" b="0" i="0" smtClean="0">
                          <a:solidFill>
                            <a:schemeClr val="tx1"/>
                          </a:solidFill>
                          <a:latin typeface="Cambria Math" panose="02040503050406030204" pitchFamily="18" charset="0"/>
                        </a:rPr>
                        <m:t>B</m:t>
                      </m:r>
                      <m:r>
                        <a:rPr lang="en-US" sz="1800" b="0" i="0" smtClean="0">
                          <a:solidFill>
                            <a:schemeClr val="tx1"/>
                          </a:solidFill>
                          <a:latin typeface="Cambria Math" panose="02040503050406030204" pitchFamily="18" charset="0"/>
                        </a:rPr>
                        <m:t>.</m:t>
                      </m:r>
                      <m:r>
                        <m:rPr>
                          <m:sty m:val="p"/>
                        </m:rPr>
                        <a:rPr lang="en-US" sz="1800" b="0" i="0" smtClean="0">
                          <a:solidFill>
                            <a:schemeClr val="tx1"/>
                          </a:solidFill>
                          <a:latin typeface="Cambria Math" panose="02040503050406030204" pitchFamily="18" charset="0"/>
                        </a:rPr>
                        <m:t>V</m:t>
                      </m:r>
                      <m:r>
                        <a:rPr lang="en-US" sz="1800" b="0" i="0" smtClean="0">
                          <a:solidFill>
                            <a:schemeClr val="tx1"/>
                          </a:solidFill>
                          <a:latin typeface="Cambria Math" panose="02040503050406030204" pitchFamily="18" charset="0"/>
                        </a:rPr>
                        <m:t>.</m:t>
                      </m:r>
                      <m:d>
                        <m:dPr>
                          <m:begChr m:val="["/>
                          <m:endChr m:val="]"/>
                          <m:ctrlPr>
                            <a:rPr lang="en-US" sz="1800" i="1" smtClean="0">
                              <a:solidFill>
                                <a:schemeClr val="tx1"/>
                              </a:solidFill>
                              <a:latin typeface="Cambria Math" panose="02040503050406030204" pitchFamily="18" charset="0"/>
                            </a:rPr>
                          </m:ctrlPr>
                        </m:dPr>
                        <m:e>
                          <m:func>
                            <m:funcPr>
                              <m:ctrlPr>
                                <a:rPr lang="en-US" sz="1800" i="1" smtClean="0">
                                  <a:solidFill>
                                    <a:schemeClr val="tx1"/>
                                  </a:solidFill>
                                  <a:latin typeface="Cambria Math" panose="02040503050406030204" pitchFamily="18" charset="0"/>
                                </a:rPr>
                              </m:ctrlPr>
                            </m:funcPr>
                            <m:fName>
                              <m:r>
                                <m:rPr>
                                  <m:sty m:val="p"/>
                                </m:rPr>
                                <a:rPr lang="en-US" sz="1800" b="0" i="0" smtClean="0">
                                  <a:solidFill>
                                    <a:schemeClr val="tx1"/>
                                  </a:solidFill>
                                  <a:latin typeface="Cambria Math" panose="02040503050406030204" pitchFamily="18" charset="0"/>
                                </a:rPr>
                                <m:t>exp</m:t>
                              </m:r>
                            </m:fName>
                            <m:e>
                              <m:d>
                                <m:dPr>
                                  <m:ctrlPr>
                                    <a:rPr lang="en-US" sz="1800" i="1" smtClean="0">
                                      <a:solidFill>
                                        <a:schemeClr val="tx1"/>
                                      </a:solidFill>
                                      <a:latin typeface="Cambria Math" panose="02040503050406030204" pitchFamily="18" charset="0"/>
                                    </a:rPr>
                                  </m:ctrlPr>
                                </m:dPr>
                                <m:e>
                                  <m:r>
                                    <a:rPr lang="en-US" sz="1800" b="0" i="0" smtClean="0">
                                      <a:solidFill>
                                        <a:schemeClr val="tx1"/>
                                      </a:solidFill>
                                      <a:latin typeface="Cambria Math" panose="02040503050406030204" pitchFamily="18" charset="0"/>
                                    </a:rPr>
                                    <m:t>−</m:t>
                                  </m:r>
                                  <m:f>
                                    <m:fPr>
                                      <m:ctrlPr>
                                        <a:rPr lang="en-US" sz="1800" i="1" smtClean="0">
                                          <a:solidFill>
                                            <a:schemeClr val="tx1"/>
                                          </a:solidFill>
                                          <a:latin typeface="Cambria Math" panose="02040503050406030204" pitchFamily="18" charset="0"/>
                                        </a:rPr>
                                      </m:ctrlPr>
                                    </m:fPr>
                                    <m:num>
                                      <m:sSub>
                                        <m:sSubPr>
                                          <m:ctrlPr>
                                            <a:rPr lang="en-US" sz="1800" b="1" i="1" smtClean="0">
                                              <a:solidFill>
                                                <a:schemeClr val="tx1"/>
                                              </a:solidFill>
                                              <a:latin typeface="Cambria Math" panose="02040503050406030204" pitchFamily="18" charset="0"/>
                                            </a:rPr>
                                          </m:ctrlPr>
                                        </m:sSubPr>
                                        <m:e>
                                          <m:r>
                                            <a:rPr lang="en-US" sz="1800" b="1" i="0" smtClean="0">
                                              <a:solidFill>
                                                <a:schemeClr val="tx1"/>
                                              </a:solidFill>
                                              <a:latin typeface="Cambria Math" panose="02040503050406030204" pitchFamily="18" charset="0"/>
                                            </a:rPr>
                                            <m:t>𝛕</m:t>
                                          </m:r>
                                        </m:e>
                                        <m:sub>
                                          <m:r>
                                            <a:rPr lang="en-US" sz="1800" b="1" i="0" smtClean="0">
                                              <a:solidFill>
                                                <a:schemeClr val="tx1"/>
                                              </a:solidFill>
                                              <a:latin typeface="Cambria Math" panose="02040503050406030204" pitchFamily="18" charset="0"/>
                                            </a:rPr>
                                            <m:t>𝐁</m:t>
                                          </m:r>
                                        </m:sub>
                                      </m:sSub>
                                    </m:num>
                                    <m:den>
                                      <m:sSub>
                                        <m:sSubPr>
                                          <m:ctrlPr>
                                            <a:rPr lang="en-US" sz="1800" i="1" smtClean="0">
                                              <a:solidFill>
                                                <a:schemeClr val="tx1"/>
                                              </a:solidFill>
                                              <a:latin typeface="Cambria Math" panose="02040503050406030204" pitchFamily="18" charset="0"/>
                                            </a:rPr>
                                          </m:ctrlPr>
                                        </m:sSubPr>
                                        <m:e>
                                          <m:r>
                                            <m:rPr>
                                              <m:sty m:val="p"/>
                                            </m:rPr>
                                            <a:rPr lang="en-US" sz="1800" b="0" i="0" smtClean="0">
                                              <a:solidFill>
                                                <a:schemeClr val="tx1"/>
                                              </a:solidFill>
                                              <a:latin typeface="Cambria Math" panose="02040503050406030204" pitchFamily="18" charset="0"/>
                                            </a:rPr>
                                            <m:t>τ</m:t>
                                          </m:r>
                                        </m:e>
                                        <m:sub>
                                          <m:r>
                                            <m:rPr>
                                              <m:sty m:val="p"/>
                                            </m:rPr>
                                            <a:rPr lang="en-US" sz="1800" b="0" i="0" smtClean="0">
                                              <a:solidFill>
                                                <a:schemeClr val="tx1"/>
                                              </a:solidFill>
                                              <a:latin typeface="Cambria Math" panose="02040503050406030204" pitchFamily="18" charset="0"/>
                                            </a:rPr>
                                            <m:t>R</m:t>
                                          </m:r>
                                        </m:sub>
                                      </m:sSub>
                                    </m:den>
                                  </m:f>
                                </m:e>
                              </m:d>
                            </m:e>
                          </m:func>
                          <m:r>
                            <a:rPr lang="en-US" sz="1800" b="0" i="0" smtClean="0">
                              <a:solidFill>
                                <a:schemeClr val="tx1"/>
                              </a:solidFill>
                              <a:latin typeface="Cambria Math" panose="02040503050406030204" pitchFamily="18" charset="0"/>
                            </a:rPr>
                            <m:t>−1+</m:t>
                          </m:r>
                          <m:f>
                            <m:fPr>
                              <m:ctrlPr>
                                <a:rPr lang="en-US" sz="1800" i="1" smtClean="0">
                                  <a:solidFill>
                                    <a:schemeClr val="tx1"/>
                                  </a:solidFill>
                                  <a:latin typeface="Cambria Math" panose="02040503050406030204" pitchFamily="18" charset="0"/>
                                </a:rPr>
                              </m:ctrlPr>
                            </m:fPr>
                            <m:num>
                              <m:sSub>
                                <m:sSubPr>
                                  <m:ctrlPr>
                                    <a:rPr lang="en-US" sz="1800" b="1" i="1" smtClean="0">
                                      <a:solidFill>
                                        <a:schemeClr val="tx1"/>
                                      </a:solidFill>
                                      <a:latin typeface="Cambria Math" panose="02040503050406030204" pitchFamily="18" charset="0"/>
                                    </a:rPr>
                                  </m:ctrlPr>
                                </m:sSubPr>
                                <m:e>
                                  <m:r>
                                    <a:rPr lang="en-US" sz="1800" b="1" i="0" smtClean="0">
                                      <a:solidFill>
                                        <a:schemeClr val="tx1"/>
                                      </a:solidFill>
                                      <a:latin typeface="Cambria Math" panose="02040503050406030204" pitchFamily="18" charset="0"/>
                                    </a:rPr>
                                    <m:t>𝛕</m:t>
                                  </m:r>
                                </m:e>
                                <m:sub>
                                  <m:r>
                                    <a:rPr lang="en-US" sz="1800" b="1" i="0" smtClean="0">
                                      <a:solidFill>
                                        <a:schemeClr val="tx1"/>
                                      </a:solidFill>
                                      <a:latin typeface="Cambria Math" panose="02040503050406030204" pitchFamily="18" charset="0"/>
                                    </a:rPr>
                                    <m:t>𝐁</m:t>
                                  </m:r>
                                </m:sub>
                              </m:sSub>
                            </m:num>
                            <m:den>
                              <m:sSub>
                                <m:sSubPr>
                                  <m:ctrlPr>
                                    <a:rPr lang="en-US" sz="1800" i="1" smtClean="0">
                                      <a:solidFill>
                                        <a:schemeClr val="tx1"/>
                                      </a:solidFill>
                                      <a:latin typeface="Cambria Math" panose="02040503050406030204" pitchFamily="18" charset="0"/>
                                    </a:rPr>
                                  </m:ctrlPr>
                                </m:sSubPr>
                                <m:e>
                                  <m:r>
                                    <m:rPr>
                                      <m:sty m:val="p"/>
                                    </m:rPr>
                                    <a:rPr lang="en-US" sz="1800" b="0" i="0" smtClean="0">
                                      <a:solidFill>
                                        <a:schemeClr val="tx1"/>
                                      </a:solidFill>
                                      <a:latin typeface="Cambria Math" panose="02040503050406030204" pitchFamily="18" charset="0"/>
                                    </a:rPr>
                                    <m:t>τ</m:t>
                                  </m:r>
                                </m:e>
                                <m:sub>
                                  <m:r>
                                    <m:rPr>
                                      <m:sty m:val="p"/>
                                    </m:rPr>
                                    <a:rPr lang="en-US" sz="1800" b="0" i="0" smtClean="0">
                                      <a:solidFill>
                                        <a:schemeClr val="tx1"/>
                                      </a:solidFill>
                                      <a:latin typeface="Cambria Math" panose="02040503050406030204" pitchFamily="18" charset="0"/>
                                    </a:rPr>
                                    <m:t>R</m:t>
                                  </m:r>
                                </m:sub>
                              </m:sSub>
                            </m:den>
                          </m:f>
                        </m:e>
                      </m:d>
                      <m:r>
                        <a:rPr lang="en-US" sz="1800" b="0" i="0" smtClean="0">
                          <a:solidFill>
                            <a:schemeClr val="tx1"/>
                          </a:solidFill>
                          <a:latin typeface="Cambria Math" panose="02040503050406030204" pitchFamily="18" charset="0"/>
                        </a:rPr>
                        <m:t>.</m:t>
                      </m:r>
                      <m:sSub>
                        <m:sSubPr>
                          <m:ctrlPr>
                            <a:rPr lang="en-US" sz="1800" i="1" smtClean="0">
                              <a:solidFill>
                                <a:schemeClr val="tx1"/>
                              </a:solidFill>
                              <a:latin typeface="Cambria Math" panose="02040503050406030204" pitchFamily="18" charset="0"/>
                            </a:rPr>
                          </m:ctrlPr>
                        </m:sSubPr>
                        <m:e>
                          <m:r>
                            <m:rPr>
                              <m:sty m:val="p"/>
                            </m:rPr>
                            <a:rPr lang="en-US" sz="1800" b="0" i="0" smtClean="0">
                              <a:solidFill>
                                <a:schemeClr val="tx1"/>
                              </a:solidFill>
                              <a:latin typeface="Cambria Math" panose="02040503050406030204" pitchFamily="18" charset="0"/>
                            </a:rPr>
                            <m:t>t</m:t>
                          </m:r>
                        </m:e>
                        <m:sub>
                          <m:r>
                            <m:rPr>
                              <m:sty m:val="p"/>
                            </m:rPr>
                            <a:rPr lang="en-US" sz="1800" b="0" i="0" smtClean="0">
                              <a:solidFill>
                                <a:schemeClr val="tx1"/>
                              </a:solidFill>
                              <a:latin typeface="Cambria Math" panose="02040503050406030204" pitchFamily="18" charset="0"/>
                            </a:rPr>
                            <m:t>w</m:t>
                          </m:r>
                        </m:sub>
                      </m:sSub>
                    </m:oMath>
                  </m:oMathPara>
                </a14:m>
                <a:endParaRPr lang="en-US" sz="1800">
                  <a:latin typeface="Times New Roman" panose="02020603050405020304" pitchFamily="18" charset="0"/>
                  <a:cs typeface="Times New Roman" panose="02020603050405020304" pitchFamily="18" charset="0"/>
                </a:endParaRPr>
              </a:p>
              <a:p>
                <a:pPr marL="0" indent="0">
                  <a:lnSpc>
                    <a:spcPct val="100000"/>
                  </a:lnSpc>
                  <a:buNone/>
                </a:pPr>
                <a:endParaRPr lang="en-US" sz="1800">
                  <a:latin typeface="Times New Roman" panose="02020603050405020304" pitchFamily="18" charset="0"/>
                  <a:cs typeface="Times New Roman" panose="02020603050405020304" pitchFamily="18" charset="0"/>
                </a:endParaRPr>
              </a:p>
              <a:p>
                <a:pPr marL="0" indent="0">
                  <a:lnSpc>
                    <a:spcPct val="100000"/>
                  </a:lnSpc>
                  <a:buNone/>
                </a:pPr>
                <a:endParaRPr lang="en-US" sz="1800" b="1">
                  <a:latin typeface="Times New Roman" panose="02020603050405020304" pitchFamily="18" charset="0"/>
                  <a:cs typeface="Times New Roman" panose="02020603050405020304" pitchFamily="18" charset="0"/>
                </a:endParaRPr>
              </a:p>
              <a:p>
                <a:pPr marL="0" indent="0">
                  <a:lnSpc>
                    <a:spcPct val="100000"/>
                  </a:lnSpc>
                  <a:buNone/>
                </a:pPr>
                <a:endParaRPr lang="en-US" sz="1800">
                  <a:latin typeface="Times New Roman" panose="02020603050405020304" pitchFamily="18" charset="0"/>
                  <a:cs typeface="Times New Roman" panose="02020603050405020304" pitchFamily="18" charset="0"/>
                </a:endParaRPr>
              </a:p>
              <a:p>
                <a:pPr marL="0" indent="0">
                  <a:lnSpc>
                    <a:spcPct val="100000"/>
                  </a:lnSpc>
                  <a:buNone/>
                </a:pPr>
                <a:endParaRPr lang="en-US" sz="1800">
                  <a:latin typeface="Times New Roman" panose="02020603050405020304" pitchFamily="18" charset="0"/>
                  <a:cs typeface="Times New Roman" panose="02020603050405020304" pitchFamily="18" charset="0"/>
                </a:endParaRPr>
              </a:p>
              <a:p>
                <a:pPr lvl="1">
                  <a:lnSpc>
                    <a:spcPct val="100000"/>
                  </a:lnSpc>
                </a:pPr>
                <a:endParaRPr lang="en-IN" sz="1800">
                  <a:latin typeface="Times New Roman" panose="02020603050405020304" pitchFamily="18" charset="0"/>
                  <a:cs typeface="Times New Roman" panose="02020603050405020304" pitchFamily="18" charset="0"/>
                </a:endParaRPr>
              </a:p>
            </p:txBody>
          </p:sp>
        </mc:Choice>
        <mc:Fallback xmlns="">
          <p:sp>
            <p:nvSpPr>
              <p:cNvPr id="5" name="Content Placeholder 2">
                <a:extLst>
                  <a:ext uri="{FF2B5EF4-FFF2-40B4-BE49-F238E27FC236}">
                    <a16:creationId xmlns:a16="http://schemas.microsoft.com/office/drawing/2014/main" id="{BA95DDDC-C468-49DD-6F0D-4875A5F1B116}"/>
                  </a:ext>
                </a:extLst>
              </p:cNvPr>
              <p:cNvSpPr>
                <a:spLocks noGrp="1" noRot="1" noChangeAspect="1" noMove="1" noResize="1" noEditPoints="1" noAdjustHandles="1" noChangeArrowheads="1" noChangeShapeType="1" noTextEdit="1"/>
              </p:cNvSpPr>
              <p:nvPr>
                <p:ph idx="1"/>
              </p:nvPr>
            </p:nvSpPr>
            <p:spPr>
              <a:xfrm>
                <a:off x="5699811" y="3199657"/>
                <a:ext cx="7535919" cy="4590941"/>
              </a:xfrm>
              <a:blipFill>
                <a:blip r:embed="rId7"/>
                <a:stretch>
                  <a:fillRect/>
                </a:stretch>
              </a:blipFill>
            </p:spPr>
            <p:txBody>
              <a:bodyPr/>
              <a:lstStyle/>
              <a:p>
                <a:r>
                  <a:rPr lang="en-IN">
                    <a:noFill/>
                  </a:rPr>
                  <a:t> </a:t>
                </a:r>
              </a:p>
            </p:txBody>
          </p:sp>
        </mc:Fallback>
      </mc:AlternateContent>
      <p:sp>
        <p:nvSpPr>
          <p:cNvPr id="8" name="Rectangle 7">
            <a:extLst>
              <a:ext uri="{FF2B5EF4-FFF2-40B4-BE49-F238E27FC236}">
                <a16:creationId xmlns:a16="http://schemas.microsoft.com/office/drawing/2014/main" id="{8221A2A7-9076-F35C-13DD-99927B048EA2}"/>
              </a:ext>
            </a:extLst>
          </p:cNvPr>
          <p:cNvSpPr/>
          <p:nvPr/>
        </p:nvSpPr>
        <p:spPr>
          <a:xfrm>
            <a:off x="234085" y="3232679"/>
            <a:ext cx="6940370" cy="3066165"/>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515651C-EC41-88C8-EE58-BEF5C2A33029}"/>
                  </a:ext>
                </a:extLst>
              </p:cNvPr>
              <p:cNvSpPr txBox="1"/>
              <p:nvPr/>
            </p:nvSpPr>
            <p:spPr>
              <a:xfrm>
                <a:off x="7561827" y="2853742"/>
                <a:ext cx="7007772" cy="400110"/>
              </a:xfrm>
              <a:prstGeom prst="rect">
                <a:avLst/>
              </a:prstGeom>
              <a:noFill/>
            </p:spPr>
            <p:txBody>
              <a:bodyPr wrap="square">
                <a:spAutoFit/>
              </a:bodyPr>
              <a:lstStyle/>
              <a:p>
                <a:r>
                  <a:rPr lang="en-IN" sz="2000" b="1">
                    <a:latin typeface="Times New Roman" panose="02020603050405020304" pitchFamily="18" charset="0"/>
                    <a:cs typeface="Times New Roman" panose="02020603050405020304" pitchFamily="18" charset="0"/>
                  </a:rPr>
                  <a:t>Parameters for </a:t>
                </a:r>
                <a14:m>
                  <m:oMath xmlns:m="http://schemas.openxmlformats.org/officeDocument/2006/math">
                    <m:sSub>
                      <m:sSubPr>
                        <m:ctrlPr>
                          <a:rPr lang="en-US" sz="2000" b="1" i="1" smtClean="0">
                            <a:latin typeface="Cambria Math" panose="02040503050406030204" pitchFamily="18" charset="0"/>
                            <a:cs typeface="Times New Roman" panose="02020603050405020304" pitchFamily="18" charset="0"/>
                          </a:rPr>
                        </m:ctrlPr>
                      </m:sSubPr>
                      <m:e>
                        <m:r>
                          <a:rPr lang="en-US" sz="2000" b="1" i="1" smtClean="0">
                            <a:latin typeface="Cambria Math" panose="02040503050406030204" pitchFamily="18" charset="0"/>
                            <a:cs typeface="Times New Roman" panose="02020603050405020304" pitchFamily="18" charset="0"/>
                          </a:rPr>
                          <m:t>𝑫</m:t>
                        </m:r>
                      </m:e>
                      <m:sub>
                        <m:r>
                          <a:rPr lang="en-US" sz="2000" b="1" i="1" smtClean="0">
                            <a:latin typeface="Cambria Math" panose="02040503050406030204" pitchFamily="18" charset="0"/>
                            <a:cs typeface="Times New Roman" panose="02020603050405020304" pitchFamily="18" charset="0"/>
                          </a:rPr>
                          <m:t>𝑩</m:t>
                        </m:r>
                      </m:sub>
                    </m:sSub>
                  </m:oMath>
                </a14:m>
                <a:r>
                  <a:rPr lang="en-IN" sz="2000" b="1">
                    <a:latin typeface="Times New Roman" panose="02020603050405020304" pitchFamily="18" charset="0"/>
                    <a:cs typeface="Times New Roman" panose="02020603050405020304" pitchFamily="18" charset="0"/>
                  </a:rPr>
                  <a:t> by fitting w vs. </a:t>
                </a:r>
                <a14:m>
                  <m:oMath xmlns:m="http://schemas.openxmlformats.org/officeDocument/2006/math">
                    <m:sSub>
                      <m:sSubPr>
                        <m:ctrlPr>
                          <a:rPr lang="en-US" sz="2000" b="1" i="1" smtClean="0">
                            <a:latin typeface="Cambria Math" panose="02040503050406030204" pitchFamily="18" charset="0"/>
                            <a:cs typeface="Times New Roman" panose="02020603050405020304" pitchFamily="18" charset="0"/>
                          </a:rPr>
                        </m:ctrlPr>
                      </m:sSubPr>
                      <m:e>
                        <m:r>
                          <a:rPr lang="en-US" sz="2000" b="1" i="1" smtClean="0">
                            <a:latin typeface="Cambria Math" panose="02040503050406030204" pitchFamily="18" charset="0"/>
                            <a:cs typeface="Times New Roman" panose="02020603050405020304" pitchFamily="18" charset="0"/>
                          </a:rPr>
                          <m:t>𝒕</m:t>
                        </m:r>
                      </m:e>
                      <m:sub>
                        <m:r>
                          <a:rPr lang="en-US" sz="2000" b="1" i="1" smtClean="0">
                            <a:latin typeface="Cambria Math" panose="02040503050406030204" pitchFamily="18" charset="0"/>
                            <a:cs typeface="Times New Roman" panose="02020603050405020304" pitchFamily="18" charset="0"/>
                          </a:rPr>
                          <m:t>𝒘</m:t>
                        </m:r>
                      </m:sub>
                    </m:sSub>
                  </m:oMath>
                </a14:m>
                <a:r>
                  <a:rPr lang="en-IN" sz="2000" b="1">
                    <a:latin typeface="Times New Roman" panose="02020603050405020304" pitchFamily="18" charset="0"/>
                    <a:cs typeface="Times New Roman" panose="02020603050405020304" pitchFamily="18" charset="0"/>
                  </a:rPr>
                  <a:t> </a:t>
                </a:r>
              </a:p>
            </p:txBody>
          </p:sp>
        </mc:Choice>
        <mc:Fallback xmlns="">
          <p:sp>
            <p:nvSpPr>
              <p:cNvPr id="14" name="TextBox 13">
                <a:extLst>
                  <a:ext uri="{FF2B5EF4-FFF2-40B4-BE49-F238E27FC236}">
                    <a16:creationId xmlns:a16="http://schemas.microsoft.com/office/drawing/2014/main" id="{2515651C-EC41-88C8-EE58-BEF5C2A33029}"/>
                  </a:ext>
                </a:extLst>
              </p:cNvPr>
              <p:cNvSpPr txBox="1">
                <a:spLocks noRot="1" noChangeAspect="1" noMove="1" noResize="1" noEditPoints="1" noAdjustHandles="1" noChangeArrowheads="1" noChangeShapeType="1" noTextEdit="1"/>
              </p:cNvSpPr>
              <p:nvPr/>
            </p:nvSpPr>
            <p:spPr>
              <a:xfrm>
                <a:off x="7561827" y="2853742"/>
                <a:ext cx="7007772" cy="400110"/>
              </a:xfrm>
              <a:prstGeom prst="rect">
                <a:avLst/>
              </a:prstGeom>
              <a:blipFill>
                <a:blip r:embed="rId8"/>
                <a:stretch>
                  <a:fillRect l="-870" t="-7576" b="-25758"/>
                </a:stretch>
              </a:blipFill>
            </p:spPr>
            <p:txBody>
              <a:bodyPr/>
              <a:lstStyle/>
              <a:p>
                <a:r>
                  <a:rPr lang="en-IN">
                    <a:noFill/>
                  </a:rPr>
                  <a:t> </a:t>
                </a:r>
              </a:p>
            </p:txBody>
          </p:sp>
        </mc:Fallback>
      </mc:AlternateContent>
      <p:sp>
        <p:nvSpPr>
          <p:cNvPr id="15" name="Rectangle 14">
            <a:extLst>
              <a:ext uri="{FF2B5EF4-FFF2-40B4-BE49-F238E27FC236}">
                <a16:creationId xmlns:a16="http://schemas.microsoft.com/office/drawing/2014/main" id="{2437F475-561D-0292-510D-0E0D351BEFE1}"/>
              </a:ext>
            </a:extLst>
          </p:cNvPr>
          <p:cNvSpPr/>
          <p:nvPr/>
        </p:nvSpPr>
        <p:spPr>
          <a:xfrm>
            <a:off x="7236931" y="3232678"/>
            <a:ext cx="4640275" cy="3066165"/>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7011858-5EA5-F658-3D6A-194611C8264C}"/>
              </a:ext>
            </a:extLst>
          </p:cNvPr>
          <p:cNvPicPr>
            <a:picLocks noChangeAspect="1"/>
          </p:cNvPicPr>
          <p:nvPr/>
        </p:nvPicPr>
        <p:blipFill>
          <a:blip r:embed="rId9"/>
          <a:stretch>
            <a:fillRect/>
          </a:stretch>
        </p:blipFill>
        <p:spPr>
          <a:xfrm>
            <a:off x="4451631" y="3467906"/>
            <a:ext cx="480124" cy="694192"/>
          </a:xfrm>
          <a:prstGeom prst="rect">
            <a:avLst/>
          </a:prstGeom>
        </p:spPr>
      </p:pic>
      <p:sp>
        <p:nvSpPr>
          <p:cNvPr id="17" name="TextBox 16">
            <a:extLst>
              <a:ext uri="{FF2B5EF4-FFF2-40B4-BE49-F238E27FC236}">
                <a16:creationId xmlns:a16="http://schemas.microsoft.com/office/drawing/2014/main" id="{7F808735-9A89-7116-97EC-A36AADE69C94}"/>
              </a:ext>
            </a:extLst>
          </p:cNvPr>
          <p:cNvSpPr txBox="1"/>
          <p:nvPr/>
        </p:nvSpPr>
        <p:spPr>
          <a:xfrm>
            <a:off x="3865618" y="1678705"/>
            <a:ext cx="7037716" cy="400110"/>
          </a:xfrm>
          <a:prstGeom prst="rect">
            <a:avLst/>
          </a:prstGeom>
          <a:noFill/>
          <a:ln w="38100">
            <a:solidFill>
              <a:schemeClr val="accent1"/>
            </a:solidFill>
          </a:ln>
        </p:spPr>
        <p:txBody>
          <a:bodyPr wrap="square">
            <a:spAutoFit/>
          </a:bodyPr>
          <a:lstStyle/>
          <a:p>
            <a:pPr defTabSz="777240">
              <a:spcAft>
                <a:spcPts val="600"/>
              </a:spcAft>
            </a:pPr>
            <a:r>
              <a:rPr lang="en-US" sz="2000">
                <a:latin typeface="Times New Roman" panose="02020603050405020304" pitchFamily="18" charset="0"/>
                <a:cs typeface="Times New Roman" panose="02020603050405020304" pitchFamily="18" charset="0"/>
              </a:rPr>
              <a:t>Upto </a:t>
            </a:r>
            <a:r>
              <a:rPr lang="en-US" sz="2000" b="1">
                <a:latin typeface="Times New Roman" panose="02020603050405020304" pitchFamily="18" charset="0"/>
                <a:cs typeface="Times New Roman" panose="02020603050405020304" pitchFamily="18" charset="0"/>
              </a:rPr>
              <a:t>50 nm observation region </a:t>
            </a:r>
            <a:r>
              <a:rPr lang="en-US" sz="2000">
                <a:latin typeface="Times New Roman" panose="02020603050405020304" pitchFamily="18" charset="0"/>
                <a:cs typeface="Times New Roman" panose="02020603050405020304" pitchFamily="18" charset="0"/>
              </a:rPr>
              <a:t>compared to 800 nm (FCS only)</a:t>
            </a:r>
            <a:endParaRPr lang="en-US" sz="20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8717278"/>
      </p:ext>
    </p:extLst>
  </p:cSld>
  <p:clrMapOvr>
    <a:masterClrMapping/>
  </p:clrMapOvr>
  <mc:AlternateContent xmlns:mc="http://schemas.openxmlformats.org/markup-compatibility/2006" xmlns:p14="http://schemas.microsoft.com/office/powerpoint/2010/main">
    <mc:Choice Requires="p14">
      <p:transition spd="slow" p14:dur="2000" advTm="165957"/>
    </mc:Choice>
    <mc:Fallback xmlns="">
      <p:transition spd="slow" advTm="165957"/>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22916</TotalTime>
  <Words>1437</Words>
  <Application>Microsoft Macintosh PowerPoint</Application>
  <PresentationFormat>Widescreen</PresentationFormat>
  <Paragraphs>173</Paragraphs>
  <Slides>13</Slides>
  <Notes>9</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Aptos</vt:lpstr>
      <vt:lpstr>Aptos Display</vt:lpstr>
      <vt:lpstr>Arial</vt:lpstr>
      <vt:lpstr>Cambria Math</vt:lpstr>
      <vt:lpstr>Georgia</vt:lpstr>
      <vt:lpstr>Google Sans</vt:lpstr>
      <vt:lpstr>Times New Roman</vt:lpstr>
      <vt:lpstr>Wingdings</vt:lpstr>
      <vt:lpstr>Office Theme</vt:lpstr>
      <vt:lpstr>PowerPoint Presentation</vt:lpstr>
      <vt:lpstr>ACTIVE MATTER AND WHY IT MATTERS</vt:lpstr>
      <vt:lpstr>PRESENTATION OUTLINE</vt:lpstr>
      <vt:lpstr>PowerPoint Presentation</vt:lpstr>
      <vt:lpstr>Evidence of Enhanced Motion</vt:lpstr>
      <vt:lpstr>PowerPoint Presentation</vt:lpstr>
      <vt:lpstr>Paper #1 - Conclusion</vt:lpstr>
      <vt:lpstr>PowerPoint Presentation</vt:lpstr>
      <vt:lpstr>PowerPoint Presentation</vt:lpstr>
      <vt:lpstr>PowerPoint Presentation</vt:lpstr>
      <vt:lpstr>PowerPoint Presentation</vt:lpstr>
      <vt:lpstr>PowerPoint Presentation</vt:lpstr>
      <vt:lpstr>Evidence of Ballistic Motion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Ashwin Amalaruban</dc:creator>
  <cp:lastModifiedBy>Ashwin Amalaruban M</cp:lastModifiedBy>
  <cp:revision>110</cp:revision>
  <dcterms:created xsi:type="dcterms:W3CDTF">2024-05-17T01:07:16Z</dcterms:created>
  <dcterms:modified xsi:type="dcterms:W3CDTF">2026-04-28T19:20:15Z</dcterms:modified>
</cp:coreProperties>
</file>