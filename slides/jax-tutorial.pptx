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83" r:id="rId2"/>
    <p:sldId id="258" r:id="rId3"/>
    <p:sldId id="262" r:id="rId4"/>
    <p:sldId id="277" r:id="rId5"/>
    <p:sldId id="278" r:id="rId6"/>
    <p:sldId id="269" r:id="rId7"/>
    <p:sldId id="261" r:id="rId8"/>
    <p:sldId id="274" r:id="rId9"/>
    <p:sldId id="280" r:id="rId10"/>
    <p:sldId id="282"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519A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9" autoAdjust="0"/>
    <p:restoredTop sz="68219" autoAdjust="0"/>
  </p:normalViewPr>
  <p:slideViewPr>
    <p:cSldViewPr snapToGrid="0">
      <p:cViewPr varScale="1">
        <p:scale>
          <a:sx n="80" d="100"/>
          <a:sy n="80" d="100"/>
        </p:scale>
        <p:origin x="20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C833AD-B680-45BA-88DD-8FB93C805824}" type="datetimeFigureOut">
              <a:rPr lang="en-IN" smtClean="0"/>
              <a:t>28/02/26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CAD9B3-6714-4EA6-9318-8741FCE19847}" type="slidenum">
              <a:rPr lang="en-IN" smtClean="0"/>
              <a:t>‹#›</a:t>
            </a:fld>
            <a:endParaRPr lang="en-IN"/>
          </a:p>
        </p:txBody>
      </p:sp>
    </p:spTree>
    <p:extLst>
      <p:ext uri="{BB962C8B-B14F-4D97-AF65-F5344CB8AC3E}">
        <p14:creationId xmlns:p14="http://schemas.microsoft.com/office/powerpoint/2010/main" val="2920603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jax.readthedocs.io/en/latest/jaxpr.html?ref=machinelearningnuggets.com"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42424"/>
                </a:solidFill>
                <a:effectLst/>
                <a:latin typeface="source-serif-pro"/>
              </a:rPr>
              <a:t>If you are familiar with NumPy, you will find JAX very easy to use.  </a:t>
            </a:r>
            <a:r>
              <a:rPr lang="en-US" b="0" i="0" dirty="0">
                <a:solidFill>
                  <a:srgbClr val="FFFFFF"/>
                </a:solidFill>
                <a:effectLst/>
                <a:latin typeface="proxima-n-w01-reg"/>
              </a:rPr>
              <a:t>Since JAX imitates the </a:t>
            </a:r>
            <a:r>
              <a:rPr lang="en-US" b="0" i="0" dirty="0" err="1">
                <a:solidFill>
                  <a:srgbClr val="FFFFFF"/>
                </a:solidFill>
                <a:effectLst/>
                <a:latin typeface="proxima-n-w01-reg"/>
              </a:rPr>
              <a:t>NumPY</a:t>
            </a:r>
            <a:r>
              <a:rPr lang="en-US" b="0" i="0" dirty="0">
                <a:solidFill>
                  <a:srgbClr val="FFFFFF"/>
                </a:solidFill>
                <a:effectLst/>
                <a:latin typeface="proxima-n-w01-reg"/>
              </a:rPr>
              <a:t> API, you can use the same syntax you’re already familiar with. It shouldn’t be surprising that matrix multiplication run faster on accelerators like GPUs and TPUs. </a:t>
            </a:r>
            <a:r>
              <a:rPr lang="en-US" b="1" i="0" dirty="0">
                <a:solidFill>
                  <a:srgbClr val="FFFFFF"/>
                </a:solidFill>
                <a:effectLst/>
                <a:latin typeface="proxima-n-w01-reg"/>
              </a:rPr>
              <a:t>What JAX offers in this case is the ability to automatically leverage accelerators with no changes made to the code! </a:t>
            </a:r>
            <a:endParaRPr lang="en-I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JAX works via composable function transformations, this means that JAX takes a function and produces a new function that is interpreted differently and that multiple transformations can be chained together. Through these transformations JAX allows the programmer to stay in the high-level Python world and let the compiler do the hard work by generating the highly efficient code needed to train complex models.  </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PyTorch’s</a:t>
            </a:r>
            <a:r>
              <a:rPr lang="en-US" sz="1200" b="1" i="0" kern="1200" dirty="0">
                <a:solidFill>
                  <a:schemeClr val="tx1"/>
                </a:solidFill>
                <a:effectLst/>
                <a:latin typeface="+mn-lt"/>
                <a:ea typeface="+mn-ea"/>
                <a:cs typeface="+mn-cs"/>
              </a:rPr>
              <a:t> longer tenure and larger community translate to more available resources for optimizing performance. </a:t>
            </a:r>
            <a:r>
              <a:rPr lang="en-US" b="1" i="0" dirty="0">
                <a:solidFill>
                  <a:srgbClr val="242424"/>
                </a:solidFill>
                <a:effectLst/>
                <a:latin typeface="source-serif-pro"/>
              </a:rPr>
              <a:t>JAX has an easy-to-use interface because it is very similar to NumPy</a:t>
            </a:r>
            <a:endParaRPr lang="en-IN" dirty="0"/>
          </a:p>
        </p:txBody>
      </p:sp>
      <p:sp>
        <p:nvSpPr>
          <p:cNvPr id="4" name="Slide Number Placeholder 3"/>
          <p:cNvSpPr>
            <a:spLocks noGrp="1"/>
          </p:cNvSpPr>
          <p:nvPr>
            <p:ph type="sldNum" sz="quarter" idx="5"/>
          </p:nvPr>
        </p:nvSpPr>
        <p:spPr/>
        <p:txBody>
          <a:bodyPr/>
          <a:lstStyle/>
          <a:p>
            <a:fld id="{B3CAD9B3-6714-4EA6-9318-8741FCE19847}" type="slidenum">
              <a:rPr lang="en-IN" smtClean="0"/>
              <a:t>2</a:t>
            </a:fld>
            <a:endParaRPr lang="en-IN"/>
          </a:p>
        </p:txBody>
      </p:sp>
    </p:spTree>
    <p:extLst>
      <p:ext uri="{BB962C8B-B14F-4D97-AF65-F5344CB8AC3E}">
        <p14:creationId xmlns:p14="http://schemas.microsoft.com/office/powerpoint/2010/main" val="30365051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First invocation</a:t>
            </a:r>
            <a:r>
              <a:rPr lang="en-US"/>
              <a:t> → JAX </a:t>
            </a:r>
            <a:r>
              <a:rPr lang="en-US" b="1"/>
              <a:t>traces</a:t>
            </a:r>
            <a:r>
              <a:rPr lang="en-US"/>
              <a:t> the function, building a high-level graph (JAXpr).</a:t>
            </a:r>
          </a:p>
          <a:p>
            <a:r>
              <a:rPr lang="en-US"/>
              <a:t>JAX hands that graph to </a:t>
            </a:r>
            <a:r>
              <a:rPr lang="en-US" b="1"/>
              <a:t>XLA</a:t>
            </a:r>
            <a:r>
              <a:rPr lang="en-US"/>
              <a:t>, which returns machine code.</a:t>
            </a:r>
          </a:p>
          <a:p>
            <a:r>
              <a:rPr lang="en-US" b="1"/>
              <a:t>That compilation happens “just-in-time”</a:t>
            </a:r>
            <a:r>
              <a:rPr lang="en-US"/>
              <a:t>—immediately before the first result is needed—and the binary is cached.</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acronym JAX stands for “just after execution”, since to compile a function we first monitor its execution once in Python.</a:t>
            </a:r>
            <a:endParaRPr lang="en-IN"/>
          </a:p>
          <a:p>
            <a:endParaRPr lang="en-US" b="1"/>
          </a:p>
          <a:p>
            <a:r>
              <a:rPr lang="en-US" b="1"/>
              <a:t>Later calls</a:t>
            </a:r>
            <a:r>
              <a:rPr lang="en-US"/>
              <a:t> with the same shape/dtype signature jump straight into the cached executable; only new signatures trigger another JIT→XLA round. </a:t>
            </a:r>
          </a:p>
        </p:txBody>
      </p:sp>
      <p:sp>
        <p:nvSpPr>
          <p:cNvPr id="4" name="Slide Number Placeholder 3"/>
          <p:cNvSpPr>
            <a:spLocks noGrp="1"/>
          </p:cNvSpPr>
          <p:nvPr>
            <p:ph type="sldNum" sz="quarter" idx="5"/>
          </p:nvPr>
        </p:nvSpPr>
        <p:spPr/>
        <p:txBody>
          <a:bodyPr/>
          <a:lstStyle/>
          <a:p>
            <a:fld id="{B3CAD9B3-6714-4EA6-9318-8741FCE19847}" type="slidenum">
              <a:rPr lang="en-IN" smtClean="0"/>
              <a:t>3</a:t>
            </a:fld>
            <a:endParaRPr lang="en-IN"/>
          </a:p>
        </p:txBody>
      </p:sp>
    </p:spTree>
    <p:extLst>
      <p:ext uri="{BB962C8B-B14F-4D97-AF65-F5344CB8AC3E}">
        <p14:creationId xmlns:p14="http://schemas.microsoft.com/office/powerpoint/2010/main" val="3728829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JAX creates the </a:t>
            </a:r>
            <a:r>
              <a:rPr lang="en-US" sz="1200" b="0" i="0" u="sng" kern="1200">
                <a:solidFill>
                  <a:schemeClr val="tx1"/>
                </a:solidFill>
                <a:effectLst/>
                <a:latin typeface="+mn-lt"/>
                <a:ea typeface="+mn-ea"/>
                <a:cs typeface="+mn-cs"/>
                <a:hlinkClick r:id="rId3"/>
              </a:rPr>
              <a:t>jaxpr</a:t>
            </a:r>
            <a:r>
              <a:rPr lang="en-US" sz="1200" b="0" i="0" kern="1200">
                <a:solidFill>
                  <a:schemeClr val="tx1"/>
                </a:solidFill>
                <a:effectLst/>
                <a:latin typeface="+mn-lt"/>
                <a:ea typeface="+mn-ea"/>
                <a:cs typeface="+mn-cs"/>
              </a:rPr>
              <a:t> through tracing. Each argument in the function is wrapped with a tracer object. The purpose of these tracers is to record all JAX operations performed on them when the function is called. JAX uses the tracer records to rebuild the function, which leads to jaxpr. Python side-effects don't show up in the jaxpr because the tracers do not record them.</a:t>
            </a:r>
            <a:endParaRPr lang="en-IN"/>
          </a:p>
        </p:txBody>
      </p:sp>
      <p:sp>
        <p:nvSpPr>
          <p:cNvPr id="4" name="Slide Number Placeholder 3"/>
          <p:cNvSpPr>
            <a:spLocks noGrp="1"/>
          </p:cNvSpPr>
          <p:nvPr>
            <p:ph type="sldNum" sz="quarter" idx="5"/>
          </p:nvPr>
        </p:nvSpPr>
        <p:spPr/>
        <p:txBody>
          <a:bodyPr/>
          <a:lstStyle/>
          <a:p>
            <a:fld id="{B3CAD9B3-6714-4EA6-9318-8741FCE19847}" type="slidenum">
              <a:rPr lang="en-IN" smtClean="0"/>
              <a:t>4</a:t>
            </a:fld>
            <a:endParaRPr lang="en-IN"/>
          </a:p>
        </p:txBody>
      </p:sp>
    </p:spTree>
    <p:extLst>
      <p:ext uri="{BB962C8B-B14F-4D97-AF65-F5344CB8AC3E}">
        <p14:creationId xmlns:p14="http://schemas.microsoft.com/office/powerpoint/2010/main" val="1329878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777B6-ACD6-C512-D843-098CD16CBD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344EB5-6D9B-7488-C5CC-538B849F23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9FE3B7-9651-E141-4F1C-647D41DA3ED3}"/>
              </a:ext>
            </a:extLst>
          </p:cNvPr>
          <p:cNvSpPr>
            <a:spLocks noGrp="1"/>
          </p:cNvSpPr>
          <p:nvPr>
            <p:ph type="body" idx="1"/>
          </p:nvPr>
        </p:nvSpPr>
        <p:spPr/>
        <p:txBody>
          <a:bodyPr/>
          <a:lstStyle/>
          <a:p>
            <a:r>
              <a:rPr lang="en-US" sz="1200" b="0" i="0" kern="1200">
                <a:solidFill>
                  <a:schemeClr val="tx1"/>
                </a:solidFill>
                <a:effectLst/>
                <a:latin typeface="+mn-lt"/>
                <a:ea typeface="+mn-ea"/>
                <a:cs typeface="+mn-cs"/>
              </a:rPr>
              <a:t>Python si</a:t>
            </a:r>
          </a:p>
          <a:p>
            <a:pPr>
              <a:lnSpc>
                <a:spcPts val="1425"/>
              </a:lnSpc>
              <a:buNone/>
            </a:pPr>
            <a:endParaRPr lang="en-US" b="0">
              <a:solidFill>
                <a:srgbClr val="569CD6"/>
              </a:solidFill>
              <a:effectLst/>
              <a:latin typeface="Consolas" panose="020B0609020204030204" pitchFamily="49" charset="0"/>
            </a:endParaRPr>
          </a:p>
          <a:p>
            <a:pPr>
              <a:lnSpc>
                <a:spcPts val="1425"/>
              </a:lnSpc>
              <a:buNone/>
            </a:pPr>
            <a:r>
              <a:rPr lang="en-US" b="0">
                <a:solidFill>
                  <a:srgbClr val="7CA668"/>
                </a:solidFill>
                <a:effectLst/>
                <a:latin typeface="Consolas" panose="020B0609020204030204" pitchFamily="49" charset="0"/>
              </a:rPr>
              <a:t>Print statement# This is a side-effect</a:t>
            </a:r>
            <a:endParaRPr lang="en-US" b="0">
              <a:solidFill>
                <a:srgbClr val="FFFFFF"/>
              </a:solidFill>
              <a:effectLst/>
              <a:latin typeface="Consolas" panose="020B0609020204030204" pitchFamily="49" charset="0"/>
            </a:endParaRPr>
          </a:p>
          <a:p>
            <a:pPr>
              <a:lnSpc>
                <a:spcPts val="1425"/>
              </a:lnSpc>
              <a:buNone/>
            </a:pPr>
            <a:br>
              <a:rPr lang="en-US" b="0">
                <a:solidFill>
                  <a:srgbClr val="FFFFFF"/>
                </a:solidFill>
                <a:effectLst/>
                <a:latin typeface="Consolas" panose="020B0609020204030204" pitchFamily="49" charset="0"/>
              </a:rPr>
            </a:br>
            <a:r>
              <a:rPr lang="en-US" b="0">
                <a:solidFill>
                  <a:srgbClr val="7CA668"/>
                </a:solidFill>
                <a:effectLst/>
                <a:latin typeface="Consolas" panose="020B0609020204030204" pitchFamily="49" charset="0"/>
              </a:rPr>
              <a:t># The side-effects appear during the first run</a:t>
            </a:r>
            <a:br>
              <a:rPr lang="en-US" b="0">
                <a:solidFill>
                  <a:srgbClr val="FFFFFF"/>
                </a:solidFill>
                <a:effectLst/>
                <a:latin typeface="Consolas" panose="020B0609020204030204" pitchFamily="49" charset="0"/>
              </a:rPr>
            </a:br>
            <a:r>
              <a:rPr lang="en-US" b="0">
                <a:solidFill>
                  <a:srgbClr val="7CA668"/>
                </a:solidFill>
                <a:effectLst/>
                <a:latin typeface="Consolas" panose="020B0609020204030204" pitchFamily="49" charset="0"/>
              </a:rPr>
              <a:t># Subsequent runs with parameters of same type and shape may not show the side-effect</a:t>
            </a:r>
            <a:endParaRPr lang="en-US" b="0">
              <a:solidFill>
                <a:srgbClr val="FFFFFF"/>
              </a:solidFill>
              <a:effectLst/>
              <a:latin typeface="Consolas" panose="020B0609020204030204" pitchFamily="49" charset="0"/>
            </a:endParaRPr>
          </a:p>
          <a:p>
            <a:pPr>
              <a:lnSpc>
                <a:spcPts val="1425"/>
              </a:lnSpc>
              <a:buNone/>
            </a:pPr>
            <a:r>
              <a:rPr lang="en-US" b="0">
                <a:solidFill>
                  <a:srgbClr val="7CA668"/>
                </a:solidFill>
                <a:effectLst/>
                <a:latin typeface="Consolas" panose="020B0609020204030204" pitchFamily="49" charset="0"/>
              </a:rPr>
              <a:t># This is because JAX now invokes a cached compilation of the function</a:t>
            </a:r>
            <a:br>
              <a:rPr lang="en-US" b="0">
                <a:solidFill>
                  <a:srgbClr val="FFFFFF"/>
                </a:solidFill>
                <a:effectLst/>
                <a:latin typeface="Consolas" panose="020B0609020204030204" pitchFamily="49" charset="0"/>
              </a:rPr>
            </a:br>
            <a:r>
              <a:rPr lang="en-US" b="0">
                <a:solidFill>
                  <a:srgbClr val="7CA668"/>
                </a:solidFill>
                <a:effectLst/>
                <a:latin typeface="Consolas" panose="020B0609020204030204" pitchFamily="49" charset="0"/>
              </a:rPr>
              <a:t># JAX re-runs the Python function when the type or shape of the argument changes</a:t>
            </a:r>
            <a:endParaRPr lang="en-US" b="0">
              <a:solidFill>
                <a:srgbClr val="FFFFFF"/>
              </a:solidFill>
              <a:effectLst/>
              <a:latin typeface="Consolas" panose="020B0609020204030204" pitchFamily="49" charset="0"/>
            </a:endParaRPr>
          </a:p>
          <a:p>
            <a:r>
              <a:rPr lang="en-US" sz="1200" b="0" i="0" kern="1200">
                <a:solidFill>
                  <a:schemeClr val="tx1"/>
                </a:solidFill>
                <a:effectLst/>
                <a:latin typeface="+mn-lt"/>
                <a:ea typeface="+mn-ea"/>
                <a:cs typeface="+mn-cs"/>
              </a:rPr>
              <a:t>de-effects don't show up in the jaxpr because the tracers do not record them.</a:t>
            </a:r>
            <a:endParaRPr lang="en-IN"/>
          </a:p>
        </p:txBody>
      </p:sp>
      <p:sp>
        <p:nvSpPr>
          <p:cNvPr id="4" name="Slide Number Placeholder 3">
            <a:extLst>
              <a:ext uri="{FF2B5EF4-FFF2-40B4-BE49-F238E27FC236}">
                <a16:creationId xmlns:a16="http://schemas.microsoft.com/office/drawing/2014/main" id="{892710A9-5E6D-2036-5B4F-31B19C5703FC}"/>
              </a:ext>
            </a:extLst>
          </p:cNvPr>
          <p:cNvSpPr>
            <a:spLocks noGrp="1"/>
          </p:cNvSpPr>
          <p:nvPr>
            <p:ph type="sldNum" sz="quarter" idx="5"/>
          </p:nvPr>
        </p:nvSpPr>
        <p:spPr/>
        <p:txBody>
          <a:bodyPr/>
          <a:lstStyle/>
          <a:p>
            <a:fld id="{B3CAD9B3-6714-4EA6-9318-8741FCE19847}" type="slidenum">
              <a:rPr lang="en-IN" smtClean="0"/>
              <a:t>5</a:t>
            </a:fld>
            <a:endParaRPr lang="en-IN"/>
          </a:p>
        </p:txBody>
      </p:sp>
    </p:spTree>
    <p:extLst>
      <p:ext uri="{BB962C8B-B14F-4D97-AF65-F5344CB8AC3E}">
        <p14:creationId xmlns:p14="http://schemas.microsoft.com/office/powerpoint/2010/main" val="996712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B9D20-84FB-1AE8-4840-636657BFC8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FCE65-36BD-2C59-C1AD-96758151CF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FCA6D7-D0C4-46CB-B8E9-54594E09DD0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“run every operation immediately, right here in Python.” You write a function, call it, and each primitive (add, sin, matmul, etc.) fires off to the XLA backend (or CPU/GPU) </a:t>
            </a:r>
            <a:r>
              <a:rPr lang="en-US" i="1"/>
              <a:t>one at a time</a:t>
            </a:r>
            <a:r>
              <a:rPr lang="en-US"/>
              <a:t>, returning real arrays. There is no up-front graph compilation </a:t>
            </a:r>
            <a:r>
              <a:rPr lang="en-US" b="1" i="0">
                <a:solidFill>
                  <a:srgbClr val="CED6DD"/>
                </a:solidFill>
                <a:effectLst/>
                <a:latin typeface="-apple-system"/>
              </a:rPr>
              <a:t>A pure function will always return the same result if invoked with the same inputs.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a:p>
          <a:p>
            <a:r>
              <a:rPr lang="en-US" sz="1200" b="0" i="1" kern="1200">
                <a:solidFill>
                  <a:schemeClr val="tx1"/>
                </a:solidFill>
                <a:effectLst/>
                <a:latin typeface="+mn-lt"/>
                <a:ea typeface="+mn-ea"/>
                <a:cs typeface="+mn-cs"/>
              </a:rPr>
              <a:t> Compiled languages</a:t>
            </a:r>
            <a:r>
              <a:rPr lang="en-US" sz="1200" b="0" i="0" kern="1200">
                <a:solidFill>
                  <a:schemeClr val="tx1"/>
                </a:solidFill>
                <a:effectLst/>
                <a:latin typeface="+mn-lt"/>
                <a:ea typeface="+mn-ea"/>
                <a:cs typeface="+mn-cs"/>
              </a:rPr>
              <a:t> are fast to execute, but it’s difficult to write efficient compilers, which can make compiled languages cumbersome. In the middle between interpretation and compilation, we have just-in-time (JIT) compilation. We can think of JIT compilation as a hybrid of the two paradigms discussed above.</a:t>
            </a:r>
          </a:p>
          <a:p>
            <a:r>
              <a:rPr lang="en-US" sz="1200" b="0" i="1" kern="1200">
                <a:solidFill>
                  <a:schemeClr val="tx1"/>
                </a:solidFill>
                <a:effectLst/>
                <a:latin typeface="+mn-lt"/>
                <a:ea typeface="+mn-ea"/>
                <a:cs typeface="+mn-cs"/>
              </a:rPr>
              <a:t>Interpreted languages</a:t>
            </a:r>
            <a:r>
              <a:rPr lang="en-US" sz="1200" b="0" i="0" kern="1200">
                <a:solidFill>
                  <a:schemeClr val="tx1"/>
                </a:solidFill>
                <a:effectLst/>
                <a:latin typeface="+mn-lt"/>
                <a:ea typeface="+mn-ea"/>
                <a:cs typeface="+mn-cs"/>
              </a:rPr>
              <a:t> are easier to write and more flexible in some situations, but are slower to execute.</a:t>
            </a:r>
          </a:p>
          <a:p>
            <a:r>
              <a:rPr lang="en-US" b="0" i="0">
                <a:solidFill>
                  <a:srgbClr val="242424"/>
                </a:solidFill>
                <a:effectLst/>
                <a:latin typeface="source-serif-pro"/>
              </a:rPr>
              <a:t>XLA takes HLO code as input, performs optimizations, and generates optimized low-level machine code for execution on different hardware architectures. straightforward mathematical computation: the addition of two numbers, followed by squaring the result and multiplying it by a constant value. Each node in the graph represents an operation, and the edges represent the data flow between these operation.</a:t>
            </a:r>
            <a:endParaRPr lang="en-IN"/>
          </a:p>
        </p:txBody>
      </p:sp>
      <p:sp>
        <p:nvSpPr>
          <p:cNvPr id="4" name="Slide Number Placeholder 3">
            <a:extLst>
              <a:ext uri="{FF2B5EF4-FFF2-40B4-BE49-F238E27FC236}">
                <a16:creationId xmlns:a16="http://schemas.microsoft.com/office/drawing/2014/main" id="{2D05312B-919D-FD42-5105-1601FB53F7E8}"/>
              </a:ext>
            </a:extLst>
          </p:cNvPr>
          <p:cNvSpPr>
            <a:spLocks noGrp="1"/>
          </p:cNvSpPr>
          <p:nvPr>
            <p:ph type="sldNum" sz="quarter" idx="5"/>
          </p:nvPr>
        </p:nvSpPr>
        <p:spPr/>
        <p:txBody>
          <a:bodyPr/>
          <a:lstStyle/>
          <a:p>
            <a:fld id="{B3CAD9B3-6714-4EA6-9318-8741FCE19847}" type="slidenum">
              <a:rPr lang="en-IN" smtClean="0"/>
              <a:t>6</a:t>
            </a:fld>
            <a:endParaRPr lang="en-IN"/>
          </a:p>
        </p:txBody>
      </p:sp>
    </p:spTree>
    <p:extLst>
      <p:ext uri="{BB962C8B-B14F-4D97-AF65-F5344CB8AC3E}">
        <p14:creationId xmlns:p14="http://schemas.microsoft.com/office/powerpoint/2010/main" val="2253195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25"/>
              </a:lnSpc>
              <a:buNone/>
            </a:pPr>
            <a:r>
              <a:rPr lang="en-US" b="0" i="0">
                <a:solidFill>
                  <a:srgbClr val="121926"/>
                </a:solidFill>
                <a:effectLst/>
                <a:latin typeface="Monument Grotesk"/>
              </a:rPr>
              <a:t>XLA is baked into the very DNA of JAX - from their logos alone you can see how much the successes of JAX rely on XLA. </a:t>
            </a:r>
            <a:r>
              <a:rPr lang="en-US" b="0" i="0">
                <a:solidFill>
                  <a:srgbClr val="242424"/>
                </a:solidFill>
                <a:effectLst/>
                <a:latin typeface="source-serif-pro"/>
              </a:rPr>
              <a:t>designed to optimize the performance of machine learning models that heavily rely on linear algebra operations. </a:t>
            </a:r>
            <a:r>
              <a:rPr lang="en-US" b="0" i="0">
                <a:solidFill>
                  <a:srgbClr val="CED6DD"/>
                </a:solidFill>
                <a:effectLst/>
                <a:latin typeface="-apple-system"/>
              </a:rPr>
              <a:t>All the input data is passed through the function parameters, all the results are output through the function results. </a:t>
            </a:r>
            <a:endParaRPr lang="en-US" b="0">
              <a:solidFill>
                <a:srgbClr val="FFFFFF"/>
              </a:solidFill>
              <a:effectLst/>
              <a:latin typeface="Consolas" panose="020B0609020204030204" pitchFamily="49" charset="0"/>
            </a:endParaRPr>
          </a:p>
          <a:p>
            <a:endParaRPr lang="en-US" b="0" i="0">
              <a:solidFill>
                <a:srgbClr val="242424"/>
              </a:solidFill>
              <a:effectLst/>
              <a:latin typeface="source-serif-pro"/>
            </a:endParaRPr>
          </a:p>
          <a:p>
            <a:endParaRPr lang="en-IN"/>
          </a:p>
        </p:txBody>
      </p:sp>
      <p:sp>
        <p:nvSpPr>
          <p:cNvPr id="4" name="Slide Number Placeholder 3"/>
          <p:cNvSpPr>
            <a:spLocks noGrp="1"/>
          </p:cNvSpPr>
          <p:nvPr>
            <p:ph type="sldNum" sz="quarter" idx="5"/>
          </p:nvPr>
        </p:nvSpPr>
        <p:spPr/>
        <p:txBody>
          <a:bodyPr/>
          <a:lstStyle/>
          <a:p>
            <a:fld id="{B3CAD9B3-6714-4EA6-9318-8741FCE19847}" type="slidenum">
              <a:rPr lang="en-IN" smtClean="0"/>
              <a:t>7</a:t>
            </a:fld>
            <a:endParaRPr lang="en-IN"/>
          </a:p>
        </p:txBody>
      </p:sp>
    </p:spTree>
    <p:extLst>
      <p:ext uri="{BB962C8B-B14F-4D97-AF65-F5344CB8AC3E}">
        <p14:creationId xmlns:p14="http://schemas.microsoft.com/office/powerpoint/2010/main" val="3491587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F0420-3F8A-D40D-A75B-9A7936124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BB5F3-B338-EEDA-3DA0-4B623DAE57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EDA348-DB4D-02BF-8417-5E3377C59DCA}"/>
              </a:ext>
            </a:extLst>
          </p:cNvPr>
          <p:cNvSpPr>
            <a:spLocks noGrp="1"/>
          </p:cNvSpPr>
          <p:nvPr>
            <p:ph type="body" idx="1"/>
          </p:nvPr>
        </p:nvSpPr>
        <p:spPr/>
        <p:txBody>
          <a:bodyPr/>
          <a:lstStyle/>
          <a:p>
            <a:r>
              <a:rPr lang="en-US" sz="1200" b="0" i="0" kern="1200">
                <a:solidFill>
                  <a:schemeClr val="tx1"/>
                </a:solidFill>
                <a:effectLst/>
                <a:latin typeface="+mn-lt"/>
                <a:ea typeface="+mn-ea"/>
                <a:cs typeface="+mn-cs"/>
              </a:rPr>
              <a:t>Vmap: This avoids the overhead associated with repeated Python function calls and interpreter interactions. While </a:t>
            </a:r>
            <a:r>
              <a:rPr lang="en-US"/>
              <a:t>vmap</a:t>
            </a:r>
            <a:r>
              <a:rPr lang="en-US" sz="1200" b="0" i="0" kern="1200">
                <a:solidFill>
                  <a:schemeClr val="tx1"/>
                </a:solidFill>
                <a:effectLst/>
                <a:latin typeface="+mn-lt"/>
                <a:ea typeface="+mn-ea"/>
                <a:cs typeface="+mn-cs"/>
              </a:rPr>
              <a:t> can significantly speed up computations, it can also increase peak memory usage compared to a sequential loop. When you apply a </a:t>
            </a:r>
            <a:r>
              <a:rPr lang="en-US"/>
              <a:t>vmap</a:t>
            </a:r>
            <a:r>
              <a:rPr lang="en-US" sz="1200" b="0" i="0" kern="1200">
                <a:solidFill>
                  <a:schemeClr val="tx1"/>
                </a:solidFill>
                <a:effectLst/>
                <a:latin typeface="+mn-lt"/>
                <a:ea typeface="+mn-ea"/>
                <a:cs typeface="+mn-cs"/>
              </a:rPr>
              <a:t>ped function, JAX often needs to create intermediate arrays that hold results for the </a:t>
            </a:r>
            <a:r>
              <a:rPr lang="en-US" sz="1200" b="0" i="1" kern="1200">
                <a:solidFill>
                  <a:schemeClr val="tx1"/>
                </a:solidFill>
                <a:effectLst/>
                <a:latin typeface="+mn-lt"/>
                <a:ea typeface="+mn-ea"/>
                <a:cs typeface="+mn-cs"/>
              </a:rPr>
              <a:t>entire batch</a:t>
            </a:r>
            <a:r>
              <a:rPr lang="en-US" sz="1200" b="0" i="0" kern="1200">
                <a:solidFill>
                  <a:schemeClr val="tx1"/>
                </a:solidFill>
                <a:effectLst/>
                <a:latin typeface="+mn-lt"/>
                <a:ea typeface="+mn-ea"/>
                <a:cs typeface="+mn-cs"/>
              </a:rPr>
              <a:t> simultaneously.</a:t>
            </a:r>
            <a:endParaRPr lang="en-IN"/>
          </a:p>
        </p:txBody>
      </p:sp>
      <p:sp>
        <p:nvSpPr>
          <p:cNvPr id="4" name="Slide Number Placeholder 3">
            <a:extLst>
              <a:ext uri="{FF2B5EF4-FFF2-40B4-BE49-F238E27FC236}">
                <a16:creationId xmlns:a16="http://schemas.microsoft.com/office/drawing/2014/main" id="{CCC6B7B6-95C6-DAA0-AA79-4C67B81ECAA0}"/>
              </a:ext>
            </a:extLst>
          </p:cNvPr>
          <p:cNvSpPr>
            <a:spLocks noGrp="1"/>
          </p:cNvSpPr>
          <p:nvPr>
            <p:ph type="sldNum" sz="quarter" idx="5"/>
          </p:nvPr>
        </p:nvSpPr>
        <p:spPr/>
        <p:txBody>
          <a:bodyPr/>
          <a:lstStyle/>
          <a:p>
            <a:fld id="{B3CAD9B3-6714-4EA6-9318-8741FCE19847}" type="slidenum">
              <a:rPr lang="en-IN" smtClean="0"/>
              <a:t>8</a:t>
            </a:fld>
            <a:endParaRPr lang="en-IN"/>
          </a:p>
        </p:txBody>
      </p:sp>
    </p:spTree>
    <p:extLst>
      <p:ext uri="{BB962C8B-B14F-4D97-AF65-F5344CB8AC3E}">
        <p14:creationId xmlns:p14="http://schemas.microsoft.com/office/powerpoint/2010/main" val="3084469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4DA7F-54F5-B5CC-08DE-2652AB601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79E11F-8D28-9547-9CEB-07A00EF52B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E8090-00F4-6886-F3D6-650333E6971F}"/>
              </a:ext>
            </a:extLst>
          </p:cNvPr>
          <p:cNvSpPr>
            <a:spLocks noGrp="1"/>
          </p:cNvSpPr>
          <p:nvPr>
            <p:ph type="body" idx="1"/>
          </p:nvPr>
        </p:nvSpPr>
        <p:spPr/>
        <p:txBody>
          <a:bodyPr/>
          <a:lstStyle/>
          <a:p>
            <a:r>
              <a:rPr lang="en-US" b="0" i="0">
                <a:solidFill>
                  <a:srgbClr val="2A2A2A"/>
                </a:solidFill>
                <a:effectLst/>
                <a:latin typeface="Work Sans" panose="020F0502020204030204" pitchFamily="2" charset="0"/>
              </a:rPr>
              <a:t>a </a:t>
            </a:r>
            <a:r>
              <a:rPr lang="en-US" b="1" i="0">
                <a:solidFill>
                  <a:srgbClr val="2A2A2A"/>
                </a:solidFill>
                <a:effectLst/>
                <a:latin typeface="Work Sans" panose="020F0502020204030204" pitchFamily="2" charset="0"/>
              </a:rPr>
              <a:t>derivative</a:t>
            </a:r>
            <a:r>
              <a:rPr lang="en-US" b="0" i="0">
                <a:solidFill>
                  <a:srgbClr val="2A2A2A"/>
                </a:solidFill>
                <a:effectLst/>
                <a:latin typeface="Work Sans" panose="020F0502020204030204" pitchFamily="2" charset="0"/>
              </a:rPr>
              <a:t> measures how a function changes when its input changes. Derivatives come in handy in machine learning because they allow us to adjust parameters like weights and biases in our models to make better predictions. </a:t>
            </a:r>
            <a:r>
              <a:rPr lang="en-US" sz="1200" b="0" i="0" kern="1200">
                <a:solidFill>
                  <a:schemeClr val="tx1"/>
                </a:solidFill>
                <a:effectLst/>
                <a:latin typeface="+mn-lt"/>
                <a:ea typeface="+mn-ea"/>
                <a:cs typeface="+mn-cs"/>
              </a:rPr>
              <a:t>This can get quite cumbersome for complex functions and you can’t possibly write out the analytical form of the derivative of a deep neural network. The approximation form is not very friendly when we have a lot of independent variables. Here comes automatic differentiation. </a:t>
            </a:r>
            <a:r>
              <a:rPr lang="en-US" sz="1200" b="1" i="0" kern="1200">
                <a:solidFill>
                  <a:schemeClr val="tx1"/>
                </a:solidFill>
                <a:effectLst/>
                <a:latin typeface="+mn-lt"/>
                <a:ea typeface="+mn-ea"/>
                <a:cs typeface="+mn-cs"/>
              </a:rPr>
              <a:t>The basic idea is that you tell each basic operation (addition, multiplication) on how to compute its own derivative</a:t>
            </a:r>
            <a:r>
              <a:rPr lang="en-US" sz="1200" b="0" i="0" kern="1200">
                <a:solidFill>
                  <a:schemeClr val="tx1"/>
                </a:solidFill>
                <a:effectLst/>
                <a:latin typeface="+mn-lt"/>
                <a:ea typeface="+mn-ea"/>
                <a:cs typeface="+mn-cs"/>
              </a:rPr>
              <a:t>. </a:t>
            </a:r>
          </a:p>
          <a:p>
            <a:r>
              <a:rPr lang="en-US"/>
              <a:t>Backward mode: First you evaluate the function from inputs to outputs, but you (or the AD system) keep a record (a “tape”) of all the intermediate steps of the computation; then, you run the computation in reverse (“play the tape backwards”) to backpropagate the derivatives.</a:t>
            </a:r>
            <a:endParaRPr lang="en-IN"/>
          </a:p>
        </p:txBody>
      </p:sp>
      <p:sp>
        <p:nvSpPr>
          <p:cNvPr id="4" name="Slide Number Placeholder 3">
            <a:extLst>
              <a:ext uri="{FF2B5EF4-FFF2-40B4-BE49-F238E27FC236}">
                <a16:creationId xmlns:a16="http://schemas.microsoft.com/office/drawing/2014/main" id="{BA22861E-621F-3BCC-2C26-D8F20AEAEA45}"/>
              </a:ext>
            </a:extLst>
          </p:cNvPr>
          <p:cNvSpPr>
            <a:spLocks noGrp="1"/>
          </p:cNvSpPr>
          <p:nvPr>
            <p:ph type="sldNum" sz="quarter" idx="5"/>
          </p:nvPr>
        </p:nvSpPr>
        <p:spPr/>
        <p:txBody>
          <a:bodyPr/>
          <a:lstStyle/>
          <a:p>
            <a:fld id="{B3CAD9B3-6714-4EA6-9318-8741FCE19847}" type="slidenum">
              <a:rPr lang="en-IN" smtClean="0"/>
              <a:t>10</a:t>
            </a:fld>
            <a:endParaRPr lang="en-IN"/>
          </a:p>
        </p:txBody>
      </p:sp>
    </p:spTree>
    <p:extLst>
      <p:ext uri="{BB962C8B-B14F-4D97-AF65-F5344CB8AC3E}">
        <p14:creationId xmlns:p14="http://schemas.microsoft.com/office/powerpoint/2010/main" val="799338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B38FC-C583-BDD1-F9B0-2C2E142600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2C7BF-CAFF-0517-55AE-28BA53634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357B9-F566-40A8-6D33-B83CCE23AE6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242424"/>
                </a:solidFill>
                <a:effectLst/>
                <a:latin typeface="source-serif-pro"/>
              </a:rPr>
              <a:t>JAX has an easy-to-use interface because it is very similar to NumPy. If you are familiar with NumPy, you will find JAX very easy to use.  </a:t>
            </a:r>
            <a:r>
              <a:rPr lang="en-US" b="0" i="0">
                <a:solidFill>
                  <a:srgbClr val="FFFFFF"/>
                </a:solidFill>
                <a:effectLst/>
                <a:latin typeface="proxima-n-w01-reg"/>
              </a:rPr>
              <a:t>Since JAX imitates the NumPY API, you can use the same syntax you’re already familiar with. It shouldn’t be surprising that matrix multiplication run faster on accelerators like GPUs and TPUs. What JAX offers in this case is the ability to automatically leverage accelerators with no changes made to the code! </a:t>
            </a:r>
            <a:endParaRPr lang="en-IN"/>
          </a:p>
          <a:p>
            <a:r>
              <a:rPr lang="en-US" b="0" i="0">
                <a:solidFill>
                  <a:srgbClr val="FFFFFF"/>
                </a:solidFill>
                <a:effectLst/>
                <a:latin typeface="proxima-n-w01-reg"/>
              </a:rPr>
              <a:t> </a:t>
            </a:r>
            <a:r>
              <a:rPr lang="en-US" b="1" i="0">
                <a:solidFill>
                  <a:srgbClr val="FFFFFF"/>
                </a:solidFill>
                <a:effectLst/>
                <a:latin typeface="proxima-n-w01-reg"/>
              </a:rPr>
              <a:t>You can’t always just wave your magic wand at your code and suddenly make it run faster when using JAX. </a:t>
            </a:r>
            <a:r>
              <a:rPr lang="en-US"/>
              <a:t>The acronym JAX stands for “just after execution”, since to com pile a function we first monitor its execution once in Python.</a:t>
            </a:r>
            <a:endParaRPr lang="en-IN"/>
          </a:p>
        </p:txBody>
      </p:sp>
      <p:sp>
        <p:nvSpPr>
          <p:cNvPr id="4" name="Slide Number Placeholder 3">
            <a:extLst>
              <a:ext uri="{FF2B5EF4-FFF2-40B4-BE49-F238E27FC236}">
                <a16:creationId xmlns:a16="http://schemas.microsoft.com/office/drawing/2014/main" id="{7AA15719-D072-C219-1490-6F09A29A54DB}"/>
              </a:ext>
            </a:extLst>
          </p:cNvPr>
          <p:cNvSpPr>
            <a:spLocks noGrp="1"/>
          </p:cNvSpPr>
          <p:nvPr>
            <p:ph type="sldNum" sz="quarter" idx="5"/>
          </p:nvPr>
        </p:nvSpPr>
        <p:spPr/>
        <p:txBody>
          <a:bodyPr/>
          <a:lstStyle/>
          <a:p>
            <a:fld id="{B3CAD9B3-6714-4EA6-9318-8741FCE19847}" type="slidenum">
              <a:rPr lang="en-IN" smtClean="0"/>
              <a:t>11</a:t>
            </a:fld>
            <a:endParaRPr lang="en-IN"/>
          </a:p>
        </p:txBody>
      </p:sp>
    </p:spTree>
    <p:extLst>
      <p:ext uri="{BB962C8B-B14F-4D97-AF65-F5344CB8AC3E}">
        <p14:creationId xmlns:p14="http://schemas.microsoft.com/office/powerpoint/2010/main" val="3065401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0EE29-A150-0589-997D-C5E7390046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EACDF1A-9653-9153-6AE4-2E43A9F99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6E43717-84F6-B210-F289-EC0DAEF404AD}"/>
              </a:ext>
            </a:extLst>
          </p:cNvPr>
          <p:cNvSpPr>
            <a:spLocks noGrp="1"/>
          </p:cNvSpPr>
          <p:nvPr>
            <p:ph type="dt" sz="half" idx="10"/>
          </p:nvPr>
        </p:nvSpPr>
        <p:spPr/>
        <p:txBody>
          <a:bodyPr/>
          <a:lstStyle/>
          <a:p>
            <a:fld id="{E286410D-E4D6-477A-8CFC-F81062577673}" type="datetime1">
              <a:rPr lang="en-IN" smtClean="0"/>
              <a:t>28/02/26</a:t>
            </a:fld>
            <a:endParaRPr lang="en-IN"/>
          </a:p>
        </p:txBody>
      </p:sp>
      <p:sp>
        <p:nvSpPr>
          <p:cNvPr id="5" name="Footer Placeholder 4">
            <a:extLst>
              <a:ext uri="{FF2B5EF4-FFF2-40B4-BE49-F238E27FC236}">
                <a16:creationId xmlns:a16="http://schemas.microsoft.com/office/drawing/2014/main" id="{D9C5ADCD-F5E0-32E7-BF9E-099B3EDE0B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CB9BAB-5801-F926-0F40-D3E43520818A}"/>
              </a:ext>
            </a:extLst>
          </p:cNvPr>
          <p:cNvSpPr>
            <a:spLocks noGrp="1"/>
          </p:cNvSpPr>
          <p:nvPr>
            <p:ph type="sldNum" sz="quarter" idx="12"/>
          </p:nvPr>
        </p:nvSpPr>
        <p:spPr/>
        <p:txBody>
          <a:bodyPr/>
          <a:lstStyle/>
          <a:p>
            <a:fld id="{80CF0AD1-F62C-4FB8-9A3D-509C68BBEF0A}" type="slidenum">
              <a:rPr lang="en-IN" smtClean="0"/>
              <a:t>‹#›</a:t>
            </a:fld>
            <a:endParaRPr lang="en-IN"/>
          </a:p>
        </p:txBody>
      </p:sp>
    </p:spTree>
    <p:extLst>
      <p:ext uri="{BB962C8B-B14F-4D97-AF65-F5344CB8AC3E}">
        <p14:creationId xmlns:p14="http://schemas.microsoft.com/office/powerpoint/2010/main" val="2409362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F5083-8B5F-F0A4-1138-BC2340FC27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B225FE8-4855-389D-61F0-EA885F76F1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16DA35-F594-0F11-0FA4-249C055584E4}"/>
              </a:ext>
            </a:extLst>
          </p:cNvPr>
          <p:cNvSpPr>
            <a:spLocks noGrp="1"/>
          </p:cNvSpPr>
          <p:nvPr>
            <p:ph type="dt" sz="half" idx="10"/>
          </p:nvPr>
        </p:nvSpPr>
        <p:spPr/>
        <p:txBody>
          <a:bodyPr/>
          <a:lstStyle/>
          <a:p>
            <a:fld id="{DBF2798B-B596-43CE-82D8-B04E2C779405}" type="datetime1">
              <a:rPr lang="en-IN" smtClean="0"/>
              <a:t>28/02/26</a:t>
            </a:fld>
            <a:endParaRPr lang="en-IN"/>
          </a:p>
        </p:txBody>
      </p:sp>
      <p:sp>
        <p:nvSpPr>
          <p:cNvPr id="5" name="Footer Placeholder 4">
            <a:extLst>
              <a:ext uri="{FF2B5EF4-FFF2-40B4-BE49-F238E27FC236}">
                <a16:creationId xmlns:a16="http://schemas.microsoft.com/office/drawing/2014/main" id="{46A1FBD5-4AE3-E352-5840-D561DC7A1A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FD6E72-6C9C-8594-7C21-DDD027EE574F}"/>
              </a:ext>
            </a:extLst>
          </p:cNvPr>
          <p:cNvSpPr>
            <a:spLocks noGrp="1"/>
          </p:cNvSpPr>
          <p:nvPr>
            <p:ph type="sldNum" sz="quarter" idx="12"/>
          </p:nvPr>
        </p:nvSpPr>
        <p:spPr/>
        <p:txBody>
          <a:bodyPr/>
          <a:lstStyle/>
          <a:p>
            <a:fld id="{80CF0AD1-F62C-4FB8-9A3D-509C68BBEF0A}" type="slidenum">
              <a:rPr lang="en-IN" smtClean="0"/>
              <a:t>‹#›</a:t>
            </a:fld>
            <a:endParaRPr lang="en-IN"/>
          </a:p>
        </p:txBody>
      </p:sp>
    </p:spTree>
    <p:extLst>
      <p:ext uri="{BB962C8B-B14F-4D97-AF65-F5344CB8AC3E}">
        <p14:creationId xmlns:p14="http://schemas.microsoft.com/office/powerpoint/2010/main" val="924800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88C88-7DF2-DE36-6293-09E1B5630B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37A6A1-2819-730D-69C2-5DAE52136A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10FABF-7157-1013-EE4B-7240E6C1548F}"/>
              </a:ext>
            </a:extLst>
          </p:cNvPr>
          <p:cNvSpPr>
            <a:spLocks noGrp="1"/>
          </p:cNvSpPr>
          <p:nvPr>
            <p:ph type="dt" sz="half" idx="10"/>
          </p:nvPr>
        </p:nvSpPr>
        <p:spPr/>
        <p:txBody>
          <a:bodyPr/>
          <a:lstStyle/>
          <a:p>
            <a:fld id="{4B4811A6-3A2D-4DEB-8D54-D1945698E996}" type="datetime1">
              <a:rPr lang="en-IN" smtClean="0"/>
              <a:t>28/02/26</a:t>
            </a:fld>
            <a:endParaRPr lang="en-IN"/>
          </a:p>
        </p:txBody>
      </p:sp>
      <p:sp>
        <p:nvSpPr>
          <p:cNvPr id="5" name="Footer Placeholder 4">
            <a:extLst>
              <a:ext uri="{FF2B5EF4-FFF2-40B4-BE49-F238E27FC236}">
                <a16:creationId xmlns:a16="http://schemas.microsoft.com/office/drawing/2014/main" id="{F831390C-6859-B122-4692-1946D3A275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F39FD1-201B-1B8F-9E81-4F53993F6BD6}"/>
              </a:ext>
            </a:extLst>
          </p:cNvPr>
          <p:cNvSpPr>
            <a:spLocks noGrp="1"/>
          </p:cNvSpPr>
          <p:nvPr>
            <p:ph type="sldNum" sz="quarter" idx="12"/>
          </p:nvPr>
        </p:nvSpPr>
        <p:spPr/>
        <p:txBody>
          <a:bodyPr/>
          <a:lstStyle/>
          <a:p>
            <a:fld id="{80CF0AD1-F62C-4FB8-9A3D-509C68BBEF0A}" type="slidenum">
              <a:rPr lang="en-IN" smtClean="0"/>
              <a:t>‹#›</a:t>
            </a:fld>
            <a:endParaRPr lang="en-IN"/>
          </a:p>
        </p:txBody>
      </p:sp>
    </p:spTree>
    <p:extLst>
      <p:ext uri="{BB962C8B-B14F-4D97-AF65-F5344CB8AC3E}">
        <p14:creationId xmlns:p14="http://schemas.microsoft.com/office/powerpoint/2010/main" val="3778461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55CDB-0F68-AF6B-6533-8B8C903AC67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1EAC1A-940C-F864-1EDC-20D1A7862A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055A283-F7CB-CE78-2FDA-B3D90E0B05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564E25A-E99E-E0BC-FE88-1474907D255E}"/>
              </a:ext>
            </a:extLst>
          </p:cNvPr>
          <p:cNvSpPr>
            <a:spLocks noGrp="1"/>
          </p:cNvSpPr>
          <p:nvPr>
            <p:ph type="dt" sz="half" idx="10"/>
          </p:nvPr>
        </p:nvSpPr>
        <p:spPr/>
        <p:txBody>
          <a:bodyPr/>
          <a:lstStyle/>
          <a:p>
            <a:fld id="{364F9F75-DE37-4686-BDEC-92A000B0F79D}" type="datetime1">
              <a:rPr lang="en-IN" smtClean="0"/>
              <a:t>28/02/26</a:t>
            </a:fld>
            <a:endParaRPr lang="en-IN"/>
          </a:p>
        </p:txBody>
      </p:sp>
      <p:sp>
        <p:nvSpPr>
          <p:cNvPr id="6" name="Footer Placeholder 5">
            <a:extLst>
              <a:ext uri="{FF2B5EF4-FFF2-40B4-BE49-F238E27FC236}">
                <a16:creationId xmlns:a16="http://schemas.microsoft.com/office/drawing/2014/main" id="{F2D1DFF0-036B-7134-56E6-0DAFEBCACE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40A6BF-0F8D-C327-2AFE-377ADA44FA6A}"/>
              </a:ext>
            </a:extLst>
          </p:cNvPr>
          <p:cNvSpPr>
            <a:spLocks noGrp="1"/>
          </p:cNvSpPr>
          <p:nvPr>
            <p:ph type="sldNum" sz="quarter" idx="12"/>
          </p:nvPr>
        </p:nvSpPr>
        <p:spPr/>
        <p:txBody>
          <a:bodyPr/>
          <a:lstStyle/>
          <a:p>
            <a:fld id="{80CF0AD1-F62C-4FB8-9A3D-509C68BBEF0A}" type="slidenum">
              <a:rPr lang="en-IN" smtClean="0"/>
              <a:t>‹#›</a:t>
            </a:fld>
            <a:endParaRPr lang="en-IN"/>
          </a:p>
        </p:txBody>
      </p:sp>
    </p:spTree>
    <p:extLst>
      <p:ext uri="{BB962C8B-B14F-4D97-AF65-F5344CB8AC3E}">
        <p14:creationId xmlns:p14="http://schemas.microsoft.com/office/powerpoint/2010/main" val="2018006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F2298-3CB7-4314-C605-227B1E1557B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012428-F6CC-AE58-568A-B96D07CD61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8D7C60-B943-2084-3807-7A5A88257D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0629AE-958F-0D95-796C-724574DD64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35529F-A6D1-116F-3C5B-03C751B3A5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A4FA91-8D23-DF5D-81EF-DC8DF908AE75}"/>
              </a:ext>
            </a:extLst>
          </p:cNvPr>
          <p:cNvSpPr>
            <a:spLocks noGrp="1"/>
          </p:cNvSpPr>
          <p:nvPr>
            <p:ph type="dt" sz="half" idx="10"/>
          </p:nvPr>
        </p:nvSpPr>
        <p:spPr/>
        <p:txBody>
          <a:bodyPr/>
          <a:lstStyle/>
          <a:p>
            <a:fld id="{931C9082-2BE8-4B73-994D-4FA1D044E4DD}" type="datetime1">
              <a:rPr lang="en-IN" smtClean="0"/>
              <a:t>28/02/26</a:t>
            </a:fld>
            <a:endParaRPr lang="en-IN"/>
          </a:p>
        </p:txBody>
      </p:sp>
      <p:sp>
        <p:nvSpPr>
          <p:cNvPr id="8" name="Footer Placeholder 7">
            <a:extLst>
              <a:ext uri="{FF2B5EF4-FFF2-40B4-BE49-F238E27FC236}">
                <a16:creationId xmlns:a16="http://schemas.microsoft.com/office/drawing/2014/main" id="{D3DD7E97-6360-86B3-7299-F814DF683F3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BA3FB65-4CFF-44EA-5EB3-93F9374373F3}"/>
              </a:ext>
            </a:extLst>
          </p:cNvPr>
          <p:cNvSpPr>
            <a:spLocks noGrp="1"/>
          </p:cNvSpPr>
          <p:nvPr>
            <p:ph type="sldNum" sz="quarter" idx="12"/>
          </p:nvPr>
        </p:nvSpPr>
        <p:spPr/>
        <p:txBody>
          <a:bodyPr/>
          <a:lstStyle/>
          <a:p>
            <a:fld id="{80CF0AD1-F62C-4FB8-9A3D-509C68BBEF0A}" type="slidenum">
              <a:rPr lang="en-IN" smtClean="0"/>
              <a:t>‹#›</a:t>
            </a:fld>
            <a:endParaRPr lang="en-IN"/>
          </a:p>
        </p:txBody>
      </p:sp>
    </p:spTree>
    <p:extLst>
      <p:ext uri="{BB962C8B-B14F-4D97-AF65-F5344CB8AC3E}">
        <p14:creationId xmlns:p14="http://schemas.microsoft.com/office/powerpoint/2010/main" val="3973261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322C0-D561-96B0-2D05-C1E06E4FB0A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1F4290B-6233-C947-6059-ED6CC3224A22}"/>
              </a:ext>
            </a:extLst>
          </p:cNvPr>
          <p:cNvSpPr>
            <a:spLocks noGrp="1"/>
          </p:cNvSpPr>
          <p:nvPr>
            <p:ph type="dt" sz="half" idx="10"/>
          </p:nvPr>
        </p:nvSpPr>
        <p:spPr/>
        <p:txBody>
          <a:bodyPr/>
          <a:lstStyle/>
          <a:p>
            <a:fld id="{C3820840-89A5-4AA5-B9EC-13A877B1C978}" type="datetime1">
              <a:rPr lang="en-IN" smtClean="0"/>
              <a:t>28/02/26</a:t>
            </a:fld>
            <a:endParaRPr lang="en-IN"/>
          </a:p>
        </p:txBody>
      </p:sp>
      <p:sp>
        <p:nvSpPr>
          <p:cNvPr id="4" name="Footer Placeholder 3">
            <a:extLst>
              <a:ext uri="{FF2B5EF4-FFF2-40B4-BE49-F238E27FC236}">
                <a16:creationId xmlns:a16="http://schemas.microsoft.com/office/drawing/2014/main" id="{60BB6523-5096-D855-2037-AB3CB51B7C7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0C67A0E-9A02-541E-ED9B-4DCB995D7BFC}"/>
              </a:ext>
            </a:extLst>
          </p:cNvPr>
          <p:cNvSpPr>
            <a:spLocks noGrp="1"/>
          </p:cNvSpPr>
          <p:nvPr>
            <p:ph type="sldNum" sz="quarter" idx="12"/>
          </p:nvPr>
        </p:nvSpPr>
        <p:spPr/>
        <p:txBody>
          <a:bodyPr/>
          <a:lstStyle/>
          <a:p>
            <a:fld id="{80CF0AD1-F62C-4FB8-9A3D-509C68BBEF0A}" type="slidenum">
              <a:rPr lang="en-IN" smtClean="0"/>
              <a:t>‹#›</a:t>
            </a:fld>
            <a:endParaRPr lang="en-IN"/>
          </a:p>
        </p:txBody>
      </p:sp>
    </p:spTree>
    <p:extLst>
      <p:ext uri="{BB962C8B-B14F-4D97-AF65-F5344CB8AC3E}">
        <p14:creationId xmlns:p14="http://schemas.microsoft.com/office/powerpoint/2010/main" val="3915572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BE9B2B-37DA-33C6-4B60-1D8752DC7451}"/>
              </a:ext>
            </a:extLst>
          </p:cNvPr>
          <p:cNvSpPr>
            <a:spLocks noGrp="1"/>
          </p:cNvSpPr>
          <p:nvPr>
            <p:ph type="dt" sz="half" idx="10"/>
          </p:nvPr>
        </p:nvSpPr>
        <p:spPr/>
        <p:txBody>
          <a:bodyPr/>
          <a:lstStyle/>
          <a:p>
            <a:fld id="{B03CB195-B178-4551-8239-3EBE870D787F}" type="datetime1">
              <a:rPr lang="en-IN" smtClean="0"/>
              <a:t>28/02/26</a:t>
            </a:fld>
            <a:endParaRPr lang="en-IN"/>
          </a:p>
        </p:txBody>
      </p:sp>
      <p:sp>
        <p:nvSpPr>
          <p:cNvPr id="3" name="Footer Placeholder 2">
            <a:extLst>
              <a:ext uri="{FF2B5EF4-FFF2-40B4-BE49-F238E27FC236}">
                <a16:creationId xmlns:a16="http://schemas.microsoft.com/office/drawing/2014/main" id="{4B0ED34E-F1BB-0A81-C7B5-42AF6F0A522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848DF05-1D98-F1E9-70C5-9C9EE0CF1C2B}"/>
              </a:ext>
            </a:extLst>
          </p:cNvPr>
          <p:cNvSpPr>
            <a:spLocks noGrp="1"/>
          </p:cNvSpPr>
          <p:nvPr>
            <p:ph type="sldNum" sz="quarter" idx="12"/>
          </p:nvPr>
        </p:nvSpPr>
        <p:spPr/>
        <p:txBody>
          <a:bodyPr/>
          <a:lstStyle/>
          <a:p>
            <a:fld id="{80CF0AD1-F62C-4FB8-9A3D-509C68BBEF0A}" type="slidenum">
              <a:rPr lang="en-IN" smtClean="0"/>
              <a:t>‹#›</a:t>
            </a:fld>
            <a:endParaRPr lang="en-IN"/>
          </a:p>
        </p:txBody>
      </p:sp>
    </p:spTree>
    <p:extLst>
      <p:ext uri="{BB962C8B-B14F-4D97-AF65-F5344CB8AC3E}">
        <p14:creationId xmlns:p14="http://schemas.microsoft.com/office/powerpoint/2010/main" val="193230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33011-3177-C986-3081-FBC2BA38FD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6141ECD-EE93-9A2A-5120-E49F48134C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CE3831-2FF3-FDEE-C4CC-095F2E8576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6C4D75-C1D8-0331-1C38-33CEDEC69AA4}"/>
              </a:ext>
            </a:extLst>
          </p:cNvPr>
          <p:cNvSpPr>
            <a:spLocks noGrp="1"/>
          </p:cNvSpPr>
          <p:nvPr>
            <p:ph type="dt" sz="half" idx="10"/>
          </p:nvPr>
        </p:nvSpPr>
        <p:spPr/>
        <p:txBody>
          <a:bodyPr/>
          <a:lstStyle/>
          <a:p>
            <a:fld id="{DF6256EB-C138-4A48-BF25-11C692349021}" type="datetime1">
              <a:rPr lang="en-IN" smtClean="0"/>
              <a:t>28/02/26</a:t>
            </a:fld>
            <a:endParaRPr lang="en-IN"/>
          </a:p>
        </p:txBody>
      </p:sp>
      <p:sp>
        <p:nvSpPr>
          <p:cNvPr id="6" name="Footer Placeholder 5">
            <a:extLst>
              <a:ext uri="{FF2B5EF4-FFF2-40B4-BE49-F238E27FC236}">
                <a16:creationId xmlns:a16="http://schemas.microsoft.com/office/drawing/2014/main" id="{5397370A-9024-46BB-CBA2-9CFFB7B272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046C34-8F38-E6B9-D445-6170F8B5CD4C}"/>
              </a:ext>
            </a:extLst>
          </p:cNvPr>
          <p:cNvSpPr>
            <a:spLocks noGrp="1"/>
          </p:cNvSpPr>
          <p:nvPr>
            <p:ph type="sldNum" sz="quarter" idx="12"/>
          </p:nvPr>
        </p:nvSpPr>
        <p:spPr/>
        <p:txBody>
          <a:bodyPr/>
          <a:lstStyle/>
          <a:p>
            <a:fld id="{80CF0AD1-F62C-4FB8-9A3D-509C68BBEF0A}" type="slidenum">
              <a:rPr lang="en-IN" smtClean="0"/>
              <a:t>‹#›</a:t>
            </a:fld>
            <a:endParaRPr lang="en-IN"/>
          </a:p>
        </p:txBody>
      </p:sp>
    </p:spTree>
    <p:extLst>
      <p:ext uri="{BB962C8B-B14F-4D97-AF65-F5344CB8AC3E}">
        <p14:creationId xmlns:p14="http://schemas.microsoft.com/office/powerpoint/2010/main" val="396092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F59D-0E89-948A-4916-7060679C9F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0E05668-1DC6-FA72-9CF1-E6C98BE135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5489923-E869-63F5-3416-E1B353B176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AB6F0E-3A2C-C2C1-3F32-9A5DE4DDE6AA}"/>
              </a:ext>
            </a:extLst>
          </p:cNvPr>
          <p:cNvSpPr>
            <a:spLocks noGrp="1"/>
          </p:cNvSpPr>
          <p:nvPr>
            <p:ph type="dt" sz="half" idx="10"/>
          </p:nvPr>
        </p:nvSpPr>
        <p:spPr/>
        <p:txBody>
          <a:bodyPr/>
          <a:lstStyle/>
          <a:p>
            <a:fld id="{A6F457B5-ACA7-4ACD-A138-2DEFB7012B37}" type="datetime1">
              <a:rPr lang="en-IN" smtClean="0"/>
              <a:t>28/02/26</a:t>
            </a:fld>
            <a:endParaRPr lang="en-IN"/>
          </a:p>
        </p:txBody>
      </p:sp>
      <p:sp>
        <p:nvSpPr>
          <p:cNvPr id="6" name="Footer Placeholder 5">
            <a:extLst>
              <a:ext uri="{FF2B5EF4-FFF2-40B4-BE49-F238E27FC236}">
                <a16:creationId xmlns:a16="http://schemas.microsoft.com/office/drawing/2014/main" id="{043D0E96-814B-F6E5-DB24-825F661AF5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C96D05-5E8B-8AA7-5B82-D2C74990063A}"/>
              </a:ext>
            </a:extLst>
          </p:cNvPr>
          <p:cNvSpPr>
            <a:spLocks noGrp="1"/>
          </p:cNvSpPr>
          <p:nvPr>
            <p:ph type="sldNum" sz="quarter" idx="12"/>
          </p:nvPr>
        </p:nvSpPr>
        <p:spPr/>
        <p:txBody>
          <a:bodyPr/>
          <a:lstStyle/>
          <a:p>
            <a:fld id="{80CF0AD1-F62C-4FB8-9A3D-509C68BBEF0A}" type="slidenum">
              <a:rPr lang="en-IN" smtClean="0"/>
              <a:t>‹#›</a:t>
            </a:fld>
            <a:endParaRPr lang="en-IN"/>
          </a:p>
        </p:txBody>
      </p:sp>
    </p:spTree>
    <p:extLst>
      <p:ext uri="{BB962C8B-B14F-4D97-AF65-F5344CB8AC3E}">
        <p14:creationId xmlns:p14="http://schemas.microsoft.com/office/powerpoint/2010/main" val="4051159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AEE52-BC96-BE88-B187-CEFFDF7498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BA8C29-2780-BB5E-F122-A70C0784F1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168CD2-A890-4ECC-E87A-7689B30FBA98}"/>
              </a:ext>
            </a:extLst>
          </p:cNvPr>
          <p:cNvSpPr>
            <a:spLocks noGrp="1"/>
          </p:cNvSpPr>
          <p:nvPr>
            <p:ph type="dt" sz="half" idx="10"/>
          </p:nvPr>
        </p:nvSpPr>
        <p:spPr/>
        <p:txBody>
          <a:bodyPr/>
          <a:lstStyle/>
          <a:p>
            <a:fld id="{DE3B3997-2717-473C-A367-A1A6B9051621}" type="datetime1">
              <a:rPr lang="en-IN" smtClean="0"/>
              <a:t>28/02/26</a:t>
            </a:fld>
            <a:endParaRPr lang="en-IN"/>
          </a:p>
        </p:txBody>
      </p:sp>
      <p:sp>
        <p:nvSpPr>
          <p:cNvPr id="5" name="Footer Placeholder 4">
            <a:extLst>
              <a:ext uri="{FF2B5EF4-FFF2-40B4-BE49-F238E27FC236}">
                <a16:creationId xmlns:a16="http://schemas.microsoft.com/office/drawing/2014/main" id="{6845B44A-BAAF-E4B0-3474-E0D5DEC215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7F3807-8B0B-3C92-FDF3-48E5D88F5521}"/>
              </a:ext>
            </a:extLst>
          </p:cNvPr>
          <p:cNvSpPr>
            <a:spLocks noGrp="1"/>
          </p:cNvSpPr>
          <p:nvPr>
            <p:ph type="sldNum" sz="quarter" idx="12"/>
          </p:nvPr>
        </p:nvSpPr>
        <p:spPr/>
        <p:txBody>
          <a:bodyPr/>
          <a:lstStyle/>
          <a:p>
            <a:fld id="{80CF0AD1-F62C-4FB8-9A3D-509C68BBEF0A}" type="slidenum">
              <a:rPr lang="en-IN" smtClean="0"/>
              <a:t>‹#›</a:t>
            </a:fld>
            <a:endParaRPr lang="en-IN"/>
          </a:p>
        </p:txBody>
      </p:sp>
    </p:spTree>
    <p:extLst>
      <p:ext uri="{BB962C8B-B14F-4D97-AF65-F5344CB8AC3E}">
        <p14:creationId xmlns:p14="http://schemas.microsoft.com/office/powerpoint/2010/main" val="1745680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665E36-B64D-6BB9-2332-A071F75EAD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A342CB-2B89-3F0F-4BFF-1B1946EF01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CDEE18-4FD5-5357-B8F9-3546B0ED756E}"/>
              </a:ext>
            </a:extLst>
          </p:cNvPr>
          <p:cNvSpPr>
            <a:spLocks noGrp="1"/>
          </p:cNvSpPr>
          <p:nvPr>
            <p:ph type="dt" sz="half" idx="10"/>
          </p:nvPr>
        </p:nvSpPr>
        <p:spPr/>
        <p:txBody>
          <a:bodyPr/>
          <a:lstStyle/>
          <a:p>
            <a:fld id="{56E3F8EF-2664-4448-8DA7-CBD04EAF1825}" type="datetime1">
              <a:rPr lang="en-IN" smtClean="0"/>
              <a:t>28/02/26</a:t>
            </a:fld>
            <a:endParaRPr lang="en-IN"/>
          </a:p>
        </p:txBody>
      </p:sp>
      <p:sp>
        <p:nvSpPr>
          <p:cNvPr id="5" name="Footer Placeholder 4">
            <a:extLst>
              <a:ext uri="{FF2B5EF4-FFF2-40B4-BE49-F238E27FC236}">
                <a16:creationId xmlns:a16="http://schemas.microsoft.com/office/drawing/2014/main" id="{19928BB6-C39F-8AE5-21B5-978AE03975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33B105-0B46-BEF9-BD2C-4EFB6A6F722F}"/>
              </a:ext>
            </a:extLst>
          </p:cNvPr>
          <p:cNvSpPr>
            <a:spLocks noGrp="1"/>
          </p:cNvSpPr>
          <p:nvPr>
            <p:ph type="sldNum" sz="quarter" idx="12"/>
          </p:nvPr>
        </p:nvSpPr>
        <p:spPr/>
        <p:txBody>
          <a:bodyPr/>
          <a:lstStyle/>
          <a:p>
            <a:fld id="{80CF0AD1-F62C-4FB8-9A3D-509C68BBEF0A}" type="slidenum">
              <a:rPr lang="en-IN" smtClean="0"/>
              <a:t>‹#›</a:t>
            </a:fld>
            <a:endParaRPr lang="en-IN"/>
          </a:p>
        </p:txBody>
      </p:sp>
    </p:spTree>
    <p:extLst>
      <p:ext uri="{BB962C8B-B14F-4D97-AF65-F5344CB8AC3E}">
        <p14:creationId xmlns:p14="http://schemas.microsoft.com/office/powerpoint/2010/main" val="4140632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7E96A4-0DC9-84E8-F63E-EDC4A0686F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3E7D05-A8C0-286E-FBA3-95A9039B01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725BE7-F5F2-1F85-6158-7052A413A6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EE517C-6253-4CD7-804A-A72F0BE310AC}" type="datetime1">
              <a:rPr lang="en-IN" smtClean="0"/>
              <a:t>28/02/26</a:t>
            </a:fld>
            <a:endParaRPr lang="en-IN"/>
          </a:p>
        </p:txBody>
      </p:sp>
      <p:sp>
        <p:nvSpPr>
          <p:cNvPr id="5" name="Footer Placeholder 4">
            <a:extLst>
              <a:ext uri="{FF2B5EF4-FFF2-40B4-BE49-F238E27FC236}">
                <a16:creationId xmlns:a16="http://schemas.microsoft.com/office/drawing/2014/main" id="{1718EE6B-AC83-0FDF-912F-6FE9831C78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D01BC70-82B0-38C8-DB71-C7EB650895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CF0AD1-F62C-4FB8-9A3D-509C68BBEF0A}" type="slidenum">
              <a:rPr lang="en-IN" smtClean="0"/>
              <a:t>‹#›</a:t>
            </a:fld>
            <a:endParaRPr lang="en-IN"/>
          </a:p>
        </p:txBody>
      </p:sp>
    </p:spTree>
    <p:extLst>
      <p:ext uri="{BB962C8B-B14F-4D97-AF65-F5344CB8AC3E}">
        <p14:creationId xmlns:p14="http://schemas.microsoft.com/office/powerpoint/2010/main" val="1177845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14915-1069-534F-D7EC-7F65DA65ADA6}"/>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0EFBC1D9-5CCA-42D4-5980-8AE8515A2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3192" y="953818"/>
            <a:ext cx="7525616" cy="436544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BE2E562-6476-C9B1-2217-924F21A087EC}"/>
              </a:ext>
            </a:extLst>
          </p:cNvPr>
          <p:cNvSpPr/>
          <p:nvPr/>
        </p:nvSpPr>
        <p:spPr>
          <a:xfrm>
            <a:off x="236220" y="182880"/>
            <a:ext cx="11719560" cy="64617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158112A2-D4F8-5B5E-1AFE-8944596234DD}"/>
              </a:ext>
            </a:extLst>
          </p:cNvPr>
          <p:cNvSpPr>
            <a:spLocks noGrp="1"/>
          </p:cNvSpPr>
          <p:nvPr>
            <p:ph type="sldNum" sz="quarter" idx="12"/>
          </p:nvPr>
        </p:nvSpPr>
        <p:spPr/>
        <p:txBody>
          <a:bodyPr/>
          <a:lstStyle/>
          <a:p>
            <a:fld id="{80CF0AD1-F62C-4FB8-9A3D-509C68BBEF0A}" type="slidenum">
              <a:rPr lang="en-IN" smtClean="0"/>
              <a:t>1</a:t>
            </a:fld>
            <a:endParaRPr lang="en-IN"/>
          </a:p>
        </p:txBody>
      </p:sp>
    </p:spTree>
    <p:extLst>
      <p:ext uri="{BB962C8B-B14F-4D97-AF65-F5344CB8AC3E}">
        <p14:creationId xmlns:p14="http://schemas.microsoft.com/office/powerpoint/2010/main" val="2879017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6" name="Picture 14" descr="Popularity on GitHub">
            <a:extLst>
              <a:ext uri="{FF2B5EF4-FFF2-40B4-BE49-F238E27FC236}">
                <a16:creationId xmlns:a16="http://schemas.microsoft.com/office/drawing/2014/main" id="{78879F35-EFF6-F7B1-A859-2EEE81483F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9790" y="4831303"/>
            <a:ext cx="5372850" cy="181333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1F0DD46C-702C-DEB5-E273-3B2E4DA157B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0000"/>
          <a:stretch/>
        </p:blipFill>
        <p:spPr bwMode="auto">
          <a:xfrm>
            <a:off x="477913" y="1820866"/>
            <a:ext cx="1180199" cy="131845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16B855E-3290-0FDD-DB51-9BBE7112260B}"/>
              </a:ext>
            </a:extLst>
          </p:cNvPr>
          <p:cNvSpPr txBox="1"/>
          <p:nvPr/>
        </p:nvSpPr>
        <p:spPr>
          <a:xfrm>
            <a:off x="221881" y="1507388"/>
            <a:ext cx="5618087" cy="338554"/>
          </a:xfrm>
          <a:prstGeom prst="rect">
            <a:avLst/>
          </a:prstGeom>
          <a:noFill/>
        </p:spPr>
        <p:txBody>
          <a:bodyPr wrap="square" rtlCol="0">
            <a:spAutoFit/>
          </a:bodyPr>
          <a:lstStyle/>
          <a:p>
            <a:r>
              <a:rPr lang="en-US" sz="1600" b="1"/>
              <a:t>Python/Numpy</a:t>
            </a:r>
            <a:endParaRPr lang="en-IN" sz="1600" b="1"/>
          </a:p>
        </p:txBody>
      </p:sp>
      <p:sp>
        <p:nvSpPr>
          <p:cNvPr id="3" name="TextBox 2">
            <a:extLst>
              <a:ext uri="{FF2B5EF4-FFF2-40B4-BE49-F238E27FC236}">
                <a16:creationId xmlns:a16="http://schemas.microsoft.com/office/drawing/2014/main" id="{648671D7-A57F-E8DF-D301-09014C68132C}"/>
              </a:ext>
            </a:extLst>
          </p:cNvPr>
          <p:cNvSpPr txBox="1"/>
          <p:nvPr/>
        </p:nvSpPr>
        <p:spPr>
          <a:xfrm>
            <a:off x="221881" y="3352211"/>
            <a:ext cx="1688002" cy="584775"/>
          </a:xfrm>
          <a:prstGeom prst="rect">
            <a:avLst/>
          </a:prstGeom>
          <a:noFill/>
        </p:spPr>
        <p:txBody>
          <a:bodyPr wrap="square" rtlCol="0">
            <a:spAutoFit/>
          </a:bodyPr>
          <a:lstStyle/>
          <a:p>
            <a:r>
              <a:rPr lang="en-US" sz="1600" b="1"/>
              <a:t>Python/Numpy with JAX</a:t>
            </a:r>
            <a:endParaRPr lang="en-IN" sz="1600" b="1"/>
          </a:p>
        </p:txBody>
      </p:sp>
      <p:sp>
        <p:nvSpPr>
          <p:cNvPr id="4" name="TextBox 3">
            <a:extLst>
              <a:ext uri="{FF2B5EF4-FFF2-40B4-BE49-F238E27FC236}">
                <a16:creationId xmlns:a16="http://schemas.microsoft.com/office/drawing/2014/main" id="{A3A6C88C-C937-885F-38DB-CD4B3FFC750A}"/>
              </a:ext>
            </a:extLst>
          </p:cNvPr>
          <p:cNvSpPr txBox="1"/>
          <p:nvPr/>
        </p:nvSpPr>
        <p:spPr>
          <a:xfrm>
            <a:off x="1423416" y="317646"/>
            <a:ext cx="9345168" cy="2554545"/>
          </a:xfrm>
          <a:prstGeom prst="rect">
            <a:avLst/>
          </a:prstGeom>
          <a:noFill/>
        </p:spPr>
        <p:txBody>
          <a:bodyPr wrap="square" rtlCol="0">
            <a:spAutoFit/>
          </a:bodyPr>
          <a:lstStyle/>
          <a:p>
            <a:pPr algn="ctr"/>
            <a:r>
              <a:rPr lang="en-US" sz="4400" b="1"/>
              <a:t>JAX</a:t>
            </a:r>
          </a:p>
          <a:p>
            <a:pPr algn="ctr"/>
            <a:r>
              <a:rPr lang="en-US" sz="2800"/>
              <a:t>Python library developed by Google </a:t>
            </a:r>
          </a:p>
          <a:p>
            <a:pPr algn="ctr"/>
            <a:endParaRPr lang="en-US" sz="4400" b="1"/>
          </a:p>
          <a:p>
            <a:pPr algn="ctr"/>
            <a:endParaRPr lang="en-US" sz="4400" b="1"/>
          </a:p>
        </p:txBody>
      </p:sp>
      <p:pic>
        <p:nvPicPr>
          <p:cNvPr id="7" name="Picture 2">
            <a:extLst>
              <a:ext uri="{FF2B5EF4-FFF2-40B4-BE49-F238E27FC236}">
                <a16:creationId xmlns:a16="http://schemas.microsoft.com/office/drawing/2014/main" id="{7C1EF309-8449-2C67-4E86-5D1546CDDB5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0000"/>
          <a:stretch/>
        </p:blipFill>
        <p:spPr bwMode="auto">
          <a:xfrm>
            <a:off x="475782" y="3936986"/>
            <a:ext cx="1180200" cy="131845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88ACB7E-A532-3DC4-FB8F-D1E58B1817FF}"/>
              </a:ext>
            </a:extLst>
          </p:cNvPr>
          <p:cNvSpPr txBox="1"/>
          <p:nvPr/>
        </p:nvSpPr>
        <p:spPr>
          <a:xfrm>
            <a:off x="2223204" y="1534447"/>
            <a:ext cx="9746915" cy="593047"/>
          </a:xfrm>
          <a:prstGeom prst="rect">
            <a:avLst/>
          </a:prstGeom>
          <a:noFill/>
        </p:spPr>
        <p:txBody>
          <a:bodyPr wrap="square">
            <a:spAutoFit/>
          </a:bodyPr>
          <a:lstStyle/>
          <a:p>
            <a:pPr>
              <a:lnSpc>
                <a:spcPct val="150000"/>
              </a:lnSpc>
            </a:pPr>
            <a:r>
              <a:rPr lang="en-US" sz="2400"/>
              <a:t>For h</a:t>
            </a:r>
            <a:r>
              <a:rPr lang="en-US" sz="2400" b="0" i="0">
                <a:effectLst/>
              </a:rPr>
              <a:t>igh-performance array computing and large-scale machine learning.</a:t>
            </a:r>
            <a:endParaRPr lang="en-IN" sz="2400"/>
          </a:p>
        </p:txBody>
      </p:sp>
      <p:sp>
        <p:nvSpPr>
          <p:cNvPr id="6" name="TextBox 5">
            <a:extLst>
              <a:ext uri="{FF2B5EF4-FFF2-40B4-BE49-F238E27FC236}">
                <a16:creationId xmlns:a16="http://schemas.microsoft.com/office/drawing/2014/main" id="{8C672D10-B49C-74F7-859F-3DBE2D3FAF48}"/>
              </a:ext>
            </a:extLst>
          </p:cNvPr>
          <p:cNvSpPr txBox="1"/>
          <p:nvPr/>
        </p:nvSpPr>
        <p:spPr>
          <a:xfrm>
            <a:off x="1655982" y="2135805"/>
            <a:ext cx="8213148" cy="2251065"/>
          </a:xfrm>
          <a:prstGeom prst="rect">
            <a:avLst/>
          </a:prstGeom>
          <a:noFill/>
        </p:spPr>
        <p:txBody>
          <a:bodyPr wrap="square">
            <a:spAutoFit/>
          </a:bodyPr>
          <a:lstStyle/>
          <a:p>
            <a:pPr marL="914400" lvl="1" indent="-457200">
              <a:lnSpc>
                <a:spcPct val="150000"/>
              </a:lnSpc>
              <a:buAutoNum type="arabicPeriod"/>
            </a:pPr>
            <a:r>
              <a:rPr lang="en-IN" sz="2400" i="0">
                <a:solidFill>
                  <a:srgbClr val="242424"/>
                </a:solidFill>
                <a:effectLst/>
              </a:rPr>
              <a:t>Numpy-like API</a:t>
            </a:r>
            <a:r>
              <a:rPr lang="en-IN" sz="2400">
                <a:solidFill>
                  <a:srgbClr val="242424"/>
                </a:solidFill>
              </a:rPr>
              <a:t>: </a:t>
            </a:r>
            <a:r>
              <a:rPr lang="en-IN" sz="2400" i="1">
                <a:solidFill>
                  <a:srgbClr val="242424"/>
                </a:solidFill>
              </a:rPr>
              <a:t>import jax.numpy as jnp</a:t>
            </a:r>
            <a:endParaRPr lang="en-IN" sz="2400" i="1">
              <a:solidFill>
                <a:srgbClr val="242424"/>
              </a:solidFill>
              <a:effectLst/>
            </a:endParaRPr>
          </a:p>
          <a:p>
            <a:pPr marL="914400" lvl="1" indent="-457200">
              <a:lnSpc>
                <a:spcPct val="150000"/>
              </a:lnSpc>
              <a:buFontTx/>
              <a:buAutoNum type="arabicPeriod"/>
            </a:pPr>
            <a:r>
              <a:rPr lang="en-IN" sz="2400"/>
              <a:t>Easy parallelization.</a:t>
            </a:r>
            <a:endParaRPr lang="en-IN" sz="2400" i="1">
              <a:solidFill>
                <a:srgbClr val="242424"/>
              </a:solidFill>
            </a:endParaRPr>
          </a:p>
          <a:p>
            <a:pPr marL="914400" lvl="1" indent="-457200">
              <a:lnSpc>
                <a:spcPct val="150000"/>
              </a:lnSpc>
              <a:buFontTx/>
              <a:buAutoNum type="arabicPeriod"/>
            </a:pPr>
            <a:r>
              <a:rPr lang="en-IN" sz="2400"/>
              <a:t>Works via composable function transformations.</a:t>
            </a:r>
          </a:p>
          <a:p>
            <a:pPr lvl="1">
              <a:lnSpc>
                <a:spcPct val="150000"/>
              </a:lnSpc>
            </a:pPr>
            <a:endParaRPr lang="en-IN" sz="2400" b="1" i="0">
              <a:solidFill>
                <a:srgbClr val="242424"/>
              </a:solidFill>
              <a:effectLst/>
            </a:endParaRPr>
          </a:p>
        </p:txBody>
      </p:sp>
      <p:sp>
        <p:nvSpPr>
          <p:cNvPr id="9" name="Rectangle 8">
            <a:extLst>
              <a:ext uri="{FF2B5EF4-FFF2-40B4-BE49-F238E27FC236}">
                <a16:creationId xmlns:a16="http://schemas.microsoft.com/office/drawing/2014/main" id="{E4FF7511-9E4F-9DAD-62D7-1862831C2E0D}"/>
              </a:ext>
            </a:extLst>
          </p:cNvPr>
          <p:cNvSpPr/>
          <p:nvPr/>
        </p:nvSpPr>
        <p:spPr>
          <a:xfrm>
            <a:off x="236220" y="182880"/>
            <a:ext cx="11719560" cy="64617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23551FFD-646C-0A60-C776-51847004CC63}"/>
              </a:ext>
            </a:extLst>
          </p:cNvPr>
          <p:cNvPicPr>
            <a:picLocks noChangeAspect="1"/>
          </p:cNvPicPr>
          <p:nvPr/>
        </p:nvPicPr>
        <p:blipFill>
          <a:blip r:embed="rId5"/>
          <a:stretch>
            <a:fillRect/>
          </a:stretch>
        </p:blipFill>
        <p:spPr>
          <a:xfrm>
            <a:off x="2322870" y="3909573"/>
            <a:ext cx="5372850" cy="819264"/>
          </a:xfrm>
          <a:prstGeom prst="rect">
            <a:avLst/>
          </a:prstGeom>
        </p:spPr>
      </p:pic>
      <p:cxnSp>
        <p:nvCxnSpPr>
          <p:cNvPr id="18" name="Connector: Curved 17">
            <a:extLst>
              <a:ext uri="{FF2B5EF4-FFF2-40B4-BE49-F238E27FC236}">
                <a16:creationId xmlns:a16="http://schemas.microsoft.com/office/drawing/2014/main" id="{27D466E2-0522-E4F9-8307-955F650E3EA1}"/>
              </a:ext>
            </a:extLst>
          </p:cNvPr>
          <p:cNvCxnSpPr>
            <a:cxnSpLocks/>
          </p:cNvCxnSpPr>
          <p:nvPr/>
        </p:nvCxnSpPr>
        <p:spPr>
          <a:xfrm rot="10800000" flipV="1">
            <a:off x="6639644" y="5161679"/>
            <a:ext cx="959943" cy="686918"/>
          </a:xfrm>
          <a:prstGeom prst="curvedConnector3">
            <a:avLst>
              <a:gd name="adj1" fmla="val 102164"/>
            </a:avLst>
          </a:prstGeom>
          <a:ln w="7620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2DE79BBB-3CFC-485B-00E8-27E4346C3796}"/>
              </a:ext>
            </a:extLst>
          </p:cNvPr>
          <p:cNvCxnSpPr>
            <a:cxnSpLocks/>
          </p:cNvCxnSpPr>
          <p:nvPr/>
        </p:nvCxnSpPr>
        <p:spPr>
          <a:xfrm>
            <a:off x="7695720" y="4428596"/>
            <a:ext cx="607599"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28" name="Rectangle: Rounded Corners 27">
            <a:extLst>
              <a:ext uri="{FF2B5EF4-FFF2-40B4-BE49-F238E27FC236}">
                <a16:creationId xmlns:a16="http://schemas.microsoft.com/office/drawing/2014/main" id="{5C7949FA-F5A0-257A-D0C7-27BA2DF98943}"/>
              </a:ext>
            </a:extLst>
          </p:cNvPr>
          <p:cNvSpPr/>
          <p:nvPr/>
        </p:nvSpPr>
        <p:spPr>
          <a:xfrm>
            <a:off x="8303319" y="4178939"/>
            <a:ext cx="2798034" cy="457589"/>
          </a:xfrm>
          <a:prstGeom prst="roundRect">
            <a:avLst/>
          </a:prstGeom>
          <a:solidFill>
            <a:schemeClr val="bg1"/>
          </a:solidFill>
          <a:ln w="38100">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Simple transformations</a:t>
            </a:r>
            <a:endParaRPr lang="en-IN">
              <a:solidFill>
                <a:schemeClr val="tx1"/>
              </a:solidFill>
            </a:endParaRPr>
          </a:p>
        </p:txBody>
      </p:sp>
      <p:sp>
        <p:nvSpPr>
          <p:cNvPr id="37" name="Slide Number Placeholder 36">
            <a:extLst>
              <a:ext uri="{FF2B5EF4-FFF2-40B4-BE49-F238E27FC236}">
                <a16:creationId xmlns:a16="http://schemas.microsoft.com/office/drawing/2014/main" id="{787ABA76-BAAF-6353-1C42-0E2DA1564BFA}"/>
              </a:ext>
            </a:extLst>
          </p:cNvPr>
          <p:cNvSpPr>
            <a:spLocks noGrp="1"/>
          </p:cNvSpPr>
          <p:nvPr>
            <p:ph type="sldNum" sz="quarter" idx="12"/>
          </p:nvPr>
        </p:nvSpPr>
        <p:spPr/>
        <p:txBody>
          <a:bodyPr/>
          <a:lstStyle/>
          <a:p>
            <a:fld id="{80CF0AD1-F62C-4FB8-9A3D-509C68BBEF0A}" type="slidenum">
              <a:rPr lang="en-IN" smtClean="0"/>
              <a:t>2</a:t>
            </a:fld>
            <a:endParaRPr lang="en-IN"/>
          </a:p>
        </p:txBody>
      </p:sp>
    </p:spTree>
    <p:extLst>
      <p:ext uri="{BB962C8B-B14F-4D97-AF65-F5344CB8AC3E}">
        <p14:creationId xmlns:p14="http://schemas.microsoft.com/office/powerpoint/2010/main" val="3358262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278754-AA92-9199-C550-2C1786663240}"/>
              </a:ext>
            </a:extLst>
          </p:cNvPr>
          <p:cNvPicPr>
            <a:picLocks noChangeAspect="1"/>
          </p:cNvPicPr>
          <p:nvPr/>
        </p:nvPicPr>
        <p:blipFill>
          <a:blip r:embed="rId3"/>
          <a:stretch>
            <a:fillRect/>
          </a:stretch>
        </p:blipFill>
        <p:spPr>
          <a:xfrm>
            <a:off x="483232" y="1978369"/>
            <a:ext cx="6132295" cy="3198867"/>
          </a:xfrm>
          <a:prstGeom prst="rect">
            <a:avLst/>
          </a:prstGeom>
        </p:spPr>
      </p:pic>
      <p:sp>
        <p:nvSpPr>
          <p:cNvPr id="4" name="TextBox 3">
            <a:extLst>
              <a:ext uri="{FF2B5EF4-FFF2-40B4-BE49-F238E27FC236}">
                <a16:creationId xmlns:a16="http://schemas.microsoft.com/office/drawing/2014/main" id="{9EE21398-A093-6D3C-AE1E-DFEE5A55C8D6}"/>
              </a:ext>
            </a:extLst>
          </p:cNvPr>
          <p:cNvSpPr txBox="1"/>
          <p:nvPr/>
        </p:nvSpPr>
        <p:spPr>
          <a:xfrm>
            <a:off x="1811124" y="958931"/>
            <a:ext cx="8057685" cy="523220"/>
          </a:xfrm>
          <a:prstGeom prst="rect">
            <a:avLst/>
          </a:prstGeom>
          <a:solidFill>
            <a:schemeClr val="accent1">
              <a:lumMod val="20000"/>
              <a:lumOff val="80000"/>
            </a:schemeClr>
          </a:solidFill>
          <a:ln w="38100">
            <a:solidFill>
              <a:srgbClr val="002060"/>
            </a:solidFill>
            <a:prstDash val="dash"/>
          </a:ln>
        </p:spPr>
        <p:txBody>
          <a:bodyPr wrap="square">
            <a:spAutoFit/>
          </a:bodyPr>
          <a:lstStyle/>
          <a:p>
            <a:pPr marL="0" marR="0" lvl="0" indent="0" algn="ctr" defTabSz="914400" rtl="0" eaLnBrk="0" fontAlgn="base" latinLnBrk="0" hangingPunct="0">
              <a:spcBef>
                <a:spcPct val="0"/>
              </a:spcBef>
              <a:spcAft>
                <a:spcPct val="0"/>
              </a:spcAft>
              <a:buClrTx/>
              <a:buSzTx/>
              <a:buFontTx/>
              <a:buNone/>
              <a:tabLst/>
            </a:pPr>
            <a:r>
              <a:rPr kumimoji="0" lang="en-US" altLang="en-US" sz="2800" b="1" i="0" u="none" strike="noStrike" cap="none" normalizeH="0" baseline="0">
                <a:ln>
                  <a:noFill/>
                </a:ln>
                <a:solidFill>
                  <a:schemeClr val="tx1"/>
                </a:solidFill>
                <a:effectLst/>
              </a:rPr>
              <a:t>JAX’s core idea:    </a:t>
            </a:r>
            <a:r>
              <a:rPr kumimoji="0" lang="en-US" altLang="en-US" sz="2800" b="0" i="1" u="none" strike="noStrike" cap="none" normalizeH="0" baseline="0">
                <a:ln>
                  <a:noFill/>
                </a:ln>
                <a:solidFill>
                  <a:schemeClr val="tx1"/>
                </a:solidFill>
                <a:effectLst/>
              </a:rPr>
              <a:t>“Trace ➜ Compile➜ Transform.”</a:t>
            </a:r>
            <a:endParaRPr kumimoji="0" lang="en-US" altLang="en-US" sz="2800" b="0" i="0" u="none" strike="noStrike" cap="none" normalizeH="0" baseline="0">
              <a:ln>
                <a:noFill/>
              </a:ln>
              <a:solidFill>
                <a:schemeClr val="tx1"/>
              </a:solidFill>
              <a:effectLst/>
            </a:endParaRPr>
          </a:p>
        </p:txBody>
      </p:sp>
      <p:sp>
        <p:nvSpPr>
          <p:cNvPr id="7" name="TextBox 6">
            <a:extLst>
              <a:ext uri="{FF2B5EF4-FFF2-40B4-BE49-F238E27FC236}">
                <a16:creationId xmlns:a16="http://schemas.microsoft.com/office/drawing/2014/main" id="{B96863C1-9CA8-1BAA-8423-B078FB0B61B2}"/>
              </a:ext>
            </a:extLst>
          </p:cNvPr>
          <p:cNvSpPr txBox="1"/>
          <p:nvPr/>
        </p:nvSpPr>
        <p:spPr>
          <a:xfrm>
            <a:off x="2589276" y="277553"/>
            <a:ext cx="6099048" cy="584775"/>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b="1">
                <a:latin typeface="Arial" panose="020B0604020202020204" pitchFamily="34" charset="0"/>
              </a:rPr>
              <a:t>Overview</a:t>
            </a:r>
            <a:endParaRPr kumimoji="0" lang="en-US" altLang="en-US" sz="3200" b="1" i="0" u="none" strike="noStrike" cap="none" normalizeH="0" baseline="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F2B54D61-3EB3-6EFF-DC96-91678E7F6F2A}"/>
              </a:ext>
            </a:extLst>
          </p:cNvPr>
          <p:cNvSpPr txBox="1"/>
          <p:nvPr/>
        </p:nvSpPr>
        <p:spPr>
          <a:xfrm>
            <a:off x="7793641" y="2991891"/>
            <a:ext cx="2809045" cy="707886"/>
          </a:xfrm>
          <a:prstGeom prst="rect">
            <a:avLst/>
          </a:prstGeom>
          <a:noFill/>
          <a:ln w="38100">
            <a:solidFill>
              <a:srgbClr val="FF0000"/>
            </a:solidFill>
            <a:prstDash val="dash"/>
          </a:ln>
        </p:spPr>
        <p:txBody>
          <a:bodyPr wrap="square">
            <a:spAutoFit/>
          </a:bodyPr>
          <a:lstStyle/>
          <a:p>
            <a:pPr lvl="0" eaLnBrk="0" fontAlgn="base" hangingPunct="0">
              <a:spcBef>
                <a:spcPct val="0"/>
              </a:spcBef>
              <a:spcAft>
                <a:spcPct val="0"/>
              </a:spcAft>
            </a:pPr>
            <a:r>
              <a:rPr kumimoji="0" lang="en-US" altLang="en-US" sz="2000" b="0" i="0" u="none" strike="noStrike" cap="none" normalizeH="0" baseline="0">
                <a:ln>
                  <a:noFill/>
                </a:ln>
                <a:solidFill>
                  <a:schemeClr val="tx1"/>
                </a:solidFill>
                <a:effectLst/>
              </a:rPr>
              <a:t>XLA to run efficiently on CPUs, GPUs, and TPUs.</a:t>
            </a:r>
          </a:p>
        </p:txBody>
      </p:sp>
      <p:sp>
        <p:nvSpPr>
          <p:cNvPr id="11" name="TextBox 10">
            <a:extLst>
              <a:ext uri="{FF2B5EF4-FFF2-40B4-BE49-F238E27FC236}">
                <a16:creationId xmlns:a16="http://schemas.microsoft.com/office/drawing/2014/main" id="{1817CE13-EA83-BF20-9C02-2ACFDAC0D9E5}"/>
              </a:ext>
            </a:extLst>
          </p:cNvPr>
          <p:cNvSpPr txBox="1"/>
          <p:nvPr/>
        </p:nvSpPr>
        <p:spPr>
          <a:xfrm>
            <a:off x="5063738" y="1950516"/>
            <a:ext cx="3624586" cy="400110"/>
          </a:xfrm>
          <a:prstGeom prst="rect">
            <a:avLst/>
          </a:prstGeom>
          <a:noFill/>
          <a:ln w="38100">
            <a:solidFill>
              <a:schemeClr val="accent4"/>
            </a:solidFill>
            <a:prstDash val="dash"/>
          </a:ln>
        </p:spPr>
        <p:txBody>
          <a:bodyPr wrap="square">
            <a:spAutoFit/>
          </a:bodyPr>
          <a:lstStyle/>
          <a:p>
            <a:pPr marL="0" marR="0" lvl="0" indent="0" algn="l" defTabSz="914400" rtl="0" eaLnBrk="0" fontAlgn="base" latinLnBrk="0" hangingPunct="0">
              <a:spcBef>
                <a:spcPct val="0"/>
              </a:spcBef>
              <a:spcAft>
                <a:spcPct val="0"/>
              </a:spcAft>
              <a:buClrTx/>
              <a:buSzTx/>
              <a:tabLst/>
            </a:pPr>
            <a:r>
              <a:rPr kumimoji="0" lang="en-US" altLang="en-US" sz="2000" b="0" i="0" u="none" strike="noStrike" cap="none" normalizeH="0" baseline="0">
                <a:ln>
                  <a:noFill/>
                </a:ln>
                <a:solidFill>
                  <a:schemeClr val="tx1"/>
                </a:solidFill>
                <a:effectLst/>
              </a:rPr>
              <a:t>Capture its computation graph.</a:t>
            </a:r>
          </a:p>
        </p:txBody>
      </p:sp>
      <p:cxnSp>
        <p:nvCxnSpPr>
          <p:cNvPr id="13" name="Straight Arrow Connector 12">
            <a:extLst>
              <a:ext uri="{FF2B5EF4-FFF2-40B4-BE49-F238E27FC236}">
                <a16:creationId xmlns:a16="http://schemas.microsoft.com/office/drawing/2014/main" id="{4EFDE2B8-52E4-F2A8-4B4C-72D647F8B23D}"/>
              </a:ext>
            </a:extLst>
          </p:cNvPr>
          <p:cNvCxnSpPr>
            <a:cxnSpLocks/>
          </p:cNvCxnSpPr>
          <p:nvPr/>
        </p:nvCxnSpPr>
        <p:spPr>
          <a:xfrm>
            <a:off x="4062361" y="2173041"/>
            <a:ext cx="987552"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5C14AAE9-5981-B0AF-4F3E-DA42ED537F6D}"/>
              </a:ext>
            </a:extLst>
          </p:cNvPr>
          <p:cNvSpPr txBox="1"/>
          <p:nvPr/>
        </p:nvSpPr>
        <p:spPr>
          <a:xfrm>
            <a:off x="5604647" y="4490018"/>
            <a:ext cx="4377987" cy="1015663"/>
          </a:xfrm>
          <a:prstGeom prst="rect">
            <a:avLst/>
          </a:prstGeom>
          <a:noFill/>
          <a:ln w="38100">
            <a:solidFill>
              <a:srgbClr val="519AD7"/>
            </a:solidFill>
            <a:prstDash val="dash"/>
          </a:ln>
        </p:spPr>
        <p:txBody>
          <a:bodyPr wrap="square">
            <a:spAutoFit/>
          </a:bodyPr>
          <a:lstStyle/>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b="0" i="1" u="none" strike="noStrike" cap="none" normalizeH="0" baseline="0">
                <a:ln>
                  <a:noFill/>
                </a:ln>
                <a:solidFill>
                  <a:schemeClr val="tx1"/>
                </a:solidFill>
                <a:effectLst/>
              </a:rPr>
              <a:t>grad</a:t>
            </a:r>
            <a:r>
              <a:rPr kumimoji="0" lang="en-US" altLang="en-US" sz="2000" b="0" i="0" u="none" strike="noStrike" cap="none" normalizeH="0" baseline="0">
                <a:ln>
                  <a:noFill/>
                </a:ln>
                <a:solidFill>
                  <a:schemeClr val="tx1"/>
                </a:solidFill>
                <a:effectLst/>
              </a:rPr>
              <a:t> (automatic differentiation)</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b="0" i="1" u="none" strike="noStrike" cap="none" normalizeH="0" baseline="0">
                <a:ln>
                  <a:noFill/>
                </a:ln>
                <a:solidFill>
                  <a:schemeClr val="tx1"/>
                </a:solidFill>
                <a:effectLst/>
              </a:rPr>
              <a:t>vmap</a:t>
            </a:r>
            <a:r>
              <a:rPr kumimoji="0" lang="en-US" altLang="en-US" sz="2000" b="0" i="0" u="none" strike="noStrike" cap="none" normalizeH="0" baseline="0">
                <a:ln>
                  <a:noFill/>
                </a:ln>
                <a:solidFill>
                  <a:schemeClr val="tx1"/>
                </a:solidFill>
                <a:effectLst/>
              </a:rPr>
              <a:t> (batching) </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b="0" i="1" u="none" strike="noStrike" cap="none" normalizeH="0" baseline="0">
                <a:ln>
                  <a:noFill/>
                </a:ln>
                <a:solidFill>
                  <a:schemeClr val="tx1"/>
                </a:solidFill>
                <a:effectLst/>
              </a:rPr>
              <a:t>pmap</a:t>
            </a:r>
            <a:r>
              <a:rPr kumimoji="0" lang="en-US" altLang="en-US" sz="2000" b="0" i="0" u="none" strike="noStrike" cap="none" normalizeH="0" baseline="0">
                <a:ln>
                  <a:noFill/>
                </a:ln>
                <a:solidFill>
                  <a:schemeClr val="tx1"/>
                </a:solidFill>
                <a:effectLst/>
              </a:rPr>
              <a:t> (multi-device parallelism).</a:t>
            </a:r>
          </a:p>
        </p:txBody>
      </p:sp>
      <p:cxnSp>
        <p:nvCxnSpPr>
          <p:cNvPr id="18" name="Straight Arrow Connector 17">
            <a:extLst>
              <a:ext uri="{FF2B5EF4-FFF2-40B4-BE49-F238E27FC236}">
                <a16:creationId xmlns:a16="http://schemas.microsoft.com/office/drawing/2014/main" id="{E4A40675-E601-EBD0-C1DF-BB5378BEFDCF}"/>
              </a:ext>
            </a:extLst>
          </p:cNvPr>
          <p:cNvCxnSpPr>
            <a:cxnSpLocks/>
          </p:cNvCxnSpPr>
          <p:nvPr/>
        </p:nvCxnSpPr>
        <p:spPr>
          <a:xfrm>
            <a:off x="6615527" y="3345834"/>
            <a:ext cx="987552"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88E87040-211A-60FE-062B-25244DDE7188}"/>
              </a:ext>
            </a:extLst>
          </p:cNvPr>
          <p:cNvCxnSpPr>
            <a:cxnSpLocks/>
          </p:cNvCxnSpPr>
          <p:nvPr/>
        </p:nvCxnSpPr>
        <p:spPr>
          <a:xfrm>
            <a:off x="4457839" y="4997850"/>
            <a:ext cx="987552"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72F5CD85-FFF4-7A0B-CAE8-711C566CE1FC}"/>
              </a:ext>
            </a:extLst>
          </p:cNvPr>
          <p:cNvSpPr txBox="1"/>
          <p:nvPr/>
        </p:nvSpPr>
        <p:spPr>
          <a:xfrm>
            <a:off x="4089980" y="6017134"/>
            <a:ext cx="3499975" cy="523220"/>
          </a:xfrm>
          <a:prstGeom prst="rect">
            <a:avLst/>
          </a:prstGeom>
          <a:solidFill>
            <a:schemeClr val="accent4">
              <a:lumMod val="20000"/>
              <a:lumOff val="80000"/>
            </a:schemeClr>
          </a:solidFill>
          <a:ln w="38100">
            <a:solidFill>
              <a:srgbClr val="002060"/>
            </a:solidFill>
            <a:prstDash val="dash"/>
          </a:ln>
        </p:spPr>
        <p:txBody>
          <a:bodyPr wrap="square">
            <a:spAutoFit/>
          </a:bodyPr>
          <a:lstStyle/>
          <a:p>
            <a:pPr algn="ctr"/>
            <a:r>
              <a:rPr lang="en-US" sz="2800" b="1">
                <a:solidFill>
                  <a:srgbClr val="C00000"/>
                </a:solidFill>
              </a:rPr>
              <a:t>J</a:t>
            </a:r>
            <a:r>
              <a:rPr lang="en-US" sz="2800"/>
              <a:t>ust </a:t>
            </a:r>
            <a:r>
              <a:rPr lang="en-US" sz="2800" b="1">
                <a:solidFill>
                  <a:srgbClr val="C00000"/>
                </a:solidFill>
              </a:rPr>
              <a:t>A</a:t>
            </a:r>
            <a:r>
              <a:rPr lang="en-US" sz="2800"/>
              <a:t>fter e</a:t>
            </a:r>
            <a:r>
              <a:rPr lang="en-US" sz="2800" b="1">
                <a:solidFill>
                  <a:srgbClr val="C00000"/>
                </a:solidFill>
              </a:rPr>
              <a:t>X</a:t>
            </a:r>
            <a:r>
              <a:rPr lang="en-US" sz="2800"/>
              <a:t>ecution</a:t>
            </a:r>
            <a:endParaRPr lang="en-IN" sz="2800" b="1"/>
          </a:p>
        </p:txBody>
      </p:sp>
      <p:sp>
        <p:nvSpPr>
          <p:cNvPr id="8" name="Rectangle 7">
            <a:extLst>
              <a:ext uri="{FF2B5EF4-FFF2-40B4-BE49-F238E27FC236}">
                <a16:creationId xmlns:a16="http://schemas.microsoft.com/office/drawing/2014/main" id="{8D11703E-E47D-D16D-F84C-DB38C6521619}"/>
              </a:ext>
            </a:extLst>
          </p:cNvPr>
          <p:cNvSpPr/>
          <p:nvPr/>
        </p:nvSpPr>
        <p:spPr>
          <a:xfrm>
            <a:off x="236220" y="182880"/>
            <a:ext cx="11719560" cy="64617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6CEFC9EC-ED33-A0F6-8D5F-8A2348674E45}"/>
              </a:ext>
            </a:extLst>
          </p:cNvPr>
          <p:cNvSpPr txBox="1"/>
          <p:nvPr/>
        </p:nvSpPr>
        <p:spPr>
          <a:xfrm>
            <a:off x="2190018" y="2818773"/>
            <a:ext cx="836211" cy="523220"/>
          </a:xfrm>
          <a:prstGeom prst="rect">
            <a:avLst/>
          </a:prstGeom>
          <a:noFill/>
          <a:ln w="38100">
            <a:solidFill>
              <a:schemeClr val="tx1"/>
            </a:solidFill>
          </a:ln>
        </p:spPr>
        <p:txBody>
          <a:bodyPr wrap="square" rtlCol="0">
            <a:spAutoFit/>
          </a:bodyPr>
          <a:lstStyle/>
          <a:p>
            <a:r>
              <a:rPr lang="en-US" sz="2800" b="1"/>
              <a:t>@jit</a:t>
            </a:r>
            <a:endParaRPr lang="en-IN" sz="2800" b="1"/>
          </a:p>
        </p:txBody>
      </p:sp>
      <p:sp>
        <p:nvSpPr>
          <p:cNvPr id="12" name="Slide Number Placeholder 11">
            <a:extLst>
              <a:ext uri="{FF2B5EF4-FFF2-40B4-BE49-F238E27FC236}">
                <a16:creationId xmlns:a16="http://schemas.microsoft.com/office/drawing/2014/main" id="{67FADAF8-71A6-821E-AAD3-20213F441F70}"/>
              </a:ext>
            </a:extLst>
          </p:cNvPr>
          <p:cNvSpPr>
            <a:spLocks noGrp="1"/>
          </p:cNvSpPr>
          <p:nvPr>
            <p:ph type="sldNum" sz="quarter" idx="12"/>
          </p:nvPr>
        </p:nvSpPr>
        <p:spPr/>
        <p:txBody>
          <a:bodyPr/>
          <a:lstStyle/>
          <a:p>
            <a:fld id="{80CF0AD1-F62C-4FB8-9A3D-509C68BBEF0A}" type="slidenum">
              <a:rPr lang="en-IN" smtClean="0"/>
              <a:t>3</a:t>
            </a:fld>
            <a:endParaRPr lang="en-IN"/>
          </a:p>
        </p:txBody>
      </p:sp>
    </p:spTree>
    <p:extLst>
      <p:ext uri="{BB962C8B-B14F-4D97-AF65-F5344CB8AC3E}">
        <p14:creationId xmlns:p14="http://schemas.microsoft.com/office/powerpoint/2010/main" val="1443296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9E5823-91E8-E74E-412C-06DB0D0210CF}"/>
              </a:ext>
            </a:extLst>
          </p:cNvPr>
          <p:cNvSpPr/>
          <p:nvPr/>
        </p:nvSpPr>
        <p:spPr>
          <a:xfrm>
            <a:off x="236220" y="182880"/>
            <a:ext cx="11719560" cy="64617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136E031C-EA89-1B9E-313A-0885405B0FFD}"/>
              </a:ext>
            </a:extLst>
          </p:cNvPr>
          <p:cNvSpPr txBox="1"/>
          <p:nvPr/>
        </p:nvSpPr>
        <p:spPr>
          <a:xfrm>
            <a:off x="575936" y="2503105"/>
            <a:ext cx="9345168" cy="307777"/>
          </a:xfrm>
          <a:prstGeom prst="rect">
            <a:avLst/>
          </a:prstGeom>
          <a:noFill/>
        </p:spPr>
        <p:txBody>
          <a:bodyPr wrap="square" rtlCol="0">
            <a:spAutoFit/>
          </a:bodyPr>
          <a:lstStyle/>
          <a:p>
            <a:pPr lvl="0" algn="ctr" eaLnBrk="0" fontAlgn="base" hangingPunct="0">
              <a:spcBef>
                <a:spcPct val="0"/>
              </a:spcBef>
              <a:spcAft>
                <a:spcPct val="0"/>
              </a:spcAft>
            </a:pPr>
            <a:r>
              <a:rPr lang="en-US" altLang="en-US" sz="1400">
                <a:latin typeface="Arial" panose="020B0604020202020204" pitchFamily="34" charset="0"/>
              </a:rPr>
              <a:t>Intermediate Representation</a:t>
            </a:r>
          </a:p>
        </p:txBody>
      </p:sp>
      <p:sp>
        <p:nvSpPr>
          <p:cNvPr id="8" name="TextBox 7">
            <a:extLst>
              <a:ext uri="{FF2B5EF4-FFF2-40B4-BE49-F238E27FC236}">
                <a16:creationId xmlns:a16="http://schemas.microsoft.com/office/drawing/2014/main" id="{BBC8873F-66EE-E572-46FA-50DAA960C13A}"/>
              </a:ext>
            </a:extLst>
          </p:cNvPr>
          <p:cNvSpPr txBox="1"/>
          <p:nvPr/>
        </p:nvSpPr>
        <p:spPr>
          <a:xfrm>
            <a:off x="701605" y="1476879"/>
            <a:ext cx="10483990" cy="114371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a:solidFill>
                  <a:srgbClr val="242424"/>
                </a:solidFill>
              </a:rPr>
              <a:t>Generating the machine code but at runtime.</a:t>
            </a:r>
            <a:endParaRPr lang="en-US" sz="2400" b="0" i="0">
              <a:solidFill>
                <a:srgbClr val="15171A"/>
              </a:solidFill>
              <a:effectLst/>
            </a:endParaRPr>
          </a:p>
          <a:p>
            <a:pPr marL="342900" indent="-342900">
              <a:lnSpc>
                <a:spcPct val="150000"/>
              </a:lnSpc>
              <a:buFont typeface="Arial" panose="020B0604020202020204" pitchFamily="34" charset="0"/>
              <a:buChar char="•"/>
            </a:pPr>
            <a:r>
              <a:rPr lang="en-US" sz="2400" b="0" i="0">
                <a:solidFill>
                  <a:srgbClr val="15171A"/>
                </a:solidFill>
                <a:effectLst/>
              </a:rPr>
              <a:t>Python functions </a:t>
            </a:r>
            <a:r>
              <a:rPr lang="en-US" sz="2400" b="0" i="0">
                <a:solidFill>
                  <a:srgbClr val="15171A"/>
                </a:solidFill>
                <a:effectLst/>
                <a:sym typeface="Wingdings" panose="05000000000000000000" pitchFamily="2" charset="2"/>
              </a:rPr>
              <a:t> </a:t>
            </a:r>
            <a:r>
              <a:rPr lang="en-US" sz="2400" b="0" i="0">
                <a:solidFill>
                  <a:srgbClr val="15171A"/>
                </a:solidFill>
                <a:effectLst/>
              </a:rPr>
              <a:t>jaxpr (JAX Expression) </a:t>
            </a:r>
            <a:r>
              <a:rPr lang="en-US" sz="2400" b="0" i="0">
                <a:solidFill>
                  <a:srgbClr val="15171A"/>
                </a:solidFill>
                <a:effectLst/>
                <a:sym typeface="Wingdings" panose="05000000000000000000" pitchFamily="2" charset="2"/>
              </a:rPr>
              <a:t> </a:t>
            </a:r>
            <a:r>
              <a:rPr lang="en-US" sz="2400" b="0" i="0">
                <a:solidFill>
                  <a:srgbClr val="15171A"/>
                </a:solidFill>
                <a:effectLst/>
                <a:highlight>
                  <a:srgbClr val="000000"/>
                </a:highlight>
                <a:sym typeface="Wingdings" panose="05000000000000000000" pitchFamily="2" charset="2"/>
              </a:rPr>
              <a:t>HLO graph </a:t>
            </a:r>
            <a:r>
              <a:rPr lang="en-US" sz="2400" b="0" i="0">
                <a:solidFill>
                  <a:srgbClr val="15171A"/>
                </a:solidFill>
                <a:effectLst/>
                <a:sym typeface="Wingdings" panose="05000000000000000000" pitchFamily="2" charset="2"/>
              </a:rPr>
              <a:t> To XLA</a:t>
            </a:r>
            <a:endParaRPr lang="en-US" sz="2400" b="0" i="0">
              <a:solidFill>
                <a:srgbClr val="15171A"/>
              </a:solidFill>
              <a:effectLst/>
            </a:endParaRPr>
          </a:p>
        </p:txBody>
      </p:sp>
      <p:pic>
        <p:nvPicPr>
          <p:cNvPr id="10" name="Picture 9">
            <a:extLst>
              <a:ext uri="{FF2B5EF4-FFF2-40B4-BE49-F238E27FC236}">
                <a16:creationId xmlns:a16="http://schemas.microsoft.com/office/drawing/2014/main" id="{71A0A31F-25FD-5DA6-600E-F1C35C3F104F}"/>
              </a:ext>
            </a:extLst>
          </p:cNvPr>
          <p:cNvPicPr>
            <a:picLocks noChangeAspect="1"/>
          </p:cNvPicPr>
          <p:nvPr/>
        </p:nvPicPr>
        <p:blipFill>
          <a:blip r:embed="rId3"/>
          <a:stretch>
            <a:fillRect/>
          </a:stretch>
        </p:blipFill>
        <p:spPr>
          <a:xfrm>
            <a:off x="899967" y="3858619"/>
            <a:ext cx="3790817" cy="1556107"/>
          </a:xfrm>
          <a:prstGeom prst="rect">
            <a:avLst/>
          </a:prstGeom>
        </p:spPr>
      </p:pic>
      <p:pic>
        <p:nvPicPr>
          <p:cNvPr id="12" name="Picture 11">
            <a:extLst>
              <a:ext uri="{FF2B5EF4-FFF2-40B4-BE49-F238E27FC236}">
                <a16:creationId xmlns:a16="http://schemas.microsoft.com/office/drawing/2014/main" id="{F7D3F140-62CD-8ED3-EB40-EF532D256B07}"/>
              </a:ext>
            </a:extLst>
          </p:cNvPr>
          <p:cNvPicPr>
            <a:picLocks noChangeAspect="1"/>
          </p:cNvPicPr>
          <p:nvPr/>
        </p:nvPicPr>
        <p:blipFill>
          <a:blip r:embed="rId4"/>
          <a:srcRect r="12664"/>
          <a:stretch>
            <a:fillRect/>
          </a:stretch>
        </p:blipFill>
        <p:spPr>
          <a:xfrm>
            <a:off x="5419872" y="3798356"/>
            <a:ext cx="5765723" cy="1676634"/>
          </a:xfrm>
          <a:prstGeom prst="rect">
            <a:avLst/>
          </a:prstGeom>
        </p:spPr>
      </p:pic>
      <p:sp>
        <p:nvSpPr>
          <p:cNvPr id="13" name="TextBox 12">
            <a:extLst>
              <a:ext uri="{FF2B5EF4-FFF2-40B4-BE49-F238E27FC236}">
                <a16:creationId xmlns:a16="http://schemas.microsoft.com/office/drawing/2014/main" id="{156BA0CA-3F3B-4A68-BCE3-4645655E9CD5}"/>
              </a:ext>
            </a:extLst>
          </p:cNvPr>
          <p:cNvSpPr txBox="1"/>
          <p:nvPr/>
        </p:nvSpPr>
        <p:spPr>
          <a:xfrm>
            <a:off x="1526981" y="5506392"/>
            <a:ext cx="3540470" cy="400110"/>
          </a:xfrm>
          <a:prstGeom prst="rect">
            <a:avLst/>
          </a:prstGeom>
          <a:noFill/>
        </p:spPr>
        <p:txBody>
          <a:bodyPr wrap="square" rtlCol="0">
            <a:spAutoFit/>
          </a:bodyPr>
          <a:lstStyle/>
          <a:p>
            <a:r>
              <a:rPr lang="en-US" sz="2000"/>
              <a:t>Python code with function</a:t>
            </a:r>
            <a:endParaRPr lang="en-IN" sz="2000"/>
          </a:p>
        </p:txBody>
      </p:sp>
      <p:sp>
        <p:nvSpPr>
          <p:cNvPr id="14" name="TextBox 13">
            <a:extLst>
              <a:ext uri="{FF2B5EF4-FFF2-40B4-BE49-F238E27FC236}">
                <a16:creationId xmlns:a16="http://schemas.microsoft.com/office/drawing/2014/main" id="{DB317548-84EA-F36A-C33D-C49146F66905}"/>
              </a:ext>
            </a:extLst>
          </p:cNvPr>
          <p:cNvSpPr txBox="1"/>
          <p:nvPr/>
        </p:nvSpPr>
        <p:spPr>
          <a:xfrm>
            <a:off x="7645125" y="5506392"/>
            <a:ext cx="3540470" cy="400110"/>
          </a:xfrm>
          <a:prstGeom prst="rect">
            <a:avLst/>
          </a:prstGeom>
          <a:noFill/>
        </p:spPr>
        <p:txBody>
          <a:bodyPr wrap="square" rtlCol="0">
            <a:spAutoFit/>
          </a:bodyPr>
          <a:lstStyle/>
          <a:p>
            <a:r>
              <a:rPr lang="en-US" sz="2000"/>
              <a:t>jaxpr</a:t>
            </a:r>
            <a:endParaRPr lang="en-IN" sz="2000"/>
          </a:p>
        </p:txBody>
      </p:sp>
      <p:cxnSp>
        <p:nvCxnSpPr>
          <p:cNvPr id="17" name="Connector: Curved 16">
            <a:extLst>
              <a:ext uri="{FF2B5EF4-FFF2-40B4-BE49-F238E27FC236}">
                <a16:creationId xmlns:a16="http://schemas.microsoft.com/office/drawing/2014/main" id="{4D066E7C-24A2-DA20-2AF8-689418AFAB54}"/>
              </a:ext>
            </a:extLst>
          </p:cNvPr>
          <p:cNvCxnSpPr>
            <a:cxnSpLocks/>
          </p:cNvCxnSpPr>
          <p:nvPr/>
        </p:nvCxnSpPr>
        <p:spPr>
          <a:xfrm rot="10800000" flipV="1">
            <a:off x="2612548" y="3476439"/>
            <a:ext cx="413655" cy="382178"/>
          </a:xfrm>
          <a:prstGeom prst="curvedConnector3">
            <a:avLst>
              <a:gd name="adj1" fmla="val 97369"/>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409EF919-EFF1-EDCC-73F7-3C207F7AA6A8}"/>
              </a:ext>
            </a:extLst>
          </p:cNvPr>
          <p:cNvSpPr txBox="1"/>
          <p:nvPr/>
        </p:nvSpPr>
        <p:spPr>
          <a:xfrm>
            <a:off x="3038721" y="3246190"/>
            <a:ext cx="4419599" cy="400110"/>
          </a:xfrm>
          <a:prstGeom prst="rect">
            <a:avLst/>
          </a:prstGeom>
          <a:noFill/>
        </p:spPr>
        <p:txBody>
          <a:bodyPr wrap="square" rtlCol="0">
            <a:spAutoFit/>
          </a:bodyPr>
          <a:lstStyle/>
          <a:p>
            <a:r>
              <a:rPr lang="en-US" sz="2000"/>
              <a:t>Tracer object</a:t>
            </a:r>
            <a:endParaRPr lang="en-IN" sz="2000"/>
          </a:p>
        </p:txBody>
      </p:sp>
      <p:sp>
        <p:nvSpPr>
          <p:cNvPr id="26" name="TextBox 25">
            <a:extLst>
              <a:ext uri="{FF2B5EF4-FFF2-40B4-BE49-F238E27FC236}">
                <a16:creationId xmlns:a16="http://schemas.microsoft.com/office/drawing/2014/main" id="{A7E27BD2-BC5E-DD91-CFB7-7AB4D3E63F95}"/>
              </a:ext>
            </a:extLst>
          </p:cNvPr>
          <p:cNvSpPr txBox="1"/>
          <p:nvPr/>
        </p:nvSpPr>
        <p:spPr>
          <a:xfrm>
            <a:off x="1423416" y="264672"/>
            <a:ext cx="9345168" cy="1138773"/>
          </a:xfrm>
          <a:prstGeom prst="rect">
            <a:avLst/>
          </a:prstGeom>
          <a:noFill/>
        </p:spPr>
        <p:txBody>
          <a:bodyPr wrap="square" rtlCol="0">
            <a:spAutoFit/>
          </a:bodyPr>
          <a:lstStyle/>
          <a:p>
            <a:pPr lvl="0" algn="ctr" eaLnBrk="0" fontAlgn="base" hangingPunct="0">
              <a:spcBef>
                <a:spcPct val="0"/>
              </a:spcBef>
              <a:spcAft>
                <a:spcPct val="0"/>
              </a:spcAft>
            </a:pPr>
            <a:r>
              <a:rPr lang="en-US" altLang="en-US" sz="4400" b="1">
                <a:latin typeface="Arial" panose="020B0604020202020204" pitchFamily="34" charset="0"/>
              </a:rPr>
              <a:t>Just-in-time compilation</a:t>
            </a:r>
          </a:p>
          <a:p>
            <a:pPr lvl="0" algn="ctr" eaLnBrk="0" fontAlgn="base" hangingPunct="0">
              <a:spcBef>
                <a:spcPct val="0"/>
              </a:spcBef>
              <a:spcAft>
                <a:spcPct val="0"/>
              </a:spcAft>
            </a:pPr>
            <a:r>
              <a:rPr lang="en-US" altLang="en-US" sz="2400">
                <a:solidFill>
                  <a:srgbClr val="C00000"/>
                </a:solidFill>
                <a:latin typeface="Arial" panose="020B0604020202020204" pitchFamily="34" charset="0"/>
              </a:rPr>
              <a:t>To jit </a:t>
            </a:r>
            <a:r>
              <a:rPr lang="en-US" altLang="en-US" sz="2400">
                <a:latin typeface="Arial" panose="020B0604020202020204" pitchFamily="34" charset="0"/>
              </a:rPr>
              <a:t>or not to jit</a:t>
            </a:r>
          </a:p>
        </p:txBody>
      </p:sp>
      <p:sp>
        <p:nvSpPr>
          <p:cNvPr id="30" name="Slide Number Placeholder 29">
            <a:extLst>
              <a:ext uri="{FF2B5EF4-FFF2-40B4-BE49-F238E27FC236}">
                <a16:creationId xmlns:a16="http://schemas.microsoft.com/office/drawing/2014/main" id="{2A910F3D-56F5-8139-4D21-7626D00E598A}"/>
              </a:ext>
            </a:extLst>
          </p:cNvPr>
          <p:cNvSpPr>
            <a:spLocks noGrp="1"/>
          </p:cNvSpPr>
          <p:nvPr>
            <p:ph type="sldNum" sz="quarter" idx="12"/>
          </p:nvPr>
        </p:nvSpPr>
        <p:spPr/>
        <p:txBody>
          <a:bodyPr/>
          <a:lstStyle/>
          <a:p>
            <a:fld id="{80CF0AD1-F62C-4FB8-9A3D-509C68BBEF0A}" type="slidenum">
              <a:rPr lang="en-IN" smtClean="0"/>
              <a:t>4</a:t>
            </a:fld>
            <a:endParaRPr lang="en-IN"/>
          </a:p>
        </p:txBody>
      </p:sp>
    </p:spTree>
    <p:extLst>
      <p:ext uri="{BB962C8B-B14F-4D97-AF65-F5344CB8AC3E}">
        <p14:creationId xmlns:p14="http://schemas.microsoft.com/office/powerpoint/2010/main" val="3120336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B820D-5C58-6B61-4234-5D9AC64BBE80}"/>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0CC8CB0C-D39C-73DF-2A30-494FD2A33D21}"/>
              </a:ext>
            </a:extLst>
          </p:cNvPr>
          <p:cNvSpPr txBox="1"/>
          <p:nvPr/>
        </p:nvSpPr>
        <p:spPr>
          <a:xfrm>
            <a:off x="603430" y="2858568"/>
            <a:ext cx="6111039" cy="1716047"/>
          </a:xfrm>
          <a:prstGeom prst="rect">
            <a:avLst/>
          </a:prstGeom>
          <a:solidFill>
            <a:schemeClr val="tx1"/>
          </a:solidFill>
          <a:ln w="38100">
            <a:solidFill>
              <a:srgbClr val="00B050"/>
            </a:solidFill>
          </a:ln>
        </p:spPr>
        <p:txBody>
          <a:bodyPr wrap="square">
            <a:spAutoFit/>
          </a:bodyPr>
          <a:lstStyle/>
          <a:p>
            <a:pPr>
              <a:lnSpc>
                <a:spcPts val="1425"/>
              </a:lnSpc>
              <a:buNone/>
            </a:pPr>
            <a:r>
              <a:rPr lang="en-IN" sz="1600" b="0">
                <a:solidFill>
                  <a:srgbClr val="569CD6"/>
                </a:solidFill>
                <a:effectLst/>
                <a:latin typeface="Consolas" panose="020B0609020204030204" pitchFamily="49" charset="0"/>
              </a:rPr>
              <a:t>def</a:t>
            </a:r>
            <a:r>
              <a:rPr lang="en-IN" sz="1600" b="0">
                <a:solidFill>
                  <a:srgbClr val="FFFFFF"/>
                </a:solidFill>
                <a:effectLst/>
                <a:latin typeface="Consolas" panose="020B0609020204030204" pitchFamily="49" charset="0"/>
              </a:rPr>
              <a:t> </a:t>
            </a:r>
            <a:r>
              <a:rPr lang="en-IN" sz="1600" b="0">
                <a:solidFill>
                  <a:srgbClr val="DCDCAA"/>
                </a:solidFill>
                <a:effectLst/>
                <a:latin typeface="Consolas" panose="020B0609020204030204" pitchFamily="49" charset="0"/>
              </a:rPr>
              <a:t>some_function</a:t>
            </a:r>
            <a:r>
              <a:rPr lang="en-IN" sz="1600" b="0">
                <a:solidFill>
                  <a:srgbClr val="FFFFFF"/>
                </a:solidFill>
                <a:effectLst/>
                <a:latin typeface="Consolas" panose="020B0609020204030204" pitchFamily="49" charset="0"/>
              </a:rPr>
              <a:t>(</a:t>
            </a:r>
            <a:r>
              <a:rPr lang="en-IN" sz="1600" b="0">
                <a:solidFill>
                  <a:srgbClr val="9CDCFE"/>
                </a:solidFill>
                <a:effectLst/>
                <a:latin typeface="Consolas" panose="020B0609020204030204" pitchFamily="49" charset="0"/>
              </a:rPr>
              <a:t>x</a:t>
            </a:r>
            <a:r>
              <a:rPr lang="en-IN" sz="1600" b="0">
                <a:solidFill>
                  <a:srgbClr val="FFFFFF"/>
                </a:solidFill>
                <a:effectLst/>
                <a:latin typeface="Consolas" panose="020B0609020204030204" pitchFamily="49" charset="0"/>
              </a:rPr>
              <a:t>):</a:t>
            </a:r>
          </a:p>
          <a:p>
            <a:pPr>
              <a:lnSpc>
                <a:spcPts val="1425"/>
              </a:lnSpc>
              <a:buNone/>
            </a:pPr>
            <a:r>
              <a:rPr lang="en-IN" sz="1600" b="0">
                <a:solidFill>
                  <a:srgbClr val="FFFFFF"/>
                </a:solidFill>
                <a:effectLst/>
                <a:latin typeface="Consolas" panose="020B0609020204030204" pitchFamily="49" charset="0"/>
              </a:rPr>
              <a:t>  </a:t>
            </a:r>
            <a:r>
              <a:rPr lang="en-IN" sz="1600" b="0">
                <a:solidFill>
                  <a:srgbClr val="DCDCAA"/>
                </a:solidFill>
                <a:effectLst/>
                <a:latin typeface="Consolas" panose="020B0609020204030204" pitchFamily="49" charset="0"/>
              </a:rPr>
              <a:t>print</a:t>
            </a:r>
            <a:r>
              <a:rPr lang="en-IN" sz="1600" b="0">
                <a:solidFill>
                  <a:srgbClr val="FFFFFF"/>
                </a:solidFill>
                <a:effectLst/>
                <a:latin typeface="Consolas" panose="020B0609020204030204" pitchFamily="49" charset="0"/>
              </a:rPr>
              <a:t>(</a:t>
            </a:r>
            <a:r>
              <a:rPr lang="en-IN" sz="1600" b="0">
                <a:solidFill>
                  <a:srgbClr val="CE9178"/>
                </a:solidFill>
                <a:effectLst/>
                <a:latin typeface="Consolas" panose="020B0609020204030204" pitchFamily="49" charset="0"/>
              </a:rPr>
              <a:t>"Executing function"</a:t>
            </a:r>
            <a:r>
              <a:rPr lang="en-IN" sz="1600" b="0">
                <a:solidFill>
                  <a:srgbClr val="FFFFFF"/>
                </a:solidFill>
                <a:effectLst/>
                <a:latin typeface="Consolas" panose="020B0609020204030204" pitchFamily="49" charset="0"/>
              </a:rPr>
              <a:t>)  </a:t>
            </a:r>
            <a:r>
              <a:rPr lang="en-IN" sz="1600" b="0">
                <a:solidFill>
                  <a:srgbClr val="7CA668"/>
                </a:solidFill>
                <a:effectLst/>
                <a:latin typeface="Consolas" panose="020B0609020204030204" pitchFamily="49" charset="0"/>
              </a:rPr>
              <a:t># This is a side-effect</a:t>
            </a:r>
            <a:endParaRPr lang="en-IN" sz="1600" b="0">
              <a:solidFill>
                <a:srgbClr val="FFFFFF"/>
              </a:solidFill>
              <a:effectLst/>
              <a:latin typeface="Consolas" panose="020B0609020204030204" pitchFamily="49" charset="0"/>
            </a:endParaRPr>
          </a:p>
          <a:p>
            <a:pPr>
              <a:lnSpc>
                <a:spcPts val="1425"/>
              </a:lnSpc>
              <a:buNone/>
            </a:pPr>
            <a:r>
              <a:rPr lang="en-IN" sz="1600" b="0">
                <a:solidFill>
                  <a:srgbClr val="FFFFFF"/>
                </a:solidFill>
                <a:effectLst/>
                <a:latin typeface="Consolas" panose="020B0609020204030204" pitchFamily="49" charset="0"/>
              </a:rPr>
              <a:t>  </a:t>
            </a:r>
            <a:r>
              <a:rPr lang="en-IN" sz="1600" b="0">
                <a:solidFill>
                  <a:srgbClr val="C586C0"/>
                </a:solidFill>
                <a:effectLst/>
                <a:latin typeface="Consolas" panose="020B0609020204030204" pitchFamily="49" charset="0"/>
              </a:rPr>
              <a:t>return</a:t>
            </a:r>
            <a:r>
              <a:rPr lang="en-IN" sz="1600" b="0">
                <a:solidFill>
                  <a:srgbClr val="FFFFFF"/>
                </a:solidFill>
                <a:effectLst/>
                <a:latin typeface="Consolas" panose="020B0609020204030204" pitchFamily="49" charset="0"/>
              </a:rPr>
              <a:t> </a:t>
            </a:r>
            <a:r>
              <a:rPr lang="en-IN" sz="1600" b="0">
                <a:solidFill>
                  <a:srgbClr val="9CDCFE"/>
                </a:solidFill>
                <a:effectLst/>
                <a:latin typeface="Consolas" panose="020B0609020204030204" pitchFamily="49" charset="0"/>
              </a:rPr>
              <a:t>x</a:t>
            </a:r>
            <a:endParaRPr lang="en-IN" sz="1600" b="0">
              <a:solidFill>
                <a:srgbClr val="FFFFFF"/>
              </a:solidFill>
              <a:effectLst/>
              <a:latin typeface="Consolas" panose="020B0609020204030204" pitchFamily="49" charset="0"/>
            </a:endParaRPr>
          </a:p>
          <a:p>
            <a:pPr>
              <a:lnSpc>
                <a:spcPts val="1425"/>
              </a:lnSpc>
              <a:buNone/>
            </a:pPr>
            <a:br>
              <a:rPr lang="en-IN" sz="1600" b="0">
                <a:solidFill>
                  <a:srgbClr val="FFFFFF"/>
                </a:solidFill>
                <a:effectLst/>
                <a:latin typeface="Consolas" panose="020B0609020204030204" pitchFamily="49" charset="0"/>
              </a:rPr>
            </a:br>
            <a:r>
              <a:rPr lang="en-IN" sz="1600" b="0">
                <a:solidFill>
                  <a:srgbClr val="DCDCAA"/>
                </a:solidFill>
                <a:effectLst/>
                <a:latin typeface="Consolas" panose="020B0609020204030204" pitchFamily="49" charset="0"/>
              </a:rPr>
              <a:t>print</a:t>
            </a:r>
            <a:r>
              <a:rPr lang="en-IN" sz="1600" b="0">
                <a:solidFill>
                  <a:srgbClr val="FFFFFF"/>
                </a:solidFill>
                <a:effectLst/>
                <a:latin typeface="Consolas" panose="020B0609020204030204" pitchFamily="49" charset="0"/>
              </a:rPr>
              <a:t> (</a:t>
            </a:r>
            <a:r>
              <a:rPr lang="en-IN" sz="1600" b="0">
                <a:solidFill>
                  <a:srgbClr val="CE9178"/>
                </a:solidFill>
                <a:effectLst/>
                <a:latin typeface="Consolas" panose="020B0609020204030204" pitchFamily="49" charset="0"/>
              </a:rPr>
              <a:t>"First call: "</a:t>
            </a:r>
            <a:r>
              <a:rPr lang="en-IN" sz="1600" b="0">
                <a:solidFill>
                  <a:srgbClr val="FFFFFF"/>
                </a:solidFill>
                <a:effectLst/>
                <a:latin typeface="Consolas" panose="020B0609020204030204" pitchFamily="49" charset="0"/>
              </a:rPr>
              <a:t>, jit(</a:t>
            </a:r>
            <a:r>
              <a:rPr lang="en-IN" sz="1600" b="0">
                <a:solidFill>
                  <a:srgbClr val="DCDCAA"/>
                </a:solidFill>
                <a:effectLst/>
                <a:latin typeface="Consolas" panose="020B0609020204030204" pitchFamily="49" charset="0"/>
              </a:rPr>
              <a:t>some_function)</a:t>
            </a:r>
            <a:r>
              <a:rPr lang="en-IN" sz="1600" b="0">
                <a:solidFill>
                  <a:srgbClr val="FFFFFF"/>
                </a:solidFill>
                <a:effectLst/>
                <a:latin typeface="Consolas" panose="020B0609020204030204" pitchFamily="49" charset="0"/>
              </a:rPr>
              <a:t>(</a:t>
            </a:r>
            <a:r>
              <a:rPr lang="en-IN" sz="1600" b="0">
                <a:solidFill>
                  <a:srgbClr val="B5CEA8"/>
                </a:solidFill>
                <a:effectLst/>
                <a:latin typeface="Consolas" panose="020B0609020204030204" pitchFamily="49" charset="0"/>
              </a:rPr>
              <a:t>4</a:t>
            </a:r>
            <a:r>
              <a:rPr lang="en-IN" sz="1600" b="0">
                <a:solidFill>
                  <a:srgbClr val="FFFFFF"/>
                </a:solidFill>
                <a:effectLst/>
                <a:latin typeface="Consolas" panose="020B0609020204030204" pitchFamily="49" charset="0"/>
              </a:rPr>
              <a:t>.))</a:t>
            </a:r>
          </a:p>
          <a:p>
            <a:pPr>
              <a:lnSpc>
                <a:spcPts val="1425"/>
              </a:lnSpc>
              <a:buNone/>
            </a:pPr>
            <a:r>
              <a:rPr lang="en-IN" sz="1600" b="0">
                <a:solidFill>
                  <a:srgbClr val="DCDCAA"/>
                </a:solidFill>
                <a:effectLst/>
                <a:latin typeface="Consolas" panose="020B0609020204030204" pitchFamily="49" charset="0"/>
              </a:rPr>
              <a:t>print</a:t>
            </a:r>
            <a:r>
              <a:rPr lang="en-IN" sz="1600" b="0">
                <a:solidFill>
                  <a:srgbClr val="FFFFFF"/>
                </a:solidFill>
                <a:effectLst/>
                <a:latin typeface="Consolas" panose="020B0609020204030204" pitchFamily="49" charset="0"/>
              </a:rPr>
              <a:t> (</a:t>
            </a:r>
            <a:r>
              <a:rPr lang="en-IN" sz="1600" b="0">
                <a:solidFill>
                  <a:srgbClr val="CE9178"/>
                </a:solidFill>
                <a:effectLst/>
                <a:latin typeface="Consolas" panose="020B0609020204030204" pitchFamily="49" charset="0"/>
              </a:rPr>
              <a:t>"Second call: "</a:t>
            </a:r>
            <a:r>
              <a:rPr lang="en-IN" sz="1600" b="0">
                <a:solidFill>
                  <a:srgbClr val="FFFFFF"/>
                </a:solidFill>
                <a:effectLst/>
                <a:latin typeface="Consolas" panose="020B0609020204030204" pitchFamily="49" charset="0"/>
              </a:rPr>
              <a:t>, jit(</a:t>
            </a:r>
            <a:r>
              <a:rPr lang="en-IN" sz="1600" b="0">
                <a:solidFill>
                  <a:srgbClr val="DCDCAA"/>
                </a:solidFill>
                <a:effectLst/>
                <a:latin typeface="Consolas" panose="020B0609020204030204" pitchFamily="49" charset="0"/>
              </a:rPr>
              <a:t>some_function</a:t>
            </a:r>
            <a:r>
              <a:rPr lang="en-IN" sz="1600" b="0">
                <a:solidFill>
                  <a:srgbClr val="FFFFFF"/>
                </a:solidFill>
                <a:effectLst/>
                <a:latin typeface="Consolas" panose="020B0609020204030204" pitchFamily="49" charset="0"/>
              </a:rPr>
              <a:t>)(</a:t>
            </a:r>
            <a:r>
              <a:rPr lang="en-IN" sz="1600" b="0">
                <a:solidFill>
                  <a:srgbClr val="B5CEA8"/>
                </a:solidFill>
                <a:effectLst/>
                <a:latin typeface="Consolas" panose="020B0609020204030204" pitchFamily="49" charset="0"/>
              </a:rPr>
              <a:t>5</a:t>
            </a:r>
            <a:r>
              <a:rPr lang="en-IN" sz="1600" b="0">
                <a:solidFill>
                  <a:srgbClr val="FFFFFF"/>
                </a:solidFill>
                <a:effectLst/>
                <a:latin typeface="Consolas" panose="020B0609020204030204" pitchFamily="49" charset="0"/>
              </a:rPr>
              <a:t>.))</a:t>
            </a:r>
          </a:p>
          <a:p>
            <a:pPr>
              <a:lnSpc>
                <a:spcPts val="1425"/>
              </a:lnSpc>
            </a:pPr>
            <a:r>
              <a:rPr lang="en-IN" sz="1600" b="0">
                <a:solidFill>
                  <a:srgbClr val="DCDCAA"/>
                </a:solidFill>
                <a:effectLst/>
                <a:latin typeface="Consolas" panose="020B0609020204030204" pitchFamily="49" charset="0"/>
              </a:rPr>
              <a:t>print</a:t>
            </a:r>
            <a:r>
              <a:rPr lang="en-IN" sz="1600" b="0">
                <a:solidFill>
                  <a:srgbClr val="FFFFFF"/>
                </a:solidFill>
                <a:effectLst/>
                <a:latin typeface="Consolas" panose="020B0609020204030204" pitchFamily="49" charset="0"/>
              </a:rPr>
              <a:t> (</a:t>
            </a:r>
            <a:r>
              <a:rPr lang="en-IN" sz="1600" b="0">
                <a:solidFill>
                  <a:srgbClr val="CE9178"/>
                </a:solidFill>
                <a:effectLst/>
                <a:latin typeface="Consolas" panose="020B0609020204030204" pitchFamily="49" charset="0"/>
              </a:rPr>
              <a:t>"Third call, different type: "</a:t>
            </a:r>
            <a:r>
              <a:rPr lang="en-IN" sz="1600" b="0">
                <a:solidFill>
                  <a:srgbClr val="FFFFFF"/>
                </a:solidFill>
                <a:effectLst/>
                <a:latin typeface="Consolas" panose="020B0609020204030204" pitchFamily="49" charset="0"/>
              </a:rPr>
              <a:t>, jit(</a:t>
            </a:r>
            <a:r>
              <a:rPr lang="en-IN" sz="1600" b="0">
                <a:solidFill>
                  <a:srgbClr val="DCDCAA"/>
                </a:solidFill>
                <a:effectLst/>
                <a:latin typeface="Consolas" panose="020B0609020204030204" pitchFamily="49" charset="0"/>
              </a:rPr>
              <a:t>some_function</a:t>
            </a:r>
            <a:r>
              <a:rPr lang="en-IN" sz="1600" b="0">
                <a:solidFill>
                  <a:srgbClr val="FFFFFF"/>
                </a:solidFill>
                <a:effectLst/>
                <a:latin typeface="Consolas" panose="020B0609020204030204" pitchFamily="49" charset="0"/>
              </a:rPr>
              <a:t>)(jnp.array([</a:t>
            </a:r>
            <a:r>
              <a:rPr lang="en-IN" sz="1600" b="0">
                <a:solidFill>
                  <a:srgbClr val="B5CEA8"/>
                </a:solidFill>
                <a:effectLst/>
                <a:latin typeface="Consolas" panose="020B0609020204030204" pitchFamily="49" charset="0"/>
              </a:rPr>
              <a:t>5</a:t>
            </a:r>
            <a:r>
              <a:rPr lang="en-IN" sz="1600" b="0">
                <a:solidFill>
                  <a:srgbClr val="FFFFFF"/>
                </a:solidFill>
                <a:effectLst/>
                <a:latin typeface="Consolas" panose="020B0609020204030204" pitchFamily="49" charset="0"/>
              </a:rPr>
              <a:t>.])))</a:t>
            </a:r>
          </a:p>
        </p:txBody>
      </p:sp>
      <p:sp>
        <p:nvSpPr>
          <p:cNvPr id="20" name="TextBox 19">
            <a:extLst>
              <a:ext uri="{FF2B5EF4-FFF2-40B4-BE49-F238E27FC236}">
                <a16:creationId xmlns:a16="http://schemas.microsoft.com/office/drawing/2014/main" id="{8FB84B4F-0344-1D99-E2C3-3FB7298A4370}"/>
              </a:ext>
            </a:extLst>
          </p:cNvPr>
          <p:cNvSpPr txBox="1"/>
          <p:nvPr/>
        </p:nvSpPr>
        <p:spPr>
          <a:xfrm>
            <a:off x="7962205" y="3113261"/>
            <a:ext cx="3617137" cy="1206659"/>
          </a:xfrm>
          <a:prstGeom prst="rect">
            <a:avLst/>
          </a:prstGeom>
          <a:solidFill>
            <a:schemeClr val="tx1"/>
          </a:solidFill>
          <a:ln w="38100">
            <a:solidFill>
              <a:srgbClr val="00B050"/>
            </a:solidFill>
          </a:ln>
        </p:spPr>
        <p:txBody>
          <a:bodyPr wrap="square">
            <a:spAutoFit/>
          </a:bodyPr>
          <a:lstStyle/>
          <a:p>
            <a:pPr>
              <a:lnSpc>
                <a:spcPts val="1425"/>
              </a:lnSpc>
              <a:buNone/>
            </a:pPr>
            <a:r>
              <a:rPr lang="en-US" sz="1600" b="0">
                <a:solidFill>
                  <a:srgbClr val="FFFFFF"/>
                </a:solidFill>
                <a:effectLst/>
                <a:latin typeface="Consolas" panose="020B0609020204030204" pitchFamily="49" charset="0"/>
              </a:rPr>
              <a:t>Executing function</a:t>
            </a:r>
          </a:p>
          <a:p>
            <a:pPr>
              <a:lnSpc>
                <a:spcPts val="1425"/>
              </a:lnSpc>
              <a:buNone/>
            </a:pPr>
            <a:r>
              <a:rPr lang="en-US" sz="1600" b="0">
                <a:solidFill>
                  <a:srgbClr val="FFFFFF"/>
                </a:solidFill>
                <a:effectLst/>
                <a:latin typeface="Consolas" panose="020B0609020204030204" pitchFamily="49" charset="0"/>
              </a:rPr>
              <a:t>First call:  </a:t>
            </a:r>
            <a:r>
              <a:rPr lang="en-US" sz="1600" b="0">
                <a:solidFill>
                  <a:srgbClr val="B5CEA8"/>
                </a:solidFill>
                <a:effectLst/>
                <a:latin typeface="Consolas" panose="020B0609020204030204" pitchFamily="49" charset="0"/>
              </a:rPr>
              <a:t>4.0</a:t>
            </a:r>
            <a:endParaRPr lang="en-US" sz="1600" b="0">
              <a:solidFill>
                <a:srgbClr val="FFFFFF"/>
              </a:solidFill>
              <a:effectLst/>
              <a:latin typeface="Consolas" panose="020B0609020204030204" pitchFamily="49" charset="0"/>
            </a:endParaRPr>
          </a:p>
          <a:p>
            <a:pPr>
              <a:lnSpc>
                <a:spcPts val="1425"/>
              </a:lnSpc>
              <a:buNone/>
            </a:pPr>
            <a:r>
              <a:rPr lang="en-US" sz="1600" b="0">
                <a:solidFill>
                  <a:srgbClr val="FFFFFF"/>
                </a:solidFill>
                <a:effectLst/>
                <a:latin typeface="Consolas" panose="020B0609020204030204" pitchFamily="49" charset="0"/>
              </a:rPr>
              <a:t>Second call:  </a:t>
            </a:r>
            <a:r>
              <a:rPr lang="en-US" sz="1600" b="0">
                <a:solidFill>
                  <a:srgbClr val="B5CEA8"/>
                </a:solidFill>
                <a:effectLst/>
                <a:latin typeface="Consolas" panose="020B0609020204030204" pitchFamily="49" charset="0"/>
              </a:rPr>
              <a:t>5.0</a:t>
            </a:r>
            <a:endParaRPr lang="en-US" sz="1600" b="0">
              <a:solidFill>
                <a:srgbClr val="FFFFFF"/>
              </a:solidFill>
              <a:effectLst/>
              <a:latin typeface="Consolas" panose="020B0609020204030204" pitchFamily="49" charset="0"/>
            </a:endParaRPr>
          </a:p>
          <a:p>
            <a:pPr>
              <a:lnSpc>
                <a:spcPts val="1425"/>
              </a:lnSpc>
              <a:buNone/>
            </a:pPr>
            <a:r>
              <a:rPr lang="en-US" sz="1600" b="0">
                <a:solidFill>
                  <a:srgbClr val="FFFFFF"/>
                </a:solidFill>
                <a:effectLst/>
                <a:latin typeface="Consolas" panose="020B0609020204030204" pitchFamily="49" charset="0"/>
              </a:rPr>
              <a:t>Executing function</a:t>
            </a:r>
          </a:p>
          <a:p>
            <a:pPr>
              <a:lnSpc>
                <a:spcPts val="1425"/>
              </a:lnSpc>
            </a:pPr>
            <a:r>
              <a:rPr lang="en-US" sz="1600" b="0">
                <a:solidFill>
                  <a:srgbClr val="FFFFFF"/>
                </a:solidFill>
                <a:effectLst/>
                <a:latin typeface="Consolas" panose="020B0609020204030204" pitchFamily="49" charset="0"/>
              </a:rPr>
              <a:t>Third call, different </a:t>
            </a:r>
            <a:r>
              <a:rPr lang="en-US" sz="1600" b="0">
                <a:solidFill>
                  <a:srgbClr val="4EC9B0"/>
                </a:solidFill>
                <a:effectLst/>
                <a:latin typeface="Consolas" panose="020B0609020204030204" pitchFamily="49" charset="0"/>
              </a:rPr>
              <a:t>type</a:t>
            </a:r>
            <a:r>
              <a:rPr lang="en-US" sz="1600" b="0">
                <a:solidFill>
                  <a:srgbClr val="FFFFFF"/>
                </a:solidFill>
                <a:effectLst/>
                <a:latin typeface="Consolas" panose="020B0609020204030204" pitchFamily="49" charset="0"/>
              </a:rPr>
              <a:t>:  [</a:t>
            </a:r>
            <a:r>
              <a:rPr lang="en-US" sz="1600" b="0">
                <a:solidFill>
                  <a:srgbClr val="B5CEA8"/>
                </a:solidFill>
                <a:effectLst/>
                <a:latin typeface="Consolas" panose="020B0609020204030204" pitchFamily="49" charset="0"/>
              </a:rPr>
              <a:t>5</a:t>
            </a:r>
            <a:r>
              <a:rPr lang="en-US" sz="1600" b="0">
                <a:solidFill>
                  <a:srgbClr val="FFFFFF"/>
                </a:solidFill>
                <a:effectLst/>
                <a:latin typeface="Consolas" panose="020B0609020204030204" pitchFamily="49" charset="0"/>
              </a:rPr>
              <a:t>.]</a:t>
            </a:r>
          </a:p>
        </p:txBody>
      </p:sp>
      <p:sp>
        <p:nvSpPr>
          <p:cNvPr id="3" name="TextBox 2">
            <a:extLst>
              <a:ext uri="{FF2B5EF4-FFF2-40B4-BE49-F238E27FC236}">
                <a16:creationId xmlns:a16="http://schemas.microsoft.com/office/drawing/2014/main" id="{12DCF129-222D-C26B-6DA9-22FC88C4CBA3}"/>
              </a:ext>
            </a:extLst>
          </p:cNvPr>
          <p:cNvSpPr txBox="1"/>
          <p:nvPr/>
        </p:nvSpPr>
        <p:spPr>
          <a:xfrm>
            <a:off x="3790498" y="4817766"/>
            <a:ext cx="6096000" cy="593047"/>
          </a:xfrm>
          <a:prstGeom prst="rect">
            <a:avLst/>
          </a:prstGeom>
          <a:noFill/>
        </p:spPr>
        <p:txBody>
          <a:bodyPr wrap="square">
            <a:spAutoFit/>
          </a:bodyPr>
          <a:lstStyle/>
          <a:p>
            <a:pPr>
              <a:lnSpc>
                <a:spcPct val="150000"/>
              </a:lnSpc>
            </a:pPr>
            <a:r>
              <a:rPr lang="en-US" sz="2400">
                <a:solidFill>
                  <a:srgbClr val="242424"/>
                </a:solidFill>
              </a:rPr>
              <a:t>Removes redundant calculations.</a:t>
            </a:r>
          </a:p>
        </p:txBody>
      </p:sp>
      <p:cxnSp>
        <p:nvCxnSpPr>
          <p:cNvPr id="21" name="Straight Arrow Connector 20">
            <a:extLst>
              <a:ext uri="{FF2B5EF4-FFF2-40B4-BE49-F238E27FC236}">
                <a16:creationId xmlns:a16="http://schemas.microsoft.com/office/drawing/2014/main" id="{97EC8C6A-4660-EBBA-3F78-1C6B514F30CB}"/>
              </a:ext>
            </a:extLst>
          </p:cNvPr>
          <p:cNvCxnSpPr>
            <a:cxnSpLocks/>
          </p:cNvCxnSpPr>
          <p:nvPr/>
        </p:nvCxnSpPr>
        <p:spPr>
          <a:xfrm>
            <a:off x="6714469" y="3694766"/>
            <a:ext cx="1215198"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5" name="Rectangle 4">
            <a:extLst>
              <a:ext uri="{FF2B5EF4-FFF2-40B4-BE49-F238E27FC236}">
                <a16:creationId xmlns:a16="http://schemas.microsoft.com/office/drawing/2014/main" id="{86F3AA30-9F90-9731-BCFA-CD443189F202}"/>
              </a:ext>
            </a:extLst>
          </p:cNvPr>
          <p:cNvSpPr/>
          <p:nvPr/>
        </p:nvSpPr>
        <p:spPr>
          <a:xfrm>
            <a:off x="236220" y="182880"/>
            <a:ext cx="11719560" cy="64617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0863CC0D-F3BA-E730-1A9C-77D1138D1AFE}"/>
              </a:ext>
            </a:extLst>
          </p:cNvPr>
          <p:cNvSpPr txBox="1"/>
          <p:nvPr/>
        </p:nvSpPr>
        <p:spPr>
          <a:xfrm>
            <a:off x="1423416" y="274961"/>
            <a:ext cx="9345168" cy="1138773"/>
          </a:xfrm>
          <a:prstGeom prst="rect">
            <a:avLst/>
          </a:prstGeom>
          <a:noFill/>
        </p:spPr>
        <p:txBody>
          <a:bodyPr wrap="square" rtlCol="0">
            <a:spAutoFit/>
          </a:bodyPr>
          <a:lstStyle/>
          <a:p>
            <a:pPr lvl="0" algn="ctr" eaLnBrk="0" fontAlgn="base" hangingPunct="0">
              <a:spcBef>
                <a:spcPct val="0"/>
              </a:spcBef>
              <a:spcAft>
                <a:spcPct val="0"/>
              </a:spcAft>
            </a:pPr>
            <a:r>
              <a:rPr lang="en-US" altLang="en-US" sz="4400" b="1">
                <a:latin typeface="Arial" panose="020B0604020202020204" pitchFamily="34" charset="0"/>
              </a:rPr>
              <a:t>Just-in-time compilation</a:t>
            </a:r>
          </a:p>
          <a:p>
            <a:pPr lvl="0" algn="ctr" eaLnBrk="0" fontAlgn="base" hangingPunct="0">
              <a:spcBef>
                <a:spcPct val="0"/>
              </a:spcBef>
              <a:spcAft>
                <a:spcPct val="0"/>
              </a:spcAft>
            </a:pPr>
            <a:r>
              <a:rPr lang="en-US" altLang="en-US" sz="2400">
                <a:solidFill>
                  <a:srgbClr val="C00000"/>
                </a:solidFill>
                <a:latin typeface="Arial" panose="020B0604020202020204" pitchFamily="34" charset="0"/>
              </a:rPr>
              <a:t>To jit </a:t>
            </a:r>
            <a:r>
              <a:rPr lang="en-US" altLang="en-US" sz="2400">
                <a:latin typeface="Arial" panose="020B0604020202020204" pitchFamily="34" charset="0"/>
              </a:rPr>
              <a:t>or not to jit</a:t>
            </a:r>
          </a:p>
        </p:txBody>
      </p:sp>
      <p:sp>
        <p:nvSpPr>
          <p:cNvPr id="28" name="Slide Number Placeholder 27">
            <a:extLst>
              <a:ext uri="{FF2B5EF4-FFF2-40B4-BE49-F238E27FC236}">
                <a16:creationId xmlns:a16="http://schemas.microsoft.com/office/drawing/2014/main" id="{F70EC9CF-FBCB-5C40-D545-3CF6484857CF}"/>
              </a:ext>
            </a:extLst>
          </p:cNvPr>
          <p:cNvSpPr>
            <a:spLocks noGrp="1"/>
          </p:cNvSpPr>
          <p:nvPr>
            <p:ph type="sldNum" sz="quarter" idx="12"/>
          </p:nvPr>
        </p:nvSpPr>
        <p:spPr/>
        <p:txBody>
          <a:bodyPr/>
          <a:lstStyle/>
          <a:p>
            <a:fld id="{80CF0AD1-F62C-4FB8-9A3D-509C68BBEF0A}" type="slidenum">
              <a:rPr lang="en-IN" smtClean="0"/>
              <a:t>5</a:t>
            </a:fld>
            <a:endParaRPr lang="en-IN"/>
          </a:p>
        </p:txBody>
      </p:sp>
    </p:spTree>
    <p:extLst>
      <p:ext uri="{BB962C8B-B14F-4D97-AF65-F5344CB8AC3E}">
        <p14:creationId xmlns:p14="http://schemas.microsoft.com/office/powerpoint/2010/main" val="4163742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C3906-7BE0-71C2-159E-C00A9011FC4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09EA63-5C15-1686-0D58-B47BF078F89B}"/>
              </a:ext>
            </a:extLst>
          </p:cNvPr>
          <p:cNvSpPr txBox="1"/>
          <p:nvPr/>
        </p:nvSpPr>
        <p:spPr>
          <a:xfrm>
            <a:off x="1423416" y="317646"/>
            <a:ext cx="9345168" cy="1200329"/>
          </a:xfrm>
          <a:prstGeom prst="rect">
            <a:avLst/>
          </a:prstGeom>
          <a:noFill/>
        </p:spPr>
        <p:txBody>
          <a:bodyPr wrap="square" rtlCol="0">
            <a:spAutoFit/>
          </a:bodyPr>
          <a:lstStyle/>
          <a:p>
            <a:pPr lvl="0" algn="ctr" eaLnBrk="0" fontAlgn="base" hangingPunct="0">
              <a:spcBef>
                <a:spcPct val="0"/>
              </a:spcBef>
              <a:spcAft>
                <a:spcPct val="0"/>
              </a:spcAft>
            </a:pPr>
            <a:r>
              <a:rPr lang="en-US" altLang="en-US" sz="4400" b="1">
                <a:latin typeface="Arial" panose="020B0604020202020204" pitchFamily="34" charset="0"/>
              </a:rPr>
              <a:t>Just-in-time compilation</a:t>
            </a:r>
          </a:p>
          <a:p>
            <a:pPr lvl="0" algn="ctr" eaLnBrk="0" fontAlgn="base" hangingPunct="0">
              <a:spcBef>
                <a:spcPct val="0"/>
              </a:spcBef>
              <a:spcAft>
                <a:spcPct val="0"/>
              </a:spcAft>
            </a:pPr>
            <a:r>
              <a:rPr lang="en-US" altLang="en-US" sz="2800">
                <a:latin typeface="Arial" panose="020B0604020202020204" pitchFamily="34" charset="0"/>
              </a:rPr>
              <a:t>To jit or </a:t>
            </a:r>
            <a:r>
              <a:rPr lang="en-US" altLang="en-US" sz="2800">
                <a:solidFill>
                  <a:srgbClr val="C00000"/>
                </a:solidFill>
                <a:latin typeface="Arial" panose="020B0604020202020204" pitchFamily="34" charset="0"/>
              </a:rPr>
              <a:t>not to jit</a:t>
            </a:r>
          </a:p>
        </p:txBody>
      </p:sp>
      <p:sp>
        <p:nvSpPr>
          <p:cNvPr id="7" name="TextBox 6">
            <a:extLst>
              <a:ext uri="{FF2B5EF4-FFF2-40B4-BE49-F238E27FC236}">
                <a16:creationId xmlns:a16="http://schemas.microsoft.com/office/drawing/2014/main" id="{991A66F1-B214-104C-133B-A48D29DF6B5E}"/>
              </a:ext>
            </a:extLst>
          </p:cNvPr>
          <p:cNvSpPr txBox="1"/>
          <p:nvPr/>
        </p:nvSpPr>
        <p:spPr>
          <a:xfrm>
            <a:off x="-985755" y="2307456"/>
            <a:ext cx="8131876" cy="593047"/>
          </a:xfrm>
          <a:prstGeom prst="rect">
            <a:avLst/>
          </a:prstGeom>
          <a:noFill/>
        </p:spPr>
        <p:txBody>
          <a:bodyPr wrap="square">
            <a:spAutoFit/>
          </a:bodyPr>
          <a:lstStyle/>
          <a:p>
            <a:pPr algn="ctr">
              <a:lnSpc>
                <a:spcPct val="150000"/>
              </a:lnSpc>
            </a:pPr>
            <a:r>
              <a:rPr lang="en-US" sz="2400" b="1">
                <a:solidFill>
                  <a:srgbClr val="242424"/>
                </a:solidFill>
              </a:rPr>
              <a:t>Eager execution</a:t>
            </a:r>
            <a:r>
              <a:rPr lang="en-US" sz="2400">
                <a:solidFill>
                  <a:srgbClr val="242424"/>
                </a:solidFill>
              </a:rPr>
              <a:t>: JAX without jit</a:t>
            </a:r>
          </a:p>
        </p:txBody>
      </p:sp>
      <p:pic>
        <p:nvPicPr>
          <p:cNvPr id="7174" name="Picture 6">
            <a:extLst>
              <a:ext uri="{FF2B5EF4-FFF2-40B4-BE49-F238E27FC236}">
                <a16:creationId xmlns:a16="http://schemas.microsoft.com/office/drawing/2014/main" id="{648FC944-AD88-2F8A-5111-E9CFB2A03A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380" t="18472" r="9759" b="16290"/>
          <a:stretch>
            <a:fillRect/>
          </a:stretch>
        </p:blipFill>
        <p:spPr bwMode="auto">
          <a:xfrm>
            <a:off x="5505337" y="3581039"/>
            <a:ext cx="3254832" cy="146373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FB6234E-A31A-7283-70CA-A93CF78E60CE}"/>
              </a:ext>
            </a:extLst>
          </p:cNvPr>
          <p:cNvSpPr txBox="1"/>
          <p:nvPr/>
        </p:nvSpPr>
        <p:spPr>
          <a:xfrm>
            <a:off x="6585882" y="4694625"/>
            <a:ext cx="6100010" cy="307777"/>
          </a:xfrm>
          <a:prstGeom prst="rect">
            <a:avLst/>
          </a:prstGeom>
          <a:noFill/>
        </p:spPr>
        <p:txBody>
          <a:bodyPr wrap="square">
            <a:spAutoFit/>
          </a:bodyPr>
          <a:lstStyle/>
          <a:p>
            <a:r>
              <a:rPr lang="en-IN" sz="1400" b="0" i="0">
                <a:solidFill>
                  <a:schemeClr val="bg1"/>
                </a:solidFill>
                <a:effectLst/>
                <a:latin typeface="sohne"/>
              </a:rPr>
              <a:t>HLO code</a:t>
            </a:r>
            <a:endParaRPr lang="en-IN" sz="1400">
              <a:solidFill>
                <a:schemeClr val="bg1"/>
              </a:solidFill>
            </a:endParaRPr>
          </a:p>
        </p:txBody>
      </p:sp>
      <p:pic>
        <p:nvPicPr>
          <p:cNvPr id="9" name="Picture 8">
            <a:extLst>
              <a:ext uri="{FF2B5EF4-FFF2-40B4-BE49-F238E27FC236}">
                <a16:creationId xmlns:a16="http://schemas.microsoft.com/office/drawing/2014/main" id="{2BD2A400-235E-CD43-A96F-64C2937AB8B9}"/>
              </a:ext>
            </a:extLst>
          </p:cNvPr>
          <p:cNvPicPr>
            <a:picLocks noChangeAspect="1"/>
          </p:cNvPicPr>
          <p:nvPr/>
        </p:nvPicPr>
        <p:blipFill>
          <a:blip r:embed="rId4"/>
          <a:srcRect r="49737"/>
          <a:stretch>
            <a:fillRect/>
          </a:stretch>
        </p:blipFill>
        <p:spPr>
          <a:xfrm>
            <a:off x="1885725" y="3307333"/>
            <a:ext cx="2052893" cy="1879021"/>
          </a:xfrm>
          <a:prstGeom prst="rect">
            <a:avLst/>
          </a:prstGeom>
        </p:spPr>
      </p:pic>
      <p:sp>
        <p:nvSpPr>
          <p:cNvPr id="25" name="TextBox 24">
            <a:extLst>
              <a:ext uri="{FF2B5EF4-FFF2-40B4-BE49-F238E27FC236}">
                <a16:creationId xmlns:a16="http://schemas.microsoft.com/office/drawing/2014/main" id="{E5617330-5376-BACE-8101-E1C080C0B3D2}"/>
              </a:ext>
            </a:extLst>
          </p:cNvPr>
          <p:cNvSpPr txBox="1"/>
          <p:nvPr/>
        </p:nvSpPr>
        <p:spPr>
          <a:xfrm>
            <a:off x="3642360" y="1550016"/>
            <a:ext cx="7126224" cy="593047"/>
          </a:xfrm>
          <a:prstGeom prst="rect">
            <a:avLst/>
          </a:prstGeom>
          <a:noFill/>
        </p:spPr>
        <p:txBody>
          <a:bodyPr wrap="square">
            <a:spAutoFit/>
          </a:bodyPr>
          <a:lstStyle/>
          <a:p>
            <a:pPr>
              <a:lnSpc>
                <a:spcPct val="150000"/>
              </a:lnSpc>
            </a:pPr>
            <a:r>
              <a:rPr lang="en-US" sz="2400">
                <a:solidFill>
                  <a:srgbClr val="C00000"/>
                </a:solidFill>
              </a:rPr>
              <a:t>Not all JAX code can be JIT compiled.</a:t>
            </a:r>
            <a:endParaRPr lang="en-IN" sz="2400">
              <a:solidFill>
                <a:srgbClr val="C00000"/>
              </a:solidFill>
            </a:endParaRPr>
          </a:p>
        </p:txBody>
      </p:sp>
      <p:sp>
        <p:nvSpPr>
          <p:cNvPr id="29" name="TextBox 28">
            <a:extLst>
              <a:ext uri="{FF2B5EF4-FFF2-40B4-BE49-F238E27FC236}">
                <a16:creationId xmlns:a16="http://schemas.microsoft.com/office/drawing/2014/main" id="{86D9C19B-7A5F-4748-F02C-0458BB3C1DCB}"/>
              </a:ext>
            </a:extLst>
          </p:cNvPr>
          <p:cNvSpPr txBox="1"/>
          <p:nvPr/>
        </p:nvSpPr>
        <p:spPr>
          <a:xfrm>
            <a:off x="9703569" y="3954432"/>
            <a:ext cx="6761746" cy="769441"/>
          </a:xfrm>
          <a:prstGeom prst="rect">
            <a:avLst/>
          </a:prstGeom>
          <a:noFill/>
        </p:spPr>
        <p:txBody>
          <a:bodyPr wrap="square">
            <a:spAutoFit/>
          </a:bodyPr>
          <a:lstStyle/>
          <a:p>
            <a:r>
              <a:rPr lang="en-IN" sz="4400" b="0" i="0">
                <a:effectLst/>
              </a:rPr>
              <a:t>To XLA</a:t>
            </a:r>
            <a:endParaRPr lang="en-IN" sz="4400"/>
          </a:p>
        </p:txBody>
      </p:sp>
      <p:cxnSp>
        <p:nvCxnSpPr>
          <p:cNvPr id="30" name="Straight Arrow Connector 29">
            <a:extLst>
              <a:ext uri="{FF2B5EF4-FFF2-40B4-BE49-F238E27FC236}">
                <a16:creationId xmlns:a16="http://schemas.microsoft.com/office/drawing/2014/main" id="{CBFD906B-027E-5F30-0067-B97A81F27809}"/>
              </a:ext>
            </a:extLst>
          </p:cNvPr>
          <p:cNvCxnSpPr>
            <a:cxnSpLocks/>
          </p:cNvCxnSpPr>
          <p:nvPr/>
        </p:nvCxnSpPr>
        <p:spPr>
          <a:xfrm>
            <a:off x="8822521" y="4337474"/>
            <a:ext cx="773530"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31" name="TextBox 30">
            <a:extLst>
              <a:ext uri="{FF2B5EF4-FFF2-40B4-BE49-F238E27FC236}">
                <a16:creationId xmlns:a16="http://schemas.microsoft.com/office/drawing/2014/main" id="{889FBFFA-CE3F-C506-83A1-A3097C3879EB}"/>
              </a:ext>
            </a:extLst>
          </p:cNvPr>
          <p:cNvSpPr txBox="1"/>
          <p:nvPr/>
        </p:nvSpPr>
        <p:spPr>
          <a:xfrm>
            <a:off x="2207250" y="5125041"/>
            <a:ext cx="6761746" cy="307777"/>
          </a:xfrm>
          <a:prstGeom prst="rect">
            <a:avLst/>
          </a:prstGeom>
          <a:noFill/>
        </p:spPr>
        <p:txBody>
          <a:bodyPr wrap="square">
            <a:spAutoFit/>
          </a:bodyPr>
          <a:lstStyle/>
          <a:p>
            <a:r>
              <a:rPr lang="en-IN" sz="1400" b="0" i="0">
                <a:effectLst/>
                <a:latin typeface="sohne"/>
              </a:rPr>
              <a:t>Python function</a:t>
            </a:r>
            <a:endParaRPr lang="en-IN" sz="1400"/>
          </a:p>
        </p:txBody>
      </p:sp>
      <p:cxnSp>
        <p:nvCxnSpPr>
          <p:cNvPr id="33" name="Straight Arrow Connector 32">
            <a:extLst>
              <a:ext uri="{FF2B5EF4-FFF2-40B4-BE49-F238E27FC236}">
                <a16:creationId xmlns:a16="http://schemas.microsoft.com/office/drawing/2014/main" id="{B71DE77D-38D7-51BE-82A4-6F64DC3C86EE}"/>
              </a:ext>
            </a:extLst>
          </p:cNvPr>
          <p:cNvCxnSpPr>
            <a:cxnSpLocks/>
          </p:cNvCxnSpPr>
          <p:nvPr/>
        </p:nvCxnSpPr>
        <p:spPr>
          <a:xfrm>
            <a:off x="4628896" y="4214835"/>
            <a:ext cx="773530"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37" name="Rectangle 36">
            <a:extLst>
              <a:ext uri="{FF2B5EF4-FFF2-40B4-BE49-F238E27FC236}">
                <a16:creationId xmlns:a16="http://schemas.microsoft.com/office/drawing/2014/main" id="{3DE0DFB1-CAE7-D95C-CD8A-5CF25DFD8DDB}"/>
              </a:ext>
            </a:extLst>
          </p:cNvPr>
          <p:cNvSpPr/>
          <p:nvPr/>
        </p:nvSpPr>
        <p:spPr>
          <a:xfrm>
            <a:off x="236220" y="182880"/>
            <a:ext cx="11719560" cy="64617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FFF30658-6421-2CF8-4AD7-911EB647C2A0}"/>
              </a:ext>
            </a:extLst>
          </p:cNvPr>
          <p:cNvSpPr txBox="1"/>
          <p:nvPr/>
        </p:nvSpPr>
        <p:spPr>
          <a:xfrm>
            <a:off x="776165" y="5536934"/>
            <a:ext cx="10680096" cy="830997"/>
          </a:xfrm>
          <a:prstGeom prst="rect">
            <a:avLst/>
          </a:prstGeom>
          <a:noFill/>
        </p:spPr>
        <p:txBody>
          <a:bodyPr wrap="square">
            <a:spAutoFit/>
          </a:bodyPr>
          <a:lstStyle/>
          <a:p>
            <a:r>
              <a:rPr lang="en-US" sz="2400" b="1" i="0">
                <a:solidFill>
                  <a:srgbClr val="0B0E29"/>
                </a:solidFill>
                <a:effectLst/>
              </a:rPr>
              <a:t>HLO(High Level Operations)</a:t>
            </a:r>
            <a:r>
              <a:rPr lang="en-US" sz="2400" b="1">
                <a:solidFill>
                  <a:srgbClr val="0B0E29"/>
                </a:solidFill>
              </a:rPr>
              <a:t>: </a:t>
            </a:r>
            <a:r>
              <a:rPr lang="en-US" sz="2400">
                <a:solidFill>
                  <a:srgbClr val="0B0E29"/>
                </a:solidFill>
              </a:rPr>
              <a:t>P</a:t>
            </a:r>
            <a:r>
              <a:rPr lang="en-US" sz="2400" b="0" i="0">
                <a:solidFill>
                  <a:srgbClr val="0B0E29"/>
                </a:solidFill>
                <a:effectLst/>
              </a:rPr>
              <a:t>rogram “between” the source and target languages.</a:t>
            </a:r>
            <a:endParaRPr lang="en-IN" sz="2400"/>
          </a:p>
        </p:txBody>
      </p:sp>
      <p:sp>
        <p:nvSpPr>
          <p:cNvPr id="42" name="TextBox 41">
            <a:extLst>
              <a:ext uri="{FF2B5EF4-FFF2-40B4-BE49-F238E27FC236}">
                <a16:creationId xmlns:a16="http://schemas.microsoft.com/office/drawing/2014/main" id="{BE236642-7B0A-D232-04BB-6BEED8271224}"/>
              </a:ext>
            </a:extLst>
          </p:cNvPr>
          <p:cNvSpPr txBox="1"/>
          <p:nvPr/>
        </p:nvSpPr>
        <p:spPr>
          <a:xfrm flipV="1">
            <a:off x="4628896" y="4571986"/>
            <a:ext cx="7468368" cy="242684"/>
          </a:xfrm>
          <a:prstGeom prst="rect">
            <a:avLst/>
          </a:prstGeom>
          <a:noFill/>
        </p:spPr>
        <p:txBody>
          <a:bodyPr wrap="square">
            <a:spAutoFit/>
          </a:bodyPr>
          <a:lstStyle/>
          <a:p>
            <a:endParaRPr lang="en-IN"/>
          </a:p>
        </p:txBody>
      </p:sp>
      <p:sp>
        <p:nvSpPr>
          <p:cNvPr id="43" name="Slide Number Placeholder 42">
            <a:extLst>
              <a:ext uri="{FF2B5EF4-FFF2-40B4-BE49-F238E27FC236}">
                <a16:creationId xmlns:a16="http://schemas.microsoft.com/office/drawing/2014/main" id="{B0DC7CE3-FDBA-F574-09FD-F00BE07A0A10}"/>
              </a:ext>
            </a:extLst>
          </p:cNvPr>
          <p:cNvSpPr>
            <a:spLocks noGrp="1"/>
          </p:cNvSpPr>
          <p:nvPr>
            <p:ph type="sldNum" sz="quarter" idx="12"/>
          </p:nvPr>
        </p:nvSpPr>
        <p:spPr/>
        <p:txBody>
          <a:bodyPr/>
          <a:lstStyle/>
          <a:p>
            <a:fld id="{80CF0AD1-F62C-4FB8-9A3D-509C68BBEF0A}" type="slidenum">
              <a:rPr lang="en-IN" smtClean="0"/>
              <a:t>6</a:t>
            </a:fld>
            <a:endParaRPr lang="en-IN"/>
          </a:p>
        </p:txBody>
      </p:sp>
    </p:spTree>
    <p:extLst>
      <p:ext uri="{BB962C8B-B14F-4D97-AF65-F5344CB8AC3E}">
        <p14:creationId xmlns:p14="http://schemas.microsoft.com/office/powerpoint/2010/main" val="1194113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7BD383-069E-0F74-3642-7DF48D47A7A6}"/>
              </a:ext>
            </a:extLst>
          </p:cNvPr>
          <p:cNvSpPr txBox="1"/>
          <p:nvPr/>
        </p:nvSpPr>
        <p:spPr>
          <a:xfrm>
            <a:off x="985349" y="287368"/>
            <a:ext cx="9345168" cy="1015663"/>
          </a:xfrm>
          <a:prstGeom prst="rect">
            <a:avLst/>
          </a:prstGeom>
          <a:noFill/>
        </p:spPr>
        <p:txBody>
          <a:bodyPr wrap="square" rtlCol="0">
            <a:spAutoFit/>
          </a:bodyPr>
          <a:lstStyle/>
          <a:p>
            <a:pPr algn="ctr"/>
            <a:r>
              <a:rPr lang="en-IN" sz="3600" b="1">
                <a:solidFill>
                  <a:srgbClr val="C00000"/>
                </a:solidFill>
              </a:rPr>
              <a:t>X</a:t>
            </a:r>
            <a:r>
              <a:rPr lang="en-IN" sz="3600" b="1"/>
              <a:t>LA: </a:t>
            </a:r>
            <a:r>
              <a:rPr lang="en-IN" sz="3600" b="0" i="1">
                <a:solidFill>
                  <a:srgbClr val="242424"/>
                </a:solidFill>
                <a:effectLst/>
                <a:latin typeface="source-serif-pro"/>
              </a:rPr>
              <a:t>Accelerated Linear Algebra</a:t>
            </a:r>
          </a:p>
          <a:p>
            <a:pPr algn="ctr"/>
            <a:r>
              <a:rPr lang="en-US" sz="2400"/>
              <a:t>Most widely-used ML optimization compiler </a:t>
            </a:r>
            <a:endParaRPr lang="en-IN" sz="2400"/>
          </a:p>
        </p:txBody>
      </p:sp>
      <p:pic>
        <p:nvPicPr>
          <p:cNvPr id="2050" name="Picture 2">
            <a:extLst>
              <a:ext uri="{FF2B5EF4-FFF2-40B4-BE49-F238E27FC236}">
                <a16:creationId xmlns:a16="http://schemas.microsoft.com/office/drawing/2014/main" id="{42760E48-E5D5-562F-3542-E482A38AC1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8201" y="570434"/>
            <a:ext cx="2414336" cy="69475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ED3BB78-2496-5BB5-8DA5-6634B7A746B3}"/>
              </a:ext>
            </a:extLst>
          </p:cNvPr>
          <p:cNvSpPr txBox="1"/>
          <p:nvPr/>
        </p:nvSpPr>
        <p:spPr>
          <a:xfrm>
            <a:off x="746403" y="3679668"/>
            <a:ext cx="11346781" cy="1331711"/>
          </a:xfrm>
          <a:prstGeom prst="rect">
            <a:avLst/>
          </a:prstGeom>
          <a:noFill/>
        </p:spPr>
        <p:txBody>
          <a:bodyPr wrap="square">
            <a:spAutoFit/>
          </a:bodyPr>
          <a:lstStyle/>
          <a:p>
            <a:pPr marL="342900" indent="-342900">
              <a:buFont typeface="Arial" panose="020B0604020202020204" pitchFamily="34" charset="0"/>
              <a:buChar char="•"/>
            </a:pPr>
            <a:r>
              <a:rPr lang="en-US" sz="2400">
                <a:solidFill>
                  <a:srgbClr val="242424"/>
                </a:solidFill>
              </a:rPr>
              <a:t>Example: Reduce amount of memory access required.</a:t>
            </a:r>
            <a:endParaRPr lang="en-IN" sz="2400"/>
          </a:p>
          <a:p>
            <a:pPr marL="342900" indent="-342900">
              <a:buFont typeface="Arial" panose="020B0604020202020204" pitchFamily="34" charset="0"/>
              <a:buChar char="•"/>
            </a:pPr>
            <a:endParaRPr lang="en-US" sz="2400"/>
          </a:p>
          <a:p>
            <a:pPr>
              <a:lnSpc>
                <a:spcPct val="150000"/>
              </a:lnSpc>
            </a:pPr>
            <a:endParaRPr lang="en-US" sz="2400">
              <a:solidFill>
                <a:srgbClr val="242424"/>
              </a:solidFill>
            </a:endParaRPr>
          </a:p>
        </p:txBody>
      </p:sp>
      <p:pic>
        <p:nvPicPr>
          <p:cNvPr id="6" name="Picture 5">
            <a:extLst>
              <a:ext uri="{FF2B5EF4-FFF2-40B4-BE49-F238E27FC236}">
                <a16:creationId xmlns:a16="http://schemas.microsoft.com/office/drawing/2014/main" id="{53BCFA79-B64D-B35A-0B23-02E1A8FCDEE7}"/>
              </a:ext>
            </a:extLst>
          </p:cNvPr>
          <p:cNvPicPr>
            <a:picLocks noChangeAspect="1"/>
          </p:cNvPicPr>
          <p:nvPr/>
        </p:nvPicPr>
        <p:blipFill>
          <a:blip r:embed="rId4"/>
          <a:stretch>
            <a:fillRect/>
          </a:stretch>
        </p:blipFill>
        <p:spPr>
          <a:xfrm>
            <a:off x="4247353" y="2461192"/>
            <a:ext cx="3089637" cy="1233716"/>
          </a:xfrm>
          <a:prstGeom prst="rect">
            <a:avLst/>
          </a:prstGeom>
        </p:spPr>
      </p:pic>
      <p:pic>
        <p:nvPicPr>
          <p:cNvPr id="13" name="Picture 12">
            <a:extLst>
              <a:ext uri="{FF2B5EF4-FFF2-40B4-BE49-F238E27FC236}">
                <a16:creationId xmlns:a16="http://schemas.microsoft.com/office/drawing/2014/main" id="{D17F78F3-CEB9-27ED-9D87-5270B1C718CF}"/>
              </a:ext>
            </a:extLst>
          </p:cNvPr>
          <p:cNvPicPr>
            <a:picLocks noChangeAspect="1"/>
          </p:cNvPicPr>
          <p:nvPr/>
        </p:nvPicPr>
        <p:blipFill>
          <a:blip r:embed="rId5"/>
          <a:stretch>
            <a:fillRect/>
          </a:stretch>
        </p:blipFill>
        <p:spPr>
          <a:xfrm>
            <a:off x="1134514" y="4219099"/>
            <a:ext cx="1943906" cy="2068467"/>
          </a:xfrm>
          <a:prstGeom prst="rect">
            <a:avLst/>
          </a:prstGeom>
        </p:spPr>
      </p:pic>
      <p:pic>
        <p:nvPicPr>
          <p:cNvPr id="16" name="Picture 15">
            <a:extLst>
              <a:ext uri="{FF2B5EF4-FFF2-40B4-BE49-F238E27FC236}">
                <a16:creationId xmlns:a16="http://schemas.microsoft.com/office/drawing/2014/main" id="{BBF837A1-4918-4884-E369-292D9C047E79}"/>
              </a:ext>
            </a:extLst>
          </p:cNvPr>
          <p:cNvPicPr>
            <a:picLocks noChangeAspect="1"/>
          </p:cNvPicPr>
          <p:nvPr/>
        </p:nvPicPr>
        <p:blipFill>
          <a:blip r:embed="rId6"/>
          <a:stretch>
            <a:fillRect/>
          </a:stretch>
        </p:blipFill>
        <p:spPr>
          <a:xfrm>
            <a:off x="3940683" y="4291220"/>
            <a:ext cx="3396307" cy="1924224"/>
          </a:xfrm>
          <a:prstGeom prst="rect">
            <a:avLst/>
          </a:prstGeom>
        </p:spPr>
      </p:pic>
      <p:pic>
        <p:nvPicPr>
          <p:cNvPr id="18" name="Picture 17">
            <a:extLst>
              <a:ext uri="{FF2B5EF4-FFF2-40B4-BE49-F238E27FC236}">
                <a16:creationId xmlns:a16="http://schemas.microsoft.com/office/drawing/2014/main" id="{61D3CC70-911C-B3D6-0C65-FDABE95FB640}"/>
              </a:ext>
            </a:extLst>
          </p:cNvPr>
          <p:cNvPicPr>
            <a:picLocks noChangeAspect="1"/>
          </p:cNvPicPr>
          <p:nvPr/>
        </p:nvPicPr>
        <p:blipFill>
          <a:blip r:embed="rId7"/>
          <a:stretch>
            <a:fillRect/>
          </a:stretch>
        </p:blipFill>
        <p:spPr>
          <a:xfrm>
            <a:off x="7694324" y="4399135"/>
            <a:ext cx="3729445" cy="1824559"/>
          </a:xfrm>
          <a:prstGeom prst="rect">
            <a:avLst/>
          </a:prstGeom>
        </p:spPr>
      </p:pic>
      <p:sp>
        <p:nvSpPr>
          <p:cNvPr id="22" name="TextBox 21">
            <a:extLst>
              <a:ext uri="{FF2B5EF4-FFF2-40B4-BE49-F238E27FC236}">
                <a16:creationId xmlns:a16="http://schemas.microsoft.com/office/drawing/2014/main" id="{338CB571-0EBB-C158-EF2F-8E329EE0BBFB}"/>
              </a:ext>
            </a:extLst>
          </p:cNvPr>
          <p:cNvSpPr txBox="1"/>
          <p:nvPr/>
        </p:nvSpPr>
        <p:spPr>
          <a:xfrm>
            <a:off x="4730026" y="6314708"/>
            <a:ext cx="6858000" cy="400110"/>
          </a:xfrm>
          <a:prstGeom prst="rect">
            <a:avLst/>
          </a:prstGeom>
          <a:noFill/>
        </p:spPr>
        <p:txBody>
          <a:bodyPr wrap="square">
            <a:spAutoFit/>
          </a:bodyPr>
          <a:lstStyle/>
          <a:p>
            <a:r>
              <a:rPr lang="en-US" sz="2000" b="1" i="0">
                <a:solidFill>
                  <a:srgbClr val="242424"/>
                </a:solidFill>
                <a:effectLst/>
              </a:rPr>
              <a:t>Operation Fusion</a:t>
            </a:r>
            <a:endParaRPr lang="en-IN" sz="2000" b="1"/>
          </a:p>
        </p:txBody>
      </p:sp>
      <p:sp>
        <p:nvSpPr>
          <p:cNvPr id="24" name="TextBox 23">
            <a:extLst>
              <a:ext uri="{FF2B5EF4-FFF2-40B4-BE49-F238E27FC236}">
                <a16:creationId xmlns:a16="http://schemas.microsoft.com/office/drawing/2014/main" id="{231FF17E-32D3-6EA9-9507-CB0ADDAD9DEC}"/>
              </a:ext>
            </a:extLst>
          </p:cNvPr>
          <p:cNvSpPr txBox="1"/>
          <p:nvPr/>
        </p:nvSpPr>
        <p:spPr>
          <a:xfrm>
            <a:off x="10901782" y="8238458"/>
            <a:ext cx="6858000" cy="369332"/>
          </a:xfrm>
          <a:prstGeom prst="rect">
            <a:avLst/>
          </a:prstGeom>
          <a:noFill/>
        </p:spPr>
        <p:txBody>
          <a:bodyPr wrap="square">
            <a:spAutoFit/>
          </a:bodyPr>
          <a:lstStyle/>
          <a:p>
            <a:r>
              <a:rPr lang="en-IN"/>
              <a:t>Snider et al.,2023</a:t>
            </a:r>
          </a:p>
        </p:txBody>
      </p:sp>
      <p:sp>
        <p:nvSpPr>
          <p:cNvPr id="11" name="TextBox 10">
            <a:extLst>
              <a:ext uri="{FF2B5EF4-FFF2-40B4-BE49-F238E27FC236}">
                <a16:creationId xmlns:a16="http://schemas.microsoft.com/office/drawing/2014/main" id="{3B674F4E-393F-0CF8-4F53-2BC0949971A1}"/>
              </a:ext>
            </a:extLst>
          </p:cNvPr>
          <p:cNvSpPr txBox="1"/>
          <p:nvPr/>
        </p:nvSpPr>
        <p:spPr>
          <a:xfrm>
            <a:off x="558521" y="1210108"/>
            <a:ext cx="11535835" cy="170104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solidFill>
                  <a:srgbClr val="242424"/>
                </a:solidFill>
              </a:rPr>
              <a:t>C</a:t>
            </a:r>
            <a:r>
              <a:rPr lang="en-US" sz="2400" b="0" i="0" dirty="0">
                <a:solidFill>
                  <a:srgbClr val="242424"/>
                </a:solidFill>
                <a:effectLst/>
              </a:rPr>
              <a:t>ompiler to convert code with linear algebra operations into efficient one.</a:t>
            </a:r>
          </a:p>
          <a:p>
            <a:pPr marL="342900" indent="-342900">
              <a:lnSpc>
                <a:spcPct val="150000"/>
              </a:lnSpc>
              <a:buFont typeface="Arial" panose="020B0604020202020204" pitchFamily="34" charset="0"/>
              <a:buChar char="•"/>
            </a:pPr>
            <a:r>
              <a:rPr lang="en-US" sz="2400" dirty="0"/>
              <a:t>Two steps of optimizations: target-independent and target-dependent optimizations.</a:t>
            </a:r>
          </a:p>
        </p:txBody>
      </p:sp>
      <p:sp>
        <p:nvSpPr>
          <p:cNvPr id="14" name="Rectangle 13">
            <a:extLst>
              <a:ext uri="{FF2B5EF4-FFF2-40B4-BE49-F238E27FC236}">
                <a16:creationId xmlns:a16="http://schemas.microsoft.com/office/drawing/2014/main" id="{B627AC03-0D52-2583-65DA-E6864F20A53C}"/>
              </a:ext>
            </a:extLst>
          </p:cNvPr>
          <p:cNvSpPr/>
          <p:nvPr/>
        </p:nvSpPr>
        <p:spPr>
          <a:xfrm>
            <a:off x="236220" y="182880"/>
            <a:ext cx="11719560" cy="64617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Slide Number Placeholder 18">
            <a:extLst>
              <a:ext uri="{FF2B5EF4-FFF2-40B4-BE49-F238E27FC236}">
                <a16:creationId xmlns:a16="http://schemas.microsoft.com/office/drawing/2014/main" id="{8363FDE7-2C9E-A924-1F9D-BF4AFB2CEDCB}"/>
              </a:ext>
            </a:extLst>
          </p:cNvPr>
          <p:cNvSpPr>
            <a:spLocks noGrp="1"/>
          </p:cNvSpPr>
          <p:nvPr>
            <p:ph type="sldNum" sz="quarter" idx="12"/>
          </p:nvPr>
        </p:nvSpPr>
        <p:spPr/>
        <p:txBody>
          <a:bodyPr/>
          <a:lstStyle/>
          <a:p>
            <a:fld id="{80CF0AD1-F62C-4FB8-9A3D-509C68BBEF0A}" type="slidenum">
              <a:rPr lang="en-IN" smtClean="0"/>
              <a:t>7</a:t>
            </a:fld>
            <a:endParaRPr lang="en-IN"/>
          </a:p>
        </p:txBody>
      </p:sp>
    </p:spTree>
    <p:extLst>
      <p:ext uri="{BB962C8B-B14F-4D97-AF65-F5344CB8AC3E}">
        <p14:creationId xmlns:p14="http://schemas.microsoft.com/office/powerpoint/2010/main" val="2521056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A72AB-30BE-13DA-A0EB-5E8D6EDA6F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8B7FD0-990E-3899-FCF8-50A6B54B1F95}"/>
              </a:ext>
            </a:extLst>
          </p:cNvPr>
          <p:cNvSpPr txBox="1"/>
          <p:nvPr/>
        </p:nvSpPr>
        <p:spPr>
          <a:xfrm>
            <a:off x="1423416" y="317646"/>
            <a:ext cx="9345168" cy="584775"/>
          </a:xfrm>
          <a:prstGeom prst="rect">
            <a:avLst/>
          </a:prstGeom>
          <a:noFill/>
        </p:spPr>
        <p:txBody>
          <a:bodyPr wrap="square" rtlCol="0">
            <a:spAutoFit/>
          </a:bodyPr>
          <a:lstStyle/>
          <a:p>
            <a:pPr algn="ctr"/>
            <a:r>
              <a:rPr lang="en-US" sz="3200" b="1"/>
              <a:t>JAX Transformations</a:t>
            </a:r>
          </a:p>
        </p:txBody>
      </p:sp>
      <p:sp>
        <p:nvSpPr>
          <p:cNvPr id="3" name="TextBox 2">
            <a:extLst>
              <a:ext uri="{FF2B5EF4-FFF2-40B4-BE49-F238E27FC236}">
                <a16:creationId xmlns:a16="http://schemas.microsoft.com/office/drawing/2014/main" id="{FD0270A8-1998-1CE5-0CF5-9A3CA0600355}"/>
              </a:ext>
            </a:extLst>
          </p:cNvPr>
          <p:cNvSpPr txBox="1"/>
          <p:nvPr/>
        </p:nvSpPr>
        <p:spPr>
          <a:xfrm>
            <a:off x="837112" y="1080130"/>
            <a:ext cx="5399314" cy="1261884"/>
          </a:xfrm>
          <a:prstGeom prst="rect">
            <a:avLst/>
          </a:prstGeom>
          <a:noFill/>
        </p:spPr>
        <p:txBody>
          <a:bodyPr wrap="square" rtlCol="0">
            <a:spAutoFit/>
          </a:bodyPr>
          <a:lstStyle/>
          <a:p>
            <a:r>
              <a:rPr lang="en-US" sz="2800"/>
              <a:t>Automatic vectorization (vmap)</a:t>
            </a:r>
          </a:p>
          <a:p>
            <a:endParaRPr lang="en-US" sz="2000">
              <a:solidFill>
                <a:srgbClr val="242424"/>
              </a:solidFill>
            </a:endParaRPr>
          </a:p>
          <a:p>
            <a:endParaRPr lang="en-IN" sz="2800"/>
          </a:p>
        </p:txBody>
      </p:sp>
      <p:sp>
        <p:nvSpPr>
          <p:cNvPr id="4" name="TextBox 3">
            <a:extLst>
              <a:ext uri="{FF2B5EF4-FFF2-40B4-BE49-F238E27FC236}">
                <a16:creationId xmlns:a16="http://schemas.microsoft.com/office/drawing/2014/main" id="{86950641-3140-E347-729B-7BC6F7161525}"/>
              </a:ext>
            </a:extLst>
          </p:cNvPr>
          <p:cNvSpPr txBox="1"/>
          <p:nvPr/>
        </p:nvSpPr>
        <p:spPr>
          <a:xfrm>
            <a:off x="6339840" y="1083970"/>
            <a:ext cx="5620512" cy="954107"/>
          </a:xfrm>
          <a:prstGeom prst="rect">
            <a:avLst/>
          </a:prstGeom>
          <a:noFill/>
        </p:spPr>
        <p:txBody>
          <a:bodyPr wrap="square" rtlCol="0">
            <a:spAutoFit/>
          </a:bodyPr>
          <a:lstStyle/>
          <a:p>
            <a:pPr algn="ctr"/>
            <a:r>
              <a:rPr lang="en-US" sz="2800"/>
              <a:t>Parallelization (pmap)</a:t>
            </a:r>
          </a:p>
          <a:p>
            <a:pPr algn="ctr"/>
            <a:endParaRPr lang="en-IN" sz="2800"/>
          </a:p>
        </p:txBody>
      </p:sp>
      <p:pic>
        <p:nvPicPr>
          <p:cNvPr id="2050" name="Picture 2">
            <a:extLst>
              <a:ext uri="{FF2B5EF4-FFF2-40B4-BE49-F238E27FC236}">
                <a16:creationId xmlns:a16="http://schemas.microsoft.com/office/drawing/2014/main" id="{3FBD74DF-E6F4-DFC7-8875-9F46D773FA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3416" y="1895140"/>
            <a:ext cx="3615864" cy="210181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D5A7D25-21B6-724B-BFE3-9E66BB8E29AF}"/>
              </a:ext>
            </a:extLst>
          </p:cNvPr>
          <p:cNvPicPr>
            <a:picLocks noChangeAspect="1"/>
          </p:cNvPicPr>
          <p:nvPr/>
        </p:nvPicPr>
        <p:blipFill>
          <a:blip r:embed="rId4"/>
          <a:stretch>
            <a:fillRect/>
          </a:stretch>
        </p:blipFill>
        <p:spPr>
          <a:xfrm>
            <a:off x="7423774" y="1701262"/>
            <a:ext cx="2943274" cy="2404364"/>
          </a:xfrm>
          <a:prstGeom prst="rect">
            <a:avLst/>
          </a:prstGeom>
        </p:spPr>
      </p:pic>
      <p:sp>
        <p:nvSpPr>
          <p:cNvPr id="16" name="TextBox 15">
            <a:extLst>
              <a:ext uri="{FF2B5EF4-FFF2-40B4-BE49-F238E27FC236}">
                <a16:creationId xmlns:a16="http://schemas.microsoft.com/office/drawing/2014/main" id="{6F84B654-EAD5-72B8-D5A3-A5515EDB5626}"/>
              </a:ext>
            </a:extLst>
          </p:cNvPr>
          <p:cNvSpPr txBox="1"/>
          <p:nvPr/>
        </p:nvSpPr>
        <p:spPr>
          <a:xfrm>
            <a:off x="6361396" y="4174663"/>
            <a:ext cx="5399314" cy="225504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a:t>To execute single-program multiple-data (SPMD) programs.</a:t>
            </a:r>
            <a:endParaRPr lang="en-US" sz="2400" b="0" i="0">
              <a:effectLst/>
            </a:endParaRPr>
          </a:p>
          <a:p>
            <a:pPr marL="342900" indent="-342900">
              <a:lnSpc>
                <a:spcPct val="150000"/>
              </a:lnSpc>
              <a:buFont typeface="Arial" panose="020B0604020202020204" pitchFamily="34" charset="0"/>
              <a:buChar char="•"/>
            </a:pPr>
            <a:r>
              <a:rPr lang="en-US" sz="2400" b="0" i="0">
                <a:effectLst/>
              </a:rPr>
              <a:t>PMAP can communicate between the devices</a:t>
            </a:r>
            <a:endParaRPr lang="en-IN" sz="2400"/>
          </a:p>
        </p:txBody>
      </p:sp>
      <p:sp>
        <p:nvSpPr>
          <p:cNvPr id="18" name="TextBox 17">
            <a:extLst>
              <a:ext uri="{FF2B5EF4-FFF2-40B4-BE49-F238E27FC236}">
                <a16:creationId xmlns:a16="http://schemas.microsoft.com/office/drawing/2014/main" id="{96EAD897-E9A2-E91C-F098-BEB1E4C61C5A}"/>
              </a:ext>
            </a:extLst>
          </p:cNvPr>
          <p:cNvSpPr txBox="1"/>
          <p:nvPr/>
        </p:nvSpPr>
        <p:spPr>
          <a:xfrm>
            <a:off x="721071" y="4174663"/>
            <a:ext cx="5155474" cy="225504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a:t>Automatically converting scalar operations into vector operations.</a:t>
            </a:r>
          </a:p>
          <a:p>
            <a:pPr marL="342900" indent="-342900">
              <a:lnSpc>
                <a:spcPct val="150000"/>
              </a:lnSpc>
              <a:buFont typeface="Arial" panose="020B0604020202020204" pitchFamily="34" charset="0"/>
              <a:buChar char="•"/>
            </a:pPr>
            <a:r>
              <a:rPr lang="en-US" sz="2400"/>
              <a:t>VMAP works on one device at a time.</a:t>
            </a:r>
            <a:endParaRPr lang="en-IN" sz="2400"/>
          </a:p>
        </p:txBody>
      </p:sp>
      <p:sp>
        <p:nvSpPr>
          <p:cNvPr id="20" name="Rectangle 19">
            <a:extLst>
              <a:ext uri="{FF2B5EF4-FFF2-40B4-BE49-F238E27FC236}">
                <a16:creationId xmlns:a16="http://schemas.microsoft.com/office/drawing/2014/main" id="{49C7202B-22DA-32B4-E12E-331876F27E39}"/>
              </a:ext>
            </a:extLst>
          </p:cNvPr>
          <p:cNvSpPr/>
          <p:nvPr/>
        </p:nvSpPr>
        <p:spPr>
          <a:xfrm>
            <a:off x="236220" y="182880"/>
            <a:ext cx="11719560" cy="64617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4" name="Straight Connector 23">
            <a:extLst>
              <a:ext uri="{FF2B5EF4-FFF2-40B4-BE49-F238E27FC236}">
                <a16:creationId xmlns:a16="http://schemas.microsoft.com/office/drawing/2014/main" id="{7C310AD4-D097-95E0-4180-EE5DA3BF636B}"/>
              </a:ext>
            </a:extLst>
          </p:cNvPr>
          <p:cNvCxnSpPr/>
          <p:nvPr/>
        </p:nvCxnSpPr>
        <p:spPr>
          <a:xfrm>
            <a:off x="6096000" y="1080130"/>
            <a:ext cx="0" cy="5114930"/>
          </a:xfrm>
          <a:prstGeom prst="line">
            <a:avLst/>
          </a:prstGeom>
          <a:ln w="38100">
            <a:prstDash val="dash"/>
          </a:ln>
        </p:spPr>
        <p:style>
          <a:lnRef idx="2">
            <a:schemeClr val="dk1"/>
          </a:lnRef>
          <a:fillRef idx="0">
            <a:schemeClr val="dk1"/>
          </a:fillRef>
          <a:effectRef idx="1">
            <a:schemeClr val="dk1"/>
          </a:effectRef>
          <a:fontRef idx="minor">
            <a:schemeClr val="tx1"/>
          </a:fontRef>
        </p:style>
      </p:cxnSp>
      <p:sp>
        <p:nvSpPr>
          <p:cNvPr id="28" name="Slide Number Placeholder 27">
            <a:extLst>
              <a:ext uri="{FF2B5EF4-FFF2-40B4-BE49-F238E27FC236}">
                <a16:creationId xmlns:a16="http://schemas.microsoft.com/office/drawing/2014/main" id="{42305002-4B4A-24D8-2968-13FDC1703139}"/>
              </a:ext>
            </a:extLst>
          </p:cNvPr>
          <p:cNvSpPr>
            <a:spLocks noGrp="1"/>
          </p:cNvSpPr>
          <p:nvPr>
            <p:ph type="sldNum" sz="quarter" idx="12"/>
          </p:nvPr>
        </p:nvSpPr>
        <p:spPr/>
        <p:txBody>
          <a:bodyPr/>
          <a:lstStyle/>
          <a:p>
            <a:fld id="{80CF0AD1-F62C-4FB8-9A3D-509C68BBEF0A}" type="slidenum">
              <a:rPr lang="en-IN" smtClean="0"/>
              <a:t>8</a:t>
            </a:fld>
            <a:endParaRPr lang="en-IN"/>
          </a:p>
        </p:txBody>
      </p:sp>
    </p:spTree>
    <p:extLst>
      <p:ext uri="{BB962C8B-B14F-4D97-AF65-F5344CB8AC3E}">
        <p14:creationId xmlns:p14="http://schemas.microsoft.com/office/powerpoint/2010/main" val="3009698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1A0800-F957-655D-289A-01374207D41E}"/>
              </a:ext>
            </a:extLst>
          </p:cNvPr>
          <p:cNvSpPr>
            <a:spLocks noChangeArrowheads="1"/>
          </p:cNvSpPr>
          <p:nvPr/>
        </p:nvSpPr>
        <p:spPr bwMode="auto">
          <a:xfrm>
            <a:off x="421710" y="1340016"/>
            <a:ext cx="6906789" cy="4684565"/>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batch_size </a:t>
            </a:r>
            <a:r>
              <a:rPr kumimoji="0" lang="en-US" altLang="en-US" sz="1400" b="0" i="0" u="none" strike="noStrike" cap="none" normalizeH="0" baseline="0">
                <a:ln>
                  <a:noFill/>
                </a:ln>
                <a:solidFill>
                  <a:srgbClr val="9A6E3A"/>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a:t>
            </a:r>
            <a:r>
              <a:rPr kumimoji="0" lang="en-US" altLang="en-US" sz="1400" b="0" i="0" u="none" strike="noStrike" cap="none" normalizeH="0" baseline="0">
                <a:ln>
                  <a:noFill/>
                </a:ln>
                <a:solidFill>
                  <a:srgbClr val="990055"/>
                </a:solidFill>
                <a:effectLst/>
                <a:latin typeface="Consolas" panose="020B0609020204030204" pitchFamily="49" charset="0"/>
                <a:cs typeface="Courier New" panose="02070309020205020404" pitchFamily="49" charset="0"/>
              </a:rPr>
              <a:t>1000</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a </a:t>
            </a:r>
            <a:r>
              <a:rPr kumimoji="0" lang="en-US" altLang="en-US" sz="1400" b="0" i="0" u="none" strike="noStrike" cap="none" normalizeH="0" baseline="0">
                <a:ln>
                  <a:noFill/>
                </a:ln>
                <a:solidFill>
                  <a:srgbClr val="9A6E3A"/>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jnp</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ones</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batch_size</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b </a:t>
            </a:r>
            <a:r>
              <a:rPr kumimoji="0" lang="en-US" altLang="en-US" sz="1400" b="0" i="0" u="none" strike="noStrike" cap="none" normalizeH="0" baseline="0">
                <a:ln>
                  <a:noFill/>
                </a:ln>
                <a:solidFill>
                  <a:srgbClr val="9A6E3A"/>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jnp</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arange</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batch_size</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dtype</a:t>
            </a:r>
            <a:r>
              <a:rPr kumimoji="0" lang="en-US" altLang="en-US" sz="1400" b="0" i="0" u="none" strike="noStrike" cap="none" normalizeH="0" baseline="0">
                <a:ln>
                  <a:noFill/>
                </a:ln>
                <a:solidFill>
                  <a:srgbClr val="9A6E3A"/>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jnp</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float32</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708090"/>
                </a:solidFill>
                <a:effectLst/>
                <a:latin typeface="Consolas" panose="020B0609020204030204" pitchFamily="49" charset="0"/>
                <a:cs typeface="Courier New" panose="02070309020205020404" pitchFamily="49" charset="0"/>
              </a:rPr>
              <a:t># 1. Manual Vectorization</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77AA"/>
                </a:solidFill>
                <a:effectLst/>
                <a:latin typeface="Consolas" panose="020B0609020204030204" pitchFamily="49" charset="0"/>
                <a:cs typeface="Courier New" panose="02070309020205020404" pitchFamily="49" charset="0"/>
              </a:rPr>
              <a:t>def</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a:t>
            </a:r>
            <a:r>
              <a:rPr kumimoji="0" lang="en-US" altLang="en-US" sz="1400" b="0" i="0" u="none" strike="noStrike" cap="none" normalizeH="0" baseline="0">
                <a:ln>
                  <a:noFill/>
                </a:ln>
                <a:solidFill>
                  <a:srgbClr val="DD4A68"/>
                </a:solidFill>
                <a:effectLst/>
                <a:latin typeface="Consolas" panose="020B0609020204030204" pitchFamily="49" charset="0"/>
                <a:cs typeface="Courier New" panose="02070309020205020404" pitchFamily="49" charset="0"/>
              </a:rPr>
              <a:t>manual_vectorized_add</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x_batch</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y_batch</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77AA"/>
                </a:solidFill>
                <a:effectLst/>
                <a:latin typeface="Consolas" panose="020B0609020204030204" pitchFamily="49" charset="0"/>
                <a:cs typeface="Courier New" panose="02070309020205020404" pitchFamily="49" charset="0"/>
              </a:rPr>
              <a:t>	return</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jnp</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add</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x_batch</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y_batch</a:t>
            </a:r>
            <a:r>
              <a:rPr kumimoji="0" lang="en-US" altLang="en-US" sz="1400" b="0" i="0" u="none" strike="noStrike" cap="none" normalizeH="0" baseline="0">
                <a:ln>
                  <a:noFill/>
                </a:ln>
                <a:solidFill>
                  <a:srgbClr val="999999"/>
                </a:solidFill>
                <a:effectLst/>
                <a:latin typeface="Consolas" panose="020B0609020204030204" pitchFamily="49" charset="0"/>
                <a:cs typeface="Courier New" panose="02070309020205020404" pitchFamily="49" charset="0"/>
              </a:rPr>
              <a:t>)</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708090"/>
                </a:solidFill>
                <a:effectLst/>
                <a:latin typeface="Consolas" panose="020B0609020204030204" pitchFamily="49" charset="0"/>
                <a:cs typeface="Courier New" panose="02070309020205020404" pitchFamily="49" charset="0"/>
              </a:rPr>
              <a:t># jnp.add directly handles arrays</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a:solidFill>
                <a:srgbClr val="000000"/>
              </a:solidFill>
              <a:latin typeface="Consolas" panose="020B06090202040302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708090"/>
                </a:solidFill>
                <a:effectLst/>
                <a:latin typeface="Consolas" panose="020B0609020204030204" pitchFamily="49" charset="0"/>
                <a:cs typeface="Courier New" panose="02070309020205020404" pitchFamily="49" charset="0"/>
              </a:rPr>
              <a:t># 2. Using vmap</a:t>
            </a:r>
            <a:r>
              <a:rPr kumimoji="0" lang="en-US" altLang="en-US" sz="1400" b="0" i="0" u="none" strike="noStrike" cap="none" normalizeH="0" baseline="0">
                <a:ln>
                  <a:noFill/>
                </a:ln>
                <a:solidFill>
                  <a:srgbClr val="000000"/>
                </a:solidFill>
                <a:effectLst/>
                <a:latin typeface="Consolas" panose="020B06090202040302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a:ln>
                  <a:noFill/>
                </a:ln>
                <a:solidFill>
                  <a:srgbClr val="0077AA"/>
                </a:solidFill>
                <a:effectLst/>
                <a:highlight>
                  <a:srgbClr val="C0C0C0"/>
                </a:highlight>
                <a:latin typeface="Consolas" panose="020B0609020204030204" pitchFamily="49" charset="0"/>
                <a:cs typeface="Courier New" panose="02070309020205020404" pitchFamily="49" charset="0"/>
              </a:rPr>
              <a:t>def</a:t>
            </a:r>
            <a:r>
              <a:rPr kumimoji="0" lang="en-US" altLang="en-US" sz="1400" i="0" u="none" strike="noStrike" cap="none" normalizeH="0" baseline="0">
                <a:ln>
                  <a:noFill/>
                </a:ln>
                <a:solidFill>
                  <a:srgbClr val="000000"/>
                </a:solidFill>
                <a:effectLst/>
                <a:highlight>
                  <a:srgbClr val="C0C0C0"/>
                </a:highlight>
                <a:latin typeface="Consolas" panose="020B0609020204030204" pitchFamily="49" charset="0"/>
                <a:cs typeface="Courier New" panose="02070309020205020404" pitchFamily="49" charset="0"/>
              </a:rPr>
              <a:t> </a:t>
            </a:r>
            <a:r>
              <a:rPr kumimoji="0" lang="en-US" altLang="en-US" sz="1400" i="0" u="none" strike="noStrike" cap="none" normalizeH="0" baseline="0">
                <a:ln>
                  <a:noFill/>
                </a:ln>
                <a:solidFill>
                  <a:srgbClr val="DD4A68"/>
                </a:solidFill>
                <a:effectLst/>
                <a:highlight>
                  <a:srgbClr val="C0C0C0"/>
                </a:highlight>
                <a:latin typeface="Consolas" panose="020B0609020204030204" pitchFamily="49" charset="0"/>
                <a:cs typeface="Courier New" panose="02070309020205020404" pitchFamily="49" charset="0"/>
              </a:rPr>
              <a:t>scalar_add</a:t>
            </a:r>
            <a:r>
              <a:rPr kumimoji="0" lang="en-US" altLang="en-US" sz="1400" i="0" u="none" strike="noStrike" cap="none" normalizeH="0" baseline="0">
                <a:ln>
                  <a:noFill/>
                </a:ln>
                <a:solidFill>
                  <a:srgbClr val="999999"/>
                </a:solidFill>
                <a:effectLst/>
                <a:highlight>
                  <a:srgbClr val="C0C0C0"/>
                </a:highlight>
                <a:latin typeface="Consolas" panose="020B0609020204030204" pitchFamily="49" charset="0"/>
                <a:cs typeface="Courier New" panose="02070309020205020404" pitchFamily="49" charset="0"/>
              </a:rPr>
              <a:t>(</a:t>
            </a:r>
            <a:r>
              <a:rPr kumimoji="0" lang="en-US" altLang="en-US" sz="1400" i="0" u="none" strike="noStrike" cap="none" normalizeH="0" baseline="0">
                <a:ln>
                  <a:noFill/>
                </a:ln>
                <a:solidFill>
                  <a:srgbClr val="000000"/>
                </a:solidFill>
                <a:effectLst/>
                <a:highlight>
                  <a:srgbClr val="C0C0C0"/>
                </a:highlight>
                <a:latin typeface="Consolas" panose="020B0609020204030204" pitchFamily="49" charset="0"/>
                <a:cs typeface="Courier New" panose="02070309020205020404" pitchFamily="49" charset="0"/>
              </a:rPr>
              <a:t>x</a:t>
            </a:r>
            <a:r>
              <a:rPr kumimoji="0" lang="en-US" altLang="en-US" sz="1400" i="0" u="none" strike="noStrike" cap="none" normalizeH="0" baseline="0">
                <a:ln>
                  <a:noFill/>
                </a:ln>
                <a:solidFill>
                  <a:srgbClr val="999999"/>
                </a:solidFill>
                <a:effectLst/>
                <a:highlight>
                  <a:srgbClr val="C0C0C0"/>
                </a:highlight>
                <a:latin typeface="Consolas" panose="020B0609020204030204" pitchFamily="49" charset="0"/>
                <a:cs typeface="Courier New" panose="02070309020205020404" pitchFamily="49" charset="0"/>
              </a:rPr>
              <a:t>,</a:t>
            </a:r>
            <a:r>
              <a:rPr kumimoji="0" lang="en-US" altLang="en-US" sz="1400" i="0" u="none" strike="noStrike" cap="none" normalizeH="0" baseline="0">
                <a:ln>
                  <a:noFill/>
                </a:ln>
                <a:solidFill>
                  <a:srgbClr val="000000"/>
                </a:solidFill>
                <a:effectLst/>
                <a:highlight>
                  <a:srgbClr val="C0C0C0"/>
                </a:highlight>
                <a:latin typeface="Consolas" panose="020B0609020204030204" pitchFamily="49" charset="0"/>
                <a:cs typeface="Courier New" panose="02070309020205020404" pitchFamily="49" charset="0"/>
              </a:rPr>
              <a:t> y</a:t>
            </a:r>
            <a:r>
              <a:rPr kumimoji="0" lang="en-US" altLang="en-US" sz="1400" i="0" u="none" strike="noStrike" cap="none" normalizeH="0" baseline="0">
                <a:ln>
                  <a:noFill/>
                </a:ln>
                <a:solidFill>
                  <a:srgbClr val="999999"/>
                </a:solidFill>
                <a:effectLst/>
                <a:highlight>
                  <a:srgbClr val="C0C0C0"/>
                </a:highlight>
                <a:latin typeface="Consolas" panose="020B0609020204030204" pitchFamily="49" charset="0"/>
                <a:cs typeface="Courier New" panose="02070309020205020404" pitchFamily="49" charset="0"/>
              </a:rPr>
              <a:t>):</a:t>
            </a:r>
            <a:r>
              <a:rPr kumimoji="0" lang="en-US" altLang="en-US" sz="1400" i="0" u="none" strike="noStrike" cap="none" normalizeH="0" baseline="0">
                <a:ln>
                  <a:noFill/>
                </a:ln>
                <a:solidFill>
                  <a:srgbClr val="000000"/>
                </a:solidFill>
                <a:effectLst/>
                <a:highlight>
                  <a:srgbClr val="C0C0C0"/>
                </a:highlight>
                <a:latin typeface="Consolas" panose="020B06090202040302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a:solidFill>
                  <a:srgbClr val="000000"/>
                </a:solidFill>
                <a:highlight>
                  <a:srgbClr val="C0C0C0"/>
                </a:highlight>
                <a:latin typeface="Consolas" panose="020B0609020204030204" pitchFamily="49" charset="0"/>
                <a:cs typeface="Courier New" panose="02070309020205020404" pitchFamily="49" charset="0"/>
              </a:rPr>
              <a:t>	</a:t>
            </a:r>
            <a:r>
              <a:rPr kumimoji="0" lang="en-US" altLang="en-US" sz="1400" i="0" u="none" strike="noStrike" cap="none" normalizeH="0" baseline="0">
                <a:ln>
                  <a:noFill/>
                </a:ln>
                <a:solidFill>
                  <a:srgbClr val="0077AA"/>
                </a:solidFill>
                <a:effectLst/>
                <a:highlight>
                  <a:srgbClr val="C0C0C0"/>
                </a:highlight>
                <a:latin typeface="Consolas" panose="020B0609020204030204" pitchFamily="49" charset="0"/>
                <a:cs typeface="Courier New" panose="02070309020205020404" pitchFamily="49" charset="0"/>
              </a:rPr>
              <a:t>return</a:t>
            </a:r>
            <a:r>
              <a:rPr kumimoji="0" lang="en-US" altLang="en-US" sz="1400" i="0" u="none" strike="noStrike" cap="none" normalizeH="0" baseline="0">
                <a:ln>
                  <a:noFill/>
                </a:ln>
                <a:solidFill>
                  <a:srgbClr val="000000"/>
                </a:solidFill>
                <a:effectLst/>
                <a:highlight>
                  <a:srgbClr val="C0C0C0"/>
                </a:highlight>
                <a:latin typeface="Consolas" panose="020B0609020204030204" pitchFamily="49" charset="0"/>
                <a:cs typeface="Courier New" panose="02070309020205020404" pitchFamily="49" charset="0"/>
              </a:rPr>
              <a:t> x </a:t>
            </a:r>
            <a:r>
              <a:rPr kumimoji="0" lang="en-US" altLang="en-US" sz="1400" i="0" u="none" strike="noStrike" cap="none" normalizeH="0" baseline="0">
                <a:ln>
                  <a:noFill/>
                </a:ln>
                <a:solidFill>
                  <a:srgbClr val="9A6E3A"/>
                </a:solidFill>
                <a:effectLst/>
                <a:highlight>
                  <a:srgbClr val="C0C0C0"/>
                </a:highlight>
                <a:latin typeface="Consolas" panose="020B0609020204030204" pitchFamily="49" charset="0"/>
                <a:cs typeface="Courier New" panose="02070309020205020404" pitchFamily="49" charset="0"/>
              </a:rPr>
              <a:t>+</a:t>
            </a:r>
            <a:r>
              <a:rPr kumimoji="0" lang="en-US" altLang="en-US" sz="1400" i="0" u="none" strike="noStrike" cap="none" normalizeH="0" baseline="0">
                <a:ln>
                  <a:noFill/>
                </a:ln>
                <a:solidFill>
                  <a:srgbClr val="000000"/>
                </a:solidFill>
                <a:effectLst/>
                <a:highlight>
                  <a:srgbClr val="C0C0C0"/>
                </a:highlight>
                <a:latin typeface="Consolas" panose="020B0609020204030204" pitchFamily="49" charset="0"/>
                <a:cs typeface="Courier New" panose="02070309020205020404" pitchFamily="49" charset="0"/>
              </a:rPr>
              <a:t> y v</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a:solidFill>
                <a:srgbClr val="000000"/>
              </a:solidFill>
              <a:highlight>
                <a:srgbClr val="C0C0C0"/>
              </a:highlight>
              <a:latin typeface="Consolas" panose="020B06090202040302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0" u="none" strike="noStrike" cap="none" normalizeH="0" baseline="0">
                <a:ln>
                  <a:noFill/>
                </a:ln>
                <a:solidFill>
                  <a:srgbClr val="000000"/>
                </a:solidFill>
                <a:effectLst/>
                <a:highlight>
                  <a:srgbClr val="C0C0C0"/>
                </a:highlight>
                <a:latin typeface="Consolas" panose="020B0609020204030204" pitchFamily="49" charset="0"/>
                <a:cs typeface="Courier New" panose="02070309020205020404" pitchFamily="49" charset="0"/>
              </a:rPr>
              <a:t>mapped_add </a:t>
            </a:r>
            <a:r>
              <a:rPr kumimoji="0" lang="en-US" altLang="en-US" sz="1400" i="0" u="none" strike="noStrike" cap="none" normalizeH="0" baseline="0">
                <a:ln>
                  <a:noFill/>
                </a:ln>
                <a:solidFill>
                  <a:srgbClr val="9A6E3A"/>
                </a:solidFill>
                <a:effectLst/>
                <a:highlight>
                  <a:srgbClr val="C0C0C0"/>
                </a:highlight>
                <a:latin typeface="Consolas" panose="020B0609020204030204" pitchFamily="49" charset="0"/>
                <a:cs typeface="Courier New" panose="02070309020205020404" pitchFamily="49" charset="0"/>
              </a:rPr>
              <a:t>=</a:t>
            </a:r>
            <a:r>
              <a:rPr kumimoji="0" lang="en-US" altLang="en-US" sz="1400" i="0" u="none" strike="noStrike" cap="none" normalizeH="0" baseline="0">
                <a:ln>
                  <a:noFill/>
                </a:ln>
                <a:solidFill>
                  <a:srgbClr val="000000"/>
                </a:solidFill>
                <a:effectLst/>
                <a:highlight>
                  <a:srgbClr val="C0C0C0"/>
                </a:highlight>
                <a:latin typeface="Consolas" panose="020B0609020204030204" pitchFamily="49" charset="0"/>
                <a:cs typeface="Courier New" panose="02070309020205020404" pitchFamily="49" charset="0"/>
              </a:rPr>
              <a:t> jax</a:t>
            </a:r>
            <a:r>
              <a:rPr kumimoji="0" lang="en-US" altLang="en-US" sz="1400" i="0" u="none" strike="noStrike" cap="none" normalizeH="0" baseline="0">
                <a:ln>
                  <a:noFill/>
                </a:ln>
                <a:solidFill>
                  <a:srgbClr val="999999"/>
                </a:solidFill>
                <a:effectLst/>
                <a:highlight>
                  <a:srgbClr val="C0C0C0"/>
                </a:highlight>
                <a:latin typeface="Consolas" panose="020B0609020204030204" pitchFamily="49" charset="0"/>
                <a:cs typeface="Courier New" panose="02070309020205020404" pitchFamily="49" charset="0"/>
              </a:rPr>
              <a:t>.</a:t>
            </a:r>
            <a:r>
              <a:rPr kumimoji="0" lang="en-US" altLang="en-US" sz="1400" i="0" u="none" strike="noStrike" cap="none" normalizeH="0" baseline="0">
                <a:ln>
                  <a:noFill/>
                </a:ln>
                <a:solidFill>
                  <a:srgbClr val="000000"/>
                </a:solidFill>
                <a:effectLst/>
                <a:highlight>
                  <a:srgbClr val="C0C0C0"/>
                </a:highlight>
                <a:latin typeface="Consolas" panose="020B0609020204030204" pitchFamily="49" charset="0"/>
                <a:cs typeface="Courier New" panose="02070309020205020404" pitchFamily="49" charset="0"/>
              </a:rPr>
              <a:t>vmap</a:t>
            </a:r>
            <a:r>
              <a:rPr kumimoji="0" lang="en-US" altLang="en-US" sz="1400" i="0" u="none" strike="noStrike" cap="none" normalizeH="0" baseline="0">
                <a:ln>
                  <a:noFill/>
                </a:ln>
                <a:solidFill>
                  <a:srgbClr val="999999"/>
                </a:solidFill>
                <a:effectLst/>
                <a:highlight>
                  <a:srgbClr val="C0C0C0"/>
                </a:highlight>
                <a:latin typeface="Consolas" panose="020B0609020204030204" pitchFamily="49" charset="0"/>
                <a:cs typeface="Courier New" panose="02070309020205020404" pitchFamily="49" charset="0"/>
              </a:rPr>
              <a:t>(</a:t>
            </a:r>
            <a:r>
              <a:rPr kumimoji="0" lang="en-US" altLang="en-US" sz="1400" i="0" u="none" strike="noStrike" cap="none" normalizeH="0" baseline="0">
                <a:ln>
                  <a:noFill/>
                </a:ln>
                <a:solidFill>
                  <a:srgbClr val="000000"/>
                </a:solidFill>
                <a:effectLst/>
                <a:highlight>
                  <a:srgbClr val="C0C0C0"/>
                </a:highlight>
                <a:latin typeface="Consolas" panose="020B0609020204030204" pitchFamily="49" charset="0"/>
                <a:cs typeface="Courier New" panose="02070309020205020404" pitchFamily="49" charset="0"/>
              </a:rPr>
              <a:t>scalar_add</a:t>
            </a:r>
            <a:r>
              <a:rPr kumimoji="0" lang="en-US" altLang="en-US" sz="1400" i="0" u="none" strike="noStrike" cap="none" normalizeH="0" baseline="0">
                <a:ln>
                  <a:noFill/>
                </a:ln>
                <a:solidFill>
                  <a:srgbClr val="999999"/>
                </a:solidFill>
                <a:effectLst/>
                <a:highlight>
                  <a:srgbClr val="C0C0C0"/>
                </a:highlight>
                <a:latin typeface="Consolas" panose="020B0609020204030204" pitchFamily="49" charset="0"/>
                <a:cs typeface="Courier New" panose="02070309020205020404" pitchFamily="49" charset="0"/>
              </a:rPr>
              <a:t>)</a:t>
            </a:r>
            <a:r>
              <a:rPr kumimoji="0" lang="en-US" altLang="en-US" sz="1400" i="0" u="none" strike="noStrike" cap="none" normalizeH="0" baseline="0">
                <a:ln>
                  <a:noFill/>
                </a:ln>
                <a:solidFill>
                  <a:schemeClr val="tx1"/>
                </a:solidFill>
                <a:effectLst/>
                <a:highlight>
                  <a:srgbClr val="C0C0C0"/>
                </a:highligh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panose="020B0604020202020204" pitchFamily="34" charset="0"/>
            </a:endParaRPr>
          </a:p>
          <a:p>
            <a:pPr lvl="0" eaLnBrk="0" fontAlgn="base" hangingPunct="0">
              <a:spcBef>
                <a:spcPct val="0"/>
              </a:spcBef>
              <a:spcAft>
                <a:spcPct val="0"/>
              </a:spcAft>
            </a:pPr>
            <a:r>
              <a:rPr lang="en-US" altLang="en-US" sz="1400">
                <a:solidFill>
                  <a:srgbClr val="708090"/>
                </a:solidFill>
                <a:latin typeface="Consolas" panose="020B0609020204030204" pitchFamily="49" charset="0"/>
                <a:cs typeface="Courier New" panose="02070309020205020404" pitchFamily="49" charset="0"/>
              </a:rPr>
              <a:t># 3. Python Loop (Generally inefficient for numerical tasks)</a:t>
            </a:r>
            <a:r>
              <a:rPr lang="en-US" altLang="en-US" sz="1400">
                <a:solidFill>
                  <a:srgbClr val="000000"/>
                </a:solidFill>
                <a:latin typeface="Consolas" panose="020B0609020204030204" pitchFamily="49" charset="0"/>
                <a:cs typeface="Courier New" panose="02070309020205020404" pitchFamily="49" charset="0"/>
              </a:rPr>
              <a:t> </a:t>
            </a:r>
          </a:p>
          <a:p>
            <a:pPr lvl="0" eaLnBrk="0" fontAlgn="base" hangingPunct="0">
              <a:spcBef>
                <a:spcPct val="0"/>
              </a:spcBef>
              <a:spcAft>
                <a:spcPct val="0"/>
              </a:spcAft>
            </a:pPr>
            <a:r>
              <a:rPr lang="en-US" altLang="en-US" sz="1400">
                <a:solidFill>
                  <a:srgbClr val="0077AA"/>
                </a:solidFill>
                <a:latin typeface="Consolas" panose="020B0609020204030204" pitchFamily="49" charset="0"/>
                <a:cs typeface="Courier New" panose="02070309020205020404" pitchFamily="49" charset="0"/>
              </a:rPr>
              <a:t>def</a:t>
            </a:r>
            <a:r>
              <a:rPr lang="en-US" altLang="en-US" sz="1400">
                <a:solidFill>
                  <a:srgbClr val="000000"/>
                </a:solidFill>
                <a:latin typeface="Consolas" panose="020B0609020204030204" pitchFamily="49" charset="0"/>
                <a:cs typeface="Courier New" panose="02070309020205020404" pitchFamily="49" charset="0"/>
              </a:rPr>
              <a:t> </a:t>
            </a:r>
            <a:r>
              <a:rPr lang="en-US" altLang="en-US" sz="1400">
                <a:solidFill>
                  <a:srgbClr val="DD4A68"/>
                </a:solidFill>
                <a:latin typeface="Consolas" panose="020B0609020204030204" pitchFamily="49" charset="0"/>
                <a:cs typeface="Courier New" panose="02070309020205020404" pitchFamily="49" charset="0"/>
              </a:rPr>
              <a:t>loop_add</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x_batch</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 y_batch</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 </a:t>
            </a:r>
          </a:p>
          <a:p>
            <a:pPr lvl="0" eaLnBrk="0" fontAlgn="base" hangingPunct="0">
              <a:spcBef>
                <a:spcPct val="0"/>
              </a:spcBef>
              <a:spcAft>
                <a:spcPct val="0"/>
              </a:spcAft>
            </a:pPr>
            <a:r>
              <a:rPr lang="en-US" altLang="en-US" sz="1400">
                <a:solidFill>
                  <a:srgbClr val="000000"/>
                </a:solidFill>
                <a:latin typeface="Consolas" panose="020B0609020204030204" pitchFamily="49" charset="0"/>
                <a:cs typeface="Courier New" panose="02070309020205020404" pitchFamily="49" charset="0"/>
              </a:rPr>
              <a:t>	results </a:t>
            </a:r>
            <a:r>
              <a:rPr lang="en-US" altLang="en-US" sz="1400">
                <a:solidFill>
                  <a:srgbClr val="9A6E3A"/>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 </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 </a:t>
            </a:r>
          </a:p>
          <a:p>
            <a:pPr lvl="0" eaLnBrk="0" fontAlgn="base" hangingPunct="0">
              <a:spcBef>
                <a:spcPct val="0"/>
              </a:spcBef>
              <a:spcAft>
                <a:spcPct val="0"/>
              </a:spcAft>
            </a:pPr>
            <a:r>
              <a:rPr lang="en-US" altLang="en-US" sz="1400">
                <a:solidFill>
                  <a:srgbClr val="000000"/>
                </a:solidFill>
                <a:latin typeface="Consolas" panose="020B0609020204030204" pitchFamily="49" charset="0"/>
                <a:cs typeface="Courier New" panose="02070309020205020404" pitchFamily="49" charset="0"/>
              </a:rPr>
              <a:t>	</a:t>
            </a:r>
            <a:r>
              <a:rPr lang="en-US" altLang="en-US" sz="1400">
                <a:solidFill>
                  <a:srgbClr val="0077AA"/>
                </a:solidFill>
                <a:latin typeface="Consolas" panose="020B0609020204030204" pitchFamily="49" charset="0"/>
                <a:cs typeface="Courier New" panose="02070309020205020404" pitchFamily="49" charset="0"/>
              </a:rPr>
              <a:t>for</a:t>
            </a:r>
            <a:r>
              <a:rPr lang="en-US" altLang="en-US" sz="1400">
                <a:solidFill>
                  <a:srgbClr val="000000"/>
                </a:solidFill>
                <a:latin typeface="Consolas" panose="020B0609020204030204" pitchFamily="49" charset="0"/>
                <a:cs typeface="Courier New" panose="02070309020205020404" pitchFamily="49" charset="0"/>
              </a:rPr>
              <a:t> i </a:t>
            </a:r>
            <a:r>
              <a:rPr lang="en-US" altLang="en-US" sz="1400">
                <a:solidFill>
                  <a:srgbClr val="0077AA"/>
                </a:solidFill>
                <a:latin typeface="Consolas" panose="020B0609020204030204" pitchFamily="49" charset="0"/>
                <a:cs typeface="Courier New" panose="02070309020205020404" pitchFamily="49" charset="0"/>
              </a:rPr>
              <a:t>in</a:t>
            </a:r>
            <a:r>
              <a:rPr lang="en-US" altLang="en-US" sz="1400">
                <a:solidFill>
                  <a:srgbClr val="000000"/>
                </a:solidFill>
                <a:latin typeface="Consolas" panose="020B0609020204030204" pitchFamily="49" charset="0"/>
                <a:cs typeface="Courier New" panose="02070309020205020404" pitchFamily="49" charset="0"/>
              </a:rPr>
              <a:t> </a:t>
            </a:r>
            <a:r>
              <a:rPr lang="en-US" altLang="en-US" sz="1400">
                <a:solidFill>
                  <a:srgbClr val="669900"/>
                </a:solidFill>
                <a:latin typeface="Consolas" panose="020B0609020204030204" pitchFamily="49" charset="0"/>
                <a:cs typeface="Courier New" panose="02070309020205020404" pitchFamily="49" charset="0"/>
              </a:rPr>
              <a:t>range</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669900"/>
                </a:solidFill>
                <a:latin typeface="Consolas" panose="020B0609020204030204" pitchFamily="49" charset="0"/>
                <a:cs typeface="Courier New" panose="02070309020205020404" pitchFamily="49" charset="0"/>
              </a:rPr>
              <a:t>len</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x_batch</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 </a:t>
            </a:r>
          </a:p>
          <a:p>
            <a:pPr lvl="0" eaLnBrk="0" fontAlgn="base" hangingPunct="0">
              <a:spcBef>
                <a:spcPct val="0"/>
              </a:spcBef>
              <a:spcAft>
                <a:spcPct val="0"/>
              </a:spcAft>
            </a:pPr>
            <a:r>
              <a:rPr lang="en-US" altLang="en-US" sz="1400">
                <a:solidFill>
                  <a:srgbClr val="000000"/>
                </a:solidFill>
                <a:latin typeface="Consolas" panose="020B0609020204030204" pitchFamily="49" charset="0"/>
                <a:cs typeface="Courier New" panose="02070309020205020404" pitchFamily="49" charset="0"/>
              </a:rPr>
              <a:t>		results</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append</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scalar_add</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x_batch</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i</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 y_batch</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i</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 </a:t>
            </a:r>
          </a:p>
          <a:p>
            <a:pPr lvl="0" eaLnBrk="0" fontAlgn="base" hangingPunct="0">
              <a:spcBef>
                <a:spcPct val="0"/>
              </a:spcBef>
              <a:spcAft>
                <a:spcPct val="0"/>
              </a:spcAft>
            </a:pPr>
            <a:r>
              <a:rPr lang="en-US" altLang="en-US" sz="1400">
                <a:solidFill>
                  <a:srgbClr val="000000"/>
                </a:solidFill>
                <a:latin typeface="Consolas" panose="020B0609020204030204" pitchFamily="49" charset="0"/>
                <a:cs typeface="Courier New" panose="02070309020205020404" pitchFamily="49" charset="0"/>
              </a:rPr>
              <a:t>	</a:t>
            </a:r>
            <a:r>
              <a:rPr lang="en-US" altLang="en-US" sz="1400">
                <a:solidFill>
                  <a:srgbClr val="0077AA"/>
                </a:solidFill>
                <a:latin typeface="Consolas" panose="020B0609020204030204" pitchFamily="49" charset="0"/>
                <a:cs typeface="Courier New" panose="02070309020205020404" pitchFamily="49" charset="0"/>
              </a:rPr>
              <a:t>return</a:t>
            </a:r>
            <a:r>
              <a:rPr lang="en-US" altLang="en-US" sz="1400">
                <a:solidFill>
                  <a:srgbClr val="000000"/>
                </a:solidFill>
                <a:latin typeface="Consolas" panose="020B0609020204030204" pitchFamily="49" charset="0"/>
                <a:cs typeface="Courier New" panose="02070309020205020404" pitchFamily="49" charset="0"/>
              </a:rPr>
              <a:t> jnp</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stack</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solidFill>
                  <a:srgbClr val="000000"/>
                </a:solidFill>
                <a:latin typeface="Consolas" panose="020B0609020204030204" pitchFamily="49" charset="0"/>
                <a:cs typeface="Courier New" panose="02070309020205020404" pitchFamily="49" charset="0"/>
              </a:rPr>
              <a:t>results</a:t>
            </a:r>
            <a:r>
              <a:rPr lang="en-US" altLang="en-US" sz="1400">
                <a:solidFill>
                  <a:srgbClr val="999999"/>
                </a:solidFill>
                <a:latin typeface="Consolas" panose="020B0609020204030204" pitchFamily="49" charset="0"/>
                <a:cs typeface="Courier New" panose="02070309020205020404" pitchFamily="49" charset="0"/>
              </a:rPr>
              <a:t>)</a:t>
            </a:r>
            <a:r>
              <a:rPr lang="en-US" altLang="en-US" sz="1400"/>
              <a:t> </a:t>
            </a:r>
            <a:endParaRPr lang="en-US" altLang="en-US" sz="14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74CB0E56-1DF0-93CC-9C67-5367371C8C74}"/>
              </a:ext>
            </a:extLst>
          </p:cNvPr>
          <p:cNvSpPr>
            <a:spLocks noChangeArrowheads="1"/>
          </p:cNvSpPr>
          <p:nvPr/>
        </p:nvSpPr>
        <p:spPr bwMode="auto">
          <a:xfrm>
            <a:off x="1920240" y="5421237"/>
            <a:ext cx="65" cy="437249"/>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5ED327ED-E3E7-AB25-773F-7F4CBEEEF87C}"/>
              </a:ext>
            </a:extLst>
          </p:cNvPr>
          <p:cNvSpPr txBox="1"/>
          <p:nvPr/>
        </p:nvSpPr>
        <p:spPr>
          <a:xfrm>
            <a:off x="1423416" y="317646"/>
            <a:ext cx="9345168" cy="584775"/>
          </a:xfrm>
          <a:prstGeom prst="rect">
            <a:avLst/>
          </a:prstGeom>
          <a:noFill/>
        </p:spPr>
        <p:txBody>
          <a:bodyPr wrap="square" rtlCol="0">
            <a:spAutoFit/>
          </a:bodyPr>
          <a:lstStyle/>
          <a:p>
            <a:pPr algn="ctr"/>
            <a:r>
              <a:rPr lang="en-US" sz="3200" b="1"/>
              <a:t>JAX Transformations - </a:t>
            </a:r>
            <a:r>
              <a:rPr lang="en-US" sz="3200" b="1" i="1"/>
              <a:t>vmap</a:t>
            </a:r>
          </a:p>
        </p:txBody>
      </p:sp>
      <p:sp>
        <p:nvSpPr>
          <p:cNvPr id="5" name="Rectangle 4">
            <a:extLst>
              <a:ext uri="{FF2B5EF4-FFF2-40B4-BE49-F238E27FC236}">
                <a16:creationId xmlns:a16="http://schemas.microsoft.com/office/drawing/2014/main" id="{E07E6FBE-4FBD-B556-DC29-64992C1D1948}"/>
              </a:ext>
            </a:extLst>
          </p:cNvPr>
          <p:cNvSpPr/>
          <p:nvPr/>
        </p:nvSpPr>
        <p:spPr>
          <a:xfrm>
            <a:off x="236220" y="182880"/>
            <a:ext cx="11719560" cy="64617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9C669967-D3D2-4A09-D517-F6E3A527F01C}"/>
              </a:ext>
            </a:extLst>
          </p:cNvPr>
          <p:cNvPicPr>
            <a:picLocks noChangeAspect="1"/>
          </p:cNvPicPr>
          <p:nvPr/>
        </p:nvPicPr>
        <p:blipFill>
          <a:blip r:embed="rId2"/>
          <a:stretch>
            <a:fillRect/>
          </a:stretch>
        </p:blipFill>
        <p:spPr>
          <a:xfrm>
            <a:off x="7328499" y="2862942"/>
            <a:ext cx="4410641" cy="2340580"/>
          </a:xfrm>
          <a:prstGeom prst="rect">
            <a:avLst/>
          </a:prstGeom>
        </p:spPr>
      </p:pic>
      <p:sp>
        <p:nvSpPr>
          <p:cNvPr id="8" name="TextBox 7">
            <a:extLst>
              <a:ext uri="{FF2B5EF4-FFF2-40B4-BE49-F238E27FC236}">
                <a16:creationId xmlns:a16="http://schemas.microsoft.com/office/drawing/2014/main" id="{9F94A022-8FAA-FC3E-3049-AEC759040A9C}"/>
              </a:ext>
            </a:extLst>
          </p:cNvPr>
          <p:cNvSpPr txBox="1"/>
          <p:nvPr/>
        </p:nvSpPr>
        <p:spPr>
          <a:xfrm>
            <a:off x="7705019" y="5316695"/>
            <a:ext cx="3657600" cy="707886"/>
          </a:xfrm>
          <a:prstGeom prst="rect">
            <a:avLst/>
          </a:prstGeom>
          <a:noFill/>
        </p:spPr>
        <p:txBody>
          <a:bodyPr wrap="square" rtlCol="0">
            <a:spAutoFit/>
          </a:bodyPr>
          <a:lstStyle/>
          <a:p>
            <a:r>
              <a:rPr lang="en-US" sz="2000"/>
              <a:t>Relative execution time for adding two vectors</a:t>
            </a:r>
            <a:endParaRPr lang="en-IN" sz="2000"/>
          </a:p>
        </p:txBody>
      </p:sp>
      <p:sp>
        <p:nvSpPr>
          <p:cNvPr id="10" name="Slide Number Placeholder 9">
            <a:extLst>
              <a:ext uri="{FF2B5EF4-FFF2-40B4-BE49-F238E27FC236}">
                <a16:creationId xmlns:a16="http://schemas.microsoft.com/office/drawing/2014/main" id="{076238BF-1503-EB06-6DC7-76E3AF26B705}"/>
              </a:ext>
            </a:extLst>
          </p:cNvPr>
          <p:cNvSpPr>
            <a:spLocks noGrp="1"/>
          </p:cNvSpPr>
          <p:nvPr>
            <p:ph type="sldNum" sz="quarter" idx="12"/>
          </p:nvPr>
        </p:nvSpPr>
        <p:spPr/>
        <p:txBody>
          <a:bodyPr/>
          <a:lstStyle/>
          <a:p>
            <a:fld id="{80CF0AD1-F62C-4FB8-9A3D-509C68BBEF0A}" type="slidenum">
              <a:rPr lang="en-IN" smtClean="0"/>
              <a:t>9</a:t>
            </a:fld>
            <a:endParaRPr lang="en-IN"/>
          </a:p>
        </p:txBody>
      </p:sp>
    </p:spTree>
    <p:extLst>
      <p:ext uri="{BB962C8B-B14F-4D97-AF65-F5344CB8AC3E}">
        <p14:creationId xmlns:p14="http://schemas.microsoft.com/office/powerpoint/2010/main" val="2971180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726AA-0B3F-C031-BC3D-30717599718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7943EC-B8EA-1AFF-50B5-846A1D94D701}"/>
              </a:ext>
            </a:extLst>
          </p:cNvPr>
          <p:cNvSpPr txBox="1"/>
          <p:nvPr/>
        </p:nvSpPr>
        <p:spPr>
          <a:xfrm>
            <a:off x="1684673" y="303421"/>
            <a:ext cx="9345168" cy="954107"/>
          </a:xfrm>
          <a:prstGeom prst="rect">
            <a:avLst/>
          </a:prstGeom>
          <a:noFill/>
        </p:spPr>
        <p:txBody>
          <a:bodyPr wrap="square" rtlCol="0">
            <a:spAutoFit/>
          </a:bodyPr>
          <a:lstStyle/>
          <a:p>
            <a:pPr algn="ctr"/>
            <a:r>
              <a:rPr lang="en-US" sz="3200" b="1"/>
              <a:t>JAX Transformations</a:t>
            </a:r>
          </a:p>
          <a:p>
            <a:pPr algn="ctr"/>
            <a:r>
              <a:rPr lang="en-US" sz="2400"/>
              <a:t>Automatic differentiation</a:t>
            </a:r>
            <a:endParaRPr lang="en-IN" sz="2400"/>
          </a:p>
        </p:txBody>
      </p:sp>
      <p:sp>
        <p:nvSpPr>
          <p:cNvPr id="4" name="Rectangle 3">
            <a:extLst>
              <a:ext uri="{FF2B5EF4-FFF2-40B4-BE49-F238E27FC236}">
                <a16:creationId xmlns:a16="http://schemas.microsoft.com/office/drawing/2014/main" id="{337F3710-4079-7691-46AC-CC054879C1BD}"/>
              </a:ext>
            </a:extLst>
          </p:cNvPr>
          <p:cNvSpPr/>
          <p:nvPr/>
        </p:nvSpPr>
        <p:spPr>
          <a:xfrm>
            <a:off x="236220" y="182880"/>
            <a:ext cx="11719560" cy="64617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DD29A56-19FE-50FE-2BF8-2D4D86152B09}"/>
              </a:ext>
            </a:extLst>
          </p:cNvPr>
          <p:cNvSpPr txBox="1"/>
          <p:nvPr/>
        </p:nvSpPr>
        <p:spPr>
          <a:xfrm>
            <a:off x="715407" y="1256350"/>
            <a:ext cx="11041163" cy="114704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b="0" i="0">
                <a:effectLst/>
              </a:rPr>
              <a:t>Exact derivatives of function - </a:t>
            </a:r>
            <a:r>
              <a:rPr lang="en-US" sz="2400" b="0" i="1">
                <a:effectLst/>
              </a:rPr>
              <a:t>jax.grad(some_function)</a:t>
            </a:r>
          </a:p>
          <a:p>
            <a:pPr marL="342900" indent="-342900">
              <a:lnSpc>
                <a:spcPct val="150000"/>
              </a:lnSpc>
              <a:buFont typeface="Arial" panose="020B0604020202020204" pitchFamily="34" charset="0"/>
              <a:buChar char="•"/>
            </a:pPr>
            <a:r>
              <a:rPr lang="en-US" sz="2400"/>
              <a:t>Using </a:t>
            </a:r>
            <a:r>
              <a:rPr lang="en-US" sz="2400" b="1"/>
              <a:t>chain rule</a:t>
            </a:r>
            <a:r>
              <a:rPr lang="en-US" sz="2400"/>
              <a:t>: Any complex function is a nested function of simpler ones.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F670101-78AA-602A-B397-CF6BBB9E5179}"/>
                  </a:ext>
                </a:extLst>
              </p:cNvPr>
              <p:cNvSpPr txBox="1"/>
              <p:nvPr/>
            </p:nvSpPr>
            <p:spPr>
              <a:xfrm>
                <a:off x="3282587" y="2520778"/>
                <a:ext cx="614934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𝐲</m:t>
                      </m:r>
                      <m:r>
                        <a:rPr lang="en-US" sz="2400" b="1" i="0" smtClean="0">
                          <a:latin typeface="Cambria Math" panose="02040503050406030204" pitchFamily="18" charset="0"/>
                        </a:rPr>
                        <m:t>=</m:t>
                      </m:r>
                      <m:r>
                        <a:rPr lang="en-US" sz="2400" b="1" i="0" smtClean="0">
                          <a:latin typeface="Cambria Math" panose="02040503050406030204" pitchFamily="18" charset="0"/>
                        </a:rPr>
                        <m:t>𝐟</m:t>
                      </m:r>
                      <m:d>
                        <m:dPr>
                          <m:ctrlPr>
                            <a:rPr lang="en-US" sz="2400" b="1" i="1" smtClean="0">
                              <a:latin typeface="Cambria Math" panose="02040503050406030204" pitchFamily="18" charset="0"/>
                            </a:rPr>
                          </m:ctrlPr>
                        </m:dPr>
                        <m:e>
                          <m:sSub>
                            <m:sSubPr>
                              <m:ctrlPr>
                                <a:rPr lang="en-US" sz="2400" b="1" i="1" smtClean="0">
                                  <a:latin typeface="Cambria Math" panose="02040503050406030204" pitchFamily="18" charset="0"/>
                                </a:rPr>
                              </m:ctrlPr>
                            </m:sSubPr>
                            <m:e>
                              <m:r>
                                <a:rPr lang="en-US" sz="2400" b="1" i="0" smtClean="0">
                                  <a:latin typeface="Cambria Math" panose="02040503050406030204" pitchFamily="18" charset="0"/>
                                </a:rPr>
                                <m:t>𝐱</m:t>
                              </m:r>
                            </m:e>
                            <m:sub>
                              <m:r>
                                <a:rPr lang="en-US" sz="2400" b="1" i="0" smtClean="0">
                                  <a:latin typeface="Cambria Math" panose="02040503050406030204" pitchFamily="18" charset="0"/>
                                </a:rPr>
                                <m:t>𝟏</m:t>
                              </m:r>
                            </m:sub>
                          </m:sSub>
                          <m:r>
                            <a:rPr lang="en-US" sz="2400" b="1" i="0" smtClean="0">
                              <a:latin typeface="Cambria Math" panose="02040503050406030204" pitchFamily="18" charset="0"/>
                            </a:rPr>
                            <m:t>,</m:t>
                          </m:r>
                          <m:sSub>
                            <m:sSubPr>
                              <m:ctrlPr>
                                <a:rPr lang="en-US" sz="2400" b="1" i="1" smtClean="0">
                                  <a:latin typeface="Cambria Math" panose="02040503050406030204" pitchFamily="18" charset="0"/>
                                </a:rPr>
                              </m:ctrlPr>
                            </m:sSubPr>
                            <m:e>
                              <m:r>
                                <a:rPr lang="en-US" sz="2400" b="1" i="0" smtClean="0">
                                  <a:latin typeface="Cambria Math" panose="02040503050406030204" pitchFamily="18" charset="0"/>
                                </a:rPr>
                                <m:t>𝐱</m:t>
                              </m:r>
                            </m:e>
                            <m:sub>
                              <m:r>
                                <a:rPr lang="en-US" sz="2400" b="1" i="0" smtClean="0">
                                  <a:latin typeface="Cambria Math" panose="02040503050406030204" pitchFamily="18" charset="0"/>
                                </a:rPr>
                                <m:t>𝟐</m:t>
                              </m:r>
                            </m:sub>
                          </m:sSub>
                        </m:e>
                      </m:d>
                      <m:r>
                        <a:rPr lang="en-US" sz="2400" b="1" i="0" smtClean="0">
                          <a:latin typeface="Cambria Math" panose="02040503050406030204" pitchFamily="18" charset="0"/>
                        </a:rPr>
                        <m:t>=</m:t>
                      </m:r>
                      <m:sSub>
                        <m:sSubPr>
                          <m:ctrlPr>
                            <a:rPr lang="en-US" sz="2400" b="1" i="1" smtClean="0">
                              <a:latin typeface="Cambria Math" panose="02040503050406030204" pitchFamily="18" charset="0"/>
                            </a:rPr>
                          </m:ctrlPr>
                        </m:sSubPr>
                        <m:e>
                          <m:r>
                            <a:rPr lang="en-US" sz="2400" b="1" i="0" smtClean="0">
                              <a:latin typeface="Cambria Math" panose="02040503050406030204" pitchFamily="18" charset="0"/>
                            </a:rPr>
                            <m:t>𝐱</m:t>
                          </m:r>
                        </m:e>
                        <m:sub>
                          <m:r>
                            <a:rPr lang="en-US" sz="2400" b="1" i="0" smtClean="0">
                              <a:latin typeface="Cambria Math" panose="02040503050406030204" pitchFamily="18" charset="0"/>
                            </a:rPr>
                            <m:t>𝟏</m:t>
                          </m:r>
                        </m:sub>
                      </m:sSub>
                      <m:sSub>
                        <m:sSubPr>
                          <m:ctrlPr>
                            <a:rPr lang="en-US" sz="2400" b="1" i="1" smtClean="0">
                              <a:latin typeface="Cambria Math" panose="02040503050406030204" pitchFamily="18" charset="0"/>
                            </a:rPr>
                          </m:ctrlPr>
                        </m:sSubPr>
                        <m:e>
                          <m:r>
                            <a:rPr lang="en-US" sz="2400" b="1" i="0" smtClean="0">
                              <a:latin typeface="Cambria Math" panose="02040503050406030204" pitchFamily="18" charset="0"/>
                            </a:rPr>
                            <m:t>𝐱</m:t>
                          </m:r>
                        </m:e>
                        <m:sub>
                          <m:r>
                            <a:rPr lang="en-US" sz="2400" b="1" i="0" smtClean="0">
                              <a:latin typeface="Cambria Math" panose="02040503050406030204" pitchFamily="18" charset="0"/>
                            </a:rPr>
                            <m:t>𝟐</m:t>
                          </m:r>
                        </m:sub>
                      </m:sSub>
                      <m:r>
                        <a:rPr lang="en-US" sz="2400" b="1" i="0" smtClean="0">
                          <a:latin typeface="Cambria Math" panose="02040503050406030204" pitchFamily="18" charset="0"/>
                        </a:rPr>
                        <m:t>+</m:t>
                      </m:r>
                      <m:func>
                        <m:funcPr>
                          <m:ctrlPr>
                            <a:rPr lang="en-US" sz="2400" b="1" i="1" smtClean="0">
                              <a:latin typeface="Cambria Math" panose="02040503050406030204" pitchFamily="18" charset="0"/>
                            </a:rPr>
                          </m:ctrlPr>
                        </m:funcPr>
                        <m:fName>
                          <m:r>
                            <a:rPr lang="en-US" sz="2400" b="1" i="0" smtClean="0">
                              <a:latin typeface="Cambria Math" panose="02040503050406030204" pitchFamily="18" charset="0"/>
                            </a:rPr>
                            <m:t>𝐬𝐢𝐧</m:t>
                          </m:r>
                        </m:fName>
                        <m:e>
                          <m:sSub>
                            <m:sSubPr>
                              <m:ctrlPr>
                                <a:rPr lang="en-US" sz="2400" b="1" i="1" smtClean="0">
                                  <a:latin typeface="Cambria Math" panose="02040503050406030204" pitchFamily="18" charset="0"/>
                                </a:rPr>
                              </m:ctrlPr>
                            </m:sSubPr>
                            <m:e>
                              <m:r>
                                <a:rPr lang="en-US" sz="2400" b="1" i="0" smtClean="0">
                                  <a:latin typeface="Cambria Math" panose="02040503050406030204" pitchFamily="18" charset="0"/>
                                </a:rPr>
                                <m:t>𝐱</m:t>
                              </m:r>
                            </m:e>
                            <m:sub>
                              <m:r>
                                <a:rPr lang="en-US" sz="2400" b="1" i="0" smtClean="0">
                                  <a:latin typeface="Cambria Math" panose="02040503050406030204" pitchFamily="18" charset="0"/>
                                </a:rPr>
                                <m:t>𝟏</m:t>
                              </m:r>
                            </m:sub>
                          </m:sSub>
                        </m:e>
                      </m:func>
                    </m:oMath>
                  </m:oMathPara>
                </a14:m>
                <a:endParaRPr lang="en-IN" sz="2400" b="1"/>
              </a:p>
            </p:txBody>
          </p:sp>
        </mc:Choice>
        <mc:Fallback xmlns="">
          <p:sp>
            <p:nvSpPr>
              <p:cNvPr id="7" name="TextBox 6">
                <a:extLst>
                  <a:ext uri="{FF2B5EF4-FFF2-40B4-BE49-F238E27FC236}">
                    <a16:creationId xmlns:a16="http://schemas.microsoft.com/office/drawing/2014/main" id="{EF670101-78AA-602A-B397-CF6BBB9E5179}"/>
                  </a:ext>
                </a:extLst>
              </p:cNvPr>
              <p:cNvSpPr txBox="1">
                <a:spLocks noRot="1" noChangeAspect="1" noMove="1" noResize="1" noEditPoints="1" noAdjustHandles="1" noChangeArrowheads="1" noChangeShapeType="1" noTextEdit="1"/>
              </p:cNvSpPr>
              <p:nvPr/>
            </p:nvSpPr>
            <p:spPr>
              <a:xfrm>
                <a:off x="3282587" y="2520778"/>
                <a:ext cx="6149340" cy="461665"/>
              </a:xfrm>
              <a:prstGeom prst="rect">
                <a:avLst/>
              </a:prstGeom>
              <a:blipFill>
                <a:blip r:embed="rId3"/>
                <a:stretch>
                  <a:fillRect b="-10667"/>
                </a:stretch>
              </a:blipFill>
            </p:spPr>
            <p:txBody>
              <a:bodyPr/>
              <a:lstStyle/>
              <a:p>
                <a:r>
                  <a:rPr lang="en-IN">
                    <a:noFill/>
                  </a:rPr>
                  <a:t> </a:t>
                </a:r>
              </a:p>
            </p:txBody>
          </p:sp>
        </mc:Fallback>
      </mc:AlternateContent>
      <p:pic>
        <p:nvPicPr>
          <p:cNvPr id="18445" name="Picture 13" descr="undefined">
            <a:extLst>
              <a:ext uri="{FF2B5EF4-FFF2-40B4-BE49-F238E27FC236}">
                <a16:creationId xmlns:a16="http://schemas.microsoft.com/office/drawing/2014/main" id="{47BC6DB2-D1A3-E7A4-0522-5D50471112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6599" y="3165541"/>
            <a:ext cx="3489593" cy="1782964"/>
          </a:xfrm>
          <a:prstGeom prst="rect">
            <a:avLst/>
          </a:prstGeom>
          <a:noFill/>
          <a:extLst>
            <a:ext uri="{909E8E84-426E-40DD-AFC4-6F175D3DCCD1}">
              <a14:hiddenFill xmlns:a14="http://schemas.microsoft.com/office/drawing/2010/main">
                <a:solidFill>
                  <a:srgbClr val="FFFFFF"/>
                </a:solidFill>
              </a14:hiddenFill>
            </a:ext>
          </a:extLst>
        </p:spPr>
      </p:pic>
      <p:pic>
        <p:nvPicPr>
          <p:cNvPr id="18447" name="Picture 15" descr="undefined">
            <a:extLst>
              <a:ext uri="{FF2B5EF4-FFF2-40B4-BE49-F238E27FC236}">
                <a16:creationId xmlns:a16="http://schemas.microsoft.com/office/drawing/2014/main" id="{7A8DCEA1-9E78-1EFD-6342-EE58704750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34734" y="3165541"/>
            <a:ext cx="3152503" cy="1837934"/>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43B9396E-DCDC-E734-F5A1-17CFFC179D1C}"/>
              </a:ext>
            </a:extLst>
          </p:cNvPr>
          <p:cNvSpPr txBox="1"/>
          <p:nvPr/>
        </p:nvSpPr>
        <p:spPr>
          <a:xfrm>
            <a:off x="868229" y="5340419"/>
            <a:ext cx="10756156" cy="1147045"/>
          </a:xfrm>
          <a:prstGeom prst="rect">
            <a:avLst/>
          </a:prstGeom>
          <a:noFill/>
        </p:spPr>
        <p:txBody>
          <a:bodyPr wrap="square" rtlCol="0">
            <a:spAutoFit/>
          </a:bodyPr>
          <a:lstStyle/>
          <a:p>
            <a:pPr>
              <a:lnSpc>
                <a:spcPct val="150000"/>
              </a:lnSpc>
            </a:pPr>
            <a:r>
              <a:rPr lang="en-US" sz="2400"/>
              <a:t>JAX: Both forward mode and backward mode</a:t>
            </a:r>
          </a:p>
          <a:p>
            <a:pPr>
              <a:lnSpc>
                <a:spcPct val="150000"/>
              </a:lnSpc>
            </a:pPr>
            <a:r>
              <a:rPr lang="en-US" sz="2400"/>
              <a:t>Others: Only back propogation</a:t>
            </a:r>
            <a:endParaRPr lang="en-IN" sz="2400"/>
          </a:p>
        </p:txBody>
      </p:sp>
      <p:pic>
        <p:nvPicPr>
          <p:cNvPr id="21" name="Picture 2">
            <a:extLst>
              <a:ext uri="{FF2B5EF4-FFF2-40B4-BE49-F238E27FC236}">
                <a16:creationId xmlns:a16="http://schemas.microsoft.com/office/drawing/2014/main" id="{E420901D-FDC6-4ED7-4B81-002395DD93D3}"/>
              </a:ext>
            </a:extLst>
          </p:cNvPr>
          <p:cNvPicPr>
            <a:picLocks noChangeAspect="1" noChangeArrowheads="1"/>
          </p:cNvPicPr>
          <p:nvPr/>
        </p:nvPicPr>
        <p:blipFill>
          <a:blip r:embed="rId6">
            <a:alphaModFix amt="6000"/>
            <a:extLst>
              <a:ext uri="{28A0092B-C50C-407E-A947-70E740481C1C}">
                <a14:useLocalDpi xmlns:a14="http://schemas.microsoft.com/office/drawing/2010/main" val="0"/>
              </a:ext>
            </a:extLst>
          </a:blip>
          <a:srcRect/>
          <a:stretch>
            <a:fillRect/>
          </a:stretch>
        </p:blipFill>
        <p:spPr bwMode="auto">
          <a:xfrm>
            <a:off x="12925046" y="-2710464"/>
            <a:ext cx="9345168" cy="5420928"/>
          </a:xfrm>
          <a:prstGeom prst="rect">
            <a:avLst/>
          </a:prstGeom>
          <a:noFill/>
          <a:effectLst>
            <a:outerShdw blurRad="50800" dist="50800" dir="5400000" algn="ctr" rotWithShape="0">
              <a:srgbClr val="000000"/>
            </a:outerShdw>
            <a:reflection stA="0" endPos="65000" dist="50800" dir="5400000" sy="-100000" algn="bl" rotWithShape="0"/>
          </a:effectLst>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308A309D-0ADD-EF52-98FD-AB92B3BD1514}"/>
              </a:ext>
            </a:extLst>
          </p:cNvPr>
          <p:cNvSpPr txBox="1"/>
          <p:nvPr/>
        </p:nvSpPr>
        <p:spPr>
          <a:xfrm>
            <a:off x="2683305" y="4895623"/>
            <a:ext cx="11219934" cy="369332"/>
          </a:xfrm>
          <a:prstGeom prst="rect">
            <a:avLst/>
          </a:prstGeom>
          <a:noFill/>
        </p:spPr>
        <p:txBody>
          <a:bodyPr wrap="square">
            <a:spAutoFit/>
          </a:bodyPr>
          <a:lstStyle/>
          <a:p>
            <a:r>
              <a:rPr lang="en-US" sz="1800" b="1"/>
              <a:t>Forward mode </a:t>
            </a:r>
            <a:endParaRPr lang="en-IN" b="1"/>
          </a:p>
        </p:txBody>
      </p:sp>
      <p:sp>
        <p:nvSpPr>
          <p:cNvPr id="25" name="TextBox 24">
            <a:extLst>
              <a:ext uri="{FF2B5EF4-FFF2-40B4-BE49-F238E27FC236}">
                <a16:creationId xmlns:a16="http://schemas.microsoft.com/office/drawing/2014/main" id="{BA33BFC9-D823-ED40-6B88-9F9CB9F63582}"/>
              </a:ext>
            </a:extLst>
          </p:cNvPr>
          <p:cNvSpPr txBox="1"/>
          <p:nvPr/>
        </p:nvSpPr>
        <p:spPr>
          <a:xfrm>
            <a:off x="7713277" y="4927931"/>
            <a:ext cx="11219934" cy="369332"/>
          </a:xfrm>
          <a:prstGeom prst="rect">
            <a:avLst/>
          </a:prstGeom>
          <a:noFill/>
        </p:spPr>
        <p:txBody>
          <a:bodyPr wrap="square">
            <a:spAutoFit/>
          </a:bodyPr>
          <a:lstStyle/>
          <a:p>
            <a:r>
              <a:rPr lang="en-US" b="1"/>
              <a:t>B</a:t>
            </a:r>
            <a:r>
              <a:rPr lang="en-US" sz="1800" b="1"/>
              <a:t>ackward mode</a:t>
            </a:r>
            <a:endParaRPr lang="en-IN" b="1"/>
          </a:p>
        </p:txBody>
      </p:sp>
      <p:sp>
        <p:nvSpPr>
          <p:cNvPr id="26" name="Slide Number Placeholder 25">
            <a:extLst>
              <a:ext uri="{FF2B5EF4-FFF2-40B4-BE49-F238E27FC236}">
                <a16:creationId xmlns:a16="http://schemas.microsoft.com/office/drawing/2014/main" id="{A1D8785E-4939-21C9-81D3-6CE4E68DE496}"/>
              </a:ext>
            </a:extLst>
          </p:cNvPr>
          <p:cNvSpPr>
            <a:spLocks noGrp="1"/>
          </p:cNvSpPr>
          <p:nvPr>
            <p:ph type="sldNum" sz="quarter" idx="12"/>
          </p:nvPr>
        </p:nvSpPr>
        <p:spPr/>
        <p:txBody>
          <a:bodyPr/>
          <a:lstStyle/>
          <a:p>
            <a:fld id="{80CF0AD1-F62C-4FB8-9A3D-509C68BBEF0A}" type="slidenum">
              <a:rPr lang="en-IN" smtClean="0"/>
              <a:t>10</a:t>
            </a:fld>
            <a:endParaRPr lang="en-IN"/>
          </a:p>
        </p:txBody>
      </p:sp>
    </p:spTree>
    <p:extLst>
      <p:ext uri="{BB962C8B-B14F-4D97-AF65-F5344CB8AC3E}">
        <p14:creationId xmlns:p14="http://schemas.microsoft.com/office/powerpoint/2010/main" val="3395233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79DDC-48BD-CAD6-08CE-FD03C37811D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8D9E906-108C-48F8-F722-6FD48883BA24}"/>
              </a:ext>
            </a:extLst>
          </p:cNvPr>
          <p:cNvSpPr txBox="1"/>
          <p:nvPr/>
        </p:nvSpPr>
        <p:spPr>
          <a:xfrm>
            <a:off x="1423416" y="317646"/>
            <a:ext cx="9345168" cy="1446550"/>
          </a:xfrm>
          <a:prstGeom prst="rect">
            <a:avLst/>
          </a:prstGeom>
          <a:noFill/>
        </p:spPr>
        <p:txBody>
          <a:bodyPr wrap="square" rtlCol="0">
            <a:spAutoFit/>
          </a:bodyPr>
          <a:lstStyle/>
          <a:p>
            <a:pPr algn="ctr"/>
            <a:r>
              <a:rPr lang="en-US" sz="4400" b="1"/>
              <a:t>Conclusion</a:t>
            </a:r>
          </a:p>
          <a:p>
            <a:pPr algn="ctr"/>
            <a:endParaRPr lang="en-US" sz="4400" b="1"/>
          </a:p>
        </p:txBody>
      </p:sp>
      <p:sp>
        <p:nvSpPr>
          <p:cNvPr id="10" name="TextBox 9">
            <a:extLst>
              <a:ext uri="{FF2B5EF4-FFF2-40B4-BE49-F238E27FC236}">
                <a16:creationId xmlns:a16="http://schemas.microsoft.com/office/drawing/2014/main" id="{A1EFD60E-57BA-E634-BCAE-2BD517C0F4DB}"/>
              </a:ext>
            </a:extLst>
          </p:cNvPr>
          <p:cNvSpPr txBox="1"/>
          <p:nvPr/>
        </p:nvSpPr>
        <p:spPr>
          <a:xfrm>
            <a:off x="959305" y="2799898"/>
            <a:ext cx="9044629" cy="2809039"/>
          </a:xfrm>
          <a:prstGeom prst="rect">
            <a:avLst/>
          </a:prstGeom>
          <a:noFill/>
        </p:spPr>
        <p:txBody>
          <a:bodyPr wrap="square">
            <a:spAutoFit/>
          </a:bodyPr>
          <a:lstStyle/>
          <a:p>
            <a:pPr>
              <a:lnSpc>
                <a:spcPct val="150000"/>
              </a:lnSpc>
            </a:pPr>
            <a:r>
              <a:rPr lang="en-US" sz="2400" b="1"/>
              <a:t>Disadvantages</a:t>
            </a:r>
          </a:p>
          <a:p>
            <a:pPr marL="342900" indent="-342900">
              <a:lnSpc>
                <a:spcPct val="150000"/>
              </a:lnSpc>
              <a:buFont typeface="Arial" panose="020B0604020202020204" pitchFamily="34" charset="0"/>
              <a:buChar char="•"/>
            </a:pPr>
            <a:r>
              <a:rPr lang="en-US" sz="2400"/>
              <a:t>L</a:t>
            </a:r>
            <a:r>
              <a:rPr lang="en-US" sz="2400" i="0">
                <a:effectLst/>
              </a:rPr>
              <a:t>imited higher-level libraries</a:t>
            </a:r>
          </a:p>
          <a:p>
            <a:pPr marL="342900" indent="-342900">
              <a:lnSpc>
                <a:spcPct val="150000"/>
              </a:lnSpc>
              <a:buFont typeface="Arial" panose="020B0604020202020204" pitchFamily="34" charset="0"/>
              <a:buChar char="•"/>
            </a:pPr>
            <a:r>
              <a:rPr lang="en-US" sz="2400" i="0">
                <a:effectLst/>
              </a:rPr>
              <a:t>Per-op dispatch overhead not fully optimized.</a:t>
            </a:r>
          </a:p>
          <a:p>
            <a:pPr marL="342900" indent="-342900">
              <a:lnSpc>
                <a:spcPct val="150000"/>
              </a:lnSpc>
              <a:buFont typeface="Arial" panose="020B0604020202020204" pitchFamily="34" charset="0"/>
              <a:buChar char="•"/>
            </a:pPr>
            <a:r>
              <a:rPr lang="en-US" sz="2400"/>
              <a:t>Transforms only work on pure functions.</a:t>
            </a:r>
          </a:p>
          <a:p>
            <a:pPr marL="342900" indent="-342900">
              <a:lnSpc>
                <a:spcPct val="150000"/>
              </a:lnSpc>
              <a:buFont typeface="Arial" panose="020B0604020202020204" pitchFamily="34" charset="0"/>
              <a:buChar char="•"/>
            </a:pPr>
            <a:r>
              <a:rPr lang="en-US" sz="2400"/>
              <a:t>Debugging tricky if JIT-compiled.</a:t>
            </a:r>
            <a:endParaRPr lang="en-IN" sz="2400" i="0">
              <a:solidFill>
                <a:srgbClr val="B9B9AD"/>
              </a:solidFill>
              <a:effectLst/>
            </a:endParaRPr>
          </a:p>
        </p:txBody>
      </p:sp>
      <p:sp>
        <p:nvSpPr>
          <p:cNvPr id="6" name="Rectangle 5">
            <a:extLst>
              <a:ext uri="{FF2B5EF4-FFF2-40B4-BE49-F238E27FC236}">
                <a16:creationId xmlns:a16="http://schemas.microsoft.com/office/drawing/2014/main" id="{65310479-2912-8425-F64A-8D1339015133}"/>
              </a:ext>
            </a:extLst>
          </p:cNvPr>
          <p:cNvSpPr/>
          <p:nvPr/>
        </p:nvSpPr>
        <p:spPr>
          <a:xfrm>
            <a:off x="236220" y="182880"/>
            <a:ext cx="11719560" cy="64617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146" name="Picture 2" descr="Google DeepMind — Klu">
            <a:extLst>
              <a:ext uri="{FF2B5EF4-FFF2-40B4-BE49-F238E27FC236}">
                <a16:creationId xmlns:a16="http://schemas.microsoft.com/office/drawing/2014/main" id="{20E4C17C-3FD7-74A3-45FE-9AEDDB6EA6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2055" y="1492588"/>
            <a:ext cx="1611015" cy="84708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Waymo - Wikipedia">
            <a:extLst>
              <a:ext uri="{FF2B5EF4-FFF2-40B4-BE49-F238E27FC236}">
                <a16:creationId xmlns:a16="http://schemas.microsoft.com/office/drawing/2014/main" id="{75F40F3C-76C3-5B39-B8E0-A9C585AA9B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1620" y="1471777"/>
            <a:ext cx="1201051" cy="850182"/>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6" descr="Anthropic Announces Claude Can Now Search The Web - 9meters">
            <a:extLst>
              <a:ext uri="{FF2B5EF4-FFF2-40B4-BE49-F238E27FC236}">
                <a16:creationId xmlns:a16="http://schemas.microsoft.com/office/drawing/2014/main" id="{979A46A6-A145-9B61-D824-46C6752369E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152" name="Picture 8" descr="Anthropic Announces Claude Can Now ...">
            <a:extLst>
              <a:ext uri="{FF2B5EF4-FFF2-40B4-BE49-F238E27FC236}">
                <a16:creationId xmlns:a16="http://schemas.microsoft.com/office/drawing/2014/main" id="{16CA0C76-2FEE-1656-5428-580CE0B554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78931" y="1474877"/>
            <a:ext cx="1272937" cy="847082"/>
          </a:xfrm>
          <a:prstGeom prst="rect">
            <a:avLst/>
          </a:prstGeom>
          <a:noFill/>
          <a:extLst>
            <a:ext uri="{909E8E84-426E-40DD-AFC4-6F175D3DCCD1}">
              <a14:hiddenFill xmlns:a14="http://schemas.microsoft.com/office/drawing/2010/main">
                <a:solidFill>
                  <a:srgbClr val="FFFFFF"/>
                </a:solidFill>
              </a14:hiddenFill>
            </a:ext>
          </a:extLst>
        </p:spPr>
      </p:pic>
      <p:sp>
        <p:nvSpPr>
          <p:cNvPr id="12" name="Slide Number Placeholder 11">
            <a:extLst>
              <a:ext uri="{FF2B5EF4-FFF2-40B4-BE49-F238E27FC236}">
                <a16:creationId xmlns:a16="http://schemas.microsoft.com/office/drawing/2014/main" id="{F603927A-893E-4101-1BB4-973FE212F27C}"/>
              </a:ext>
            </a:extLst>
          </p:cNvPr>
          <p:cNvSpPr>
            <a:spLocks noGrp="1"/>
          </p:cNvSpPr>
          <p:nvPr>
            <p:ph type="sldNum" sz="quarter" idx="12"/>
          </p:nvPr>
        </p:nvSpPr>
        <p:spPr/>
        <p:txBody>
          <a:bodyPr/>
          <a:lstStyle/>
          <a:p>
            <a:fld id="{80CF0AD1-F62C-4FB8-9A3D-509C68BBEF0A}" type="slidenum">
              <a:rPr lang="en-IN" smtClean="0"/>
              <a:t>11</a:t>
            </a:fld>
            <a:endParaRPr lang="en-IN"/>
          </a:p>
        </p:txBody>
      </p:sp>
    </p:spTree>
    <p:extLst>
      <p:ext uri="{BB962C8B-B14F-4D97-AF65-F5344CB8AC3E}">
        <p14:creationId xmlns:p14="http://schemas.microsoft.com/office/powerpoint/2010/main" val="11813448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10588</TotalTime>
  <Words>1702</Words>
  <Application>Microsoft Macintosh PowerPoint</Application>
  <PresentationFormat>Widescreen</PresentationFormat>
  <Paragraphs>146</Paragraphs>
  <Slides>11</Slides>
  <Notes>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11</vt:i4>
      </vt:variant>
    </vt:vector>
  </HeadingPairs>
  <TitlesOfParts>
    <vt:vector size="24" baseType="lpstr">
      <vt:lpstr>-apple-system</vt:lpstr>
      <vt:lpstr>Aptos</vt:lpstr>
      <vt:lpstr>Aptos Display</vt:lpstr>
      <vt:lpstr>Arial</vt:lpstr>
      <vt:lpstr>Cambria Math</vt:lpstr>
      <vt:lpstr>Consolas</vt:lpstr>
      <vt:lpstr>Monument Grotesk</vt:lpstr>
      <vt:lpstr>proxima-n-w01-reg</vt:lpstr>
      <vt:lpstr>sohne</vt:lpstr>
      <vt:lpstr>source-serif-pro</vt:lpstr>
      <vt:lpstr>Wingdings</vt:lpstr>
      <vt:lpstr>Work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 Amalaruban</dc:creator>
  <cp:lastModifiedBy>Ashwin Amalaruban M</cp:lastModifiedBy>
  <cp:revision>28</cp:revision>
  <dcterms:created xsi:type="dcterms:W3CDTF">2025-05-13T22:26:33Z</dcterms:created>
  <dcterms:modified xsi:type="dcterms:W3CDTF">2026-02-28T22:52:25Z</dcterms:modified>
</cp:coreProperties>
</file>