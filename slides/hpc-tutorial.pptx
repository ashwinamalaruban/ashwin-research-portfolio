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74" r:id="rId4"/>
    <p:sldId id="281" r:id="rId5"/>
    <p:sldId id="275" r:id="rId6"/>
    <p:sldId id="271" r:id="rId7"/>
    <p:sldId id="270" r:id="rId8"/>
    <p:sldId id="258" r:id="rId9"/>
    <p:sldId id="259" r:id="rId10"/>
    <p:sldId id="273" r:id="rId11"/>
    <p:sldId id="269" r:id="rId12"/>
    <p:sldId id="276" r:id="rId13"/>
    <p:sldId id="283" r:id="rId14"/>
    <p:sldId id="284" r:id="rId15"/>
    <p:sldId id="286" r:id="rId16"/>
    <p:sldId id="268" r:id="rId17"/>
    <p:sldId id="282" r:id="rId18"/>
    <p:sldId id="291" r:id="rId19"/>
    <p:sldId id="290" r:id="rId20"/>
    <p:sldId id="285" r:id="rId21"/>
    <p:sldId id="261" r:id="rId22"/>
    <p:sldId id="264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F3FF7-16B9-264E-82AC-AB56D44167A3}" v="156" dt="2025-04-03T03:11:55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7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8CA8-0BAA-616C-34C1-DF4B80E0B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570D5-CB0C-8B74-E67E-8E953C20E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B6A4-1F5A-7BB1-BC80-8F84A26F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D1A2-765F-C055-37EB-3D0476D1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E943-CA69-D0FA-9B1E-B0664C03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8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87F3-72ED-49D3-6828-FB91CDE78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8892-AF5B-AFF5-D543-D992C0229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14803-E2D0-7B76-282E-C0E43394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B084-2C32-C9FB-9D0B-E6E019B1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A70F9-DCD9-C29B-A940-33E5C3E7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6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2AB9-0C37-3435-580C-5E5D3738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E1685-10D6-4A50-42C1-E298799DE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1D94A-AC9C-134A-68C7-E0B8BBE1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26448-FA2E-92B5-13C9-975C5F06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B2CC-16A6-C191-BE53-23DD6983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0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EE37-5B65-B269-17D8-437E1ED8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B6A3-7B42-69E2-C63C-3127A78F6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0C57B-1FDF-9168-B996-D2EC2027C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9F871-1921-1175-34A6-CBACAFA0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2EB8C-4694-28CB-20FA-E3D55927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C938F-35A5-1344-CD03-49247603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2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D114-93E5-7062-2E78-275499C5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010B8-7985-1B7F-61F2-C12556982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D726C-4B99-BE6F-F30F-4679C4BCD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62969-38CD-DBBF-F669-31E5E9FD6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41E7B-9DF0-9051-23EC-8DF5629CB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7F554-F82A-E934-B95F-6A07F94D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87664-A5F1-48B2-1D38-06A62CD4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941EE-B84C-0E2A-6DA0-BB0008CF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9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3A43-BD48-851E-CC09-442B78BD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FFDC2-A71D-EC47-0B77-F684DCE2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F58EF-59EB-4CD9-8C6F-D822A1F9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5AC27-C745-CE73-4848-7DBE3C0B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8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DAE28-F562-25FF-6A94-91D1D47C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C0A3A-7E7B-74C6-2756-0C1B5D35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14137-B9FA-855C-0861-07457D36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1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6B65-3D76-C645-2937-60188416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8766-920E-5E76-FDC8-729FB53E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C5C62-7940-383A-0FAB-37128FE2D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896E-29EE-5300-FC6D-5F5472EC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08CD-4710-E263-83FC-B8F03A59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9B1D7-33EE-AD8C-AAAE-49CFB38A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1E2F-F0B4-B4FF-1127-A22A7B80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4D032-3616-1502-E77B-A0EBD3747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24B82-5196-0AF9-7391-B7B5CB38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FE604-8B0B-C53C-82CE-4C86F39F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4EF3D-1C65-0CA4-13E8-33787631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CFC0B-EBE6-513F-14B3-C2C06F13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4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9665-9DFB-8CE4-075F-28E573A2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CFD34-5397-3CD9-21D7-ECDF75E24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1033-7AA1-AD9C-50CB-A0E5C520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AF2C-80F4-7952-CBCF-FA0E98A7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02416-1216-0F87-A694-A9E7CFAB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7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C2796-9A9F-42C8-2143-872319488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B50D7-9B6F-F07D-D352-86AD8553B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362C6-0D39-C7A4-EF7F-70FBB0F4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CB965-E9C6-3E9B-6F86-69D29275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49D1-603E-AD84-8D20-8A570B68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4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A795F-7E8C-A7F4-3A52-F59D80E4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D2C2D-1B7F-B812-C796-B3F67AF04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9DA97-B437-BF19-857B-9F8F0F326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24801-F211-D24A-987E-99A245E1ECD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DAF9-9DCD-9106-AC15-F35C87EBB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D5EE2-EE55-8410-8C64-78481F136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0DF90-1767-A147-91C9-F6783BDA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0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hyperlink" Target="https://mobaxterm.mobatek.net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ondemand.anvil.rcac.purdue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2A5A-2120-ACD1-1771-40E16E7B8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C00000"/>
                </a:solidFill>
              </a:rPr>
              <a:t>HPC</a:t>
            </a:r>
            <a:r>
              <a:rPr lang="zh-TW" altLang="en-US" b="1" dirty="0">
                <a:solidFill>
                  <a:srgbClr val="C00000"/>
                </a:solidFill>
              </a:rPr>
              <a:t> </a:t>
            </a:r>
            <a:r>
              <a:rPr lang="en-US" altLang="zh-TW" b="1" dirty="0">
                <a:solidFill>
                  <a:srgbClr val="C00000"/>
                </a:solidFill>
              </a:rPr>
              <a:t>tutorial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50D22-0DA4-6CCC-9E82-7FB375659D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Aviran’s</a:t>
            </a:r>
            <a:r>
              <a:rPr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</a:t>
            </a:r>
          </a:p>
          <a:p>
            <a:r>
              <a:rPr lang="en-US" altLang="zh-TW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Ashwin &amp;</a:t>
            </a:r>
            <a:r>
              <a:rPr lang="zh-TW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Chris</a:t>
            </a:r>
          </a:p>
        </p:txBody>
      </p:sp>
    </p:spTree>
    <p:extLst>
      <p:ext uri="{BB962C8B-B14F-4D97-AF65-F5344CB8AC3E}">
        <p14:creationId xmlns:p14="http://schemas.microsoft.com/office/powerpoint/2010/main" val="2567747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5F68-D00D-90DF-AA9F-AC1DA9E1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B80A47-E8CD-E363-245D-8A5DE4EDC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458494"/>
              </p:ext>
            </p:extLst>
          </p:nvPr>
        </p:nvGraphicFramePr>
        <p:xfrm>
          <a:off x="1719013" y="1690688"/>
          <a:ext cx="8753974" cy="431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657">
                  <a:extLst>
                    <a:ext uri="{9D8B030D-6E8A-4147-A177-3AD203B41FA5}">
                      <a16:colId xmlns:a16="http://schemas.microsoft.com/office/drawing/2014/main" val="1897157978"/>
                    </a:ext>
                  </a:extLst>
                </a:gridCol>
                <a:gridCol w="7115317">
                  <a:extLst>
                    <a:ext uri="{9D8B030D-6E8A-4147-A177-3AD203B41FA5}">
                      <a16:colId xmlns:a16="http://schemas.microsoft.com/office/drawing/2014/main" val="3338677093"/>
                    </a:ext>
                  </a:extLst>
                </a:gridCol>
              </a:tblGrid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Section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/>
                        <a:t>Topics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90624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Basic Linux commands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823596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II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Login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to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the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cluster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via</a:t>
                      </a:r>
                      <a:r>
                        <a:rPr lang="zh-TW" altLang="en-US" sz="2400" dirty="0"/>
                        <a:t> </a:t>
                      </a:r>
                      <a:r>
                        <a:rPr lang="en-US" altLang="zh-TW" sz="2400" dirty="0"/>
                        <a:t>SSH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080277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III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PATH variable and 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288068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IV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Package 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89567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r>
                        <a:rPr lang="en-US" sz="2400"/>
                        <a:t>Extras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Transfer file to a remote server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756588"/>
                  </a:ext>
                </a:extLst>
              </a:tr>
              <a:tr h="617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Extras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VScode</a:t>
                      </a:r>
                      <a:r>
                        <a:rPr lang="en-US" sz="2400" dirty="0"/>
                        <a:t> remote development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60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84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A434E-883A-5BE2-F782-CA6D270DBDF6}"/>
              </a:ext>
            </a:extLst>
          </p:cNvPr>
          <p:cNvSpPr txBox="1"/>
          <p:nvPr/>
        </p:nvSpPr>
        <p:spPr>
          <a:xfrm>
            <a:off x="2633472" y="329184"/>
            <a:ext cx="74615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Basic Linux commands</a:t>
            </a:r>
          </a:p>
          <a:p>
            <a:pPr algn="ctr"/>
            <a:r>
              <a:rPr lang="en-US" sz="3200"/>
              <a:t>Navigation</a:t>
            </a:r>
            <a:endParaRPr lang="en-IN" sz="320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23BD3A2-C7FA-801E-F27A-1F2804292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743148"/>
              </p:ext>
            </p:extLst>
          </p:nvPr>
        </p:nvGraphicFramePr>
        <p:xfrm>
          <a:off x="600406" y="1591069"/>
          <a:ext cx="11122202" cy="5111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77">
                  <a:extLst>
                    <a:ext uri="{9D8B030D-6E8A-4147-A177-3AD203B41FA5}">
                      <a16:colId xmlns:a16="http://schemas.microsoft.com/office/drawing/2014/main" val="3169429580"/>
                    </a:ext>
                  </a:extLst>
                </a:gridCol>
                <a:gridCol w="3973337">
                  <a:extLst>
                    <a:ext uri="{9D8B030D-6E8A-4147-A177-3AD203B41FA5}">
                      <a16:colId xmlns:a16="http://schemas.microsoft.com/office/drawing/2014/main" val="3835401026"/>
                    </a:ext>
                  </a:extLst>
                </a:gridCol>
                <a:gridCol w="5049888">
                  <a:extLst>
                    <a:ext uri="{9D8B030D-6E8A-4147-A177-3AD203B41FA5}">
                      <a16:colId xmlns:a16="http://schemas.microsoft.com/office/drawing/2014/main" val="860748840"/>
                    </a:ext>
                  </a:extLst>
                </a:gridCol>
              </a:tblGrid>
              <a:tr h="679751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Command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Example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28610"/>
                  </a:ext>
                </a:extLst>
              </a:tr>
              <a:tr h="438307">
                <a:tc>
                  <a:txBody>
                    <a:bodyPr/>
                    <a:lstStyle/>
                    <a:p>
                      <a:r>
                        <a:rPr lang="en-US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pwd</a:t>
                      </a:r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Shows current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ashwin12@hpc1:~$ pwd</a:t>
                      </a:r>
                    </a:p>
                    <a:p>
                      <a:r>
                        <a:rPr lang="en-US" sz="1100"/>
                        <a:t>/home/ashwin12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810001"/>
                  </a:ext>
                </a:extLst>
              </a:tr>
              <a:tr h="438307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mkdir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Create a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mkdir </a:t>
                      </a: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[directory]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58683"/>
                  </a:ext>
                </a:extLst>
              </a:tr>
              <a:tr h="626152">
                <a:tc>
                  <a:txBody>
                    <a:bodyPr/>
                    <a:lstStyle/>
                    <a:p>
                      <a:r>
                        <a:rPr lang="en-US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cd</a:t>
                      </a:r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Change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ashwin12@hpc1:~$ cd RNAstructure</a:t>
                      </a:r>
                    </a:p>
                    <a:p>
                      <a:r>
                        <a:rPr lang="en-US" sz="1100"/>
                        <a:t>ashwin12@hpc1:~/RNAstructure$ pwd</a:t>
                      </a:r>
                    </a:p>
                    <a:p>
                      <a:r>
                        <a:rPr lang="en-US" sz="1100"/>
                        <a:t>/home/ashwin12/RNAstructure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339545"/>
                  </a:ext>
                </a:extLst>
              </a:tr>
              <a:tr h="813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ls</a:t>
                      </a:r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/>
                        <a:t>List files and directories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ashwin12@hpc1:~$ 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memerna               </a:t>
                      </a:r>
                      <a:r>
                        <a:rPr lang="en-IN" sz="1100" i="0">
                          <a:solidFill>
                            <a:schemeClr val="accent3"/>
                          </a:solidFill>
                        </a:rPr>
                        <a:t>nohup.out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</a:t>
                      </a:r>
                      <a:r>
                        <a:rPr lang="en-IN" sz="1100" i="0">
                          <a:solidFill>
                            <a:schemeClr val="accent3"/>
                          </a:solidFill>
                        </a:rPr>
                        <a:t>Helices.zip </a:t>
                      </a:r>
                      <a:endParaRPr lang="en-IN" sz="1100"/>
                    </a:p>
                    <a:p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RNAstructure</a:t>
                      </a:r>
                      <a:r>
                        <a:rPr lang="en-IN" sz="1100"/>
                        <a:t>      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gtfold3</a:t>
                      </a:r>
                      <a:r>
                        <a:rPr lang="en-IN" sz="1100"/>
                        <a:t>             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patteRNA</a:t>
                      </a:r>
                      <a:r>
                        <a:rPr lang="en-IN" sz="1100"/>
                        <a:t>               </a:t>
                      </a:r>
                      <a:r>
                        <a:rPr lang="en-IN" sz="1100" i="0">
                          <a:solidFill>
                            <a:schemeClr val="accent3"/>
                          </a:solidFill>
                        </a:rPr>
                        <a:t>ViennaRNA-2.6.4.tar.gz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54020"/>
                  </a:ext>
                </a:extLst>
              </a:tr>
              <a:tr h="1001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ls -a</a:t>
                      </a:r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/>
                        <a:t>Shows hidden files and directories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ashwin12@hpc1:~$ ls -a</a:t>
                      </a:r>
                    </a:p>
                    <a:p>
                      <a:r>
                        <a:rPr lang="en-IN" sz="1100">
                          <a:solidFill>
                            <a:srgbClr val="C00000"/>
                          </a:solidFill>
                        </a:rPr>
                        <a:t>.</a:t>
                      </a:r>
                      <a:r>
                        <a:rPr lang="en-IN" sz="1100"/>
                        <a:t>                   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memerna </a:t>
                      </a:r>
                      <a:r>
                        <a:rPr lang="en-IN" sz="1100"/>
                        <a:t>              .bash_history </a:t>
                      </a:r>
                    </a:p>
                    <a:p>
                      <a:r>
                        <a:rPr lang="en-IN" sz="1100">
                          <a:solidFill>
                            <a:srgbClr val="C00000"/>
                          </a:solidFill>
                        </a:rPr>
                        <a:t>..  </a:t>
                      </a:r>
                      <a:r>
                        <a:rPr lang="en-IN" sz="1100"/>
                        <a:t>               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RNAstructure</a:t>
                      </a:r>
                      <a:r>
                        <a:rPr lang="en-IN" sz="1100"/>
                        <a:t>      .bashrc</a:t>
                      </a:r>
                    </a:p>
                    <a:p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gtfold3</a:t>
                      </a:r>
                      <a:r>
                        <a:rPr lang="en-IN" sz="1100"/>
                        <a:t>     </a:t>
                      </a:r>
                      <a:r>
                        <a:rPr lang="en-IN" sz="1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patteRNA</a:t>
                      </a:r>
                      <a:r>
                        <a:rPr lang="en-IN" sz="1100"/>
                        <a:t>               </a:t>
                      </a:r>
                      <a:r>
                        <a:rPr lang="en-IN" sz="1100" i="0">
                          <a:solidFill>
                            <a:schemeClr val="accent3"/>
                          </a:solidFill>
                        </a:rPr>
                        <a:t>nohup.out</a:t>
                      </a:r>
                    </a:p>
                    <a:p>
                      <a:r>
                        <a:rPr lang="en-IN" sz="1100" i="0">
                          <a:solidFill>
                            <a:schemeClr val="accent3"/>
                          </a:solidFill>
                        </a:rPr>
                        <a:t>Helices.zip     ViennaRNA-2.6.4.tar.gz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3364"/>
                  </a:ext>
                </a:extLst>
              </a:tr>
              <a:tr h="939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ls -l</a:t>
                      </a:r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endParaRPr lang="en-IN" sz="24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rgbClr val="333333"/>
                          </a:solidFill>
                          <a:effectLst/>
                        </a:rPr>
                        <a:t>Contents in a long listing format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Permissions: Owner (rw-), Group (rw-), Others (r--).</a:t>
                      </a:r>
                      <a:endParaRPr lang="en-US" sz="1600" b="0" i="0">
                        <a:solidFill>
                          <a:srgbClr val="333333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-rw-------  1 user  group      7479 Jun  9  2024 nohup.out</a:t>
                      </a:r>
                    </a:p>
                    <a:p>
                      <a:r>
                        <a:rPr lang="en-IN" sz="1400"/>
                        <a:t>drwxrwxr-x 73 user group     4096 Apr  1 01:24 RNAstructure</a:t>
                      </a:r>
                    </a:p>
                    <a:p>
                      <a:r>
                        <a:rPr lang="en-US" sz="1400">
                          <a:solidFill>
                            <a:schemeClr val="tx2"/>
                          </a:solidFill>
                        </a:rPr>
                        <a:t>-rw-rw-r--  </a:t>
                      </a:r>
                      <a:r>
                        <a:rPr lang="en-US" sz="1400"/>
                        <a:t>1 </a:t>
                      </a:r>
                      <a:r>
                        <a:rPr lang="en-IN" sz="1400"/>
                        <a:t>user  group </a:t>
                      </a:r>
                      <a:r>
                        <a:rPr lang="en-US" sz="1400"/>
                        <a:t>14721 Apr  4 11:34 Helices.zip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67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53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5674-B6C6-7A8D-ABC4-845B1840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71160-06DC-A7F8-D79E-02FC369D6410}"/>
              </a:ext>
            </a:extLst>
          </p:cNvPr>
          <p:cNvSpPr txBox="1"/>
          <p:nvPr/>
        </p:nvSpPr>
        <p:spPr>
          <a:xfrm>
            <a:off x="2633472" y="329184"/>
            <a:ext cx="74615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Basic Linux commands</a:t>
            </a:r>
          </a:p>
          <a:p>
            <a:pPr algn="ctr"/>
            <a:r>
              <a:rPr lang="en-US" sz="3200"/>
              <a:t>File management</a:t>
            </a:r>
            <a:endParaRPr lang="en-IN"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6EF072-08DE-5AAE-CB14-66B174A3B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46149"/>
              </p:ext>
            </p:extLst>
          </p:nvPr>
        </p:nvGraphicFramePr>
        <p:xfrm>
          <a:off x="600406" y="1591068"/>
          <a:ext cx="10991188" cy="361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252">
                  <a:extLst>
                    <a:ext uri="{9D8B030D-6E8A-4147-A177-3AD203B41FA5}">
                      <a16:colId xmlns:a16="http://schemas.microsoft.com/office/drawing/2014/main" val="3169429580"/>
                    </a:ext>
                  </a:extLst>
                </a:gridCol>
                <a:gridCol w="3926533">
                  <a:extLst>
                    <a:ext uri="{9D8B030D-6E8A-4147-A177-3AD203B41FA5}">
                      <a16:colId xmlns:a16="http://schemas.microsoft.com/office/drawing/2014/main" val="3835401026"/>
                    </a:ext>
                  </a:extLst>
                </a:gridCol>
                <a:gridCol w="4990403">
                  <a:extLst>
                    <a:ext uri="{9D8B030D-6E8A-4147-A177-3AD203B41FA5}">
                      <a16:colId xmlns:a16="http://schemas.microsoft.com/office/drawing/2014/main" val="860748840"/>
                    </a:ext>
                  </a:extLst>
                </a:gridCol>
              </a:tblGrid>
              <a:tr h="77194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Command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Example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28610"/>
                  </a:ext>
                </a:extLst>
              </a:tr>
              <a:tr h="497754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Copy files/directories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cp [filename] [directory]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810001"/>
                  </a:ext>
                </a:extLst>
              </a:tr>
              <a:tr h="497754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Delete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rm [filename]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435067"/>
                  </a:ext>
                </a:extLst>
              </a:tr>
              <a:tr h="497754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rm -rf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Force-delete directories (careful!)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rm -rf [directory]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331520"/>
                  </a:ext>
                </a:extLst>
              </a:tr>
              <a:tr h="497754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mv 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or rename files/directories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 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[filename] [directory]  </a:t>
                      </a:r>
                      <a:r>
                        <a:rPr lang="en-US" sz="1800" b="0" i="0" kern="120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(move)</a:t>
                      </a:r>
                    </a:p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mv 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[filename] [</a:t>
                      </a:r>
                      <a:r>
                        <a:rPr lang="en-IN">
                          <a:solidFill>
                            <a:schemeClr val="tx1"/>
                          </a:solidFill>
                        </a:rPr>
                        <a:t>new_filename]</a:t>
                      </a:r>
                      <a:r>
                        <a:rPr lang="en-IN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800" b="0" i="0" kern="120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(rename)</a:t>
                      </a:r>
                      <a:endParaRPr lang="en-IN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521212"/>
                  </a:ext>
                </a:extLst>
              </a:tr>
              <a:tr h="711077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View file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cat </a:t>
                      </a:r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[filename]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3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50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798A9-F5CF-B01A-D609-CB91A256A75D}"/>
              </a:ext>
            </a:extLst>
          </p:cNvPr>
          <p:cNvSpPr txBox="1"/>
          <p:nvPr/>
        </p:nvSpPr>
        <p:spPr>
          <a:xfrm>
            <a:off x="2633472" y="329184"/>
            <a:ext cx="74615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Basic Linux commands</a:t>
            </a:r>
          </a:p>
          <a:p>
            <a:pPr algn="ctr"/>
            <a:r>
              <a:rPr lang="en-US" sz="3200"/>
              <a:t>Others</a:t>
            </a:r>
            <a:endParaRPr lang="en-IN"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A3D47A-2D78-B14E-25ED-F9B410C1A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477607"/>
              </p:ext>
            </p:extLst>
          </p:nvPr>
        </p:nvGraphicFramePr>
        <p:xfrm>
          <a:off x="600406" y="1520421"/>
          <a:ext cx="11030762" cy="5165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720">
                  <a:extLst>
                    <a:ext uri="{9D8B030D-6E8A-4147-A177-3AD203B41FA5}">
                      <a16:colId xmlns:a16="http://schemas.microsoft.com/office/drawing/2014/main" val="3169429580"/>
                    </a:ext>
                  </a:extLst>
                </a:gridCol>
                <a:gridCol w="3940671">
                  <a:extLst>
                    <a:ext uri="{9D8B030D-6E8A-4147-A177-3AD203B41FA5}">
                      <a16:colId xmlns:a16="http://schemas.microsoft.com/office/drawing/2014/main" val="3835401026"/>
                    </a:ext>
                  </a:extLst>
                </a:gridCol>
                <a:gridCol w="5008371">
                  <a:extLst>
                    <a:ext uri="{9D8B030D-6E8A-4147-A177-3AD203B41FA5}">
                      <a16:colId xmlns:a16="http://schemas.microsoft.com/office/drawing/2014/main" val="860748840"/>
                    </a:ext>
                  </a:extLst>
                </a:gridCol>
              </a:tblGrid>
              <a:tr h="731858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Command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Example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28610"/>
                  </a:ext>
                </a:extLst>
              </a:tr>
              <a:tr h="471906">
                <a:tc>
                  <a:txBody>
                    <a:bodyPr/>
                    <a:lstStyle/>
                    <a:p>
                      <a:r>
                        <a:rPr lang="en-IN" sz="2400" b="1">
                          <a:effectLst/>
                        </a:rPr>
                        <a:t>nano/vim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Create + edit file interactively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vim [filename.sh] (write Slurm script)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810001"/>
                  </a:ext>
                </a:extLst>
              </a:tr>
              <a:tr h="953607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man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Display the manual page for a given command with all the options.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man &lt;command&gt;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517927"/>
                  </a:ext>
                </a:extLst>
              </a:tr>
              <a:tr h="606841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df -h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Shows free space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3"/>
                          </a:solidFill>
                          <a:effectLst/>
                        </a:rPr>
                        <a:t>export/avirangrp/ashwin12    4.0T  3.3T  484G  88% /home/ashwin12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718471"/>
                  </a:ext>
                </a:extLst>
              </a:tr>
              <a:tr h="471906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grep -r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Recursively searches directories.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grep -r "pattern" /path/to/dir/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821796"/>
                  </a:ext>
                </a:extLst>
              </a:tr>
              <a:tr h="471906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chmod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Changes permission to files.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chmod +x run.sh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194318"/>
                  </a:ext>
                </a:extLst>
              </a:tr>
              <a:tr h="1300373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history</a:t>
                      </a:r>
                      <a:endParaRPr lang="en-IN" sz="24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 all executed commands</a:t>
                      </a:r>
                      <a:endParaRPr lang="en-IN" sz="2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2218  cd RNAstructure</a:t>
                      </a:r>
                    </a:p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2219  pwd</a:t>
                      </a:r>
                    </a:p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2220  df -h</a:t>
                      </a:r>
                    </a:p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2221  man df</a:t>
                      </a:r>
                    </a:p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2222  man wget</a:t>
                      </a:r>
                    </a:p>
                    <a:p>
                      <a:r>
                        <a:rPr lang="en-US" sz="1400">
                          <a:solidFill>
                            <a:schemeClr val="accent3"/>
                          </a:solidFill>
                          <a:effectLst/>
                        </a:rPr>
                        <a:t> 2223 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025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79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B8A1-9AF5-C78B-109C-65631856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via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2188C-F74D-7300-A2CE-B29998FC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Generate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pair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Put</a:t>
            </a:r>
            <a:r>
              <a:rPr lang="zh-TW" altLang="en-US" dirty="0"/>
              <a:t> </a:t>
            </a:r>
            <a:r>
              <a:rPr lang="en-US" altLang="zh-TW" dirty="0"/>
              <a:t>public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Anvil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Connect</a:t>
            </a:r>
            <a:r>
              <a:rPr lang="zh-TW" altLang="en-US" dirty="0"/>
              <a:t> </a:t>
            </a:r>
            <a:r>
              <a:rPr lang="en-US" altLang="zh-TW" dirty="0"/>
              <a:t>Anvil</a:t>
            </a:r>
            <a:r>
              <a:rPr lang="zh-TW" altLang="en-US" dirty="0"/>
              <a:t> </a:t>
            </a:r>
            <a:r>
              <a:rPr lang="en-US" altLang="zh-TW" dirty="0"/>
              <a:t>through</a:t>
            </a:r>
            <a:r>
              <a:rPr lang="zh-TW" altLang="en-US" dirty="0"/>
              <a:t> </a:t>
            </a:r>
            <a:r>
              <a:rPr lang="en-US" altLang="zh-TW" dirty="0"/>
              <a:t>your</a:t>
            </a:r>
            <a:r>
              <a:rPr lang="zh-TW" altLang="en-US" dirty="0"/>
              <a:t> </a:t>
            </a:r>
            <a:r>
              <a:rPr lang="en-US" altLang="zh-TW" dirty="0"/>
              <a:t>terminal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Save</a:t>
            </a:r>
            <a:r>
              <a:rPr lang="zh-TW" altLang="en-US" dirty="0"/>
              <a:t> </a:t>
            </a:r>
            <a:r>
              <a:rPr lang="en-US" altLang="zh-TW" dirty="0"/>
              <a:t>configuration</a:t>
            </a:r>
            <a:r>
              <a:rPr lang="zh-TW" altLang="en-US" dirty="0"/>
              <a:t> </a:t>
            </a:r>
            <a:r>
              <a:rPr lang="en-US" altLang="zh-TW" dirty="0"/>
              <a:t>for</a:t>
            </a:r>
            <a:r>
              <a:rPr lang="zh-TW" altLang="en-US" dirty="0"/>
              <a:t> </a:t>
            </a:r>
            <a:r>
              <a:rPr lang="en-US" altLang="zh-TW" dirty="0"/>
              <a:t>convenience</a:t>
            </a:r>
            <a:r>
              <a:rPr lang="zh-TW" altLang="en-US" dirty="0"/>
              <a:t> </a:t>
            </a:r>
            <a:r>
              <a:rPr lang="en-US" altLang="zh-TW"/>
              <a:t>(optional)</a:t>
            </a:r>
            <a:endParaRPr lang="en-US" altLang="zh-TW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85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161D-C007-BF28-BB06-49377020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vis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68AB-5B78-1F5D-8ED1-EA3AAB30E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145" y="2187572"/>
            <a:ext cx="5181600" cy="2747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macOS</a:t>
            </a:r>
          </a:p>
          <a:p>
            <a:pPr lvl="1"/>
            <a:r>
              <a:rPr lang="en-US" altLang="zh-TW" dirty="0"/>
              <a:t>Built-in</a:t>
            </a:r>
            <a:r>
              <a:rPr lang="zh-TW" altLang="en-US" dirty="0"/>
              <a:t> </a:t>
            </a:r>
            <a:r>
              <a:rPr lang="en-US" altLang="zh-TW" dirty="0"/>
              <a:t>terminal</a:t>
            </a:r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92349-242B-15AF-2C7F-5775F2A05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8413" y="2187573"/>
            <a:ext cx="5181600" cy="2747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Windows</a:t>
            </a:r>
          </a:p>
          <a:p>
            <a:pPr lvl="1"/>
            <a:r>
              <a:rPr lang="en-US" altLang="zh-TW" dirty="0" err="1"/>
              <a:t>MobaXterm</a:t>
            </a:r>
            <a:endParaRPr lang="en-US" altLang="zh-TW" dirty="0"/>
          </a:p>
          <a:p>
            <a:pPr lvl="2"/>
            <a:r>
              <a:rPr lang="en-US" altLang="zh-TW" dirty="0"/>
              <a:t>Terminal</a:t>
            </a:r>
          </a:p>
          <a:p>
            <a:pPr lvl="2"/>
            <a:r>
              <a:rPr lang="en-US" altLang="zh-TW" dirty="0"/>
              <a:t>Download:</a:t>
            </a:r>
            <a:r>
              <a:rPr lang="zh-TW" altLang="en-US" dirty="0"/>
              <a:t> </a:t>
            </a:r>
            <a:r>
              <a:rPr lang="en-US" dirty="0">
                <a:hlinkClick r:id="rId2"/>
              </a:rPr>
              <a:t>https://mobaxterm.mobatek.net/</a:t>
            </a:r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altLang="zh-TW" dirty="0" err="1"/>
              <a:t>PuTTYgen</a:t>
            </a:r>
            <a:endParaRPr lang="en-US" altLang="zh-TW" dirty="0"/>
          </a:p>
          <a:p>
            <a:pPr lvl="2"/>
            <a:r>
              <a:rPr lang="en-US" altLang="zh-TW" dirty="0"/>
              <a:t>generate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pair</a:t>
            </a:r>
          </a:p>
          <a:p>
            <a:pPr lvl="2"/>
            <a:r>
              <a:rPr lang="en-US" altLang="zh-TW" dirty="0"/>
              <a:t>Download:</a:t>
            </a:r>
            <a:r>
              <a:rPr lang="zh-TW" altLang="en-US" dirty="0"/>
              <a:t> </a:t>
            </a:r>
            <a:r>
              <a:rPr lang="en-US" altLang="zh-TW" dirty="0"/>
              <a:t>https://</a:t>
            </a:r>
            <a:r>
              <a:rPr lang="en-US" altLang="zh-TW" dirty="0" err="1"/>
              <a:t>www.puttygen.com</a:t>
            </a:r>
            <a:r>
              <a:rPr lang="en-US" altLang="zh-TW" dirty="0"/>
              <a:t>/#</a:t>
            </a:r>
            <a:r>
              <a:rPr lang="en-US" altLang="zh-TW" dirty="0" err="1"/>
              <a:t>gsc.tab</a:t>
            </a:r>
            <a:r>
              <a:rPr lang="en-US" altLang="zh-TW" dirty="0"/>
              <a:t>=0</a:t>
            </a:r>
          </a:p>
          <a:p>
            <a:pPr lvl="2"/>
            <a:endParaRPr lang="en-US" dirty="0"/>
          </a:p>
        </p:txBody>
      </p:sp>
      <p:pic>
        <p:nvPicPr>
          <p:cNvPr id="3074" name="Picture 2" descr="MobaXterm: a Better Windows Terminal – Onion">
            <a:extLst>
              <a:ext uri="{FF2B5EF4-FFF2-40B4-BE49-F238E27FC236}">
                <a16:creationId xmlns:a16="http://schemas.microsoft.com/office/drawing/2014/main" id="{3ABBACCE-C328-20D2-0720-98B5C1ECA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393" y="2366560"/>
            <a:ext cx="668566" cy="66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erminal (macOS) - Wikipedia">
            <a:extLst>
              <a:ext uri="{FF2B5EF4-FFF2-40B4-BE49-F238E27FC236}">
                <a16:creationId xmlns:a16="http://schemas.microsoft.com/office/drawing/2014/main" id="{9CB8C238-6949-1DF1-D9EF-9B004129E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945" y="2246249"/>
            <a:ext cx="668566" cy="66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obaXterm free Xserver and tabbed SSH client for Windows">
            <a:extLst>
              <a:ext uri="{FF2B5EF4-FFF2-40B4-BE49-F238E27FC236}">
                <a16:creationId xmlns:a16="http://schemas.microsoft.com/office/drawing/2014/main" id="{99200743-4408-468C-3ECF-7D63FE4B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365" y="1551784"/>
            <a:ext cx="2571573" cy="14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BDF257-4EC7-FB69-418C-5DE0BC449FC8}"/>
              </a:ext>
            </a:extLst>
          </p:cNvPr>
          <p:cNvSpPr txBox="1"/>
          <p:nvPr/>
        </p:nvSpPr>
        <p:spPr>
          <a:xfrm>
            <a:off x="728466" y="1412461"/>
            <a:ext cx="145437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Tools</a:t>
            </a:r>
          </a:p>
          <a:p>
            <a:endParaRPr lang="en-US" altLang="zh-TW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A84237-B368-7A69-C0F0-3132587FE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826" y="3083797"/>
            <a:ext cx="2679133" cy="1912362"/>
          </a:xfrm>
          <a:prstGeom prst="rect">
            <a:avLst/>
          </a:prstGeom>
        </p:spPr>
      </p:pic>
      <p:pic>
        <p:nvPicPr>
          <p:cNvPr id="3078" name="Picture 6" descr="PuTTY key generator in Windows">
            <a:extLst>
              <a:ext uri="{FF2B5EF4-FFF2-40B4-BE49-F238E27FC236}">
                <a16:creationId xmlns:a16="http://schemas.microsoft.com/office/drawing/2014/main" id="{EBA07C8F-806D-F4AB-8DF5-3D8E36464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112" y="4935535"/>
            <a:ext cx="1932688" cy="19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35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095C-238E-EF9C-11FD-827E8AE0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via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253F3-28E5-CCD0-D7E1-1FACFC6AB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4146" cy="4351338"/>
          </a:xfrm>
        </p:spPr>
        <p:txBody>
          <a:bodyPr/>
          <a:lstStyle/>
          <a:p>
            <a:r>
              <a:rPr lang="en-US" altLang="zh-TW" dirty="0"/>
              <a:t>Generate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pair</a:t>
            </a:r>
          </a:p>
          <a:p>
            <a:pPr lvl="1"/>
            <a:r>
              <a:rPr lang="en-US" dirty="0"/>
              <a:t>Generate a key pair consisting of a private and a public key on your local machine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61344-40C4-2539-9F02-17491BF6C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1" y="4203765"/>
            <a:ext cx="4338371" cy="721520"/>
          </a:xfrm>
          <a:prstGeom prst="rect">
            <a:avLst/>
          </a:prstGeom>
        </p:spPr>
      </p:pic>
      <p:pic>
        <p:nvPicPr>
          <p:cNvPr id="1026" name="Picture 2" descr="PuTTY Key Generator interface">
            <a:extLst>
              <a:ext uri="{FF2B5EF4-FFF2-40B4-BE49-F238E27FC236}">
                <a16:creationId xmlns:a16="http://schemas.microsoft.com/office/drawing/2014/main" id="{8D0DF444-0165-A182-6E4D-880C2C63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222" y="2942147"/>
            <a:ext cx="4299654" cy="392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E2FAD-AD1B-04D9-B249-786522105743}"/>
              </a:ext>
            </a:extLst>
          </p:cNvPr>
          <p:cNvSpPr txBox="1"/>
          <p:nvPr/>
        </p:nvSpPr>
        <p:spPr>
          <a:xfrm>
            <a:off x="1170617" y="3486255"/>
            <a:ext cx="2820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macOS/Windows</a:t>
            </a:r>
          </a:p>
          <a:p>
            <a:pPr algn="ctr"/>
            <a:r>
              <a:rPr lang="en-US" altLang="zh-TW" dirty="0"/>
              <a:t>Type</a:t>
            </a:r>
            <a:r>
              <a:rPr lang="zh-TW" altLang="en-US" dirty="0"/>
              <a:t> </a:t>
            </a:r>
            <a:r>
              <a:rPr lang="en-US" altLang="zh-TW" dirty="0"/>
              <a:t>command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terminal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106D4-BAB1-5534-25A5-C5A64FE4084E}"/>
              </a:ext>
            </a:extLst>
          </p:cNvPr>
          <p:cNvSpPr txBox="1"/>
          <p:nvPr/>
        </p:nvSpPr>
        <p:spPr>
          <a:xfrm>
            <a:off x="8516115" y="2295816"/>
            <a:ext cx="2653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Windows</a:t>
            </a:r>
          </a:p>
          <a:p>
            <a:pPr algn="ctr"/>
            <a:r>
              <a:rPr lang="en-US" altLang="zh-TW" dirty="0"/>
              <a:t>Use</a:t>
            </a:r>
            <a:r>
              <a:rPr lang="zh-TW" altLang="en-US" dirty="0"/>
              <a:t> </a:t>
            </a:r>
            <a:r>
              <a:rPr lang="en-US" altLang="zh-TW" dirty="0"/>
              <a:t>GUI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generate</a:t>
            </a:r>
            <a:r>
              <a:rPr lang="zh-TW" altLang="en-US" dirty="0"/>
              <a:t> </a:t>
            </a:r>
            <a:r>
              <a:rPr lang="en-US" altLang="zh-TW" dirty="0"/>
              <a:t>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97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B2F1-99A0-9330-021E-56AEC9BD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vis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8DCAD-6620-F985-8139-1F622034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Put</a:t>
            </a:r>
            <a:r>
              <a:rPr lang="zh-TW" altLang="en-US" dirty="0"/>
              <a:t> </a:t>
            </a:r>
            <a:r>
              <a:rPr lang="en-US" altLang="zh-TW" dirty="0"/>
              <a:t>public</a:t>
            </a:r>
            <a:r>
              <a:rPr lang="zh-TW" altLang="en-US" dirty="0"/>
              <a:t> </a:t>
            </a:r>
            <a:r>
              <a:rPr lang="en-US" altLang="zh-TW" dirty="0"/>
              <a:t>key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Anvil</a:t>
            </a:r>
          </a:p>
          <a:p>
            <a:pPr lvl="1"/>
            <a:r>
              <a:rPr lang="en-US" dirty="0"/>
              <a:t>Copy the public key to the cluster and append it to the $HOME/.ssh/</a:t>
            </a:r>
            <a:r>
              <a:rPr lang="en-US" dirty="0" err="1"/>
              <a:t>authorized_keys</a:t>
            </a:r>
            <a:r>
              <a:rPr lang="en-US" dirty="0"/>
              <a:t> file in your account.</a:t>
            </a:r>
          </a:p>
          <a:p>
            <a:pPr lvl="2"/>
            <a:r>
              <a:rPr lang="en-US" dirty="0"/>
              <a:t>copy the contents of the public key (*.pub): </a:t>
            </a:r>
          </a:p>
          <a:p>
            <a:pPr lvl="3"/>
            <a:r>
              <a:rPr lang="en-US" dirty="0"/>
              <a:t>Windows: PuTTY Key Generator, macOS: cat </a:t>
            </a:r>
            <a:r>
              <a:rPr lang="en-US" dirty="0" err="1"/>
              <a:t>id_rsa.pub</a:t>
            </a:r>
            <a:endParaRPr lang="en-US" dirty="0"/>
          </a:p>
          <a:p>
            <a:pPr lvl="2"/>
            <a:r>
              <a:rPr lang="en-US" dirty="0"/>
              <a:t>Login to Anvil OnDemand: </a:t>
            </a:r>
            <a:r>
              <a:rPr lang="en-US" dirty="0">
                <a:hlinkClick r:id="rId2"/>
              </a:rPr>
              <a:t>https://ondemand.anvil.rcac.purdue.edu</a:t>
            </a:r>
            <a:endParaRPr lang="en-US" dirty="0"/>
          </a:p>
          <a:p>
            <a:pPr lvl="2"/>
            <a:r>
              <a:rPr lang="en-US" dirty="0"/>
              <a:t>Click the Clusters tab and Anvil Shell Access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Use vim (or vi) to paste the copied contents into </a:t>
            </a:r>
            <a:r>
              <a:rPr lang="en-US" dirty="0" err="1"/>
              <a:t>authorized_keys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2050" name="Picture 2" descr="Anvil Shell Access">
            <a:extLst>
              <a:ext uri="{FF2B5EF4-FFF2-40B4-BE49-F238E27FC236}">
                <a16:creationId xmlns:a16="http://schemas.microsoft.com/office/drawing/2014/main" id="{6A4AB461-C1CB-08C2-F739-F0FEC6FF2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239" y="4421014"/>
            <a:ext cx="2043050" cy="99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56CF78-AB6D-DC8F-9B25-18B4BB7BE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239" y="6026477"/>
            <a:ext cx="3827813" cy="9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5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5109-134F-E06A-4F76-6CD5B939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C676-2E53-7E72-1C1F-F6C7642C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vis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04A52-39A7-EA0F-5361-85A29773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103" y="2726078"/>
            <a:ext cx="4441831" cy="738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6A80A5-38BD-CEB7-9261-8C8206922DEB}"/>
              </a:ext>
            </a:extLst>
          </p:cNvPr>
          <p:cNvSpPr txBox="1"/>
          <p:nvPr/>
        </p:nvSpPr>
        <p:spPr>
          <a:xfrm>
            <a:off x="838200" y="1481032"/>
            <a:ext cx="5443734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Connect</a:t>
            </a:r>
            <a:r>
              <a:rPr lang="zh-TW" altLang="en-US" sz="2800" dirty="0"/>
              <a:t> </a:t>
            </a:r>
            <a:r>
              <a:rPr lang="en-US" altLang="zh-TW" sz="2800" dirty="0"/>
              <a:t>Anvil</a:t>
            </a:r>
            <a:r>
              <a:rPr lang="zh-TW" altLang="en-US" sz="2800" dirty="0"/>
              <a:t> </a:t>
            </a:r>
            <a:r>
              <a:rPr lang="en-US" altLang="zh-TW" sz="2800" dirty="0"/>
              <a:t>through</a:t>
            </a:r>
            <a:r>
              <a:rPr lang="zh-TW" altLang="en-US" sz="2800" dirty="0"/>
              <a:t> </a:t>
            </a:r>
            <a:r>
              <a:rPr lang="en-US" altLang="zh-TW" sz="2800" dirty="0"/>
              <a:t>terminal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Type</a:t>
            </a:r>
            <a:r>
              <a:rPr lang="zh-TW" altLang="en-US" sz="2800" dirty="0"/>
              <a:t> </a:t>
            </a:r>
            <a:r>
              <a:rPr lang="en-US" altLang="zh-TW" sz="2800" dirty="0"/>
              <a:t>command</a:t>
            </a:r>
            <a:r>
              <a:rPr lang="zh-TW" altLang="en-US" sz="2800" dirty="0"/>
              <a:t> </a:t>
            </a:r>
            <a:r>
              <a:rPr lang="en-US" altLang="zh-TW" sz="2800" dirty="0"/>
              <a:t>in</a:t>
            </a:r>
            <a:r>
              <a:rPr lang="zh-TW" altLang="en-US" sz="2800" dirty="0"/>
              <a:t> </a:t>
            </a:r>
            <a:r>
              <a:rPr lang="en-US" altLang="zh-TW" sz="2800" dirty="0"/>
              <a:t>terminal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5560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A882-6B57-F978-DE76-178F920B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cluster</a:t>
            </a:r>
            <a:r>
              <a:rPr lang="zh-TW" altLang="en-US" dirty="0"/>
              <a:t> </a:t>
            </a:r>
            <a:r>
              <a:rPr lang="en-US" altLang="zh-TW" dirty="0"/>
              <a:t>vis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r>
              <a:rPr lang="zh-TW" altLang="en-US" dirty="0"/>
              <a:t> </a:t>
            </a:r>
            <a:r>
              <a:rPr lang="en-US" altLang="zh-TW" dirty="0"/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3D255-EC05-CCE1-5B83-7E91375F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</a:t>
            </a:r>
            <a:r>
              <a:rPr lang="en-US" altLang="zh-TW" dirty="0"/>
              <a:t>e</a:t>
            </a:r>
            <a:r>
              <a:rPr lang="en-US" dirty="0"/>
              <a:t> configuration for convenience</a:t>
            </a:r>
          </a:p>
          <a:p>
            <a:pPr lvl="1"/>
            <a:r>
              <a:rPr lang="en-US" altLang="zh-TW" dirty="0"/>
              <a:t>macOS</a:t>
            </a:r>
            <a:r>
              <a:rPr lang="zh-TW" altLang="en-US" dirty="0"/>
              <a:t> </a:t>
            </a:r>
            <a:r>
              <a:rPr lang="en-US" altLang="zh-TW" dirty="0"/>
              <a:t>(built-in</a:t>
            </a:r>
            <a:r>
              <a:rPr lang="zh-TW" altLang="en-US" dirty="0"/>
              <a:t> </a:t>
            </a:r>
            <a:r>
              <a:rPr lang="en-US" altLang="zh-TW" dirty="0"/>
              <a:t>Terminal)</a:t>
            </a:r>
          </a:p>
          <a:p>
            <a:pPr lvl="2"/>
            <a:r>
              <a:rPr lang="en-US" altLang="zh-TW" dirty="0"/>
              <a:t>Shell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  <a:r>
              <a:rPr lang="zh-TW" altLang="en-US" dirty="0"/>
              <a:t> </a:t>
            </a:r>
            <a:r>
              <a:rPr lang="en-US" altLang="zh-TW" dirty="0"/>
              <a:t>New</a:t>
            </a:r>
            <a:r>
              <a:rPr lang="zh-TW" altLang="en-US" dirty="0"/>
              <a:t> </a:t>
            </a:r>
            <a:r>
              <a:rPr lang="en-US" altLang="zh-TW" dirty="0"/>
              <a:t>Remote</a:t>
            </a:r>
            <a:r>
              <a:rPr lang="zh-TW" altLang="en-US" dirty="0"/>
              <a:t> </a:t>
            </a:r>
            <a:r>
              <a:rPr lang="en-US" altLang="zh-TW" dirty="0"/>
              <a:t>Connection…</a:t>
            </a:r>
          </a:p>
          <a:p>
            <a:pPr lvl="1"/>
            <a:endParaRPr lang="en-US" dirty="0"/>
          </a:p>
          <a:p>
            <a:pPr lvl="1"/>
            <a:r>
              <a:rPr lang="en-US" altLang="zh-TW" dirty="0"/>
              <a:t>Windows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MobaXterm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Remote</a:t>
            </a:r>
            <a:r>
              <a:rPr lang="zh-TW" altLang="en-US" dirty="0"/>
              <a:t> </a:t>
            </a:r>
            <a:r>
              <a:rPr lang="en-US" altLang="zh-TW" dirty="0"/>
              <a:t>host:</a:t>
            </a:r>
            <a:r>
              <a:rPr lang="zh-TW" altLang="en-US" dirty="0"/>
              <a:t> </a:t>
            </a:r>
            <a:r>
              <a:rPr lang="en-US" altLang="zh-TW" dirty="0" err="1"/>
              <a:t>anvil.rcac.purdue.edu</a:t>
            </a:r>
            <a:endParaRPr lang="en-US" altLang="zh-TW" dirty="0"/>
          </a:p>
          <a:p>
            <a:pPr lvl="2"/>
            <a:r>
              <a:rPr lang="en-US" altLang="zh-TW" dirty="0"/>
              <a:t>Check</a:t>
            </a:r>
            <a:r>
              <a:rPr lang="zh-TW" altLang="en-US" dirty="0"/>
              <a:t> </a:t>
            </a:r>
            <a:r>
              <a:rPr lang="en-US" altLang="zh-TW" dirty="0"/>
              <a:t>specify</a:t>
            </a:r>
            <a:r>
              <a:rPr lang="zh-TW" altLang="en-US" dirty="0"/>
              <a:t> </a:t>
            </a:r>
            <a:r>
              <a:rPr lang="en-US" altLang="zh-TW" dirty="0"/>
              <a:t>username:</a:t>
            </a:r>
            <a:r>
              <a:rPr lang="zh-TW" altLang="en-US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A9020-54E5-F6F6-B64D-842756273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616" y="1431189"/>
            <a:ext cx="2539725" cy="2570105"/>
          </a:xfrm>
          <a:prstGeom prst="rect">
            <a:avLst/>
          </a:prstGeom>
        </p:spPr>
      </p:pic>
      <p:pic>
        <p:nvPicPr>
          <p:cNvPr id="4098" name="Picture 2" descr="Using MobaXterm for SSH Connections from Windows Systems to NAS - HECC  Knowledge Base">
            <a:extLst>
              <a:ext uri="{FF2B5EF4-FFF2-40B4-BE49-F238E27FC236}">
                <a16:creationId xmlns:a16="http://schemas.microsoft.com/office/drawing/2014/main" id="{9A62AD34-B903-7DE5-65A9-32D7EC983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471" y="4395147"/>
            <a:ext cx="3438013" cy="231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60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9021C-E30E-E622-7471-4868D2D00A64}"/>
              </a:ext>
            </a:extLst>
          </p:cNvPr>
          <p:cNvSpPr txBox="1"/>
          <p:nvPr/>
        </p:nvSpPr>
        <p:spPr>
          <a:xfrm>
            <a:off x="947928" y="272969"/>
            <a:ext cx="10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PATH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08063-3BBE-A646-559D-B2D4D3B7F1B8}"/>
              </a:ext>
            </a:extLst>
          </p:cNvPr>
          <p:cNvSpPr txBox="1"/>
          <p:nvPr/>
        </p:nvSpPr>
        <p:spPr>
          <a:xfrm>
            <a:off x="947928" y="6537213"/>
            <a:ext cx="978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>
                <a:effectLst/>
                <a:latin typeface="DeepSeek-CJK-patch"/>
              </a:rPr>
              <a:t>"PATH is like a restaurant menu – Linux only orders from the dishes (programs) listed there!"</a:t>
            </a:r>
            <a:endParaRPr lang="en-IN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56C7F-D67A-90B8-91FA-D8B541029EC8}"/>
              </a:ext>
            </a:extLst>
          </p:cNvPr>
          <p:cNvSpPr txBox="1"/>
          <p:nvPr/>
        </p:nvSpPr>
        <p:spPr>
          <a:xfrm>
            <a:off x="680466" y="1126363"/>
            <a:ext cx="10831068" cy="4202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$PATH</a:t>
            </a:r>
            <a:r>
              <a:rPr lang="en-US" sz="2000"/>
              <a:t>: </a:t>
            </a:r>
            <a:r>
              <a:rPr lang="en-US" sz="2000" i="0">
                <a:effectLst/>
              </a:rPr>
              <a:t>A colon-separated list of directories </a:t>
            </a:r>
            <a:r>
              <a:rPr lang="en-US" sz="2000"/>
              <a:t>checked for executable files</a:t>
            </a:r>
            <a:endParaRPr lang="en-US" sz="2000" b="1"/>
          </a:p>
          <a:p>
            <a:pPr>
              <a:lnSpc>
                <a:spcPct val="150000"/>
              </a:lnSpc>
            </a:pPr>
            <a:r>
              <a:rPr lang="en-US" sz="2000" b="1"/>
              <a:t>How it works?</a:t>
            </a:r>
            <a:r>
              <a:rPr lang="en-US" sz="2000"/>
              <a:t> When you type a command, Linux checks these directories in order.</a:t>
            </a:r>
            <a:endParaRPr lang="en-US" sz="2000" b="1" i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echo $PATH </a:t>
            </a:r>
            <a:r>
              <a:rPr lang="en-US" sz="2000"/>
              <a:t>- /usr/local/bin:/usr/bin:/bin:/usr/local/games:/usr/games</a:t>
            </a:r>
          </a:p>
          <a:p>
            <a:pPr algn="ctr">
              <a:lnSpc>
                <a:spcPct val="150000"/>
              </a:lnSpc>
            </a:pPr>
            <a:r>
              <a:rPr lang="en-US" sz="2000" b="0" i="0">
                <a:effectLst/>
              </a:rPr>
              <a:t>First match found gets executed</a:t>
            </a:r>
          </a:p>
          <a:p>
            <a:pPr>
              <a:lnSpc>
                <a:spcPct val="150000"/>
              </a:lnSpc>
            </a:pPr>
            <a:endParaRPr lang="en-US" sz="2000" b="1"/>
          </a:p>
          <a:p>
            <a:pPr>
              <a:lnSpc>
                <a:spcPct val="150000"/>
              </a:lnSpc>
            </a:pPr>
            <a:endParaRPr lang="en-US" sz="2000" b="1"/>
          </a:p>
          <a:p>
            <a:pPr marL="342900" indent="-342900">
              <a:lnSpc>
                <a:spcPct val="150000"/>
              </a:lnSpc>
              <a:buFont typeface="Aptos" panose="020B0004020202020204" pitchFamily="34" charset="0"/>
              <a:buChar char="―"/>
            </a:pPr>
            <a:endParaRPr lang="en-US" sz="2000"/>
          </a:p>
          <a:p>
            <a:pPr>
              <a:lnSpc>
                <a:spcPct val="150000"/>
              </a:lnSpc>
            </a:pPr>
            <a:endParaRPr lang="en-US" sz="2000" b="0" i="0">
              <a:effectLst/>
              <a:latin typeface="DeepSeek-CJK-patch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DeepSeek-CJK-patch"/>
              </a:rPr>
              <a:t>			</a:t>
            </a:r>
            <a:endParaRPr lang="en-US" sz="20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AFF17FA-1BBE-01DF-3B75-71AE8B52B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887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/usr/local/bin:/usr/bin:/bin:/usr/local/games:/usr/games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712AFE4-AC85-9102-97A0-71CBB457C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352740"/>
              </p:ext>
            </p:extLst>
          </p:nvPr>
        </p:nvGraphicFramePr>
        <p:xfrm>
          <a:off x="684466" y="3227451"/>
          <a:ext cx="10315575" cy="3309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6750">
                  <a:extLst>
                    <a:ext uri="{9D8B030D-6E8A-4147-A177-3AD203B41FA5}">
                      <a16:colId xmlns:a16="http://schemas.microsoft.com/office/drawing/2014/main" val="249357259"/>
                    </a:ext>
                  </a:extLst>
                </a:gridCol>
                <a:gridCol w="2928336">
                  <a:extLst>
                    <a:ext uri="{9D8B030D-6E8A-4147-A177-3AD203B41FA5}">
                      <a16:colId xmlns:a16="http://schemas.microsoft.com/office/drawing/2014/main" val="1793020426"/>
                    </a:ext>
                  </a:extLst>
                </a:gridCol>
                <a:gridCol w="5440489">
                  <a:extLst>
                    <a:ext uri="{9D8B030D-6E8A-4147-A177-3AD203B41FA5}">
                      <a16:colId xmlns:a16="http://schemas.microsoft.com/office/drawing/2014/main" val="727606979"/>
                    </a:ext>
                  </a:extLst>
                </a:gridCol>
              </a:tblGrid>
              <a:tr h="59704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Problem</a:t>
                      </a:r>
                      <a:endParaRPr lang="en-IN" sz="2000" b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Why?</a:t>
                      </a:r>
                      <a:endParaRPr lang="en-IN" sz="2000" b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What can we do?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990329"/>
                  </a:ext>
                </a:extLst>
              </a:tr>
              <a:tr h="689720"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"Command not found"</a:t>
                      </a:r>
                      <a:endParaRPr lang="en-IN" sz="2000" b="1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Program not in PATH</a:t>
                      </a:r>
                      <a:endParaRPr lang="en-IN" sz="200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sng">
                          <a:effectLst/>
                        </a:rPr>
                        <a:t>Add executable’s path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effectLst/>
                        </a:rPr>
                        <a:t>-Temporary fix: export PATH=/new_path/:$PATH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effectLst/>
                        </a:rPr>
                        <a:t>-Permanent fix: echo ‘PATH=/new_path/:$PATH’ &gt;&gt; 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~/.bash_profile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217413"/>
                  </a:ext>
                </a:extLst>
              </a:tr>
              <a:tr h="655009"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Wrong version runs </a:t>
                      </a:r>
                      <a:endParaRPr lang="en-IN" sz="2000" b="1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Earlier PATH entry takes precedence</a:t>
                      </a:r>
                      <a:r>
                        <a:rPr lang="en-US" sz="2000">
                          <a:effectLst/>
                          <a:latin typeface="+mn-lt"/>
                        </a:rPr>
                        <a:t>.</a:t>
                      </a:r>
                      <a:endParaRPr lang="en-IN" sz="200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+mn-lt"/>
                        </a:rPr>
                        <a:t>which &lt;command&gt;</a:t>
                      </a:r>
                    </a:p>
                    <a:p>
                      <a:r>
                        <a:rPr lang="en-US" sz="2000">
                          <a:effectLst/>
                          <a:latin typeface="+mn-lt"/>
                        </a:rPr>
                        <a:t>whereis &lt;command&gt;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230047"/>
                  </a:ext>
                </a:extLst>
              </a:tr>
              <a:tr h="588813"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Permission denied</a:t>
                      </a:r>
                      <a:endParaRPr lang="en-IN" sz="2000" b="1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+mn-lt"/>
                        </a:rPr>
                        <a:t>Don't have execute permission</a:t>
                      </a:r>
                      <a:endParaRPr lang="en-IN" sz="200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+mn-lt"/>
                        </a:rPr>
                        <a:t>Use chmod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917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495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1D66D-8FAE-B419-C3EC-6FAC366E7545}"/>
              </a:ext>
            </a:extLst>
          </p:cNvPr>
          <p:cNvSpPr txBox="1"/>
          <p:nvPr/>
        </p:nvSpPr>
        <p:spPr>
          <a:xfrm>
            <a:off x="947928" y="272969"/>
            <a:ext cx="10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Bash configuration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1F9E1-05F6-EBBF-1A5B-5F79DEB16232}"/>
              </a:ext>
            </a:extLst>
          </p:cNvPr>
          <p:cNvSpPr txBox="1"/>
          <p:nvPr/>
        </p:nvSpPr>
        <p:spPr>
          <a:xfrm>
            <a:off x="228600" y="1214120"/>
            <a:ext cx="11709400" cy="143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A hidden configuration file in your home directory (Either ~/.bashrc or ~/.bash_profile)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Executed whenever you start a new interactive Bash shell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1DD77-7963-C738-0A27-AE18C917EEBF}"/>
              </a:ext>
            </a:extLst>
          </p:cNvPr>
          <p:cNvSpPr txBox="1"/>
          <p:nvPr/>
        </p:nvSpPr>
        <p:spPr>
          <a:xfrm>
            <a:off x="510032" y="2225766"/>
            <a:ext cx="10244328" cy="360098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bg1"/>
                </a:solidFill>
              </a:rPr>
              <a:t>cat ~/.bashrc</a:t>
            </a:r>
          </a:p>
          <a:p>
            <a:endParaRPr lang="en-IN" sz="1600">
              <a:solidFill>
                <a:schemeClr val="bg1"/>
              </a:solidFill>
            </a:endParaRPr>
          </a:p>
          <a:p>
            <a:r>
              <a:rPr lang="en-IN" sz="1600">
                <a:solidFill>
                  <a:schemeClr val="bg1"/>
                </a:solidFill>
              </a:rPr>
              <a:t># &gt;&gt;&gt; conda initialize &gt;&gt;&gt;</a:t>
            </a:r>
          </a:p>
          <a:p>
            <a:r>
              <a:rPr lang="en-IN" sz="1600">
                <a:solidFill>
                  <a:schemeClr val="bg1"/>
                </a:solidFill>
              </a:rPr>
              <a:t># !! Contents within this block are managed by 'conda init' !!</a:t>
            </a:r>
          </a:p>
          <a:p>
            <a:r>
              <a:rPr lang="en-IN" sz="1600">
                <a:solidFill>
                  <a:schemeClr val="bg1"/>
                </a:solidFill>
              </a:rPr>
              <a:t>__conda_setup="$('/home/ashwin12/miniconda3/bin/conda' 'shell.bash' 'hook' 2&gt; /dev/null)"</a:t>
            </a:r>
          </a:p>
          <a:p>
            <a:r>
              <a:rPr lang="en-IN" sz="1600">
                <a:solidFill>
                  <a:schemeClr val="bg1"/>
                </a:solidFill>
              </a:rPr>
              <a:t>if [ $? -eq 0 ]; then</a:t>
            </a:r>
          </a:p>
          <a:p>
            <a:r>
              <a:rPr lang="en-IN" sz="1600">
                <a:solidFill>
                  <a:schemeClr val="bg1"/>
                </a:solidFill>
              </a:rPr>
              <a:t>    eval "$__conda_setup"</a:t>
            </a:r>
          </a:p>
          <a:p>
            <a:r>
              <a:rPr lang="en-IN" sz="1600">
                <a:solidFill>
                  <a:schemeClr val="bg1"/>
                </a:solidFill>
              </a:rPr>
              <a:t>unset __conda_setup</a:t>
            </a:r>
          </a:p>
          <a:p>
            <a:endParaRPr lang="en-IN" sz="1600">
              <a:solidFill>
                <a:schemeClr val="bg1"/>
              </a:solidFill>
            </a:endParaRPr>
          </a:p>
          <a:p>
            <a:r>
              <a:rPr lang="en-IN" sz="2000">
                <a:solidFill>
                  <a:schemeClr val="bg1"/>
                </a:solidFill>
              </a:rPr>
              <a:t>export PYTHONPATH=$HOME/.local/lib/python3.8/site-packages:$PYTHONPATH</a:t>
            </a:r>
          </a:p>
          <a:p>
            <a:r>
              <a:rPr lang="en-IN" sz="2000">
                <a:solidFill>
                  <a:schemeClr val="bg1"/>
                </a:solidFill>
              </a:rPr>
              <a:t>export PATH</a:t>
            </a:r>
            <a:r>
              <a:rPr lang="en-IN" sz="2000">
                <a:solidFill>
                  <a:schemeClr val="accent2"/>
                </a:solidFill>
              </a:rPr>
              <a:t>=$HOME/gcc-12</a:t>
            </a:r>
            <a:r>
              <a:rPr lang="en-IN" sz="2000">
                <a:solidFill>
                  <a:schemeClr val="bg1"/>
                </a:solidFill>
              </a:rPr>
              <a:t>/bin:$PATH                             |</a:t>
            </a:r>
            <a:r>
              <a:rPr lang="en-IN" sz="2000">
                <a:solidFill>
                  <a:srgbClr val="FF0000"/>
                </a:solidFill>
                <a:sym typeface="Wingdings" panose="05000000000000000000" pitchFamily="2" charset="2"/>
              </a:rPr>
              <a:t>User-installed</a:t>
            </a:r>
            <a:endParaRPr lang="en-IN" sz="2000">
              <a:solidFill>
                <a:schemeClr val="bg1"/>
              </a:solidFill>
            </a:endParaRPr>
          </a:p>
          <a:p>
            <a:r>
              <a:rPr lang="en-IN" sz="2000">
                <a:solidFill>
                  <a:schemeClr val="bg1"/>
                </a:solidFill>
              </a:rPr>
              <a:t>export PATH=/usr/bin:$PATH                                                    |</a:t>
            </a:r>
            <a:r>
              <a:rPr lang="en-IN" sz="2000">
                <a:solidFill>
                  <a:srgbClr val="FF0000"/>
                </a:solidFill>
                <a:sym typeface="Wingdings" panose="05000000000000000000" pitchFamily="2" charset="2"/>
              </a:rPr>
              <a:t>System-wide</a:t>
            </a:r>
            <a:endParaRPr lang="en-IN" sz="2000">
              <a:solidFill>
                <a:schemeClr val="bg1"/>
              </a:solidFill>
            </a:endParaRPr>
          </a:p>
          <a:p>
            <a:r>
              <a:rPr lang="en-IN" sz="2000">
                <a:solidFill>
                  <a:schemeClr val="bg1"/>
                </a:solidFill>
              </a:rPr>
              <a:t>export LD_LIBRARY_PATH</a:t>
            </a:r>
            <a:r>
              <a:rPr lang="en-IN" sz="2000">
                <a:solidFill>
                  <a:schemeClr val="accent2"/>
                </a:solidFill>
              </a:rPr>
              <a:t>=$HOME/gcc-12</a:t>
            </a:r>
            <a:r>
              <a:rPr lang="en-IN" sz="2000">
                <a:solidFill>
                  <a:schemeClr val="bg1"/>
                </a:solidFill>
              </a:rPr>
              <a:t>/lib64:$LD_LIBRARY_PATH         |</a:t>
            </a:r>
            <a:r>
              <a:rPr lang="en-IN" sz="2000">
                <a:solidFill>
                  <a:srgbClr val="FF0000"/>
                </a:solidFill>
                <a:sym typeface="Wingdings" panose="05000000000000000000" pitchFamily="2" charset="2"/>
              </a:rPr>
              <a:t>User-installed</a:t>
            </a:r>
            <a:endParaRPr lang="en-IN" sz="20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70321-A330-4CA8-9334-53F2C8F3B156}"/>
              </a:ext>
            </a:extLst>
          </p:cNvPr>
          <p:cNvSpPr txBox="1"/>
          <p:nvPr/>
        </p:nvSpPr>
        <p:spPr>
          <a:xfrm>
            <a:off x="812800" y="5925449"/>
            <a:ext cx="963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There are other PATH variables too: PYTHONPATH, LD_LIBRARY_PATH, CPATH.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56D487-2F0D-C6C5-D6E2-509FB44DE829}"/>
              </a:ext>
            </a:extLst>
          </p:cNvPr>
          <p:cNvSpPr txBox="1"/>
          <p:nvPr/>
        </p:nvSpPr>
        <p:spPr>
          <a:xfrm>
            <a:off x="812800" y="6393479"/>
            <a:ext cx="6118352" cy="369332"/>
          </a:xfrm>
          <a:prstGeom prst="rect">
            <a:avLst/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Expose the /bin and /lib directories from installed software.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7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9F1756-A6C0-B356-B9FD-6A0653318423}"/>
              </a:ext>
            </a:extLst>
          </p:cNvPr>
          <p:cNvSpPr txBox="1"/>
          <p:nvPr/>
        </p:nvSpPr>
        <p:spPr>
          <a:xfrm>
            <a:off x="947928" y="272969"/>
            <a:ext cx="10296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Why modules? </a:t>
            </a:r>
          </a:p>
          <a:p>
            <a:pPr algn="ctr"/>
            <a:r>
              <a:rPr lang="en-US" sz="3600"/>
              <a:t>Beyond PATH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A9FF72-469A-39E1-C725-178E6477AC57}"/>
              </a:ext>
            </a:extLst>
          </p:cNvPr>
          <p:cNvSpPr txBox="1"/>
          <p:nvPr/>
        </p:nvSpPr>
        <p:spPr>
          <a:xfrm>
            <a:off x="241300" y="1943880"/>
            <a:ext cx="11709400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The challenge with PATH on HPC</a:t>
            </a:r>
            <a:r>
              <a:rPr lang="en-US" sz="2000"/>
              <a:t>:</a:t>
            </a:r>
          </a:p>
          <a:p>
            <a:pPr marL="342900" indent="-342900">
              <a:lnSpc>
                <a:spcPct val="150000"/>
              </a:lnSpc>
              <a:buFontTx/>
              <a:buChar char="—"/>
            </a:pPr>
            <a:r>
              <a:rPr lang="en-US" sz="2000" b="1"/>
              <a:t>Software overload</a:t>
            </a:r>
            <a:r>
              <a:rPr lang="en-US" sz="2000"/>
              <a:t>: 100s of packages, multiple versions</a:t>
            </a:r>
          </a:p>
          <a:p>
            <a:pPr marL="342900" indent="-342900">
              <a:lnSpc>
                <a:spcPct val="150000"/>
              </a:lnSpc>
              <a:buFontTx/>
              <a:buChar char="—"/>
            </a:pPr>
            <a:r>
              <a:rPr lang="en-US" sz="2000" b="1" i="0">
                <a:effectLst/>
              </a:rPr>
              <a:t>Mutually Exclusive</a:t>
            </a:r>
            <a:r>
              <a:rPr lang="en-US" sz="2000" b="0" i="0">
                <a:effectLst/>
              </a:rPr>
              <a:t>: Some tools </a:t>
            </a:r>
            <a:r>
              <a:rPr lang="en-US" sz="2000" b="0" i="1">
                <a:effectLst/>
              </a:rPr>
              <a:t>cannot</a:t>
            </a:r>
            <a:r>
              <a:rPr lang="en-US" sz="2000" b="0" i="0">
                <a:effectLst/>
              </a:rPr>
              <a:t> coexist in the same shell</a:t>
            </a:r>
          </a:p>
          <a:p>
            <a:pPr>
              <a:lnSpc>
                <a:spcPct val="150000"/>
              </a:lnSpc>
            </a:pPr>
            <a:r>
              <a:rPr lang="en-US" sz="2000" b="1"/>
              <a:t>Why modules?</a:t>
            </a:r>
          </a:p>
          <a:p>
            <a:pPr>
              <a:lnSpc>
                <a:spcPct val="150000"/>
              </a:lnSpc>
            </a:pPr>
            <a:r>
              <a:rPr lang="en-US" sz="2000"/>
              <a:t>Each module precisely configures: $PATH, $LD_LIBRARY_PATH, $PYTHONPATH,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5C1AE-C6C2-8B4D-79F2-3EC5F701CB4B}"/>
              </a:ext>
            </a:extLst>
          </p:cNvPr>
          <p:cNvSpPr txBox="1"/>
          <p:nvPr/>
        </p:nvSpPr>
        <p:spPr>
          <a:xfrm>
            <a:off x="3262884" y="1596408"/>
            <a:ext cx="5666232" cy="369332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800"/>
              <a:t>? NOT TO CONFUSE THIS WITH PYTHON MODULES ?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FEB4F-21DE-4360-46FF-135F9863B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65" y="4300166"/>
            <a:ext cx="5915851" cy="2067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E4C30C-A9ED-EFF3-A1EA-DE0FAE42C237}"/>
              </a:ext>
            </a:extLst>
          </p:cNvPr>
          <p:cNvSpPr txBox="1"/>
          <p:nvPr/>
        </p:nvSpPr>
        <p:spPr>
          <a:xfrm>
            <a:off x="609600" y="5061537"/>
            <a:ext cx="3858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Some random module</a:t>
            </a:r>
            <a:endParaRPr lang="en-IN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ECFF1-ABD8-1E8B-8D40-D86D1F232F4A}"/>
              </a:ext>
            </a:extLst>
          </p:cNvPr>
          <p:cNvSpPr txBox="1"/>
          <p:nvPr/>
        </p:nvSpPr>
        <p:spPr>
          <a:xfrm>
            <a:off x="6393434" y="6317898"/>
            <a:ext cx="6519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Example from Anvil training slides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24928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54FF-C605-EF4B-12A0-A980F2FA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8D511F-358B-0232-74A4-2CAA96300F6B}"/>
              </a:ext>
            </a:extLst>
          </p:cNvPr>
          <p:cNvSpPr txBox="1"/>
          <p:nvPr/>
        </p:nvSpPr>
        <p:spPr>
          <a:xfrm>
            <a:off x="461772" y="307836"/>
            <a:ext cx="102961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Modules</a:t>
            </a:r>
          </a:p>
          <a:p>
            <a:pPr algn="ctr"/>
            <a:r>
              <a:rPr lang="en-US" sz="2400" b="0" i="0">
                <a:effectLst/>
              </a:rPr>
              <a:t>All software currently available on your cluster can be listed, loaded, and unloaded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77C763-56B3-2461-CFF8-709D617AE012}"/>
              </a:ext>
            </a:extLst>
          </p:cNvPr>
          <p:cNvSpPr txBox="1"/>
          <p:nvPr/>
        </p:nvSpPr>
        <p:spPr>
          <a:xfrm>
            <a:off x="473964" y="1985421"/>
            <a:ext cx="6099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02122"/>
                </a:solidFill>
              </a:rPr>
              <a:t>L</a:t>
            </a:r>
            <a:r>
              <a:rPr lang="en-US" sz="2000" b="0" i="0">
                <a:solidFill>
                  <a:srgbClr val="202122"/>
                </a:solidFill>
                <a:effectLst/>
              </a:rPr>
              <a:t>ist of all currently loaded modules</a:t>
            </a:r>
            <a:endParaRPr lang="en-IN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C1162-9BA6-31B8-E30D-F0996447E012}"/>
              </a:ext>
            </a:extLst>
          </p:cNvPr>
          <p:cNvSpPr txBox="1"/>
          <p:nvPr/>
        </p:nvSpPr>
        <p:spPr>
          <a:xfrm>
            <a:off x="5673852" y="1985420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02122"/>
                </a:solidFill>
              </a:rPr>
              <a:t>L</a:t>
            </a:r>
            <a:r>
              <a:rPr lang="en-US" sz="2000" b="0" i="0">
                <a:solidFill>
                  <a:srgbClr val="202122"/>
                </a:solidFill>
                <a:effectLst/>
              </a:rPr>
              <a:t>ists all available (loadable) modules and module groups.</a:t>
            </a:r>
            <a:endParaRPr lang="en-IN" sz="200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A05376F-9A9B-6466-51CC-525FBBC8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852" y="2652052"/>
            <a:ext cx="2688336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module avail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207965F-52ED-8766-E1FD-B24856F1A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32" y="2405831"/>
            <a:ext cx="4376928" cy="89255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module list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Currently Loaded Modulefiles: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1) slurm/23.02.7   2)openmpi/4.1.5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BBEB8-D4E1-102F-BC37-B9E45D8932FD}"/>
              </a:ext>
            </a:extLst>
          </p:cNvPr>
          <p:cNvSpPr txBox="1"/>
          <p:nvPr/>
        </p:nvSpPr>
        <p:spPr>
          <a:xfrm>
            <a:off x="633984" y="4536931"/>
            <a:ext cx="4084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02122"/>
                </a:solidFill>
              </a:rPr>
              <a:t>we can load a specific module</a:t>
            </a:r>
            <a:endParaRPr lang="en-IN" sz="200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397C346-3B11-F42D-F2F6-EF3E623C9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52" y="4965648"/>
            <a:ext cx="2688336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module 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load x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A34A7D-869C-D332-74CD-3AD257A923D6}"/>
              </a:ext>
            </a:extLst>
          </p:cNvPr>
          <p:cNvSpPr txBox="1"/>
          <p:nvPr/>
        </p:nvSpPr>
        <p:spPr>
          <a:xfrm>
            <a:off x="5986272" y="4536931"/>
            <a:ext cx="6099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02122"/>
                </a:solidFill>
              </a:rPr>
              <a:t>Or unload a specific module</a:t>
            </a:r>
            <a:endParaRPr lang="en-IN" sz="200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9EE0476-D586-57FD-04DD-1F117539F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272" y="4922606"/>
            <a:ext cx="3052572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module un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load x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59C92-EE63-E1BF-AC52-5B889475317E}"/>
              </a:ext>
            </a:extLst>
          </p:cNvPr>
          <p:cNvSpPr txBox="1"/>
          <p:nvPr/>
        </p:nvSpPr>
        <p:spPr>
          <a:xfrm>
            <a:off x="743712" y="5526626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swap a specific module for another one </a:t>
            </a:r>
            <a:endParaRPr lang="en-IN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4B91DA1F-0FBA-2FE0-8D6C-89D585833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718" y="5495848"/>
            <a:ext cx="3535680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module switch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 x y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C4302E-1EC1-C574-E66A-FFAA0C8034E5}"/>
              </a:ext>
            </a:extLst>
          </p:cNvPr>
          <p:cNvCxnSpPr/>
          <p:nvPr/>
        </p:nvCxnSpPr>
        <p:spPr>
          <a:xfrm>
            <a:off x="5410200" y="1985420"/>
            <a:ext cx="0" cy="14435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Arrow: Down 34">
            <a:extLst>
              <a:ext uri="{FF2B5EF4-FFF2-40B4-BE49-F238E27FC236}">
                <a16:creationId xmlns:a16="http://schemas.microsoft.com/office/drawing/2014/main" id="{B8BCDD28-5CC0-A2EC-5116-E90F8766D03E}"/>
              </a:ext>
            </a:extLst>
          </p:cNvPr>
          <p:cNvSpPr/>
          <p:nvPr/>
        </p:nvSpPr>
        <p:spPr>
          <a:xfrm>
            <a:off x="5166368" y="3637341"/>
            <a:ext cx="443476" cy="70788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68A3C2-7C25-88A9-7652-043C8218906B}"/>
              </a:ext>
            </a:extLst>
          </p:cNvPr>
          <p:cNvSpPr txBox="1"/>
          <p:nvPr/>
        </p:nvSpPr>
        <p:spPr>
          <a:xfrm>
            <a:off x="5640324" y="3819921"/>
            <a:ext cx="786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Once you know which versions or softwares you need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64935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6CF7-3ABD-A8EF-1F42-E541D5E0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Python Packages installation (</a:t>
            </a:r>
            <a:r>
              <a:rPr lang="en-US" b="1" dirty="0" err="1">
                <a:solidFill>
                  <a:srgbClr val="C00000"/>
                </a:solidFill>
              </a:rPr>
              <a:t>conda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5907-8B11-700B-C025-5724349E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633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</a:t>
            </a:r>
            <a:r>
              <a:rPr lang="en-US" dirty="0" err="1"/>
              <a:t>conda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package manager and environment manager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Module</a:t>
            </a:r>
          </a:p>
          <a:p>
            <a:pPr lvl="2"/>
            <a:r>
              <a:rPr lang="en-US" dirty="0"/>
              <a:t>Load anaconda to use </a:t>
            </a:r>
            <a:r>
              <a:rPr lang="en-US" dirty="0" err="1"/>
              <a:t>conda</a:t>
            </a:r>
            <a:endParaRPr lang="en-US" dirty="0"/>
          </a:p>
          <a:p>
            <a:pPr lvl="1"/>
            <a:r>
              <a:rPr lang="en-US" dirty="0"/>
              <a:t>Conda</a:t>
            </a:r>
          </a:p>
          <a:p>
            <a:pPr lvl="2"/>
            <a:r>
              <a:rPr lang="en-US" dirty="0"/>
              <a:t>Create env</a:t>
            </a:r>
          </a:p>
          <a:p>
            <a:pPr lvl="2"/>
            <a:r>
              <a:rPr lang="en-US" dirty="0"/>
              <a:t>Install packages within env</a:t>
            </a:r>
          </a:p>
          <a:p>
            <a:pPr lvl="2"/>
            <a:r>
              <a:rPr lang="en-US" dirty="0"/>
              <a:t>Remove env</a:t>
            </a:r>
          </a:p>
          <a:p>
            <a:pPr lvl="1"/>
            <a:r>
              <a:rPr lang="en-US" dirty="0"/>
              <a:t>Cautions:</a:t>
            </a:r>
          </a:p>
          <a:p>
            <a:pPr lvl="2"/>
            <a:r>
              <a:rPr lang="en-US" dirty="0"/>
              <a:t>Do not use </a:t>
            </a:r>
            <a:r>
              <a:rPr lang="en-US" dirty="0" err="1"/>
              <a:t>conda</a:t>
            </a:r>
            <a:r>
              <a:rPr lang="en-US" dirty="0"/>
              <a:t> activate/deactivate/</a:t>
            </a:r>
            <a:r>
              <a:rPr lang="en-US" dirty="0" err="1"/>
              <a:t>init</a:t>
            </a:r>
            <a:r>
              <a:rPr lang="en-US" dirty="0"/>
              <a:t> on Anvil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886EC-5BC7-0CDA-D179-3C8374173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929" y="3251544"/>
            <a:ext cx="4876211" cy="3606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9B9D2-6DBE-14D9-5AD8-C6E1B12A5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929" y="2318649"/>
            <a:ext cx="4868892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50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B92D-0660-F2DB-59F1-2C41FEDC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E62F5D-BF7D-42F5-C73A-E291A5E4C9DB}"/>
              </a:ext>
            </a:extLst>
          </p:cNvPr>
          <p:cNvSpPr txBox="1"/>
          <p:nvPr/>
        </p:nvSpPr>
        <p:spPr>
          <a:xfrm>
            <a:off x="2633472" y="329184"/>
            <a:ext cx="746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HPC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2B9A0-12D6-74E3-4130-70A566EB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1" y="1109764"/>
            <a:ext cx="5748527" cy="3020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1819D8-3411-5077-A633-72FB5BD533A8}"/>
              </a:ext>
            </a:extLst>
          </p:cNvPr>
          <p:cNvSpPr txBox="1"/>
          <p:nvPr/>
        </p:nvSpPr>
        <p:spPr>
          <a:xfrm>
            <a:off x="2048253" y="4130176"/>
            <a:ext cx="4730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HPC architecture</a:t>
            </a:r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DEDF6-4D43-E8E1-0549-4A2FC31E1CF1}"/>
              </a:ext>
            </a:extLst>
          </p:cNvPr>
          <p:cNvSpPr txBox="1"/>
          <p:nvPr/>
        </p:nvSpPr>
        <p:spPr>
          <a:xfrm>
            <a:off x="8540496" y="6528816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Images from ekatsevi.github.io</a:t>
            </a:r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B69EFC-9D51-E585-1326-7AD2A0F67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80" y="1431384"/>
            <a:ext cx="4407409" cy="45977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A2F1B7-389D-21A2-940C-AA88061016F9}"/>
              </a:ext>
            </a:extLst>
          </p:cNvPr>
          <p:cNvSpPr txBox="1"/>
          <p:nvPr/>
        </p:nvSpPr>
        <p:spPr>
          <a:xfrm>
            <a:off x="8071103" y="5859835"/>
            <a:ext cx="4632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Scheduling multiple jobs</a:t>
            </a:r>
            <a:endParaRPr lang="en-IN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9B1C4D-35D1-D48C-A6F6-8645D81F8085}"/>
              </a:ext>
            </a:extLst>
          </p:cNvPr>
          <p:cNvSpPr txBox="1"/>
          <p:nvPr/>
        </p:nvSpPr>
        <p:spPr>
          <a:xfrm>
            <a:off x="370330" y="4575564"/>
            <a:ext cx="6099048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0">
                <a:effectLst/>
              </a:rPr>
              <a:t>Node</a:t>
            </a:r>
            <a:r>
              <a:rPr lang="en-US" sz="2000" b="0" i="0">
                <a:effectLst/>
              </a:rPr>
              <a:t>: Single computational unit within a cluster.</a:t>
            </a:r>
          </a:p>
          <a:p>
            <a:pPr>
              <a:lnSpc>
                <a:spcPct val="150000"/>
              </a:lnSpc>
            </a:pPr>
            <a:r>
              <a:rPr lang="en-US" sz="2000" b="1"/>
              <a:t>Core</a:t>
            </a:r>
            <a:r>
              <a:rPr lang="en-US" sz="2000"/>
              <a:t>: Individual processing unit within a CPU.</a:t>
            </a:r>
          </a:p>
          <a:p>
            <a:pPr>
              <a:lnSpc>
                <a:spcPct val="150000"/>
              </a:lnSpc>
            </a:pPr>
            <a:r>
              <a:rPr lang="en-US" sz="2000" b="1"/>
              <a:t>RAM</a:t>
            </a:r>
            <a:r>
              <a:rPr lang="en-US" sz="2000"/>
              <a:t>: Primary storage medium to store and retrieve data during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671816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29BCE6-12B6-6F1E-820B-44E9B46A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78" y="1308452"/>
            <a:ext cx="9203044" cy="4650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7F89C-B818-0FF4-A617-731348829233}"/>
              </a:ext>
            </a:extLst>
          </p:cNvPr>
          <p:cNvSpPr txBox="1"/>
          <p:nvPr/>
        </p:nvSpPr>
        <p:spPr>
          <a:xfrm>
            <a:off x="2633472" y="329184"/>
            <a:ext cx="746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</a:rPr>
              <a:t>Anvil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4136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7AD7B-2D81-6575-5446-B2129322B872}"/>
              </a:ext>
            </a:extLst>
          </p:cNvPr>
          <p:cNvSpPr txBox="1"/>
          <p:nvPr/>
        </p:nvSpPr>
        <p:spPr>
          <a:xfrm>
            <a:off x="2432304" y="329184"/>
            <a:ext cx="8449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sz="4400" b="1" i="0">
                <a:solidFill>
                  <a:srgbClr val="C00000"/>
                </a:solidFill>
                <a:effectLst/>
                <a:latin typeface="+mj-lt"/>
              </a:rPr>
              <a:t>Pre-Run Checklist for Cluster Jobs</a:t>
            </a:r>
            <a:endParaRPr lang="en-US" sz="4400" b="0" i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36F70-6326-E7A8-3384-1E1CD77F5715}"/>
              </a:ext>
            </a:extLst>
          </p:cNvPr>
          <p:cNvSpPr txBox="1"/>
          <p:nvPr/>
        </p:nvSpPr>
        <p:spPr>
          <a:xfrm>
            <a:off x="676656" y="1279746"/>
            <a:ext cx="10204704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Job types: </a:t>
            </a:r>
            <a:r>
              <a:rPr lang="en-US" sz="2000"/>
              <a:t>Interactive job, </a:t>
            </a:r>
            <a:r>
              <a:rPr lang="en-US" sz="2000" i="1"/>
              <a:t>sinteractive</a:t>
            </a:r>
            <a:r>
              <a:rPr lang="en-US" sz="2000"/>
              <a:t>; Batch job, </a:t>
            </a:r>
            <a:r>
              <a:rPr lang="en-US" sz="2000" i="1"/>
              <a:t>sbatch.</a:t>
            </a:r>
          </a:p>
          <a:p>
            <a:pPr>
              <a:lnSpc>
                <a:spcPct val="150000"/>
              </a:lnSpc>
            </a:pPr>
            <a:r>
              <a:rPr lang="en-US" sz="2000" b="1" i="0">
                <a:effectLst/>
              </a:rPr>
              <a:t>1. Resource estimates:  </a:t>
            </a:r>
            <a:r>
              <a:rPr lang="en-US" sz="2000" i="0">
                <a:effectLst/>
              </a:rPr>
              <a:t>Number of nodes   |   CPU cores   |   Memory   |   Walltime</a:t>
            </a:r>
            <a:r>
              <a:rPr lang="en-US" sz="2000"/>
              <a:t>.</a:t>
            </a:r>
          </a:p>
          <a:p>
            <a:pPr>
              <a:lnSpc>
                <a:spcPct val="150000"/>
              </a:lnSpc>
            </a:pPr>
            <a:r>
              <a:rPr lang="en-US" sz="2000"/>
              <a:t>2. </a:t>
            </a:r>
            <a:r>
              <a:rPr lang="en-US" sz="2000" b="1"/>
              <a:t>Software requirements</a:t>
            </a:r>
            <a:r>
              <a:rPr lang="en-US" sz="2000"/>
              <a:t>: module</a:t>
            </a:r>
          </a:p>
          <a:p>
            <a:pPr>
              <a:lnSpc>
                <a:spcPct val="150000"/>
              </a:lnSpc>
            </a:pPr>
            <a:r>
              <a:rPr lang="en-US" sz="2000"/>
              <a:t>3. </a:t>
            </a:r>
            <a:r>
              <a:rPr lang="en-US" sz="2000" b="1"/>
              <a:t>Slurm Partition(Queue): </a:t>
            </a:r>
            <a:r>
              <a:rPr lang="en-US" sz="2000"/>
              <a:t>Depends on node type.</a:t>
            </a:r>
          </a:p>
          <a:p>
            <a:pPr>
              <a:lnSpc>
                <a:spcPct val="150000"/>
              </a:lnSpc>
            </a:pPr>
            <a:r>
              <a:rPr lang="en-US" sz="2000"/>
              <a:t>Commonly used: </a:t>
            </a:r>
            <a:r>
              <a:rPr lang="en-US" sz="2000" b="1"/>
              <a:t>shared</a:t>
            </a:r>
            <a:r>
              <a:rPr lang="en-US" sz="2000"/>
              <a:t>		|	For checks: </a:t>
            </a:r>
            <a:r>
              <a:rPr lang="en-US" sz="2000" b="1"/>
              <a:t>debug</a:t>
            </a:r>
            <a:r>
              <a:rPr lang="en-US" sz="2000"/>
              <a:t> 	</a:t>
            </a:r>
          </a:p>
          <a:p>
            <a:pPr>
              <a:lnSpc>
                <a:spcPct val="150000"/>
              </a:lnSpc>
            </a:pPr>
            <a:endParaRPr lang="en-IN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ABA85E-87C0-EBAE-E6B9-4E8FBA370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806707"/>
            <a:ext cx="9075617" cy="253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47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82B06A-5118-BA2B-89B2-77D263F003E1}"/>
              </a:ext>
            </a:extLst>
          </p:cNvPr>
          <p:cNvSpPr txBox="1"/>
          <p:nvPr/>
        </p:nvSpPr>
        <p:spPr>
          <a:xfrm>
            <a:off x="768096" y="310897"/>
            <a:ext cx="101132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effectLst/>
                <a:latin typeface="+mj-lt"/>
              </a:rPr>
              <a:t>SLURM Script</a:t>
            </a:r>
          </a:p>
          <a:p>
            <a:pPr algn="ctr"/>
            <a:r>
              <a:rPr lang="en-US" sz="2400" b="1"/>
              <a:t>S</a:t>
            </a:r>
            <a:r>
              <a:rPr lang="en-US" sz="2400"/>
              <a:t>imple </a:t>
            </a:r>
            <a:r>
              <a:rPr lang="en-US" sz="2400" b="1"/>
              <a:t>L</a:t>
            </a:r>
            <a:r>
              <a:rPr lang="en-US" sz="2400"/>
              <a:t>inux </a:t>
            </a:r>
            <a:r>
              <a:rPr lang="en-US" sz="2400" b="1"/>
              <a:t>U</a:t>
            </a:r>
            <a:r>
              <a:rPr lang="en-US" sz="2400"/>
              <a:t>tility for </a:t>
            </a:r>
            <a:r>
              <a:rPr lang="en-US" sz="2400" b="1"/>
              <a:t>R</a:t>
            </a:r>
            <a:r>
              <a:rPr lang="en-US" sz="2400"/>
              <a:t>esource </a:t>
            </a:r>
            <a:r>
              <a:rPr lang="en-US" sz="2400" b="1"/>
              <a:t>M</a:t>
            </a:r>
            <a:r>
              <a:rPr lang="en-US" sz="2400"/>
              <a:t>anagement</a:t>
            </a:r>
          </a:p>
          <a:p>
            <a:pPr algn="ctr"/>
            <a:r>
              <a:rPr lang="en-US" sz="2400"/>
              <a:t>For scheduling and job management on compute nodes</a:t>
            </a:r>
            <a:endParaRPr lang="en-IN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40F35-7A9C-1CB6-56FC-580638F40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739" y="4720920"/>
            <a:ext cx="7718554" cy="1809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0619B6-3644-AB1F-1BD9-C2CE015AAA4D}"/>
              </a:ext>
            </a:extLst>
          </p:cNvPr>
          <p:cNvSpPr txBox="1"/>
          <p:nvPr/>
        </p:nvSpPr>
        <p:spPr>
          <a:xfrm>
            <a:off x="493776" y="1819002"/>
            <a:ext cx="7443216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Interactive job</a:t>
            </a:r>
            <a:r>
              <a:rPr lang="en-US" sz="2000"/>
              <a:t>: sinteractive –p shared –N 1 –n 4</a:t>
            </a:r>
          </a:p>
          <a:p>
            <a:pPr>
              <a:lnSpc>
                <a:spcPct val="150000"/>
              </a:lnSpc>
            </a:pPr>
            <a:r>
              <a:rPr lang="en-US" sz="2000" b="1"/>
              <a:t>Batch job</a:t>
            </a:r>
            <a:r>
              <a:rPr lang="en-US" sz="2000"/>
              <a:t>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/>
              <a:t>Create submission script</a:t>
            </a:r>
            <a:r>
              <a:rPr lang="en-US" sz="2000"/>
              <a:t>: vim batch_file.sh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/>
              <a:t>Submit job</a:t>
            </a:r>
            <a:r>
              <a:rPr lang="en-US" sz="2000"/>
              <a:t>: sbatch batch_file.sh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/>
              <a:t>Monitor job status</a:t>
            </a:r>
            <a:r>
              <a:rPr lang="en-US" sz="2000"/>
              <a:t>: squeue –me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/>
              <a:t>Cancel job(if needed): </a:t>
            </a:r>
            <a:r>
              <a:rPr lang="en-US" sz="2000"/>
              <a:t>scancel &lt;jobID&gt;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EC346-92AE-AEA5-A146-84810F2B1865}"/>
              </a:ext>
            </a:extLst>
          </p:cNvPr>
          <p:cNvSpPr txBox="1"/>
          <p:nvPr/>
        </p:nvSpPr>
        <p:spPr>
          <a:xfrm>
            <a:off x="768096" y="5356984"/>
            <a:ext cx="4535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Example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560930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728F-47DB-F239-EA56-C3ED33A6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file to remote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0A54B-2024-E421-5CF0-07A9F883B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CLI:</a:t>
            </a:r>
          </a:p>
          <a:p>
            <a:endParaRPr lang="en-US" dirty="0"/>
          </a:p>
          <a:p>
            <a:r>
              <a:rPr lang="en-US" dirty="0"/>
              <a:t>GUI: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17B91-D6BD-45D1-590C-A5E48086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16" y="1648996"/>
            <a:ext cx="4446844" cy="771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C8BA26-ED34-3A82-F296-5BB9B403A8FA}"/>
              </a:ext>
            </a:extLst>
          </p:cNvPr>
          <p:cNvSpPr txBox="1"/>
          <p:nvPr/>
        </p:nvSpPr>
        <p:spPr>
          <a:xfrm>
            <a:off x="1655806" y="3429000"/>
            <a:ext cx="216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Windows: WinSCP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6B93D-C0CE-35EB-7973-04F50B641361}"/>
              </a:ext>
            </a:extLst>
          </p:cNvPr>
          <p:cNvSpPr txBox="1"/>
          <p:nvPr/>
        </p:nvSpPr>
        <p:spPr>
          <a:xfrm>
            <a:off x="970849" y="374355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winscp.net</a:t>
            </a:r>
            <a:r>
              <a:rPr lang="en-US" dirty="0"/>
              <a:t>/</a:t>
            </a:r>
            <a:r>
              <a:rPr lang="en-US" dirty="0" err="1"/>
              <a:t>eng</a:t>
            </a:r>
            <a:r>
              <a:rPr lang="en-US" dirty="0"/>
              <a:t>/</a:t>
            </a:r>
            <a:r>
              <a:rPr lang="en-US" dirty="0" err="1"/>
              <a:t>index.php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AE0F895-6BFB-68F6-203C-B61FB7B50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03" y="4027387"/>
            <a:ext cx="4538848" cy="28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89DC3C-C2E1-28F5-AD66-52527E02EF26}"/>
              </a:ext>
            </a:extLst>
          </p:cNvPr>
          <p:cNvSpPr txBox="1"/>
          <p:nvPr/>
        </p:nvSpPr>
        <p:spPr>
          <a:xfrm>
            <a:off x="7753864" y="3374221"/>
            <a:ext cx="211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macOS: </a:t>
            </a:r>
            <a:r>
              <a:rPr lang="en-US" dirty="0" err="1"/>
              <a:t>Cyberduck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9CF7A-530A-4D05-E7E0-0131B6B68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649" y="4003093"/>
            <a:ext cx="4538848" cy="2879199"/>
          </a:xfrm>
          <a:prstGeom prst="rect">
            <a:avLst/>
          </a:prstGeom>
        </p:spPr>
      </p:pic>
      <p:pic>
        <p:nvPicPr>
          <p:cNvPr id="1026" name="Picture 2" descr="WinSCP - Wikipedia">
            <a:extLst>
              <a:ext uri="{FF2B5EF4-FFF2-40B4-BE49-F238E27FC236}">
                <a16:creationId xmlns:a16="http://schemas.microsoft.com/office/drawing/2014/main" id="{87FEA853-CC53-FDCF-1F30-03783B2E1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988" y="2829541"/>
            <a:ext cx="684957" cy="68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iterate-ch/cyberduck: Cyberduck is a libre FTP, SFTP, WebDAV,  Amazon S3, Backblaze B2, Microsoft Azure &amp; OneDrive and OpenStack Swift  file transfer client for Mac and Windows.">
            <a:extLst>
              <a:ext uri="{FF2B5EF4-FFF2-40B4-BE49-F238E27FC236}">
                <a16:creationId xmlns:a16="http://schemas.microsoft.com/office/drawing/2014/main" id="{47089CD1-102B-9C0D-1ADD-ED9031B59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924" y="2784014"/>
            <a:ext cx="684957" cy="68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306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EFE8-FDFC-59DA-3728-4965492A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Vscode</a:t>
            </a:r>
            <a:r>
              <a:rPr lang="en-US" altLang="zh-TW" dirty="0"/>
              <a:t> remote development</a:t>
            </a:r>
            <a:r>
              <a:rPr lang="zh-TW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F844-11A4-FE12-2147-DB2034833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Why</a:t>
            </a:r>
            <a:r>
              <a:rPr lang="zh-TW" altLang="en-US" dirty="0"/>
              <a:t> </a:t>
            </a:r>
            <a:r>
              <a:rPr lang="en-US" altLang="zh-TW" dirty="0"/>
              <a:t>use</a:t>
            </a:r>
            <a:r>
              <a:rPr lang="zh-TW" altLang="en-US" dirty="0"/>
              <a:t> </a:t>
            </a:r>
            <a:r>
              <a:rPr lang="en-US" altLang="zh-TW" dirty="0" err="1"/>
              <a:t>VSCode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/>
              <a:t>Edit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  <a:r>
              <a:rPr lang="zh-TW" altLang="en-US" dirty="0"/>
              <a:t> </a:t>
            </a:r>
            <a:r>
              <a:rPr lang="en-US" altLang="zh-TW" dirty="0"/>
              <a:t>run</a:t>
            </a:r>
            <a:r>
              <a:rPr lang="zh-TW" altLang="en-US" dirty="0"/>
              <a:t> </a:t>
            </a:r>
            <a:r>
              <a:rPr lang="en-US" altLang="zh-TW" dirty="0"/>
              <a:t>files</a:t>
            </a:r>
            <a:r>
              <a:rPr lang="zh-TW" altLang="en-US" dirty="0"/>
              <a:t> </a:t>
            </a:r>
            <a:r>
              <a:rPr lang="en-US" altLang="zh-TW" dirty="0"/>
              <a:t>directly</a:t>
            </a:r>
            <a:r>
              <a:rPr lang="zh-TW" altLang="en-US" dirty="0"/>
              <a:t> </a:t>
            </a:r>
            <a:r>
              <a:rPr lang="en-US" altLang="zh-TW" dirty="0"/>
              <a:t>on</a:t>
            </a:r>
            <a:r>
              <a:rPr lang="zh-TW" altLang="en-US" dirty="0"/>
              <a:t> </a:t>
            </a:r>
            <a:r>
              <a:rPr lang="en-US" altLang="zh-TW" dirty="0"/>
              <a:t>remote</a:t>
            </a:r>
            <a:r>
              <a:rPr lang="zh-TW" altLang="en-US" dirty="0"/>
              <a:t> </a:t>
            </a:r>
            <a:r>
              <a:rPr lang="en-US" altLang="zh-TW" dirty="0"/>
              <a:t>servers</a:t>
            </a:r>
          </a:p>
          <a:p>
            <a:pPr lvl="1"/>
            <a:r>
              <a:rPr lang="en-US" altLang="zh-TW" dirty="0"/>
              <a:t>Convenient</a:t>
            </a:r>
            <a:r>
              <a:rPr lang="zh-TW" altLang="en-US" dirty="0"/>
              <a:t> </a:t>
            </a:r>
            <a:r>
              <a:rPr lang="en-US" altLang="zh-TW" dirty="0"/>
              <a:t>tools</a:t>
            </a:r>
            <a:r>
              <a:rPr lang="zh-TW" altLang="en-US" dirty="0"/>
              <a:t> </a:t>
            </a:r>
            <a:r>
              <a:rPr lang="en-US" altLang="zh-TW" dirty="0"/>
              <a:t>for</a:t>
            </a:r>
            <a:r>
              <a:rPr lang="zh-TW" altLang="en-US" dirty="0"/>
              <a:t> </a:t>
            </a:r>
            <a:r>
              <a:rPr lang="en-US" altLang="zh-TW" dirty="0"/>
              <a:t>better</a:t>
            </a:r>
            <a:r>
              <a:rPr lang="zh-TW" altLang="en-US" dirty="0"/>
              <a:t> </a:t>
            </a:r>
            <a:r>
              <a:rPr lang="en-US" altLang="zh-TW" dirty="0"/>
              <a:t>integration</a:t>
            </a:r>
            <a:r>
              <a:rPr lang="zh-TW" altLang="en-US" dirty="0"/>
              <a:t> </a:t>
            </a:r>
            <a:r>
              <a:rPr lang="en-US" altLang="zh-TW" dirty="0"/>
              <a:t>(e.g.,</a:t>
            </a:r>
            <a:r>
              <a:rPr lang="zh-TW" altLang="en-US" dirty="0"/>
              <a:t> </a:t>
            </a:r>
            <a:r>
              <a:rPr lang="en-US" altLang="zh-TW" dirty="0"/>
              <a:t>terminal,</a:t>
            </a:r>
            <a:r>
              <a:rPr lang="zh-TW" altLang="en-US" dirty="0"/>
              <a:t> </a:t>
            </a:r>
            <a:r>
              <a:rPr lang="en-US" altLang="zh-TW" dirty="0"/>
              <a:t>git,</a:t>
            </a:r>
            <a:r>
              <a:rPr lang="zh-TW" altLang="en-US" dirty="0"/>
              <a:t> </a:t>
            </a:r>
            <a:r>
              <a:rPr lang="en-US" altLang="zh-TW" dirty="0" err="1"/>
              <a:t>slurm</a:t>
            </a:r>
            <a:r>
              <a:rPr lang="zh-TW" altLang="en-US" dirty="0"/>
              <a:t> </a:t>
            </a:r>
            <a:r>
              <a:rPr lang="en-US" altLang="zh-TW" dirty="0"/>
              <a:t>monitor,</a:t>
            </a:r>
            <a:r>
              <a:rPr lang="zh-TW" altLang="en-US" dirty="0"/>
              <a:t> </a:t>
            </a:r>
            <a:r>
              <a:rPr lang="en-US" altLang="zh-TW" dirty="0"/>
              <a:t>file</a:t>
            </a:r>
            <a:r>
              <a:rPr lang="zh-TW" altLang="en-US" dirty="0"/>
              <a:t> </a:t>
            </a:r>
            <a:r>
              <a:rPr lang="en-US" altLang="zh-TW" dirty="0"/>
              <a:t>transfer,</a:t>
            </a:r>
            <a:r>
              <a:rPr lang="zh-TW" altLang="en-US" dirty="0"/>
              <a:t> </a:t>
            </a:r>
            <a:r>
              <a:rPr lang="en-US" altLang="zh-TW" dirty="0"/>
              <a:t>etc.)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Steps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Installation</a:t>
            </a:r>
          </a:p>
          <a:p>
            <a:pPr lvl="1"/>
            <a:r>
              <a:rPr lang="en-US" altLang="zh-TW" dirty="0"/>
              <a:t>Install</a:t>
            </a:r>
            <a:r>
              <a:rPr lang="zh-TW" altLang="en-US" dirty="0"/>
              <a:t> </a:t>
            </a:r>
            <a:r>
              <a:rPr lang="en-US" altLang="zh-TW" dirty="0" err="1"/>
              <a:t>VSCode</a:t>
            </a:r>
            <a:endParaRPr lang="en-US" altLang="zh-TW" dirty="0"/>
          </a:p>
          <a:p>
            <a:pPr lvl="2"/>
            <a:r>
              <a:rPr lang="en-US" altLang="zh-TW" dirty="0"/>
              <a:t>https://</a:t>
            </a:r>
            <a:r>
              <a:rPr lang="en-US" altLang="zh-TW" dirty="0" err="1"/>
              <a:t>code.visualstudio.com</a:t>
            </a:r>
            <a:r>
              <a:rPr lang="en-US" altLang="zh-TW" dirty="0"/>
              <a:t>/</a:t>
            </a:r>
          </a:p>
          <a:p>
            <a:pPr lvl="1"/>
            <a:r>
              <a:rPr lang="en-US" altLang="zh-TW" dirty="0"/>
              <a:t>Insall</a:t>
            </a:r>
            <a:r>
              <a:rPr lang="zh-TW" altLang="en-US" dirty="0"/>
              <a:t> </a:t>
            </a:r>
            <a:r>
              <a:rPr lang="en-US" altLang="zh-TW" dirty="0"/>
              <a:t>Remote-SSH</a:t>
            </a:r>
            <a:r>
              <a:rPr lang="zh-TW" altLang="en-US" dirty="0"/>
              <a:t> </a:t>
            </a:r>
            <a:r>
              <a:rPr lang="en-US" altLang="zh-TW" dirty="0"/>
              <a:t>extension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890FC-D953-1F6D-D041-54DAB822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25" y="4084771"/>
            <a:ext cx="52705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96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EDB8-BB4D-307B-2BD0-FC856C5A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Vscode</a:t>
            </a:r>
            <a:r>
              <a:rPr lang="en-US" altLang="zh-TW" dirty="0"/>
              <a:t> remote development</a:t>
            </a:r>
            <a:r>
              <a:rPr lang="zh-TW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51FB4-F3D8-1202-3D26-E3A6D8ED8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Steps–</a:t>
            </a:r>
            <a:r>
              <a:rPr lang="zh-TW" altLang="en-US" dirty="0"/>
              <a:t> </a:t>
            </a:r>
            <a:r>
              <a:rPr lang="en-US" altLang="zh-TW" dirty="0"/>
              <a:t>Setup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Click</a:t>
            </a:r>
            <a:r>
              <a:rPr lang="zh-TW" altLang="en-US" dirty="0"/>
              <a:t> </a:t>
            </a:r>
            <a:r>
              <a:rPr lang="en-US" altLang="zh-TW" dirty="0"/>
              <a:t>“+”</a:t>
            </a:r>
            <a:r>
              <a:rPr lang="zh-TW" altLang="en-US" dirty="0"/>
              <a:t> </a:t>
            </a:r>
            <a:r>
              <a:rPr lang="en-US" altLang="zh-TW" dirty="0"/>
              <a:t>sign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r>
              <a:rPr lang="zh-TW" altLang="en-US" dirty="0"/>
              <a:t> </a:t>
            </a:r>
            <a:r>
              <a:rPr lang="en-US" altLang="zh-TW" dirty="0"/>
              <a:t>panel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add</a:t>
            </a:r>
            <a:r>
              <a:rPr lang="zh-TW" altLang="en-US" dirty="0"/>
              <a:t> </a:t>
            </a:r>
            <a:r>
              <a:rPr lang="en-US" altLang="zh-TW" dirty="0"/>
              <a:t>new</a:t>
            </a:r>
            <a:r>
              <a:rPr lang="zh-TW" altLang="en-US" dirty="0"/>
              <a:t> </a:t>
            </a:r>
            <a:r>
              <a:rPr lang="en-US" altLang="zh-TW" dirty="0"/>
              <a:t>remote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Enter</a:t>
            </a:r>
            <a:r>
              <a:rPr lang="zh-TW" altLang="en-US" dirty="0"/>
              <a:t> </a:t>
            </a:r>
            <a:r>
              <a:rPr lang="en-US" altLang="zh-TW" dirty="0"/>
              <a:t>hostname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anvil.rcac.purdue.edu</a:t>
            </a:r>
            <a:r>
              <a:rPr lang="en-US" altLang="zh-TW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Configure</a:t>
            </a:r>
            <a:r>
              <a:rPr lang="zh-TW" altLang="en-US" dirty="0"/>
              <a:t> </a:t>
            </a:r>
            <a:r>
              <a:rPr lang="en-US" altLang="zh-TW" dirty="0"/>
              <a:t>SSH</a:t>
            </a:r>
            <a:r>
              <a:rPr lang="zh-TW" altLang="en-US" dirty="0"/>
              <a:t> </a:t>
            </a:r>
            <a:r>
              <a:rPr lang="en-US" altLang="zh-TW" dirty="0"/>
              <a:t>files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Select</a:t>
            </a:r>
            <a:r>
              <a:rPr lang="zh-TW" altLang="en-US" dirty="0"/>
              <a:t> </a:t>
            </a:r>
            <a:r>
              <a:rPr lang="en-US" altLang="zh-TW" dirty="0"/>
              <a:t>Linux</a:t>
            </a:r>
            <a:r>
              <a:rPr lang="zh-TW" altLang="en-US" dirty="0"/>
              <a:t> </a:t>
            </a:r>
            <a:r>
              <a:rPr lang="en-US" altLang="zh-TW" dirty="0"/>
              <a:t>as</a:t>
            </a:r>
            <a:r>
              <a:rPr lang="zh-TW" altLang="en-US" dirty="0"/>
              <a:t> </a:t>
            </a:r>
            <a:r>
              <a:rPr lang="en-US" altLang="zh-TW" dirty="0"/>
              <a:t>the type</a:t>
            </a:r>
            <a:r>
              <a:rPr lang="zh-TW" altLang="en-US" dirty="0"/>
              <a:t> </a:t>
            </a:r>
            <a:r>
              <a:rPr lang="en-US" altLang="zh-TW" dirty="0"/>
              <a:t>of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endParaRPr lang="en-US" altLang="zh-TW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EF156-1F43-2A1A-7288-DF1F09E2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63" y="2645086"/>
            <a:ext cx="5001657" cy="7311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9ED62F-653D-E688-7CCC-D4E617B91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384" y="1565434"/>
            <a:ext cx="3031876" cy="94471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5CF2221-5F3B-C4C1-F8C0-35095B8D2F18}"/>
              </a:ext>
            </a:extLst>
          </p:cNvPr>
          <p:cNvSpPr/>
          <p:nvPr/>
        </p:nvSpPr>
        <p:spPr>
          <a:xfrm>
            <a:off x="11556636" y="1430497"/>
            <a:ext cx="407624" cy="4590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llustration of platform selection">
            <a:extLst>
              <a:ext uri="{FF2B5EF4-FFF2-40B4-BE49-F238E27FC236}">
                <a16:creationId xmlns:a16="http://schemas.microsoft.com/office/drawing/2014/main" id="{C1A1AA8E-41C4-2565-C417-F88E7BB75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763" y="5605630"/>
            <a:ext cx="4748270" cy="83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AA310A-328C-E6A0-B453-9CC1DCF73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403" y="3706270"/>
            <a:ext cx="3822700" cy="850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AB954-7B1B-890F-7D46-8068BAC60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23" y="3837311"/>
            <a:ext cx="3084280" cy="588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4DEBCD-DDE4-1F80-7C49-3A1AAB60DA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603" y="3706270"/>
            <a:ext cx="3978184" cy="8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49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329D-10CD-5309-9A23-8C7EBD99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VSCode</a:t>
            </a:r>
            <a:r>
              <a:rPr lang="zh-TW" altLang="en-US" dirty="0"/>
              <a:t> </a:t>
            </a:r>
            <a:r>
              <a:rPr lang="en-US" altLang="zh-TW" dirty="0"/>
              <a:t>remote</a:t>
            </a:r>
            <a:r>
              <a:rPr lang="zh-TW" altLang="en-US" dirty="0"/>
              <a:t> </a:t>
            </a:r>
            <a:r>
              <a:rPr lang="en-US" altLang="zh-TW" dirty="0"/>
              <a:t>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474CC-0130-8BD2-E789-1643A996C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Useful</a:t>
            </a:r>
            <a:r>
              <a:rPr lang="zh-TW" altLang="en-US" dirty="0"/>
              <a:t> </a:t>
            </a:r>
            <a:r>
              <a:rPr lang="en-US" altLang="zh-TW" dirty="0"/>
              <a:t>tools</a:t>
            </a:r>
          </a:p>
          <a:p>
            <a:pPr lvl="1"/>
            <a:r>
              <a:rPr lang="en-US" altLang="zh-TW" dirty="0" err="1"/>
              <a:t>slurm</a:t>
            </a:r>
            <a:r>
              <a:rPr lang="en-US" altLang="zh-TW" dirty="0"/>
              <a:t>—</a:t>
            </a:r>
          </a:p>
          <a:p>
            <a:pPr lvl="2"/>
            <a:r>
              <a:rPr lang="en-US" dirty="0"/>
              <a:t>A multifunctional tool for SLURM syntax highlight, manage tasks, view resource, and launch tasks.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77148-AD6A-B8AC-3933-20F6D47E0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631" y="3192883"/>
            <a:ext cx="2546946" cy="3665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DF287E-98FB-9AF3-43C8-D14F59960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749" y="3455194"/>
            <a:ext cx="4113831" cy="123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8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9322</TotalTime>
  <Words>1579</Words>
  <Application>Microsoft Macintosh PowerPoint</Application>
  <PresentationFormat>Widescreen</PresentationFormat>
  <Paragraphs>292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DeepSeek-CJK-patch</vt:lpstr>
      <vt:lpstr>Menlo</vt:lpstr>
      <vt:lpstr>Wingdings</vt:lpstr>
      <vt:lpstr>Office Theme</vt:lpstr>
      <vt:lpstr>HPC tutorial</vt:lpstr>
      <vt:lpstr>Outline</vt:lpstr>
      <vt:lpstr>PowerPoint Presentation</vt:lpstr>
      <vt:lpstr>PowerPoint Presentation</vt:lpstr>
      <vt:lpstr>PowerPoint Presentation</vt:lpstr>
      <vt:lpstr>Login to the cluster via SSH</vt:lpstr>
      <vt:lpstr>Login to the cluster vis SSH</vt:lpstr>
      <vt:lpstr>Login to the cluster via SSH</vt:lpstr>
      <vt:lpstr>Login to the cluster vis SSH</vt:lpstr>
      <vt:lpstr>Login to the cluster vis SSH</vt:lpstr>
      <vt:lpstr>Login to the cluster vis SSH (Cont’d)</vt:lpstr>
      <vt:lpstr>PowerPoint Presentation</vt:lpstr>
      <vt:lpstr>PowerPoint Presentation</vt:lpstr>
      <vt:lpstr>PowerPoint Presentation</vt:lpstr>
      <vt:lpstr>PowerPoint Presentation</vt:lpstr>
      <vt:lpstr>Python Packages installation (conda)</vt:lpstr>
      <vt:lpstr>PowerPoint Presentation</vt:lpstr>
      <vt:lpstr>PowerPoint Presentation</vt:lpstr>
      <vt:lpstr>PowerPoint Presentation</vt:lpstr>
      <vt:lpstr>PowerPoint Presentation</vt:lpstr>
      <vt:lpstr>Transfer file to remote server</vt:lpstr>
      <vt:lpstr>Vscode remote development </vt:lpstr>
      <vt:lpstr>Vscode remote development </vt:lpstr>
      <vt:lpstr>VSCode remote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Wang</dc:creator>
  <cp:lastModifiedBy>Ashwin Amalaruban M</cp:lastModifiedBy>
  <cp:revision>21</cp:revision>
  <dcterms:created xsi:type="dcterms:W3CDTF">2025-03-25T06:00:08Z</dcterms:created>
  <dcterms:modified xsi:type="dcterms:W3CDTF">2026-04-28T19:37:02Z</dcterms:modified>
</cp:coreProperties>
</file>