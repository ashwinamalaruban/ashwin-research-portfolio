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668" r:id="rId3"/>
    <p:sldId id="667" r:id="rId4"/>
    <p:sldId id="666" r:id="rId5"/>
    <p:sldId id="662" r:id="rId6"/>
    <p:sldId id="663" r:id="rId7"/>
    <p:sldId id="664" r:id="rId8"/>
    <p:sldId id="653" r:id="rId9"/>
    <p:sldId id="259" r:id="rId10"/>
    <p:sldId id="661" r:id="rId11"/>
    <p:sldId id="341" r:id="rId12"/>
    <p:sldId id="669" r:id="rId13"/>
    <p:sldId id="658" r:id="rId14"/>
    <p:sldId id="659" r:id="rId15"/>
    <p:sldId id="599" r:id="rId16"/>
    <p:sldId id="654" r:id="rId17"/>
    <p:sldId id="48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90"/>
    <p:restoredTop sz="84247"/>
  </p:normalViewPr>
  <p:slideViewPr>
    <p:cSldViewPr snapToGrid="0">
      <p:cViewPr varScale="1">
        <p:scale>
          <a:sx n="102" d="100"/>
          <a:sy n="102" d="100"/>
        </p:scale>
        <p:origin x="9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6E455-BA42-4BD9-A292-7CA61E51EC19}" type="datetimeFigureOut">
              <a:rPr lang="en-IN" smtClean="0"/>
              <a:t>30/04/26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8D7C8-AE32-420C-BA6C-8D10A718A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157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8D7C8-AE32-420C-BA6C-8D10A718A65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641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5CB28-3F8D-4E64-FE7A-3A300078B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616B4-06D9-C596-9040-3FAC18DC8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434B8-20BA-4C5D-64E3-433ED9D21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dirty="0">
              <a:solidFill>
                <a:srgbClr val="1B1B1B"/>
              </a:solidFill>
              <a:effectLst/>
              <a:latin typeface="Cambria" panose="020405030504060302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2CB7A-1E82-2FFE-431F-111DA10633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7C68D-DA45-4C95-BE9B-DEB837CE824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412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88C8D-5D20-D336-8A50-FBA66AA5C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9E9FD1-A7C3-53C6-837B-185121C3D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BD6DB-ECB4-52B0-D54C-58E5CFFDA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heat that passes into or out of the system during a reaction is the enthalpy change.  Whether the enthalpy of the system increases (i.e. when energy is added) or decreases (because energy is given off) is a crucial factor that determines whether a reaction can happen.</a:t>
            </a:r>
            <a:endParaRPr lang="en-US" b="0" i="0" dirty="0">
              <a:solidFill>
                <a:srgbClr val="1B1B1B"/>
              </a:solidFill>
              <a:effectLst/>
              <a:latin typeface="Cambria" panose="020405030504060302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67034-7380-D468-3447-2123F7071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7C68D-DA45-4C95-BE9B-DEB837CE824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201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EE85-120E-45FB-3068-85A3C249E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84A58-F8CD-ADF8-DE58-03D8318BA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E270A-CF28-469D-DC3B-657C4003F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dirty="0">
              <a:solidFill>
                <a:srgbClr val="1B1B1B"/>
              </a:solidFill>
              <a:effectLst/>
              <a:latin typeface="Cambria" panose="020405030504060302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278D8-AE19-D228-526B-F759A3FEE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77C68D-DA45-4C95-BE9B-DEB837CE824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996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ABEF7-4A33-AAB7-820A-A385EEC8D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263AE1-8A03-2003-7973-18DE68603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3F463-55EB-AAA8-B9AC-93FB2C2DF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dominant thermodynamic model for RNA secondary structure is the Turner model.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 RNA secondary structure can be broken into a small set of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motifs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helices, hairpins, internal loops, bulges, multibranch loops, dangling ends.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EEC28-F55B-D153-CFB5-5D8023BA6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497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8494F-1E0A-F0E4-2EB3-4916D8864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CF2E8-EE47-E4FD-872A-EBC9A4B1B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7E05E-D239-892F-90A8-40C193F06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dominant thermodynamic model for RNA secondary structure is the Turner model.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 RNA secondary structure can be broken into a small set of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motifs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helices, hairpins, internal loops, bulges, multibranch loops, dangling ends.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083F4-F59D-529C-5BA9-31D9C8EDE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637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BFDCA-5640-6098-104B-F19D3A26F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35743E-308B-AF6B-A1CF-2845355D4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CA43F-E702-D6C9-7444-949DA3F28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dominant thermodynamic model for RNA secondary structure is the Turner model.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 RNA secondary structure can be broken into a small set of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motifs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helices, hairpins, internal loops, bulges, multibranch loops, dangling ends.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A99FE-977A-F64B-B773-0DCAFD22F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555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69523-0A1B-802A-3BAD-68F7F65B4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C45B04-23B3-DAF8-F949-D15F01B18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39BD5B-FF4F-530A-2157-B1DFB5ED9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learn those contributions, the Turner lab did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optical melting experiments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 lots of short RNAs that isolate a particular motif or base-stacking pattern.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C526A-7A3B-7FD1-46B7-A810D3D32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701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DB4FD-665D-4256-9CCD-2038F41E3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D4473-8EBB-5BF2-9C76-4D220BDE5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BA394C-F36C-CC6D-218F-73BB9BA9A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learn those contributions, the Turner lab did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optical melting experiments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 lots of short RNAs that isolate a particular motif or base-stacking pattern.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0DE1C-6D34-E042-7578-01CE5FB57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814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6DDC4-61E1-D520-668B-EAD266CD4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EED17E-401E-C254-A6A9-10FF425FD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518FDE-D767-C8B2-7D1A-0874E85C6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learn those contributions, the Turner lab did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optical melting experiments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 lots of short RNAs that isolate a particular motif or base-stacking pattern.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3AB17-B11E-6694-DFAA-1E2DF29D00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9245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088D2-E2EE-C4CD-5911-C95FFE228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E49E8-48AF-2CFD-0797-BCA366870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38B6E-B45A-33B4-AAE8-65AEB1C61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assume a simple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two-state model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each construct is either folded or unfolded.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melting curve you get a </a:t>
            </a:r>
            <a:r>
              <a:rPr lang="el-G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Δ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G° for folding at 37 °C.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376E8-C091-D439-617B-A9F8F2A50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9436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26793-3655-C7B8-8786-081BCE466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305651-7C21-A200-BBB0-52A76192AB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4D72C-1E22-6373-D138-0F9297B9C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assume a simple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two-state model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each construct is either folded or unfolded.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melting curve you get a </a:t>
            </a:r>
            <a:r>
              <a:rPr lang="el-G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Δ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G° for folding at 37 °C.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26011-50EA-F354-974A-C036AE66CE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8474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25463-80B3-8C7D-CFA2-E0B6E3314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AFD8D-C51F-71FB-E374-905896F34C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C1A55-E138-AD33-9EDB-318DA7AF0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assume a simple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two-state model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each construct is either folded or unfolded.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melting curve you get a </a:t>
            </a:r>
            <a:r>
              <a:rPr lang="el-G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Δ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G° for folding at 37 °C.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5F4FD-5C56-7E3C-7AE4-17345C5F6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0096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FBF26-6A55-D793-56FD-EBB5EE537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0FEAF6-FCF7-1CA4-F004-80536DB8A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1B7480-61C7-0532-72F2-75825B929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assume a simple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two-state model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each construct is either folded or unfolded.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melting curve you get a </a:t>
            </a:r>
            <a:r>
              <a:rPr lang="el-G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Δ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G° for folding at 37 °C.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E2054-088E-74C7-F1F7-C45CA3F32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6505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0F0BE-6A9F-3B4E-445B-7DE6262A4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95FCD-6842-F8AC-EC91-0C201775E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DBF9ED-31CF-17C7-82C2-BE53D2C3A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experimental side, there are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hundreds of optical melting experiments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—on the order of 800 constructs.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 are fit to recover roughly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300 nearest-neighbor parameters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helical stacking, dangling ends, terminal mismatches, hairpins, internal loops, multibranch loops, etc.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core parameters are then expanded into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lookup tables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—about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10–15k table entries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tools like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RNAstructure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give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RNAstructure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sequence, it decomposes every candidate structure into motifs,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pulls the corresponding numbers from these tables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508F2-943D-CC1A-8869-52319DE7D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43695-D8D2-434F-BE28-4D8F9A7809A5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154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4A80F-DF4D-2129-7A08-82FA4D43E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20E92-D53E-5603-C0E8-830872897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C6B39-1287-AD92-208D-599C4DEEE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ED367-56BB-F545-BFC1-94BD3732DFFA}" type="datetime1">
              <a:rPr lang="en-US" smtClean="0"/>
              <a:t>4/30/26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F4854-0933-0897-3642-DEE4243D3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875F7-CEFB-E7AF-2E08-4FDB5141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296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71E7-8CCB-F2EF-C467-B5A6D1E86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2CEB6-9E50-1EBA-BFF3-C4AEA6733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4E5B6-9E1F-670C-14B5-E6B150F25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9876-CFBA-CB49-B1F6-F07F32C7B328}" type="datetime1">
              <a:rPr lang="en-US" smtClean="0"/>
              <a:t>4/30/26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1734C-1CA7-6F3B-5AD6-9296DFD13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73C0E-C8F9-C1DD-5B79-BA25CB34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383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6B65F-27DB-D0C9-772F-C0A8437E2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AB40C-8534-7325-FE28-5636D9F7E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4790E-66EE-B28F-71DE-8C145B1EA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C32B-75B4-E244-98BE-93DA3F74EBED}" type="datetime1">
              <a:rPr lang="en-US" smtClean="0"/>
              <a:t>4/30/26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3F097-947A-C12D-7620-C8CA17346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DFAD9-34A1-CB1C-8B6A-7A76FBB2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512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163CB-9957-337A-6599-61B0367F6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E04CC-EB55-15AE-24F6-1109087B41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082C5-D2A2-9B4C-AE47-6F49051C6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A453C-844E-DAA4-8DED-CE4FC925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07703-9074-3348-8A91-3FEA007ECE4B}" type="datetime1">
              <a:rPr lang="en-US" smtClean="0"/>
              <a:t>4/30/26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CDF67-E63C-0359-75C5-81AA9D3FE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4041C-EBC6-458A-59EA-9AA37C10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676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2B38C-B162-F071-AE3D-A94C790FD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293AE-4E03-2FB1-997F-FC9CFFF6C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FD60D-95AE-F228-95D0-A7F95CB79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D5E253-CA6E-BB95-FFD0-B71581A1EE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0F1E3C-9370-0452-C882-BEFA3C9A39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2A1189-00A5-F53C-63DE-3B25A51B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E9A50-D41A-5C44-8380-AB9545725B6D}" type="datetime1">
              <a:rPr lang="en-US" smtClean="0"/>
              <a:t>4/30/26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EA6A72-131D-81D4-A3DF-0D7B0DF70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8C51CA-819F-1EF6-5EC5-42E1FA1D5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27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0E63A-A0AF-69CD-A4BF-123DAB788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8B4144-44DE-0016-EC4E-54D8215BF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B67E4-03CF-BC4C-A73D-3303351C4FCA}" type="datetime1">
              <a:rPr lang="en-US" smtClean="0"/>
              <a:t>4/30/26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A37B95-8BB2-572C-56A3-5FA2F5452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04AC2F-407D-03EF-90FE-C3F427D66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545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4EBE9F-AB02-1416-B0D8-791D7D2FF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5F907-26EA-1F42-BEF3-02C301F1D609}" type="datetime1">
              <a:rPr lang="en-US" smtClean="0"/>
              <a:t>4/30/26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BFFC7B-7833-6415-6D12-570F1BE35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9C552-D988-924B-7CA0-DCC5D1B47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825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1179B-1B83-C4BA-E7E0-DBD61DE7C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01296-4387-791E-5E7D-C2B4921C5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DD7C5-3D8B-0803-8CD2-07BE5854B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EDBBA-7BF8-A73F-B644-08A1D04A3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8BF60-1889-3A46-82C1-5E62D21ADB3B}" type="datetime1">
              <a:rPr lang="en-US" smtClean="0"/>
              <a:t>4/30/26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DCE07-6D85-60DA-44C0-6FA375BD9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E0C36-F1B9-89F0-82BF-567CAE086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38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3E3D1-5E5A-E298-EE10-B7ED72D9F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E6063F-AE80-9E31-D99F-78DE1B7D90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A2367-BF6B-7E56-38BC-C9A310E36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505F5-889E-40DD-FF7E-25726D3CD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16D4-50BA-2B40-89A1-80F1EEFEFF52}" type="datetime1">
              <a:rPr lang="en-US" smtClean="0"/>
              <a:t>4/30/26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EA51D-12B5-5A0F-4B41-9B586FCFA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39957-00D8-5F5D-B948-F5F4B2697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243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6A85E-80AD-3CAD-F204-9A40AB03B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4EA485-D14F-7A4F-44E1-15950E4ED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4DE9B-1A2C-BFDC-5831-405796AA3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D9B21-B5A3-3549-BC87-C4A6A4B40E9F}" type="datetime1">
              <a:rPr lang="en-US" smtClean="0"/>
              <a:t>4/30/26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5DD5E-D3A6-400D-C0C6-8FE6B20F5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C2EFC-FE36-47B6-9BB9-B8142C904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609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8AEF12-8FB2-DC88-8708-D4464A9F1D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D96C74-0E14-6505-9351-CF7E03556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515B9-395B-52B8-6A37-43FE33580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6BB18-D02D-AA42-9E3D-06A6E281B97E}" type="datetime1">
              <a:rPr lang="en-US" smtClean="0"/>
              <a:t>4/30/26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1D087-7291-B1EB-99A5-2DE1A3E0B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581EA-029D-5BDD-11AC-AD5504028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946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A455EE-DD49-B672-61BD-AA40EBE3D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9733B-ED4B-8796-2FEA-6E55E9942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22950-6B41-DD64-A802-A8857DCC79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6659E5-0BA3-254E-B3A0-4EF152656475}" type="datetime1">
              <a:rPr lang="en-US" smtClean="0"/>
              <a:t>4/30/26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2A973-956E-7112-2D78-145B6D2E0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F5ABF-29B0-239B-4479-ECC533381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7D8FE-10D6-4876-9A01-32155165DD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702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3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2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1.png"/><Relationship Id="rId4" Type="http://schemas.openxmlformats.org/officeDocument/2006/relationships/image" Target="../media/image2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13C4B-3577-8BA4-FCE3-2A3E91B4F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1965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Turner Model: Thermodynamics for RNA Secondary Structure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F1E76-AEAC-4156-3046-A6448EF21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6258" y="3550745"/>
            <a:ext cx="9144000" cy="165576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Ashwin Amalaruban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D0D259-3DED-5426-1B3A-186BCF8641C6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223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26"/>
    </mc:Choice>
    <mc:Fallback xmlns="">
      <p:transition spd="slow" advTm="20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3B7DF-0FFB-557C-45F3-E4AA2B6A3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5156C-5582-D1D1-148E-882272782477}"/>
              </a:ext>
            </a:extLst>
          </p:cNvPr>
          <p:cNvSpPr txBox="1">
            <a:spLocks/>
          </p:cNvSpPr>
          <p:nvPr/>
        </p:nvSpPr>
        <p:spPr>
          <a:xfrm>
            <a:off x="1714157" y="335346"/>
            <a:ext cx="9144000" cy="8483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</a:rPr>
              <a:t>Sequence to structure	</a:t>
            </a:r>
            <a:endParaRPr lang="en-IN" sz="3200" b="1" dirty="0">
              <a:solidFill>
                <a:srgbClr val="C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74DE8A-1E34-300D-048E-271FDDB1A63D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45A4F6CD-DF3E-51F3-CAA2-21BF06708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  <p:pic>
        <p:nvPicPr>
          <p:cNvPr id="4" name="Picture 3" descr="A diagram of a molecule&#10;&#10;AI-generated content may be incorrect.">
            <a:extLst>
              <a:ext uri="{FF2B5EF4-FFF2-40B4-BE49-F238E27FC236}">
                <a16:creationId xmlns:a16="http://schemas.microsoft.com/office/drawing/2014/main" id="{314A5F76-10A8-BC75-E86E-9707722C7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893" y="1712737"/>
            <a:ext cx="2720839" cy="23705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915AAA-B6EA-94EE-4E3F-C3A4708969E9}"/>
                  </a:ext>
                </a:extLst>
              </p:cNvPr>
              <p:cNvSpPr txBox="1"/>
              <p:nvPr/>
            </p:nvSpPr>
            <p:spPr>
              <a:xfrm>
                <a:off x="4074295" y="4237814"/>
                <a:ext cx="320403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(G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sz="1600" dirty="0"/>
                  <a:t>C, A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/>
                  <a:t>U, G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/>
                  <a:t>U) paired via hydrogen bonds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915AAA-B6EA-94EE-4E3F-C3A470896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295" y="4237814"/>
                <a:ext cx="3204033" cy="584775"/>
              </a:xfrm>
              <a:prstGeom prst="rect">
                <a:avLst/>
              </a:prstGeom>
              <a:blipFill>
                <a:blip r:embed="rId4"/>
                <a:stretch>
                  <a:fillRect t="-2128" b="-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ADA0407C-6E0C-6C81-C82E-787FA4344DC5}"/>
              </a:ext>
            </a:extLst>
          </p:cNvPr>
          <p:cNvSpPr txBox="1"/>
          <p:nvPr/>
        </p:nvSpPr>
        <p:spPr>
          <a:xfrm>
            <a:off x="725572" y="2650818"/>
            <a:ext cx="23852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CUCGUCUAGUCAUUUCUGGCCCCACUGGAGGUCGAG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B793DA-41E4-39A7-0F8F-4953329EE631}"/>
              </a:ext>
            </a:extLst>
          </p:cNvPr>
          <p:cNvCxnSpPr/>
          <p:nvPr/>
        </p:nvCxnSpPr>
        <p:spPr>
          <a:xfrm>
            <a:off x="3287209" y="2973982"/>
            <a:ext cx="90282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8FDF0DD-1038-01C0-A2F4-C0815F5FDAFC}"/>
              </a:ext>
            </a:extLst>
          </p:cNvPr>
          <p:cNvSpPr/>
          <p:nvPr/>
        </p:nvSpPr>
        <p:spPr>
          <a:xfrm>
            <a:off x="4305775" y="1574157"/>
            <a:ext cx="2920021" cy="2663657"/>
          </a:xfrm>
          <a:prstGeom prst="roundRect">
            <a:avLst/>
          </a:prstGeom>
          <a:noFill/>
          <a:effectLst>
            <a:reflection stA="0" endPos="65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CE86E83-6FD2-B4F5-4FED-307A4F6C3455}"/>
              </a:ext>
            </a:extLst>
          </p:cNvPr>
          <p:cNvSpPr/>
          <p:nvPr/>
        </p:nvSpPr>
        <p:spPr>
          <a:xfrm>
            <a:off x="458174" y="2650439"/>
            <a:ext cx="2776503" cy="10156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53951C-53ED-E009-EE1E-08A675BFBBFF}"/>
              </a:ext>
            </a:extLst>
          </p:cNvPr>
          <p:cNvSpPr txBox="1"/>
          <p:nvPr/>
        </p:nvSpPr>
        <p:spPr>
          <a:xfrm>
            <a:off x="1016642" y="2279469"/>
            <a:ext cx="65985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RNA sequence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93D3E9-3645-5BC9-51C0-2882E5C17950}"/>
              </a:ext>
            </a:extLst>
          </p:cNvPr>
          <p:cNvSpPr txBox="1"/>
          <p:nvPr/>
        </p:nvSpPr>
        <p:spPr>
          <a:xfrm>
            <a:off x="2715856" y="1156948"/>
            <a:ext cx="6099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Secondary structure</a:t>
            </a:r>
          </a:p>
        </p:txBody>
      </p:sp>
    </p:spTree>
    <p:extLst>
      <p:ext uri="{BB962C8B-B14F-4D97-AF65-F5344CB8AC3E}">
        <p14:creationId xmlns:p14="http://schemas.microsoft.com/office/powerpoint/2010/main" val="411987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7"/>
    </mc:Choice>
    <mc:Fallback xmlns="">
      <p:transition spd="slow" advTm="39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1B3B4-F5F4-6A7B-E577-EA13296C6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E07AD-814C-AD19-18AC-BEE4F574052D}"/>
              </a:ext>
            </a:extLst>
          </p:cNvPr>
          <p:cNvSpPr txBox="1">
            <a:spLocks/>
          </p:cNvSpPr>
          <p:nvPr/>
        </p:nvSpPr>
        <p:spPr>
          <a:xfrm>
            <a:off x="2107193" y="342664"/>
            <a:ext cx="9396829" cy="103285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</a:rPr>
              <a:t>	</a:t>
            </a:r>
            <a:endParaRPr lang="en-IN" sz="3200" b="1" dirty="0">
              <a:solidFill>
                <a:srgbClr val="C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12D201-6140-C3C8-9219-AF1058D19433}"/>
              </a:ext>
            </a:extLst>
          </p:cNvPr>
          <p:cNvSpPr/>
          <p:nvPr/>
        </p:nvSpPr>
        <p:spPr>
          <a:xfrm>
            <a:off x="135320" y="19783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643AF76C-869B-2429-7D0C-7A60C0B04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818E3A-E586-7282-52E7-30FDD8EE6AA8}"/>
              </a:ext>
            </a:extLst>
          </p:cNvPr>
          <p:cNvSpPr txBox="1"/>
          <p:nvPr/>
        </p:nvSpPr>
        <p:spPr>
          <a:xfrm>
            <a:off x="1536871" y="107131"/>
            <a:ext cx="9300753" cy="944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What physical effects matter when RNA folds?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D873998-9A15-6A2D-A6E1-4BC5F715753B}"/>
                  </a:ext>
                </a:extLst>
              </p:cNvPr>
              <p:cNvSpPr txBox="1"/>
              <p:nvPr/>
            </p:nvSpPr>
            <p:spPr>
              <a:xfrm>
                <a:off x="2161074" y="1604631"/>
                <a:ext cx="25498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Exothermic: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D873998-9A15-6A2D-A6E1-4BC5F7157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074" y="1604631"/>
                <a:ext cx="2549810" cy="400110"/>
              </a:xfrm>
              <a:prstGeom prst="rect">
                <a:avLst/>
              </a:prstGeom>
              <a:blipFill>
                <a:blip r:embed="rId5"/>
                <a:stretch>
                  <a:fillRect l="-2475" t="-6250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85E529B-72CC-8061-3E0C-B33071E45AB1}"/>
                  </a:ext>
                </a:extLst>
              </p:cNvPr>
              <p:cNvSpPr txBox="1"/>
              <p:nvPr/>
            </p:nvSpPr>
            <p:spPr>
              <a:xfrm>
                <a:off x="6947142" y="1545111"/>
                <a:ext cx="275010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Endothermic: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85E529B-72CC-8061-3E0C-B33071E45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142" y="1545111"/>
                <a:ext cx="2750107" cy="400110"/>
              </a:xfrm>
              <a:prstGeom prst="rect">
                <a:avLst/>
              </a:prstGeom>
              <a:blipFill>
                <a:blip r:embed="rId6"/>
                <a:stretch>
                  <a:fillRect l="-2765" t="-303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2D8ADBD-3A72-4B4E-DD8E-3E48638ABFE7}"/>
                  </a:ext>
                </a:extLst>
              </p:cNvPr>
              <p:cNvSpPr txBox="1"/>
              <p:nvPr/>
            </p:nvSpPr>
            <p:spPr>
              <a:xfrm>
                <a:off x="1099573" y="1166405"/>
                <a:ext cx="722262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u="sng" dirty="0"/>
                  <a:t>Enthalpy changes (</a:t>
                </a:r>
                <a14:m>
                  <m:oMath xmlns:m="http://schemas.openxmlformats.org/officeDocument/2006/math">
                    <m:r>
                      <a:rPr lang="en-US" sz="2000" i="1" u="sng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b="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u="sng" dirty="0"/>
                  <a:t>) when hydrogen bonds form and break.</a:t>
                </a:r>
                <a:endParaRPr lang="en-US" sz="2000" i="1" u="sng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2D8ADBD-3A72-4B4E-DD8E-3E48638AB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573" y="1166405"/>
                <a:ext cx="7222623" cy="400110"/>
              </a:xfrm>
              <a:prstGeom prst="rect">
                <a:avLst/>
              </a:prstGeom>
              <a:blipFill>
                <a:blip r:embed="rId7"/>
                <a:stretch>
                  <a:fillRect l="-877" t="-303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34573B4-EF64-7B6B-8C6B-91321F2BB72D}"/>
                  </a:ext>
                </a:extLst>
              </p:cNvPr>
              <p:cNvSpPr txBox="1"/>
              <p:nvPr/>
            </p:nvSpPr>
            <p:spPr>
              <a:xfrm>
                <a:off x="1256781" y="5483466"/>
                <a:ext cx="4358395" cy="400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ea typeface="Cambria Math" panose="02040503050406030204" pitchFamily="18" charset="0"/>
                  </a:rPr>
                  <a:t>Free energy change,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endParaRPr lang="en-IN" sz="2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34573B4-EF64-7B6B-8C6B-91321F2BB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781" y="5483466"/>
                <a:ext cx="4358395" cy="400110"/>
              </a:xfrm>
              <a:prstGeom prst="rect">
                <a:avLst/>
              </a:prstGeom>
              <a:blipFill>
                <a:blip r:embed="rId8"/>
                <a:stretch>
                  <a:fillRect l="-1159" t="-3030" b="-27273"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0DCAEB-8B81-74E4-097A-33C282222F3D}"/>
                  </a:ext>
                </a:extLst>
              </p:cNvPr>
              <p:cNvSpPr txBox="1"/>
              <p:nvPr/>
            </p:nvSpPr>
            <p:spPr>
              <a:xfrm>
                <a:off x="1229573" y="4448148"/>
                <a:ext cx="7214700" cy="7325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u="sng" dirty="0"/>
                  <a:t>Entropic loss upon folding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𝑓𝑜𝑙𝑑𝑒𝑑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𝑢𝑛𝑓𝑜𝑙𝑑𝑒𝑑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0DCAEB-8B81-74E4-097A-33C282222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573" y="4448148"/>
                <a:ext cx="7214700" cy="732508"/>
              </a:xfrm>
              <a:prstGeom prst="rect">
                <a:avLst/>
              </a:prstGeom>
              <a:blipFill>
                <a:blip r:embed="rId9"/>
                <a:stretch>
                  <a:fillRect l="-879" t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FBD7957-4C35-9FF0-85B1-5E6BDB7801A2}"/>
              </a:ext>
            </a:extLst>
          </p:cNvPr>
          <p:cNvSpPr txBox="1"/>
          <p:nvPr/>
        </p:nvSpPr>
        <p:spPr>
          <a:xfrm>
            <a:off x="6805606" y="4954095"/>
            <a:ext cx="2947576" cy="278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More conformations: </a:t>
            </a:r>
            <a:r>
              <a:rPr lang="en-US" sz="1200" dirty="0">
                <a:sym typeface="Wingdings" pitchFamily="2" charset="2"/>
              </a:rPr>
              <a:t>Higher the entropy</a:t>
            </a:r>
            <a:endParaRPr lang="en-US" sz="1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0B72FA-DEEA-C50D-68E4-2476D3A70F16}"/>
              </a:ext>
            </a:extLst>
          </p:cNvPr>
          <p:cNvCxnSpPr>
            <a:cxnSpLocks/>
          </p:cNvCxnSpPr>
          <p:nvPr/>
        </p:nvCxnSpPr>
        <p:spPr>
          <a:xfrm>
            <a:off x="6659888" y="4826854"/>
            <a:ext cx="287254" cy="1272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BD887B-AEE6-F761-8465-C8457DE357C0}"/>
                  </a:ext>
                </a:extLst>
              </p:cNvPr>
              <p:cNvSpPr txBox="1"/>
              <p:nvPr/>
            </p:nvSpPr>
            <p:spPr>
              <a:xfrm>
                <a:off x="703657" y="6056793"/>
                <a:ext cx="6099858" cy="2918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𝑓𝑜𝑙𝑑𝑒𝑑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𝑢𝑛𝑓𝑜𝑙𝑑𝑒𝑑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BD887B-AEE6-F761-8465-C8457DE35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57" y="6056793"/>
                <a:ext cx="6099858" cy="29181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493A31D-EBEB-DCC0-A653-E155F5C75AE6}"/>
              </a:ext>
            </a:extLst>
          </p:cNvPr>
          <p:cNvCxnSpPr>
            <a:cxnSpLocks/>
          </p:cNvCxnSpPr>
          <p:nvPr/>
        </p:nvCxnSpPr>
        <p:spPr>
          <a:xfrm>
            <a:off x="3687538" y="5883576"/>
            <a:ext cx="0" cy="2284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9A04C68-F792-EA94-90DC-C0008961796D}"/>
              </a:ext>
            </a:extLst>
          </p:cNvPr>
          <p:cNvSpPr txBox="1"/>
          <p:nvPr/>
        </p:nvSpPr>
        <p:spPr>
          <a:xfrm>
            <a:off x="617324" y="1098835"/>
            <a:ext cx="789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8DD2A5-4686-2A6C-4070-F5073DADAFE6}"/>
              </a:ext>
            </a:extLst>
          </p:cNvPr>
          <p:cNvSpPr txBox="1"/>
          <p:nvPr/>
        </p:nvSpPr>
        <p:spPr>
          <a:xfrm>
            <a:off x="617324" y="4425131"/>
            <a:ext cx="789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658DD1-1BEF-E552-E8A2-A17C5CDE9D5F}"/>
              </a:ext>
            </a:extLst>
          </p:cNvPr>
          <p:cNvSpPr txBox="1"/>
          <p:nvPr/>
        </p:nvSpPr>
        <p:spPr>
          <a:xfrm>
            <a:off x="634092" y="5435999"/>
            <a:ext cx="789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119648-E766-103C-B6C6-0DF02C494D6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49257" b="3217"/>
          <a:stretch>
            <a:fillRect/>
          </a:stretch>
        </p:blipFill>
        <p:spPr>
          <a:xfrm>
            <a:off x="1030413" y="2496881"/>
            <a:ext cx="4584763" cy="16916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319684-804C-2267-4061-ADBC79A3C7E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749" b="50517"/>
          <a:stretch>
            <a:fillRect/>
          </a:stretch>
        </p:blipFill>
        <p:spPr>
          <a:xfrm>
            <a:off x="6119190" y="1996313"/>
            <a:ext cx="4762013" cy="176476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42C95A0-19B6-2F26-F3A9-649ABB56F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320" y="6499199"/>
            <a:ext cx="477406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Carroll, C. (2025, June 18). 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Enthalpy &amp; bond energies: Revision note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. Save My Exams.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19542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053"/>
    </mc:Choice>
    <mc:Fallback xmlns="">
      <p:transition spd="slow" advTm="8805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A69B9-17D0-A98C-9C29-EDA709C4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7486E-328B-1268-CA83-C1F951341E32}"/>
              </a:ext>
            </a:extLst>
          </p:cNvPr>
          <p:cNvSpPr txBox="1">
            <a:spLocks/>
          </p:cNvSpPr>
          <p:nvPr/>
        </p:nvSpPr>
        <p:spPr>
          <a:xfrm>
            <a:off x="1714157" y="335346"/>
            <a:ext cx="9144000" cy="8483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</a:rPr>
              <a:t>Why do we need the thermodynamic model?	</a:t>
            </a:r>
            <a:endParaRPr lang="en-IN" sz="3200" b="1" dirty="0">
              <a:solidFill>
                <a:srgbClr val="C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1AB431-C097-8196-C5BE-1A2EAF6498C9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D8D422CE-C0EC-C96D-AD7B-AA30FB992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8A3BE3-2DCC-D9E4-76F1-9C149B117B0F}"/>
              </a:ext>
            </a:extLst>
          </p:cNvPr>
          <p:cNvSpPr txBox="1"/>
          <p:nvPr/>
        </p:nvSpPr>
        <p:spPr>
          <a:xfrm>
            <a:off x="1661358" y="5527525"/>
            <a:ext cx="9191862" cy="624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/>
              <a:t>Turner model: For each motif, a set of thermodynamic parameters + rules. </a:t>
            </a:r>
          </a:p>
        </p:txBody>
      </p:sp>
      <p:pic>
        <p:nvPicPr>
          <p:cNvPr id="24" name="Picture 23" descr="A diagram of a number of squares&#10;&#10;AI-generated content may be incorrect.">
            <a:extLst>
              <a:ext uri="{FF2B5EF4-FFF2-40B4-BE49-F238E27FC236}">
                <a16:creationId xmlns:a16="http://schemas.microsoft.com/office/drawing/2014/main" id="{F5295058-2B13-56D4-7AAD-C972A5A32D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777" y="1499139"/>
            <a:ext cx="2981443" cy="2796594"/>
          </a:xfrm>
          <a:prstGeom prst="rect">
            <a:avLst/>
          </a:prstGeom>
          <a:scene3d>
            <a:camera prst="obliqueTopRight"/>
            <a:lightRig rig="threePt" dir="t"/>
          </a:scene3d>
        </p:spPr>
      </p:pic>
      <p:pic>
        <p:nvPicPr>
          <p:cNvPr id="4" name="Picture 3" descr="A diagram of a molecule&#10;&#10;AI-generated content may be incorrect.">
            <a:extLst>
              <a:ext uri="{FF2B5EF4-FFF2-40B4-BE49-F238E27FC236}">
                <a16:creationId xmlns:a16="http://schemas.microsoft.com/office/drawing/2014/main" id="{ECE7546D-6712-47B0-AAF8-18204553CF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893" y="1712737"/>
            <a:ext cx="2720839" cy="23705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68B89F-F13C-E589-940C-AC99C9467262}"/>
                  </a:ext>
                </a:extLst>
              </p:cNvPr>
              <p:cNvSpPr txBox="1"/>
              <p:nvPr/>
            </p:nvSpPr>
            <p:spPr>
              <a:xfrm>
                <a:off x="7225796" y="4837465"/>
                <a:ext cx="3751831" cy="6394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𝑠𝑡𝑟𝑢𝑐𝑡𝑢𝑟𝑒</m:t>
                          </m:r>
                        </m:sub>
                      </m:sSub>
                      <m:r>
                        <a:rPr lang="en-US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𝑜𝑡𝑖𝑓𝑠</m:t>
                          </m:r>
                        </m:sub>
                        <m:sup/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𝑚𝑜𝑡𝑖𝑓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68B89F-F13C-E589-940C-AC99C9467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5796" y="4837465"/>
                <a:ext cx="3751831" cy="639470"/>
              </a:xfrm>
              <a:prstGeom prst="rect">
                <a:avLst/>
              </a:prstGeom>
              <a:blipFill>
                <a:blip r:embed="rId5"/>
                <a:stretch>
                  <a:fillRect t="-113725" b="-15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980F188-A9B2-5713-BDFC-5801854E87A4}"/>
              </a:ext>
            </a:extLst>
          </p:cNvPr>
          <p:cNvSpPr txBox="1"/>
          <p:nvPr/>
        </p:nvSpPr>
        <p:spPr>
          <a:xfrm>
            <a:off x="7684330" y="4396637"/>
            <a:ext cx="3117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Each substructure (MOTIF) contributes to the structure’s free energy change.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A92B27-402C-E5CB-26F2-8AA0B3D61B70}"/>
                  </a:ext>
                </a:extLst>
              </p:cNvPr>
              <p:cNvSpPr txBox="1"/>
              <p:nvPr/>
            </p:nvSpPr>
            <p:spPr>
              <a:xfrm>
                <a:off x="4074295" y="4237814"/>
                <a:ext cx="320403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(G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sz="1600" dirty="0"/>
                  <a:t>C, A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/>
                  <a:t>U, G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/>
                  <a:t>U) paired via hydrogen bonds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A92B27-402C-E5CB-26F2-8AA0B3D61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295" y="4237814"/>
                <a:ext cx="3204033" cy="584775"/>
              </a:xfrm>
              <a:prstGeom prst="rect">
                <a:avLst/>
              </a:prstGeom>
              <a:blipFill>
                <a:blip r:embed="rId6"/>
                <a:stretch>
                  <a:fillRect t="-2128" b="-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D0D85297-75E3-7A4F-DCF9-5F3E94B80E21}"/>
              </a:ext>
            </a:extLst>
          </p:cNvPr>
          <p:cNvSpPr txBox="1"/>
          <p:nvPr/>
        </p:nvSpPr>
        <p:spPr>
          <a:xfrm>
            <a:off x="725572" y="2650818"/>
            <a:ext cx="23852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CUCGUCUAGUCAUUUCUGGCCCCACUGGAGGUCGAG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A4CF2E9-4763-DBCC-C508-71A2C31E7C70}"/>
              </a:ext>
            </a:extLst>
          </p:cNvPr>
          <p:cNvCxnSpPr/>
          <p:nvPr/>
        </p:nvCxnSpPr>
        <p:spPr>
          <a:xfrm>
            <a:off x="3287209" y="2973982"/>
            <a:ext cx="90282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5D4D2DC-CB80-9356-61BE-68F9A83F689E}"/>
              </a:ext>
            </a:extLst>
          </p:cNvPr>
          <p:cNvSpPr/>
          <p:nvPr/>
        </p:nvSpPr>
        <p:spPr>
          <a:xfrm>
            <a:off x="4305775" y="1574157"/>
            <a:ext cx="2920021" cy="2663657"/>
          </a:xfrm>
          <a:prstGeom prst="roundRect">
            <a:avLst/>
          </a:prstGeom>
          <a:noFill/>
          <a:effectLst>
            <a:reflection stA="0" endPos="65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4024807-2B54-554D-F5A7-FD072E32B26E}"/>
              </a:ext>
            </a:extLst>
          </p:cNvPr>
          <p:cNvSpPr/>
          <p:nvPr/>
        </p:nvSpPr>
        <p:spPr>
          <a:xfrm>
            <a:off x="458174" y="2650439"/>
            <a:ext cx="2776503" cy="10156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1193BB-755A-D16A-C52F-120309D2B84F}"/>
              </a:ext>
            </a:extLst>
          </p:cNvPr>
          <p:cNvSpPr txBox="1"/>
          <p:nvPr/>
        </p:nvSpPr>
        <p:spPr>
          <a:xfrm>
            <a:off x="1016642" y="2279469"/>
            <a:ext cx="65985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RNA sequence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E46733-C177-951B-2FD9-7C484055AB7D}"/>
              </a:ext>
            </a:extLst>
          </p:cNvPr>
          <p:cNvSpPr txBox="1"/>
          <p:nvPr/>
        </p:nvSpPr>
        <p:spPr>
          <a:xfrm>
            <a:off x="2715856" y="1156948"/>
            <a:ext cx="6099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Secondary structure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C12FFD5-A454-A511-C25F-6C4637396D12}"/>
              </a:ext>
            </a:extLst>
          </p:cNvPr>
          <p:cNvSpPr/>
          <p:nvPr/>
        </p:nvSpPr>
        <p:spPr>
          <a:xfrm>
            <a:off x="7787181" y="1557058"/>
            <a:ext cx="3117096" cy="2680756"/>
          </a:xfrm>
          <a:prstGeom prst="roundRect">
            <a:avLst/>
          </a:prstGeom>
          <a:noFill/>
          <a:ln>
            <a:prstDash val="dash"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A45E9B-99BB-3D32-8613-3C6D38C12C46}"/>
              </a:ext>
            </a:extLst>
          </p:cNvPr>
          <p:cNvCxnSpPr>
            <a:cxnSpLocks/>
          </p:cNvCxnSpPr>
          <p:nvPr/>
        </p:nvCxnSpPr>
        <p:spPr>
          <a:xfrm>
            <a:off x="7225796" y="1574157"/>
            <a:ext cx="853538" cy="0"/>
          </a:xfrm>
          <a:prstGeom prst="line">
            <a:avLst/>
          </a:prstGeom>
          <a:ln>
            <a:prstDash val="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1599865-049E-FAA8-9A87-E723D46668B0}"/>
              </a:ext>
            </a:extLst>
          </p:cNvPr>
          <p:cNvCxnSpPr>
            <a:cxnSpLocks/>
          </p:cNvCxnSpPr>
          <p:nvPr/>
        </p:nvCxnSpPr>
        <p:spPr>
          <a:xfrm>
            <a:off x="7225796" y="4237814"/>
            <a:ext cx="900768" cy="0"/>
          </a:xfrm>
          <a:prstGeom prst="line">
            <a:avLst/>
          </a:prstGeom>
          <a:ln>
            <a:prstDash val="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B06DD74-1ECA-D48D-7CD1-D323A20632E0}"/>
                  </a:ext>
                </a:extLst>
              </p:cNvPr>
              <p:cNvSpPr txBox="1"/>
              <p:nvPr/>
            </p:nvSpPr>
            <p:spPr>
              <a:xfrm>
                <a:off x="5860145" y="3702035"/>
                <a:ext cx="13757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𝑠𝑡𝑟𝑢𝑐𝑡𝑢𝑟𝑒</m:t>
                          </m:r>
                        </m:sub>
                      </m:sSub>
                    </m:oMath>
                  </m:oMathPara>
                </a14:m>
                <a:endParaRPr lang="en-US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200" dirty="0"/>
                  <a:t> some value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B06DD74-1ECA-D48D-7CD1-D323A2063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145" y="3702035"/>
                <a:ext cx="1375769" cy="461665"/>
              </a:xfrm>
              <a:prstGeom prst="rect">
                <a:avLst/>
              </a:prstGeom>
              <a:blipFill>
                <a:blip r:embed="rId7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6AF819A-7DF3-C377-0093-697394EB8B7F}"/>
              </a:ext>
            </a:extLst>
          </p:cNvPr>
          <p:cNvSpPr txBox="1"/>
          <p:nvPr/>
        </p:nvSpPr>
        <p:spPr>
          <a:xfrm>
            <a:off x="185849" y="6461562"/>
            <a:ext cx="60976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Lorenz et al., </a:t>
            </a:r>
            <a:r>
              <a:rPr lang="en-US" sz="10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Algorithms for molecular biology</a:t>
            </a:r>
            <a:r>
              <a:rPr lang="en-US" sz="10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2011.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97635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716"/>
    </mc:Choice>
    <mc:Fallback xmlns="">
      <p:transition spd="slow" advTm="5271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B7650-0C80-5E24-5AB0-9B63EB8F0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DEDC0C-A0AC-E0CA-9FBF-25CFB5E56D65}"/>
              </a:ext>
            </a:extLst>
          </p:cNvPr>
          <p:cNvSpPr txBox="1"/>
          <p:nvPr/>
        </p:nvSpPr>
        <p:spPr>
          <a:xfrm>
            <a:off x="1306286" y="318865"/>
            <a:ext cx="103672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Turner Model aka Nearest Neighbor Model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FC763F-FDA0-ABE9-8C2E-7ACD8C0ED84E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ABEEE-0AF2-8414-7A11-3FF43A56E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E1DB73-5384-2ABD-4564-7E6C4C5EB952}"/>
              </a:ext>
            </a:extLst>
          </p:cNvPr>
          <p:cNvSpPr txBox="1"/>
          <p:nvPr/>
        </p:nvSpPr>
        <p:spPr>
          <a:xfrm>
            <a:off x="1140879" y="1842349"/>
            <a:ext cx="4047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Secondary structure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70CB68-AD11-DBED-B2D9-7ACEA2D46D59}"/>
              </a:ext>
            </a:extLst>
          </p:cNvPr>
          <p:cNvSpPr/>
          <p:nvPr/>
        </p:nvSpPr>
        <p:spPr>
          <a:xfrm>
            <a:off x="1051356" y="4389120"/>
            <a:ext cx="254930" cy="1657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A544CD-4F05-F93A-27B0-1640F6652225}"/>
              </a:ext>
            </a:extLst>
          </p:cNvPr>
          <p:cNvSpPr txBox="1"/>
          <p:nvPr/>
        </p:nvSpPr>
        <p:spPr>
          <a:xfrm>
            <a:off x="141890" y="6287508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effectLst/>
              </a:rPr>
              <a:t>Sato et al., </a:t>
            </a:r>
            <a:r>
              <a:rPr lang="en-US" sz="1000" i="1" dirty="0"/>
              <a:t>Nat Comm</a:t>
            </a:r>
            <a:r>
              <a:rPr lang="en-US" sz="1000" b="0" i="0" u="none" strike="noStrike" dirty="0">
                <a:effectLst/>
              </a:rPr>
              <a:t>, 2021</a:t>
            </a:r>
          </a:p>
          <a:p>
            <a:r>
              <a:rPr lang="en-US" sz="1000" dirty="0"/>
              <a:t>Dutta et al., </a:t>
            </a:r>
            <a:r>
              <a:rPr lang="en-US" sz="1000" i="1" dirty="0"/>
              <a:t>Phys Chem</a:t>
            </a:r>
            <a:r>
              <a:rPr lang="en-US" sz="1000" dirty="0"/>
              <a:t>, 2024</a:t>
            </a:r>
            <a:endParaRPr lang="en-US" sz="1000" b="0" i="0" u="none" strike="noStrike" dirty="0">
              <a:effectLst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4C5FFFF-4E55-0628-244B-D795E9486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99" y="2095125"/>
            <a:ext cx="3825459" cy="211342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CF31526-BAE3-A7A1-821C-D140F8358DFF}"/>
              </a:ext>
            </a:extLst>
          </p:cNvPr>
          <p:cNvSpPr txBox="1"/>
          <p:nvPr/>
        </p:nvSpPr>
        <p:spPr>
          <a:xfrm>
            <a:off x="5805085" y="1803245"/>
            <a:ext cx="5047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1. Base pair stacked over another base pair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7BA689F-9FA1-CC56-05A3-D3B055F2D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562" y="2617114"/>
            <a:ext cx="4883823" cy="298200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4FA6ABF-AF0E-43F5-CE4D-E285F177F7C3}"/>
              </a:ext>
            </a:extLst>
          </p:cNvPr>
          <p:cNvSpPr txBox="1"/>
          <p:nvPr/>
        </p:nvSpPr>
        <p:spPr>
          <a:xfrm>
            <a:off x="4992421" y="4309475"/>
            <a:ext cx="391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7371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758"/>
    </mc:Choice>
    <mc:Fallback xmlns="">
      <p:transition spd="slow" advTm="6875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78DD6-DA19-3FD7-C7A5-7E39DB5B1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80DBCA3-6C7B-B1DE-CE98-2361383F046B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27BC0-B485-9003-3E66-7B1BBDE75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153449-3ABF-C26D-880F-B3E9DB09067B}"/>
              </a:ext>
            </a:extLst>
          </p:cNvPr>
          <p:cNvSpPr txBox="1"/>
          <p:nvPr/>
        </p:nvSpPr>
        <p:spPr>
          <a:xfrm>
            <a:off x="1140879" y="1842349"/>
            <a:ext cx="4047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Secondary structure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21F8A9-8638-E2D5-7881-AB26ED6320D5}"/>
              </a:ext>
            </a:extLst>
          </p:cNvPr>
          <p:cNvSpPr/>
          <p:nvPr/>
        </p:nvSpPr>
        <p:spPr>
          <a:xfrm>
            <a:off x="1051356" y="4389120"/>
            <a:ext cx="254930" cy="1657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A8F9897-B7DC-0E8B-C9F2-DF54B757C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99" y="2095125"/>
            <a:ext cx="3825459" cy="211342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5D8C577-F416-046E-2311-7C9D9A5DA20B}"/>
              </a:ext>
            </a:extLst>
          </p:cNvPr>
          <p:cNvSpPr txBox="1"/>
          <p:nvPr/>
        </p:nvSpPr>
        <p:spPr>
          <a:xfrm>
            <a:off x="5805085" y="1803245"/>
            <a:ext cx="5047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1. Base pair stacked over another base pair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BDAB9AE-2805-22D3-DE56-C9390CC9B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562" y="2617114"/>
            <a:ext cx="4883823" cy="298200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19F0400-49B2-52CC-3212-15FEACD2440E}"/>
              </a:ext>
            </a:extLst>
          </p:cNvPr>
          <p:cNvSpPr txBox="1"/>
          <p:nvPr/>
        </p:nvSpPr>
        <p:spPr>
          <a:xfrm>
            <a:off x="4992421" y="4309475"/>
            <a:ext cx="391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833596-897A-1776-120D-6AE13A7064D4}"/>
              </a:ext>
            </a:extLst>
          </p:cNvPr>
          <p:cNvSpPr txBox="1"/>
          <p:nvPr/>
        </p:nvSpPr>
        <p:spPr>
          <a:xfrm>
            <a:off x="1051356" y="3268467"/>
            <a:ext cx="391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5C43E8-26DB-A05A-6392-32F0508DC877}"/>
              </a:ext>
            </a:extLst>
          </p:cNvPr>
          <p:cNvSpPr txBox="1"/>
          <p:nvPr/>
        </p:nvSpPr>
        <p:spPr>
          <a:xfrm>
            <a:off x="5935179" y="4300373"/>
            <a:ext cx="5047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2. Loop stability depends on closing base pair.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D57AC75-42C1-6AE8-56AE-02F61D040A41}"/>
              </a:ext>
            </a:extLst>
          </p:cNvPr>
          <p:cNvCxnSpPr>
            <a:cxnSpLocks/>
          </p:cNvCxnSpPr>
          <p:nvPr/>
        </p:nvCxnSpPr>
        <p:spPr>
          <a:xfrm flipH="1">
            <a:off x="1306286" y="2409839"/>
            <a:ext cx="210417" cy="46355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851751-BF28-4640-48BC-3C71CEBF7821}"/>
              </a:ext>
            </a:extLst>
          </p:cNvPr>
          <p:cNvCxnSpPr>
            <a:cxnSpLocks/>
          </p:cNvCxnSpPr>
          <p:nvPr/>
        </p:nvCxnSpPr>
        <p:spPr>
          <a:xfrm flipV="1">
            <a:off x="944548" y="3349487"/>
            <a:ext cx="234273" cy="28443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0EB8513-5022-07CE-7F24-29171D2C6E26}"/>
              </a:ext>
            </a:extLst>
          </p:cNvPr>
          <p:cNvSpPr txBox="1"/>
          <p:nvPr/>
        </p:nvSpPr>
        <p:spPr>
          <a:xfrm>
            <a:off x="1306286" y="318865"/>
            <a:ext cx="1036721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Turner Model aka Nearest Neighbor Model</a:t>
            </a:r>
          </a:p>
          <a:p>
            <a:pPr algn="ctr"/>
            <a:r>
              <a:rPr lang="en-US" sz="2000" dirty="0"/>
              <a:t>Factors affecting stability of any loop or stem.</a:t>
            </a:r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5994ED7-D95E-42AA-3F27-09E323DB44B5}"/>
              </a:ext>
            </a:extLst>
          </p:cNvPr>
          <p:cNvCxnSpPr>
            <a:cxnSpLocks/>
          </p:cNvCxnSpPr>
          <p:nvPr/>
        </p:nvCxnSpPr>
        <p:spPr>
          <a:xfrm flipH="1">
            <a:off x="1997765" y="2767952"/>
            <a:ext cx="80839" cy="33355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B62C15-3DD4-F319-6DFD-54DA2B6139BB}"/>
              </a:ext>
            </a:extLst>
          </p:cNvPr>
          <p:cNvCxnSpPr>
            <a:cxnSpLocks/>
          </p:cNvCxnSpPr>
          <p:nvPr/>
        </p:nvCxnSpPr>
        <p:spPr>
          <a:xfrm flipV="1">
            <a:off x="1675414" y="3530077"/>
            <a:ext cx="212346" cy="32644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2D7B85F-9439-EB8B-2263-B6BB837D6432}"/>
              </a:ext>
            </a:extLst>
          </p:cNvPr>
          <p:cNvCxnSpPr>
            <a:cxnSpLocks/>
          </p:cNvCxnSpPr>
          <p:nvPr/>
        </p:nvCxnSpPr>
        <p:spPr>
          <a:xfrm flipH="1">
            <a:off x="2692237" y="2931173"/>
            <a:ext cx="80839" cy="33355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6CE4DC9-2CDD-26F0-EB96-992C66764F15}"/>
              </a:ext>
            </a:extLst>
          </p:cNvPr>
          <p:cNvCxnSpPr>
            <a:cxnSpLocks/>
          </p:cNvCxnSpPr>
          <p:nvPr/>
        </p:nvCxnSpPr>
        <p:spPr>
          <a:xfrm flipV="1">
            <a:off x="2369886" y="3693298"/>
            <a:ext cx="212346" cy="32644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BFAA98-098D-8875-776A-0D39266C12CC}"/>
              </a:ext>
            </a:extLst>
          </p:cNvPr>
          <p:cNvCxnSpPr>
            <a:cxnSpLocks/>
          </p:cNvCxnSpPr>
          <p:nvPr/>
        </p:nvCxnSpPr>
        <p:spPr>
          <a:xfrm flipH="1" flipV="1">
            <a:off x="3518452" y="4768923"/>
            <a:ext cx="393190" cy="23933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B72F59B-8339-6FF4-AE2B-0CF69A55A35D}"/>
              </a:ext>
            </a:extLst>
          </p:cNvPr>
          <p:cNvCxnSpPr>
            <a:cxnSpLocks/>
          </p:cNvCxnSpPr>
          <p:nvPr/>
        </p:nvCxnSpPr>
        <p:spPr>
          <a:xfrm>
            <a:off x="2478886" y="4445435"/>
            <a:ext cx="555342" cy="13644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E7D3940-5AC2-D49C-462A-154988987F18}"/>
              </a:ext>
            </a:extLst>
          </p:cNvPr>
          <p:cNvSpPr txBox="1"/>
          <p:nvPr/>
        </p:nvSpPr>
        <p:spPr>
          <a:xfrm>
            <a:off x="141890" y="6287508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effectLst/>
              </a:rPr>
              <a:t>Sato et al., </a:t>
            </a:r>
            <a:r>
              <a:rPr lang="en-US" sz="1000" i="1" dirty="0"/>
              <a:t>Nat Comm</a:t>
            </a:r>
            <a:r>
              <a:rPr lang="en-US" sz="1000" b="0" i="0" u="none" strike="noStrike" dirty="0">
                <a:effectLst/>
              </a:rPr>
              <a:t>, 2021</a:t>
            </a:r>
          </a:p>
          <a:p>
            <a:r>
              <a:rPr lang="en-US" sz="1000" dirty="0"/>
              <a:t>Dutta et al., </a:t>
            </a:r>
            <a:r>
              <a:rPr lang="en-US" sz="1000" i="1" dirty="0"/>
              <a:t>Phys Chem</a:t>
            </a:r>
            <a:r>
              <a:rPr lang="en-US" sz="1000" dirty="0"/>
              <a:t>, 2024</a:t>
            </a:r>
            <a:endParaRPr lang="en-US" sz="1000" b="0" i="0" u="none" strike="noStrike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9439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01"/>
    </mc:Choice>
    <mc:Fallback xmlns="">
      <p:transition spd="slow" advTm="1690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5E809-82CC-196F-98C0-8B255A4C2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527A65F-4D54-4417-B904-5B4DAFDEA607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6F533-F76E-6C22-00FB-BDD75FFC0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324A0A-1D16-626A-E091-F6ACB719BBD4}"/>
              </a:ext>
            </a:extLst>
          </p:cNvPr>
          <p:cNvSpPr txBox="1"/>
          <p:nvPr/>
        </p:nvSpPr>
        <p:spPr>
          <a:xfrm>
            <a:off x="1140879" y="1842349"/>
            <a:ext cx="4047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Secondary structure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5BAF09-928F-D3FC-618A-0A0879C5398A}"/>
              </a:ext>
            </a:extLst>
          </p:cNvPr>
          <p:cNvSpPr/>
          <p:nvPr/>
        </p:nvSpPr>
        <p:spPr>
          <a:xfrm>
            <a:off x="1051356" y="4389120"/>
            <a:ext cx="254930" cy="1657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83698BD-6505-7BCA-F59F-F18348066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99" y="2095125"/>
            <a:ext cx="3825459" cy="211342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4A2D82D-41F1-0FD9-5F95-AD80B150F438}"/>
              </a:ext>
            </a:extLst>
          </p:cNvPr>
          <p:cNvSpPr txBox="1"/>
          <p:nvPr/>
        </p:nvSpPr>
        <p:spPr>
          <a:xfrm>
            <a:off x="5805085" y="1803245"/>
            <a:ext cx="5047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1. Base pair stacked over another base pair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247A358-5D09-8EC3-5184-C33579E97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562" y="2617114"/>
            <a:ext cx="4883823" cy="298200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271E357B-5AEB-EE36-8D1D-5EA4869D0ED2}"/>
              </a:ext>
            </a:extLst>
          </p:cNvPr>
          <p:cNvSpPr txBox="1"/>
          <p:nvPr/>
        </p:nvSpPr>
        <p:spPr>
          <a:xfrm>
            <a:off x="4992421" y="4309475"/>
            <a:ext cx="391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08F2D-6503-22EB-E9A2-EB843D8EF04F}"/>
              </a:ext>
            </a:extLst>
          </p:cNvPr>
          <p:cNvSpPr txBox="1"/>
          <p:nvPr/>
        </p:nvSpPr>
        <p:spPr>
          <a:xfrm>
            <a:off x="1051356" y="3268467"/>
            <a:ext cx="391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D3519A-A36E-CF5E-D5B0-DDFBEB4900F8}"/>
              </a:ext>
            </a:extLst>
          </p:cNvPr>
          <p:cNvSpPr txBox="1"/>
          <p:nvPr/>
        </p:nvSpPr>
        <p:spPr>
          <a:xfrm>
            <a:off x="5935179" y="4300373"/>
            <a:ext cx="49171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2. Loop stability depends on closing base pair.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BAF250-FF54-6680-95F8-9CB9EF62136E}"/>
              </a:ext>
            </a:extLst>
          </p:cNvPr>
          <p:cNvSpPr txBox="1"/>
          <p:nvPr/>
        </p:nvSpPr>
        <p:spPr>
          <a:xfrm>
            <a:off x="2355581" y="2476071"/>
            <a:ext cx="391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BE71D91-359F-1D69-38D1-CF778DA8E3C1}"/>
              </a:ext>
            </a:extLst>
          </p:cNvPr>
          <p:cNvCxnSpPr>
            <a:cxnSpLocks/>
          </p:cNvCxnSpPr>
          <p:nvPr/>
        </p:nvCxnSpPr>
        <p:spPr>
          <a:xfrm flipH="1">
            <a:off x="2230842" y="2696818"/>
            <a:ext cx="51677" cy="210877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1B50BB3-2A71-439B-B0AA-17B4859E7F30}"/>
              </a:ext>
            </a:extLst>
          </p:cNvPr>
          <p:cNvCxnSpPr/>
          <p:nvPr/>
        </p:nvCxnSpPr>
        <p:spPr>
          <a:xfrm flipH="1">
            <a:off x="2627080" y="2858247"/>
            <a:ext cx="69574" cy="188843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F4422BF-A2E7-CBD0-6F6D-A304540FD192}"/>
              </a:ext>
            </a:extLst>
          </p:cNvPr>
          <p:cNvCxnSpPr>
            <a:cxnSpLocks/>
          </p:cNvCxnSpPr>
          <p:nvPr/>
        </p:nvCxnSpPr>
        <p:spPr>
          <a:xfrm flipV="1">
            <a:off x="1710364" y="3729924"/>
            <a:ext cx="213615" cy="190979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8EE8B1-8AA3-CF15-B46E-1A8B2DE12711}"/>
              </a:ext>
            </a:extLst>
          </p:cNvPr>
          <p:cNvCxnSpPr>
            <a:cxnSpLocks/>
          </p:cNvCxnSpPr>
          <p:nvPr/>
        </p:nvCxnSpPr>
        <p:spPr>
          <a:xfrm flipV="1">
            <a:off x="2282519" y="3858334"/>
            <a:ext cx="106132" cy="176953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79D88B2-B088-901C-5D43-6A524A5EFA4C}"/>
              </a:ext>
            </a:extLst>
          </p:cNvPr>
          <p:cNvSpPr txBox="1"/>
          <p:nvPr/>
        </p:nvSpPr>
        <p:spPr>
          <a:xfrm>
            <a:off x="5913033" y="5067591"/>
            <a:ext cx="50472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3. Loop stability also depends on pair of nucleotides next to closing base pairs (mismatch).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A2BA58-7132-3D05-962D-FA5F9B9F56D2}"/>
              </a:ext>
            </a:extLst>
          </p:cNvPr>
          <p:cNvSpPr txBox="1"/>
          <p:nvPr/>
        </p:nvSpPr>
        <p:spPr>
          <a:xfrm>
            <a:off x="1306286" y="318865"/>
            <a:ext cx="1036721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Turner Model aka Nearest Neighbor Model</a:t>
            </a:r>
          </a:p>
          <a:p>
            <a:pPr algn="ctr"/>
            <a:r>
              <a:rPr lang="en-US" sz="2000" dirty="0"/>
              <a:t>Factors affecting stability of any loop or stem.</a:t>
            </a:r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9E74532-60D1-11EA-EE46-440C412CCE60}"/>
              </a:ext>
            </a:extLst>
          </p:cNvPr>
          <p:cNvCxnSpPr>
            <a:cxnSpLocks/>
          </p:cNvCxnSpPr>
          <p:nvPr/>
        </p:nvCxnSpPr>
        <p:spPr>
          <a:xfrm flipH="1">
            <a:off x="1193420" y="2323271"/>
            <a:ext cx="73651" cy="347763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92775A2-3ECE-492A-4A8D-9EAB080AA58D}"/>
              </a:ext>
            </a:extLst>
          </p:cNvPr>
          <p:cNvCxnSpPr>
            <a:cxnSpLocks/>
          </p:cNvCxnSpPr>
          <p:nvPr/>
        </p:nvCxnSpPr>
        <p:spPr>
          <a:xfrm flipV="1">
            <a:off x="934506" y="3411022"/>
            <a:ext cx="66313" cy="259854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028A3B9-8720-4BB6-9338-CF416BD1F019}"/>
              </a:ext>
            </a:extLst>
          </p:cNvPr>
          <p:cNvCxnSpPr>
            <a:cxnSpLocks/>
          </p:cNvCxnSpPr>
          <p:nvPr/>
        </p:nvCxnSpPr>
        <p:spPr>
          <a:xfrm flipH="1">
            <a:off x="4033608" y="3110081"/>
            <a:ext cx="87360" cy="318919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A3695A0-F56C-74B3-9986-E746F1882F8D}"/>
              </a:ext>
            </a:extLst>
          </p:cNvPr>
          <p:cNvCxnSpPr>
            <a:cxnSpLocks/>
          </p:cNvCxnSpPr>
          <p:nvPr/>
        </p:nvCxnSpPr>
        <p:spPr>
          <a:xfrm flipV="1">
            <a:off x="3748391" y="4259193"/>
            <a:ext cx="66313" cy="259854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B365CFD-4131-015E-AC3E-3796D9B87E7A}"/>
              </a:ext>
            </a:extLst>
          </p:cNvPr>
          <p:cNvSpPr txBox="1"/>
          <p:nvPr/>
        </p:nvSpPr>
        <p:spPr>
          <a:xfrm>
            <a:off x="141890" y="6287508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effectLst/>
              </a:rPr>
              <a:t>Sato et al., </a:t>
            </a:r>
            <a:r>
              <a:rPr lang="en-US" sz="1000" i="1" dirty="0"/>
              <a:t>Nat Comm</a:t>
            </a:r>
            <a:r>
              <a:rPr lang="en-US" sz="1000" b="0" i="0" u="none" strike="noStrike" dirty="0">
                <a:effectLst/>
              </a:rPr>
              <a:t>, 2021</a:t>
            </a:r>
          </a:p>
          <a:p>
            <a:r>
              <a:rPr lang="en-US" sz="1000" dirty="0"/>
              <a:t>Dutta et al., </a:t>
            </a:r>
            <a:r>
              <a:rPr lang="en-US" sz="1000" i="1" dirty="0"/>
              <a:t>Phys Chem</a:t>
            </a:r>
            <a:r>
              <a:rPr lang="en-US" sz="1000" dirty="0"/>
              <a:t>, 2024</a:t>
            </a:r>
            <a:endParaRPr lang="en-US" sz="1000" b="0" i="0" u="none" strike="noStrike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76433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232"/>
    </mc:Choice>
    <mc:Fallback xmlns="">
      <p:transition spd="slow" advTm="4023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E8726-2FB6-74DE-C833-9751A52CB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86ED42-D062-E398-3CE3-73BCFE5C5DE3}"/>
              </a:ext>
            </a:extLst>
          </p:cNvPr>
          <p:cNvSpPr txBox="1"/>
          <p:nvPr/>
        </p:nvSpPr>
        <p:spPr>
          <a:xfrm>
            <a:off x="1809308" y="315761"/>
            <a:ext cx="9743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Thermodynamic parameters from Turner model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CF475B-7ABD-2094-7A54-1DDF75062BA6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92564-7F60-E541-743F-96F3B7FFB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7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CF4868B-F261-4CB7-DA36-82BE7E4D2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82" y="2382081"/>
            <a:ext cx="2086442" cy="144628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0A9F6FA-B6A0-78AD-4C3A-812980C0B6AF}"/>
              </a:ext>
            </a:extLst>
          </p:cNvPr>
          <p:cNvSpPr txBox="1"/>
          <p:nvPr/>
        </p:nvSpPr>
        <p:spPr>
          <a:xfrm>
            <a:off x="613837" y="1335641"/>
            <a:ext cx="33319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Optical melting experiments </a:t>
            </a:r>
            <a:r>
              <a:rPr lang="en-US" sz="2000" dirty="0"/>
              <a:t>on constructs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0BCE1B-2091-B841-3B76-80825244DB7B}"/>
              </a:ext>
            </a:extLst>
          </p:cNvPr>
          <p:cNvSpPr txBox="1"/>
          <p:nvPr/>
        </p:nvSpPr>
        <p:spPr>
          <a:xfrm>
            <a:off x="1245422" y="2090757"/>
            <a:ext cx="24556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Several duplexes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0DE9E4A-3964-02A9-BB2F-FB0B1CB9F658}"/>
              </a:ext>
            </a:extLst>
          </p:cNvPr>
          <p:cNvSpPr/>
          <p:nvPr/>
        </p:nvSpPr>
        <p:spPr>
          <a:xfrm>
            <a:off x="2165639" y="2622328"/>
            <a:ext cx="724818" cy="4185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404E974-C2C0-17E7-0FDE-E05A1F9BA03D}"/>
              </a:ext>
            </a:extLst>
          </p:cNvPr>
          <p:cNvCxnSpPr>
            <a:cxnSpLocks/>
            <a:stCxn id="18" idx="6"/>
          </p:cNvCxnSpPr>
          <p:nvPr/>
        </p:nvCxnSpPr>
        <p:spPr>
          <a:xfrm flipV="1">
            <a:off x="2890457" y="2676596"/>
            <a:ext cx="614492" cy="1549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87301C5-D173-B00E-39D4-A07E5864382B}"/>
              </a:ext>
            </a:extLst>
          </p:cNvPr>
          <p:cNvSpPr txBox="1"/>
          <p:nvPr/>
        </p:nvSpPr>
        <p:spPr>
          <a:xfrm>
            <a:off x="4858988" y="1471632"/>
            <a:ext cx="2925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Free energy parameters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DCA6358-32C5-D056-76D9-5E91F523E92A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3757684" y="1663974"/>
            <a:ext cx="1101304" cy="771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CE35DBE-6272-A243-8264-FAFE8E39C5FA}"/>
              </a:ext>
            </a:extLst>
          </p:cNvPr>
          <p:cNvCxnSpPr>
            <a:cxnSpLocks/>
          </p:cNvCxnSpPr>
          <p:nvPr/>
        </p:nvCxnSpPr>
        <p:spPr>
          <a:xfrm>
            <a:off x="3621977" y="3117187"/>
            <a:ext cx="71426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E6B32AA-09CD-5810-CB1A-911F5114C932}"/>
              </a:ext>
            </a:extLst>
          </p:cNvPr>
          <p:cNvSpPr txBox="1"/>
          <p:nvPr/>
        </p:nvSpPr>
        <p:spPr>
          <a:xfrm>
            <a:off x="4336241" y="2774939"/>
            <a:ext cx="29253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Stacking parameters</a:t>
            </a:r>
          </a:p>
          <a:p>
            <a:pPr algn="ctr"/>
            <a:r>
              <a:rPr lang="en-US" sz="2000" dirty="0"/>
              <a:t>(Basic building blocks for an RNA structure)</a:t>
            </a:r>
          </a:p>
        </p:txBody>
      </p:sp>
      <p:pic>
        <p:nvPicPr>
          <p:cNvPr id="16" name="Picture 15" descr="A number and line of numbers&#10;&#10;AI-generated content may be incorrect.">
            <a:extLst>
              <a:ext uri="{FF2B5EF4-FFF2-40B4-BE49-F238E27FC236}">
                <a16:creationId xmlns:a16="http://schemas.microsoft.com/office/drawing/2014/main" id="{71B7FD90-6FFD-CDEE-FCEE-1E1DEB26D2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5" t="15774" r="70949" b="17454"/>
          <a:stretch>
            <a:fillRect/>
          </a:stretch>
        </p:blipFill>
        <p:spPr>
          <a:xfrm>
            <a:off x="3519995" y="2391238"/>
            <a:ext cx="816626" cy="33885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D179E99-AEE3-4217-AAF1-C3543E40D3B4}"/>
              </a:ext>
            </a:extLst>
          </p:cNvPr>
          <p:cNvSpPr txBox="1"/>
          <p:nvPr/>
        </p:nvSpPr>
        <p:spPr>
          <a:xfrm>
            <a:off x="3912978" y="1413589"/>
            <a:ext cx="965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Linear regression</a:t>
            </a:r>
          </a:p>
        </p:txBody>
      </p:sp>
      <p:pic>
        <p:nvPicPr>
          <p:cNvPr id="9" name="Picture 8" descr="A diagram of a molecule&#10;&#10;AI-generated content may be incorrect.">
            <a:extLst>
              <a:ext uri="{FF2B5EF4-FFF2-40B4-BE49-F238E27FC236}">
                <a16:creationId xmlns:a16="http://schemas.microsoft.com/office/drawing/2014/main" id="{841749F1-DD7F-4C64-F108-E095DB1427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612" y="1257907"/>
            <a:ext cx="2720839" cy="2370536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D9D33D4-50D6-4EAD-DBE5-C3D9BED05DFE}"/>
              </a:ext>
            </a:extLst>
          </p:cNvPr>
          <p:cNvSpPr/>
          <p:nvPr/>
        </p:nvSpPr>
        <p:spPr>
          <a:xfrm>
            <a:off x="9388299" y="2637856"/>
            <a:ext cx="638062" cy="99058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B3BC046-535F-8E79-899A-E3B561436451}"/>
              </a:ext>
            </a:extLst>
          </p:cNvPr>
          <p:cNvSpPr/>
          <p:nvPr/>
        </p:nvSpPr>
        <p:spPr>
          <a:xfrm flipV="1">
            <a:off x="8845826" y="1644422"/>
            <a:ext cx="1013791" cy="88804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8D9FAC-9AB4-EDE6-AB8B-2538CF3158DF}"/>
              </a:ext>
            </a:extLst>
          </p:cNvPr>
          <p:cNvCxnSpPr>
            <a:stCxn id="11" idx="1"/>
          </p:cNvCxnSpPr>
          <p:nvPr/>
        </p:nvCxnSpPr>
        <p:spPr>
          <a:xfrm flipH="1">
            <a:off x="8935278" y="2402418"/>
            <a:ext cx="59014" cy="3276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345BD6-9CB4-1988-994E-E2CB7003E1B2}"/>
              </a:ext>
            </a:extLst>
          </p:cNvPr>
          <p:cNvCxnSpPr>
            <a:cxnSpLocks/>
            <a:stCxn id="10" idx="2"/>
          </p:cNvCxnSpPr>
          <p:nvPr/>
        </p:nvCxnSpPr>
        <p:spPr>
          <a:xfrm flipH="1" flipV="1">
            <a:off x="9013339" y="3040855"/>
            <a:ext cx="374960" cy="922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B6C8532-3666-AFA7-BA48-2DCE5368BA63}"/>
              </a:ext>
            </a:extLst>
          </p:cNvPr>
          <p:cNvSpPr txBox="1"/>
          <p:nvPr/>
        </p:nvSpPr>
        <p:spPr>
          <a:xfrm>
            <a:off x="8478206" y="2649569"/>
            <a:ext cx="8401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Region of interest</a:t>
            </a:r>
          </a:p>
        </p:txBody>
      </p:sp>
    </p:spTree>
    <p:extLst>
      <p:ext uri="{BB962C8B-B14F-4D97-AF65-F5344CB8AC3E}">
        <p14:creationId xmlns:p14="http://schemas.microsoft.com/office/powerpoint/2010/main" val="119351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929"/>
    </mc:Choice>
    <mc:Fallback xmlns="">
      <p:transition spd="slow" advTm="5992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CC3052-1141-5D11-5110-6C2A3DAF985A}"/>
              </a:ext>
            </a:extLst>
          </p:cNvPr>
          <p:cNvSpPr txBox="1"/>
          <p:nvPr/>
        </p:nvSpPr>
        <p:spPr>
          <a:xfrm>
            <a:off x="1407716" y="-123753"/>
            <a:ext cx="870585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b="1" dirty="0">
              <a:solidFill>
                <a:srgbClr val="C00000"/>
              </a:solidFill>
            </a:endParaRPr>
          </a:p>
          <a:p>
            <a:pPr algn="ctr"/>
            <a:r>
              <a:rPr lang="en-US" sz="2400" b="1" dirty="0">
                <a:solidFill>
                  <a:srgbClr val="C00000"/>
                </a:solidFill>
              </a:rPr>
              <a:t>Optical melting experiments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A76B81-F777-A144-6F6A-46E1F0151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08" y="2318517"/>
            <a:ext cx="4067869" cy="28223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A3F91E-1153-9A7F-D2B2-E65FDE135A37}"/>
              </a:ext>
            </a:extLst>
          </p:cNvPr>
          <p:cNvSpPr txBox="1"/>
          <p:nvPr/>
        </p:nvSpPr>
        <p:spPr>
          <a:xfrm>
            <a:off x="1369573" y="1888191"/>
            <a:ext cx="4463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UV absorbance vs Temperature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08D387-7E32-3758-62BD-9170A2F3AD61}"/>
              </a:ext>
            </a:extLst>
          </p:cNvPr>
          <p:cNvSpPr txBox="1"/>
          <p:nvPr/>
        </p:nvSpPr>
        <p:spPr>
          <a:xfrm>
            <a:off x="1082346" y="5395754"/>
            <a:ext cx="38451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à"/>
            </a:pPr>
            <a:r>
              <a:rPr lang="en-US" sz="1400" dirty="0">
                <a:cs typeface="Arial" panose="020B0604020202020204" pitchFamily="34" charset="0"/>
              </a:rPr>
              <a:t>Temperature increases 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US" sz="1400" dirty="0">
                <a:cs typeface="Arial" panose="020B0604020202020204" pitchFamily="34" charset="0"/>
                <a:sym typeface="Wingdings" pitchFamily="2" charset="2"/>
              </a:rPr>
              <a:t>Loss of base-pairing 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US" sz="1400" dirty="0">
                <a:cs typeface="Arial" panose="020B0604020202020204" pitchFamily="34" charset="0"/>
                <a:sym typeface="Wingdings" pitchFamily="2" charset="2"/>
              </a:rPr>
              <a:t>Increase in UV absorbance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B273B4-E2AA-232E-E3A9-64D35DE12F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498" t="27238" r="21282" b="51046"/>
          <a:stretch/>
        </p:blipFill>
        <p:spPr>
          <a:xfrm>
            <a:off x="2732187" y="3201090"/>
            <a:ext cx="566784" cy="4103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40322A-F809-47EC-FEDA-C15D56EAEB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295" t="52054" r="-2700" b="27693"/>
          <a:stretch/>
        </p:blipFill>
        <p:spPr>
          <a:xfrm>
            <a:off x="1778457" y="3608587"/>
            <a:ext cx="528840" cy="3547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B497FF-0E59-7528-AC92-25EF293F7F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940" t="9780" r="55653" b="67249"/>
          <a:stretch/>
        </p:blipFill>
        <p:spPr>
          <a:xfrm>
            <a:off x="3601534" y="2514750"/>
            <a:ext cx="253675" cy="4262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E4B566-0BF3-457C-A678-8AA3A2A88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301" y="2796413"/>
            <a:ext cx="282458" cy="2891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5DB93A-FA8C-2CEE-ADD7-D3C5EE362FCD}"/>
                  </a:ext>
                </a:extLst>
              </p:cNvPr>
              <p:cNvSpPr txBox="1"/>
              <p:nvPr/>
            </p:nvSpPr>
            <p:spPr>
              <a:xfrm>
                <a:off x="7410993" y="3086144"/>
                <a:ext cx="4057883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1) Plot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IN" dirty="0"/>
                  <a:t> vs concentration.</a:t>
                </a:r>
              </a:p>
              <a:p>
                <a:r>
                  <a:rPr lang="en-IN" dirty="0"/>
                  <a:t>2)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IN" dirty="0"/>
                  <a:t> </a:t>
                </a:r>
                <a:r>
                  <a:rPr lang="en-IN" dirty="0">
                    <a:sym typeface="Wingdings" pitchFamily="2" charset="2"/>
                  </a:rPr>
                  <a:t> Slope and intercept from the above plots.</a:t>
                </a:r>
                <a:r>
                  <a:rPr lang="en-IN" dirty="0"/>
                  <a:t> 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3)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IN" dirty="0"/>
                  <a:t> with T =</a:t>
                </a:r>
                <a:r>
                  <a:rPr lang="en-US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37 °C</a:t>
                </a:r>
                <a:endParaRPr lang="en-IN" dirty="0"/>
              </a:p>
              <a:p>
                <a:pPr algn="ctr"/>
                <a:endParaRPr lang="en-IN" dirty="0"/>
              </a:p>
              <a:p>
                <a:pPr marL="342900" indent="-342900">
                  <a:buAutoNum type="arabicParenR"/>
                </a:pPr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5DB93A-FA8C-2CEE-ADD7-D3C5EE362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993" y="3086144"/>
                <a:ext cx="4057883" cy="1754326"/>
              </a:xfrm>
              <a:prstGeom prst="rect">
                <a:avLst/>
              </a:prstGeom>
              <a:blipFill>
                <a:blip r:embed="rId5"/>
                <a:stretch>
                  <a:fillRect l="-1250" t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7699A0E9-03E1-AE52-C137-2D21172B147D}"/>
              </a:ext>
            </a:extLst>
          </p:cNvPr>
          <p:cNvSpPr/>
          <p:nvPr/>
        </p:nvSpPr>
        <p:spPr>
          <a:xfrm>
            <a:off x="5066332" y="3243939"/>
            <a:ext cx="2055515" cy="60400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122324-3A40-9D7C-CCD0-96F33AA1AFD1}"/>
                  </a:ext>
                </a:extLst>
              </p:cNvPr>
              <p:cNvSpPr txBox="1"/>
              <p:nvPr/>
            </p:nvSpPr>
            <p:spPr>
              <a:xfrm>
                <a:off x="5066813" y="2634095"/>
                <a:ext cx="2180877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Melting point temperature,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IN" sz="1400" dirty="0"/>
                  <a:t> from absorbance plots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122324-3A40-9D7C-CCD0-96F33AA1A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813" y="2634095"/>
                <a:ext cx="2180877" cy="738664"/>
              </a:xfrm>
              <a:prstGeom prst="rect">
                <a:avLst/>
              </a:prstGeom>
              <a:blipFill>
                <a:blip r:embed="rId6"/>
                <a:stretch>
                  <a:fillRect l="-578" t="-1695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72A3B8F2-C04F-59D1-5682-A314CB985C73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114EF-5737-06BB-F3D8-B6A74CA56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6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D43D0A0-D12A-1467-A868-9DDC1BEC91D0}"/>
              </a:ext>
            </a:extLst>
          </p:cNvPr>
          <p:cNvCxnSpPr/>
          <p:nvPr/>
        </p:nvCxnSpPr>
        <p:spPr>
          <a:xfrm flipV="1">
            <a:off x="5525115" y="2224706"/>
            <a:ext cx="0" cy="409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3D2AFEF-AC17-E9B7-6754-43A00D17A830}"/>
              </a:ext>
            </a:extLst>
          </p:cNvPr>
          <p:cNvSpPr txBox="1"/>
          <p:nvPr/>
        </p:nvSpPr>
        <p:spPr>
          <a:xfrm>
            <a:off x="4938264" y="1787182"/>
            <a:ext cx="1726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Halfway in the Folded to Unfolded transition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AF855D-824E-D492-747D-7B352D906245}"/>
              </a:ext>
            </a:extLst>
          </p:cNvPr>
          <p:cNvSpPr txBox="1"/>
          <p:nvPr/>
        </p:nvSpPr>
        <p:spPr>
          <a:xfrm rot="16200000">
            <a:off x="-84956" y="3228420"/>
            <a:ext cx="218913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UV Absorbance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9511B1-EFEA-D8A8-3772-DAEC0172C717}"/>
                  </a:ext>
                </a:extLst>
              </p:cNvPr>
              <p:cNvSpPr txBox="1"/>
              <p:nvPr/>
            </p:nvSpPr>
            <p:spPr>
              <a:xfrm>
                <a:off x="2175435" y="4893689"/>
                <a:ext cx="202595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Temperature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9511B1-EFEA-D8A8-3772-DAEC0172C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5435" y="4893689"/>
                <a:ext cx="2025958" cy="369332"/>
              </a:xfrm>
              <a:prstGeom prst="rect">
                <a:avLst/>
              </a:prstGeom>
              <a:blipFill>
                <a:blip r:embed="rId7"/>
                <a:stretch>
                  <a:fillRect l="-2500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 descr="A close-up of a glass tube&#10;&#10;AI-generated content may be incorrect.">
            <a:extLst>
              <a:ext uri="{FF2B5EF4-FFF2-40B4-BE49-F238E27FC236}">
                <a16:creationId xmlns:a16="http://schemas.microsoft.com/office/drawing/2014/main" id="{424A2B14-DAD5-45C1-50D5-B3B2DDC399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256" y="2467131"/>
            <a:ext cx="1468403" cy="538177"/>
          </a:xfrm>
          <a:prstGeom prst="rect">
            <a:avLst/>
          </a:prstGeom>
        </p:spPr>
      </p:pic>
      <p:pic>
        <p:nvPicPr>
          <p:cNvPr id="18" name="Picture 17" descr="A diagram of a triangle and a triangle&#10;&#10;AI-generated content may be incorrect.">
            <a:extLst>
              <a:ext uri="{FF2B5EF4-FFF2-40B4-BE49-F238E27FC236}">
                <a16:creationId xmlns:a16="http://schemas.microsoft.com/office/drawing/2014/main" id="{D9979F82-D5EB-312E-02EE-B13BB79B165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25"/>
          <a:stretch>
            <a:fillRect/>
          </a:stretch>
        </p:blipFill>
        <p:spPr>
          <a:xfrm>
            <a:off x="8444773" y="665415"/>
            <a:ext cx="840134" cy="82449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3F11E35-C2B4-8835-7452-167A9DB9B457}"/>
              </a:ext>
            </a:extLst>
          </p:cNvPr>
          <p:cNvSpPr txBox="1"/>
          <p:nvPr/>
        </p:nvSpPr>
        <p:spPr>
          <a:xfrm>
            <a:off x="1020553" y="960595"/>
            <a:ext cx="75117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cs typeface="Arial" panose="020B0604020202020204" pitchFamily="34" charset="0"/>
              </a:rPr>
              <a:t>Assumption</a:t>
            </a:r>
            <a:r>
              <a:rPr lang="en-US" sz="2000" dirty="0">
                <a:cs typeface="Arial" panose="020B0604020202020204" pitchFamily="34" charset="0"/>
              </a:rPr>
              <a:t>: Two-state folding model (fully folded or unfolded).</a:t>
            </a:r>
          </a:p>
        </p:txBody>
      </p:sp>
      <p:pic>
        <p:nvPicPr>
          <p:cNvPr id="21" name="Picture 20" descr="A diagram of a triangle and a triangle&#10;&#10;AI-generated content may be incorrect.">
            <a:extLst>
              <a:ext uri="{FF2B5EF4-FFF2-40B4-BE49-F238E27FC236}">
                <a16:creationId xmlns:a16="http://schemas.microsoft.com/office/drawing/2014/main" id="{D54871AB-16EE-3159-66F6-87F8DA298C8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39" r="36802"/>
          <a:stretch>
            <a:fillRect/>
          </a:stretch>
        </p:blipFill>
        <p:spPr>
          <a:xfrm>
            <a:off x="9222060" y="644527"/>
            <a:ext cx="638062" cy="834818"/>
          </a:xfrm>
          <a:prstGeom prst="rect">
            <a:avLst/>
          </a:prstGeom>
        </p:spPr>
      </p:pic>
      <p:pic>
        <p:nvPicPr>
          <p:cNvPr id="22" name="Picture 21" descr="A diagram of a triangle and a triangle&#10;&#10;AI-generated content may be incorrect.">
            <a:extLst>
              <a:ext uri="{FF2B5EF4-FFF2-40B4-BE49-F238E27FC236}">
                <a16:creationId xmlns:a16="http://schemas.microsoft.com/office/drawing/2014/main" id="{B7A81C64-F486-9792-7D76-CF5F06C7DE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59"/>
          <a:stretch>
            <a:fillRect/>
          </a:stretch>
        </p:blipFill>
        <p:spPr>
          <a:xfrm>
            <a:off x="9845143" y="670956"/>
            <a:ext cx="812951" cy="83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56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320"/>
    </mc:Choice>
    <mc:Fallback xmlns="">
      <p:transition spd="slow" advTm="10032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9D968-5342-0400-8B53-5DD0F75C1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AE6537-C19A-CF9F-3A29-7CEE6509DDF9}"/>
              </a:ext>
            </a:extLst>
          </p:cNvPr>
          <p:cNvSpPr txBox="1"/>
          <p:nvPr/>
        </p:nvSpPr>
        <p:spPr>
          <a:xfrm>
            <a:off x="1809308" y="315761"/>
            <a:ext cx="9743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Thermodynamic parameters from Turner model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A20FC9-351F-1AE6-2285-A7DA3C0E1A8A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09C0D-7D6B-B9AE-6C84-0D378A4D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9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0F110BA-D958-2A56-ED9B-6AA3B5E18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82" y="2382081"/>
            <a:ext cx="2086442" cy="144628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507549A-41E4-565C-803B-5E94C4A80298}"/>
              </a:ext>
            </a:extLst>
          </p:cNvPr>
          <p:cNvSpPr txBox="1"/>
          <p:nvPr/>
        </p:nvSpPr>
        <p:spPr>
          <a:xfrm>
            <a:off x="613836" y="1335641"/>
            <a:ext cx="3272363" cy="732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Optical melting experiments on constructs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C630B7-5AF4-AE5F-6C59-C1D00B280D7D}"/>
              </a:ext>
            </a:extLst>
          </p:cNvPr>
          <p:cNvSpPr txBox="1"/>
          <p:nvPr/>
        </p:nvSpPr>
        <p:spPr>
          <a:xfrm>
            <a:off x="1245422" y="2090757"/>
            <a:ext cx="24556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Several duplexes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32B356A-691C-2951-9DBC-9875C201476E}"/>
              </a:ext>
            </a:extLst>
          </p:cNvPr>
          <p:cNvSpPr/>
          <p:nvPr/>
        </p:nvSpPr>
        <p:spPr>
          <a:xfrm>
            <a:off x="2165639" y="2622328"/>
            <a:ext cx="724818" cy="4185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C1300C7-DB3F-7106-2DAF-36AF5DE0CB42}"/>
              </a:ext>
            </a:extLst>
          </p:cNvPr>
          <p:cNvCxnSpPr>
            <a:cxnSpLocks/>
            <a:stCxn id="18" idx="6"/>
          </p:cNvCxnSpPr>
          <p:nvPr/>
        </p:nvCxnSpPr>
        <p:spPr>
          <a:xfrm flipV="1">
            <a:off x="2890457" y="2676596"/>
            <a:ext cx="614492" cy="1549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2970DC7-D6A4-AC48-44F9-010456F368A9}"/>
              </a:ext>
            </a:extLst>
          </p:cNvPr>
          <p:cNvSpPr txBox="1"/>
          <p:nvPr/>
        </p:nvSpPr>
        <p:spPr>
          <a:xfrm>
            <a:off x="4987503" y="1404561"/>
            <a:ext cx="2925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Free energy parameters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03CF901-996E-CDF6-A151-D8F5EC0003E4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3886199" y="1596903"/>
            <a:ext cx="1101304" cy="771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18F7276-8025-0510-6F26-02FC2FD282A2}"/>
              </a:ext>
            </a:extLst>
          </p:cNvPr>
          <p:cNvCxnSpPr>
            <a:cxnSpLocks/>
          </p:cNvCxnSpPr>
          <p:nvPr/>
        </p:nvCxnSpPr>
        <p:spPr>
          <a:xfrm>
            <a:off x="3621977" y="3117187"/>
            <a:ext cx="71426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75BB053-0273-6F7E-6159-893A13AAAFDD}"/>
              </a:ext>
            </a:extLst>
          </p:cNvPr>
          <p:cNvSpPr txBox="1"/>
          <p:nvPr/>
        </p:nvSpPr>
        <p:spPr>
          <a:xfrm>
            <a:off x="4336241" y="2905168"/>
            <a:ext cx="2925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Stacking parameters</a:t>
            </a:r>
          </a:p>
        </p:txBody>
      </p:sp>
      <p:pic>
        <p:nvPicPr>
          <p:cNvPr id="16" name="Picture 15" descr="A number and line of numbers&#10;&#10;AI-generated content may be incorrect.">
            <a:extLst>
              <a:ext uri="{FF2B5EF4-FFF2-40B4-BE49-F238E27FC236}">
                <a16:creationId xmlns:a16="http://schemas.microsoft.com/office/drawing/2014/main" id="{3677A386-C36A-8CFD-6B79-9B95A6ABE2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5" t="15774" r="70949" b="17454"/>
          <a:stretch>
            <a:fillRect/>
          </a:stretch>
        </p:blipFill>
        <p:spPr>
          <a:xfrm>
            <a:off x="3519995" y="2391238"/>
            <a:ext cx="816626" cy="33885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8C4C217-2123-F9D0-E71C-A1FF03BC212E}"/>
              </a:ext>
            </a:extLst>
          </p:cNvPr>
          <p:cNvSpPr txBox="1"/>
          <p:nvPr/>
        </p:nvSpPr>
        <p:spPr>
          <a:xfrm>
            <a:off x="2307401" y="4103865"/>
            <a:ext cx="7551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Stacking parameters in a duplex</a:t>
            </a:r>
            <a:endParaRPr lang="en-IN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F6294BC-9A36-9E0B-84E9-1678C56C140F}"/>
                  </a:ext>
                </a:extLst>
              </p:cNvPr>
              <p:cNvSpPr txBox="1"/>
              <p:nvPr/>
            </p:nvSpPr>
            <p:spPr>
              <a:xfrm>
                <a:off x="408843" y="4827007"/>
                <a:ext cx="11524656" cy="1902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𝐺𝐶𝐺𝐴</m:t>
                                </m:r>
                                <m:r>
                                  <a:rPr lang="en-US" b="0" i="1" smtClean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−3′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𝐶𝐺𝐶𝑈𝐴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−5′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𝑖𝑛𝑖𝑡𝑖𝑎𝑡𝑖𝑜𝑛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𝐺𝐶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𝑓𝑜𝑙𝑙𝑜𝑤𝑒𝑑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𝑏𝑦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𝐶𝐺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𝐶𝐺</m:t>
                              </m:r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𝑓𝑜𝑙𝑙𝑜𝑤𝑒𝑑</m:t>
                              </m:r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𝑏𝑦</m:t>
                              </m:r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𝐺𝐶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𝐺𝐶</m:t>
                              </m:r>
                              <m:r>
                                <a:rPr lang="en-US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𝑓𝑜𝑙𝑙𝑜𝑤𝑒𝑑</m:t>
                              </m:r>
                              <m:r>
                                <a:rPr lang="en-US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𝑏𝑦</m:t>
                              </m:r>
                              <m:r>
                                <a:rPr lang="en-US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𝐴𝑈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𝐴𝑈</m:t>
                              </m:r>
                              <m:r>
                                <a:rPr 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𝑓𝑜𝑙𝑙𝑜𝑤𝑒𝑑</m:t>
                              </m:r>
                              <m:r>
                                <a:rPr 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𝑏𝑦</m:t>
                              </m:r>
                              <m:r>
                                <a:rPr 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𝑈𝐴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𝐴𝑈</m:t>
                          </m:r>
                          <m:r>
                            <a:rPr lang="en-US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𝑐𝑙𝑜𝑠𝑖𝑛𝑔</m:t>
                          </m:r>
                          <m:r>
                            <a:rPr lang="en-US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𝑏𝑎𝑠𝑒𝑝𝑎𝑖𝑟</m:t>
                          </m:r>
                        </m:sub>
                      </m:sSub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sz="1200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F6294BC-9A36-9E0B-84E9-1678C56C1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843" y="4827007"/>
                <a:ext cx="11524656" cy="19028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0F6942F-CAAD-5359-D037-134C6D6C6BDD}"/>
              </a:ext>
            </a:extLst>
          </p:cNvPr>
          <p:cNvSpPr txBox="1"/>
          <p:nvPr/>
        </p:nvSpPr>
        <p:spPr>
          <a:xfrm>
            <a:off x="3954022" y="1366070"/>
            <a:ext cx="965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Linear regression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617B44-7EF7-8484-0EA9-286EA119DBF9}"/>
              </a:ext>
            </a:extLst>
          </p:cNvPr>
          <p:cNvSpPr/>
          <p:nvPr/>
        </p:nvSpPr>
        <p:spPr>
          <a:xfrm>
            <a:off x="2153165" y="4926329"/>
            <a:ext cx="308472" cy="5728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71D788-8856-47AE-A080-5403CD7B0BC7}"/>
              </a:ext>
            </a:extLst>
          </p:cNvPr>
          <p:cNvSpPr/>
          <p:nvPr/>
        </p:nvSpPr>
        <p:spPr>
          <a:xfrm>
            <a:off x="2307401" y="4831274"/>
            <a:ext cx="308472" cy="6679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838144-DC69-FD87-BCEE-B3E071E666A3}"/>
              </a:ext>
            </a:extLst>
          </p:cNvPr>
          <p:cNvSpPr/>
          <p:nvPr/>
        </p:nvSpPr>
        <p:spPr>
          <a:xfrm>
            <a:off x="2461637" y="5041889"/>
            <a:ext cx="308472" cy="572876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38CDF3-AEFF-6218-76AB-E3D8B54F1410}"/>
              </a:ext>
            </a:extLst>
          </p:cNvPr>
          <p:cNvSpPr/>
          <p:nvPr/>
        </p:nvSpPr>
        <p:spPr>
          <a:xfrm>
            <a:off x="2614037" y="4926329"/>
            <a:ext cx="308472" cy="688436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973D67-CE32-5D70-B940-1A1CD3A47FD1}"/>
              </a:ext>
            </a:extLst>
          </p:cNvPr>
          <p:cNvSpPr txBox="1"/>
          <p:nvPr/>
        </p:nvSpPr>
        <p:spPr>
          <a:xfrm>
            <a:off x="1307939" y="45025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0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575"/>
    </mc:Choice>
    <mc:Fallback xmlns="">
      <p:transition spd="slow" advTm="2457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1AA7DF-F911-E6B3-8905-C18C240B839B}"/>
              </a:ext>
            </a:extLst>
          </p:cNvPr>
          <p:cNvSpPr txBox="1"/>
          <p:nvPr/>
        </p:nvSpPr>
        <p:spPr>
          <a:xfrm>
            <a:off x="2036379" y="189193"/>
            <a:ext cx="81192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Stacking parameters</a:t>
            </a:r>
            <a:endParaRPr lang="en-IN" sz="32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464553-5CC6-A0F7-AB67-AD8A2948642A}"/>
                  </a:ext>
                </a:extLst>
              </p:cNvPr>
              <p:cNvSpPr txBox="1"/>
              <p:nvPr/>
            </p:nvSpPr>
            <p:spPr>
              <a:xfrm>
                <a:off x="965004" y="1588976"/>
                <a:ext cx="11111384" cy="553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1" dirty="0"/>
                  <a:t>Matrix representation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dupl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𝑒𝑥</m:t>
                        </m:r>
                      </m:sub>
                    </m:sSub>
                    <m:r>
                      <a:rPr lang="en-US" sz="2000" b="0" i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000" b="0" i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sz="2000" i="1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m:rPr>
                                <m:sty m:val="p"/>
                              </m:rPr>
                              <a:rPr lang="en-US" sz="200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stack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000" dirty="0"/>
                  <a:t> is a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𝑨𝑿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/>
                  <a:t>problem solving for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IN" sz="2000" dirty="0"/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464553-5CC6-A0F7-AB67-AD8A29486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004" y="1588976"/>
                <a:ext cx="11111384" cy="553100"/>
              </a:xfrm>
              <a:prstGeom prst="rect">
                <a:avLst/>
              </a:prstGeom>
              <a:blipFill>
                <a:blip r:embed="rId2"/>
                <a:stretch>
                  <a:fillRect l="-457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85F084-EE91-8043-A7AF-B5D049C31C36}"/>
                  </a:ext>
                </a:extLst>
              </p:cNvPr>
              <p:cNvSpPr txBox="1"/>
              <p:nvPr/>
            </p:nvSpPr>
            <p:spPr>
              <a:xfrm>
                <a:off x="2294257" y="2699442"/>
                <a:ext cx="7345416" cy="20692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sz="2000"/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AU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b="0" i="0" smtClean="0"/>
                                      <m:t>/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GC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b="0" i="0" smtClean="0"/>
                                      <m:t>/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GC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 b="0" i="0" smtClean="0"/>
                                      <m:t>/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AU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GC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/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AU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/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AU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/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000"/>
                                      <m:t>GC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𝐴𝑈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𝐺𝐶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𝐺𝐶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𝐺𝐶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𝐺𝐶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𝐴𝑈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𝐴𝑈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𝐴𝑈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𝐴𝑈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𝑒𝑛𝑑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𝑖𝑛𝑖𝑡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85F084-EE91-8043-A7AF-B5D049C31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257" y="2699442"/>
                <a:ext cx="7345416" cy="20692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869FDD3-E46E-A11F-818C-E56DC328DDD2}"/>
              </a:ext>
            </a:extLst>
          </p:cNvPr>
          <p:cNvSpPr txBox="1"/>
          <p:nvPr/>
        </p:nvSpPr>
        <p:spPr>
          <a:xfrm>
            <a:off x="7722684" y="4772962"/>
            <a:ext cx="20977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Energy parameters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FD92B8-859B-6F59-3657-2A4B658F53E8}"/>
              </a:ext>
            </a:extLst>
          </p:cNvPr>
          <p:cNvSpPr txBox="1"/>
          <p:nvPr/>
        </p:nvSpPr>
        <p:spPr>
          <a:xfrm>
            <a:off x="5796885" y="4480946"/>
            <a:ext cx="19126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Occurrences of each stack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384C4E-E06E-1F5E-51EF-7BDAC3D3DA75}"/>
              </a:ext>
            </a:extLst>
          </p:cNvPr>
          <p:cNvSpPr txBox="1"/>
          <p:nvPr/>
        </p:nvSpPr>
        <p:spPr>
          <a:xfrm>
            <a:off x="3145265" y="4357464"/>
            <a:ext cx="19126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Experimentally determined values</a:t>
            </a:r>
            <a:endParaRPr lang="en-IN" sz="16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79810E-3D79-A6F4-7DEE-00F91D79E938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17428-6B48-59E9-F105-DCA5D9A0C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A3DCCC-31EE-8642-0F0C-967A4FAE741A}"/>
              </a:ext>
            </a:extLst>
          </p:cNvPr>
          <p:cNvSpPr txBox="1"/>
          <p:nvPr/>
        </p:nvSpPr>
        <p:spPr>
          <a:xfrm>
            <a:off x="128751" y="6456242"/>
            <a:ext cx="4166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Xia et al., Biochemistry, 1998</a:t>
            </a:r>
            <a:endParaRPr lang="en-IN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E41208-E7B3-9FE3-0682-0A46216642A8}"/>
              </a:ext>
            </a:extLst>
          </p:cNvPr>
          <p:cNvSpPr txBox="1"/>
          <p:nvPr/>
        </p:nvSpPr>
        <p:spPr>
          <a:xfrm>
            <a:off x="1020313" y="3134353"/>
            <a:ext cx="1400953" cy="64633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/>
              <a:t>5’-AGGA-3’</a:t>
            </a:r>
          </a:p>
          <a:p>
            <a:r>
              <a:rPr lang="en-US"/>
              <a:t>3’-UCCU-5’</a:t>
            </a:r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B0E6CB-0AA2-7310-B11E-173648D76644}"/>
              </a:ext>
            </a:extLst>
          </p:cNvPr>
          <p:cNvSpPr txBox="1"/>
          <p:nvPr/>
        </p:nvSpPr>
        <p:spPr>
          <a:xfrm>
            <a:off x="991058" y="3849423"/>
            <a:ext cx="1443417" cy="64633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/>
              <a:t>5’-GAAG-3’</a:t>
            </a:r>
          </a:p>
          <a:p>
            <a:r>
              <a:rPr lang="en-US"/>
              <a:t>3’-CUUC-5’</a:t>
            </a:r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52F876-E036-D247-CE3E-45FDDB66B992}"/>
              </a:ext>
            </a:extLst>
          </p:cNvPr>
          <p:cNvCxnSpPr>
            <a:cxnSpLocks/>
          </p:cNvCxnSpPr>
          <p:nvPr/>
        </p:nvCxnSpPr>
        <p:spPr>
          <a:xfrm>
            <a:off x="2351542" y="3457518"/>
            <a:ext cx="464845" cy="2564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E6E5DF3-2796-9BC0-EE1B-718300D967D4}"/>
              </a:ext>
            </a:extLst>
          </p:cNvPr>
          <p:cNvCxnSpPr>
            <a:cxnSpLocks/>
          </p:cNvCxnSpPr>
          <p:nvPr/>
        </p:nvCxnSpPr>
        <p:spPr>
          <a:xfrm flipV="1">
            <a:off x="2437885" y="3969812"/>
            <a:ext cx="464114" cy="17713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5F0B236-CD80-2BDC-5B26-F898D2C7A83A}"/>
              </a:ext>
            </a:extLst>
          </p:cNvPr>
          <p:cNvSpPr txBox="1"/>
          <p:nvPr/>
        </p:nvSpPr>
        <p:spPr>
          <a:xfrm>
            <a:off x="5310865" y="2248930"/>
            <a:ext cx="1046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counts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FFDF414-80C9-BA17-2C77-CD92ED6F0E63}"/>
              </a:ext>
            </a:extLst>
          </p:cNvPr>
          <p:cNvCxnSpPr/>
          <p:nvPr/>
        </p:nvCxnSpPr>
        <p:spPr>
          <a:xfrm>
            <a:off x="5507021" y="2080525"/>
            <a:ext cx="0" cy="168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773748-CFDB-DFEC-C159-0AED12FD483F}"/>
              </a:ext>
            </a:extLst>
          </p:cNvPr>
          <p:cNvCxnSpPr>
            <a:cxnSpLocks/>
          </p:cNvCxnSpPr>
          <p:nvPr/>
        </p:nvCxnSpPr>
        <p:spPr>
          <a:xfrm>
            <a:off x="1391266" y="4098390"/>
            <a:ext cx="0" cy="125939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E9407E0-6E78-A19B-2FA3-A8A9687CC1E4}"/>
              </a:ext>
            </a:extLst>
          </p:cNvPr>
          <p:cNvCxnSpPr>
            <a:cxnSpLocks/>
          </p:cNvCxnSpPr>
          <p:nvPr/>
        </p:nvCxnSpPr>
        <p:spPr>
          <a:xfrm>
            <a:off x="1563543" y="4098390"/>
            <a:ext cx="0" cy="125939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B19FAE5-1246-508F-FD5C-B61FAB935F36}"/>
              </a:ext>
            </a:extLst>
          </p:cNvPr>
          <p:cNvCxnSpPr>
            <a:cxnSpLocks/>
          </p:cNvCxnSpPr>
          <p:nvPr/>
        </p:nvCxnSpPr>
        <p:spPr>
          <a:xfrm>
            <a:off x="1728053" y="4098390"/>
            <a:ext cx="0" cy="125939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19773BB-C516-EC42-5C9D-E7A40D5ABB6D}"/>
              </a:ext>
            </a:extLst>
          </p:cNvPr>
          <p:cNvCxnSpPr>
            <a:cxnSpLocks/>
          </p:cNvCxnSpPr>
          <p:nvPr/>
        </p:nvCxnSpPr>
        <p:spPr>
          <a:xfrm>
            <a:off x="1888223" y="4098390"/>
            <a:ext cx="0" cy="125939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92570DF-7756-CDEB-10B7-C46EE6EDA0CE}"/>
              </a:ext>
            </a:extLst>
          </p:cNvPr>
          <p:cNvCxnSpPr>
            <a:cxnSpLocks/>
          </p:cNvCxnSpPr>
          <p:nvPr/>
        </p:nvCxnSpPr>
        <p:spPr>
          <a:xfrm>
            <a:off x="1411189" y="3387775"/>
            <a:ext cx="0" cy="125939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902D73B-2984-63D9-BCDB-2F59E9E24188}"/>
              </a:ext>
            </a:extLst>
          </p:cNvPr>
          <p:cNvCxnSpPr>
            <a:cxnSpLocks/>
          </p:cNvCxnSpPr>
          <p:nvPr/>
        </p:nvCxnSpPr>
        <p:spPr>
          <a:xfrm>
            <a:off x="1583466" y="3387775"/>
            <a:ext cx="0" cy="125939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40C9821-AFFC-C949-C5BA-DD2799B37504}"/>
              </a:ext>
            </a:extLst>
          </p:cNvPr>
          <p:cNvCxnSpPr>
            <a:cxnSpLocks/>
          </p:cNvCxnSpPr>
          <p:nvPr/>
        </p:nvCxnSpPr>
        <p:spPr>
          <a:xfrm>
            <a:off x="1747976" y="3387775"/>
            <a:ext cx="0" cy="125939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74ECA6E-61D1-0274-E5BA-47E70DBDC56E}"/>
              </a:ext>
            </a:extLst>
          </p:cNvPr>
          <p:cNvCxnSpPr>
            <a:cxnSpLocks/>
          </p:cNvCxnSpPr>
          <p:nvPr/>
        </p:nvCxnSpPr>
        <p:spPr>
          <a:xfrm>
            <a:off x="1908146" y="3387775"/>
            <a:ext cx="0" cy="125939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285A373-4385-32C8-ED74-652E02C3D427}"/>
              </a:ext>
            </a:extLst>
          </p:cNvPr>
          <p:cNvSpPr txBox="1"/>
          <p:nvPr/>
        </p:nvSpPr>
        <p:spPr>
          <a:xfrm>
            <a:off x="2421266" y="2604589"/>
            <a:ext cx="7077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 couple of duplexes and the stacks associated with it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038868-08E4-CBB3-4FA6-B326312FB6F8}"/>
              </a:ext>
            </a:extLst>
          </p:cNvPr>
          <p:cNvCxnSpPr/>
          <p:nvPr/>
        </p:nvCxnSpPr>
        <p:spPr>
          <a:xfrm>
            <a:off x="3747052" y="2922104"/>
            <a:ext cx="0" cy="506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552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099"/>
    </mc:Choice>
    <mc:Fallback xmlns="">
      <p:transition spd="slow" advTm="74099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64154-3B2C-1F5F-5C5A-B4CE071BF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75D4CA-5B25-6FE4-1DC4-6E5E5B085992}"/>
              </a:ext>
            </a:extLst>
          </p:cNvPr>
          <p:cNvSpPr txBox="1"/>
          <p:nvPr/>
        </p:nvSpPr>
        <p:spPr>
          <a:xfrm>
            <a:off x="1809308" y="315761"/>
            <a:ext cx="9743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Thermodynamic parameters from Turner model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92C924-7920-B2F4-8374-F3A7705C590D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EB71A-C3FF-E2E3-EA28-68365BF64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9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1E39DCF-0F22-C70C-67B3-D3791AE5E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82" y="2382081"/>
            <a:ext cx="2086442" cy="144628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F8FECE2-9D9C-186B-C2E1-031EB7CC97AA}"/>
              </a:ext>
            </a:extLst>
          </p:cNvPr>
          <p:cNvSpPr txBox="1"/>
          <p:nvPr/>
        </p:nvSpPr>
        <p:spPr>
          <a:xfrm>
            <a:off x="589178" y="1136589"/>
            <a:ext cx="24378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Optical melting experiments on constructs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631B2-3BC3-4F0D-3588-2027A868FFC1}"/>
              </a:ext>
            </a:extLst>
          </p:cNvPr>
          <p:cNvSpPr txBox="1"/>
          <p:nvPr/>
        </p:nvSpPr>
        <p:spPr>
          <a:xfrm>
            <a:off x="1245422" y="2090757"/>
            <a:ext cx="24556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Several duplexes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4DFCECE-AD57-34C1-ADD4-6553B6C8FD0E}"/>
              </a:ext>
            </a:extLst>
          </p:cNvPr>
          <p:cNvSpPr/>
          <p:nvPr/>
        </p:nvSpPr>
        <p:spPr>
          <a:xfrm>
            <a:off x="2165639" y="2622328"/>
            <a:ext cx="724818" cy="4185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D25E8C4-2F5E-2B9C-5917-77CEBF409CD4}"/>
              </a:ext>
            </a:extLst>
          </p:cNvPr>
          <p:cNvCxnSpPr>
            <a:cxnSpLocks/>
            <a:stCxn id="18" idx="6"/>
          </p:cNvCxnSpPr>
          <p:nvPr/>
        </p:nvCxnSpPr>
        <p:spPr>
          <a:xfrm flipV="1">
            <a:off x="2890457" y="2676596"/>
            <a:ext cx="614492" cy="1549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6335EC3-4F45-895D-56AB-61075A017D36}"/>
              </a:ext>
            </a:extLst>
          </p:cNvPr>
          <p:cNvSpPr txBox="1"/>
          <p:nvPr/>
        </p:nvSpPr>
        <p:spPr>
          <a:xfrm>
            <a:off x="4391489" y="1452080"/>
            <a:ext cx="2925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Free energy parameters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BBC0621-772E-A119-D1C6-CB0315B7AF6E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3290185" y="1644422"/>
            <a:ext cx="1101304" cy="771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37540AD-66CB-A54E-032D-B9DA2A4CC6D7}"/>
              </a:ext>
            </a:extLst>
          </p:cNvPr>
          <p:cNvCxnSpPr>
            <a:cxnSpLocks/>
          </p:cNvCxnSpPr>
          <p:nvPr/>
        </p:nvCxnSpPr>
        <p:spPr>
          <a:xfrm>
            <a:off x="3621977" y="3117187"/>
            <a:ext cx="71426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7569EFC-8CED-C8AC-C8E3-498406F876C0}"/>
              </a:ext>
            </a:extLst>
          </p:cNvPr>
          <p:cNvSpPr txBox="1"/>
          <p:nvPr/>
        </p:nvSpPr>
        <p:spPr>
          <a:xfrm>
            <a:off x="4336241" y="2905168"/>
            <a:ext cx="29253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Stacking parameters</a:t>
            </a:r>
          </a:p>
        </p:txBody>
      </p:sp>
      <p:pic>
        <p:nvPicPr>
          <p:cNvPr id="16" name="Picture 15" descr="A number and line of numbers&#10;&#10;AI-generated content may be incorrect.">
            <a:extLst>
              <a:ext uri="{FF2B5EF4-FFF2-40B4-BE49-F238E27FC236}">
                <a16:creationId xmlns:a16="http://schemas.microsoft.com/office/drawing/2014/main" id="{A27A8E3A-1DD3-493E-7515-C74FFCFB13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5" t="15774" r="70949" b="17454"/>
          <a:stretch>
            <a:fillRect/>
          </a:stretch>
        </p:blipFill>
        <p:spPr>
          <a:xfrm>
            <a:off x="3519995" y="2391238"/>
            <a:ext cx="816626" cy="33885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B374B4C-CB93-58C0-F356-0279AA97CAB0}"/>
              </a:ext>
            </a:extLst>
          </p:cNvPr>
          <p:cNvSpPr txBox="1"/>
          <p:nvPr/>
        </p:nvSpPr>
        <p:spPr>
          <a:xfrm>
            <a:off x="2306692" y="4415451"/>
            <a:ext cx="7551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Stacking parameters</a:t>
            </a:r>
            <a:endParaRPr lang="en-IN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DCDC78A-31D9-AC27-938E-8BE4488FE05D}"/>
                  </a:ext>
                </a:extLst>
              </p:cNvPr>
              <p:cNvSpPr txBox="1"/>
              <p:nvPr/>
            </p:nvSpPr>
            <p:spPr>
              <a:xfrm>
                <a:off x="408843" y="4827007"/>
                <a:ext cx="10323571" cy="10440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𝐺𝐶𝐺𝐴</m:t>
                                </m:r>
                                <m:r>
                                  <a:rPr lang="en-US" b="0" i="1" smtClean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−3′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𝐶𝐺𝐶𝑈𝐴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−5′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=4.09+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−3.4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−2.4</m:t>
                          </m:r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−2.4</m:t>
                          </m:r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−1.1</m:t>
                          </m:r>
                        </m:e>
                      </m:d>
                      <m:r>
                        <a:rPr lang="en-US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+0.45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=−4.76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𝑖𝑛𝑖𝑡𝑖𝑎𝑡𝑖𝑜𝑛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𝐺𝐶</m:t>
                              </m:r>
                              <m:r>
                                <a:rPr lang="en-US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𝑓𝑜𝑙𝑙𝑜𝑤𝑒𝑑</m:t>
                              </m:r>
                              <m:r>
                                <a:rPr lang="en-US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𝑏𝑦</m:t>
                              </m:r>
                              <m:r>
                                <a:rPr lang="en-US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𝐶𝐺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2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𝐶𝐺</m:t>
                              </m:r>
                              <m:r>
                                <a:rPr lang="en-US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𝑓𝑜𝑙𝑙𝑜𝑤𝑒𝑑</m:t>
                              </m:r>
                              <m:r>
                                <a:rPr lang="en-US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𝑏𝑦</m:t>
                              </m:r>
                              <m:r>
                                <a:rPr lang="en-US" sz="12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𝐺𝐶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2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𝐺𝐶</m:t>
                              </m:r>
                              <m:r>
                                <a:rPr lang="en-US" sz="1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𝑓𝑜𝑙𝑙𝑜𝑤𝑒𝑑</m:t>
                              </m:r>
                              <m:r>
                                <a:rPr lang="en-US" sz="1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𝑏𝑦</m:t>
                              </m:r>
                              <m:r>
                                <a:rPr lang="en-US" sz="1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𝐴𝑈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2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𝐴𝑈</m:t>
                              </m:r>
                              <m:r>
                                <a:rPr lang="en-US" sz="12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𝑓𝑜𝑙𝑙𝑜𝑤𝑒𝑑</m:t>
                              </m:r>
                              <m:r>
                                <a:rPr lang="en-US" sz="12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𝑏𝑦</m:t>
                              </m:r>
                              <m:r>
                                <a:rPr lang="en-US" sz="12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𝑈𝐴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200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2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2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𝐴𝑈</m:t>
                          </m:r>
                          <m:r>
                            <a:rPr lang="en-US" sz="12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𝑐𝑙𝑜𝑠𝑖𝑛𝑔</m:t>
                          </m:r>
                          <m:r>
                            <a:rPr lang="en-US" sz="12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𝑏𝑎𝑠𝑒𝑝𝑎𝑖𝑟</m:t>
                          </m:r>
                        </m:sub>
                      </m:sSub>
                    </m:oMath>
                  </m:oMathPara>
                </a14:m>
                <a:endParaRPr lang="en-US" sz="1200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F6294BC-9A36-9E0B-84E9-1678C56C1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843" y="4827007"/>
                <a:ext cx="10323571" cy="1044068"/>
              </a:xfrm>
              <a:prstGeom prst="rect">
                <a:avLst/>
              </a:prstGeom>
              <a:blipFill>
                <a:blip r:embed="rId5"/>
                <a:stretch>
                  <a:fillRect r="-369" b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C5A35BCD-1D9C-DE6E-946F-25196484A634}"/>
              </a:ext>
            </a:extLst>
          </p:cNvPr>
          <p:cNvSpPr txBox="1"/>
          <p:nvPr/>
        </p:nvSpPr>
        <p:spPr>
          <a:xfrm>
            <a:off x="3358008" y="1413589"/>
            <a:ext cx="965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Linear regression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467303-66A4-9680-8125-CF4E0BF3A656}"/>
              </a:ext>
            </a:extLst>
          </p:cNvPr>
          <p:cNvSpPr/>
          <p:nvPr/>
        </p:nvSpPr>
        <p:spPr>
          <a:xfrm>
            <a:off x="2872763" y="4933658"/>
            <a:ext cx="308472" cy="5728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BC0868-6D90-4B9F-D653-C523A4D9E5E9}"/>
              </a:ext>
            </a:extLst>
          </p:cNvPr>
          <p:cNvSpPr/>
          <p:nvPr/>
        </p:nvSpPr>
        <p:spPr>
          <a:xfrm>
            <a:off x="3026999" y="4838603"/>
            <a:ext cx="308472" cy="6679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EC6ED6-0C1D-52BA-138A-DC9358494CE0}"/>
              </a:ext>
            </a:extLst>
          </p:cNvPr>
          <p:cNvSpPr/>
          <p:nvPr/>
        </p:nvSpPr>
        <p:spPr>
          <a:xfrm>
            <a:off x="3181235" y="5049218"/>
            <a:ext cx="308472" cy="572876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EC036B-19F1-381A-A419-96CB815CF7CC}"/>
              </a:ext>
            </a:extLst>
          </p:cNvPr>
          <p:cNvSpPr/>
          <p:nvPr/>
        </p:nvSpPr>
        <p:spPr>
          <a:xfrm>
            <a:off x="3333635" y="4933658"/>
            <a:ext cx="308472" cy="688436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75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002"/>
    </mc:Choice>
    <mc:Fallback xmlns="">
      <p:transition spd="slow" advTm="21002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86A0D-22B0-085C-3AEA-0A9E6A8A7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8923C3-7431-9D0E-F3C0-C0F1A7080420}"/>
              </a:ext>
            </a:extLst>
          </p:cNvPr>
          <p:cNvSpPr txBox="1"/>
          <p:nvPr/>
        </p:nvSpPr>
        <p:spPr>
          <a:xfrm>
            <a:off x="1809308" y="315761"/>
            <a:ext cx="9375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Thermodynamic parameters from Turner model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754861-E2AE-2169-5556-C2ABB0EBBE61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8DEA9-B349-CB9F-3D72-C10D09510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10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5F38087-BBB1-F982-39CC-1514C5283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46" y="1865745"/>
            <a:ext cx="2195625" cy="152196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C75F597-1AE1-86B9-6B75-C4ABADB22919}"/>
              </a:ext>
            </a:extLst>
          </p:cNvPr>
          <p:cNvSpPr txBox="1"/>
          <p:nvPr/>
        </p:nvSpPr>
        <p:spPr>
          <a:xfrm>
            <a:off x="424893" y="1086338"/>
            <a:ext cx="3202890" cy="708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Optical melting experiments on constructs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0B7BCA-2942-6E73-BF1F-5AF6182F4511}"/>
              </a:ext>
            </a:extLst>
          </p:cNvPr>
          <p:cNvSpPr txBox="1"/>
          <p:nvPr/>
        </p:nvSpPr>
        <p:spPr>
          <a:xfrm>
            <a:off x="1070052" y="1887513"/>
            <a:ext cx="14218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Several duplexes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B9C248E-C042-9DC2-EADC-085E88A74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00" y="3593545"/>
            <a:ext cx="2359297" cy="1564029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EF3DB51A-AF2C-0580-7469-DBE75FCC6FA7}"/>
              </a:ext>
            </a:extLst>
          </p:cNvPr>
          <p:cNvSpPr txBox="1"/>
          <p:nvPr/>
        </p:nvSpPr>
        <p:spPr>
          <a:xfrm>
            <a:off x="1033116" y="3391284"/>
            <a:ext cx="15318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Duplexes with hairpin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C1C9D04-D237-0DE4-41A0-CC7CE594A1A5}"/>
              </a:ext>
            </a:extLst>
          </p:cNvPr>
          <p:cNvCxnSpPr>
            <a:cxnSpLocks/>
          </p:cNvCxnSpPr>
          <p:nvPr/>
        </p:nvCxnSpPr>
        <p:spPr>
          <a:xfrm>
            <a:off x="3353837" y="2741816"/>
            <a:ext cx="7078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043F7E6-72DA-2D3D-15CA-8BB75D554199}"/>
              </a:ext>
            </a:extLst>
          </p:cNvPr>
          <p:cNvSpPr txBox="1"/>
          <p:nvPr/>
        </p:nvSpPr>
        <p:spPr>
          <a:xfrm>
            <a:off x="4691884" y="2501238"/>
            <a:ext cx="2632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Stacking parameters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F38ECF-556A-3E7A-BF03-AC2295169236}"/>
              </a:ext>
            </a:extLst>
          </p:cNvPr>
          <p:cNvSpPr txBox="1"/>
          <p:nvPr/>
        </p:nvSpPr>
        <p:spPr>
          <a:xfrm>
            <a:off x="3063395" y="2365352"/>
            <a:ext cx="1531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Linear regression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31D2C-4775-5B2C-AC8E-86F0ECB89F27}"/>
              </a:ext>
            </a:extLst>
          </p:cNvPr>
          <p:cNvSpPr txBox="1"/>
          <p:nvPr/>
        </p:nvSpPr>
        <p:spPr>
          <a:xfrm>
            <a:off x="4691884" y="3915941"/>
            <a:ext cx="2023821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Hairpin loop parameters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949640E-0020-EB84-F6CB-31DA88EB3290}"/>
              </a:ext>
            </a:extLst>
          </p:cNvPr>
          <p:cNvCxnSpPr>
            <a:cxnSpLocks/>
          </p:cNvCxnSpPr>
          <p:nvPr/>
        </p:nvCxnSpPr>
        <p:spPr>
          <a:xfrm>
            <a:off x="3416068" y="4259936"/>
            <a:ext cx="7754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4C33733-309B-F69C-DE32-87118A34470F}"/>
              </a:ext>
            </a:extLst>
          </p:cNvPr>
          <p:cNvCxnSpPr>
            <a:cxnSpLocks/>
          </p:cNvCxnSpPr>
          <p:nvPr/>
        </p:nvCxnSpPr>
        <p:spPr>
          <a:xfrm>
            <a:off x="5698394" y="3030360"/>
            <a:ext cx="5400" cy="46819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5099C61-75B6-F614-9058-6E4AC75364AD}"/>
              </a:ext>
            </a:extLst>
          </p:cNvPr>
          <p:cNvSpPr/>
          <p:nvPr/>
        </p:nvSpPr>
        <p:spPr>
          <a:xfrm>
            <a:off x="8818002" y="3673348"/>
            <a:ext cx="1571217" cy="1702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C4D1EF-9CAB-D479-4835-929C356A4D63}"/>
                  </a:ext>
                </a:extLst>
              </p:cNvPr>
              <p:cNvSpPr txBox="1"/>
              <p:nvPr/>
            </p:nvSpPr>
            <p:spPr>
              <a:xfrm>
                <a:off x="4387541" y="4595900"/>
                <a:ext cx="332667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00050" indent="-400050">
                  <a:buFontTx/>
                  <a:buAutoNum type="romanLcParenR"/>
                </a:pPr>
                <a:r>
                  <a:rPr lang="en-US" sz="1200" dirty="0"/>
                  <a:t>Length based penalty (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3≤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≤30</m:t>
                    </m:r>
                  </m:oMath>
                </a14:m>
                <a:r>
                  <a:rPr lang="en-US" sz="1200" dirty="0"/>
                  <a:t>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Experimentally measured for hairpins of length 3,4,..,9.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Extrapolation above n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=9.</a:t>
                </a:r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C4D1EF-9CAB-D479-4835-929C356A4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541" y="4595900"/>
                <a:ext cx="3326674" cy="10156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 12">
            <a:extLst>
              <a:ext uri="{FF2B5EF4-FFF2-40B4-BE49-F238E27FC236}">
                <a16:creationId xmlns:a16="http://schemas.microsoft.com/office/drawing/2014/main" id="{916FFE1E-8FAA-E8AA-CD89-7C1DDD7A13EC}"/>
              </a:ext>
            </a:extLst>
          </p:cNvPr>
          <p:cNvSpPr/>
          <p:nvPr/>
        </p:nvSpPr>
        <p:spPr>
          <a:xfrm>
            <a:off x="1715589" y="4537166"/>
            <a:ext cx="496421" cy="452845"/>
          </a:xfrm>
          <a:custGeom>
            <a:avLst/>
            <a:gdLst>
              <a:gd name="csX0" fmla="*/ 191588 w 496421"/>
              <a:gd name="csY0" fmla="*/ 0 h 452845"/>
              <a:gd name="csX1" fmla="*/ 148045 w 496421"/>
              <a:gd name="csY1" fmla="*/ 8708 h 452845"/>
              <a:gd name="csX2" fmla="*/ 121920 w 496421"/>
              <a:gd name="csY2" fmla="*/ 17417 h 452845"/>
              <a:gd name="csX3" fmla="*/ 69668 w 496421"/>
              <a:gd name="csY3" fmla="*/ 26125 h 452845"/>
              <a:gd name="csX4" fmla="*/ 0 w 496421"/>
              <a:gd name="csY4" fmla="*/ 69668 h 452845"/>
              <a:gd name="csX5" fmla="*/ 8708 w 496421"/>
              <a:gd name="csY5" fmla="*/ 200297 h 452845"/>
              <a:gd name="csX6" fmla="*/ 17417 w 496421"/>
              <a:gd name="csY6" fmla="*/ 226423 h 452845"/>
              <a:gd name="csX7" fmla="*/ 26125 w 496421"/>
              <a:gd name="csY7" fmla="*/ 261257 h 452845"/>
              <a:gd name="csX8" fmla="*/ 43542 w 496421"/>
              <a:gd name="csY8" fmla="*/ 313508 h 452845"/>
              <a:gd name="csX9" fmla="*/ 78377 w 496421"/>
              <a:gd name="csY9" fmla="*/ 348343 h 452845"/>
              <a:gd name="csX10" fmla="*/ 104502 w 496421"/>
              <a:gd name="csY10" fmla="*/ 374468 h 452845"/>
              <a:gd name="csX11" fmla="*/ 121920 w 496421"/>
              <a:gd name="csY11" fmla="*/ 391885 h 452845"/>
              <a:gd name="csX12" fmla="*/ 148045 w 496421"/>
              <a:gd name="csY12" fmla="*/ 400594 h 452845"/>
              <a:gd name="csX13" fmla="*/ 200297 w 496421"/>
              <a:gd name="csY13" fmla="*/ 435428 h 452845"/>
              <a:gd name="csX14" fmla="*/ 252548 w 496421"/>
              <a:gd name="csY14" fmla="*/ 452845 h 452845"/>
              <a:gd name="csX15" fmla="*/ 478971 w 496421"/>
              <a:gd name="csY15" fmla="*/ 444137 h 452845"/>
              <a:gd name="csX16" fmla="*/ 496388 w 496421"/>
              <a:gd name="csY16" fmla="*/ 409303 h 4528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96421" h="452845">
                <a:moveTo>
                  <a:pt x="191588" y="0"/>
                </a:moveTo>
                <a:cubicBezTo>
                  <a:pt x="177074" y="2903"/>
                  <a:pt x="162405" y="5118"/>
                  <a:pt x="148045" y="8708"/>
                </a:cubicBezTo>
                <a:cubicBezTo>
                  <a:pt x="139140" y="10934"/>
                  <a:pt x="130881" y="15426"/>
                  <a:pt x="121920" y="17417"/>
                </a:cubicBezTo>
                <a:cubicBezTo>
                  <a:pt x="104683" y="21247"/>
                  <a:pt x="87085" y="23222"/>
                  <a:pt x="69668" y="26125"/>
                </a:cubicBezTo>
                <a:cubicBezTo>
                  <a:pt x="7488" y="46853"/>
                  <a:pt x="27601" y="28267"/>
                  <a:pt x="0" y="69668"/>
                </a:cubicBezTo>
                <a:cubicBezTo>
                  <a:pt x="2903" y="113211"/>
                  <a:pt x="3889" y="156924"/>
                  <a:pt x="8708" y="200297"/>
                </a:cubicBezTo>
                <a:cubicBezTo>
                  <a:pt x="9722" y="209421"/>
                  <a:pt x="14895" y="217596"/>
                  <a:pt x="17417" y="226423"/>
                </a:cubicBezTo>
                <a:cubicBezTo>
                  <a:pt x="20705" y="237931"/>
                  <a:pt x="22686" y="249793"/>
                  <a:pt x="26125" y="261257"/>
                </a:cubicBezTo>
                <a:cubicBezTo>
                  <a:pt x="31400" y="278842"/>
                  <a:pt x="30560" y="300526"/>
                  <a:pt x="43542" y="313508"/>
                </a:cubicBezTo>
                <a:lnTo>
                  <a:pt x="78377" y="348343"/>
                </a:lnTo>
                <a:lnTo>
                  <a:pt x="104502" y="374468"/>
                </a:lnTo>
                <a:cubicBezTo>
                  <a:pt x="110308" y="380274"/>
                  <a:pt x="114131" y="389288"/>
                  <a:pt x="121920" y="391885"/>
                </a:cubicBezTo>
                <a:cubicBezTo>
                  <a:pt x="130628" y="394788"/>
                  <a:pt x="140021" y="396136"/>
                  <a:pt x="148045" y="400594"/>
                </a:cubicBezTo>
                <a:cubicBezTo>
                  <a:pt x="166344" y="410760"/>
                  <a:pt x="180438" y="428808"/>
                  <a:pt x="200297" y="435428"/>
                </a:cubicBezTo>
                <a:lnTo>
                  <a:pt x="252548" y="452845"/>
                </a:lnTo>
                <a:cubicBezTo>
                  <a:pt x="328022" y="449942"/>
                  <a:pt x="404200" y="454818"/>
                  <a:pt x="478971" y="444137"/>
                </a:cubicBezTo>
                <a:cubicBezTo>
                  <a:pt x="497998" y="441419"/>
                  <a:pt x="496388" y="421316"/>
                  <a:pt x="496388" y="409303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03BAFFE4-5D49-D3F5-B62D-2FF398EF35ED}"/>
              </a:ext>
            </a:extLst>
          </p:cNvPr>
          <p:cNvSpPr/>
          <p:nvPr/>
        </p:nvSpPr>
        <p:spPr>
          <a:xfrm rot="4400441">
            <a:off x="2092987" y="3758861"/>
            <a:ext cx="496421" cy="452845"/>
          </a:xfrm>
          <a:custGeom>
            <a:avLst/>
            <a:gdLst>
              <a:gd name="csX0" fmla="*/ 191588 w 496421"/>
              <a:gd name="csY0" fmla="*/ 0 h 452845"/>
              <a:gd name="csX1" fmla="*/ 148045 w 496421"/>
              <a:gd name="csY1" fmla="*/ 8708 h 452845"/>
              <a:gd name="csX2" fmla="*/ 121920 w 496421"/>
              <a:gd name="csY2" fmla="*/ 17417 h 452845"/>
              <a:gd name="csX3" fmla="*/ 69668 w 496421"/>
              <a:gd name="csY3" fmla="*/ 26125 h 452845"/>
              <a:gd name="csX4" fmla="*/ 0 w 496421"/>
              <a:gd name="csY4" fmla="*/ 69668 h 452845"/>
              <a:gd name="csX5" fmla="*/ 8708 w 496421"/>
              <a:gd name="csY5" fmla="*/ 200297 h 452845"/>
              <a:gd name="csX6" fmla="*/ 17417 w 496421"/>
              <a:gd name="csY6" fmla="*/ 226423 h 452845"/>
              <a:gd name="csX7" fmla="*/ 26125 w 496421"/>
              <a:gd name="csY7" fmla="*/ 261257 h 452845"/>
              <a:gd name="csX8" fmla="*/ 43542 w 496421"/>
              <a:gd name="csY8" fmla="*/ 313508 h 452845"/>
              <a:gd name="csX9" fmla="*/ 78377 w 496421"/>
              <a:gd name="csY9" fmla="*/ 348343 h 452845"/>
              <a:gd name="csX10" fmla="*/ 104502 w 496421"/>
              <a:gd name="csY10" fmla="*/ 374468 h 452845"/>
              <a:gd name="csX11" fmla="*/ 121920 w 496421"/>
              <a:gd name="csY11" fmla="*/ 391885 h 452845"/>
              <a:gd name="csX12" fmla="*/ 148045 w 496421"/>
              <a:gd name="csY12" fmla="*/ 400594 h 452845"/>
              <a:gd name="csX13" fmla="*/ 200297 w 496421"/>
              <a:gd name="csY13" fmla="*/ 435428 h 452845"/>
              <a:gd name="csX14" fmla="*/ 252548 w 496421"/>
              <a:gd name="csY14" fmla="*/ 452845 h 452845"/>
              <a:gd name="csX15" fmla="*/ 478971 w 496421"/>
              <a:gd name="csY15" fmla="*/ 444137 h 452845"/>
              <a:gd name="csX16" fmla="*/ 496388 w 496421"/>
              <a:gd name="csY16" fmla="*/ 409303 h 4528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96421" h="452845">
                <a:moveTo>
                  <a:pt x="191588" y="0"/>
                </a:moveTo>
                <a:cubicBezTo>
                  <a:pt x="177074" y="2903"/>
                  <a:pt x="162405" y="5118"/>
                  <a:pt x="148045" y="8708"/>
                </a:cubicBezTo>
                <a:cubicBezTo>
                  <a:pt x="139140" y="10934"/>
                  <a:pt x="130881" y="15426"/>
                  <a:pt x="121920" y="17417"/>
                </a:cubicBezTo>
                <a:cubicBezTo>
                  <a:pt x="104683" y="21247"/>
                  <a:pt x="87085" y="23222"/>
                  <a:pt x="69668" y="26125"/>
                </a:cubicBezTo>
                <a:cubicBezTo>
                  <a:pt x="7488" y="46853"/>
                  <a:pt x="27601" y="28267"/>
                  <a:pt x="0" y="69668"/>
                </a:cubicBezTo>
                <a:cubicBezTo>
                  <a:pt x="2903" y="113211"/>
                  <a:pt x="3889" y="156924"/>
                  <a:pt x="8708" y="200297"/>
                </a:cubicBezTo>
                <a:cubicBezTo>
                  <a:pt x="9722" y="209421"/>
                  <a:pt x="14895" y="217596"/>
                  <a:pt x="17417" y="226423"/>
                </a:cubicBezTo>
                <a:cubicBezTo>
                  <a:pt x="20705" y="237931"/>
                  <a:pt x="22686" y="249793"/>
                  <a:pt x="26125" y="261257"/>
                </a:cubicBezTo>
                <a:cubicBezTo>
                  <a:pt x="31400" y="278842"/>
                  <a:pt x="30560" y="300526"/>
                  <a:pt x="43542" y="313508"/>
                </a:cubicBezTo>
                <a:lnTo>
                  <a:pt x="78377" y="348343"/>
                </a:lnTo>
                <a:lnTo>
                  <a:pt x="104502" y="374468"/>
                </a:lnTo>
                <a:cubicBezTo>
                  <a:pt x="110308" y="380274"/>
                  <a:pt x="114131" y="389288"/>
                  <a:pt x="121920" y="391885"/>
                </a:cubicBezTo>
                <a:cubicBezTo>
                  <a:pt x="130628" y="394788"/>
                  <a:pt x="140021" y="396136"/>
                  <a:pt x="148045" y="400594"/>
                </a:cubicBezTo>
                <a:cubicBezTo>
                  <a:pt x="166344" y="410760"/>
                  <a:pt x="180438" y="428808"/>
                  <a:pt x="200297" y="435428"/>
                </a:cubicBezTo>
                <a:lnTo>
                  <a:pt x="252548" y="452845"/>
                </a:lnTo>
                <a:cubicBezTo>
                  <a:pt x="328022" y="449942"/>
                  <a:pt x="404200" y="454818"/>
                  <a:pt x="478971" y="444137"/>
                </a:cubicBezTo>
                <a:cubicBezTo>
                  <a:pt x="497998" y="441419"/>
                  <a:pt x="496388" y="421316"/>
                  <a:pt x="496388" y="409303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42B7D7CF-ACE2-E3D5-DAE7-E578C16C2061}"/>
              </a:ext>
            </a:extLst>
          </p:cNvPr>
          <p:cNvSpPr/>
          <p:nvPr/>
        </p:nvSpPr>
        <p:spPr>
          <a:xfrm>
            <a:off x="1370095" y="3727687"/>
            <a:ext cx="478971" cy="505099"/>
          </a:xfrm>
          <a:custGeom>
            <a:avLst/>
            <a:gdLst>
              <a:gd name="csX0" fmla="*/ 0 w 478971"/>
              <a:gd name="csY0" fmla="*/ 34834 h 505099"/>
              <a:gd name="csX1" fmla="*/ 60960 w 478971"/>
              <a:gd name="csY1" fmla="*/ 26126 h 505099"/>
              <a:gd name="csX2" fmla="*/ 104503 w 478971"/>
              <a:gd name="csY2" fmla="*/ 17417 h 505099"/>
              <a:gd name="csX3" fmla="*/ 182880 w 478971"/>
              <a:gd name="csY3" fmla="*/ 8709 h 505099"/>
              <a:gd name="csX4" fmla="*/ 217714 w 478971"/>
              <a:gd name="csY4" fmla="*/ 0 h 505099"/>
              <a:gd name="csX5" fmla="*/ 243840 w 478971"/>
              <a:gd name="csY5" fmla="*/ 8709 h 505099"/>
              <a:gd name="csX6" fmla="*/ 330926 w 478971"/>
              <a:gd name="csY6" fmla="*/ 17417 h 505099"/>
              <a:gd name="csX7" fmla="*/ 357051 w 478971"/>
              <a:gd name="csY7" fmla="*/ 34834 h 505099"/>
              <a:gd name="csX8" fmla="*/ 400594 w 478971"/>
              <a:gd name="csY8" fmla="*/ 78377 h 505099"/>
              <a:gd name="csX9" fmla="*/ 426720 w 478971"/>
              <a:gd name="csY9" fmla="*/ 130629 h 505099"/>
              <a:gd name="csX10" fmla="*/ 444137 w 478971"/>
              <a:gd name="csY10" fmla="*/ 182880 h 505099"/>
              <a:gd name="csX11" fmla="*/ 461554 w 478971"/>
              <a:gd name="csY11" fmla="*/ 209006 h 505099"/>
              <a:gd name="csX12" fmla="*/ 478971 w 478971"/>
              <a:gd name="csY12" fmla="*/ 261257 h 505099"/>
              <a:gd name="csX13" fmla="*/ 470263 w 478971"/>
              <a:gd name="csY13" fmla="*/ 391886 h 505099"/>
              <a:gd name="csX14" fmla="*/ 452846 w 478971"/>
              <a:gd name="csY14" fmla="*/ 444137 h 505099"/>
              <a:gd name="csX15" fmla="*/ 400594 w 478971"/>
              <a:gd name="csY15" fmla="*/ 461554 h 505099"/>
              <a:gd name="csX16" fmla="*/ 374469 w 478971"/>
              <a:gd name="csY16" fmla="*/ 470263 h 505099"/>
              <a:gd name="csX17" fmla="*/ 296091 w 478971"/>
              <a:gd name="csY17" fmla="*/ 487680 h 505099"/>
              <a:gd name="csX18" fmla="*/ 261257 w 478971"/>
              <a:gd name="csY18" fmla="*/ 496389 h 505099"/>
              <a:gd name="csX19" fmla="*/ 121920 w 478971"/>
              <a:gd name="csY19" fmla="*/ 505097 h 5050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78971" h="505099">
                <a:moveTo>
                  <a:pt x="0" y="34834"/>
                </a:moveTo>
                <a:cubicBezTo>
                  <a:pt x="20320" y="31931"/>
                  <a:pt x="40713" y="29500"/>
                  <a:pt x="60960" y="26126"/>
                </a:cubicBezTo>
                <a:cubicBezTo>
                  <a:pt x="75560" y="23693"/>
                  <a:pt x="89850" y="19510"/>
                  <a:pt x="104503" y="17417"/>
                </a:cubicBezTo>
                <a:cubicBezTo>
                  <a:pt x="130525" y="13700"/>
                  <a:pt x="156754" y="11612"/>
                  <a:pt x="182880" y="8709"/>
                </a:cubicBezTo>
                <a:cubicBezTo>
                  <a:pt x="194491" y="5806"/>
                  <a:pt x="205745" y="0"/>
                  <a:pt x="217714" y="0"/>
                </a:cubicBezTo>
                <a:cubicBezTo>
                  <a:pt x="226894" y="0"/>
                  <a:pt x="234767" y="7313"/>
                  <a:pt x="243840" y="8709"/>
                </a:cubicBezTo>
                <a:cubicBezTo>
                  <a:pt x="272674" y="13145"/>
                  <a:pt x="301897" y="14514"/>
                  <a:pt x="330926" y="17417"/>
                </a:cubicBezTo>
                <a:cubicBezTo>
                  <a:pt x="339634" y="23223"/>
                  <a:pt x="349174" y="27942"/>
                  <a:pt x="357051" y="34834"/>
                </a:cubicBezTo>
                <a:cubicBezTo>
                  <a:pt x="372499" y="48351"/>
                  <a:pt x="400594" y="78377"/>
                  <a:pt x="400594" y="78377"/>
                </a:cubicBezTo>
                <a:cubicBezTo>
                  <a:pt x="432358" y="173665"/>
                  <a:pt x="381699" y="29330"/>
                  <a:pt x="426720" y="130629"/>
                </a:cubicBezTo>
                <a:cubicBezTo>
                  <a:pt x="434176" y="147406"/>
                  <a:pt x="433953" y="167604"/>
                  <a:pt x="444137" y="182880"/>
                </a:cubicBezTo>
                <a:cubicBezTo>
                  <a:pt x="449943" y="191589"/>
                  <a:pt x="457303" y="199442"/>
                  <a:pt x="461554" y="209006"/>
                </a:cubicBezTo>
                <a:cubicBezTo>
                  <a:pt x="469010" y="225783"/>
                  <a:pt x="478971" y="261257"/>
                  <a:pt x="478971" y="261257"/>
                </a:cubicBezTo>
                <a:cubicBezTo>
                  <a:pt x="476068" y="304800"/>
                  <a:pt x="476434" y="348685"/>
                  <a:pt x="470263" y="391886"/>
                </a:cubicBezTo>
                <a:cubicBezTo>
                  <a:pt x="467667" y="410061"/>
                  <a:pt x="470263" y="438331"/>
                  <a:pt x="452846" y="444137"/>
                </a:cubicBezTo>
                <a:lnTo>
                  <a:pt x="400594" y="461554"/>
                </a:lnTo>
                <a:cubicBezTo>
                  <a:pt x="391886" y="464457"/>
                  <a:pt x="383374" y="468037"/>
                  <a:pt x="374469" y="470263"/>
                </a:cubicBezTo>
                <a:cubicBezTo>
                  <a:pt x="289505" y="491505"/>
                  <a:pt x="395605" y="465566"/>
                  <a:pt x="296091" y="487680"/>
                </a:cubicBezTo>
                <a:cubicBezTo>
                  <a:pt x="284407" y="490276"/>
                  <a:pt x="273153" y="495067"/>
                  <a:pt x="261257" y="496389"/>
                </a:cubicBezTo>
                <a:cubicBezTo>
                  <a:pt x="179162" y="505511"/>
                  <a:pt x="173581" y="505097"/>
                  <a:pt x="121920" y="5050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996A075E-F36C-F195-A8DC-4A40B0C29E1C}"/>
              </a:ext>
            </a:extLst>
          </p:cNvPr>
          <p:cNvSpPr/>
          <p:nvPr/>
        </p:nvSpPr>
        <p:spPr>
          <a:xfrm rot="1389546">
            <a:off x="1170652" y="4552424"/>
            <a:ext cx="478971" cy="505099"/>
          </a:xfrm>
          <a:custGeom>
            <a:avLst/>
            <a:gdLst>
              <a:gd name="csX0" fmla="*/ 0 w 478971"/>
              <a:gd name="csY0" fmla="*/ 34834 h 505099"/>
              <a:gd name="csX1" fmla="*/ 60960 w 478971"/>
              <a:gd name="csY1" fmla="*/ 26126 h 505099"/>
              <a:gd name="csX2" fmla="*/ 104503 w 478971"/>
              <a:gd name="csY2" fmla="*/ 17417 h 505099"/>
              <a:gd name="csX3" fmla="*/ 182880 w 478971"/>
              <a:gd name="csY3" fmla="*/ 8709 h 505099"/>
              <a:gd name="csX4" fmla="*/ 217714 w 478971"/>
              <a:gd name="csY4" fmla="*/ 0 h 505099"/>
              <a:gd name="csX5" fmla="*/ 243840 w 478971"/>
              <a:gd name="csY5" fmla="*/ 8709 h 505099"/>
              <a:gd name="csX6" fmla="*/ 330926 w 478971"/>
              <a:gd name="csY6" fmla="*/ 17417 h 505099"/>
              <a:gd name="csX7" fmla="*/ 357051 w 478971"/>
              <a:gd name="csY7" fmla="*/ 34834 h 505099"/>
              <a:gd name="csX8" fmla="*/ 400594 w 478971"/>
              <a:gd name="csY8" fmla="*/ 78377 h 505099"/>
              <a:gd name="csX9" fmla="*/ 426720 w 478971"/>
              <a:gd name="csY9" fmla="*/ 130629 h 505099"/>
              <a:gd name="csX10" fmla="*/ 444137 w 478971"/>
              <a:gd name="csY10" fmla="*/ 182880 h 505099"/>
              <a:gd name="csX11" fmla="*/ 461554 w 478971"/>
              <a:gd name="csY11" fmla="*/ 209006 h 505099"/>
              <a:gd name="csX12" fmla="*/ 478971 w 478971"/>
              <a:gd name="csY12" fmla="*/ 261257 h 505099"/>
              <a:gd name="csX13" fmla="*/ 470263 w 478971"/>
              <a:gd name="csY13" fmla="*/ 391886 h 505099"/>
              <a:gd name="csX14" fmla="*/ 452846 w 478971"/>
              <a:gd name="csY14" fmla="*/ 444137 h 505099"/>
              <a:gd name="csX15" fmla="*/ 400594 w 478971"/>
              <a:gd name="csY15" fmla="*/ 461554 h 505099"/>
              <a:gd name="csX16" fmla="*/ 374469 w 478971"/>
              <a:gd name="csY16" fmla="*/ 470263 h 505099"/>
              <a:gd name="csX17" fmla="*/ 296091 w 478971"/>
              <a:gd name="csY17" fmla="*/ 487680 h 505099"/>
              <a:gd name="csX18" fmla="*/ 261257 w 478971"/>
              <a:gd name="csY18" fmla="*/ 496389 h 505099"/>
              <a:gd name="csX19" fmla="*/ 121920 w 478971"/>
              <a:gd name="csY19" fmla="*/ 505097 h 5050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478971" h="505099">
                <a:moveTo>
                  <a:pt x="0" y="34834"/>
                </a:moveTo>
                <a:cubicBezTo>
                  <a:pt x="20320" y="31931"/>
                  <a:pt x="40713" y="29500"/>
                  <a:pt x="60960" y="26126"/>
                </a:cubicBezTo>
                <a:cubicBezTo>
                  <a:pt x="75560" y="23693"/>
                  <a:pt x="89850" y="19510"/>
                  <a:pt x="104503" y="17417"/>
                </a:cubicBezTo>
                <a:cubicBezTo>
                  <a:pt x="130525" y="13700"/>
                  <a:pt x="156754" y="11612"/>
                  <a:pt x="182880" y="8709"/>
                </a:cubicBezTo>
                <a:cubicBezTo>
                  <a:pt x="194491" y="5806"/>
                  <a:pt x="205745" y="0"/>
                  <a:pt x="217714" y="0"/>
                </a:cubicBezTo>
                <a:cubicBezTo>
                  <a:pt x="226894" y="0"/>
                  <a:pt x="234767" y="7313"/>
                  <a:pt x="243840" y="8709"/>
                </a:cubicBezTo>
                <a:cubicBezTo>
                  <a:pt x="272674" y="13145"/>
                  <a:pt x="301897" y="14514"/>
                  <a:pt x="330926" y="17417"/>
                </a:cubicBezTo>
                <a:cubicBezTo>
                  <a:pt x="339634" y="23223"/>
                  <a:pt x="349174" y="27942"/>
                  <a:pt x="357051" y="34834"/>
                </a:cubicBezTo>
                <a:cubicBezTo>
                  <a:pt x="372499" y="48351"/>
                  <a:pt x="400594" y="78377"/>
                  <a:pt x="400594" y="78377"/>
                </a:cubicBezTo>
                <a:cubicBezTo>
                  <a:pt x="432358" y="173665"/>
                  <a:pt x="381699" y="29330"/>
                  <a:pt x="426720" y="130629"/>
                </a:cubicBezTo>
                <a:cubicBezTo>
                  <a:pt x="434176" y="147406"/>
                  <a:pt x="433953" y="167604"/>
                  <a:pt x="444137" y="182880"/>
                </a:cubicBezTo>
                <a:cubicBezTo>
                  <a:pt x="449943" y="191589"/>
                  <a:pt x="457303" y="199442"/>
                  <a:pt x="461554" y="209006"/>
                </a:cubicBezTo>
                <a:cubicBezTo>
                  <a:pt x="469010" y="225783"/>
                  <a:pt x="478971" y="261257"/>
                  <a:pt x="478971" y="261257"/>
                </a:cubicBezTo>
                <a:cubicBezTo>
                  <a:pt x="476068" y="304800"/>
                  <a:pt x="476434" y="348685"/>
                  <a:pt x="470263" y="391886"/>
                </a:cubicBezTo>
                <a:cubicBezTo>
                  <a:pt x="467667" y="410061"/>
                  <a:pt x="470263" y="438331"/>
                  <a:pt x="452846" y="444137"/>
                </a:cubicBezTo>
                <a:lnTo>
                  <a:pt x="400594" y="461554"/>
                </a:lnTo>
                <a:cubicBezTo>
                  <a:pt x="391886" y="464457"/>
                  <a:pt x="383374" y="468037"/>
                  <a:pt x="374469" y="470263"/>
                </a:cubicBezTo>
                <a:cubicBezTo>
                  <a:pt x="289505" y="491505"/>
                  <a:pt x="395605" y="465566"/>
                  <a:pt x="296091" y="487680"/>
                </a:cubicBezTo>
                <a:cubicBezTo>
                  <a:pt x="284407" y="490276"/>
                  <a:pt x="273153" y="495067"/>
                  <a:pt x="261257" y="496389"/>
                </a:cubicBezTo>
                <a:cubicBezTo>
                  <a:pt x="179162" y="505511"/>
                  <a:pt x="173581" y="505097"/>
                  <a:pt x="121920" y="5050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9D2131-DAA3-2831-D2BE-CA172E2ACC26}"/>
                  </a:ext>
                </a:extLst>
              </p:cNvPr>
              <p:cNvSpPr txBox="1"/>
              <p:nvPr/>
            </p:nvSpPr>
            <p:spPr>
              <a:xfrm>
                <a:off x="477102" y="5323525"/>
                <a:ext cx="33266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>
                    <a:ea typeface="Cambria Math" panose="02040503050406030204" pitchFamily="18" charset="0"/>
                  </a:rPr>
                  <a:t>n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#unpaired nucleotides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9D2131-DAA3-2831-D2BE-CA172E2AC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102" y="5323525"/>
                <a:ext cx="3326674" cy="369332"/>
              </a:xfrm>
              <a:prstGeom prst="rect">
                <a:avLst/>
              </a:prstGeom>
              <a:blipFill>
                <a:blip r:embed="rId6"/>
                <a:stretch>
                  <a:fillRect l="-1521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1576D68-C179-AE58-3BAD-3ED08FEED5BD}"/>
              </a:ext>
            </a:extLst>
          </p:cNvPr>
          <p:cNvSpPr txBox="1"/>
          <p:nvPr/>
        </p:nvSpPr>
        <p:spPr>
          <a:xfrm>
            <a:off x="2268175" y="4894302"/>
            <a:ext cx="7221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n=3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11240B-D385-37C8-A07B-D8F783DD2E1B}"/>
              </a:ext>
            </a:extLst>
          </p:cNvPr>
          <p:cNvSpPr txBox="1"/>
          <p:nvPr/>
        </p:nvSpPr>
        <p:spPr>
          <a:xfrm>
            <a:off x="2491853" y="3660625"/>
            <a:ext cx="7221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n=5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1C7144-66C1-8D18-8515-783D4203402A}"/>
              </a:ext>
            </a:extLst>
          </p:cNvPr>
          <p:cNvSpPr txBox="1"/>
          <p:nvPr/>
        </p:nvSpPr>
        <p:spPr>
          <a:xfrm>
            <a:off x="1424069" y="4208328"/>
            <a:ext cx="7221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n=7</a:t>
            </a:r>
          </a:p>
        </p:txBody>
      </p:sp>
    </p:spTree>
    <p:extLst>
      <p:ext uri="{BB962C8B-B14F-4D97-AF65-F5344CB8AC3E}">
        <p14:creationId xmlns:p14="http://schemas.microsoft.com/office/powerpoint/2010/main" val="130388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20"/>
    </mc:Choice>
    <mc:Fallback xmlns="">
      <p:transition spd="slow" advTm="262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A107B-B3FD-1BF2-4018-576BE608E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D05BCC-52A4-0B22-805B-B83A50952AC8}"/>
              </a:ext>
            </a:extLst>
          </p:cNvPr>
          <p:cNvSpPr txBox="1"/>
          <p:nvPr/>
        </p:nvSpPr>
        <p:spPr>
          <a:xfrm>
            <a:off x="1809308" y="315761"/>
            <a:ext cx="9375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Thermodynamic parameters from Turner model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7F3FDB-AF09-3596-A3D4-1E07808D422D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725FD-EA3B-6E0F-701C-30D5FCEAC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10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5D239C5-96F2-C382-78B3-06A03093D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46" y="1865745"/>
            <a:ext cx="2195625" cy="152196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D1A0F49-FA0E-0B96-E375-5321035CE56C}"/>
              </a:ext>
            </a:extLst>
          </p:cNvPr>
          <p:cNvSpPr txBox="1"/>
          <p:nvPr/>
        </p:nvSpPr>
        <p:spPr>
          <a:xfrm>
            <a:off x="293449" y="1106368"/>
            <a:ext cx="33266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Optical melting experiments on constructs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C871E-4E94-8EC3-1C58-D6C9FEFCD238}"/>
              </a:ext>
            </a:extLst>
          </p:cNvPr>
          <p:cNvSpPr txBox="1"/>
          <p:nvPr/>
        </p:nvSpPr>
        <p:spPr>
          <a:xfrm>
            <a:off x="1070052" y="1887513"/>
            <a:ext cx="14218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Several duplexes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0F43775-6900-F221-AB2B-57C3FB3E2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00" y="3593545"/>
            <a:ext cx="2359297" cy="1564029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7C7A1D5D-15E9-6AEE-E447-A7BDCE83974F}"/>
              </a:ext>
            </a:extLst>
          </p:cNvPr>
          <p:cNvSpPr txBox="1"/>
          <p:nvPr/>
        </p:nvSpPr>
        <p:spPr>
          <a:xfrm>
            <a:off x="1070052" y="3559471"/>
            <a:ext cx="15318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Duplexes with hairpin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EDD43AD-51C4-DD94-038C-84AA59F89C9F}"/>
              </a:ext>
            </a:extLst>
          </p:cNvPr>
          <p:cNvCxnSpPr>
            <a:cxnSpLocks/>
          </p:cNvCxnSpPr>
          <p:nvPr/>
        </p:nvCxnSpPr>
        <p:spPr>
          <a:xfrm>
            <a:off x="3353837" y="2741816"/>
            <a:ext cx="7078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907FC34-158A-403A-F0D7-C49D00C70DC1}"/>
              </a:ext>
            </a:extLst>
          </p:cNvPr>
          <p:cNvSpPr txBox="1"/>
          <p:nvPr/>
        </p:nvSpPr>
        <p:spPr>
          <a:xfrm>
            <a:off x="4691884" y="2501238"/>
            <a:ext cx="2632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Stacking parameters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408321-0D5E-1D15-67CB-39BCEB07F3C2}"/>
              </a:ext>
            </a:extLst>
          </p:cNvPr>
          <p:cNvSpPr txBox="1"/>
          <p:nvPr/>
        </p:nvSpPr>
        <p:spPr>
          <a:xfrm>
            <a:off x="3063395" y="2365352"/>
            <a:ext cx="1531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Linear regression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A6ECAB-8851-B5FF-8411-186684B63E95}"/>
              </a:ext>
            </a:extLst>
          </p:cNvPr>
          <p:cNvSpPr txBox="1"/>
          <p:nvPr/>
        </p:nvSpPr>
        <p:spPr>
          <a:xfrm>
            <a:off x="4691884" y="3915941"/>
            <a:ext cx="2023821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Hairpin loop parameters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469369-2EF2-7C0D-8BCE-A1C451C04D20}"/>
              </a:ext>
            </a:extLst>
          </p:cNvPr>
          <p:cNvCxnSpPr>
            <a:cxnSpLocks/>
          </p:cNvCxnSpPr>
          <p:nvPr/>
        </p:nvCxnSpPr>
        <p:spPr>
          <a:xfrm>
            <a:off x="3416068" y="4259936"/>
            <a:ext cx="7754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A6D8D1-80D4-AF5B-6929-334DBB05D485}"/>
              </a:ext>
            </a:extLst>
          </p:cNvPr>
          <p:cNvCxnSpPr>
            <a:cxnSpLocks/>
          </p:cNvCxnSpPr>
          <p:nvPr/>
        </p:nvCxnSpPr>
        <p:spPr>
          <a:xfrm>
            <a:off x="5698394" y="3030360"/>
            <a:ext cx="5400" cy="46819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981EF84-B6BB-AF4C-3D1F-F23BA91A6C6C}"/>
              </a:ext>
            </a:extLst>
          </p:cNvPr>
          <p:cNvSpPr/>
          <p:nvPr/>
        </p:nvSpPr>
        <p:spPr>
          <a:xfrm>
            <a:off x="8818002" y="3673348"/>
            <a:ext cx="1571217" cy="1702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BA32511-DE0F-041D-6E82-6CC4417FB2DA}"/>
                  </a:ext>
                </a:extLst>
              </p:cNvPr>
              <p:cNvSpPr txBox="1"/>
              <p:nvPr/>
            </p:nvSpPr>
            <p:spPr>
              <a:xfrm>
                <a:off x="4387541" y="4595900"/>
                <a:ext cx="311257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00050" indent="-400050">
                  <a:buFontTx/>
                  <a:buAutoNum type="romanLcParenR"/>
                </a:pPr>
                <a:r>
                  <a:rPr lang="en-US" sz="1200" dirty="0"/>
                  <a:t>Length based penalty (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3≤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≤30</m:t>
                    </m:r>
                  </m:oMath>
                </a14:m>
                <a:r>
                  <a:rPr lang="en-US" sz="1200" dirty="0"/>
                  <a:t>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Experimentally measured for hairpins of length 3,4,..,9.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Extrapolation above n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=9.</a:t>
                </a:r>
              </a:p>
              <a:p>
                <a:pPr marL="400050" indent="-400050">
                  <a:buAutoNum type="romanLcParenR"/>
                </a:pPr>
                <a:r>
                  <a:rPr lang="en-US" sz="1200" dirty="0"/>
                  <a:t>Closing base pair + neighboring unpaired nucleotides </a:t>
                </a:r>
                <a:r>
                  <a:rPr lang="en-US" sz="1200" dirty="0">
                    <a:sym typeface="Wingdings" pitchFamily="2" charset="2"/>
                  </a:rPr>
                  <a:t> mismatch</a:t>
                </a:r>
                <a:r>
                  <a:rPr lang="en-US" sz="1200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BA32511-DE0F-041D-6E82-6CC4417FB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541" y="4595900"/>
                <a:ext cx="3112576" cy="1200329"/>
              </a:xfrm>
              <a:prstGeom prst="rect">
                <a:avLst/>
              </a:prstGeom>
              <a:blipFill>
                <a:blip r:embed="rId5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23ED482-BCE0-01A4-D244-F53B376231FD}"/>
              </a:ext>
            </a:extLst>
          </p:cNvPr>
          <p:cNvCxnSpPr>
            <a:cxnSpLocks/>
          </p:cNvCxnSpPr>
          <p:nvPr/>
        </p:nvCxnSpPr>
        <p:spPr>
          <a:xfrm>
            <a:off x="1358537" y="3933056"/>
            <a:ext cx="65532" cy="183253"/>
          </a:xfrm>
          <a:prstGeom prst="straightConnector1">
            <a:avLst/>
          </a:prstGeom>
          <a:ln w="28575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38C188C-0B43-FE9E-6535-77955D95827B}"/>
              </a:ext>
            </a:extLst>
          </p:cNvPr>
          <p:cNvCxnSpPr>
            <a:cxnSpLocks/>
          </p:cNvCxnSpPr>
          <p:nvPr/>
        </p:nvCxnSpPr>
        <p:spPr>
          <a:xfrm flipH="1">
            <a:off x="2427697" y="4115332"/>
            <a:ext cx="64156" cy="71866"/>
          </a:xfrm>
          <a:prstGeom prst="straightConnector1">
            <a:avLst/>
          </a:prstGeom>
          <a:ln w="28575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E5EDE9F-9AA4-86FF-04A9-FFB599C62362}"/>
              </a:ext>
            </a:extLst>
          </p:cNvPr>
          <p:cNvCxnSpPr>
            <a:cxnSpLocks/>
          </p:cNvCxnSpPr>
          <p:nvPr/>
        </p:nvCxnSpPr>
        <p:spPr>
          <a:xfrm flipH="1" flipV="1">
            <a:off x="2081349" y="4595900"/>
            <a:ext cx="130628" cy="132854"/>
          </a:xfrm>
          <a:prstGeom prst="straightConnector1">
            <a:avLst/>
          </a:prstGeom>
          <a:ln w="28575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0C80866-D4AB-CA7B-EAE4-F8BC96A3B416}"/>
              </a:ext>
            </a:extLst>
          </p:cNvPr>
          <p:cNvCxnSpPr>
            <a:cxnSpLocks/>
          </p:cNvCxnSpPr>
          <p:nvPr/>
        </p:nvCxnSpPr>
        <p:spPr>
          <a:xfrm flipV="1">
            <a:off x="1184366" y="4662327"/>
            <a:ext cx="60960" cy="85973"/>
          </a:xfrm>
          <a:prstGeom prst="straightConnector1">
            <a:avLst/>
          </a:prstGeom>
          <a:ln w="28575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C78752-BBC7-EB14-A761-EEACFEB61163}"/>
                  </a:ext>
                </a:extLst>
              </p:cNvPr>
              <p:cNvSpPr txBox="1"/>
              <p:nvPr/>
            </p:nvSpPr>
            <p:spPr>
              <a:xfrm>
                <a:off x="567146" y="5264541"/>
                <a:ext cx="33266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>
                    <a:ea typeface="Cambria Math" panose="02040503050406030204" pitchFamily="18" charset="0"/>
                  </a:rPr>
                  <a:t>n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#unpaired nucleotides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C78752-BBC7-EB14-A761-EEACFEB61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46" y="5264541"/>
                <a:ext cx="3326674" cy="369332"/>
              </a:xfrm>
              <a:prstGeom prst="rect">
                <a:avLst/>
              </a:prstGeom>
              <a:blipFill>
                <a:blip r:embed="rId6"/>
                <a:stretch>
                  <a:fillRect l="-1521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9299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"/>
    </mc:Choice>
    <mc:Fallback xmlns="">
      <p:transition spd="slow" advTm="13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8BDDF-0381-57DE-2E91-204DCAF94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9FCEA8-526A-6130-88E7-D51C5FE177A6}"/>
              </a:ext>
            </a:extLst>
          </p:cNvPr>
          <p:cNvSpPr txBox="1"/>
          <p:nvPr/>
        </p:nvSpPr>
        <p:spPr>
          <a:xfrm>
            <a:off x="1809308" y="315761"/>
            <a:ext cx="9375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Thermodynamic parameters from Turner model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6FBF9E-8800-C979-0B8C-9A01E8293D8C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9B30A-909D-9402-1D60-FC62C129D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743ECB-2BBE-EF16-F2B3-F18392049648}"/>
              </a:ext>
            </a:extLst>
          </p:cNvPr>
          <p:cNvSpPr txBox="1"/>
          <p:nvPr/>
        </p:nvSpPr>
        <p:spPr>
          <a:xfrm>
            <a:off x="424892" y="1086337"/>
            <a:ext cx="3143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Optical melting experiments on constructs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CEA9BA-BEDA-E226-9354-E2A9805EFD81}"/>
              </a:ext>
            </a:extLst>
          </p:cNvPr>
          <p:cNvSpPr/>
          <p:nvPr/>
        </p:nvSpPr>
        <p:spPr>
          <a:xfrm>
            <a:off x="1051356" y="4807538"/>
            <a:ext cx="234885" cy="14603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AD57DB0-63D0-B14F-49BB-78E00461B71E}"/>
              </a:ext>
            </a:extLst>
          </p:cNvPr>
          <p:cNvCxnSpPr>
            <a:cxnSpLocks/>
          </p:cNvCxnSpPr>
          <p:nvPr/>
        </p:nvCxnSpPr>
        <p:spPr>
          <a:xfrm>
            <a:off x="3353837" y="2741816"/>
            <a:ext cx="7078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A9F8291-D94D-1375-66D1-06694E6E201E}"/>
              </a:ext>
            </a:extLst>
          </p:cNvPr>
          <p:cNvSpPr txBox="1"/>
          <p:nvPr/>
        </p:nvSpPr>
        <p:spPr>
          <a:xfrm>
            <a:off x="4691884" y="2501238"/>
            <a:ext cx="2632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Stacking parameters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FE65BC-1153-C080-5135-F0196EE76063}"/>
              </a:ext>
            </a:extLst>
          </p:cNvPr>
          <p:cNvSpPr txBox="1"/>
          <p:nvPr/>
        </p:nvSpPr>
        <p:spPr>
          <a:xfrm>
            <a:off x="3063395" y="2365352"/>
            <a:ext cx="1531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Linear regression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8D551E-AF38-C7CC-0A43-0D4DA92BB8B1}"/>
              </a:ext>
            </a:extLst>
          </p:cNvPr>
          <p:cNvCxnSpPr>
            <a:cxnSpLocks/>
          </p:cNvCxnSpPr>
          <p:nvPr/>
        </p:nvCxnSpPr>
        <p:spPr>
          <a:xfrm>
            <a:off x="5607198" y="2911093"/>
            <a:ext cx="0" cy="82634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E1149E3-577E-3894-31A2-109F88D38CF6}"/>
              </a:ext>
            </a:extLst>
          </p:cNvPr>
          <p:cNvSpPr txBox="1"/>
          <p:nvPr/>
        </p:nvSpPr>
        <p:spPr>
          <a:xfrm>
            <a:off x="4595289" y="3964583"/>
            <a:ext cx="202382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Internal loops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CFB194-314E-0782-D181-B79124ABEC77}"/>
              </a:ext>
            </a:extLst>
          </p:cNvPr>
          <p:cNvCxnSpPr>
            <a:cxnSpLocks/>
          </p:cNvCxnSpPr>
          <p:nvPr/>
        </p:nvCxnSpPr>
        <p:spPr>
          <a:xfrm>
            <a:off x="3353837" y="4128159"/>
            <a:ext cx="7754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67F17A2-1119-9386-F563-BF991ECEF9ED}"/>
              </a:ext>
            </a:extLst>
          </p:cNvPr>
          <p:cNvSpPr txBox="1"/>
          <p:nvPr/>
        </p:nvSpPr>
        <p:spPr>
          <a:xfrm>
            <a:off x="3265036" y="6103746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…...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732282-D21A-6DCE-6653-7ECE21D9868A}"/>
                  </a:ext>
                </a:extLst>
              </p:cNvPr>
              <p:cNvSpPr txBox="1"/>
              <p:nvPr/>
            </p:nvSpPr>
            <p:spPr>
              <a:xfrm>
                <a:off x="7368998" y="4597468"/>
                <a:ext cx="412133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Similar rules for bulge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≤30</m:t>
                    </m:r>
                  </m:oMath>
                </a14:m>
                <a:r>
                  <a:rPr lang="en-US" dirty="0"/>
                  <a:t>) and internal loops.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3732282-D21A-6DCE-6653-7ECE21D98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8998" y="4597468"/>
                <a:ext cx="4121337" cy="646331"/>
              </a:xfrm>
              <a:prstGeom prst="rect">
                <a:avLst/>
              </a:prstGeom>
              <a:blipFill>
                <a:blip r:embed="rId3"/>
                <a:stretch>
                  <a:fillRect l="-1231" t="-1923" r="-308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46877C-2A95-B9C3-C819-2053983CBC49}"/>
                  </a:ext>
                </a:extLst>
              </p:cNvPr>
              <p:cNvSpPr txBox="1"/>
              <p:nvPr/>
            </p:nvSpPr>
            <p:spPr>
              <a:xfrm>
                <a:off x="7766329" y="4228136"/>
                <a:ext cx="33266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ea typeface="Cambria Math" panose="02040503050406030204" pitchFamily="18" charset="0"/>
                  </a:rPr>
                  <a:t>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#unpaired nucleotides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46877C-2A95-B9C3-C819-2053983CB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6329" y="4228136"/>
                <a:ext cx="3326674" cy="369332"/>
              </a:xfrm>
              <a:prstGeom prst="rect">
                <a:avLst/>
              </a:prstGeom>
              <a:blipFill>
                <a:blip r:embed="rId4"/>
                <a:stretch>
                  <a:fillRect l="-1521" t="-10345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75651746-FA99-3394-CF6C-7789E20614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320" t="-9056" r="16925" b="62651"/>
          <a:stretch>
            <a:fillRect/>
          </a:stretch>
        </p:blipFill>
        <p:spPr>
          <a:xfrm>
            <a:off x="701665" y="3176747"/>
            <a:ext cx="2312698" cy="15403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3BF0F9A-4F88-5DE1-77D5-5B0CDEB123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882" t="45702" r="82686" b="15985"/>
          <a:stretch>
            <a:fillRect/>
          </a:stretch>
        </p:blipFill>
        <p:spPr>
          <a:xfrm>
            <a:off x="793453" y="4996832"/>
            <a:ext cx="966281" cy="127173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6A9EE58-C0A7-9197-AD98-9EEBD65ADDF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100" t="43334" r="67730" b="13112"/>
          <a:stretch>
            <a:fillRect/>
          </a:stretch>
        </p:blipFill>
        <p:spPr>
          <a:xfrm>
            <a:off x="1707142" y="4885207"/>
            <a:ext cx="1023652" cy="1445670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BC9CAB6-B4E8-8547-93BA-6D29FD97D334}"/>
              </a:ext>
            </a:extLst>
          </p:cNvPr>
          <p:cNvCxnSpPr>
            <a:cxnSpLocks/>
          </p:cNvCxnSpPr>
          <p:nvPr/>
        </p:nvCxnSpPr>
        <p:spPr>
          <a:xfrm>
            <a:off x="3353837" y="5537699"/>
            <a:ext cx="7754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3CE26EB-0798-ACBA-A9C4-5F4AB1703EA9}"/>
              </a:ext>
            </a:extLst>
          </p:cNvPr>
          <p:cNvSpPr txBox="1"/>
          <p:nvPr/>
        </p:nvSpPr>
        <p:spPr>
          <a:xfrm>
            <a:off x="4595288" y="5341814"/>
            <a:ext cx="202382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Bulge loops</a:t>
            </a:r>
          </a:p>
        </p:txBody>
      </p:sp>
      <p:sp>
        <p:nvSpPr>
          <p:cNvPr id="30" name="Curved Left Arrow 29">
            <a:extLst>
              <a:ext uri="{FF2B5EF4-FFF2-40B4-BE49-F238E27FC236}">
                <a16:creationId xmlns:a16="http://schemas.microsoft.com/office/drawing/2014/main" id="{CD07A239-5615-FBF8-1C03-030B9E1647B3}"/>
              </a:ext>
            </a:extLst>
          </p:cNvPr>
          <p:cNvSpPr/>
          <p:nvPr/>
        </p:nvSpPr>
        <p:spPr>
          <a:xfrm>
            <a:off x="6689035" y="2670515"/>
            <a:ext cx="444913" cy="2867184"/>
          </a:xfrm>
          <a:prstGeom prst="curvedLef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71B6A41-7CCC-6129-8C33-1BE254B5764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251" t="11054" r="67896" b="70603"/>
          <a:stretch>
            <a:fillRect/>
          </a:stretch>
        </p:blipFill>
        <p:spPr>
          <a:xfrm>
            <a:off x="1168798" y="2201541"/>
            <a:ext cx="1411135" cy="797946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8DC9BEE5-F52A-78A2-A04D-72C703928185}"/>
              </a:ext>
            </a:extLst>
          </p:cNvPr>
          <p:cNvSpPr/>
          <p:nvPr/>
        </p:nvSpPr>
        <p:spPr>
          <a:xfrm>
            <a:off x="701655" y="2097157"/>
            <a:ext cx="2312697" cy="10067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C31C6A-F324-7077-1FAA-408A509A6F5E}"/>
              </a:ext>
            </a:extLst>
          </p:cNvPr>
          <p:cNvSpPr/>
          <p:nvPr/>
        </p:nvSpPr>
        <p:spPr>
          <a:xfrm>
            <a:off x="701664" y="3362186"/>
            <a:ext cx="2361725" cy="13845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FD8F37D-1484-1230-82FB-8AB93424BA00}"/>
              </a:ext>
            </a:extLst>
          </p:cNvPr>
          <p:cNvSpPr/>
          <p:nvPr/>
        </p:nvSpPr>
        <p:spPr>
          <a:xfrm>
            <a:off x="701663" y="4956931"/>
            <a:ext cx="2361725" cy="13845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765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"/>
    </mc:Choice>
    <mc:Fallback xmlns="">
      <p:transition spd="slow" advTm="192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5AF3F-3BCB-148C-945E-1C95BFBF4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C17974-3404-EDE5-DA5B-00C94D47BF4B}"/>
              </a:ext>
            </a:extLst>
          </p:cNvPr>
          <p:cNvSpPr txBox="1"/>
          <p:nvPr/>
        </p:nvSpPr>
        <p:spPr>
          <a:xfrm>
            <a:off x="1487091" y="333364"/>
            <a:ext cx="937536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Multibranch loop</a:t>
            </a:r>
          </a:p>
          <a:p>
            <a:pPr algn="ctr"/>
            <a:r>
              <a:rPr lang="en-US" sz="2000" dirty="0"/>
              <a:t>Junction of two or more helix branches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97AFAD-473D-4859-450B-C9B89440FF68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40EE7-03CA-0BCC-0FBE-B0C7CD89C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F3405F-671F-9581-D773-24FF754F0E93}"/>
              </a:ext>
            </a:extLst>
          </p:cNvPr>
          <p:cNvSpPr/>
          <p:nvPr/>
        </p:nvSpPr>
        <p:spPr>
          <a:xfrm>
            <a:off x="1051356" y="4807538"/>
            <a:ext cx="234885" cy="14603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9F2957-783D-278C-3A7B-AB497DF52C79}"/>
              </a:ext>
            </a:extLst>
          </p:cNvPr>
          <p:cNvSpPr txBox="1"/>
          <p:nvPr/>
        </p:nvSpPr>
        <p:spPr>
          <a:xfrm>
            <a:off x="141890" y="6458162"/>
            <a:ext cx="61007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>
                <a:effectLst/>
              </a:rPr>
              <a:t>Sato et al., </a:t>
            </a:r>
            <a:r>
              <a:rPr lang="en-US" sz="1000" i="1" dirty="0"/>
              <a:t>Nat Comm</a:t>
            </a:r>
            <a:r>
              <a:rPr lang="en-US" sz="1000" b="0" i="0" u="none" strike="noStrike" dirty="0">
                <a:effectLst/>
              </a:rPr>
              <a:t>, 2021</a:t>
            </a:r>
          </a:p>
        </p:txBody>
      </p:sp>
      <p:pic>
        <p:nvPicPr>
          <p:cNvPr id="15" name="Picture 14" descr="A diagram of a structure&#10;&#10;AI-generated content may be incorrect.">
            <a:extLst>
              <a:ext uri="{FF2B5EF4-FFF2-40B4-BE49-F238E27FC236}">
                <a16:creationId xmlns:a16="http://schemas.microsoft.com/office/drawing/2014/main" id="{EC64A721-6B19-925D-DFBF-A5CDE25E7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1" t="26938" b="32061"/>
          <a:stretch>
            <a:fillRect/>
          </a:stretch>
        </p:blipFill>
        <p:spPr>
          <a:xfrm>
            <a:off x="4291250" y="3214709"/>
            <a:ext cx="3544650" cy="198542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7615E80-97D8-B73B-18F7-DF51BE95A219}"/>
              </a:ext>
            </a:extLst>
          </p:cNvPr>
          <p:cNvSpPr/>
          <p:nvPr/>
        </p:nvSpPr>
        <p:spPr>
          <a:xfrm rot="572640">
            <a:off x="3655221" y="4498689"/>
            <a:ext cx="873238" cy="5834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68A8C7E-296D-B424-5FF7-1521EE1ECF1E}"/>
                  </a:ext>
                </a:extLst>
              </p:cNvPr>
              <p:cNvSpPr txBox="1"/>
              <p:nvPr/>
            </p:nvSpPr>
            <p:spPr>
              <a:xfrm>
                <a:off x="1730931" y="1913596"/>
                <a:ext cx="7829006" cy="971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𝑚𝑢𝑙𝑡𝑖𝑏𝑟𝑎𝑛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𝑐h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𝑖𝑛𝑖𝑡𝑖𝑎𝑡𝑖𝑜𝑛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#</m:t>
                      </m:r>
                      <m:r>
                        <a:rPr lang="en-US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𝑢𝑛𝑝𝑎𝑖𝑟𝑒𝑑𝑛𝑡𝑠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#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𝑏𝑟𝑎𝑛𝑐h𝑒𝑠</m:t>
                      </m:r>
                    </m:oMath>
                  </m:oMathPara>
                </a14:m>
                <a:endParaRPr lang="en-US" sz="20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where </a:t>
                </a:r>
                <a:r>
                  <a:rPr lang="en-US" sz="2000" i="1" dirty="0"/>
                  <a:t>a, b </a:t>
                </a:r>
                <a:r>
                  <a:rPr lang="en-US" sz="2000" dirty="0"/>
                  <a:t>and</a:t>
                </a:r>
                <a:r>
                  <a:rPr lang="en-US" sz="2000" i="1" dirty="0"/>
                  <a:t> c </a:t>
                </a:r>
                <a:r>
                  <a:rPr lang="en-US" sz="2000" dirty="0"/>
                  <a:t>are constants obtained from experimental results.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68A8C7E-296D-B424-5FF7-1521EE1EC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931" y="1913596"/>
                <a:ext cx="7829006" cy="971228"/>
              </a:xfrm>
              <a:prstGeom prst="rect">
                <a:avLst/>
              </a:prstGeom>
              <a:blipFill>
                <a:blip r:embed="rId4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1A64E4B9-954D-CD4D-DAA8-48C983827BDE}"/>
              </a:ext>
            </a:extLst>
          </p:cNvPr>
          <p:cNvSpPr txBox="1"/>
          <p:nvPr/>
        </p:nvSpPr>
        <p:spPr>
          <a:xfrm>
            <a:off x="2066209" y="5537699"/>
            <a:ext cx="7297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Least accurate component of the model.</a:t>
            </a:r>
          </a:p>
        </p:txBody>
      </p:sp>
    </p:spTree>
    <p:extLst>
      <p:ext uri="{BB962C8B-B14F-4D97-AF65-F5344CB8AC3E}">
        <p14:creationId xmlns:p14="http://schemas.microsoft.com/office/powerpoint/2010/main" val="551489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5"/>
    </mc:Choice>
    <mc:Fallback xmlns="">
      <p:transition spd="slow" advTm="175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66A88-07E6-9B99-4B82-FDC35603B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CAFB019-BFF5-59D7-6DA3-A9E99A3D26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991"/>
          <a:stretch>
            <a:fillRect/>
          </a:stretch>
        </p:blipFill>
        <p:spPr>
          <a:xfrm>
            <a:off x="559575" y="1258814"/>
            <a:ext cx="3482645" cy="462520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E0BCB0A-EA8D-4DE5-302F-5B65578C1865}"/>
              </a:ext>
            </a:extLst>
          </p:cNvPr>
          <p:cNvSpPr/>
          <p:nvPr/>
        </p:nvSpPr>
        <p:spPr>
          <a:xfrm>
            <a:off x="141890" y="157655"/>
            <a:ext cx="11921359" cy="65426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34BD4-BEF3-C046-3526-05AFE1D9C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ECE88F-BF06-902E-E707-19D945E1D2B0}"/>
              </a:ext>
            </a:extLst>
          </p:cNvPr>
          <p:cNvSpPr txBox="1"/>
          <p:nvPr/>
        </p:nvSpPr>
        <p:spPr>
          <a:xfrm>
            <a:off x="1663450" y="305014"/>
            <a:ext cx="92261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Overview of parameters in Turner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F2D60A-DB67-13FE-6FE5-8DA111C9D1DB}"/>
              </a:ext>
            </a:extLst>
          </p:cNvPr>
          <p:cNvSpPr txBox="1"/>
          <p:nvPr/>
        </p:nvSpPr>
        <p:spPr>
          <a:xfrm>
            <a:off x="141890" y="6447594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Zuber et al., </a:t>
            </a:r>
            <a:r>
              <a:rPr lang="en-US" sz="1000" i="1" dirty="0"/>
              <a:t>NAR</a:t>
            </a:r>
            <a:r>
              <a:rPr lang="en-US" sz="1000" dirty="0"/>
              <a:t>, 2018</a:t>
            </a:r>
            <a:endParaRPr lang="en-US" sz="1000" b="0" i="0" u="none" strike="noStrike" dirty="0">
              <a:effectLst/>
            </a:endParaRPr>
          </a:p>
          <a:p>
            <a:endParaRPr lang="en-US" sz="1000" b="0" i="0" u="none" strike="noStrike" dirty="0">
              <a:effectLst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8917F1-BDC0-93C7-A01A-F95B87537D0B}"/>
              </a:ext>
            </a:extLst>
          </p:cNvPr>
          <p:cNvSpPr/>
          <p:nvPr/>
        </p:nvSpPr>
        <p:spPr>
          <a:xfrm rot="572640">
            <a:off x="3907321" y="1042334"/>
            <a:ext cx="873238" cy="5834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7CD988-C87D-FDEA-B3CF-1C6ED120C14C}"/>
              </a:ext>
            </a:extLst>
          </p:cNvPr>
          <p:cNvSpPr/>
          <p:nvPr/>
        </p:nvSpPr>
        <p:spPr>
          <a:xfrm rot="572640">
            <a:off x="3669976" y="5060275"/>
            <a:ext cx="873238" cy="5834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51838C-4349-EADC-8145-23C80B7C1878}"/>
              </a:ext>
            </a:extLst>
          </p:cNvPr>
          <p:cNvSpPr txBox="1"/>
          <p:nvPr/>
        </p:nvSpPr>
        <p:spPr>
          <a:xfrm>
            <a:off x="650925" y="5197019"/>
            <a:ext cx="1152914" cy="6470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Optical Melting Experiments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F85943-3514-CCA5-EB7B-BDADDC9E6517}"/>
              </a:ext>
            </a:extLst>
          </p:cNvPr>
          <p:cNvSpPr txBox="1"/>
          <p:nvPr/>
        </p:nvSpPr>
        <p:spPr>
          <a:xfrm>
            <a:off x="2323531" y="5197019"/>
            <a:ext cx="1152914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Nearest Neighbor Parameters</a:t>
            </a:r>
          </a:p>
        </p:txBody>
      </p:sp>
      <p:sp>
        <p:nvSpPr>
          <p:cNvPr id="9" name="AutoShape 2" descr="No photo description available.">
            <a:extLst>
              <a:ext uri="{FF2B5EF4-FFF2-40B4-BE49-F238E27FC236}">
                <a16:creationId xmlns:a16="http://schemas.microsoft.com/office/drawing/2014/main" id="{54169C4C-01C4-E958-5647-61DAFA0DDD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505361"/>
            <a:ext cx="3076039" cy="3076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 descr="A horse and a horse on fire&#10;&#10;AI-generated content may be incorrect.">
            <a:extLst>
              <a:ext uri="{FF2B5EF4-FFF2-40B4-BE49-F238E27FC236}">
                <a16:creationId xmlns:a16="http://schemas.microsoft.com/office/drawing/2014/main" id="{0C6A7F07-F9C2-438C-4CF1-26E724B0C5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387" y="2076355"/>
            <a:ext cx="4461091" cy="33592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39E60B6-6BA0-7AC2-76B3-5FA2F73C2688}"/>
              </a:ext>
            </a:extLst>
          </p:cNvPr>
          <p:cNvSpPr txBox="1"/>
          <p:nvPr/>
        </p:nvSpPr>
        <p:spPr>
          <a:xfrm>
            <a:off x="5460387" y="1334071"/>
            <a:ext cx="2000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Stacking parameters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324070-6BBB-7CEC-022C-A9F2B4EFAEBD}"/>
              </a:ext>
            </a:extLst>
          </p:cNvPr>
          <p:cNvSpPr txBox="1"/>
          <p:nvPr/>
        </p:nvSpPr>
        <p:spPr>
          <a:xfrm>
            <a:off x="7483424" y="1340221"/>
            <a:ext cx="24380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Other loop-based parameters</a:t>
            </a:r>
          </a:p>
        </p:txBody>
      </p:sp>
    </p:spTree>
    <p:extLst>
      <p:ext uri="{BB962C8B-B14F-4D97-AF65-F5344CB8AC3E}">
        <p14:creationId xmlns:p14="http://schemas.microsoft.com/office/powerpoint/2010/main" val="640595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0"/>
    </mc:Choice>
    <mc:Fallback xmlns="">
      <p:transition spd="slow" advTm="138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5363</TotalTime>
  <Words>1380</Words>
  <Application>Microsoft Macintosh PowerPoint</Application>
  <PresentationFormat>Widescreen</PresentationFormat>
  <Paragraphs>210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-webkit-standard</vt:lpstr>
      <vt:lpstr>Aptos</vt:lpstr>
      <vt:lpstr>Aptos Display</vt:lpstr>
      <vt:lpstr>Arial</vt:lpstr>
      <vt:lpstr>Cambria</vt:lpstr>
      <vt:lpstr>Cambria Math</vt:lpstr>
      <vt:lpstr>Wingdings</vt:lpstr>
      <vt:lpstr>Office Theme</vt:lpstr>
      <vt:lpstr>Turner Model: Thermodynamics for RNA Secondary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 Amalaruban</dc:creator>
  <cp:lastModifiedBy>Ashwin Amalaruban M</cp:lastModifiedBy>
  <cp:revision>62</cp:revision>
  <dcterms:created xsi:type="dcterms:W3CDTF">2025-05-14T18:44:23Z</dcterms:created>
  <dcterms:modified xsi:type="dcterms:W3CDTF">2026-04-30T22:28:32Z</dcterms:modified>
</cp:coreProperties>
</file>